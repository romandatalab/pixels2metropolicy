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7.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media/image1.jpeg" ContentType="image/jpeg"/>
  <Override PartName="/ppt/media/image3.png" ContentType="image/png"/>
  <Override PartName="/ppt/media/image2.png" ContentType="image/png"/>
  <Override PartName="/ppt/media/hdphoto1.wdp" ContentType="image/vnd.ms-photo"/>
  <Override PartName="/ppt/media/image4.png" ContentType="image/png"/>
  <Override PartName="/ppt/media/image5.png" ContentType="image/png"/>
  <Override PartName="/ppt/media/image6.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8288000" cy="10287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Value</c:v>
                </c:pt>
              </c:strCache>
            </c:strRef>
          </c:tx>
          <c:spPr>
            <a:solidFill>
              <a:srgbClr val="e97132"/>
            </a:solidFill>
            <a:ln w="9360">
              <a:solidFill>
                <a:srgbClr val="145d7f"/>
              </a:solidFill>
              <a:round/>
            </a:ln>
          </c:spPr>
          <c:invertIfNegative val="0"/>
          <c:dLbls>
            <c:numFmt formatCode="#,##0" sourceLinked="0"/>
            <c:txPr>
              <a:bodyPr wrap="square"/>
              <a:lstStyle/>
              <a:p>
                <a:pPr>
                  <a:defRPr b="0" sz="1197" strike="noStrike" u="none">
                    <a:solidFill>
                      <a:srgbClr val="ffffff"/>
                    </a:solidFill>
                    <a:uFillTx/>
                    <a:latin typeface="Century Gothic"/>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Outside all BMA</c:v>
                </c:pt>
                <c:pt idx="1">
                  <c:v>Inside congested</c:v>
                </c:pt>
                <c:pt idx="2">
                  <c:v>Inside other</c:v>
                </c:pt>
              </c:strCache>
            </c:strRef>
          </c:cat>
          <c:val>
            <c:numRef>
              <c:f>0</c:f>
              <c:numCache>
                <c:formatCode>General</c:formatCode>
                <c:ptCount val="3"/>
                <c:pt idx="0">
                  <c:v>1135</c:v>
                </c:pt>
                <c:pt idx="1">
                  <c:v>325</c:v>
                </c:pt>
                <c:pt idx="2">
                  <c:v>128</c:v>
                </c:pt>
              </c:numCache>
            </c:numRef>
          </c:val>
        </c:ser>
        <c:gapWidth val="100"/>
        <c:overlap val="-24"/>
        <c:axId val="77873308"/>
        <c:axId val="90474682"/>
      </c:barChart>
      <c:catAx>
        <c:axId val="77873308"/>
        <c:scaling>
          <c:orientation val="minMax"/>
        </c:scaling>
        <c:delete val="0"/>
        <c:axPos val="b"/>
        <c:majorGridlines>
          <c:spPr>
            <a:ln w="9360">
              <a:solidFill>
                <a:srgbClr val="d9d9d9"/>
              </a:solidFill>
              <a:round/>
            </a:ln>
          </c:spPr>
        </c:majorGridlines>
        <c:numFmt formatCode="General" sourceLinked="0"/>
        <c:majorTickMark val="none"/>
        <c:minorTickMark val="none"/>
        <c:tickLblPos val="nextTo"/>
        <c:spPr>
          <a:ln w="9360">
            <a:solidFill>
              <a:srgbClr val="d9d9d9"/>
            </a:solidFill>
            <a:round/>
          </a:ln>
        </c:spPr>
        <c:txPr>
          <a:bodyPr/>
          <a:lstStyle/>
          <a:p>
            <a:pPr>
              <a:defRPr b="1" sz="1197" strike="noStrike" u="none">
                <a:solidFill>
                  <a:srgbClr val="ffffff"/>
                </a:solidFill>
                <a:uFillTx/>
                <a:latin typeface="Century Gothic"/>
              </a:defRPr>
            </a:pPr>
          </a:p>
        </c:txPr>
        <c:crossAx val="90474682"/>
        <c:crosses val="autoZero"/>
        <c:auto val="1"/>
        <c:lblAlgn val="ctr"/>
        <c:lblOffset val="100"/>
        <c:noMultiLvlLbl val="0"/>
      </c:catAx>
      <c:valAx>
        <c:axId val="90474682"/>
        <c:scaling>
          <c:orientation val="minMax"/>
        </c:scaling>
        <c:delete val="0"/>
        <c:axPos val="l"/>
        <c:majorGridlines>
          <c:spPr>
            <a:ln w="9360">
              <a:solidFill>
                <a:srgbClr val="d9d9d9"/>
              </a:solidFill>
              <a:round/>
            </a:ln>
          </c:spPr>
        </c:majorGridlines>
        <c:numFmt formatCode="General" sourceLinked="0"/>
        <c:majorTickMark val="none"/>
        <c:minorTickMark val="none"/>
        <c:tickLblPos val="nextTo"/>
        <c:spPr>
          <a:ln w="12600">
            <a:noFill/>
          </a:ln>
        </c:spPr>
        <c:txPr>
          <a:bodyPr/>
          <a:lstStyle/>
          <a:p>
            <a:pPr>
              <a:defRPr b="0" sz="1197" strike="noStrike" u="none">
                <a:solidFill>
                  <a:srgbClr val="808080"/>
                </a:solidFill>
                <a:uFillTx/>
                <a:latin typeface="Century Gothic"/>
              </a:defRPr>
            </a:pPr>
          </a:p>
        </c:txPr>
        <c:crossAx val="77873308"/>
        <c:crosses val="autoZero"/>
        <c:crossBetween val="between"/>
      </c:valAx>
      <c:spPr>
        <a:noFill/>
        <a:ln w="0">
          <a:noFill/>
        </a:ln>
      </c:spPr>
    </c:plotArea>
    <c:plotVisOnly val="1"/>
    <c:dispBlanksAs val="zero"/>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Value</c:v>
                </c:pt>
              </c:strCache>
            </c:strRef>
          </c:tx>
          <c:spPr>
            <a:solidFill>
              <a:srgbClr val="c76a38"/>
            </a:solidFill>
            <a:ln w="0">
              <a:noFill/>
            </a:ln>
          </c:spPr>
          <c:invertIfNegative val="0"/>
          <c:dLbls>
            <c:numFmt formatCode="#,##0" sourceLinked="0"/>
            <c:txPr>
              <a:bodyPr wrap="square"/>
              <a:lstStyle/>
              <a:p>
                <a:pPr>
                  <a:defRPr b="1" sz="2625" strike="noStrike" u="none">
                    <a:solidFill>
                      <a:srgbClr val="14293d"/>
                    </a:solidFill>
                    <a:uFillTx/>
                    <a:latin typeface="Century Gothic"/>
                    <a:ea typeface="Century Gothic"/>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2"/>
                <c:pt idx="0">
                  <c:v>No overlap</c:v>
                </c:pt>
                <c:pt idx="1">
                  <c:v>Any overlap</c:v>
                </c:pt>
              </c:strCache>
            </c:strRef>
          </c:cat>
          <c:val>
            <c:numRef>
              <c:f>0</c:f>
              <c:numCache>
                <c:formatCode>General</c:formatCode>
                <c:ptCount val="2"/>
                <c:pt idx="0">
                  <c:v>154</c:v>
                </c:pt>
                <c:pt idx="1">
                  <c:v>90</c:v>
                </c:pt>
              </c:numCache>
            </c:numRef>
          </c:val>
        </c:ser>
        <c:gapWidth val="100"/>
        <c:overlap val="0"/>
        <c:axId val="50623032"/>
        <c:axId val="50304231"/>
      </c:barChart>
      <c:catAx>
        <c:axId val="50623032"/>
        <c:scaling>
          <c:orientation val="minMax"/>
        </c:scaling>
        <c:delete val="0"/>
        <c:axPos val="b"/>
        <c:numFmt formatCode="General" sourceLinked="0"/>
        <c:majorTickMark val="none"/>
        <c:minorTickMark val="none"/>
        <c:tickLblPos val="nextTo"/>
        <c:spPr>
          <a:ln w="0">
            <a:noFill/>
          </a:ln>
        </c:spPr>
        <c:txPr>
          <a:bodyPr/>
          <a:lstStyle/>
          <a:p>
            <a:pPr>
              <a:defRPr b="0" sz="1950" strike="noStrike" u="none">
                <a:solidFill>
                  <a:srgbClr val="14293d"/>
                </a:solidFill>
                <a:uFillTx/>
                <a:latin typeface="Century Gothic"/>
                <a:ea typeface="Century Gothic"/>
              </a:defRPr>
            </a:pPr>
          </a:p>
        </c:txPr>
        <c:crossAx val="50304231"/>
        <c:crosses val="autoZero"/>
        <c:auto val="1"/>
        <c:lblAlgn val="ctr"/>
        <c:lblOffset val="100"/>
        <c:noMultiLvlLbl val="0"/>
      </c:catAx>
      <c:valAx>
        <c:axId val="50304231"/>
        <c:scaling>
          <c:orientation val="minMax"/>
        </c:scaling>
        <c:delete val="1"/>
        <c:axPos val="l"/>
        <c:numFmt formatCode="General" sourceLinked="1"/>
        <c:majorTickMark val="none"/>
        <c:minorTickMark val="none"/>
        <c:tickLblPos val="nextTo"/>
        <c:spPr>
          <a:ln w="12600">
            <a:solidFill>
              <a:srgbClr val="8b8b8b"/>
            </a:solidFill>
            <a:round/>
          </a:ln>
        </c:spPr>
        <c:txPr>
          <a:bodyPr/>
          <a:lstStyle/>
          <a:p>
            <a:pPr>
              <a:defRPr b="0" sz="1000" strike="noStrike" u="none">
                <a:solidFill>
                  <a:srgbClr val="000000"/>
                </a:solidFill>
                <a:uFillTx/>
                <a:latin typeface="Century Gothic"/>
              </a:defRPr>
            </a:pPr>
          </a:p>
        </c:txPr>
        <c:crossAx val="50623032"/>
        <c:crossBetween val="between"/>
      </c:valAx>
      <c:spPr>
        <a:noFill/>
        <a:ln w="0">
          <a:noFill/>
        </a:ln>
      </c:spPr>
    </c:plotArea>
    <c:plotVisOnly val="1"/>
    <c:dispBlanksAs val="zero"/>
  </c:chart>
  <c:spPr>
    <a:solidFill>
      <a:srgbClr val="f8fafc"/>
    </a:solid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Value</c:v>
                </c:pt>
              </c:strCache>
            </c:strRef>
          </c:tx>
          <c:spPr>
            <a:solidFill>
              <a:srgbClr val="c76a38"/>
            </a:solidFill>
            <a:ln w="0">
              <a:noFill/>
            </a:ln>
          </c:spPr>
          <c:invertIfNegative val="0"/>
          <c:dLbls>
            <c:numFmt formatCode="0.000" sourceLinked="0"/>
            <c:txPr>
              <a:bodyPr wrap="square"/>
              <a:lstStyle/>
              <a:p>
                <a:pPr>
                  <a:defRPr b="1" sz="2625" strike="noStrike" u="none">
                    <a:solidFill>
                      <a:srgbClr val="14293d"/>
                    </a:solidFill>
                    <a:uFillTx/>
                    <a:latin typeface="Century Gothic"/>
                    <a:ea typeface="Century Gothic"/>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2"/>
                <c:pt idx="0">
                  <c:v>Spatial AUC</c:v>
                </c:pt>
                <c:pt idx="1">
                  <c:v>Pre-set gate</c:v>
                </c:pt>
              </c:strCache>
            </c:strRef>
          </c:cat>
          <c:val>
            <c:numRef>
              <c:f>0</c:f>
              <c:numCache>
                <c:formatCode>General</c:formatCode>
                <c:ptCount val="2"/>
                <c:pt idx="0">
                  <c:v>0.7327</c:v>
                </c:pt>
                <c:pt idx="1">
                  <c:v>0.8</c:v>
                </c:pt>
              </c:numCache>
            </c:numRef>
          </c:val>
        </c:ser>
        <c:gapWidth val="100"/>
        <c:overlap val="0"/>
        <c:axId val="35359760"/>
        <c:axId val="1187355"/>
      </c:barChart>
      <c:catAx>
        <c:axId val="35359760"/>
        <c:scaling>
          <c:orientation val="minMax"/>
        </c:scaling>
        <c:delete val="0"/>
        <c:axPos val="b"/>
        <c:numFmt formatCode="General" sourceLinked="0"/>
        <c:majorTickMark val="none"/>
        <c:minorTickMark val="none"/>
        <c:tickLblPos val="nextTo"/>
        <c:spPr>
          <a:ln w="0">
            <a:noFill/>
          </a:ln>
        </c:spPr>
        <c:txPr>
          <a:bodyPr/>
          <a:lstStyle/>
          <a:p>
            <a:pPr>
              <a:defRPr b="0" sz="1950" strike="noStrike" u="none">
                <a:solidFill>
                  <a:srgbClr val="14293d"/>
                </a:solidFill>
                <a:uFillTx/>
                <a:latin typeface="Century Gothic"/>
                <a:ea typeface="Century Gothic"/>
              </a:defRPr>
            </a:pPr>
          </a:p>
        </c:txPr>
        <c:crossAx val="1187355"/>
        <c:crosses val="autoZero"/>
        <c:auto val="1"/>
        <c:lblAlgn val="ctr"/>
        <c:lblOffset val="100"/>
        <c:noMultiLvlLbl val="0"/>
      </c:catAx>
      <c:valAx>
        <c:axId val="1187355"/>
        <c:scaling>
          <c:orientation val="minMax"/>
        </c:scaling>
        <c:delete val="1"/>
        <c:axPos val="l"/>
        <c:numFmt formatCode="General" sourceLinked="1"/>
        <c:majorTickMark val="none"/>
        <c:minorTickMark val="none"/>
        <c:tickLblPos val="nextTo"/>
        <c:spPr>
          <a:ln w="12600">
            <a:solidFill>
              <a:srgbClr val="8b8b8b"/>
            </a:solidFill>
            <a:round/>
          </a:ln>
        </c:spPr>
        <c:txPr>
          <a:bodyPr/>
          <a:lstStyle/>
          <a:p>
            <a:pPr>
              <a:defRPr b="0" sz="1000" strike="noStrike" u="none">
                <a:solidFill>
                  <a:srgbClr val="000000"/>
                </a:solidFill>
                <a:uFillTx/>
                <a:latin typeface="Century Gothic"/>
              </a:defRPr>
            </a:pPr>
          </a:p>
        </c:txPr>
        <c:crossAx val="35359760"/>
        <c:crossBetween val="between"/>
      </c:valAx>
      <c:spPr>
        <a:noFill/>
        <a:ln w="0">
          <a:noFill/>
        </a:ln>
      </c:spPr>
    </c:plotArea>
    <c:plotVisOnly val="1"/>
    <c:dispBlanksAs val="zero"/>
  </c:chart>
  <c:spPr>
    <a:solidFill>
      <a:srgbClr val="f8fafc"/>
    </a:solid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Value</c:v>
                </c:pt>
              </c:strCache>
            </c:strRef>
          </c:tx>
          <c:spPr>
            <a:solidFill>
              <a:srgbClr val="c76a38"/>
            </a:solidFill>
            <a:ln w="0">
              <a:noFill/>
            </a:ln>
          </c:spPr>
          <c:invertIfNegative val="0"/>
          <c:dLbls>
            <c:numFmt formatCode="#,##0" sourceLinked="0"/>
            <c:txPr>
              <a:bodyPr wrap="square"/>
              <a:lstStyle/>
              <a:p>
                <a:pPr>
                  <a:defRPr b="1" sz="2625" strike="noStrike" u="none">
                    <a:solidFill>
                      <a:srgbClr val="14293d"/>
                    </a:solidFill>
                    <a:uFillTx/>
                    <a:latin typeface="Century Gothic"/>
                    <a:ea typeface="Century Gothic"/>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2"/>
                <c:pt idx="0">
                  <c:v>Community income</c:v>
                </c:pt>
                <c:pt idx="1">
                  <c:v>Poverty line</c:v>
                </c:pt>
              </c:strCache>
            </c:strRef>
          </c:cat>
          <c:val>
            <c:numRef>
              <c:f>0</c:f>
              <c:numCache>
                <c:formatCode>General</c:formatCode>
                <c:ptCount val="2"/>
                <c:pt idx="0">
                  <c:v>1964</c:v>
                </c:pt>
                <c:pt idx="1">
                  <c:v>2762</c:v>
                </c:pt>
              </c:numCache>
            </c:numRef>
          </c:val>
        </c:ser>
        <c:gapWidth val="100"/>
        <c:overlap val="0"/>
        <c:axId val="90306475"/>
        <c:axId val="70902895"/>
      </c:barChart>
      <c:catAx>
        <c:axId val="90306475"/>
        <c:scaling>
          <c:orientation val="minMax"/>
        </c:scaling>
        <c:delete val="0"/>
        <c:axPos val="b"/>
        <c:numFmt formatCode="General" sourceLinked="0"/>
        <c:majorTickMark val="none"/>
        <c:minorTickMark val="none"/>
        <c:tickLblPos val="nextTo"/>
        <c:spPr>
          <a:ln w="0">
            <a:noFill/>
          </a:ln>
        </c:spPr>
        <c:txPr>
          <a:bodyPr/>
          <a:lstStyle/>
          <a:p>
            <a:pPr>
              <a:defRPr b="0" sz="1950" strike="noStrike" u="none">
                <a:solidFill>
                  <a:srgbClr val="14293d"/>
                </a:solidFill>
                <a:uFillTx/>
                <a:latin typeface="Century Gothic"/>
                <a:ea typeface="Century Gothic"/>
              </a:defRPr>
            </a:pPr>
          </a:p>
        </c:txPr>
        <c:crossAx val="70902895"/>
        <c:crosses val="autoZero"/>
        <c:auto val="1"/>
        <c:lblAlgn val="ctr"/>
        <c:lblOffset val="100"/>
        <c:noMultiLvlLbl val="0"/>
      </c:catAx>
      <c:valAx>
        <c:axId val="70902895"/>
        <c:scaling>
          <c:orientation val="minMax"/>
        </c:scaling>
        <c:delete val="1"/>
        <c:axPos val="l"/>
        <c:numFmt formatCode="General" sourceLinked="1"/>
        <c:majorTickMark val="none"/>
        <c:minorTickMark val="none"/>
        <c:tickLblPos val="nextTo"/>
        <c:spPr>
          <a:ln w="12600">
            <a:solidFill>
              <a:srgbClr val="8b8b8b"/>
            </a:solidFill>
            <a:round/>
          </a:ln>
        </c:spPr>
        <c:txPr>
          <a:bodyPr/>
          <a:lstStyle/>
          <a:p>
            <a:pPr>
              <a:defRPr b="0" sz="1000" strike="noStrike" u="none">
                <a:solidFill>
                  <a:srgbClr val="000000"/>
                </a:solidFill>
                <a:uFillTx/>
                <a:latin typeface="Century Gothic"/>
              </a:defRPr>
            </a:pPr>
          </a:p>
        </c:txPr>
        <c:crossAx val="90306475"/>
        <c:crossBetween val="between"/>
      </c:valAx>
      <c:spPr>
        <a:noFill/>
        <a:ln w="0">
          <a:noFill/>
        </a:ln>
      </c:spPr>
    </c:plotArea>
    <c:plotVisOnly val="1"/>
    <c:dispBlanksAs val="zero"/>
  </c:chart>
  <c:spPr>
    <a:solidFill>
      <a:srgbClr val="f8fafc"/>
    </a:solidFill>
    <a:ln w="0">
      <a:noFill/>
    </a:ln>
  </c:spPr>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Value</c:v>
                </c:pt>
              </c:strCache>
            </c:strRef>
          </c:tx>
          <c:spPr>
            <a:solidFill>
              <a:srgbClr val="217e86"/>
            </a:solidFill>
            <a:ln w="0">
              <a:noFill/>
            </a:ln>
          </c:spPr>
          <c:invertIfNegative val="0"/>
          <c:dLbls>
            <c:numFmt formatCode="0.0" sourceLinked="0"/>
            <c:txPr>
              <a:bodyPr wrap="square"/>
              <a:lstStyle/>
              <a:p>
                <a:pPr>
                  <a:defRPr b="1" sz="2625" strike="noStrike" u="none">
                    <a:solidFill>
                      <a:srgbClr val="14293d"/>
                    </a:solidFill>
                    <a:uFillTx/>
                    <a:latin typeface="Century Gothic"/>
                    <a:ea typeface="Century Gothic"/>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2"/>
                <c:pt idx="0">
                  <c:v>Shared meter</c:v>
                </c:pt>
                <c:pt idx="1">
                  <c:v>Typical household</c:v>
                </c:pt>
              </c:strCache>
            </c:strRef>
          </c:cat>
          <c:val>
            <c:numRef>
              <c:f>0</c:f>
              <c:numCache>
                <c:formatCode>General</c:formatCode>
                <c:ptCount val="2"/>
                <c:pt idx="0">
                  <c:v>12</c:v>
                </c:pt>
                <c:pt idx="1">
                  <c:v>3.5</c:v>
                </c:pt>
              </c:numCache>
            </c:numRef>
          </c:val>
        </c:ser>
        <c:gapWidth val="100"/>
        <c:overlap val="0"/>
        <c:axId val="12615449"/>
        <c:axId val="15026459"/>
      </c:barChart>
      <c:catAx>
        <c:axId val="12615449"/>
        <c:scaling>
          <c:orientation val="minMax"/>
        </c:scaling>
        <c:delete val="0"/>
        <c:axPos val="b"/>
        <c:numFmt formatCode="General" sourceLinked="0"/>
        <c:majorTickMark val="none"/>
        <c:minorTickMark val="none"/>
        <c:tickLblPos val="nextTo"/>
        <c:spPr>
          <a:ln w="0">
            <a:noFill/>
          </a:ln>
        </c:spPr>
        <c:txPr>
          <a:bodyPr/>
          <a:lstStyle/>
          <a:p>
            <a:pPr>
              <a:defRPr b="0" sz="1950" strike="noStrike" u="none">
                <a:solidFill>
                  <a:srgbClr val="14293d"/>
                </a:solidFill>
                <a:uFillTx/>
                <a:latin typeface="Century Gothic"/>
                <a:ea typeface="Century Gothic"/>
              </a:defRPr>
            </a:pPr>
          </a:p>
        </c:txPr>
        <c:crossAx val="15026459"/>
        <c:crosses val="autoZero"/>
        <c:auto val="1"/>
        <c:lblAlgn val="ctr"/>
        <c:lblOffset val="100"/>
        <c:noMultiLvlLbl val="0"/>
      </c:catAx>
      <c:valAx>
        <c:axId val="15026459"/>
        <c:scaling>
          <c:orientation val="minMax"/>
        </c:scaling>
        <c:delete val="1"/>
        <c:axPos val="l"/>
        <c:numFmt formatCode="General" sourceLinked="1"/>
        <c:majorTickMark val="none"/>
        <c:minorTickMark val="none"/>
        <c:tickLblPos val="nextTo"/>
        <c:spPr>
          <a:ln w="12600">
            <a:solidFill>
              <a:srgbClr val="8b8b8b"/>
            </a:solidFill>
            <a:round/>
          </a:ln>
        </c:spPr>
        <c:txPr>
          <a:bodyPr/>
          <a:lstStyle/>
          <a:p>
            <a:pPr>
              <a:defRPr b="0" sz="1000" strike="noStrike" u="none">
                <a:solidFill>
                  <a:srgbClr val="000000"/>
                </a:solidFill>
                <a:uFillTx/>
                <a:latin typeface="Century Gothic"/>
              </a:defRPr>
            </a:pPr>
          </a:p>
        </c:txPr>
        <c:crossAx val="12615449"/>
        <c:crossBetween val="between"/>
      </c:valAx>
      <c:spPr>
        <a:noFill/>
        <a:ln w="0">
          <a:noFill/>
        </a:ln>
      </c:spPr>
    </c:plotArea>
    <c:plotVisOnly val="1"/>
    <c:dispBlanksAs val="zero"/>
  </c:chart>
  <c:spPr>
    <a:solidFill>
      <a:srgbClr val="f8fafc"/>
    </a:solidFill>
    <a:ln w="0">
      <a:noFill/>
    </a:ln>
  </c:spPr>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Value</c:v>
                </c:pt>
              </c:strCache>
            </c:strRef>
          </c:tx>
          <c:spPr>
            <a:solidFill>
              <a:srgbClr val="217e86"/>
            </a:solidFill>
            <a:ln w="0">
              <a:noFill/>
            </a:ln>
          </c:spPr>
          <c:invertIfNegative val="0"/>
          <c:dLbls>
            <c:numFmt formatCode="#,##0" sourceLinked="0"/>
            <c:txPr>
              <a:bodyPr wrap="square"/>
              <a:lstStyle/>
              <a:p>
                <a:pPr>
                  <a:defRPr b="1" sz="2625" strike="noStrike" u="none">
                    <a:solidFill>
                      <a:srgbClr val="14293d"/>
                    </a:solidFill>
                    <a:uFillTx/>
                    <a:latin typeface="Century Gothic"/>
                    <a:ea typeface="Century Gothic"/>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Flagged</c:v>
                </c:pt>
                <c:pt idx="1">
                  <c:v>Matched controls</c:v>
                </c:pt>
                <c:pt idx="2">
                  <c:v>Registered</c:v>
                </c:pt>
              </c:strCache>
            </c:strRef>
          </c:cat>
          <c:val>
            <c:numRef>
              <c:f>0</c:f>
              <c:numCache>
                <c:formatCode>General</c:formatCode>
                <c:ptCount val="3"/>
                <c:pt idx="0">
                  <c:v>120</c:v>
                </c:pt>
                <c:pt idx="1">
                  <c:v>120</c:v>
                </c:pt>
                <c:pt idx="2">
                  <c:v>60</c:v>
                </c:pt>
              </c:numCache>
            </c:numRef>
          </c:val>
        </c:ser>
        <c:gapWidth val="100"/>
        <c:overlap val="0"/>
        <c:axId val="9136770"/>
        <c:axId val="9949604"/>
      </c:barChart>
      <c:catAx>
        <c:axId val="9136770"/>
        <c:scaling>
          <c:orientation val="minMax"/>
        </c:scaling>
        <c:delete val="0"/>
        <c:axPos val="b"/>
        <c:numFmt formatCode="General" sourceLinked="0"/>
        <c:majorTickMark val="none"/>
        <c:minorTickMark val="none"/>
        <c:tickLblPos val="nextTo"/>
        <c:spPr>
          <a:ln w="0">
            <a:noFill/>
          </a:ln>
        </c:spPr>
        <c:txPr>
          <a:bodyPr/>
          <a:lstStyle/>
          <a:p>
            <a:pPr>
              <a:defRPr b="0" sz="1950" strike="noStrike" u="none">
                <a:solidFill>
                  <a:srgbClr val="14293d"/>
                </a:solidFill>
                <a:uFillTx/>
                <a:latin typeface="Century Gothic"/>
                <a:ea typeface="Century Gothic"/>
              </a:defRPr>
            </a:pPr>
          </a:p>
        </c:txPr>
        <c:crossAx val="9949604"/>
        <c:crosses val="autoZero"/>
        <c:auto val="1"/>
        <c:lblAlgn val="ctr"/>
        <c:lblOffset val="100"/>
        <c:noMultiLvlLbl val="0"/>
      </c:catAx>
      <c:valAx>
        <c:axId val="9949604"/>
        <c:scaling>
          <c:orientation val="minMax"/>
        </c:scaling>
        <c:delete val="1"/>
        <c:axPos val="l"/>
        <c:numFmt formatCode="General" sourceLinked="1"/>
        <c:majorTickMark val="none"/>
        <c:minorTickMark val="none"/>
        <c:tickLblPos val="nextTo"/>
        <c:spPr>
          <a:ln w="12600">
            <a:solidFill>
              <a:srgbClr val="8b8b8b"/>
            </a:solidFill>
            <a:round/>
          </a:ln>
        </c:spPr>
        <c:txPr>
          <a:bodyPr/>
          <a:lstStyle/>
          <a:p>
            <a:pPr>
              <a:defRPr b="0" sz="1000" strike="noStrike" u="none">
                <a:solidFill>
                  <a:srgbClr val="000000"/>
                </a:solidFill>
                <a:uFillTx/>
                <a:latin typeface="Century Gothic"/>
              </a:defRPr>
            </a:pPr>
          </a:p>
        </c:txPr>
        <c:crossAx val="9136770"/>
        <c:crossBetween val="between"/>
      </c:valAx>
      <c:spPr>
        <a:noFill/>
        <a:ln w="0">
          <a:noFill/>
        </a:ln>
      </c:spPr>
    </c:plotArea>
    <c:plotVisOnly val="1"/>
    <c:dispBlanksAs val="zero"/>
  </c:chart>
  <c:spPr>
    <a:solidFill>
      <a:srgbClr val="f8fafc"/>
    </a:solid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800" strike="noStrike" u="none">
                <a:solidFill>
                  <a:schemeClr val="dk1"/>
                </a:solidFill>
                <a:effectLst/>
                <a:uFillTx/>
                <a:latin typeface="Century Gothic"/>
              </a:rPr>
              <a:t>Click to move the slide</a:t>
            </a:r>
            <a:endParaRPr b="0" lang="en-US" sz="1800" strike="noStrike" u="none">
              <a:solidFill>
                <a:schemeClr val="dk1"/>
              </a:solidFill>
              <a:effectLst/>
              <a:uFillTx/>
              <a:latin typeface="Century Gothic"/>
            </a:endParaRPr>
          </a:p>
        </p:txBody>
      </p:sp>
      <p:sp>
        <p:nvSpPr>
          <p:cNvPr id="12"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13"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14"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5"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6"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DC5D90F7-C7E7-4607-A656-3ED208542C6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7" name="PlaceHolder 1"/>
          <p:cNvSpPr>
            <a:spLocks noGrp="1"/>
          </p:cNvSpPr>
          <p:nvPr>
            <p:ph type="sldImg"/>
          </p:nvPr>
        </p:nvSpPr>
        <p:spPr>
          <a:xfrm>
            <a:off x="0" y="0"/>
            <a:ext cx="0" cy="0"/>
          </a:xfrm>
          <a:prstGeom prst="rect">
            <a:avLst/>
          </a:prstGeom>
          <a:ln w="0">
            <a:noFill/>
          </a:ln>
        </p:spPr>
      </p:sp>
      <p:sp>
        <p:nvSpPr>
          <p:cNvPr id="370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SLIDE 1 | 0:00–0:25</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Where should Bangkok send its next field team? That is the decision behind Pixels to Metro Policy. Community records and building data describe the same city in different ways. We bring them together so a planning team can see where the evidence disagrees and decide what needs checking on the ground.</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SOURCE: EN slides 1, 12–13; Final_v3 slide 9. Cover photograph: Unequal Scenes, Bangkok, https://unequalscenes.com/bangkok ; 1920 × 1438 source https://unequalscenes.com/img/bangkok/bangkok-01-1920-689fcb0a.jpg . Photo retained with attribution; no open licence asserted.</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Q&amp;A / EVIDENCE LIMITS: </a:t>
            </a:r>
            <a:endParaRPr b="0" lang="en-US" sz="2000" strike="noStrike" u="none">
              <a:solidFill>
                <a:srgbClr val="000000"/>
              </a:solidFill>
              <a:effectLst/>
              <a:uFillTx/>
              <a:latin typeface="Arial"/>
            </a:endParaRPr>
          </a:p>
        </p:txBody>
      </p:sp>
      <p:sp>
        <p:nvSpPr>
          <p:cNvPr id="3709"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p>
            <a:pPr indent="0">
              <a:buNone/>
            </a:pPr>
            <a:endParaRPr b="0" lang="en-US" sz="18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0" name="PlaceHolder 1"/>
          <p:cNvSpPr>
            <a:spLocks noGrp="1"/>
          </p:cNvSpPr>
          <p:nvPr>
            <p:ph type="sldImg"/>
          </p:nvPr>
        </p:nvSpPr>
        <p:spPr>
          <a:xfrm>
            <a:off x="0" y="0"/>
            <a:ext cx="0" cy="0"/>
          </a:xfrm>
          <a:prstGeom prst="rect">
            <a:avLst/>
          </a:prstGeom>
          <a:ln w="0">
            <a:noFill/>
          </a:ln>
        </p:spPr>
      </p:sp>
      <p:sp>
        <p:nvSpPr>
          <p:cNvPr id="371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SLIDE 2 | 0:25–1:00</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The first reason to investigate is a mismatch between public records. In the supplied spatial comparison, 1,135 of 1,588 National Housing Authority low-income community points fall outside every Bangkok community polygon. These are already recorded places. Different dates, definitions or boundary geometry may explain the difference. But a planner needs to see that disagreement before relying on either layer alone. Our starting point is reconciliation: making an incomplete picture visible and traceable.</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SOURCE: EN slide 4; Final_v3 slide 2.</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Q&amp;A / EVIDENCE LIMITS: NHA points: 1,135 outside + 325 inside congested + 128 inside other = 1,588. BMA polygon snapshot has 1,993 features, distinct from live register 1,994. No claim that 1,135 are unregistered slums.</a:t>
            </a:r>
            <a:endParaRPr b="0" lang="en-US" sz="2000" strike="noStrike" u="none">
              <a:solidFill>
                <a:srgbClr val="000000"/>
              </a:solidFill>
              <a:effectLst/>
              <a:uFillTx/>
              <a:latin typeface="Arial"/>
            </a:endParaRPr>
          </a:p>
        </p:txBody>
      </p:sp>
      <p:sp>
        <p:nvSpPr>
          <p:cNvPr id="3712"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p>
            <a:pPr indent="0">
              <a:buNone/>
            </a:pPr>
            <a:endParaRPr b="0" lang="en-US" sz="18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3" name="PlaceHolder 1"/>
          <p:cNvSpPr>
            <a:spLocks noGrp="1"/>
          </p:cNvSpPr>
          <p:nvPr>
            <p:ph type="sldImg"/>
          </p:nvPr>
        </p:nvSpPr>
        <p:spPr>
          <a:xfrm>
            <a:off x="-360" y="-360"/>
            <a:ext cx="720" cy="720"/>
          </a:xfrm>
          <a:prstGeom prst="rect">
            <a:avLst/>
          </a:prstGeom>
          <a:ln w="0">
            <a:noFill/>
          </a:ln>
        </p:spPr>
      </p:sp>
      <p:sp>
        <p:nvSpPr>
          <p:cNvPr id="371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SLIDE 2 | 0:25–1:00</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The first reason to investigate is a mismatch between public records. In the supplied spatial comparison, 1,135 of 1,588 National Housing Authority low-income community points fall outside every Bangkok community polygon. These are already recorded places. Different dates, definitions or boundary geometry may explain the difference. But a planner needs to see that disagreement before relying on either layer alone. Our starting point is reconciliation: making an incomplete picture visible and traceable.</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SOURCE: EN slide 4; Final_v3 slide 2.</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Q&amp;A / EVIDENCE LIMITS: NHA points: 1,135 outside + 325 inside congested + 128 inside other = 1,588. BMA polygon snapshot has 1,993 features, distinct from live register 1,994. No claim that 1,135 are unregistered slums.</a:t>
            </a:r>
            <a:endParaRPr b="0" lang="en-US" sz="2000" strike="noStrike" u="none">
              <a:solidFill>
                <a:srgbClr val="000000"/>
              </a:solidFill>
              <a:effectLst/>
              <a:uFillTx/>
              <a:latin typeface="Arial"/>
            </a:endParaRPr>
          </a:p>
        </p:txBody>
      </p:sp>
      <p:sp>
        <p:nvSpPr>
          <p:cNvPr id="3715"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p>
            <a:pPr indent="0">
              <a:buNone/>
            </a:pPr>
            <a:endParaRPr b="0" lang="en-US" sz="18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6" name="PlaceHolder 1"/>
          <p:cNvSpPr>
            <a:spLocks noGrp="1"/>
          </p:cNvSpPr>
          <p:nvPr>
            <p:ph type="sldImg"/>
          </p:nvPr>
        </p:nvSpPr>
        <p:spPr>
          <a:xfrm>
            <a:off x="0" y="0"/>
            <a:ext cx="0" cy="0"/>
          </a:xfrm>
          <a:prstGeom prst="rect">
            <a:avLst/>
          </a:prstGeom>
          <a:ln w="0">
            <a:noFill/>
          </a:ln>
        </p:spPr>
      </p:sp>
      <p:sp>
        <p:nvSpPr>
          <p:cNvPr id="371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SLIDE 3 | 1:00–1:35</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This map connects community boundaries with housing programmes and assessed fire risk. Orange polygons show 626 registered congested communities. Blue points locate 177 Baan Mankong projects. Red markers identify six communities assessed at high or critical fire risk. These are different evidence layers: a project point is not a project boundary, and an assessed risk is not a recorded fire. Together they help a planning team frame location-specific questions for the next field visit.</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SOURCE: EN slides 2–3 and 12; HTML Baan Mankong coordinates; BMA FeatureServer/14 boundary layer downloaded 16 Oct 2026. Fire assessments 2568.</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Q&amp;A / EVIDENCE LIMITS: Toolkit capabilities and counts are reported by source deck. No live demo or performance benchmark was independently rerun for this presentation. Map overlays 1,993 official community polygons, including 626 congested, with 177 project locations from HTML. Project points are not project boundaries. Red markers show risk assessments, not actual fire incidents. Layer dates differ. Boundary source: https://cpudgiapp.bangkok.go.th/arcgis/rest/services/Community/Service_Community/FeatureServer/14</a:t>
            </a:r>
            <a:endParaRPr b="0" lang="en-US" sz="2000" strike="noStrike" u="none">
              <a:solidFill>
                <a:srgbClr val="000000"/>
              </a:solidFill>
              <a:effectLst/>
              <a:uFillTx/>
              <a:latin typeface="Arial"/>
            </a:endParaRPr>
          </a:p>
        </p:txBody>
      </p:sp>
      <p:sp>
        <p:nvSpPr>
          <p:cNvPr id="3718"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p>
            <a:pPr indent="0">
              <a:buNone/>
            </a:pPr>
            <a:endParaRPr b="0" lang="en-US" sz="18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9" name="PlaceHolder 1"/>
          <p:cNvSpPr>
            <a:spLocks noGrp="1"/>
          </p:cNvSpPr>
          <p:nvPr>
            <p:ph type="sldImg"/>
          </p:nvPr>
        </p:nvSpPr>
        <p:spPr>
          <a:xfrm>
            <a:off x="0" y="0"/>
            <a:ext cx="0" cy="0"/>
          </a:xfrm>
          <a:prstGeom prst="rect">
            <a:avLst/>
          </a:prstGeom>
          <a:ln w="0">
            <a:noFill/>
          </a:ln>
        </p:spPr>
      </p:sp>
      <p:sp>
        <p:nvSpPr>
          <p:cNvPr id="372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SLIDE 4 | 1:35–2:15</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We tested two scales. A local THEOS-2 experiment extracted 2,284 roof polygons across two scenes. The citywide run uses a separate open building dataset: 1.8 million footprints across the study boundary. It summarizes building patterns into roughly 124,000 hundred-metre cells, then applies model and spatial filters. The frozen output is 244 candidate areas. That turns a citywide search into a finite review queue. The imagery experiment and the citywide screening use different inputs, so we report them separately.</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SOURCE: EN slides 5–6; Final_v3 slides 3–4.</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Q&amp;A / EVIDENCE LIMITS: Exact footprints 1,803,195. Screening reported 4,372 cells, reconstruction 4,361. After register mask 2,926 cells. Cluster and NHA distance filters produce 244. Six generating scripts were absent from the supplied archives per Final_v3, so do not claim full reproducibility. THEOS-2 overlap measures internal stability, not external accuracy.</a:t>
            </a:r>
            <a:endParaRPr b="0" lang="en-US" sz="2000" strike="noStrike" u="none">
              <a:solidFill>
                <a:srgbClr val="000000"/>
              </a:solidFill>
              <a:effectLst/>
              <a:uFillTx/>
              <a:latin typeface="Arial"/>
            </a:endParaRPr>
          </a:p>
        </p:txBody>
      </p:sp>
      <p:sp>
        <p:nvSpPr>
          <p:cNvPr id="3721"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p>
            <a:pPr indent="0">
              <a:buNone/>
            </a:pPr>
            <a:endParaRPr b="0" lang="en-US" sz="18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2" name="PlaceHolder 1"/>
          <p:cNvSpPr>
            <a:spLocks noGrp="1"/>
          </p:cNvSpPr>
          <p:nvPr>
            <p:ph type="sldImg"/>
          </p:nvPr>
        </p:nvSpPr>
        <p:spPr>
          <a:xfrm>
            <a:off x="0" y="0"/>
            <a:ext cx="0" cy="0"/>
          </a:xfrm>
          <a:prstGeom prst="rect">
            <a:avLst/>
          </a:prstGeom>
          <a:ln w="0">
            <a:noFill/>
          </a:ln>
        </p:spPr>
      </p:sp>
      <p:sp>
        <p:nvSpPr>
          <p:cNvPr id="372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SLIDE 5 | 2:15–2:50</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Here is the candidate map. A check of the final candidate polygons shows that 154 have no overlap with registered community polygons, while 90 overlap at least one. Those 90 need boundary reconciliation. This distinction matters because a filter applied to analysis cells does not by itself establish the status of a final area. All 244 remain unranked screening outputs. We have independently confirmed zero settlements. The map gives the next investigation a defined geography and an explicit uncertainty.</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SOURCE: EN slide 8; candidate map from EN slide 8.</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Q&amp;A / EVIDENCE LIMITS: Original figure subtitle says candidates outside registered communities. Cropped title/subtitle and replaced with the final polygon audit: 154 no overlap and 90 any overlap, including 55 congested. Map markers locate candidates, not hazard or priority levels.</a:t>
            </a:r>
            <a:endParaRPr b="0" lang="en-US" sz="2000" strike="noStrike" u="none">
              <a:solidFill>
                <a:srgbClr val="000000"/>
              </a:solidFill>
              <a:effectLst/>
              <a:uFillTx/>
              <a:latin typeface="Arial"/>
            </a:endParaRPr>
          </a:p>
        </p:txBody>
      </p:sp>
      <p:sp>
        <p:nvSpPr>
          <p:cNvPr id="3724" name="PlaceHolder 3"/>
          <p:cNvSpPr>
            <a:spLocks noGrp="1"/>
          </p:cNvSpPr>
          <p:nvPr>
            <p:ph type="sldNum" idx="9"/>
          </p:nvPr>
        </p:nvSpPr>
        <p:spPr>
          <a:xfrm>
            <a:off x="0" y="0"/>
            <a:ext cx="0" cy="0"/>
          </a:xfrm>
          <a:prstGeom prst="rect">
            <a:avLst/>
          </a:prstGeom>
          <a:noFill/>
          <a:ln w="0">
            <a:noFill/>
          </a:ln>
        </p:spPr>
        <p:txBody>
          <a:bodyPr lIns="90000" rIns="90000" tIns="-45000" bIns="-45000" anchor="t">
            <a:noAutofit/>
          </a:bodyPr>
          <a:p>
            <a:pPr indent="0">
              <a:buNone/>
            </a:pPr>
            <a:endParaRPr b="0" lang="en-US" sz="18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5" name="PlaceHolder 1"/>
          <p:cNvSpPr>
            <a:spLocks noGrp="1"/>
          </p:cNvSpPr>
          <p:nvPr>
            <p:ph type="sldImg"/>
          </p:nvPr>
        </p:nvSpPr>
        <p:spPr>
          <a:xfrm>
            <a:off x="0" y="0"/>
            <a:ext cx="0" cy="0"/>
          </a:xfrm>
          <a:prstGeom prst="rect">
            <a:avLst/>
          </a:prstGeom>
          <a:ln w="0">
            <a:noFill/>
          </a:ln>
        </p:spPr>
      </p:sp>
      <p:sp>
        <p:nvSpPr>
          <p:cNvPr id="372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SLIDE 6 | 2:50–3:35</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We also tested the limits of the evidence. The model achieved a spatial cross-validation AUC of 0.733, below our pre-set 0.80 gate. It is not ready to classify settlement status. Separately, an audit found that 46 registered communities appeared to contain zero buildings because the original method counted grid-cell centres. Counting intersecting building footprints instead produced 1,688 buildings in those same communities. We corrected the interpretation. Nothing new appeared on the ground. This is why the counting rule and the model limits belong beside the map.</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SOURCE: EN slides 7 and 10; Final_v3 slides 5 and 7.</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Q&amp;A / EVIDENCE LIMITS: AUC exact .7327 from 5 district folds. Registration-derived labels measure resemblance to register patterns, not poverty, tenure or legal status. 46 communities hold 5,227 recorded households and 16,769 residents. The correction is attribution, not detection gain. Screening minimum resolution around 1–2 ha.</a:t>
            </a:r>
            <a:endParaRPr b="0" lang="en-US" sz="2000" strike="noStrike" u="none">
              <a:solidFill>
                <a:srgbClr val="000000"/>
              </a:solidFill>
              <a:effectLst/>
              <a:uFillTx/>
              <a:latin typeface="Arial"/>
            </a:endParaRPr>
          </a:p>
        </p:txBody>
      </p:sp>
      <p:sp>
        <p:nvSpPr>
          <p:cNvPr id="3727"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p>
            <a:pPr indent="0">
              <a:buNone/>
            </a:pPr>
            <a:endParaRPr b="0" lang="en-US" sz="18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8" name="PlaceHolder 1"/>
          <p:cNvSpPr>
            <a:spLocks noGrp="1"/>
          </p:cNvSpPr>
          <p:nvPr>
            <p:ph type="sldImg"/>
          </p:nvPr>
        </p:nvSpPr>
        <p:spPr>
          <a:xfrm>
            <a:off x="0" y="0"/>
            <a:ext cx="0" cy="0"/>
          </a:xfrm>
          <a:prstGeom prst="rect">
            <a:avLst/>
          </a:prstGeom>
          <a:ln w="0">
            <a:noFill/>
          </a:ln>
        </p:spPr>
      </p:sp>
      <p:sp>
        <p:nvSpPr>
          <p:cNvPr id="372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BACKUP ONLY. Outside the five-minute pitch. Source: HTML fire-risk assessments 2568 and community locations 2567. Six high/critical communities, three in Wang Thong Lang. These are risk classifications, not confirmed fire incidents. Thai community names retained for accurate identification.</a:t>
            </a:r>
            <a:endParaRPr b="0" lang="en-US" sz="2000" strike="noStrike" u="none">
              <a:solidFill>
                <a:srgbClr val="000000"/>
              </a:solidFill>
              <a:effectLst/>
              <a:uFillTx/>
              <a:latin typeface="Arial"/>
            </a:endParaRPr>
          </a:p>
        </p:txBody>
      </p:sp>
      <p:sp>
        <p:nvSpPr>
          <p:cNvPr id="3730"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p>
            <a:pPr indent="0">
              <a:buNone/>
            </a:pPr>
            <a:endParaRPr b="0" lang="en-US" sz="18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1" name="PlaceHolder 1"/>
          <p:cNvSpPr>
            <a:spLocks noGrp="1"/>
          </p:cNvSpPr>
          <p:nvPr>
            <p:ph type="sldImg"/>
          </p:nvPr>
        </p:nvSpPr>
        <p:spPr>
          <a:xfrm>
            <a:off x="0" y="0"/>
            <a:ext cx="0" cy="0"/>
          </a:xfrm>
          <a:prstGeom prst="rect">
            <a:avLst/>
          </a:prstGeom>
          <a:ln w="0">
            <a:noFill/>
          </a:ln>
        </p:spPr>
      </p:sp>
      <p:sp>
        <p:nvSpPr>
          <p:cNvPr id="373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BACKUP ONLY. Outside the five-minute pitch. Source: HTML and supplied notes, November 2568. Eleven communities, 320 households, about 1,070 people. Only six names matched to coordinates in the available file. Unmatched does not mean the city lacks coordinates. Thai names retained.</a:t>
            </a:r>
            <a:endParaRPr b="0" lang="en-US" sz="2000" strike="noStrike" u="none">
              <a:solidFill>
                <a:srgbClr val="000000"/>
              </a:solidFill>
              <a:effectLst/>
              <a:uFillTx/>
              <a:latin typeface="Arial"/>
            </a:endParaRPr>
          </a:p>
        </p:txBody>
      </p:sp>
      <p:sp>
        <p:nvSpPr>
          <p:cNvPr id="3733"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p>
            <a:pPr indent="0">
              <a:buNone/>
            </a:pPr>
            <a:endParaRPr b="0" lang="en-US" sz="18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4" name="PlaceHolder 1"/>
          <p:cNvSpPr>
            <a:spLocks noGrp="1"/>
          </p:cNvSpPr>
          <p:nvPr>
            <p:ph type="sldImg"/>
          </p:nvPr>
        </p:nvSpPr>
        <p:spPr>
          <a:xfrm>
            <a:off x="0" y="0"/>
            <a:ext cx="0" cy="0"/>
          </a:xfrm>
          <a:prstGeom prst="rect">
            <a:avLst/>
          </a:prstGeom>
          <a:ln w="0">
            <a:noFill/>
          </a:ln>
        </p:spPr>
      </p:sp>
      <p:sp>
        <p:nvSpPr>
          <p:cNvPr id="373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BACKUP ONLY. EN slide 2 and user-supplied HTML excerpts. Income 1,964 vs national poverty line 2,762 baht/person/month. Electricity shared-meter case 12 vs approximate typical household 3.5 baht/unit. The 3.4 ratio belongs to electricity, not water. No assertion these are current tariffs or citywide averages. Periods in the compiled sources differ.</a:t>
            </a:r>
            <a:endParaRPr b="0" lang="en-US" sz="2000" strike="noStrike" u="none">
              <a:solidFill>
                <a:srgbClr val="000000"/>
              </a:solidFill>
              <a:effectLst/>
              <a:uFillTx/>
              <a:latin typeface="Arial"/>
            </a:endParaRPr>
          </a:p>
        </p:txBody>
      </p:sp>
      <p:sp>
        <p:nvSpPr>
          <p:cNvPr id="3736"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p>
            <a:pPr indent="0">
              <a:buNone/>
            </a:pPr>
            <a:endParaRPr b="0" lang="en-US" sz="18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7" name="PlaceHolder 1"/>
          <p:cNvSpPr>
            <a:spLocks noGrp="1"/>
          </p:cNvSpPr>
          <p:nvPr>
            <p:ph type="sldImg"/>
          </p:nvPr>
        </p:nvSpPr>
        <p:spPr>
          <a:xfrm>
            <a:off x="0" y="0"/>
            <a:ext cx="0" cy="0"/>
          </a:xfrm>
          <a:prstGeom prst="rect">
            <a:avLst/>
          </a:prstGeom>
          <a:ln w="0">
            <a:noFill/>
          </a:ln>
        </p:spPr>
      </p:sp>
      <p:sp>
        <p:nvSpPr>
          <p:cNvPr id="373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BACKUP ONLY. Source: Final_v3 slide 6. Eighteen separation values transcribed from source figure. Selected correlations reproduced: buildings versus density .98; model probability versus model high-score share .88. Full original correlation matrix has additional cells without numerical labels and is not reconstructed. Forty frames, one reviewer, exploratory evidence only.</a:t>
            </a:r>
            <a:endParaRPr b="0" lang="en-US" sz="2000" strike="noStrike" u="none">
              <a:solidFill>
                <a:srgbClr val="000000"/>
              </a:solidFill>
              <a:effectLst/>
              <a:uFillTx/>
              <a:latin typeface="Arial"/>
            </a:endParaRPr>
          </a:p>
        </p:txBody>
      </p:sp>
      <p:sp>
        <p:nvSpPr>
          <p:cNvPr id="3739"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p>
            <a:pPr indent="0">
              <a:buNone/>
            </a:pPr>
            <a:endParaRPr b="0" lang="en-US" sz="18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0" name="PlaceHolder 1"/>
          <p:cNvSpPr>
            <a:spLocks noGrp="1"/>
          </p:cNvSpPr>
          <p:nvPr>
            <p:ph type="sldImg"/>
          </p:nvPr>
        </p:nvSpPr>
        <p:spPr>
          <a:xfrm>
            <a:off x="0" y="0"/>
            <a:ext cx="0" cy="0"/>
          </a:xfrm>
          <a:prstGeom prst="rect">
            <a:avLst/>
          </a:prstGeom>
          <a:ln w="0">
            <a:noFill/>
          </a:ln>
        </p:spPr>
      </p:sp>
      <p:sp>
        <p:nvSpPr>
          <p:cNvPr id="374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SLIDE 8 | 4:20–5:00</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The next step is to explore the evidence in the web app we built. I will open the Bangkok community map, choose one district and compare the available layers. We can locate registered community boundaries, see Baan Mankong locations and examine the available flood context. Then we connect those locations with the page’s community information and social analysis. This turns the presentation into an explorable evidence resource. Let’s open the app and look at one district together.</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SOURCE: User-confirmed demo target: bangkok-slums-standalone_1.html.</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Q&amp;A / EVIDENCE LIMITS: DEMO HANDOFF: Open the HTML before presenting. At this slide switch to its browser tab, select a district, toggle the relevant available map layers and inspect community information. Local PPTX hyperlink points to the sibling HTML file. Keep both files together. Map tiles and remote GIS layers may require internet. This HTML demo is the community evidence resource, not a claim that the 244 model candidate layer is implemented in this file. Five-minute narration ends at the handoff.</a:t>
            </a:r>
            <a:endParaRPr b="0" lang="en-US" sz="2000" strike="noStrike" u="none">
              <a:solidFill>
                <a:srgbClr val="000000"/>
              </a:solidFill>
              <a:effectLst/>
              <a:uFillTx/>
              <a:latin typeface="Arial"/>
            </a:endParaRPr>
          </a:p>
        </p:txBody>
      </p:sp>
      <p:sp>
        <p:nvSpPr>
          <p:cNvPr id="3742"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p>
            <a:pPr indent="0">
              <a:buNone/>
            </a:pPr>
            <a:endParaRPr b="0" lang="en-US" sz="18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3" name="PlaceHolder 1"/>
          <p:cNvSpPr>
            <a:spLocks noGrp="1"/>
          </p:cNvSpPr>
          <p:nvPr>
            <p:ph type="sldImg"/>
          </p:nvPr>
        </p:nvSpPr>
        <p:spPr>
          <a:xfrm>
            <a:off x="0" y="0"/>
            <a:ext cx="0" cy="0"/>
          </a:xfrm>
          <a:prstGeom prst="rect">
            <a:avLst/>
          </a:prstGeom>
          <a:ln w="0">
            <a:noFill/>
          </a:ln>
        </p:spPr>
      </p:sp>
      <p:sp>
        <p:nvSpPr>
          <p:cNvPr id="374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SLIDE 1 | 0:00–0:25</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Where should Bangkok send its next field team? That is the decision behind Pixels to Metro Policy. Community records and building data describe the same city in different ways. We bring them together so a planning team can see where the evidence disagrees and decide what needs checking on the ground.</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SOURCE: EN slides 1, 12–13; Final_v3 slide 9. Cover photograph: Unequal Scenes, Bangkok, https://unequalscenes.com/bangkok ; 1920 × 1438 source https://unequalscenes.com/img/bangkok/bangkok-01-1920-689fcb0a.jpg . Photo retained with attribution; no open licence asserted.</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Q&amp;A / EVIDENCE LIMITS: </a:t>
            </a:r>
            <a:endParaRPr b="0" lang="en-US" sz="2000" strike="noStrike" u="none">
              <a:solidFill>
                <a:srgbClr val="000000"/>
              </a:solidFill>
              <a:effectLst/>
              <a:uFillTx/>
              <a:latin typeface="Arial"/>
            </a:endParaRPr>
          </a:p>
        </p:txBody>
      </p:sp>
      <p:sp>
        <p:nvSpPr>
          <p:cNvPr id="3745" name="PlaceHolder 3"/>
          <p:cNvSpPr>
            <a:spLocks noGrp="1"/>
          </p:cNvSpPr>
          <p:nvPr>
            <p:ph type="sldNum" idx="16"/>
          </p:nvPr>
        </p:nvSpPr>
        <p:spPr>
          <a:xfrm>
            <a:off x="0" y="0"/>
            <a:ext cx="0" cy="0"/>
          </a:xfrm>
          <a:prstGeom prst="rect">
            <a:avLst/>
          </a:prstGeom>
          <a:noFill/>
          <a:ln w="0">
            <a:noFill/>
          </a:ln>
        </p:spPr>
        <p:txBody>
          <a:bodyPr lIns="90000" rIns="90000" tIns="-45000" bIns="-45000" anchor="t">
            <a:noAutofit/>
          </a:bodyPr>
          <a:p>
            <a:pPr indent="0">
              <a:buNone/>
            </a:pPr>
            <a:endParaRPr b="0" lang="en-US" sz="18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6" name="PlaceHolder 1"/>
          <p:cNvSpPr>
            <a:spLocks noGrp="1"/>
          </p:cNvSpPr>
          <p:nvPr>
            <p:ph type="sldImg"/>
          </p:nvPr>
        </p:nvSpPr>
        <p:spPr>
          <a:xfrm>
            <a:off x="0" y="0"/>
            <a:ext cx="0" cy="0"/>
          </a:xfrm>
          <a:prstGeom prst="rect">
            <a:avLst/>
          </a:prstGeom>
          <a:ln w="0">
            <a:noFill/>
          </a:ln>
        </p:spPr>
      </p:sp>
      <p:sp>
        <p:nvSpPr>
          <p:cNvPr id="374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SLIDE 7 | 3:35–4:20</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Our next milestone is an independent test with 300 review units: 120 flagged areas, 120 matched controls and 60 registered areas. That comparison tests whether screening adds useful information beyond density alone. Before review begins, we need imagery at one metre or better with visible capture dates, and three reviewers who did not build the model. Review has not started. The design includes a stopping rule if reviewer agreement falls below kappa 0.40. Any policy use also needs community and socioeconomic evidence beyond what imagery can show.</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SOURCE: EN slide 11; Final_v3 slide 8.</a:t>
            </a:r>
            <a:endParaRPr b="0" lang="en-US" sz="2000" strike="noStrike" u="none">
              <a:solidFill>
                <a:srgbClr val="000000"/>
              </a:solidFill>
              <a:effectLst/>
              <a:uFillTx/>
              <a:latin typeface="Arial"/>
            </a:endParaRPr>
          </a:p>
          <a:p>
            <a:pPr indent="0">
              <a:lnSpc>
                <a:spcPct val="100000"/>
              </a:lnSpc>
              <a:buNone/>
            </a:pPr>
            <a:endParaRPr b="0" lang="en-US" sz="2000" strike="noStrike" u="none">
              <a:solidFill>
                <a:srgbClr val="000000"/>
              </a:solidFill>
              <a:effectLst/>
              <a:uFillTx/>
              <a:latin typeface="Arial"/>
            </a:endParaRPr>
          </a:p>
          <a:p>
            <a:pPr indent="0">
              <a:lnSpc>
                <a:spcPct val="100000"/>
              </a:lnSpc>
              <a:buNone/>
            </a:pPr>
            <a:r>
              <a:rPr b="0" lang="en-US" sz="2000" strike="noStrike" u="none">
                <a:solidFill>
                  <a:srgbClr val="000000"/>
                </a:solidFill>
                <a:effectLst/>
                <a:uFillTx/>
                <a:latin typeface="Arial"/>
              </a:rPr>
              <a:t>Q&amp;A / EVIDENCE LIMITS: 300 planned units, zero reviewed. Required imagery and independent reviewers not secured in supplied source. Kappa threshold is a stop rule, not sufficient proof of model accuracy.</a:t>
            </a:r>
            <a:endParaRPr b="0" lang="en-US" sz="2000" strike="noStrike" u="none">
              <a:solidFill>
                <a:srgbClr val="000000"/>
              </a:solidFill>
              <a:effectLst/>
              <a:uFillTx/>
              <a:latin typeface="Arial"/>
            </a:endParaRPr>
          </a:p>
        </p:txBody>
      </p:sp>
      <p:sp>
        <p:nvSpPr>
          <p:cNvPr id="3748"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p>
            <a:pPr indent="0">
              <a:buNone/>
            </a:pPr>
            <a:endParaRPr b="0" lang="en-US" sz="18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828800" y="3886200"/>
            <a:ext cx="14630040" cy="1485720"/>
          </a:xfrm>
          <a:prstGeom prst="rect">
            <a:avLst/>
          </a:prstGeom>
          <a:noFill/>
          <a:ln w="0">
            <a:noFill/>
          </a:ln>
        </p:spPr>
        <p:txBody>
          <a:bodyPr lIns="0" rIns="0" tIns="0" bIns="0" anchor="ctr">
            <a:normAutofit/>
          </a:bodyPr>
          <a:p>
            <a:pPr indent="0">
              <a:buNone/>
            </a:pPr>
            <a:r>
              <a:rPr b="0" lang="en-US" sz="7200" strike="noStrike" u="none">
                <a:solidFill>
                  <a:schemeClr val="dk1"/>
                </a:solidFill>
                <a:effectLst/>
                <a:uFillTx/>
                <a:latin typeface="Century Gothic"/>
              </a:rPr>
              <a:t>Click to edit the title text format</a:t>
            </a:r>
            <a:endParaRPr b="0" lang="en-US" sz="7200" strike="noStrike" u="none">
              <a:solidFill>
                <a:schemeClr val="dk1"/>
              </a:solidFill>
              <a:effectLst/>
              <a:uFillTx/>
              <a:latin typeface="Century Gothic"/>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1" name="PlaceHolder 1"/>
          <p:cNvSpPr>
            <a:spLocks noGrp="1"/>
          </p:cNvSpPr>
          <p:nvPr>
            <p:ph type="title"/>
          </p:nvPr>
        </p:nvSpPr>
        <p:spPr>
          <a:xfrm>
            <a:off x="1828800" y="4286160"/>
            <a:ext cx="14630040" cy="1714320"/>
          </a:xfrm>
          <a:prstGeom prst="rect">
            <a:avLst/>
          </a:prstGeom>
          <a:noFill/>
          <a:ln w="0">
            <a:noFill/>
          </a:ln>
        </p:spPr>
        <p:txBody>
          <a:bodyPr lIns="0" rIns="0" tIns="0" bIns="0" anchor="ctr">
            <a:normAutofit/>
          </a:bodyPr>
          <a:p>
            <a:pPr indent="0">
              <a:buNone/>
            </a:pPr>
            <a:r>
              <a:rPr b="0" lang="en-US" sz="6300" strike="noStrike" u="none">
                <a:solidFill>
                  <a:schemeClr val="dk1"/>
                </a:solidFill>
                <a:effectLst/>
                <a:uFillTx/>
                <a:latin typeface="Century Gothic"/>
              </a:rPr>
              <a:t>Click to edit the title text format</a:t>
            </a:r>
            <a:endParaRPr b="0" lang="en-US" sz="6300" strike="noStrike" u="none">
              <a:solidFill>
                <a:schemeClr val="dk1"/>
              </a:solidFill>
              <a:effectLst/>
              <a:uFillTx/>
              <a:latin typeface="Century Gothic"/>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028880" y="800280"/>
            <a:ext cx="16230240" cy="1257120"/>
          </a:xfrm>
          <a:prstGeom prst="rect">
            <a:avLst/>
          </a:prstGeom>
          <a:noFill/>
          <a:ln w="0">
            <a:noFill/>
          </a:ln>
        </p:spPr>
        <p:txBody>
          <a:bodyPr lIns="0" rIns="0" tIns="0" bIns="0" anchor="t">
            <a:normAutofit/>
          </a:bodyPr>
          <a:p>
            <a:pPr indent="0">
              <a:buNone/>
            </a:pPr>
            <a:r>
              <a:rPr b="0" lang="en-US" sz="4950" strike="noStrike" u="none">
                <a:solidFill>
                  <a:schemeClr val="dk1"/>
                </a:solidFill>
                <a:effectLst/>
                <a:uFillTx/>
                <a:latin typeface="Century Gothic"/>
              </a:rPr>
              <a:t>Click to edit the title text format</a:t>
            </a:r>
            <a:endParaRPr b="0" lang="en-US" sz="4950" strike="noStrike" u="none">
              <a:solidFill>
                <a:schemeClr val="dk1"/>
              </a:solidFill>
              <a:effectLst/>
              <a:uFillTx/>
              <a:latin typeface="Century Gothic"/>
            </a:endParaRPr>
          </a:p>
        </p:txBody>
      </p:sp>
      <p:sp>
        <p:nvSpPr>
          <p:cNvPr id="3" name="PlaceHolder 2"/>
          <p:cNvSpPr>
            <a:spLocks noGrp="1"/>
          </p:cNvSpPr>
          <p:nvPr>
            <p:ph type="body"/>
          </p:nvPr>
        </p:nvSpPr>
        <p:spPr>
          <a:xfrm>
            <a:off x="1028880" y="2857680"/>
            <a:ext cx="16230240" cy="640044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3380" strike="noStrike" u="none">
                <a:solidFill>
                  <a:schemeClr val="dk1"/>
                </a:solidFill>
                <a:effectLst/>
                <a:uFillTx/>
                <a:latin typeface="Century Gothic"/>
              </a:rPr>
              <a:t>Click to edit the outline text format</a:t>
            </a:r>
            <a:endParaRPr b="0" lang="en-US" sz="3380" strike="noStrike" u="none">
              <a:solidFill>
                <a:schemeClr val="dk1"/>
              </a:solidFill>
              <a:effectLst/>
              <a:uFillTx/>
              <a:latin typeface="Century Gothic"/>
            </a:endParaRPr>
          </a:p>
          <a:p>
            <a:pPr lvl="1" marL="864000" indent="-324000">
              <a:lnSpc>
                <a:spcPct val="90000"/>
              </a:lnSpc>
              <a:spcBef>
                <a:spcPts val="1134"/>
              </a:spcBef>
              <a:buClr>
                <a:srgbClr val="000000"/>
              </a:buClr>
              <a:buSzPct val="75000"/>
              <a:buFont typeface="Symbol" charset="2"/>
              <a:buChar char=""/>
            </a:pPr>
            <a:r>
              <a:rPr b="0" lang="en-US" sz="3380" strike="noStrike" u="none">
                <a:solidFill>
                  <a:schemeClr val="dk1"/>
                </a:solidFill>
                <a:effectLst/>
                <a:uFillTx/>
                <a:latin typeface="Century Gothic"/>
              </a:rPr>
              <a:t>Second Outline Level</a:t>
            </a:r>
            <a:endParaRPr b="0" lang="en-US" sz="3380" strike="noStrike" u="none">
              <a:solidFill>
                <a:schemeClr val="dk1"/>
              </a:solidFill>
              <a:effectLst/>
              <a:uFillTx/>
              <a:latin typeface="Century Gothic"/>
            </a:endParaRPr>
          </a:p>
          <a:p>
            <a:pPr lvl="2" marL="1296000" indent="-288000">
              <a:lnSpc>
                <a:spcPct val="90000"/>
              </a:lnSpc>
              <a:spcBef>
                <a:spcPts val="850"/>
              </a:spcBef>
              <a:buClr>
                <a:srgbClr val="000000"/>
              </a:buClr>
              <a:buSzPct val="45000"/>
              <a:buFont typeface="Wingdings" charset="2"/>
              <a:buChar char=""/>
            </a:pPr>
            <a:r>
              <a:rPr b="0" lang="en-US" sz="3380" strike="noStrike" u="none">
                <a:solidFill>
                  <a:schemeClr val="dk1"/>
                </a:solidFill>
                <a:effectLst/>
                <a:uFillTx/>
                <a:latin typeface="Century Gothic"/>
              </a:rPr>
              <a:t>Third Outline Level</a:t>
            </a:r>
            <a:endParaRPr b="0" lang="en-US" sz="3380" strike="noStrike" u="none">
              <a:solidFill>
                <a:schemeClr val="dk1"/>
              </a:solidFill>
              <a:effectLst/>
              <a:uFillTx/>
              <a:latin typeface="Century Gothic"/>
            </a:endParaRPr>
          </a:p>
          <a:p>
            <a:pPr lvl="3" marL="1728000" indent="-216000">
              <a:lnSpc>
                <a:spcPct val="90000"/>
              </a:lnSpc>
              <a:spcBef>
                <a:spcPts val="567"/>
              </a:spcBef>
              <a:buClr>
                <a:srgbClr val="000000"/>
              </a:buClr>
              <a:buSzPct val="75000"/>
              <a:buFont typeface="Symbol" charset="2"/>
              <a:buChar char=""/>
            </a:pPr>
            <a:r>
              <a:rPr b="0" lang="en-US" sz="3380" strike="noStrike" u="none">
                <a:solidFill>
                  <a:schemeClr val="dk1"/>
                </a:solidFill>
                <a:effectLst/>
                <a:uFillTx/>
                <a:latin typeface="Century Gothic"/>
              </a:rPr>
              <a:t>Fourth Outline Level</a:t>
            </a:r>
            <a:endParaRPr b="0" lang="en-US" sz="3380" strike="noStrike" u="none">
              <a:solidFill>
                <a:schemeClr val="dk1"/>
              </a:solidFill>
              <a:effectLst/>
              <a:uFillTx/>
              <a:latin typeface="Century Gothic"/>
            </a:endParaRPr>
          </a:p>
          <a:p>
            <a:pPr lvl="4" marL="2160000" indent="-216000">
              <a:lnSpc>
                <a:spcPct val="90000"/>
              </a:lnSpc>
              <a:spcBef>
                <a:spcPts val="283"/>
              </a:spcBef>
              <a:buClr>
                <a:srgbClr val="000000"/>
              </a:buClr>
              <a:buSzPct val="45000"/>
              <a:buFont typeface="Wingdings" charset="2"/>
              <a:buChar char=""/>
            </a:pPr>
            <a:r>
              <a:rPr b="0" lang="en-US" sz="3380" strike="noStrike" u="none">
                <a:solidFill>
                  <a:schemeClr val="dk1"/>
                </a:solidFill>
                <a:effectLst/>
                <a:uFillTx/>
                <a:latin typeface="Century Gothic"/>
              </a:rPr>
              <a:t>Fifth Outline Level</a:t>
            </a:r>
            <a:endParaRPr b="0" lang="en-US" sz="3380" strike="noStrike" u="none">
              <a:solidFill>
                <a:schemeClr val="dk1"/>
              </a:solidFill>
              <a:effectLst/>
              <a:uFillTx/>
              <a:latin typeface="Century Gothic"/>
            </a:endParaRPr>
          </a:p>
          <a:p>
            <a:pPr lvl="5" marL="2592000" indent="-216000">
              <a:lnSpc>
                <a:spcPct val="90000"/>
              </a:lnSpc>
              <a:spcBef>
                <a:spcPts val="283"/>
              </a:spcBef>
              <a:buClr>
                <a:srgbClr val="000000"/>
              </a:buClr>
              <a:buSzPct val="45000"/>
              <a:buFont typeface="Wingdings" charset="2"/>
              <a:buChar char=""/>
            </a:pPr>
            <a:r>
              <a:rPr b="0" lang="en-US" sz="3380" strike="noStrike" u="none">
                <a:solidFill>
                  <a:schemeClr val="dk1"/>
                </a:solidFill>
                <a:effectLst/>
                <a:uFillTx/>
                <a:latin typeface="Century Gothic"/>
              </a:rPr>
              <a:t>Sixth Outline Level</a:t>
            </a:r>
            <a:endParaRPr b="0" lang="en-US" sz="3380" strike="noStrike" u="none">
              <a:solidFill>
                <a:schemeClr val="dk1"/>
              </a:solidFill>
              <a:effectLst/>
              <a:uFillTx/>
              <a:latin typeface="Century Gothic"/>
            </a:endParaRPr>
          </a:p>
          <a:p>
            <a:pPr lvl="6" marL="3024000" indent="-216000">
              <a:lnSpc>
                <a:spcPct val="90000"/>
              </a:lnSpc>
              <a:spcBef>
                <a:spcPts val="283"/>
              </a:spcBef>
              <a:buClr>
                <a:srgbClr val="000000"/>
              </a:buClr>
              <a:buSzPct val="45000"/>
              <a:buFont typeface="Wingdings" charset="2"/>
              <a:buChar char=""/>
            </a:pPr>
            <a:r>
              <a:rPr b="0" lang="en-US" sz="3380" strike="noStrike" u="none">
                <a:solidFill>
                  <a:schemeClr val="dk1"/>
                </a:solidFill>
                <a:effectLst/>
                <a:uFillTx/>
                <a:latin typeface="Century Gothic"/>
              </a:rPr>
              <a:t>Seventh Outline Level</a:t>
            </a:r>
            <a:endParaRPr b="0" lang="en-US" sz="3380" strike="noStrike" u="none">
              <a:solidFill>
                <a:schemeClr val="dk1"/>
              </a:solidFill>
              <a:effectLst/>
              <a:uFillTx/>
              <a:latin typeface="Century Gothic"/>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wo Column">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1028880" y="800280"/>
            <a:ext cx="16230240" cy="1257120"/>
          </a:xfrm>
          <a:prstGeom prst="rect">
            <a:avLst/>
          </a:prstGeom>
          <a:noFill/>
          <a:ln w="0">
            <a:noFill/>
          </a:ln>
        </p:spPr>
        <p:txBody>
          <a:bodyPr lIns="0" rIns="0" tIns="0" bIns="0" anchor="t">
            <a:normAutofit/>
          </a:bodyPr>
          <a:p>
            <a:pPr indent="0">
              <a:buNone/>
            </a:pPr>
            <a:r>
              <a:rPr b="0" lang="en-US" sz="4950" strike="noStrike" u="none">
                <a:solidFill>
                  <a:schemeClr val="dk1"/>
                </a:solidFill>
                <a:effectLst/>
                <a:uFillTx/>
                <a:latin typeface="Century Gothic"/>
              </a:rPr>
              <a:t>Click to edit the title text format</a:t>
            </a:r>
            <a:endParaRPr b="0" lang="en-US" sz="4950" strike="noStrike" u="none">
              <a:solidFill>
                <a:schemeClr val="dk1"/>
              </a:solidFill>
              <a:effectLst/>
              <a:uFillTx/>
              <a:latin typeface="Century Gothic"/>
            </a:endParaRPr>
          </a:p>
        </p:txBody>
      </p:sp>
      <p:sp>
        <p:nvSpPr>
          <p:cNvPr id="5" name="PlaceHolder 2"/>
          <p:cNvSpPr>
            <a:spLocks noGrp="1"/>
          </p:cNvSpPr>
          <p:nvPr>
            <p:ph type="body"/>
          </p:nvPr>
        </p:nvSpPr>
        <p:spPr>
          <a:xfrm>
            <a:off x="1028880" y="2857680"/>
            <a:ext cx="7543440" cy="640044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3150" strike="noStrike" u="none">
                <a:solidFill>
                  <a:schemeClr val="dk1"/>
                </a:solidFill>
                <a:effectLst/>
                <a:uFillTx/>
                <a:latin typeface="Century Gothic"/>
              </a:rPr>
              <a:t>Click to edit the outline text format</a:t>
            </a:r>
            <a:endParaRPr b="0" lang="en-US" sz="3150" strike="noStrike" u="none">
              <a:solidFill>
                <a:schemeClr val="dk1"/>
              </a:solidFill>
              <a:effectLst/>
              <a:uFillTx/>
              <a:latin typeface="Century Gothic"/>
            </a:endParaRPr>
          </a:p>
          <a:p>
            <a:pPr lvl="1" marL="864000" indent="-324000">
              <a:lnSpc>
                <a:spcPct val="90000"/>
              </a:lnSpc>
              <a:spcBef>
                <a:spcPts val="1134"/>
              </a:spcBef>
              <a:buClr>
                <a:srgbClr val="000000"/>
              </a:buClr>
              <a:buSzPct val="75000"/>
              <a:buFont typeface="Symbol" charset="2"/>
              <a:buChar char=""/>
            </a:pPr>
            <a:r>
              <a:rPr b="0" lang="en-US" sz="3150" strike="noStrike" u="none">
                <a:solidFill>
                  <a:schemeClr val="dk1"/>
                </a:solidFill>
                <a:effectLst/>
                <a:uFillTx/>
                <a:latin typeface="Century Gothic"/>
              </a:rPr>
              <a:t>Second Outline Level</a:t>
            </a:r>
            <a:endParaRPr b="0" lang="en-US" sz="3150" strike="noStrike" u="none">
              <a:solidFill>
                <a:schemeClr val="dk1"/>
              </a:solidFill>
              <a:effectLst/>
              <a:uFillTx/>
              <a:latin typeface="Century Gothic"/>
            </a:endParaRPr>
          </a:p>
          <a:p>
            <a:pPr lvl="2" marL="1296000" indent="-288000">
              <a:lnSpc>
                <a:spcPct val="90000"/>
              </a:lnSpc>
              <a:spcBef>
                <a:spcPts val="850"/>
              </a:spcBef>
              <a:buClr>
                <a:srgbClr val="000000"/>
              </a:buClr>
              <a:buSzPct val="45000"/>
              <a:buFont typeface="Wingdings" charset="2"/>
              <a:buChar char=""/>
            </a:pPr>
            <a:r>
              <a:rPr b="0" lang="en-US" sz="3150" strike="noStrike" u="none">
                <a:solidFill>
                  <a:schemeClr val="dk1"/>
                </a:solidFill>
                <a:effectLst/>
                <a:uFillTx/>
                <a:latin typeface="Century Gothic"/>
              </a:rPr>
              <a:t>Third Outline Level</a:t>
            </a:r>
            <a:endParaRPr b="0" lang="en-US" sz="3150" strike="noStrike" u="none">
              <a:solidFill>
                <a:schemeClr val="dk1"/>
              </a:solidFill>
              <a:effectLst/>
              <a:uFillTx/>
              <a:latin typeface="Century Gothic"/>
            </a:endParaRPr>
          </a:p>
          <a:p>
            <a:pPr lvl="3" marL="1728000" indent="-216000">
              <a:lnSpc>
                <a:spcPct val="90000"/>
              </a:lnSpc>
              <a:spcBef>
                <a:spcPts val="567"/>
              </a:spcBef>
              <a:buClr>
                <a:srgbClr val="000000"/>
              </a:buClr>
              <a:buSzPct val="75000"/>
              <a:buFont typeface="Symbol" charset="2"/>
              <a:buChar char=""/>
            </a:pPr>
            <a:r>
              <a:rPr b="0" lang="en-US" sz="3150" strike="noStrike" u="none">
                <a:solidFill>
                  <a:schemeClr val="dk1"/>
                </a:solidFill>
                <a:effectLst/>
                <a:uFillTx/>
                <a:latin typeface="Century Gothic"/>
              </a:rPr>
              <a:t>Fourth Outline Level</a:t>
            </a:r>
            <a:endParaRPr b="0" lang="en-US" sz="3150" strike="noStrike" u="none">
              <a:solidFill>
                <a:schemeClr val="dk1"/>
              </a:solidFill>
              <a:effectLst/>
              <a:uFillTx/>
              <a:latin typeface="Century Gothic"/>
            </a:endParaRPr>
          </a:p>
          <a:p>
            <a:pPr lvl="4" marL="2160000" indent="-216000">
              <a:lnSpc>
                <a:spcPct val="90000"/>
              </a:lnSpc>
              <a:spcBef>
                <a:spcPts val="283"/>
              </a:spcBef>
              <a:buClr>
                <a:srgbClr val="000000"/>
              </a:buClr>
              <a:buSzPct val="45000"/>
              <a:buFont typeface="Wingdings" charset="2"/>
              <a:buChar char=""/>
            </a:pPr>
            <a:r>
              <a:rPr b="0" lang="en-US" sz="3150" strike="noStrike" u="none">
                <a:solidFill>
                  <a:schemeClr val="dk1"/>
                </a:solidFill>
                <a:effectLst/>
                <a:uFillTx/>
                <a:latin typeface="Century Gothic"/>
              </a:rPr>
              <a:t>Fifth Outline Level</a:t>
            </a:r>
            <a:endParaRPr b="0" lang="en-US" sz="3150" strike="noStrike" u="none">
              <a:solidFill>
                <a:schemeClr val="dk1"/>
              </a:solidFill>
              <a:effectLst/>
              <a:uFillTx/>
              <a:latin typeface="Century Gothic"/>
            </a:endParaRPr>
          </a:p>
          <a:p>
            <a:pPr lvl="5" marL="2592000" indent="-216000">
              <a:lnSpc>
                <a:spcPct val="90000"/>
              </a:lnSpc>
              <a:spcBef>
                <a:spcPts val="283"/>
              </a:spcBef>
              <a:buClr>
                <a:srgbClr val="000000"/>
              </a:buClr>
              <a:buSzPct val="45000"/>
              <a:buFont typeface="Wingdings" charset="2"/>
              <a:buChar char=""/>
            </a:pPr>
            <a:r>
              <a:rPr b="0" lang="en-US" sz="3150" strike="noStrike" u="none">
                <a:solidFill>
                  <a:schemeClr val="dk1"/>
                </a:solidFill>
                <a:effectLst/>
                <a:uFillTx/>
                <a:latin typeface="Century Gothic"/>
              </a:rPr>
              <a:t>Sixth Outline Level</a:t>
            </a:r>
            <a:endParaRPr b="0" lang="en-US" sz="3150" strike="noStrike" u="none">
              <a:solidFill>
                <a:schemeClr val="dk1"/>
              </a:solidFill>
              <a:effectLst/>
              <a:uFillTx/>
              <a:latin typeface="Century Gothic"/>
            </a:endParaRPr>
          </a:p>
          <a:p>
            <a:pPr lvl="6" marL="3024000" indent="-216000">
              <a:lnSpc>
                <a:spcPct val="90000"/>
              </a:lnSpc>
              <a:spcBef>
                <a:spcPts val="283"/>
              </a:spcBef>
              <a:buClr>
                <a:srgbClr val="000000"/>
              </a:buClr>
              <a:buSzPct val="45000"/>
              <a:buFont typeface="Wingdings" charset="2"/>
              <a:buChar char=""/>
            </a:pPr>
            <a:r>
              <a:rPr b="0" lang="en-US" sz="3150" strike="noStrike" u="none">
                <a:solidFill>
                  <a:schemeClr val="dk1"/>
                </a:solidFill>
                <a:effectLst/>
                <a:uFillTx/>
                <a:latin typeface="Century Gothic"/>
              </a:rPr>
              <a:t>Seventh Outline Level</a:t>
            </a:r>
            <a:endParaRPr b="0" lang="en-US" sz="3150" strike="noStrike" u="none">
              <a:solidFill>
                <a:schemeClr val="dk1"/>
              </a:solidFill>
              <a:effectLst/>
              <a:uFillTx/>
              <a:latin typeface="Century Gothic"/>
            </a:endParaRPr>
          </a:p>
        </p:txBody>
      </p:sp>
      <p:sp>
        <p:nvSpPr>
          <p:cNvPr id="6" name="PlaceHolder 3"/>
          <p:cNvSpPr>
            <a:spLocks noGrp="1"/>
          </p:cNvSpPr>
          <p:nvPr>
            <p:ph type="body"/>
          </p:nvPr>
        </p:nvSpPr>
        <p:spPr>
          <a:xfrm>
            <a:off x="9715680" y="2857680"/>
            <a:ext cx="7543440" cy="640044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3150" strike="noStrike" u="none">
                <a:solidFill>
                  <a:schemeClr val="dk1"/>
                </a:solidFill>
                <a:effectLst/>
                <a:uFillTx/>
                <a:latin typeface="Century Gothic"/>
              </a:rPr>
              <a:t>Click to edit the outline text format</a:t>
            </a:r>
            <a:endParaRPr b="0" lang="en-US" sz="3150" strike="noStrike" u="none">
              <a:solidFill>
                <a:schemeClr val="dk1"/>
              </a:solidFill>
              <a:effectLst/>
              <a:uFillTx/>
              <a:latin typeface="Century Gothic"/>
            </a:endParaRPr>
          </a:p>
          <a:p>
            <a:pPr lvl="1" marL="864000" indent="-324000">
              <a:lnSpc>
                <a:spcPct val="90000"/>
              </a:lnSpc>
              <a:spcBef>
                <a:spcPts val="1134"/>
              </a:spcBef>
              <a:buClr>
                <a:srgbClr val="000000"/>
              </a:buClr>
              <a:buSzPct val="75000"/>
              <a:buFont typeface="Symbol" charset="2"/>
              <a:buChar char=""/>
            </a:pPr>
            <a:r>
              <a:rPr b="0" lang="en-US" sz="3150" strike="noStrike" u="none">
                <a:solidFill>
                  <a:schemeClr val="dk1"/>
                </a:solidFill>
                <a:effectLst/>
                <a:uFillTx/>
                <a:latin typeface="Century Gothic"/>
              </a:rPr>
              <a:t>Second Outline Level</a:t>
            </a:r>
            <a:endParaRPr b="0" lang="en-US" sz="3150" strike="noStrike" u="none">
              <a:solidFill>
                <a:schemeClr val="dk1"/>
              </a:solidFill>
              <a:effectLst/>
              <a:uFillTx/>
              <a:latin typeface="Century Gothic"/>
            </a:endParaRPr>
          </a:p>
          <a:p>
            <a:pPr lvl="2" marL="1296000" indent="-288000">
              <a:lnSpc>
                <a:spcPct val="90000"/>
              </a:lnSpc>
              <a:spcBef>
                <a:spcPts val="850"/>
              </a:spcBef>
              <a:buClr>
                <a:srgbClr val="000000"/>
              </a:buClr>
              <a:buSzPct val="45000"/>
              <a:buFont typeface="Wingdings" charset="2"/>
              <a:buChar char=""/>
            </a:pPr>
            <a:r>
              <a:rPr b="0" lang="en-US" sz="3150" strike="noStrike" u="none">
                <a:solidFill>
                  <a:schemeClr val="dk1"/>
                </a:solidFill>
                <a:effectLst/>
                <a:uFillTx/>
                <a:latin typeface="Century Gothic"/>
              </a:rPr>
              <a:t>Third Outline Level</a:t>
            </a:r>
            <a:endParaRPr b="0" lang="en-US" sz="3150" strike="noStrike" u="none">
              <a:solidFill>
                <a:schemeClr val="dk1"/>
              </a:solidFill>
              <a:effectLst/>
              <a:uFillTx/>
              <a:latin typeface="Century Gothic"/>
            </a:endParaRPr>
          </a:p>
          <a:p>
            <a:pPr lvl="3" marL="1728000" indent="-216000">
              <a:lnSpc>
                <a:spcPct val="90000"/>
              </a:lnSpc>
              <a:spcBef>
                <a:spcPts val="567"/>
              </a:spcBef>
              <a:buClr>
                <a:srgbClr val="000000"/>
              </a:buClr>
              <a:buSzPct val="75000"/>
              <a:buFont typeface="Symbol" charset="2"/>
              <a:buChar char=""/>
            </a:pPr>
            <a:r>
              <a:rPr b="0" lang="en-US" sz="3150" strike="noStrike" u="none">
                <a:solidFill>
                  <a:schemeClr val="dk1"/>
                </a:solidFill>
                <a:effectLst/>
                <a:uFillTx/>
                <a:latin typeface="Century Gothic"/>
              </a:rPr>
              <a:t>Fourth Outline Level</a:t>
            </a:r>
            <a:endParaRPr b="0" lang="en-US" sz="3150" strike="noStrike" u="none">
              <a:solidFill>
                <a:schemeClr val="dk1"/>
              </a:solidFill>
              <a:effectLst/>
              <a:uFillTx/>
              <a:latin typeface="Century Gothic"/>
            </a:endParaRPr>
          </a:p>
          <a:p>
            <a:pPr lvl="4" marL="2160000" indent="-216000">
              <a:lnSpc>
                <a:spcPct val="90000"/>
              </a:lnSpc>
              <a:spcBef>
                <a:spcPts val="283"/>
              </a:spcBef>
              <a:buClr>
                <a:srgbClr val="000000"/>
              </a:buClr>
              <a:buSzPct val="45000"/>
              <a:buFont typeface="Wingdings" charset="2"/>
              <a:buChar char=""/>
            </a:pPr>
            <a:r>
              <a:rPr b="0" lang="en-US" sz="3150" strike="noStrike" u="none">
                <a:solidFill>
                  <a:schemeClr val="dk1"/>
                </a:solidFill>
                <a:effectLst/>
                <a:uFillTx/>
                <a:latin typeface="Century Gothic"/>
              </a:rPr>
              <a:t>Fifth Outline Level</a:t>
            </a:r>
            <a:endParaRPr b="0" lang="en-US" sz="3150" strike="noStrike" u="none">
              <a:solidFill>
                <a:schemeClr val="dk1"/>
              </a:solidFill>
              <a:effectLst/>
              <a:uFillTx/>
              <a:latin typeface="Century Gothic"/>
            </a:endParaRPr>
          </a:p>
          <a:p>
            <a:pPr lvl="5" marL="2592000" indent="-216000">
              <a:lnSpc>
                <a:spcPct val="90000"/>
              </a:lnSpc>
              <a:spcBef>
                <a:spcPts val="283"/>
              </a:spcBef>
              <a:buClr>
                <a:srgbClr val="000000"/>
              </a:buClr>
              <a:buSzPct val="45000"/>
              <a:buFont typeface="Wingdings" charset="2"/>
              <a:buChar char=""/>
            </a:pPr>
            <a:r>
              <a:rPr b="0" lang="en-US" sz="3150" strike="noStrike" u="none">
                <a:solidFill>
                  <a:schemeClr val="dk1"/>
                </a:solidFill>
                <a:effectLst/>
                <a:uFillTx/>
                <a:latin typeface="Century Gothic"/>
              </a:rPr>
              <a:t>Sixth Outline Level</a:t>
            </a:r>
            <a:endParaRPr b="0" lang="en-US" sz="3150" strike="noStrike" u="none">
              <a:solidFill>
                <a:schemeClr val="dk1"/>
              </a:solidFill>
              <a:effectLst/>
              <a:uFillTx/>
              <a:latin typeface="Century Gothic"/>
            </a:endParaRPr>
          </a:p>
          <a:p>
            <a:pPr lvl="6" marL="3024000" indent="-216000">
              <a:lnSpc>
                <a:spcPct val="90000"/>
              </a:lnSpc>
              <a:spcBef>
                <a:spcPts val="283"/>
              </a:spcBef>
              <a:buClr>
                <a:srgbClr val="000000"/>
              </a:buClr>
              <a:buSzPct val="45000"/>
              <a:buFont typeface="Wingdings" charset="2"/>
              <a:buChar char=""/>
            </a:pPr>
            <a:r>
              <a:rPr b="0" lang="en-US" sz="3150" strike="noStrike" u="none">
                <a:solidFill>
                  <a:schemeClr val="dk1"/>
                </a:solidFill>
                <a:effectLst/>
                <a:uFillTx/>
                <a:latin typeface="Century Gothic"/>
              </a:rPr>
              <a:t>Seventh Outline Level</a:t>
            </a:r>
            <a:endParaRPr b="0" lang="en-US" sz="3150" strike="noStrike" u="none">
              <a:solidFill>
                <a:schemeClr val="dk1"/>
              </a:solidFill>
              <a:effectLst/>
              <a:uFillTx/>
              <a:latin typeface="Century Gothic"/>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One Column">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1028880" y="800280"/>
            <a:ext cx="16230240" cy="1257120"/>
          </a:xfrm>
          <a:prstGeom prst="rect">
            <a:avLst/>
          </a:prstGeom>
          <a:noFill/>
          <a:ln w="0">
            <a:noFill/>
          </a:ln>
        </p:spPr>
        <p:txBody>
          <a:bodyPr lIns="0" rIns="0" tIns="0" bIns="0" anchor="t">
            <a:normAutofit/>
          </a:bodyPr>
          <a:p>
            <a:pPr indent="0">
              <a:buNone/>
            </a:pPr>
            <a:r>
              <a:rPr b="0" lang="en-US" sz="4950" strike="noStrike" u="none">
                <a:solidFill>
                  <a:schemeClr val="dk1"/>
                </a:solidFill>
                <a:effectLst/>
                <a:uFillTx/>
                <a:latin typeface="Century Gothic"/>
              </a:rPr>
              <a:t>Click to edit the title text format</a:t>
            </a:r>
            <a:endParaRPr b="0" lang="en-US" sz="4950" strike="noStrike" u="none">
              <a:solidFill>
                <a:schemeClr val="dk1"/>
              </a:solidFill>
              <a:effectLst/>
              <a:uFillTx/>
              <a:latin typeface="Century Gothic"/>
            </a:endParaRPr>
          </a:p>
        </p:txBody>
      </p:sp>
      <p:sp>
        <p:nvSpPr>
          <p:cNvPr id="8" name="PlaceHolder 2"/>
          <p:cNvSpPr>
            <a:spLocks noGrp="1"/>
          </p:cNvSpPr>
          <p:nvPr>
            <p:ph type="body"/>
          </p:nvPr>
        </p:nvSpPr>
        <p:spPr>
          <a:xfrm>
            <a:off x="1028880" y="2857680"/>
            <a:ext cx="7543440" cy="640044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3380" strike="noStrike" u="none">
                <a:solidFill>
                  <a:schemeClr val="dk1"/>
                </a:solidFill>
                <a:effectLst/>
                <a:uFillTx/>
                <a:latin typeface="Century Gothic"/>
              </a:rPr>
              <a:t>Click to edit the outline text format</a:t>
            </a:r>
            <a:endParaRPr b="0" lang="en-US" sz="3380" strike="noStrike" u="none">
              <a:solidFill>
                <a:schemeClr val="dk1"/>
              </a:solidFill>
              <a:effectLst/>
              <a:uFillTx/>
              <a:latin typeface="Century Gothic"/>
            </a:endParaRPr>
          </a:p>
          <a:p>
            <a:pPr lvl="1" marL="864000" indent="-324000">
              <a:lnSpc>
                <a:spcPct val="90000"/>
              </a:lnSpc>
              <a:spcBef>
                <a:spcPts val="1134"/>
              </a:spcBef>
              <a:buClr>
                <a:srgbClr val="000000"/>
              </a:buClr>
              <a:buSzPct val="75000"/>
              <a:buFont typeface="Symbol" charset="2"/>
              <a:buChar char=""/>
            </a:pPr>
            <a:r>
              <a:rPr b="0" lang="en-US" sz="3380" strike="noStrike" u="none">
                <a:solidFill>
                  <a:schemeClr val="dk1"/>
                </a:solidFill>
                <a:effectLst/>
                <a:uFillTx/>
                <a:latin typeface="Century Gothic"/>
              </a:rPr>
              <a:t>Second Outline Level</a:t>
            </a:r>
            <a:endParaRPr b="0" lang="en-US" sz="3380" strike="noStrike" u="none">
              <a:solidFill>
                <a:schemeClr val="dk1"/>
              </a:solidFill>
              <a:effectLst/>
              <a:uFillTx/>
              <a:latin typeface="Century Gothic"/>
            </a:endParaRPr>
          </a:p>
          <a:p>
            <a:pPr lvl="2" marL="1296000" indent="-288000">
              <a:lnSpc>
                <a:spcPct val="90000"/>
              </a:lnSpc>
              <a:spcBef>
                <a:spcPts val="850"/>
              </a:spcBef>
              <a:buClr>
                <a:srgbClr val="000000"/>
              </a:buClr>
              <a:buSzPct val="45000"/>
              <a:buFont typeface="Wingdings" charset="2"/>
              <a:buChar char=""/>
            </a:pPr>
            <a:r>
              <a:rPr b="0" lang="en-US" sz="3380" strike="noStrike" u="none">
                <a:solidFill>
                  <a:schemeClr val="dk1"/>
                </a:solidFill>
                <a:effectLst/>
                <a:uFillTx/>
                <a:latin typeface="Century Gothic"/>
              </a:rPr>
              <a:t>Third Outline Level</a:t>
            </a:r>
            <a:endParaRPr b="0" lang="en-US" sz="3380" strike="noStrike" u="none">
              <a:solidFill>
                <a:schemeClr val="dk1"/>
              </a:solidFill>
              <a:effectLst/>
              <a:uFillTx/>
              <a:latin typeface="Century Gothic"/>
            </a:endParaRPr>
          </a:p>
          <a:p>
            <a:pPr lvl="3" marL="1728000" indent="-216000">
              <a:lnSpc>
                <a:spcPct val="90000"/>
              </a:lnSpc>
              <a:spcBef>
                <a:spcPts val="567"/>
              </a:spcBef>
              <a:buClr>
                <a:srgbClr val="000000"/>
              </a:buClr>
              <a:buSzPct val="75000"/>
              <a:buFont typeface="Symbol" charset="2"/>
              <a:buChar char=""/>
            </a:pPr>
            <a:r>
              <a:rPr b="0" lang="en-US" sz="3380" strike="noStrike" u="none">
                <a:solidFill>
                  <a:schemeClr val="dk1"/>
                </a:solidFill>
                <a:effectLst/>
                <a:uFillTx/>
                <a:latin typeface="Century Gothic"/>
              </a:rPr>
              <a:t>Fourth Outline Level</a:t>
            </a:r>
            <a:endParaRPr b="0" lang="en-US" sz="3380" strike="noStrike" u="none">
              <a:solidFill>
                <a:schemeClr val="dk1"/>
              </a:solidFill>
              <a:effectLst/>
              <a:uFillTx/>
              <a:latin typeface="Century Gothic"/>
            </a:endParaRPr>
          </a:p>
          <a:p>
            <a:pPr lvl="4" marL="2160000" indent="-216000">
              <a:lnSpc>
                <a:spcPct val="90000"/>
              </a:lnSpc>
              <a:spcBef>
                <a:spcPts val="283"/>
              </a:spcBef>
              <a:buClr>
                <a:srgbClr val="000000"/>
              </a:buClr>
              <a:buSzPct val="45000"/>
              <a:buFont typeface="Wingdings" charset="2"/>
              <a:buChar char=""/>
            </a:pPr>
            <a:r>
              <a:rPr b="0" lang="en-US" sz="3380" strike="noStrike" u="none">
                <a:solidFill>
                  <a:schemeClr val="dk1"/>
                </a:solidFill>
                <a:effectLst/>
                <a:uFillTx/>
                <a:latin typeface="Century Gothic"/>
              </a:rPr>
              <a:t>Fifth Outline Level</a:t>
            </a:r>
            <a:endParaRPr b="0" lang="en-US" sz="3380" strike="noStrike" u="none">
              <a:solidFill>
                <a:schemeClr val="dk1"/>
              </a:solidFill>
              <a:effectLst/>
              <a:uFillTx/>
              <a:latin typeface="Century Gothic"/>
            </a:endParaRPr>
          </a:p>
          <a:p>
            <a:pPr lvl="5" marL="2592000" indent="-216000">
              <a:lnSpc>
                <a:spcPct val="90000"/>
              </a:lnSpc>
              <a:spcBef>
                <a:spcPts val="283"/>
              </a:spcBef>
              <a:buClr>
                <a:srgbClr val="000000"/>
              </a:buClr>
              <a:buSzPct val="45000"/>
              <a:buFont typeface="Wingdings" charset="2"/>
              <a:buChar char=""/>
            </a:pPr>
            <a:r>
              <a:rPr b="0" lang="en-US" sz="3380" strike="noStrike" u="none">
                <a:solidFill>
                  <a:schemeClr val="dk1"/>
                </a:solidFill>
                <a:effectLst/>
                <a:uFillTx/>
                <a:latin typeface="Century Gothic"/>
              </a:rPr>
              <a:t>Sixth Outline Level</a:t>
            </a:r>
            <a:endParaRPr b="0" lang="en-US" sz="3380" strike="noStrike" u="none">
              <a:solidFill>
                <a:schemeClr val="dk1"/>
              </a:solidFill>
              <a:effectLst/>
              <a:uFillTx/>
              <a:latin typeface="Century Gothic"/>
            </a:endParaRPr>
          </a:p>
          <a:p>
            <a:pPr lvl="6" marL="3024000" indent="-216000">
              <a:lnSpc>
                <a:spcPct val="90000"/>
              </a:lnSpc>
              <a:spcBef>
                <a:spcPts val="283"/>
              </a:spcBef>
              <a:buClr>
                <a:srgbClr val="000000"/>
              </a:buClr>
              <a:buSzPct val="45000"/>
              <a:buFont typeface="Wingdings" charset="2"/>
              <a:buChar char=""/>
            </a:pPr>
            <a:r>
              <a:rPr b="0" lang="en-US" sz="3380" strike="noStrike" u="none">
                <a:solidFill>
                  <a:schemeClr val="dk1"/>
                </a:solidFill>
                <a:effectLst/>
                <a:uFillTx/>
                <a:latin typeface="Century Gothic"/>
              </a:rPr>
              <a:t>Seventh Outline Level</a:t>
            </a:r>
            <a:endParaRPr b="0" lang="en-US" sz="3380" strike="noStrike" u="none">
              <a:solidFill>
                <a:schemeClr val="dk1"/>
              </a:solidFill>
              <a:effectLst/>
              <a:uFillTx/>
              <a:latin typeface="Century Gothic"/>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Century Gothic"/>
              </a:rPr>
              <a:t>Click to edit the title text format</a:t>
            </a:r>
            <a:endParaRPr b="0" lang="en-US" sz="1800" strike="noStrike" u="none">
              <a:solidFill>
                <a:schemeClr val="dk1"/>
              </a:solidFill>
              <a:effectLst/>
              <a:uFillTx/>
              <a:latin typeface="Century Gothic"/>
            </a:endParaRPr>
          </a:p>
        </p:txBody>
      </p:sp>
      <p:sp>
        <p:nvSpPr>
          <p:cNvPr id="10" name="PlaceHolder 2"/>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entury Gothic"/>
              </a:rPr>
              <a:t>Click to edit the outline text format</a:t>
            </a:r>
            <a:endParaRPr b="0" lang="en-US" sz="2800" strike="noStrike" u="none">
              <a:solidFill>
                <a:schemeClr val="dk1"/>
              </a:solidFill>
              <a:effectLst/>
              <a:uFillTx/>
              <a:latin typeface="Century Gothic"/>
            </a:endParaRPr>
          </a:p>
          <a:p>
            <a:pPr lvl="1" marL="864000" indent="-324000">
              <a:lnSpc>
                <a:spcPct val="90000"/>
              </a:lnSpc>
              <a:spcBef>
                <a:spcPts val="1134"/>
              </a:spcBef>
              <a:buClr>
                <a:srgbClr val="000000"/>
              </a:buClr>
              <a:buSzPct val="75000"/>
              <a:buFont typeface="Symbol" charset="2"/>
              <a:buChar char=""/>
            </a:pPr>
            <a:r>
              <a:rPr b="0" lang="en-US" sz="2000" strike="noStrike" u="none">
                <a:solidFill>
                  <a:schemeClr val="dk1"/>
                </a:solidFill>
                <a:effectLst/>
                <a:uFillTx/>
                <a:latin typeface="Century Gothic"/>
              </a:rPr>
              <a:t>Second Outline Level</a:t>
            </a:r>
            <a:endParaRPr b="0" lang="en-US" sz="2000" strike="noStrike" u="none">
              <a:solidFill>
                <a:schemeClr val="dk1"/>
              </a:solidFill>
              <a:effectLst/>
              <a:uFillTx/>
              <a:latin typeface="Century Gothic"/>
            </a:endParaRPr>
          </a:p>
          <a:p>
            <a:pPr lvl="2" marL="1296000" indent="-288000">
              <a:lnSpc>
                <a:spcPct val="90000"/>
              </a:lnSpc>
              <a:spcBef>
                <a:spcPts val="850"/>
              </a:spcBef>
              <a:buClr>
                <a:srgbClr val="000000"/>
              </a:buClr>
              <a:buSzPct val="45000"/>
              <a:buFont typeface="Wingdings" charset="2"/>
              <a:buChar char=""/>
            </a:pPr>
            <a:r>
              <a:rPr b="0" lang="en-US" sz="1800" strike="noStrike" u="none">
                <a:solidFill>
                  <a:schemeClr val="dk1"/>
                </a:solidFill>
                <a:effectLst/>
                <a:uFillTx/>
                <a:latin typeface="Century Gothic"/>
              </a:rPr>
              <a:t>Third Outline Level</a:t>
            </a:r>
            <a:endParaRPr b="0" lang="en-US" sz="1800" strike="noStrike" u="none">
              <a:solidFill>
                <a:schemeClr val="dk1"/>
              </a:solidFill>
              <a:effectLst/>
              <a:uFillTx/>
              <a:latin typeface="Century Gothic"/>
            </a:endParaRPr>
          </a:p>
          <a:p>
            <a:pPr lvl="3" marL="1728000" indent="-216000">
              <a:lnSpc>
                <a:spcPct val="90000"/>
              </a:lnSpc>
              <a:spcBef>
                <a:spcPts val="567"/>
              </a:spcBef>
              <a:buClr>
                <a:srgbClr val="000000"/>
              </a:buClr>
              <a:buSzPct val="75000"/>
              <a:buFont typeface="Symbol" charset="2"/>
              <a:buChar char=""/>
            </a:pPr>
            <a:r>
              <a:rPr b="0" lang="en-US" sz="1800" strike="noStrike" u="none">
                <a:solidFill>
                  <a:schemeClr val="dk1"/>
                </a:solidFill>
                <a:effectLst/>
                <a:uFillTx/>
                <a:latin typeface="Century Gothic"/>
              </a:rPr>
              <a:t>Fourth Outline Level</a:t>
            </a:r>
            <a:endParaRPr b="0" lang="en-US" sz="1800" strike="noStrike" u="none">
              <a:solidFill>
                <a:schemeClr val="dk1"/>
              </a:solidFill>
              <a:effectLst/>
              <a:uFillTx/>
              <a:latin typeface="Century Gothic"/>
            </a:endParaRPr>
          </a:p>
          <a:p>
            <a:pPr lvl="4" marL="2160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entury Gothic"/>
              </a:rPr>
              <a:t>Fifth Outline Level</a:t>
            </a:r>
            <a:endParaRPr b="0" lang="en-US" sz="2000" strike="noStrike" u="none">
              <a:solidFill>
                <a:schemeClr val="dk1"/>
              </a:solidFill>
              <a:effectLst/>
              <a:uFillTx/>
              <a:latin typeface="Century Gothic"/>
            </a:endParaRPr>
          </a:p>
          <a:p>
            <a:pPr lvl="5" marL="2592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entury Gothic"/>
              </a:rPr>
              <a:t>Sixth Outline Level</a:t>
            </a:r>
            <a:endParaRPr b="0" lang="en-US" sz="2000" strike="noStrike" u="none">
              <a:solidFill>
                <a:schemeClr val="dk1"/>
              </a:solidFill>
              <a:effectLst/>
              <a:uFillTx/>
              <a:latin typeface="Century Gothic"/>
            </a:endParaRPr>
          </a:p>
          <a:p>
            <a:pPr lvl="6" marL="3024000" indent="-216000">
              <a:lnSpc>
                <a:spcPct val="90000"/>
              </a:lnSpc>
              <a:spcBef>
                <a:spcPts val="283"/>
              </a:spcBef>
              <a:buClr>
                <a:srgbClr val="000000"/>
              </a:buClr>
              <a:buSzPct val="45000"/>
              <a:buFont typeface="Wingdings" charset="2"/>
              <a:buChar char=""/>
            </a:pPr>
            <a:r>
              <a:rPr b="0" lang="en-US" sz="2000" strike="noStrike" u="none">
                <a:solidFill>
                  <a:schemeClr val="dk1"/>
                </a:solidFill>
                <a:effectLst/>
                <a:uFillTx/>
                <a:latin typeface="Century Gothic"/>
              </a:rPr>
              <a:t>Seventh Outline Level</a:t>
            </a:r>
            <a:endParaRPr b="0" lang="en-US" sz="2000" strike="noStrike" u="none">
              <a:solidFill>
                <a:schemeClr val="dk1"/>
              </a:solidFill>
              <a:effectLst/>
              <a:uFillTx/>
              <a:latin typeface="Century Gothic"/>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6.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microsoft.com/office/2007/relationships/hdphoto" Target="../media/hdphoto1.wdp"/><Relationship Id="rId3" Type="http://schemas.openxmlformats.org/officeDocument/2006/relationships/slideLayout" Target="../slideLayouts/slideLayout6.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chart" Target="../charts/chart1.xml"/><Relationship Id="rId3" Type="http://schemas.openxmlformats.org/officeDocument/2006/relationships/slideLayout" Target="../slideLayouts/slideLayout6.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6.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chart" Target="../charts/chart2.xml"/><Relationship Id="rId3" Type="http://schemas.openxmlformats.org/officeDocument/2006/relationships/slideLayout" Target="../slideLayouts/slideLayout6.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chart" Target="../charts/chart3.xml"/><Relationship Id="rId2" Type="http://schemas.openxmlformats.org/officeDocument/2006/relationships/image" Target="../media/image5.png"/><Relationship Id="rId3" Type="http://schemas.openxmlformats.org/officeDocument/2006/relationships/slideLayout" Target="../slideLayouts/slideLayout6.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slideLayout" Target="../slideLayouts/slideLayout6.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hyperlink" Target="https://pixels2metropolicy.vercel.app/gen1_samgeo" TargetMode="External"/><Relationship Id="rId2" Type="http://schemas.openxmlformats.org/officeDocument/2006/relationships/slideLayout" Target="../slideLayouts/slideLayout6.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hyperlink" Target="https://www.linkedin.com/in/ACoAABIO_uwByOrMLPEhoswtoSVB5v8Dm_dNY2k" TargetMode="External"/><Relationship Id="rId3" Type="http://schemas.openxmlformats.org/officeDocument/2006/relationships/slideLayout" Target="../slideLayouts/slideLayout6.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6.xml"/><Relationship Id="rId3"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 name="Picture 7" descr=""/>
          <p:cNvPicPr/>
          <p:nvPr/>
        </p:nvPicPr>
        <p:blipFill>
          <a:blip r:embed="rId1"/>
          <a:srcRect l="0" t="12448" r="0" b="12448"/>
          <a:stretch/>
        </p:blipFill>
        <p:spPr>
          <a:xfrm>
            <a:off x="0" y="0"/>
            <a:ext cx="18287640" cy="10286640"/>
          </a:xfrm>
          <a:prstGeom prst="rect">
            <a:avLst/>
          </a:prstGeom>
          <a:noFill/>
          <a:ln w="0">
            <a:noFill/>
          </a:ln>
        </p:spPr>
      </p:pic>
      <p:sp>
        <p:nvSpPr>
          <p:cNvPr id="18" name="Rectangle 1"/>
          <p:cNvSpPr/>
          <p:nvPr/>
        </p:nvSpPr>
        <p:spPr>
          <a:xfrm>
            <a:off x="0" y="0"/>
            <a:ext cx="18287640" cy="10286640"/>
          </a:xfrm>
          <a:prstGeom prst="rect">
            <a:avLst/>
          </a:prstGeom>
          <a:gradFill rotWithShape="0">
            <a:gsLst>
              <a:gs pos="0">
                <a:srgbClr val="102334">
                  <a:alpha val="88000"/>
                </a:srgbClr>
              </a:gs>
              <a:gs pos="52000">
                <a:srgbClr val="102334">
                  <a:alpha val="65000"/>
                </a:srgbClr>
              </a:gs>
              <a:gs pos="100000">
                <a:srgbClr val="102334">
                  <a:alpha val="20000"/>
                </a:srgbClr>
              </a:gs>
            </a:gsLst>
            <a:lin ang="5400000"/>
          </a:gra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 name="Rectangle 2"/>
          <p:cNvSpPr/>
          <p:nvPr/>
        </p:nvSpPr>
        <p:spPr>
          <a:xfrm>
            <a:off x="952560" y="1047600"/>
            <a:ext cx="14287320" cy="5713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70" strike="noStrike" u="none">
                <a:solidFill>
                  <a:srgbClr val="c7e8e7"/>
                </a:solidFill>
                <a:effectLst/>
                <a:uFillTx/>
                <a:latin typeface="Century Gothic"/>
                <a:ea typeface="Century Gothic"/>
              </a:rPr>
              <a:t>GISTDA GEOHACKATHON 2026</a:t>
            </a:r>
            <a:endParaRPr b="0" lang="en-US" sz="2170" strike="noStrike" u="none">
              <a:solidFill>
                <a:srgbClr val="000000"/>
              </a:solidFill>
              <a:effectLst/>
              <a:uFillTx/>
              <a:latin typeface="Arial"/>
            </a:endParaRPr>
          </a:p>
        </p:txBody>
      </p:sp>
      <p:sp>
        <p:nvSpPr>
          <p:cNvPr id="20" name="Rectangle 3"/>
          <p:cNvSpPr/>
          <p:nvPr/>
        </p:nvSpPr>
        <p:spPr>
          <a:xfrm>
            <a:off x="952560" y="3390840"/>
            <a:ext cx="13334760" cy="2761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8250" strike="noStrike" u="none">
                <a:solidFill>
                  <a:srgbClr val="ffffff"/>
                </a:solidFill>
                <a:effectLst/>
                <a:uFillTx/>
                <a:latin typeface="Century Gothic"/>
                <a:ea typeface="Century Gothic"/>
              </a:rPr>
              <a:t>Pixels 2 Metro Policy</a:t>
            </a:r>
            <a:endParaRPr b="0" lang="en-US" sz="8250" strike="noStrike" u="none">
              <a:solidFill>
                <a:srgbClr val="000000"/>
              </a:solidFill>
              <a:effectLst/>
              <a:uFillTx/>
              <a:latin typeface="Arial"/>
            </a:endParaRPr>
          </a:p>
        </p:txBody>
      </p:sp>
      <p:sp>
        <p:nvSpPr>
          <p:cNvPr id="21" name="Rectangle 4"/>
          <p:cNvSpPr/>
          <p:nvPr/>
        </p:nvSpPr>
        <p:spPr>
          <a:xfrm>
            <a:off x="1000080" y="4653000"/>
            <a:ext cx="15049080" cy="9046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i="1" lang="en-US" sz="3530" strike="noStrike" u="none">
                <a:solidFill>
                  <a:srgbClr val="ffffff"/>
                </a:solidFill>
                <a:effectLst/>
                <a:uFillTx/>
                <a:latin typeface="Century Gothic"/>
                <a:ea typeface="Century Gothic"/>
              </a:rPr>
              <a:t>A Geospatial Analysis Framework and Methodological Toolkit for Revealing Hidden Challenges in Bangkok’s Informal Settlements</a:t>
            </a:r>
            <a:endParaRPr b="0" lang="en-US" sz="3530" strike="noStrike" u="none">
              <a:solidFill>
                <a:srgbClr val="000000"/>
              </a:solidFill>
              <a:effectLst/>
              <a:uFillTx/>
              <a:latin typeface="Arial"/>
            </a:endParaRPr>
          </a:p>
        </p:txBody>
      </p:sp>
      <p:sp>
        <p:nvSpPr>
          <p:cNvPr id="22" name="Rectangle 5"/>
          <p:cNvSpPr/>
          <p:nvPr/>
        </p:nvSpPr>
        <p:spPr>
          <a:xfrm>
            <a:off x="1000080" y="6296040"/>
            <a:ext cx="14954040" cy="6188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470" strike="noStrike" u="none">
                <a:solidFill>
                  <a:srgbClr val="d1e4e8"/>
                </a:solidFill>
                <a:effectLst/>
                <a:uFillTx/>
                <a:latin typeface="Century Gothic"/>
                <a:ea typeface="Century Gothic"/>
              </a:rPr>
              <a:t>Community records + building evidence + Satellite image</a:t>
            </a:r>
            <a:endParaRPr b="0" lang="en-US" sz="2470" strike="noStrike" u="none">
              <a:solidFill>
                <a:srgbClr val="000000"/>
              </a:solidFill>
              <a:effectLst/>
              <a:uFillTx/>
              <a:latin typeface="Arial"/>
            </a:endParaRPr>
          </a:p>
        </p:txBody>
      </p:sp>
      <p:sp>
        <p:nvSpPr>
          <p:cNvPr id="23" name="Rectangle 6"/>
          <p:cNvSpPr/>
          <p:nvPr/>
        </p:nvSpPr>
        <p:spPr>
          <a:xfrm>
            <a:off x="1000080" y="9667800"/>
            <a:ext cx="16192080" cy="3330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430" strike="noStrike" u="none">
                <a:solidFill>
                  <a:srgbClr val="e0e8eb"/>
                </a:solidFill>
                <a:effectLst/>
                <a:uFillTx/>
                <a:latin typeface="Century Gothic"/>
                <a:ea typeface="Century Gothic"/>
              </a:rPr>
              <a:t>Khlong Toei, Bangkok / Photograph: Unequal Scenes</a:t>
            </a:r>
            <a:endParaRPr b="0" lang="en-US" sz="143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4" name="Picture 17"/>
          <p:cNvSpPr txBox="1"/>
          <p:nvPr/>
        </p:nvSpPr>
        <p:spPr>
          <a:xfrm>
            <a:off x="-456840" y="360"/>
            <a:ext cx="18287640" cy="10286640"/>
          </a:xfrm>
          <a:prstGeom prst="rect">
            <a:avLst/>
          </a:prstGeom>
          <a:blipFill rotWithShape="0">
            <a:blip r:embed="rId1">
              <a:grayscl/>
              <a:extLst>
                <a:ext uri="{BEBA8EAE-BF5A-486C-A8C5-ECC9F3942E4B}">
                  <a14:imgProps xmlns:a14="http://schemas.microsoft.com/office/drawing/2010/main">
                    <a14:imgLayer r:embed="rId2">
                      <a14:imgEffect>
                        <a14:brightnessContrast amount="-50000" bright="-40000" contrast="40000" sat="0"/>
                      </a14:imgEffect>
                    </a14:imgLayer>
                  </a14:imgProps>
                </a:ext>
              </a:extLst>
            </a:blip>
            <a:srcRect l="0" t="12448" r="0" b="12448"/>
            <a:stretch/>
          </a:blipFill>
          <a:ln w="0">
            <a:noFill/>
          </a:ln>
        </p:spPr>
        <p:txBody>
          <a:bodyPr lIns="90000" rIns="90000" tIns="45000" bIns="45000" anchor="t" anchorCtr="1">
            <a:noAutofit/>
          </a:bodyPr>
          <a:p>
            <a:r>
              <a:rPr b="0" lang="en-US" sz="1800" strike="noStrike" u="none">
                <a:solidFill>
                  <a:srgbClr val="000000"/>
                </a:solidFill>
                <a:effectLst/>
                <a:uFillTx/>
                <a:latin typeface="Arial"/>
              </a:rPr>
              <a:t>.</a:t>
            </a:r>
            <a:endParaRPr b="0" lang="en-US" sz="1800" strike="noStrike" u="none">
              <a:solidFill>
                <a:srgbClr val="000000"/>
              </a:solidFill>
              <a:effectLst/>
              <a:uFillTx/>
              <a:latin typeface="Arial"/>
            </a:endParaRPr>
          </a:p>
        </p:txBody>
      </p:sp>
      <p:sp>
        <p:nvSpPr>
          <p:cNvPr id="25" name="Freeform: Shape 13"/>
          <p:cNvSpPr/>
          <p:nvPr/>
        </p:nvSpPr>
        <p:spPr>
          <a:xfrm>
            <a:off x="952560" y="685800"/>
            <a:ext cx="16382520" cy="720"/>
          </a:xfrm>
          <a:custGeom>
            <a:avLst/>
            <a:gdLst/>
            <a:ahLst/>
            <a:rect l="l" t="t" r="r" b="b"/>
            <a:pathLst>
              <a:path w="16383000" h="953">
                <a:moveTo>
                  <a:pt x="0" y="0"/>
                </a:moveTo>
                <a:lnTo>
                  <a:pt x="16383000" y="0"/>
                </a:lnTo>
              </a:path>
            </a:pathLst>
          </a:custGeom>
          <a:noFill/>
          <a:ln w="28575">
            <a:solidFill>
              <a:srgbClr val="217e86"/>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lt1"/>
              </a:solidFill>
              <a:effectLst/>
              <a:uFillTx/>
              <a:latin typeface="Century Gothic"/>
            </a:endParaRPr>
          </a:p>
        </p:txBody>
      </p:sp>
      <p:sp>
        <p:nvSpPr>
          <p:cNvPr id="26" name="Rectangle 1"/>
          <p:cNvSpPr/>
          <p:nvPr/>
        </p:nvSpPr>
        <p:spPr>
          <a:xfrm>
            <a:off x="952560" y="905040"/>
            <a:ext cx="16287480" cy="11426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chemeClr val="lt1"/>
                </a:solidFill>
                <a:effectLst/>
                <a:uFillTx/>
                <a:latin typeface="Century Gothic"/>
                <a:ea typeface="Century Gothic"/>
              </a:rPr>
              <a:t>Main message</a:t>
            </a:r>
            <a:endParaRPr b="0" lang="en-US" sz="4120" strike="noStrike" u="none">
              <a:solidFill>
                <a:srgbClr val="000000"/>
              </a:solidFill>
              <a:effectLst/>
              <a:uFillTx/>
              <a:latin typeface="Arial"/>
            </a:endParaRPr>
          </a:p>
        </p:txBody>
      </p:sp>
      <p:sp>
        <p:nvSpPr>
          <p:cNvPr id="27" name="Freeform: Shape 2"/>
          <p:cNvSpPr/>
          <p:nvPr/>
        </p:nvSpPr>
        <p:spPr>
          <a:xfrm>
            <a:off x="952560" y="9429840"/>
            <a:ext cx="16382520" cy="720"/>
          </a:xfrm>
          <a:custGeom>
            <a:avLst/>
            <a:gdLst/>
            <a:ahLst/>
            <a:rect l="l" t="t" r="r" b="b"/>
            <a:pathLst>
              <a:path w="16383000" h="953">
                <a:moveTo>
                  <a:pt x="0" y="0"/>
                </a:moveTo>
                <a:lnTo>
                  <a:pt x="16383000" y="0"/>
                </a:lnTo>
              </a:path>
            </a:pathLst>
          </a:custGeom>
          <a:noFill/>
          <a:ln w="9525">
            <a:solidFill>
              <a:srgbClr val="cad5df"/>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lt1"/>
              </a:solidFill>
              <a:effectLst/>
              <a:uFillTx/>
              <a:latin typeface="Century Gothic"/>
            </a:endParaRPr>
          </a:p>
        </p:txBody>
      </p:sp>
      <p:sp>
        <p:nvSpPr>
          <p:cNvPr id="28" name="Rectangle 3"/>
          <p:cNvSpPr/>
          <p:nvPr/>
        </p:nvSpPr>
        <p:spPr>
          <a:xfrm>
            <a:off x="952560" y="9667800"/>
            <a:ext cx="1238220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350" strike="noStrike" u="none">
                <a:solidFill>
                  <a:schemeClr val="lt1"/>
                </a:solidFill>
                <a:effectLst/>
                <a:uFillTx/>
                <a:latin typeface="Century Gothic"/>
                <a:ea typeface="Century Gothic"/>
              </a:rPr>
              <a:t>PIXELS TO METRO POLICY / GEOHACKATHON 2026</a:t>
            </a:r>
            <a:endParaRPr b="0" lang="en-US" sz="1350" strike="noStrike" u="none">
              <a:solidFill>
                <a:srgbClr val="000000"/>
              </a:solidFill>
              <a:effectLst/>
              <a:uFillTx/>
              <a:latin typeface="Arial"/>
            </a:endParaRPr>
          </a:p>
        </p:txBody>
      </p:sp>
      <p:sp>
        <p:nvSpPr>
          <p:cNvPr id="29" name="Rectangle 4"/>
          <p:cNvSpPr/>
          <p:nvPr/>
        </p:nvSpPr>
        <p:spPr>
          <a:xfrm>
            <a:off x="16859160" y="9601200"/>
            <a:ext cx="57132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chemeClr val="lt1"/>
                </a:solidFill>
                <a:effectLst/>
                <a:uFillTx/>
                <a:latin typeface="Century Gothic"/>
                <a:ea typeface="Century Gothic"/>
              </a:rPr>
              <a:t>02</a:t>
            </a:r>
            <a:endParaRPr b="0" lang="en-US" sz="1800" strike="noStrike" u="none">
              <a:solidFill>
                <a:srgbClr val="000000"/>
              </a:solidFill>
              <a:effectLst/>
              <a:uFillTx/>
              <a:latin typeface="Arial"/>
            </a:endParaRPr>
          </a:p>
        </p:txBody>
      </p:sp>
      <p:sp>
        <p:nvSpPr>
          <p:cNvPr id="30" name="Rectangle 5"/>
          <p:cNvSpPr/>
          <p:nvPr/>
        </p:nvSpPr>
        <p:spPr>
          <a:xfrm>
            <a:off x="952560" y="1952640"/>
            <a:ext cx="1628748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020" strike="noStrike" u="none">
                <a:solidFill>
                  <a:schemeClr val="lt1"/>
                </a:solidFill>
                <a:effectLst/>
                <a:uFillTx/>
                <a:latin typeface="Century Gothic"/>
                <a:ea typeface="Century Gothic"/>
              </a:rPr>
              <a:t>Data used on local level of metropolitan planning and management often is outdated, fragmented and biased </a:t>
            </a:r>
            <a:endParaRPr b="0" lang="en-US" sz="2020" strike="noStrike" u="none">
              <a:solidFill>
                <a:srgbClr val="000000"/>
              </a:solidFill>
              <a:effectLst/>
              <a:uFillTx/>
              <a:latin typeface="Arial"/>
            </a:endParaRPr>
          </a:p>
          <a:p>
            <a:pPr defTabSz="914400">
              <a:lnSpc>
                <a:spcPct val="100000"/>
              </a:lnSpc>
            </a:pPr>
            <a:r>
              <a:rPr b="0" lang="en-US" sz="2020" strike="noStrike" u="none">
                <a:solidFill>
                  <a:schemeClr val="lt1"/>
                </a:solidFill>
                <a:effectLst/>
                <a:uFillTx/>
                <a:latin typeface="Century Gothic"/>
                <a:ea typeface="Century Gothic"/>
              </a:rPr>
              <a:t>– real challenge for modern local urban governance. Metropolises change every day.</a:t>
            </a:r>
            <a:endParaRPr b="0" lang="en-US" sz="2020" strike="noStrike" u="none">
              <a:solidFill>
                <a:srgbClr val="000000"/>
              </a:solidFill>
              <a:effectLst/>
              <a:uFillTx/>
              <a:latin typeface="Arial"/>
            </a:endParaRPr>
          </a:p>
        </p:txBody>
      </p:sp>
      <p:sp>
        <p:nvSpPr>
          <p:cNvPr id="31" name="Rectangle 7"/>
          <p:cNvSpPr/>
          <p:nvPr/>
        </p:nvSpPr>
        <p:spPr>
          <a:xfrm>
            <a:off x="12801600" y="3886200"/>
            <a:ext cx="4572000" cy="36576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800" strike="noStrike" u="none">
                <a:solidFill>
                  <a:schemeClr val="lt1"/>
                </a:solidFill>
                <a:effectLst/>
                <a:uFillTx/>
                <a:latin typeface="Century Gothic"/>
                <a:ea typeface="Century Gothic"/>
              </a:rPr>
              <a:t>Identify</a:t>
            </a:r>
            <a:br>
              <a:rPr sz="4800"/>
            </a:br>
            <a:r>
              <a:rPr b="1" lang="en-US" sz="4800" strike="noStrike" u="none">
                <a:solidFill>
                  <a:schemeClr val="lt1"/>
                </a:solidFill>
                <a:effectLst/>
                <a:uFillTx/>
                <a:latin typeface="Century Gothic"/>
                <a:ea typeface="Century Gothic"/>
              </a:rPr>
              <a:t>analyze</a:t>
            </a:r>
            <a:endParaRPr b="0" lang="en-US" sz="4800" strike="noStrike" u="none">
              <a:solidFill>
                <a:srgbClr val="000000"/>
              </a:solidFill>
              <a:effectLst/>
              <a:uFillTx/>
              <a:latin typeface="Arial"/>
            </a:endParaRPr>
          </a:p>
          <a:p>
            <a:pPr defTabSz="914400">
              <a:lnSpc>
                <a:spcPct val="100000"/>
              </a:lnSpc>
            </a:pPr>
            <a:r>
              <a:rPr b="1" lang="en-US" sz="4800" strike="noStrike" u="none">
                <a:solidFill>
                  <a:schemeClr val="lt1"/>
                </a:solidFill>
                <a:effectLst/>
                <a:uFillTx/>
                <a:latin typeface="Century Gothic"/>
                <a:ea typeface="Century Gothic"/>
              </a:rPr>
              <a:t>Understand</a:t>
            </a:r>
            <a:endParaRPr b="0" lang="en-US" sz="4800" strike="noStrike" u="none">
              <a:solidFill>
                <a:srgbClr val="000000"/>
              </a:solidFill>
              <a:effectLst/>
              <a:uFillTx/>
              <a:latin typeface="Arial"/>
            </a:endParaRPr>
          </a:p>
          <a:p>
            <a:pPr defTabSz="914400">
              <a:lnSpc>
                <a:spcPct val="100000"/>
              </a:lnSpc>
            </a:pPr>
            <a:r>
              <a:rPr b="1" lang="en-US" sz="4800" strike="noStrike" u="none">
                <a:solidFill>
                  <a:schemeClr val="lt1"/>
                </a:solidFill>
                <a:effectLst/>
                <a:uFillTx/>
                <a:latin typeface="Century Gothic"/>
                <a:ea typeface="Century Gothic"/>
              </a:rPr>
              <a:t>Communicate</a:t>
            </a:r>
            <a:endParaRPr b="0" lang="en-US" sz="4800" strike="noStrike" u="none">
              <a:solidFill>
                <a:srgbClr val="000000"/>
              </a:solidFill>
              <a:effectLst/>
              <a:uFillTx/>
              <a:latin typeface="Arial"/>
            </a:endParaRPr>
          </a:p>
          <a:p>
            <a:pPr defTabSz="914400">
              <a:lnSpc>
                <a:spcPct val="100000"/>
              </a:lnSpc>
            </a:pPr>
            <a:r>
              <a:rPr b="1" lang="en-US" sz="4800" strike="noStrike" u="none">
                <a:solidFill>
                  <a:schemeClr val="lt1"/>
                </a:solidFill>
                <a:effectLst/>
                <a:uFillTx/>
                <a:latin typeface="Century Gothic"/>
                <a:ea typeface="Century Gothic"/>
              </a:rPr>
              <a:t>Act</a:t>
            </a:r>
            <a:endParaRPr b="0" lang="en-US" sz="4800" strike="noStrike" u="none">
              <a:solidFill>
                <a:srgbClr val="000000"/>
              </a:solidFill>
              <a:effectLst/>
              <a:uFillTx/>
              <a:latin typeface="Arial"/>
            </a:endParaRPr>
          </a:p>
        </p:txBody>
      </p:sp>
      <p:sp>
        <p:nvSpPr>
          <p:cNvPr id="32" name="Rectangle 8"/>
          <p:cNvSpPr/>
          <p:nvPr/>
        </p:nvSpPr>
        <p:spPr>
          <a:xfrm>
            <a:off x="895680" y="4210560"/>
            <a:ext cx="11677320" cy="1047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550" strike="noStrike" u="none">
                <a:solidFill>
                  <a:schemeClr val="lt1"/>
                </a:solidFill>
                <a:effectLst/>
                <a:uFillTx/>
                <a:latin typeface="Century Gothic"/>
                <a:ea typeface="Century Gothic"/>
              </a:rPr>
              <a:t>Interactive tool for metropolitan planning and management</a:t>
            </a:r>
            <a:endParaRPr b="0" lang="en-US" sz="2550" strike="noStrike" u="none">
              <a:solidFill>
                <a:srgbClr val="000000"/>
              </a:solidFill>
              <a:effectLst/>
              <a:uFillTx/>
              <a:latin typeface="Arial"/>
            </a:endParaRPr>
          </a:p>
          <a:p>
            <a:pPr defTabSz="914400">
              <a:lnSpc>
                <a:spcPct val="100000"/>
              </a:lnSpc>
            </a:pPr>
            <a:r>
              <a:rPr b="0" lang="en-US" sz="2550" strike="noStrike" u="none">
                <a:solidFill>
                  <a:schemeClr val="lt1"/>
                </a:solidFill>
                <a:effectLst/>
                <a:uFillTx/>
                <a:latin typeface="Century Gothic"/>
                <a:ea typeface="Century Gothic"/>
              </a:rPr>
              <a:t>- identifies slum and sensitive neighborhoods with slum-like risks.</a:t>
            </a:r>
            <a:endParaRPr b="0" lang="en-US" sz="2550" strike="noStrike" u="none">
              <a:solidFill>
                <a:srgbClr val="000000"/>
              </a:solidFill>
              <a:effectLst/>
              <a:uFillTx/>
              <a:latin typeface="Arial"/>
            </a:endParaRPr>
          </a:p>
          <a:p>
            <a:pPr defTabSz="914400">
              <a:lnSpc>
                <a:spcPct val="100000"/>
              </a:lnSpc>
            </a:pPr>
            <a:r>
              <a:rPr b="0" lang="en-US" sz="2550" strike="noStrike" u="none">
                <a:solidFill>
                  <a:schemeClr val="lt1"/>
                </a:solidFill>
                <a:effectLst/>
                <a:uFillTx/>
                <a:latin typeface="Century Gothic"/>
                <a:ea typeface="Century Gothic"/>
              </a:rPr>
              <a:t>- aggregates everyday data from statistic sources and social media, scores risks and makes ranking of problems in identified neighboorhoods.</a:t>
            </a:r>
            <a:endParaRPr b="0" lang="en-US" sz="2550" strike="noStrike" u="none">
              <a:solidFill>
                <a:srgbClr val="000000"/>
              </a:solidFill>
              <a:effectLst/>
              <a:uFillTx/>
              <a:latin typeface="Arial"/>
            </a:endParaRPr>
          </a:p>
          <a:p>
            <a:pPr defTabSz="914400">
              <a:lnSpc>
                <a:spcPct val="100000"/>
              </a:lnSpc>
            </a:pPr>
            <a:r>
              <a:rPr b="0" lang="en-US" sz="2550" strike="noStrike" u="none">
                <a:solidFill>
                  <a:schemeClr val="lt1"/>
                </a:solidFill>
                <a:effectLst/>
                <a:uFillTx/>
                <a:latin typeface="Century Gothic"/>
                <a:ea typeface="Century Gothic"/>
              </a:rPr>
              <a:t>- proposes range of policy toolkits (from the World’s case studies) to be applied by decision of metropolitan governance body</a:t>
            </a:r>
            <a:endParaRPr b="0" lang="en-US" sz="2550" strike="noStrike" u="none">
              <a:solidFill>
                <a:srgbClr val="000000"/>
              </a:solidFill>
              <a:effectLst/>
              <a:uFillTx/>
              <a:latin typeface="Arial"/>
            </a:endParaRPr>
          </a:p>
        </p:txBody>
      </p:sp>
      <p:sp>
        <p:nvSpPr>
          <p:cNvPr id="33" name="Rectangle 33"/>
          <p:cNvSpPr/>
          <p:nvPr/>
        </p:nvSpPr>
        <p:spPr>
          <a:xfrm>
            <a:off x="914400" y="3238560"/>
            <a:ext cx="5943600" cy="876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chemeClr val="lt1"/>
                </a:solidFill>
                <a:effectLst/>
                <a:uFillTx/>
                <a:latin typeface="Century Gothic"/>
                <a:ea typeface="Century Gothic"/>
              </a:rPr>
              <a:t>Pixels2MetroPolicy</a:t>
            </a:r>
            <a:endParaRPr b="0" lang="en-US" sz="412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pic>
        <p:nvPicPr>
          <p:cNvPr id="34" name="Picture 1" descr=""/>
          <p:cNvPicPr/>
          <p:nvPr/>
        </p:nvPicPr>
        <p:blipFill>
          <a:blip r:embed="rId1">
            <a:grayscl/>
            <a:extLst>
              <a:ext uri="{BEBA8EAE-BF5A-486C-A8C5-ECC9F3942E4B}">
                <a14:imgProps xmlns:a14="http://schemas.microsoft.com/office/drawing/2010/main">
                  <a14:imgLayer r:embed="rId2">
                    <a14:imgEffect>
                      <a14:brightnessContrast amount="-50000" bright="-40000" contrast="40000" sat="0"/>
                    </a14:imgEffect>
                  </a14:imgLayer>
                </a14:imgProps>
              </a:ext>
            </a:extLst>
          </a:blip>
          <a:srcRect l="0" t="12448" r="0" b="12448"/>
          <a:stretch/>
        </p:blipFill>
        <p:spPr>
          <a:xfrm>
            <a:off x="0" y="0"/>
            <a:ext cx="18287640" cy="10286640"/>
          </a:xfrm>
          <a:prstGeom prst="rect">
            <a:avLst/>
          </a:prstGeom>
          <a:noFill/>
          <a:ln w="0">
            <a:noFill/>
          </a:ln>
        </p:spPr>
      </p:pic>
      <p:sp>
        <p:nvSpPr>
          <p:cNvPr id="35" name="Freeform: Shape 1"/>
          <p:cNvSpPr/>
          <p:nvPr/>
        </p:nvSpPr>
        <p:spPr>
          <a:xfrm>
            <a:off x="952560" y="685800"/>
            <a:ext cx="16382520" cy="720"/>
          </a:xfrm>
          <a:custGeom>
            <a:avLst/>
            <a:gdLst/>
            <a:ahLst/>
            <a:rect l="l" t="t" r="r" b="b"/>
            <a:pathLst>
              <a:path w="16383000" h="953">
                <a:moveTo>
                  <a:pt x="0" y="0"/>
                </a:moveTo>
                <a:lnTo>
                  <a:pt x="16383000" y="0"/>
                </a:lnTo>
              </a:path>
            </a:pathLst>
          </a:custGeom>
          <a:noFill/>
          <a:ln w="28575">
            <a:solidFill>
              <a:srgbClr val="217e86"/>
            </a:solidFill>
            <a:round/>
          </a:ln>
        </p:spPr>
        <p:style>
          <a:lnRef idx="0"/>
          <a:fillRef idx="0"/>
          <a:effectRef idx="0"/>
          <a:fontRef idx="minor"/>
        </p:style>
        <p:txBody>
          <a:bodyPr lIns="90000" rIns="90000" tIns="-44280" bIns="-44280" anchor="t">
            <a:noAutofit/>
          </a:bodyPr>
          <a:p>
            <a:endParaRPr b="0" lang="en-US" sz="1800" strike="noStrike" u="none">
              <a:solidFill>
                <a:schemeClr val="lt1"/>
              </a:solidFill>
              <a:effectLst/>
              <a:uFillTx/>
              <a:latin typeface="Century Gothic"/>
            </a:endParaRPr>
          </a:p>
        </p:txBody>
      </p:sp>
      <p:sp>
        <p:nvSpPr>
          <p:cNvPr id="36" name="Rectangle 17"/>
          <p:cNvSpPr/>
          <p:nvPr/>
        </p:nvSpPr>
        <p:spPr>
          <a:xfrm>
            <a:off x="952560" y="905040"/>
            <a:ext cx="16287480" cy="11426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chemeClr val="lt1"/>
                </a:solidFill>
                <a:effectLst/>
                <a:uFillTx/>
                <a:latin typeface="Century Gothic"/>
                <a:ea typeface="Century Gothic"/>
              </a:rPr>
              <a:t>The city’s housing records do not line up</a:t>
            </a:r>
            <a:endParaRPr b="0" lang="en-US" sz="4120" strike="noStrike" u="none">
              <a:solidFill>
                <a:srgbClr val="000000"/>
              </a:solidFill>
              <a:effectLst/>
              <a:uFillTx/>
              <a:latin typeface="Arial"/>
            </a:endParaRPr>
          </a:p>
        </p:txBody>
      </p:sp>
      <p:sp>
        <p:nvSpPr>
          <p:cNvPr id="37" name="Freeform: Shape 3"/>
          <p:cNvSpPr/>
          <p:nvPr/>
        </p:nvSpPr>
        <p:spPr>
          <a:xfrm>
            <a:off x="952560" y="9429840"/>
            <a:ext cx="16382520" cy="720"/>
          </a:xfrm>
          <a:custGeom>
            <a:avLst/>
            <a:gdLst/>
            <a:ahLst/>
            <a:rect l="l" t="t" r="r" b="b"/>
            <a:pathLst>
              <a:path w="16383000" h="953">
                <a:moveTo>
                  <a:pt x="0" y="0"/>
                </a:moveTo>
                <a:lnTo>
                  <a:pt x="16383000" y="0"/>
                </a:lnTo>
              </a:path>
            </a:pathLst>
          </a:custGeom>
          <a:noFill/>
          <a:ln w="9525">
            <a:solidFill>
              <a:srgbClr val="cad5df"/>
            </a:solidFill>
            <a:round/>
          </a:ln>
        </p:spPr>
        <p:style>
          <a:lnRef idx="0"/>
          <a:fillRef idx="0"/>
          <a:effectRef idx="0"/>
          <a:fontRef idx="minor"/>
        </p:style>
        <p:txBody>
          <a:bodyPr lIns="90000" rIns="90000" tIns="-44280" bIns="-44280" anchor="t">
            <a:noAutofit/>
          </a:bodyPr>
          <a:p>
            <a:endParaRPr b="0" lang="en-US" sz="1800" strike="noStrike" u="none">
              <a:solidFill>
                <a:schemeClr val="lt1"/>
              </a:solidFill>
              <a:effectLst/>
              <a:uFillTx/>
              <a:latin typeface="Century Gothic"/>
            </a:endParaRPr>
          </a:p>
        </p:txBody>
      </p:sp>
      <p:sp>
        <p:nvSpPr>
          <p:cNvPr id="38" name="Rectangle 18"/>
          <p:cNvSpPr/>
          <p:nvPr/>
        </p:nvSpPr>
        <p:spPr>
          <a:xfrm>
            <a:off x="952560" y="9667800"/>
            <a:ext cx="1238220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350" strike="noStrike" u="none">
                <a:solidFill>
                  <a:schemeClr val="lt1"/>
                </a:solidFill>
                <a:effectLst/>
                <a:uFillTx/>
                <a:latin typeface="Century Gothic"/>
                <a:ea typeface="Century Gothic"/>
              </a:rPr>
              <a:t>PIXELS TO METRO POLICY / GEOHACKATHON 2026</a:t>
            </a:r>
            <a:endParaRPr b="0" lang="en-US" sz="1350" strike="noStrike" u="none">
              <a:solidFill>
                <a:srgbClr val="000000"/>
              </a:solidFill>
              <a:effectLst/>
              <a:uFillTx/>
              <a:latin typeface="Arial"/>
            </a:endParaRPr>
          </a:p>
        </p:txBody>
      </p:sp>
      <p:sp>
        <p:nvSpPr>
          <p:cNvPr id="39" name="Rectangle 20"/>
          <p:cNvSpPr/>
          <p:nvPr/>
        </p:nvSpPr>
        <p:spPr>
          <a:xfrm>
            <a:off x="16859160" y="9601200"/>
            <a:ext cx="57132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chemeClr val="lt1"/>
                </a:solidFill>
                <a:effectLst/>
                <a:uFillTx/>
                <a:latin typeface="Century Gothic"/>
                <a:ea typeface="Century Gothic"/>
              </a:rPr>
              <a:t>02</a:t>
            </a:r>
            <a:endParaRPr b="0" lang="en-US" sz="1800" strike="noStrike" u="none">
              <a:solidFill>
                <a:srgbClr val="000000"/>
              </a:solidFill>
              <a:effectLst/>
              <a:uFillTx/>
              <a:latin typeface="Arial"/>
            </a:endParaRPr>
          </a:p>
        </p:txBody>
      </p:sp>
      <p:sp>
        <p:nvSpPr>
          <p:cNvPr id="40" name="Rectangle 22"/>
          <p:cNvSpPr/>
          <p:nvPr/>
        </p:nvSpPr>
        <p:spPr>
          <a:xfrm>
            <a:off x="952560" y="1952640"/>
            <a:ext cx="1628748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020" strike="noStrike" u="none">
                <a:solidFill>
                  <a:schemeClr val="lt1"/>
                </a:solidFill>
                <a:effectLst/>
                <a:uFillTx/>
                <a:latin typeface="Century Gothic"/>
                <a:ea typeface="Century Gothic"/>
              </a:rPr>
              <a:t>NHA low-income locations and BMA community boundaries describe different sets of places.</a:t>
            </a:r>
            <a:endParaRPr b="0" lang="en-US" sz="2020" strike="noStrike" u="none">
              <a:solidFill>
                <a:srgbClr val="000000"/>
              </a:solidFill>
              <a:effectLst/>
              <a:uFillTx/>
              <a:latin typeface="Arial"/>
            </a:endParaRPr>
          </a:p>
        </p:txBody>
      </p:sp>
      <p:graphicFrame>
        <p:nvGraphicFramePr>
          <p:cNvPr id="41" name="Chart 1"/>
          <p:cNvGraphicFramePr/>
          <p:nvPr/>
        </p:nvGraphicFramePr>
        <p:xfrm>
          <a:off x="666720" y="2762280"/>
          <a:ext cx="10667520" cy="5333760"/>
        </p:xfrm>
        <a:graphic>
          <a:graphicData uri="http://schemas.openxmlformats.org/drawingml/2006/chart">
            <c:chart xmlns:c="http://schemas.openxmlformats.org/drawingml/2006/chart" xmlns:r="http://schemas.openxmlformats.org/officeDocument/2006/relationships" r:id="rId2"/>
          </a:graphicData>
        </a:graphic>
      </p:graphicFrame>
      <p:sp>
        <p:nvSpPr>
          <p:cNvPr id="42" name="Rectangle 24"/>
          <p:cNvSpPr/>
          <p:nvPr/>
        </p:nvSpPr>
        <p:spPr>
          <a:xfrm>
            <a:off x="12382560" y="3143160"/>
            <a:ext cx="5047920" cy="12380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8400" strike="noStrike" u="none">
                <a:solidFill>
                  <a:schemeClr val="lt1"/>
                </a:solidFill>
                <a:effectLst/>
                <a:uFillTx/>
                <a:latin typeface="Century Gothic"/>
                <a:ea typeface="Century Gothic"/>
              </a:rPr>
              <a:t>71%</a:t>
            </a:r>
            <a:endParaRPr b="0" lang="en-US" sz="8400" strike="noStrike" u="none">
              <a:solidFill>
                <a:srgbClr val="000000"/>
              </a:solidFill>
              <a:effectLst/>
              <a:uFillTx/>
              <a:latin typeface="Arial"/>
            </a:endParaRPr>
          </a:p>
        </p:txBody>
      </p:sp>
      <p:sp>
        <p:nvSpPr>
          <p:cNvPr id="43" name="Rectangle 26"/>
          <p:cNvSpPr/>
          <p:nvPr/>
        </p:nvSpPr>
        <p:spPr>
          <a:xfrm>
            <a:off x="12382560" y="4524480"/>
            <a:ext cx="5047920" cy="1047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550" strike="noStrike" u="none">
                <a:solidFill>
                  <a:schemeClr val="lt1"/>
                </a:solidFill>
                <a:effectLst/>
                <a:uFillTx/>
                <a:latin typeface="Century Gothic"/>
                <a:ea typeface="Century Gothic"/>
              </a:rPr>
              <a:t>of NHA points fall outside</a:t>
            </a:r>
            <a:endParaRPr b="0" lang="en-US" sz="2550" strike="noStrike" u="none">
              <a:solidFill>
                <a:srgbClr val="000000"/>
              </a:solidFill>
              <a:effectLst/>
              <a:uFillTx/>
              <a:latin typeface="Arial"/>
            </a:endParaRPr>
          </a:p>
          <a:p>
            <a:pPr defTabSz="914400">
              <a:lnSpc>
                <a:spcPct val="100000"/>
              </a:lnSpc>
            </a:pPr>
            <a:r>
              <a:rPr b="0" lang="en-US" sz="2550" strike="noStrike" u="none">
                <a:solidFill>
                  <a:schemeClr val="lt1"/>
                </a:solidFill>
                <a:effectLst/>
                <a:uFillTx/>
                <a:latin typeface="Century Gothic"/>
                <a:ea typeface="Century Gothic"/>
              </a:rPr>
              <a:t>BMA community polygons</a:t>
            </a:r>
            <a:endParaRPr b="0" lang="en-US" sz="2550" strike="noStrike" u="none">
              <a:solidFill>
                <a:srgbClr val="000000"/>
              </a:solidFill>
              <a:effectLst/>
              <a:uFillTx/>
              <a:latin typeface="Arial"/>
            </a:endParaRPr>
          </a:p>
        </p:txBody>
      </p:sp>
      <p:sp>
        <p:nvSpPr>
          <p:cNvPr id="44" name="Rectangle 27"/>
          <p:cNvSpPr/>
          <p:nvPr/>
        </p:nvSpPr>
        <p:spPr>
          <a:xfrm>
            <a:off x="952560" y="8334360"/>
            <a:ext cx="10572480" cy="5234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400" strike="noStrike" u="none">
                <a:solidFill>
                  <a:schemeClr val="lt1"/>
                </a:solidFill>
                <a:effectLst/>
                <a:uFillTx/>
                <a:latin typeface="Century Gothic"/>
                <a:ea typeface="Century Gothic"/>
              </a:rPr>
              <a:t>1,588 NHA points compared</a:t>
            </a:r>
            <a:endParaRPr b="0" lang="en-US" sz="2400" strike="noStrike" u="none">
              <a:solidFill>
                <a:srgbClr val="000000"/>
              </a:solidFill>
              <a:effectLst/>
              <a:uFillTx/>
              <a:latin typeface="Arial"/>
            </a:endParaRPr>
          </a:p>
        </p:txBody>
      </p:sp>
      <p:sp>
        <p:nvSpPr>
          <p:cNvPr id="45" name="Rectangle 29"/>
          <p:cNvSpPr/>
          <p:nvPr/>
        </p:nvSpPr>
        <p:spPr>
          <a:xfrm>
            <a:off x="952560" y="8972640"/>
            <a:ext cx="160970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020" strike="noStrike" u="none">
                <a:solidFill>
                  <a:schemeClr val="lt1"/>
                </a:solidFill>
                <a:effectLst/>
                <a:uFillTx/>
                <a:latin typeface="Century Gothic"/>
                <a:ea typeface="Century Gothic"/>
              </a:rPr>
              <a:t>A cross-register mismatch. Different dates, definitions and boundaries can explain the gap.</a:t>
            </a:r>
            <a:endParaRPr b="0" lang="en-US" sz="2020" strike="noStrike" u="none">
              <a:solidFill>
                <a:srgbClr val="000000"/>
              </a:solidFill>
              <a:effectLst/>
              <a:uFillTx/>
              <a:latin typeface="Arial"/>
            </a:endParaRPr>
          </a:p>
        </p:txBody>
      </p:sp>
      <p:sp>
        <p:nvSpPr>
          <p:cNvPr id="46" name="Rectangle 30"/>
          <p:cNvSpPr/>
          <p:nvPr/>
        </p:nvSpPr>
        <p:spPr>
          <a:xfrm>
            <a:off x="12382560" y="6334200"/>
            <a:ext cx="504792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250" strike="noStrike" u="none">
                <a:solidFill>
                  <a:schemeClr val="lt1"/>
                </a:solidFill>
                <a:effectLst/>
                <a:uFillTx/>
                <a:latin typeface="Century Gothic"/>
                <a:ea typeface="Century Gothic"/>
              </a:rPr>
              <a:t>Planning use</a:t>
            </a:r>
            <a:endParaRPr b="0" lang="en-US" sz="2250" strike="noStrike" u="none">
              <a:solidFill>
                <a:srgbClr val="000000"/>
              </a:solidFill>
              <a:effectLst/>
              <a:uFillTx/>
              <a:latin typeface="Arial"/>
            </a:endParaRPr>
          </a:p>
        </p:txBody>
      </p:sp>
      <p:sp>
        <p:nvSpPr>
          <p:cNvPr id="47" name="Rectangle 32"/>
          <p:cNvSpPr/>
          <p:nvPr/>
        </p:nvSpPr>
        <p:spPr>
          <a:xfrm>
            <a:off x="12382560" y="6905520"/>
            <a:ext cx="5047920" cy="1523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170" strike="noStrike" u="none">
                <a:solidFill>
                  <a:schemeClr val="lt1"/>
                </a:solidFill>
                <a:effectLst/>
                <a:uFillTx/>
                <a:latin typeface="Century Gothic"/>
                <a:ea typeface="Century Gothic"/>
              </a:rPr>
              <a:t>Reconcile source dates and boundaries</a:t>
            </a:r>
            <a:endParaRPr b="0" lang="en-US" sz="2170" strike="noStrike" u="none">
              <a:solidFill>
                <a:srgbClr val="000000"/>
              </a:solidFill>
              <a:effectLst/>
              <a:uFillTx/>
              <a:latin typeface="Arial"/>
            </a:endParaRPr>
          </a:p>
          <a:p>
            <a:pPr defTabSz="914400">
              <a:lnSpc>
                <a:spcPct val="100000"/>
              </a:lnSpc>
            </a:pPr>
            <a:r>
              <a:rPr b="0" lang="en-US" sz="2170" strike="noStrike" u="none">
                <a:solidFill>
                  <a:schemeClr val="lt1"/>
                </a:solidFill>
                <a:effectLst/>
                <a:uFillTx/>
                <a:latin typeface="Century Gothic"/>
                <a:ea typeface="Century Gothic"/>
              </a:rPr>
              <a:t>before treating a record gap as a new settlement.</a:t>
            </a:r>
            <a:endParaRPr b="0" lang="en-US" sz="217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48" name="Freeform: Shape 2310"/>
          <p:cNvSpPr/>
          <p:nvPr/>
        </p:nvSpPr>
        <p:spPr>
          <a:xfrm>
            <a:off x="952560" y="685800"/>
            <a:ext cx="16382520" cy="720"/>
          </a:xfrm>
          <a:custGeom>
            <a:avLst/>
            <a:gdLst/>
            <a:ahLst/>
            <a:rect l="l" t="t" r="r" b="b"/>
            <a:pathLst>
              <a:path w="16383000" h="953">
                <a:moveTo>
                  <a:pt x="0" y="0"/>
                </a:moveTo>
                <a:lnTo>
                  <a:pt x="16383000" y="0"/>
                </a:lnTo>
              </a:path>
            </a:pathLst>
          </a:custGeom>
          <a:noFill/>
          <a:ln w="28575">
            <a:solidFill>
              <a:srgbClr val="217e86"/>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9" name="Rectangle 1"/>
          <p:cNvSpPr/>
          <p:nvPr/>
        </p:nvSpPr>
        <p:spPr>
          <a:xfrm>
            <a:off x="952560" y="905040"/>
            <a:ext cx="16287480" cy="11426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rgbClr val="14293d"/>
                </a:solidFill>
                <a:effectLst/>
                <a:uFillTx/>
                <a:latin typeface="Century Gothic"/>
                <a:ea typeface="Century Gothic"/>
              </a:rPr>
              <a:t>Community boundaries, housing projects and risk</a:t>
            </a:r>
            <a:endParaRPr b="0" lang="en-US" sz="4120" strike="noStrike" u="none">
              <a:solidFill>
                <a:srgbClr val="000000"/>
              </a:solidFill>
              <a:effectLst/>
              <a:uFillTx/>
              <a:latin typeface="Arial"/>
            </a:endParaRPr>
          </a:p>
        </p:txBody>
      </p:sp>
      <p:sp>
        <p:nvSpPr>
          <p:cNvPr id="50" name="Freeform: Shape 2"/>
          <p:cNvSpPr/>
          <p:nvPr/>
        </p:nvSpPr>
        <p:spPr>
          <a:xfrm>
            <a:off x="952560" y="9429840"/>
            <a:ext cx="16382520" cy="720"/>
          </a:xfrm>
          <a:custGeom>
            <a:avLst/>
            <a:gdLst/>
            <a:ahLst/>
            <a:rect l="l" t="t" r="r" b="b"/>
            <a:pathLst>
              <a:path w="16383000" h="953">
                <a:moveTo>
                  <a:pt x="0" y="0"/>
                </a:moveTo>
                <a:lnTo>
                  <a:pt x="16383000" y="0"/>
                </a:lnTo>
              </a:path>
            </a:pathLst>
          </a:custGeom>
          <a:noFill/>
          <a:ln w="9525">
            <a:solidFill>
              <a:srgbClr val="cad5df"/>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1" name="Rectangle 3"/>
          <p:cNvSpPr/>
          <p:nvPr/>
        </p:nvSpPr>
        <p:spPr>
          <a:xfrm>
            <a:off x="952560" y="9667800"/>
            <a:ext cx="1238220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350" strike="noStrike" u="none">
                <a:solidFill>
                  <a:srgbClr val="526779"/>
                </a:solidFill>
                <a:effectLst/>
                <a:uFillTx/>
                <a:latin typeface="Century Gothic"/>
                <a:ea typeface="Century Gothic"/>
              </a:rPr>
              <a:t>PIXELS TO METRO POLICY / GEOHACKATHON 2026</a:t>
            </a:r>
            <a:endParaRPr b="0" lang="en-US" sz="1350" strike="noStrike" u="none">
              <a:solidFill>
                <a:srgbClr val="000000"/>
              </a:solidFill>
              <a:effectLst/>
              <a:uFillTx/>
              <a:latin typeface="Arial"/>
            </a:endParaRPr>
          </a:p>
        </p:txBody>
      </p:sp>
      <p:sp>
        <p:nvSpPr>
          <p:cNvPr id="52" name="Rectangle 4"/>
          <p:cNvSpPr/>
          <p:nvPr/>
        </p:nvSpPr>
        <p:spPr>
          <a:xfrm>
            <a:off x="16859160" y="9601200"/>
            <a:ext cx="57132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03</a:t>
            </a:r>
            <a:endParaRPr b="0" lang="en-US" sz="1800" strike="noStrike" u="none">
              <a:solidFill>
                <a:srgbClr val="000000"/>
              </a:solidFill>
              <a:effectLst/>
              <a:uFillTx/>
              <a:latin typeface="Arial"/>
            </a:endParaRPr>
          </a:p>
        </p:txBody>
      </p:sp>
      <p:sp>
        <p:nvSpPr>
          <p:cNvPr id="53" name="Rectangle 5"/>
          <p:cNvSpPr/>
          <p:nvPr/>
        </p:nvSpPr>
        <p:spPr>
          <a:xfrm>
            <a:off x="952560" y="1952640"/>
            <a:ext cx="1628748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020" strike="noStrike" u="none">
                <a:solidFill>
                  <a:srgbClr val="526779"/>
                </a:solidFill>
                <a:effectLst/>
                <a:uFillTx/>
                <a:latin typeface="Century Gothic"/>
                <a:ea typeface="Century Gothic"/>
              </a:rPr>
              <a:t>The layers connect settlement geography with housing programmes and assessed fire risk.</a:t>
            </a:r>
            <a:endParaRPr b="0" lang="en-US" sz="2020" strike="noStrike" u="none">
              <a:solidFill>
                <a:srgbClr val="000000"/>
              </a:solidFill>
              <a:effectLst/>
              <a:uFillTx/>
              <a:latin typeface="Arial"/>
            </a:endParaRPr>
          </a:p>
        </p:txBody>
      </p:sp>
      <p:sp>
        <p:nvSpPr>
          <p:cNvPr id="54" name="ขอบเขตเขตคลองสาน"/>
          <p:cNvSpPr/>
          <p:nvPr/>
        </p:nvSpPr>
        <p:spPr>
          <a:xfrm>
            <a:off x="4824000" y="5522400"/>
            <a:ext cx="231840" cy="416880"/>
          </a:xfrm>
          <a:custGeom>
            <a:avLst/>
            <a:gdLst/>
            <a:ahLst/>
            <a:rect l="l" t="t" r="r" b="b"/>
            <a:pathLst>
              <a:path w="232295" h="417251">
                <a:moveTo>
                  <a:pt x="68132" y="417251"/>
                </a:moveTo>
                <a:lnTo>
                  <a:pt x="359" y="225081"/>
                </a:lnTo>
                <a:lnTo>
                  <a:pt x="0" y="221876"/>
                </a:lnTo>
                <a:lnTo>
                  <a:pt x="4670" y="147918"/>
                </a:lnTo>
                <a:lnTo>
                  <a:pt x="20476" y="100337"/>
                </a:lnTo>
                <a:lnTo>
                  <a:pt x="37119" y="50539"/>
                </a:lnTo>
                <a:lnTo>
                  <a:pt x="66336" y="0"/>
                </a:lnTo>
                <a:lnTo>
                  <a:pt x="82621" y="4438"/>
                </a:lnTo>
                <a:lnTo>
                  <a:pt x="162248" y="24530"/>
                </a:lnTo>
                <a:lnTo>
                  <a:pt x="194936" y="44868"/>
                </a:lnTo>
                <a:lnTo>
                  <a:pt x="226907" y="100337"/>
                </a:lnTo>
                <a:lnTo>
                  <a:pt x="232295" y="121169"/>
                </a:lnTo>
                <a:lnTo>
                  <a:pt x="228583" y="242215"/>
                </a:lnTo>
                <a:lnTo>
                  <a:pt x="177694" y="333061"/>
                </a:lnTo>
                <a:lnTo>
                  <a:pt x="68132" y="417251"/>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5" name="ขอบเขตเขตคลองสามวา"/>
          <p:cNvSpPr/>
          <p:nvPr/>
        </p:nvSpPr>
        <p:spPr>
          <a:xfrm>
            <a:off x="6953760" y="3183480"/>
            <a:ext cx="1540440" cy="1396800"/>
          </a:xfrm>
          <a:custGeom>
            <a:avLst/>
            <a:gdLst/>
            <a:ahLst/>
            <a:rect l="l" t="t" r="r" b="b"/>
            <a:pathLst>
              <a:path w="1540813" h="1397205">
                <a:moveTo>
                  <a:pt x="703352" y="1136377"/>
                </a:moveTo>
                <a:lnTo>
                  <a:pt x="704789" y="1205282"/>
                </a:lnTo>
                <a:lnTo>
                  <a:pt x="617259" y="1206145"/>
                </a:lnTo>
                <a:lnTo>
                  <a:pt x="590437" y="1136994"/>
                </a:lnTo>
                <a:lnTo>
                  <a:pt x="591156" y="1211692"/>
                </a:lnTo>
                <a:lnTo>
                  <a:pt x="524700" y="1211815"/>
                </a:lnTo>
                <a:lnTo>
                  <a:pt x="534998" y="1317083"/>
                </a:lnTo>
                <a:lnTo>
                  <a:pt x="309767" y="1397205"/>
                </a:lnTo>
                <a:lnTo>
                  <a:pt x="154345" y="993514"/>
                </a:lnTo>
                <a:lnTo>
                  <a:pt x="0" y="936935"/>
                </a:lnTo>
                <a:lnTo>
                  <a:pt x="53883" y="890341"/>
                </a:lnTo>
                <a:lnTo>
                  <a:pt x="113394" y="863223"/>
                </a:lnTo>
                <a:lnTo>
                  <a:pt x="161888" y="673395"/>
                </a:lnTo>
                <a:lnTo>
                  <a:pt x="253849" y="518082"/>
                </a:lnTo>
                <a:lnTo>
                  <a:pt x="256004" y="377190"/>
                </a:lnTo>
                <a:lnTo>
                  <a:pt x="152668" y="212385"/>
                </a:lnTo>
                <a:lnTo>
                  <a:pt x="190865" y="153958"/>
                </a:lnTo>
                <a:lnTo>
                  <a:pt x="200684" y="137687"/>
                </a:lnTo>
                <a:lnTo>
                  <a:pt x="436931" y="140275"/>
                </a:lnTo>
                <a:lnTo>
                  <a:pt x="639052" y="137070"/>
                </a:lnTo>
                <a:lnTo>
                  <a:pt x="692456" y="135468"/>
                </a:lnTo>
                <a:lnTo>
                  <a:pt x="706345" y="135098"/>
                </a:lnTo>
                <a:lnTo>
                  <a:pt x="912418" y="141015"/>
                </a:lnTo>
                <a:lnTo>
                  <a:pt x="1255712" y="51155"/>
                </a:lnTo>
                <a:lnTo>
                  <a:pt x="1311391" y="37842"/>
                </a:lnTo>
                <a:lnTo>
                  <a:pt x="1313786" y="37226"/>
                </a:lnTo>
                <a:lnTo>
                  <a:pt x="1456875" y="0"/>
                </a:lnTo>
                <a:lnTo>
                  <a:pt x="1460826" y="429084"/>
                </a:lnTo>
                <a:lnTo>
                  <a:pt x="1496150" y="475309"/>
                </a:lnTo>
                <a:lnTo>
                  <a:pt x="1406704" y="597587"/>
                </a:lnTo>
                <a:lnTo>
                  <a:pt x="1540813" y="977982"/>
                </a:lnTo>
                <a:lnTo>
                  <a:pt x="938880" y="1316221"/>
                </a:lnTo>
                <a:lnTo>
                  <a:pt x="868114" y="1151292"/>
                </a:lnTo>
                <a:lnTo>
                  <a:pt x="703352" y="1136377"/>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6" name="ขอบเขตเขตคลองเตย"/>
          <p:cNvSpPr/>
          <p:nvPr/>
        </p:nvSpPr>
        <p:spPr>
          <a:xfrm>
            <a:off x="5515920" y="5476680"/>
            <a:ext cx="608040" cy="566640"/>
          </a:xfrm>
          <a:custGeom>
            <a:avLst/>
            <a:gdLst/>
            <a:ahLst/>
            <a:rect l="l" t="t" r="r" b="b"/>
            <a:pathLst>
              <a:path w="608518" h="567018">
                <a:moveTo>
                  <a:pt x="608518" y="469392"/>
                </a:moveTo>
                <a:lnTo>
                  <a:pt x="389993" y="567018"/>
                </a:lnTo>
                <a:lnTo>
                  <a:pt x="382928" y="561101"/>
                </a:lnTo>
                <a:lnTo>
                  <a:pt x="343414" y="536571"/>
                </a:lnTo>
                <a:lnTo>
                  <a:pt x="250735" y="493922"/>
                </a:lnTo>
                <a:lnTo>
                  <a:pt x="50291" y="454600"/>
                </a:lnTo>
                <a:lnTo>
                  <a:pt x="36640" y="322707"/>
                </a:lnTo>
                <a:lnTo>
                  <a:pt x="26702" y="246406"/>
                </a:lnTo>
                <a:lnTo>
                  <a:pt x="0" y="0"/>
                </a:lnTo>
                <a:lnTo>
                  <a:pt x="174102" y="112171"/>
                </a:lnTo>
                <a:lnTo>
                  <a:pt x="182843" y="118704"/>
                </a:lnTo>
                <a:lnTo>
                  <a:pt x="322220" y="220274"/>
                </a:lnTo>
                <a:lnTo>
                  <a:pt x="404362" y="279811"/>
                </a:lnTo>
                <a:lnTo>
                  <a:pt x="608518" y="469392"/>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7" name="ขอบเขตเขตคันนายาว"/>
          <p:cNvSpPr/>
          <p:nvPr/>
        </p:nvSpPr>
        <p:spPr>
          <a:xfrm>
            <a:off x="6687720" y="4074120"/>
            <a:ext cx="674640" cy="929520"/>
          </a:xfrm>
          <a:custGeom>
            <a:avLst/>
            <a:gdLst/>
            <a:ahLst/>
            <a:rect l="l" t="t" r="r" b="b"/>
            <a:pathLst>
              <a:path w="674854" h="930032">
                <a:moveTo>
                  <a:pt x="265942" y="46594"/>
                </a:moveTo>
                <a:lnTo>
                  <a:pt x="420287" y="103173"/>
                </a:lnTo>
                <a:lnTo>
                  <a:pt x="575709" y="506864"/>
                </a:lnTo>
                <a:lnTo>
                  <a:pt x="674854" y="727262"/>
                </a:lnTo>
                <a:lnTo>
                  <a:pt x="318149" y="930032"/>
                </a:lnTo>
                <a:lnTo>
                  <a:pt x="298152" y="740944"/>
                </a:lnTo>
                <a:lnTo>
                  <a:pt x="170749" y="570716"/>
                </a:lnTo>
                <a:lnTo>
                  <a:pt x="155422" y="315681"/>
                </a:lnTo>
                <a:lnTo>
                  <a:pt x="103934" y="258486"/>
                </a:lnTo>
                <a:lnTo>
                  <a:pt x="0" y="278825"/>
                </a:lnTo>
                <a:lnTo>
                  <a:pt x="12932" y="125607"/>
                </a:lnTo>
                <a:lnTo>
                  <a:pt x="120818" y="108226"/>
                </a:lnTo>
                <a:lnTo>
                  <a:pt x="175299" y="5793"/>
                </a:lnTo>
                <a:lnTo>
                  <a:pt x="319825" y="0"/>
                </a:lnTo>
                <a:lnTo>
                  <a:pt x="265942" y="46594"/>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8" name="ขอบเขตเขตจตุจักร"/>
          <p:cNvSpPr/>
          <p:nvPr/>
        </p:nvSpPr>
        <p:spPr>
          <a:xfrm>
            <a:off x="5353560" y="4044600"/>
            <a:ext cx="639000" cy="788040"/>
          </a:xfrm>
          <a:custGeom>
            <a:avLst/>
            <a:gdLst/>
            <a:ahLst/>
            <a:rect l="l" t="t" r="r" b="b"/>
            <a:pathLst>
              <a:path w="639411" h="788278">
                <a:moveTo>
                  <a:pt x="630191" y="185883"/>
                </a:moveTo>
                <a:lnTo>
                  <a:pt x="639411" y="292014"/>
                </a:lnTo>
                <a:lnTo>
                  <a:pt x="611631" y="689173"/>
                </a:lnTo>
                <a:lnTo>
                  <a:pt x="450102" y="713579"/>
                </a:lnTo>
                <a:lnTo>
                  <a:pt x="287855" y="788278"/>
                </a:lnTo>
                <a:lnTo>
                  <a:pt x="3472" y="753764"/>
                </a:lnTo>
                <a:lnTo>
                  <a:pt x="92319" y="506618"/>
                </a:lnTo>
                <a:lnTo>
                  <a:pt x="0" y="460763"/>
                </a:lnTo>
                <a:lnTo>
                  <a:pt x="78789" y="111185"/>
                </a:lnTo>
                <a:lnTo>
                  <a:pt x="313120" y="46841"/>
                </a:lnTo>
                <a:lnTo>
                  <a:pt x="589240" y="0"/>
                </a:lnTo>
                <a:lnTo>
                  <a:pt x="630191" y="185883"/>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9" name="ขอบเขตเขตจอมทอง"/>
          <p:cNvSpPr/>
          <p:nvPr/>
        </p:nvSpPr>
        <p:spPr>
          <a:xfrm>
            <a:off x="4120560" y="5782680"/>
            <a:ext cx="649440" cy="766440"/>
          </a:xfrm>
          <a:custGeom>
            <a:avLst/>
            <a:gdLst/>
            <a:ahLst/>
            <a:rect l="l" t="t" r="r" b="b"/>
            <a:pathLst>
              <a:path w="649828" h="766953">
                <a:moveTo>
                  <a:pt x="643243" y="401966"/>
                </a:moveTo>
                <a:lnTo>
                  <a:pt x="649828" y="474199"/>
                </a:lnTo>
                <a:lnTo>
                  <a:pt x="549606" y="599066"/>
                </a:lnTo>
                <a:lnTo>
                  <a:pt x="572955" y="655029"/>
                </a:lnTo>
                <a:lnTo>
                  <a:pt x="498238" y="687447"/>
                </a:lnTo>
                <a:lnTo>
                  <a:pt x="431662" y="725536"/>
                </a:lnTo>
                <a:lnTo>
                  <a:pt x="364249" y="766953"/>
                </a:lnTo>
                <a:lnTo>
                  <a:pt x="196254" y="697801"/>
                </a:lnTo>
                <a:lnTo>
                  <a:pt x="207988" y="524122"/>
                </a:lnTo>
                <a:lnTo>
                  <a:pt x="173264" y="525847"/>
                </a:lnTo>
                <a:lnTo>
                  <a:pt x="172186" y="447081"/>
                </a:lnTo>
                <a:lnTo>
                  <a:pt x="150992" y="435617"/>
                </a:lnTo>
                <a:lnTo>
                  <a:pt x="41550" y="299163"/>
                </a:lnTo>
                <a:lnTo>
                  <a:pt x="0" y="224835"/>
                </a:lnTo>
                <a:lnTo>
                  <a:pt x="50051" y="102310"/>
                </a:lnTo>
                <a:lnTo>
                  <a:pt x="186794" y="154327"/>
                </a:lnTo>
                <a:lnTo>
                  <a:pt x="222117" y="96270"/>
                </a:lnTo>
                <a:lnTo>
                  <a:pt x="260195" y="117718"/>
                </a:lnTo>
                <a:lnTo>
                  <a:pt x="252771" y="73959"/>
                </a:lnTo>
                <a:lnTo>
                  <a:pt x="310006" y="59783"/>
                </a:lnTo>
                <a:lnTo>
                  <a:pt x="341857" y="0"/>
                </a:lnTo>
                <a:lnTo>
                  <a:pt x="418251" y="24406"/>
                </a:lnTo>
                <a:lnTo>
                  <a:pt x="381252" y="104528"/>
                </a:lnTo>
                <a:lnTo>
                  <a:pt x="512008" y="112664"/>
                </a:lnTo>
                <a:lnTo>
                  <a:pt x="577146" y="278085"/>
                </a:lnTo>
                <a:lnTo>
                  <a:pt x="579182" y="286960"/>
                </a:lnTo>
                <a:lnTo>
                  <a:pt x="563975" y="343169"/>
                </a:lnTo>
                <a:lnTo>
                  <a:pt x="643243" y="401966"/>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0" name="ขอบเขตเขตดอนเมือง"/>
          <p:cNvSpPr/>
          <p:nvPr/>
        </p:nvSpPr>
        <p:spPr>
          <a:xfrm>
            <a:off x="5616000" y="2865960"/>
            <a:ext cx="792000" cy="823680"/>
          </a:xfrm>
          <a:custGeom>
            <a:avLst/>
            <a:gdLst/>
            <a:ahLst/>
            <a:rect l="l" t="t" r="r" b="b"/>
            <a:pathLst>
              <a:path w="792319" h="824025">
                <a:moveTo>
                  <a:pt x="587563" y="148041"/>
                </a:moveTo>
                <a:lnTo>
                  <a:pt x="572237" y="6656"/>
                </a:lnTo>
                <a:lnTo>
                  <a:pt x="572237" y="6656"/>
                </a:lnTo>
                <a:lnTo>
                  <a:pt x="755918" y="77164"/>
                </a:lnTo>
                <a:lnTo>
                  <a:pt x="763940" y="80245"/>
                </a:lnTo>
                <a:lnTo>
                  <a:pt x="770885" y="89983"/>
                </a:lnTo>
                <a:lnTo>
                  <a:pt x="770885" y="89983"/>
                </a:lnTo>
                <a:lnTo>
                  <a:pt x="774477" y="121416"/>
                </a:lnTo>
                <a:lnTo>
                  <a:pt x="774477" y="121416"/>
                </a:lnTo>
                <a:lnTo>
                  <a:pt x="780704" y="156053"/>
                </a:lnTo>
                <a:lnTo>
                  <a:pt x="780704" y="156053"/>
                </a:lnTo>
                <a:lnTo>
                  <a:pt x="788008" y="197100"/>
                </a:lnTo>
                <a:lnTo>
                  <a:pt x="788008" y="197100"/>
                </a:lnTo>
                <a:lnTo>
                  <a:pt x="792319" y="221630"/>
                </a:lnTo>
                <a:lnTo>
                  <a:pt x="767772" y="419716"/>
                </a:lnTo>
                <a:lnTo>
                  <a:pt x="593072" y="723934"/>
                </a:lnTo>
                <a:lnTo>
                  <a:pt x="426154" y="824025"/>
                </a:lnTo>
                <a:lnTo>
                  <a:pt x="283783" y="787045"/>
                </a:lnTo>
                <a:lnTo>
                  <a:pt x="340540" y="680051"/>
                </a:lnTo>
                <a:lnTo>
                  <a:pt x="0" y="494291"/>
                </a:lnTo>
                <a:lnTo>
                  <a:pt x="9819" y="455833"/>
                </a:lnTo>
                <a:lnTo>
                  <a:pt x="17123" y="424524"/>
                </a:lnTo>
                <a:lnTo>
                  <a:pt x="17123" y="424524"/>
                </a:lnTo>
                <a:lnTo>
                  <a:pt x="19398" y="413430"/>
                </a:lnTo>
                <a:lnTo>
                  <a:pt x="19398" y="413430"/>
                </a:lnTo>
                <a:lnTo>
                  <a:pt x="26941" y="382490"/>
                </a:lnTo>
                <a:lnTo>
                  <a:pt x="29456" y="370780"/>
                </a:lnTo>
                <a:lnTo>
                  <a:pt x="34725" y="346867"/>
                </a:lnTo>
                <a:lnTo>
                  <a:pt x="38197" y="321474"/>
                </a:lnTo>
                <a:lnTo>
                  <a:pt x="38197" y="321474"/>
                </a:lnTo>
                <a:lnTo>
                  <a:pt x="42747" y="299287"/>
                </a:lnTo>
                <a:lnTo>
                  <a:pt x="42747" y="299287"/>
                </a:lnTo>
                <a:lnTo>
                  <a:pt x="47656" y="273894"/>
                </a:lnTo>
                <a:lnTo>
                  <a:pt x="47656" y="273894"/>
                </a:lnTo>
                <a:lnTo>
                  <a:pt x="54601" y="249981"/>
                </a:lnTo>
                <a:lnTo>
                  <a:pt x="54601" y="249981"/>
                </a:lnTo>
                <a:lnTo>
                  <a:pt x="60948" y="220027"/>
                </a:lnTo>
                <a:lnTo>
                  <a:pt x="60948" y="220027"/>
                </a:lnTo>
                <a:lnTo>
                  <a:pt x="61906" y="215713"/>
                </a:lnTo>
                <a:lnTo>
                  <a:pt x="65617" y="198086"/>
                </a:lnTo>
                <a:lnTo>
                  <a:pt x="74478" y="156669"/>
                </a:lnTo>
                <a:lnTo>
                  <a:pt x="74478" y="156669"/>
                </a:lnTo>
                <a:lnTo>
                  <a:pt x="75316" y="150136"/>
                </a:lnTo>
                <a:lnTo>
                  <a:pt x="75316" y="150136"/>
                </a:lnTo>
                <a:lnTo>
                  <a:pt x="89685" y="94667"/>
                </a:lnTo>
                <a:lnTo>
                  <a:pt x="90763" y="90969"/>
                </a:lnTo>
                <a:lnTo>
                  <a:pt x="99145" y="61263"/>
                </a:lnTo>
                <a:lnTo>
                  <a:pt x="103814" y="40677"/>
                </a:lnTo>
                <a:lnTo>
                  <a:pt x="208826" y="0"/>
                </a:lnTo>
                <a:lnTo>
                  <a:pt x="587563" y="148041"/>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1" name="ขอบเขตเขตดินแดง"/>
          <p:cNvSpPr/>
          <p:nvPr/>
        </p:nvSpPr>
        <p:spPr>
          <a:xfrm>
            <a:off x="5425920" y="4758120"/>
            <a:ext cx="377640" cy="565200"/>
          </a:xfrm>
          <a:custGeom>
            <a:avLst/>
            <a:gdLst/>
            <a:ahLst/>
            <a:rect l="l" t="t" r="r" b="b"/>
            <a:pathLst>
              <a:path w="377899" h="565662">
                <a:moveTo>
                  <a:pt x="377899" y="0"/>
                </a:moveTo>
                <a:lnTo>
                  <a:pt x="370834" y="138673"/>
                </a:lnTo>
                <a:lnTo>
                  <a:pt x="357783" y="377067"/>
                </a:lnTo>
                <a:lnTo>
                  <a:pt x="258159" y="565662"/>
                </a:lnTo>
                <a:lnTo>
                  <a:pt x="109801" y="555061"/>
                </a:lnTo>
                <a:lnTo>
                  <a:pt x="0" y="471364"/>
                </a:lnTo>
                <a:lnTo>
                  <a:pt x="58912" y="457312"/>
                </a:lnTo>
                <a:lnTo>
                  <a:pt x="215651" y="74698"/>
                </a:lnTo>
                <a:lnTo>
                  <a:pt x="377899" y="0"/>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2" name="ขอบเขตเขตดุสิต"/>
          <p:cNvSpPr/>
          <p:nvPr/>
        </p:nvSpPr>
        <p:spPr>
          <a:xfrm>
            <a:off x="4894200" y="4765320"/>
            <a:ext cx="462600" cy="588240"/>
          </a:xfrm>
          <a:custGeom>
            <a:avLst/>
            <a:gdLst/>
            <a:ahLst/>
            <a:rect l="l" t="t" r="r" b="b"/>
            <a:pathLst>
              <a:path w="462795" h="588712">
                <a:moveTo>
                  <a:pt x="263188" y="533983"/>
                </a:moveTo>
                <a:lnTo>
                  <a:pt x="241396" y="588712"/>
                </a:lnTo>
                <a:lnTo>
                  <a:pt x="222237" y="582919"/>
                </a:lnTo>
                <a:lnTo>
                  <a:pt x="210622" y="539776"/>
                </a:lnTo>
                <a:lnTo>
                  <a:pt x="168474" y="495771"/>
                </a:lnTo>
                <a:lnTo>
                  <a:pt x="159613" y="486896"/>
                </a:lnTo>
                <a:lnTo>
                  <a:pt x="126565" y="452875"/>
                </a:lnTo>
                <a:lnTo>
                  <a:pt x="59870" y="378176"/>
                </a:lnTo>
                <a:lnTo>
                  <a:pt x="0" y="340334"/>
                </a:lnTo>
                <a:lnTo>
                  <a:pt x="41550" y="237408"/>
                </a:lnTo>
                <a:lnTo>
                  <a:pt x="83219" y="166407"/>
                </a:lnTo>
                <a:lnTo>
                  <a:pt x="110640" y="137317"/>
                </a:lnTo>
                <a:lnTo>
                  <a:pt x="211820" y="0"/>
                </a:lnTo>
                <a:lnTo>
                  <a:pt x="462795" y="32788"/>
                </a:lnTo>
                <a:lnTo>
                  <a:pt x="345928" y="320858"/>
                </a:lnTo>
                <a:lnTo>
                  <a:pt x="263188" y="533983"/>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3" name="ขอบเขตเขตตลิ่งชัน"/>
          <p:cNvSpPr/>
          <p:nvPr/>
        </p:nvSpPr>
        <p:spPr>
          <a:xfrm>
            <a:off x="3781800" y="4750920"/>
            <a:ext cx="762480" cy="754920"/>
          </a:xfrm>
          <a:custGeom>
            <a:avLst/>
            <a:gdLst/>
            <a:ahLst/>
            <a:rect l="l" t="t" r="r" b="b"/>
            <a:pathLst>
              <a:path w="762982" h="755120">
                <a:moveTo>
                  <a:pt x="610314" y="716045"/>
                </a:moveTo>
                <a:lnTo>
                  <a:pt x="315993" y="755120"/>
                </a:lnTo>
                <a:lnTo>
                  <a:pt x="89326" y="662178"/>
                </a:lnTo>
                <a:lnTo>
                  <a:pt x="0" y="643195"/>
                </a:lnTo>
                <a:lnTo>
                  <a:pt x="4670" y="528929"/>
                </a:lnTo>
                <a:lnTo>
                  <a:pt x="6586" y="511179"/>
                </a:lnTo>
                <a:lnTo>
                  <a:pt x="35443" y="259965"/>
                </a:lnTo>
                <a:lnTo>
                  <a:pt x="58553" y="0"/>
                </a:lnTo>
                <a:lnTo>
                  <a:pt x="76394" y="1356"/>
                </a:lnTo>
                <a:lnTo>
                  <a:pt x="112675" y="3944"/>
                </a:lnTo>
                <a:lnTo>
                  <a:pt x="236845" y="13806"/>
                </a:lnTo>
                <a:lnTo>
                  <a:pt x="698083" y="54483"/>
                </a:lnTo>
                <a:lnTo>
                  <a:pt x="762982" y="86778"/>
                </a:lnTo>
                <a:lnTo>
                  <a:pt x="762982" y="86778"/>
                </a:lnTo>
                <a:lnTo>
                  <a:pt x="761426" y="90476"/>
                </a:lnTo>
                <a:lnTo>
                  <a:pt x="714488" y="149520"/>
                </a:lnTo>
                <a:lnTo>
                  <a:pt x="714488" y="149520"/>
                </a:lnTo>
                <a:lnTo>
                  <a:pt x="714368" y="154327"/>
                </a:lnTo>
                <a:lnTo>
                  <a:pt x="720594" y="158025"/>
                </a:lnTo>
                <a:lnTo>
                  <a:pt x="720954" y="158025"/>
                </a:lnTo>
                <a:lnTo>
                  <a:pt x="719637" y="179720"/>
                </a:lnTo>
                <a:lnTo>
                  <a:pt x="728378" y="250844"/>
                </a:lnTo>
                <a:lnTo>
                  <a:pt x="736280" y="270073"/>
                </a:lnTo>
                <a:lnTo>
                  <a:pt x="610434" y="311367"/>
                </a:lnTo>
                <a:lnTo>
                  <a:pt x="569722" y="440425"/>
                </a:lnTo>
                <a:lnTo>
                  <a:pt x="672699" y="705444"/>
                </a:lnTo>
                <a:lnTo>
                  <a:pt x="650547" y="710868"/>
                </a:lnTo>
                <a:lnTo>
                  <a:pt x="647433" y="712347"/>
                </a:lnTo>
                <a:lnTo>
                  <a:pt x="610314" y="716045"/>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4" name="ขอบเขตเขตทวีวัฒนา"/>
          <p:cNvSpPr/>
          <p:nvPr/>
        </p:nvSpPr>
        <p:spPr>
          <a:xfrm>
            <a:off x="2847240" y="4718880"/>
            <a:ext cx="992520" cy="847440"/>
          </a:xfrm>
          <a:custGeom>
            <a:avLst/>
            <a:gdLst/>
            <a:ahLst/>
            <a:rect l="l" t="t" r="r" b="b"/>
            <a:pathLst>
              <a:path w="992883" h="847815">
                <a:moveTo>
                  <a:pt x="940916" y="543228"/>
                </a:moveTo>
                <a:lnTo>
                  <a:pt x="939000" y="560978"/>
                </a:lnTo>
                <a:lnTo>
                  <a:pt x="934330" y="675244"/>
                </a:lnTo>
                <a:lnTo>
                  <a:pt x="295997" y="641839"/>
                </a:lnTo>
                <a:lnTo>
                  <a:pt x="376342" y="816136"/>
                </a:lnTo>
                <a:lnTo>
                  <a:pt x="89925" y="847815"/>
                </a:lnTo>
                <a:lnTo>
                  <a:pt x="89206" y="846582"/>
                </a:lnTo>
                <a:lnTo>
                  <a:pt x="85255" y="836844"/>
                </a:lnTo>
                <a:lnTo>
                  <a:pt x="84896" y="834995"/>
                </a:lnTo>
                <a:lnTo>
                  <a:pt x="84896" y="834995"/>
                </a:lnTo>
                <a:lnTo>
                  <a:pt x="84536" y="833146"/>
                </a:lnTo>
                <a:lnTo>
                  <a:pt x="84536" y="833146"/>
                </a:lnTo>
                <a:lnTo>
                  <a:pt x="84297" y="831667"/>
                </a:lnTo>
                <a:lnTo>
                  <a:pt x="84297" y="831667"/>
                </a:lnTo>
                <a:lnTo>
                  <a:pt x="84297" y="831667"/>
                </a:lnTo>
                <a:lnTo>
                  <a:pt x="84297" y="831667"/>
                </a:lnTo>
                <a:lnTo>
                  <a:pt x="84177" y="831051"/>
                </a:lnTo>
                <a:lnTo>
                  <a:pt x="84177" y="831051"/>
                </a:lnTo>
                <a:lnTo>
                  <a:pt x="84177" y="830804"/>
                </a:lnTo>
                <a:lnTo>
                  <a:pt x="84177" y="830804"/>
                </a:lnTo>
                <a:lnTo>
                  <a:pt x="84177" y="830804"/>
                </a:lnTo>
                <a:lnTo>
                  <a:pt x="84177" y="830804"/>
                </a:lnTo>
                <a:lnTo>
                  <a:pt x="84177" y="829818"/>
                </a:lnTo>
                <a:lnTo>
                  <a:pt x="84177" y="829818"/>
                </a:lnTo>
                <a:lnTo>
                  <a:pt x="84297" y="828955"/>
                </a:lnTo>
                <a:lnTo>
                  <a:pt x="84297" y="828955"/>
                </a:lnTo>
                <a:lnTo>
                  <a:pt x="84536" y="828092"/>
                </a:lnTo>
                <a:lnTo>
                  <a:pt x="84536" y="828092"/>
                </a:lnTo>
                <a:lnTo>
                  <a:pt x="92559" y="817738"/>
                </a:lnTo>
                <a:lnTo>
                  <a:pt x="92798" y="816875"/>
                </a:lnTo>
                <a:lnTo>
                  <a:pt x="92798" y="816875"/>
                </a:lnTo>
                <a:lnTo>
                  <a:pt x="92798" y="816629"/>
                </a:lnTo>
                <a:lnTo>
                  <a:pt x="92798" y="816629"/>
                </a:lnTo>
                <a:lnTo>
                  <a:pt x="92918" y="816136"/>
                </a:lnTo>
                <a:lnTo>
                  <a:pt x="92918" y="816136"/>
                </a:lnTo>
                <a:lnTo>
                  <a:pt x="92918" y="816012"/>
                </a:lnTo>
                <a:lnTo>
                  <a:pt x="92918" y="816012"/>
                </a:lnTo>
                <a:lnTo>
                  <a:pt x="92918" y="815149"/>
                </a:lnTo>
                <a:lnTo>
                  <a:pt x="92918" y="815149"/>
                </a:lnTo>
                <a:lnTo>
                  <a:pt x="92918" y="814287"/>
                </a:lnTo>
                <a:lnTo>
                  <a:pt x="92918" y="814287"/>
                </a:lnTo>
                <a:lnTo>
                  <a:pt x="92798" y="813547"/>
                </a:lnTo>
                <a:lnTo>
                  <a:pt x="92798" y="813547"/>
                </a:lnTo>
                <a:lnTo>
                  <a:pt x="92798" y="813424"/>
                </a:lnTo>
                <a:lnTo>
                  <a:pt x="92798" y="813424"/>
                </a:lnTo>
                <a:lnTo>
                  <a:pt x="92439" y="810712"/>
                </a:lnTo>
                <a:lnTo>
                  <a:pt x="92439" y="810712"/>
                </a:lnTo>
                <a:lnTo>
                  <a:pt x="92200" y="807877"/>
                </a:lnTo>
                <a:lnTo>
                  <a:pt x="92200" y="807877"/>
                </a:lnTo>
                <a:lnTo>
                  <a:pt x="91960" y="805042"/>
                </a:lnTo>
                <a:lnTo>
                  <a:pt x="91960" y="805042"/>
                </a:lnTo>
                <a:lnTo>
                  <a:pt x="91960" y="802207"/>
                </a:lnTo>
                <a:lnTo>
                  <a:pt x="91960" y="802207"/>
                </a:lnTo>
                <a:lnTo>
                  <a:pt x="91960" y="799372"/>
                </a:lnTo>
                <a:lnTo>
                  <a:pt x="91960" y="799372"/>
                </a:lnTo>
                <a:lnTo>
                  <a:pt x="91960" y="799372"/>
                </a:lnTo>
                <a:lnTo>
                  <a:pt x="91960" y="799372"/>
                </a:lnTo>
                <a:lnTo>
                  <a:pt x="91840" y="797276"/>
                </a:lnTo>
                <a:lnTo>
                  <a:pt x="91840" y="797276"/>
                </a:lnTo>
                <a:lnTo>
                  <a:pt x="90763" y="783470"/>
                </a:lnTo>
                <a:lnTo>
                  <a:pt x="90763" y="783470"/>
                </a:lnTo>
                <a:lnTo>
                  <a:pt x="89685" y="769788"/>
                </a:lnTo>
                <a:lnTo>
                  <a:pt x="89685" y="769788"/>
                </a:lnTo>
                <a:lnTo>
                  <a:pt x="88488" y="756106"/>
                </a:lnTo>
                <a:lnTo>
                  <a:pt x="88488" y="756106"/>
                </a:lnTo>
                <a:lnTo>
                  <a:pt x="87171" y="742300"/>
                </a:lnTo>
                <a:lnTo>
                  <a:pt x="87171" y="742300"/>
                </a:lnTo>
                <a:lnTo>
                  <a:pt x="86692" y="737493"/>
                </a:lnTo>
                <a:lnTo>
                  <a:pt x="86692" y="737493"/>
                </a:lnTo>
                <a:lnTo>
                  <a:pt x="86692" y="737369"/>
                </a:lnTo>
                <a:lnTo>
                  <a:pt x="86692" y="737369"/>
                </a:lnTo>
                <a:lnTo>
                  <a:pt x="86213" y="732809"/>
                </a:lnTo>
                <a:lnTo>
                  <a:pt x="86213" y="732809"/>
                </a:lnTo>
                <a:lnTo>
                  <a:pt x="85853" y="728371"/>
                </a:lnTo>
                <a:lnTo>
                  <a:pt x="85853" y="728371"/>
                </a:lnTo>
                <a:lnTo>
                  <a:pt x="85614" y="723810"/>
                </a:lnTo>
                <a:lnTo>
                  <a:pt x="85614" y="723810"/>
                </a:lnTo>
                <a:lnTo>
                  <a:pt x="85494" y="719250"/>
                </a:lnTo>
                <a:lnTo>
                  <a:pt x="85494" y="719250"/>
                </a:lnTo>
                <a:lnTo>
                  <a:pt x="85494" y="714689"/>
                </a:lnTo>
                <a:lnTo>
                  <a:pt x="85494" y="714689"/>
                </a:lnTo>
                <a:lnTo>
                  <a:pt x="85494" y="712470"/>
                </a:lnTo>
                <a:lnTo>
                  <a:pt x="85494" y="712470"/>
                </a:lnTo>
                <a:lnTo>
                  <a:pt x="85614" y="710868"/>
                </a:lnTo>
                <a:lnTo>
                  <a:pt x="85614" y="710868"/>
                </a:lnTo>
                <a:lnTo>
                  <a:pt x="85734" y="707663"/>
                </a:lnTo>
                <a:lnTo>
                  <a:pt x="85734" y="707663"/>
                </a:lnTo>
                <a:lnTo>
                  <a:pt x="85734" y="704335"/>
                </a:lnTo>
                <a:lnTo>
                  <a:pt x="85734" y="704335"/>
                </a:lnTo>
                <a:lnTo>
                  <a:pt x="85734" y="701623"/>
                </a:lnTo>
                <a:lnTo>
                  <a:pt x="85734" y="701623"/>
                </a:lnTo>
                <a:lnTo>
                  <a:pt x="85734" y="701130"/>
                </a:lnTo>
                <a:lnTo>
                  <a:pt x="85734" y="701130"/>
                </a:lnTo>
                <a:lnTo>
                  <a:pt x="85614" y="697925"/>
                </a:lnTo>
                <a:lnTo>
                  <a:pt x="85614" y="697925"/>
                </a:lnTo>
                <a:lnTo>
                  <a:pt x="85375" y="694597"/>
                </a:lnTo>
                <a:lnTo>
                  <a:pt x="85375" y="694597"/>
                </a:lnTo>
                <a:lnTo>
                  <a:pt x="85255" y="692131"/>
                </a:lnTo>
                <a:lnTo>
                  <a:pt x="85255" y="692131"/>
                </a:lnTo>
                <a:lnTo>
                  <a:pt x="85135" y="691392"/>
                </a:lnTo>
                <a:lnTo>
                  <a:pt x="85135" y="691392"/>
                </a:lnTo>
                <a:lnTo>
                  <a:pt x="84896" y="688433"/>
                </a:lnTo>
                <a:lnTo>
                  <a:pt x="84896" y="688433"/>
                </a:lnTo>
                <a:lnTo>
                  <a:pt x="84417" y="685598"/>
                </a:lnTo>
                <a:lnTo>
                  <a:pt x="84417" y="685598"/>
                </a:lnTo>
                <a:lnTo>
                  <a:pt x="83938" y="682763"/>
                </a:lnTo>
                <a:lnTo>
                  <a:pt x="83938" y="682763"/>
                </a:lnTo>
                <a:lnTo>
                  <a:pt x="83459" y="679928"/>
                </a:lnTo>
                <a:lnTo>
                  <a:pt x="83459" y="679928"/>
                </a:lnTo>
                <a:lnTo>
                  <a:pt x="80824" y="670437"/>
                </a:lnTo>
                <a:lnTo>
                  <a:pt x="80226" y="667602"/>
                </a:lnTo>
                <a:lnTo>
                  <a:pt x="80226" y="667602"/>
                </a:lnTo>
                <a:lnTo>
                  <a:pt x="79627" y="664643"/>
                </a:lnTo>
                <a:lnTo>
                  <a:pt x="79627" y="664643"/>
                </a:lnTo>
                <a:lnTo>
                  <a:pt x="79148" y="661685"/>
                </a:lnTo>
                <a:lnTo>
                  <a:pt x="79148" y="661685"/>
                </a:lnTo>
                <a:lnTo>
                  <a:pt x="78789" y="658850"/>
                </a:lnTo>
                <a:lnTo>
                  <a:pt x="78789" y="658850"/>
                </a:lnTo>
                <a:lnTo>
                  <a:pt x="78549" y="656878"/>
                </a:lnTo>
                <a:lnTo>
                  <a:pt x="78549" y="656878"/>
                </a:lnTo>
                <a:lnTo>
                  <a:pt x="78549" y="656138"/>
                </a:lnTo>
                <a:lnTo>
                  <a:pt x="78549" y="656138"/>
                </a:lnTo>
                <a:lnTo>
                  <a:pt x="78549" y="653919"/>
                </a:lnTo>
                <a:lnTo>
                  <a:pt x="78549" y="653919"/>
                </a:lnTo>
                <a:lnTo>
                  <a:pt x="78669" y="651577"/>
                </a:lnTo>
                <a:lnTo>
                  <a:pt x="78669" y="651577"/>
                </a:lnTo>
                <a:lnTo>
                  <a:pt x="78789" y="650345"/>
                </a:lnTo>
                <a:lnTo>
                  <a:pt x="78789" y="650345"/>
                </a:lnTo>
                <a:lnTo>
                  <a:pt x="78909" y="649358"/>
                </a:lnTo>
                <a:lnTo>
                  <a:pt x="78909" y="649358"/>
                </a:lnTo>
                <a:lnTo>
                  <a:pt x="79148" y="647140"/>
                </a:lnTo>
                <a:lnTo>
                  <a:pt x="79148" y="647140"/>
                </a:lnTo>
                <a:lnTo>
                  <a:pt x="79148" y="647140"/>
                </a:lnTo>
                <a:lnTo>
                  <a:pt x="79148" y="647140"/>
                </a:lnTo>
                <a:lnTo>
                  <a:pt x="77831" y="637525"/>
                </a:lnTo>
                <a:lnTo>
                  <a:pt x="77831" y="637525"/>
                </a:lnTo>
                <a:lnTo>
                  <a:pt x="77831" y="637279"/>
                </a:lnTo>
                <a:lnTo>
                  <a:pt x="77831" y="637279"/>
                </a:lnTo>
                <a:lnTo>
                  <a:pt x="77831" y="637155"/>
                </a:lnTo>
                <a:lnTo>
                  <a:pt x="77831" y="637155"/>
                </a:lnTo>
                <a:lnTo>
                  <a:pt x="65617" y="632718"/>
                </a:lnTo>
                <a:lnTo>
                  <a:pt x="65498" y="632225"/>
                </a:lnTo>
                <a:lnTo>
                  <a:pt x="65498" y="632225"/>
                </a:lnTo>
                <a:lnTo>
                  <a:pt x="65498" y="631855"/>
                </a:lnTo>
                <a:lnTo>
                  <a:pt x="65498" y="631855"/>
                </a:lnTo>
                <a:lnTo>
                  <a:pt x="65498" y="631608"/>
                </a:lnTo>
                <a:lnTo>
                  <a:pt x="65498" y="631608"/>
                </a:lnTo>
                <a:lnTo>
                  <a:pt x="64420" y="615584"/>
                </a:lnTo>
                <a:lnTo>
                  <a:pt x="64420" y="615584"/>
                </a:lnTo>
                <a:lnTo>
                  <a:pt x="60948" y="577988"/>
                </a:lnTo>
                <a:lnTo>
                  <a:pt x="60948" y="577988"/>
                </a:lnTo>
                <a:lnTo>
                  <a:pt x="60588" y="575153"/>
                </a:lnTo>
                <a:lnTo>
                  <a:pt x="60588" y="575153"/>
                </a:lnTo>
                <a:lnTo>
                  <a:pt x="60229" y="573427"/>
                </a:lnTo>
                <a:lnTo>
                  <a:pt x="60229" y="573427"/>
                </a:lnTo>
                <a:lnTo>
                  <a:pt x="60229" y="573181"/>
                </a:lnTo>
                <a:lnTo>
                  <a:pt x="60229" y="573181"/>
                </a:lnTo>
                <a:lnTo>
                  <a:pt x="50410" y="568867"/>
                </a:lnTo>
                <a:lnTo>
                  <a:pt x="50291" y="568497"/>
                </a:lnTo>
                <a:lnTo>
                  <a:pt x="50291" y="568497"/>
                </a:lnTo>
                <a:lnTo>
                  <a:pt x="50291" y="568374"/>
                </a:lnTo>
                <a:lnTo>
                  <a:pt x="50291" y="568374"/>
                </a:lnTo>
                <a:lnTo>
                  <a:pt x="50051" y="565045"/>
                </a:lnTo>
                <a:lnTo>
                  <a:pt x="50051" y="565045"/>
                </a:lnTo>
                <a:lnTo>
                  <a:pt x="50171" y="564799"/>
                </a:lnTo>
                <a:lnTo>
                  <a:pt x="50171" y="564799"/>
                </a:lnTo>
                <a:lnTo>
                  <a:pt x="50051" y="564429"/>
                </a:lnTo>
                <a:lnTo>
                  <a:pt x="50051" y="564429"/>
                </a:lnTo>
                <a:lnTo>
                  <a:pt x="41430" y="560485"/>
                </a:lnTo>
                <a:lnTo>
                  <a:pt x="41071" y="558512"/>
                </a:lnTo>
                <a:lnTo>
                  <a:pt x="41071" y="558512"/>
                </a:lnTo>
                <a:lnTo>
                  <a:pt x="40951" y="558143"/>
                </a:lnTo>
                <a:lnTo>
                  <a:pt x="40951" y="558143"/>
                </a:lnTo>
                <a:lnTo>
                  <a:pt x="40712" y="556787"/>
                </a:lnTo>
                <a:lnTo>
                  <a:pt x="40712" y="556787"/>
                </a:lnTo>
                <a:lnTo>
                  <a:pt x="40113" y="553335"/>
                </a:lnTo>
                <a:lnTo>
                  <a:pt x="40113" y="553335"/>
                </a:lnTo>
                <a:lnTo>
                  <a:pt x="39275" y="548528"/>
                </a:lnTo>
                <a:lnTo>
                  <a:pt x="39275" y="548528"/>
                </a:lnTo>
                <a:lnTo>
                  <a:pt x="38556" y="543844"/>
                </a:lnTo>
                <a:lnTo>
                  <a:pt x="38556" y="543844"/>
                </a:lnTo>
                <a:lnTo>
                  <a:pt x="37958" y="539037"/>
                </a:lnTo>
                <a:lnTo>
                  <a:pt x="37958" y="539037"/>
                </a:lnTo>
                <a:lnTo>
                  <a:pt x="37838" y="538297"/>
                </a:lnTo>
                <a:lnTo>
                  <a:pt x="37838" y="538297"/>
                </a:lnTo>
                <a:lnTo>
                  <a:pt x="33527" y="491826"/>
                </a:lnTo>
                <a:lnTo>
                  <a:pt x="33527" y="491826"/>
                </a:lnTo>
                <a:lnTo>
                  <a:pt x="33527" y="491456"/>
                </a:lnTo>
                <a:lnTo>
                  <a:pt x="33527" y="491456"/>
                </a:lnTo>
                <a:lnTo>
                  <a:pt x="33527" y="491456"/>
                </a:lnTo>
                <a:lnTo>
                  <a:pt x="33527" y="491456"/>
                </a:lnTo>
                <a:lnTo>
                  <a:pt x="14129" y="487265"/>
                </a:lnTo>
                <a:lnTo>
                  <a:pt x="17961" y="461133"/>
                </a:lnTo>
                <a:lnTo>
                  <a:pt x="17961" y="461133"/>
                </a:lnTo>
                <a:lnTo>
                  <a:pt x="22032" y="449300"/>
                </a:lnTo>
                <a:lnTo>
                  <a:pt x="25505" y="437959"/>
                </a:lnTo>
                <a:lnTo>
                  <a:pt x="25505" y="437959"/>
                </a:lnTo>
                <a:lnTo>
                  <a:pt x="28618" y="419470"/>
                </a:lnTo>
                <a:lnTo>
                  <a:pt x="28618" y="419470"/>
                </a:lnTo>
                <a:lnTo>
                  <a:pt x="31731" y="392105"/>
                </a:lnTo>
                <a:lnTo>
                  <a:pt x="31731" y="392105"/>
                </a:lnTo>
                <a:lnTo>
                  <a:pt x="32330" y="385079"/>
                </a:lnTo>
                <a:lnTo>
                  <a:pt x="34365" y="364740"/>
                </a:lnTo>
                <a:lnTo>
                  <a:pt x="33886" y="342922"/>
                </a:lnTo>
                <a:lnTo>
                  <a:pt x="33886" y="342922"/>
                </a:lnTo>
                <a:lnTo>
                  <a:pt x="31611" y="308532"/>
                </a:lnTo>
                <a:lnTo>
                  <a:pt x="31611" y="308532"/>
                </a:lnTo>
                <a:lnTo>
                  <a:pt x="31132" y="268471"/>
                </a:lnTo>
                <a:lnTo>
                  <a:pt x="31132" y="268471"/>
                </a:lnTo>
                <a:lnTo>
                  <a:pt x="32928" y="233956"/>
                </a:lnTo>
                <a:lnTo>
                  <a:pt x="32928" y="233956"/>
                </a:lnTo>
                <a:lnTo>
                  <a:pt x="34365" y="205975"/>
                </a:lnTo>
                <a:lnTo>
                  <a:pt x="34365" y="205975"/>
                </a:lnTo>
                <a:lnTo>
                  <a:pt x="36521" y="182925"/>
                </a:lnTo>
                <a:lnTo>
                  <a:pt x="36521" y="182925"/>
                </a:lnTo>
                <a:lnTo>
                  <a:pt x="35323" y="159998"/>
                </a:lnTo>
                <a:lnTo>
                  <a:pt x="35323" y="159998"/>
                </a:lnTo>
                <a:lnTo>
                  <a:pt x="33767" y="137687"/>
                </a:lnTo>
                <a:lnTo>
                  <a:pt x="33767" y="137687"/>
                </a:lnTo>
                <a:lnTo>
                  <a:pt x="31013" y="114020"/>
                </a:lnTo>
                <a:lnTo>
                  <a:pt x="31013" y="114020"/>
                </a:lnTo>
                <a:lnTo>
                  <a:pt x="28019" y="92572"/>
                </a:lnTo>
                <a:lnTo>
                  <a:pt x="28019" y="92572"/>
                </a:lnTo>
                <a:lnTo>
                  <a:pt x="26223" y="77287"/>
                </a:lnTo>
                <a:lnTo>
                  <a:pt x="26223" y="77287"/>
                </a:lnTo>
                <a:lnTo>
                  <a:pt x="22511" y="42157"/>
                </a:lnTo>
                <a:lnTo>
                  <a:pt x="22511" y="42157"/>
                </a:lnTo>
                <a:lnTo>
                  <a:pt x="11256" y="14792"/>
                </a:lnTo>
                <a:lnTo>
                  <a:pt x="0" y="0"/>
                </a:lnTo>
                <a:lnTo>
                  <a:pt x="0" y="0"/>
                </a:lnTo>
                <a:lnTo>
                  <a:pt x="832791" y="24406"/>
                </a:lnTo>
                <a:lnTo>
                  <a:pt x="965582" y="30200"/>
                </a:lnTo>
                <a:lnTo>
                  <a:pt x="992883" y="32049"/>
                </a:lnTo>
                <a:lnTo>
                  <a:pt x="969773" y="292014"/>
                </a:lnTo>
                <a:lnTo>
                  <a:pt x="940916" y="543228"/>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5" name="ขอบเขตเขตทุ่งครุ"/>
          <p:cNvSpPr/>
          <p:nvPr/>
        </p:nvSpPr>
        <p:spPr>
          <a:xfrm>
            <a:off x="4552200" y="6470280"/>
            <a:ext cx="634320" cy="916200"/>
          </a:xfrm>
          <a:custGeom>
            <a:avLst/>
            <a:gdLst/>
            <a:ahLst/>
            <a:rect l="l" t="t" r="r" b="b"/>
            <a:pathLst>
              <a:path w="634621" h="916720">
                <a:moveTo>
                  <a:pt x="612230" y="242092"/>
                </a:moveTo>
                <a:lnTo>
                  <a:pt x="549965" y="284495"/>
                </a:lnTo>
                <a:lnTo>
                  <a:pt x="549965" y="284495"/>
                </a:lnTo>
                <a:lnTo>
                  <a:pt x="553797" y="321967"/>
                </a:lnTo>
                <a:lnTo>
                  <a:pt x="564693" y="346620"/>
                </a:lnTo>
                <a:lnTo>
                  <a:pt x="564693" y="346620"/>
                </a:lnTo>
                <a:lnTo>
                  <a:pt x="562298" y="350565"/>
                </a:lnTo>
                <a:lnTo>
                  <a:pt x="529729" y="420333"/>
                </a:lnTo>
                <a:lnTo>
                  <a:pt x="529729" y="420333"/>
                </a:lnTo>
                <a:lnTo>
                  <a:pt x="531046" y="424524"/>
                </a:lnTo>
                <a:lnTo>
                  <a:pt x="533082" y="430071"/>
                </a:lnTo>
                <a:lnTo>
                  <a:pt x="533082" y="430071"/>
                </a:lnTo>
                <a:lnTo>
                  <a:pt x="534638" y="438083"/>
                </a:lnTo>
                <a:lnTo>
                  <a:pt x="532842" y="444739"/>
                </a:lnTo>
                <a:lnTo>
                  <a:pt x="532842" y="444739"/>
                </a:lnTo>
                <a:lnTo>
                  <a:pt x="532603" y="454723"/>
                </a:lnTo>
                <a:lnTo>
                  <a:pt x="532603" y="454723"/>
                </a:lnTo>
                <a:lnTo>
                  <a:pt x="535716" y="476788"/>
                </a:lnTo>
                <a:lnTo>
                  <a:pt x="535716" y="476788"/>
                </a:lnTo>
                <a:lnTo>
                  <a:pt x="536914" y="490717"/>
                </a:lnTo>
                <a:lnTo>
                  <a:pt x="536914" y="490717"/>
                </a:lnTo>
                <a:lnTo>
                  <a:pt x="540745" y="505755"/>
                </a:lnTo>
                <a:lnTo>
                  <a:pt x="549845" y="523875"/>
                </a:lnTo>
                <a:lnTo>
                  <a:pt x="549845" y="523875"/>
                </a:lnTo>
                <a:lnTo>
                  <a:pt x="550085" y="533736"/>
                </a:lnTo>
                <a:lnTo>
                  <a:pt x="550085" y="533736"/>
                </a:lnTo>
                <a:lnTo>
                  <a:pt x="549366" y="540762"/>
                </a:lnTo>
                <a:lnTo>
                  <a:pt x="549366" y="540762"/>
                </a:lnTo>
                <a:lnTo>
                  <a:pt x="547930" y="548528"/>
                </a:lnTo>
                <a:lnTo>
                  <a:pt x="552240" y="556417"/>
                </a:lnTo>
                <a:lnTo>
                  <a:pt x="552240" y="556417"/>
                </a:lnTo>
                <a:lnTo>
                  <a:pt x="554276" y="566401"/>
                </a:lnTo>
                <a:lnTo>
                  <a:pt x="554276" y="566401"/>
                </a:lnTo>
                <a:lnTo>
                  <a:pt x="554755" y="576509"/>
                </a:lnTo>
                <a:lnTo>
                  <a:pt x="554755" y="576509"/>
                </a:lnTo>
                <a:lnTo>
                  <a:pt x="556431" y="587233"/>
                </a:lnTo>
                <a:lnTo>
                  <a:pt x="556431" y="587233"/>
                </a:lnTo>
                <a:lnTo>
                  <a:pt x="557509" y="595245"/>
                </a:lnTo>
                <a:lnTo>
                  <a:pt x="557509" y="595245"/>
                </a:lnTo>
                <a:lnTo>
                  <a:pt x="560023" y="603874"/>
                </a:lnTo>
                <a:lnTo>
                  <a:pt x="603010" y="654905"/>
                </a:lnTo>
                <a:lnTo>
                  <a:pt x="603010" y="654905"/>
                </a:lnTo>
                <a:lnTo>
                  <a:pt x="603130" y="655892"/>
                </a:lnTo>
                <a:lnTo>
                  <a:pt x="603130" y="655892"/>
                </a:lnTo>
                <a:lnTo>
                  <a:pt x="603130" y="656385"/>
                </a:lnTo>
                <a:lnTo>
                  <a:pt x="603130" y="656385"/>
                </a:lnTo>
                <a:lnTo>
                  <a:pt x="605764" y="699650"/>
                </a:lnTo>
                <a:lnTo>
                  <a:pt x="522305" y="729850"/>
                </a:lnTo>
                <a:lnTo>
                  <a:pt x="497878" y="784087"/>
                </a:lnTo>
                <a:lnTo>
                  <a:pt x="497878" y="784087"/>
                </a:lnTo>
                <a:lnTo>
                  <a:pt x="497280" y="788771"/>
                </a:lnTo>
                <a:lnTo>
                  <a:pt x="497280" y="788771"/>
                </a:lnTo>
                <a:lnTo>
                  <a:pt x="496801" y="791483"/>
                </a:lnTo>
                <a:lnTo>
                  <a:pt x="496801" y="791483"/>
                </a:lnTo>
                <a:lnTo>
                  <a:pt x="496561" y="795057"/>
                </a:lnTo>
                <a:lnTo>
                  <a:pt x="496561" y="795057"/>
                </a:lnTo>
                <a:lnTo>
                  <a:pt x="496441" y="796660"/>
                </a:lnTo>
                <a:lnTo>
                  <a:pt x="347246" y="823778"/>
                </a:lnTo>
                <a:lnTo>
                  <a:pt x="347246" y="823778"/>
                </a:lnTo>
                <a:lnTo>
                  <a:pt x="347246" y="823901"/>
                </a:lnTo>
                <a:lnTo>
                  <a:pt x="344132" y="834749"/>
                </a:lnTo>
                <a:lnTo>
                  <a:pt x="344132" y="834749"/>
                </a:lnTo>
                <a:lnTo>
                  <a:pt x="343414" y="840296"/>
                </a:lnTo>
                <a:lnTo>
                  <a:pt x="343414" y="840296"/>
                </a:lnTo>
                <a:lnTo>
                  <a:pt x="342815" y="847568"/>
                </a:lnTo>
                <a:lnTo>
                  <a:pt x="342815" y="847568"/>
                </a:lnTo>
                <a:lnTo>
                  <a:pt x="342456" y="853485"/>
                </a:lnTo>
                <a:lnTo>
                  <a:pt x="342456" y="853485"/>
                </a:lnTo>
                <a:lnTo>
                  <a:pt x="342097" y="861250"/>
                </a:lnTo>
                <a:lnTo>
                  <a:pt x="289411" y="916720"/>
                </a:lnTo>
                <a:lnTo>
                  <a:pt x="138300" y="845719"/>
                </a:lnTo>
                <a:lnTo>
                  <a:pt x="135665" y="833886"/>
                </a:lnTo>
                <a:lnTo>
                  <a:pt x="135665" y="833886"/>
                </a:lnTo>
                <a:lnTo>
                  <a:pt x="133390" y="817738"/>
                </a:lnTo>
                <a:lnTo>
                  <a:pt x="133390" y="817738"/>
                </a:lnTo>
                <a:lnTo>
                  <a:pt x="129798" y="800728"/>
                </a:lnTo>
                <a:lnTo>
                  <a:pt x="129798" y="800728"/>
                </a:lnTo>
                <a:lnTo>
                  <a:pt x="84536" y="776198"/>
                </a:lnTo>
                <a:lnTo>
                  <a:pt x="83818" y="771760"/>
                </a:lnTo>
                <a:lnTo>
                  <a:pt x="83818" y="771760"/>
                </a:lnTo>
                <a:lnTo>
                  <a:pt x="84536" y="762269"/>
                </a:lnTo>
                <a:lnTo>
                  <a:pt x="84536" y="762269"/>
                </a:lnTo>
                <a:lnTo>
                  <a:pt x="88009" y="746861"/>
                </a:lnTo>
                <a:lnTo>
                  <a:pt x="88009" y="746861"/>
                </a:lnTo>
                <a:lnTo>
                  <a:pt x="86931" y="741560"/>
                </a:lnTo>
                <a:lnTo>
                  <a:pt x="86931" y="741560"/>
                </a:lnTo>
                <a:lnTo>
                  <a:pt x="84776" y="737616"/>
                </a:lnTo>
                <a:lnTo>
                  <a:pt x="80705" y="735890"/>
                </a:lnTo>
                <a:lnTo>
                  <a:pt x="136384" y="576632"/>
                </a:lnTo>
                <a:lnTo>
                  <a:pt x="20954" y="466310"/>
                </a:lnTo>
                <a:lnTo>
                  <a:pt x="54003" y="330966"/>
                </a:lnTo>
                <a:lnTo>
                  <a:pt x="0" y="38089"/>
                </a:lnTo>
                <a:lnTo>
                  <a:pt x="66575" y="0"/>
                </a:lnTo>
                <a:lnTo>
                  <a:pt x="252412" y="68412"/>
                </a:lnTo>
                <a:lnTo>
                  <a:pt x="271809" y="20955"/>
                </a:lnTo>
                <a:lnTo>
                  <a:pt x="319346" y="38828"/>
                </a:lnTo>
                <a:lnTo>
                  <a:pt x="345569" y="96640"/>
                </a:lnTo>
                <a:lnTo>
                  <a:pt x="387119" y="29214"/>
                </a:lnTo>
                <a:lnTo>
                  <a:pt x="496202" y="69028"/>
                </a:lnTo>
                <a:lnTo>
                  <a:pt x="631628" y="12820"/>
                </a:lnTo>
                <a:lnTo>
                  <a:pt x="631628" y="12820"/>
                </a:lnTo>
                <a:lnTo>
                  <a:pt x="633424" y="22681"/>
                </a:lnTo>
                <a:lnTo>
                  <a:pt x="633424" y="22681"/>
                </a:lnTo>
                <a:lnTo>
                  <a:pt x="633903" y="36856"/>
                </a:lnTo>
                <a:lnTo>
                  <a:pt x="633903" y="36856"/>
                </a:lnTo>
                <a:lnTo>
                  <a:pt x="634621" y="47087"/>
                </a:lnTo>
                <a:lnTo>
                  <a:pt x="634621" y="47087"/>
                </a:lnTo>
                <a:lnTo>
                  <a:pt x="634621" y="61139"/>
                </a:lnTo>
                <a:lnTo>
                  <a:pt x="634621" y="61139"/>
                </a:lnTo>
                <a:lnTo>
                  <a:pt x="633903" y="72849"/>
                </a:lnTo>
                <a:lnTo>
                  <a:pt x="633903" y="72849"/>
                </a:lnTo>
                <a:lnTo>
                  <a:pt x="631508" y="89244"/>
                </a:lnTo>
                <a:lnTo>
                  <a:pt x="631508" y="89244"/>
                </a:lnTo>
                <a:lnTo>
                  <a:pt x="628634" y="103419"/>
                </a:lnTo>
                <a:lnTo>
                  <a:pt x="628634" y="103419"/>
                </a:lnTo>
                <a:lnTo>
                  <a:pt x="627197" y="113773"/>
                </a:lnTo>
                <a:lnTo>
                  <a:pt x="627197" y="113773"/>
                </a:lnTo>
                <a:lnTo>
                  <a:pt x="626479" y="129181"/>
                </a:lnTo>
                <a:lnTo>
                  <a:pt x="626479" y="129181"/>
                </a:lnTo>
                <a:lnTo>
                  <a:pt x="625761" y="137194"/>
                </a:lnTo>
                <a:lnTo>
                  <a:pt x="625761" y="137194"/>
                </a:lnTo>
                <a:lnTo>
                  <a:pt x="624084" y="147178"/>
                </a:lnTo>
                <a:lnTo>
                  <a:pt x="624084" y="147178"/>
                </a:lnTo>
                <a:lnTo>
                  <a:pt x="622528" y="162956"/>
                </a:lnTo>
                <a:lnTo>
                  <a:pt x="622528" y="162956"/>
                </a:lnTo>
                <a:lnTo>
                  <a:pt x="622528" y="175652"/>
                </a:lnTo>
                <a:lnTo>
                  <a:pt x="622528" y="175652"/>
                </a:lnTo>
                <a:lnTo>
                  <a:pt x="621570" y="187486"/>
                </a:lnTo>
                <a:lnTo>
                  <a:pt x="621570" y="187486"/>
                </a:lnTo>
                <a:lnTo>
                  <a:pt x="619654" y="199689"/>
                </a:lnTo>
                <a:lnTo>
                  <a:pt x="619654" y="199689"/>
                </a:lnTo>
                <a:lnTo>
                  <a:pt x="617618" y="212878"/>
                </a:lnTo>
                <a:lnTo>
                  <a:pt x="617618" y="212878"/>
                </a:lnTo>
                <a:lnTo>
                  <a:pt x="616660" y="227423"/>
                </a:lnTo>
                <a:lnTo>
                  <a:pt x="616660" y="227423"/>
                </a:lnTo>
                <a:lnTo>
                  <a:pt x="614744" y="236668"/>
                </a:lnTo>
                <a:lnTo>
                  <a:pt x="614744" y="236668"/>
                </a:lnTo>
                <a:lnTo>
                  <a:pt x="614265" y="238640"/>
                </a:lnTo>
                <a:lnTo>
                  <a:pt x="614265" y="238640"/>
                </a:lnTo>
                <a:lnTo>
                  <a:pt x="614265" y="238764"/>
                </a:lnTo>
                <a:lnTo>
                  <a:pt x="612230" y="242092"/>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6" name="ขอบเขตเขตธนบุรี"/>
          <p:cNvSpPr/>
          <p:nvPr/>
        </p:nvSpPr>
        <p:spPr>
          <a:xfrm>
            <a:off x="4501800" y="5481000"/>
            <a:ext cx="389880" cy="588240"/>
          </a:xfrm>
          <a:custGeom>
            <a:avLst/>
            <a:gdLst/>
            <a:ahLst/>
            <a:rect l="l" t="t" r="r" b="b"/>
            <a:pathLst>
              <a:path w="390352" h="588466">
                <a:moveTo>
                  <a:pt x="390352" y="458668"/>
                </a:moveTo>
                <a:lnTo>
                  <a:pt x="287136" y="584891"/>
                </a:lnTo>
                <a:lnTo>
                  <a:pt x="197930" y="588466"/>
                </a:lnTo>
                <a:lnTo>
                  <a:pt x="195894" y="579591"/>
                </a:lnTo>
                <a:lnTo>
                  <a:pt x="130756" y="414169"/>
                </a:lnTo>
                <a:lnTo>
                  <a:pt x="0" y="406034"/>
                </a:lnTo>
                <a:lnTo>
                  <a:pt x="37000" y="325912"/>
                </a:lnTo>
                <a:lnTo>
                  <a:pt x="66096" y="244064"/>
                </a:lnTo>
                <a:lnTo>
                  <a:pt x="149795" y="240983"/>
                </a:lnTo>
                <a:lnTo>
                  <a:pt x="233253" y="182309"/>
                </a:lnTo>
                <a:lnTo>
                  <a:pt x="259117" y="78150"/>
                </a:lnTo>
                <a:lnTo>
                  <a:pt x="308929" y="0"/>
                </a:lnTo>
                <a:lnTo>
                  <a:pt x="328207" y="18983"/>
                </a:lnTo>
                <a:lnTo>
                  <a:pt x="388556" y="41417"/>
                </a:lnTo>
                <a:lnTo>
                  <a:pt x="359339" y="91955"/>
                </a:lnTo>
                <a:lnTo>
                  <a:pt x="342695" y="141754"/>
                </a:lnTo>
                <a:lnTo>
                  <a:pt x="326890" y="189335"/>
                </a:lnTo>
                <a:lnTo>
                  <a:pt x="322220" y="263293"/>
                </a:lnTo>
                <a:lnTo>
                  <a:pt x="322579" y="266498"/>
                </a:lnTo>
                <a:lnTo>
                  <a:pt x="390352" y="458668"/>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7" name="ขอบเขตเขตบางกอกน้อย"/>
          <p:cNvSpPr/>
          <p:nvPr/>
        </p:nvSpPr>
        <p:spPr>
          <a:xfrm>
            <a:off x="4351320" y="4922280"/>
            <a:ext cx="448560" cy="548640"/>
          </a:xfrm>
          <a:custGeom>
            <a:avLst/>
            <a:gdLst/>
            <a:ahLst/>
            <a:rect l="l" t="t" r="r" b="b"/>
            <a:pathLst>
              <a:path w="449024" h="549021">
                <a:moveTo>
                  <a:pt x="369158" y="504522"/>
                </a:moveTo>
                <a:lnTo>
                  <a:pt x="317311" y="514384"/>
                </a:lnTo>
                <a:lnTo>
                  <a:pt x="203797" y="549021"/>
                </a:lnTo>
                <a:lnTo>
                  <a:pt x="102976" y="534106"/>
                </a:lnTo>
                <a:lnTo>
                  <a:pt x="0" y="269087"/>
                </a:lnTo>
                <a:lnTo>
                  <a:pt x="40712" y="140029"/>
                </a:lnTo>
                <a:lnTo>
                  <a:pt x="166558" y="98735"/>
                </a:lnTo>
                <a:lnTo>
                  <a:pt x="158655" y="79506"/>
                </a:lnTo>
                <a:lnTo>
                  <a:pt x="149914" y="8382"/>
                </a:lnTo>
                <a:lnTo>
                  <a:pt x="180807" y="0"/>
                </a:lnTo>
                <a:lnTo>
                  <a:pt x="342336" y="178241"/>
                </a:lnTo>
                <a:lnTo>
                  <a:pt x="449024" y="317283"/>
                </a:lnTo>
                <a:lnTo>
                  <a:pt x="429507" y="341936"/>
                </a:lnTo>
                <a:lnTo>
                  <a:pt x="416814" y="485786"/>
                </a:lnTo>
                <a:lnTo>
                  <a:pt x="369158" y="504522"/>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8" name="ขอบเขตเขตบางกอกใหญ่"/>
          <p:cNvSpPr/>
          <p:nvPr/>
        </p:nvSpPr>
        <p:spPr>
          <a:xfrm>
            <a:off x="4454280" y="5408280"/>
            <a:ext cx="356040" cy="316800"/>
          </a:xfrm>
          <a:custGeom>
            <a:avLst/>
            <a:gdLst/>
            <a:ahLst/>
            <a:rect l="l" t="t" r="r" b="b"/>
            <a:pathLst>
              <a:path w="356466" h="317037">
                <a:moveTo>
                  <a:pt x="306654" y="151123"/>
                </a:moveTo>
                <a:lnTo>
                  <a:pt x="280790" y="255281"/>
                </a:lnTo>
                <a:lnTo>
                  <a:pt x="197331" y="313955"/>
                </a:lnTo>
                <a:lnTo>
                  <a:pt x="113633" y="317037"/>
                </a:lnTo>
                <a:lnTo>
                  <a:pt x="17003" y="210413"/>
                </a:lnTo>
                <a:lnTo>
                  <a:pt x="0" y="48320"/>
                </a:lnTo>
                <a:lnTo>
                  <a:pt x="100821" y="63235"/>
                </a:lnTo>
                <a:lnTo>
                  <a:pt x="214334" y="28597"/>
                </a:lnTo>
                <a:lnTo>
                  <a:pt x="266182" y="18736"/>
                </a:lnTo>
                <a:lnTo>
                  <a:pt x="313838" y="0"/>
                </a:lnTo>
                <a:lnTo>
                  <a:pt x="356466" y="72973"/>
                </a:lnTo>
                <a:lnTo>
                  <a:pt x="306654" y="151123"/>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9" name="ขอบเขตเขตบางกะปิ"/>
          <p:cNvSpPr/>
          <p:nvPr/>
        </p:nvSpPr>
        <p:spPr>
          <a:xfrm>
            <a:off x="6118200" y="4534200"/>
            <a:ext cx="932400" cy="996120"/>
          </a:xfrm>
          <a:custGeom>
            <a:avLst/>
            <a:gdLst/>
            <a:ahLst/>
            <a:rect l="l" t="t" r="r" b="b"/>
            <a:pathLst>
              <a:path w="932893" h="996472">
                <a:moveTo>
                  <a:pt x="781782" y="891081"/>
                </a:moveTo>
                <a:lnTo>
                  <a:pt x="695449" y="996472"/>
                </a:lnTo>
                <a:lnTo>
                  <a:pt x="418730" y="852622"/>
                </a:lnTo>
                <a:lnTo>
                  <a:pt x="117345" y="930402"/>
                </a:lnTo>
                <a:lnTo>
                  <a:pt x="0" y="876042"/>
                </a:lnTo>
                <a:lnTo>
                  <a:pt x="35802" y="840419"/>
                </a:lnTo>
                <a:lnTo>
                  <a:pt x="170749" y="716168"/>
                </a:lnTo>
                <a:lnTo>
                  <a:pt x="352035" y="691145"/>
                </a:lnTo>
                <a:lnTo>
                  <a:pt x="334553" y="376574"/>
                </a:lnTo>
                <a:lnTo>
                  <a:pt x="297793" y="383723"/>
                </a:lnTo>
                <a:lnTo>
                  <a:pt x="270253" y="234203"/>
                </a:lnTo>
                <a:lnTo>
                  <a:pt x="163804" y="239996"/>
                </a:lnTo>
                <a:lnTo>
                  <a:pt x="269534" y="24530"/>
                </a:lnTo>
                <a:lnTo>
                  <a:pt x="362572" y="0"/>
                </a:lnTo>
                <a:lnTo>
                  <a:pt x="498118" y="398392"/>
                </a:lnTo>
                <a:lnTo>
                  <a:pt x="564693" y="425756"/>
                </a:lnTo>
                <a:lnTo>
                  <a:pt x="659647" y="598943"/>
                </a:lnTo>
                <a:lnTo>
                  <a:pt x="761785" y="541255"/>
                </a:lnTo>
                <a:lnTo>
                  <a:pt x="822613" y="775951"/>
                </a:lnTo>
                <a:lnTo>
                  <a:pt x="932893" y="830681"/>
                </a:lnTo>
                <a:lnTo>
                  <a:pt x="781782" y="891081"/>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0" name="ขอบเขตเขตบางขุนเทียน"/>
          <p:cNvSpPr/>
          <p:nvPr/>
        </p:nvSpPr>
        <p:spPr>
          <a:xfrm>
            <a:off x="3440520" y="6218280"/>
            <a:ext cx="1247760" cy="2410560"/>
          </a:xfrm>
          <a:custGeom>
            <a:avLst/>
            <a:gdLst/>
            <a:ahLst/>
            <a:rect l="l" t="t" r="r" b="b"/>
            <a:pathLst>
              <a:path w="1248288" h="2410934">
                <a:moveTo>
                  <a:pt x="1044491" y="331336"/>
                </a:moveTo>
                <a:lnTo>
                  <a:pt x="1111904" y="289919"/>
                </a:lnTo>
                <a:lnTo>
                  <a:pt x="1165907" y="582796"/>
                </a:lnTo>
                <a:lnTo>
                  <a:pt x="1132859" y="718140"/>
                </a:lnTo>
                <a:lnTo>
                  <a:pt x="1248288" y="828462"/>
                </a:lnTo>
                <a:lnTo>
                  <a:pt x="1192609" y="987720"/>
                </a:lnTo>
                <a:lnTo>
                  <a:pt x="1191891" y="987474"/>
                </a:lnTo>
                <a:lnTo>
                  <a:pt x="1174768" y="995116"/>
                </a:lnTo>
                <a:lnTo>
                  <a:pt x="1174768" y="995116"/>
                </a:lnTo>
                <a:lnTo>
                  <a:pt x="1174049" y="999677"/>
                </a:lnTo>
                <a:lnTo>
                  <a:pt x="1148664" y="1043559"/>
                </a:lnTo>
                <a:lnTo>
                  <a:pt x="1148664" y="1043559"/>
                </a:lnTo>
                <a:lnTo>
                  <a:pt x="1147946" y="1056132"/>
                </a:lnTo>
                <a:lnTo>
                  <a:pt x="1151419" y="1070924"/>
                </a:lnTo>
                <a:lnTo>
                  <a:pt x="1151419" y="1070924"/>
                </a:lnTo>
                <a:lnTo>
                  <a:pt x="1150221" y="1075361"/>
                </a:lnTo>
                <a:lnTo>
                  <a:pt x="1107833" y="1098165"/>
                </a:lnTo>
                <a:lnTo>
                  <a:pt x="1073228" y="1051325"/>
                </a:lnTo>
                <a:lnTo>
                  <a:pt x="1073827" y="1041587"/>
                </a:lnTo>
                <a:lnTo>
                  <a:pt x="1073827" y="1041587"/>
                </a:lnTo>
                <a:lnTo>
                  <a:pt x="1075384" y="1034807"/>
                </a:lnTo>
                <a:lnTo>
                  <a:pt x="1075384" y="1034807"/>
                </a:lnTo>
                <a:lnTo>
                  <a:pt x="1066882" y="1012743"/>
                </a:lnTo>
                <a:lnTo>
                  <a:pt x="1064966" y="998937"/>
                </a:lnTo>
                <a:lnTo>
                  <a:pt x="1064966" y="998937"/>
                </a:lnTo>
                <a:lnTo>
                  <a:pt x="1067122" y="985255"/>
                </a:lnTo>
                <a:lnTo>
                  <a:pt x="1067122" y="985255"/>
                </a:lnTo>
                <a:lnTo>
                  <a:pt x="1069277" y="976133"/>
                </a:lnTo>
                <a:lnTo>
                  <a:pt x="1069277" y="976133"/>
                </a:lnTo>
                <a:lnTo>
                  <a:pt x="1069876" y="971696"/>
                </a:lnTo>
                <a:lnTo>
                  <a:pt x="1069876" y="971696"/>
                </a:lnTo>
                <a:lnTo>
                  <a:pt x="925709" y="952959"/>
                </a:lnTo>
                <a:lnTo>
                  <a:pt x="898169" y="998321"/>
                </a:lnTo>
                <a:lnTo>
                  <a:pt x="898169" y="998321"/>
                </a:lnTo>
                <a:lnTo>
                  <a:pt x="895415" y="1013113"/>
                </a:lnTo>
                <a:lnTo>
                  <a:pt x="895415" y="1013113"/>
                </a:lnTo>
                <a:lnTo>
                  <a:pt x="893858" y="1021002"/>
                </a:lnTo>
                <a:lnTo>
                  <a:pt x="893858" y="1021002"/>
                </a:lnTo>
                <a:lnTo>
                  <a:pt x="893020" y="1029260"/>
                </a:lnTo>
                <a:lnTo>
                  <a:pt x="826684" y="1187039"/>
                </a:lnTo>
                <a:lnTo>
                  <a:pt x="826684" y="1187039"/>
                </a:lnTo>
                <a:lnTo>
                  <a:pt x="827642" y="1202940"/>
                </a:lnTo>
                <a:lnTo>
                  <a:pt x="827642" y="1202940"/>
                </a:lnTo>
                <a:lnTo>
                  <a:pt x="828001" y="1218102"/>
                </a:lnTo>
                <a:lnTo>
                  <a:pt x="828001" y="1218102"/>
                </a:lnTo>
                <a:lnTo>
                  <a:pt x="805011" y="1557696"/>
                </a:lnTo>
                <a:lnTo>
                  <a:pt x="805011" y="1557696"/>
                </a:lnTo>
                <a:lnTo>
                  <a:pt x="804532" y="1563859"/>
                </a:lnTo>
                <a:lnTo>
                  <a:pt x="804532" y="1563859"/>
                </a:lnTo>
                <a:lnTo>
                  <a:pt x="803814" y="1576432"/>
                </a:lnTo>
                <a:lnTo>
                  <a:pt x="803814" y="1576432"/>
                </a:lnTo>
                <a:lnTo>
                  <a:pt x="803454" y="1586910"/>
                </a:lnTo>
                <a:lnTo>
                  <a:pt x="803454" y="1586910"/>
                </a:lnTo>
                <a:lnTo>
                  <a:pt x="803454" y="1596771"/>
                </a:lnTo>
                <a:lnTo>
                  <a:pt x="803454" y="1596771"/>
                </a:lnTo>
                <a:lnTo>
                  <a:pt x="805490" y="1607249"/>
                </a:lnTo>
                <a:lnTo>
                  <a:pt x="805490" y="1607249"/>
                </a:lnTo>
                <a:lnTo>
                  <a:pt x="825008" y="1748017"/>
                </a:lnTo>
                <a:lnTo>
                  <a:pt x="825008" y="1748017"/>
                </a:lnTo>
                <a:lnTo>
                  <a:pt x="825247" y="1748880"/>
                </a:lnTo>
                <a:lnTo>
                  <a:pt x="825247" y="1748880"/>
                </a:lnTo>
                <a:lnTo>
                  <a:pt x="918285" y="2220860"/>
                </a:lnTo>
                <a:lnTo>
                  <a:pt x="942951" y="2326128"/>
                </a:lnTo>
                <a:lnTo>
                  <a:pt x="962469" y="2409332"/>
                </a:lnTo>
                <a:lnTo>
                  <a:pt x="963187" y="2410934"/>
                </a:lnTo>
                <a:lnTo>
                  <a:pt x="963187" y="2410934"/>
                </a:lnTo>
                <a:lnTo>
                  <a:pt x="398255" y="2355465"/>
                </a:lnTo>
                <a:lnTo>
                  <a:pt x="373588" y="2240089"/>
                </a:lnTo>
                <a:lnTo>
                  <a:pt x="373588" y="2240089"/>
                </a:lnTo>
                <a:lnTo>
                  <a:pt x="353831" y="2197317"/>
                </a:lnTo>
                <a:lnTo>
                  <a:pt x="353831" y="2197193"/>
                </a:lnTo>
                <a:lnTo>
                  <a:pt x="353233" y="2195468"/>
                </a:lnTo>
                <a:lnTo>
                  <a:pt x="351436" y="2188688"/>
                </a:lnTo>
                <a:lnTo>
                  <a:pt x="350838" y="2185853"/>
                </a:lnTo>
                <a:lnTo>
                  <a:pt x="350838" y="2185853"/>
                </a:lnTo>
                <a:lnTo>
                  <a:pt x="350239" y="2182895"/>
                </a:lnTo>
                <a:lnTo>
                  <a:pt x="350239" y="2182895"/>
                </a:lnTo>
                <a:lnTo>
                  <a:pt x="349760" y="2179936"/>
                </a:lnTo>
                <a:lnTo>
                  <a:pt x="349760" y="2179936"/>
                </a:lnTo>
                <a:lnTo>
                  <a:pt x="349401" y="2176978"/>
                </a:lnTo>
                <a:lnTo>
                  <a:pt x="349401" y="2176978"/>
                </a:lnTo>
                <a:lnTo>
                  <a:pt x="349161" y="2174513"/>
                </a:lnTo>
                <a:lnTo>
                  <a:pt x="349161" y="2174513"/>
                </a:lnTo>
                <a:lnTo>
                  <a:pt x="349042" y="2172171"/>
                </a:lnTo>
                <a:lnTo>
                  <a:pt x="349042" y="2172171"/>
                </a:lnTo>
                <a:lnTo>
                  <a:pt x="348682" y="2165884"/>
                </a:lnTo>
                <a:lnTo>
                  <a:pt x="348682" y="2165884"/>
                </a:lnTo>
                <a:lnTo>
                  <a:pt x="348443" y="2159598"/>
                </a:lnTo>
                <a:lnTo>
                  <a:pt x="348443" y="2159598"/>
                </a:lnTo>
                <a:lnTo>
                  <a:pt x="348323" y="2153311"/>
                </a:lnTo>
                <a:lnTo>
                  <a:pt x="348323" y="2153311"/>
                </a:lnTo>
                <a:lnTo>
                  <a:pt x="348204" y="2147025"/>
                </a:lnTo>
                <a:lnTo>
                  <a:pt x="348204" y="2147025"/>
                </a:lnTo>
                <a:lnTo>
                  <a:pt x="348323" y="2140738"/>
                </a:lnTo>
                <a:lnTo>
                  <a:pt x="348323" y="2140738"/>
                </a:lnTo>
                <a:lnTo>
                  <a:pt x="348443" y="2134452"/>
                </a:lnTo>
                <a:lnTo>
                  <a:pt x="348443" y="2134452"/>
                </a:lnTo>
                <a:lnTo>
                  <a:pt x="348443" y="2132972"/>
                </a:lnTo>
                <a:lnTo>
                  <a:pt x="348443" y="2132972"/>
                </a:lnTo>
                <a:lnTo>
                  <a:pt x="348443" y="2110292"/>
                </a:lnTo>
                <a:lnTo>
                  <a:pt x="348443" y="2110292"/>
                </a:lnTo>
                <a:lnTo>
                  <a:pt x="348204" y="2084160"/>
                </a:lnTo>
                <a:lnTo>
                  <a:pt x="348204" y="2084160"/>
                </a:lnTo>
                <a:lnTo>
                  <a:pt x="347964" y="2058151"/>
                </a:lnTo>
                <a:lnTo>
                  <a:pt x="347964" y="2058151"/>
                </a:lnTo>
                <a:lnTo>
                  <a:pt x="347964" y="2057658"/>
                </a:lnTo>
                <a:lnTo>
                  <a:pt x="347964" y="2057658"/>
                </a:lnTo>
                <a:lnTo>
                  <a:pt x="347844" y="2056425"/>
                </a:lnTo>
                <a:lnTo>
                  <a:pt x="347844" y="2056425"/>
                </a:lnTo>
                <a:lnTo>
                  <a:pt x="347605" y="2051125"/>
                </a:lnTo>
                <a:lnTo>
                  <a:pt x="347605" y="2051125"/>
                </a:lnTo>
                <a:lnTo>
                  <a:pt x="347365" y="2045824"/>
                </a:lnTo>
                <a:lnTo>
                  <a:pt x="347365" y="2045824"/>
                </a:lnTo>
                <a:lnTo>
                  <a:pt x="347126" y="2040524"/>
                </a:lnTo>
                <a:lnTo>
                  <a:pt x="347126" y="2040524"/>
                </a:lnTo>
                <a:lnTo>
                  <a:pt x="347126" y="2035347"/>
                </a:lnTo>
                <a:lnTo>
                  <a:pt x="347126" y="2035347"/>
                </a:lnTo>
                <a:lnTo>
                  <a:pt x="347126" y="2030046"/>
                </a:lnTo>
                <a:lnTo>
                  <a:pt x="347126" y="2030046"/>
                </a:lnTo>
                <a:lnTo>
                  <a:pt x="347246" y="2024746"/>
                </a:lnTo>
                <a:lnTo>
                  <a:pt x="347246" y="2024746"/>
                </a:lnTo>
                <a:lnTo>
                  <a:pt x="347485" y="2019446"/>
                </a:lnTo>
                <a:lnTo>
                  <a:pt x="347485" y="2019446"/>
                </a:lnTo>
                <a:lnTo>
                  <a:pt x="347485" y="2018829"/>
                </a:lnTo>
                <a:lnTo>
                  <a:pt x="347485" y="2018829"/>
                </a:lnTo>
                <a:lnTo>
                  <a:pt x="347485" y="2015871"/>
                </a:lnTo>
                <a:lnTo>
                  <a:pt x="347485" y="2015871"/>
                </a:lnTo>
                <a:lnTo>
                  <a:pt x="347725" y="2012789"/>
                </a:lnTo>
                <a:lnTo>
                  <a:pt x="347725" y="2012789"/>
                </a:lnTo>
                <a:lnTo>
                  <a:pt x="347964" y="2009831"/>
                </a:lnTo>
                <a:lnTo>
                  <a:pt x="347964" y="2009831"/>
                </a:lnTo>
                <a:lnTo>
                  <a:pt x="348204" y="2007242"/>
                </a:lnTo>
                <a:lnTo>
                  <a:pt x="348204" y="2007242"/>
                </a:lnTo>
                <a:lnTo>
                  <a:pt x="348204" y="2006873"/>
                </a:lnTo>
                <a:lnTo>
                  <a:pt x="348204" y="2006873"/>
                </a:lnTo>
                <a:lnTo>
                  <a:pt x="348682" y="2003914"/>
                </a:lnTo>
                <a:lnTo>
                  <a:pt x="348682" y="2003914"/>
                </a:lnTo>
                <a:lnTo>
                  <a:pt x="349161" y="2000956"/>
                </a:lnTo>
                <a:lnTo>
                  <a:pt x="349161" y="2000956"/>
                </a:lnTo>
                <a:lnTo>
                  <a:pt x="349760" y="1997998"/>
                </a:lnTo>
                <a:lnTo>
                  <a:pt x="349760" y="1997998"/>
                </a:lnTo>
                <a:lnTo>
                  <a:pt x="350000" y="1996888"/>
                </a:lnTo>
                <a:lnTo>
                  <a:pt x="350479" y="1995163"/>
                </a:lnTo>
                <a:lnTo>
                  <a:pt x="357783" y="1972852"/>
                </a:lnTo>
                <a:lnTo>
                  <a:pt x="358262" y="1970633"/>
                </a:lnTo>
                <a:lnTo>
                  <a:pt x="358262" y="1970633"/>
                </a:lnTo>
                <a:lnTo>
                  <a:pt x="358741" y="1968537"/>
                </a:lnTo>
                <a:lnTo>
                  <a:pt x="358741" y="1968537"/>
                </a:lnTo>
                <a:lnTo>
                  <a:pt x="358741" y="1968044"/>
                </a:lnTo>
                <a:lnTo>
                  <a:pt x="358741" y="1968044"/>
                </a:lnTo>
                <a:lnTo>
                  <a:pt x="358860" y="1967798"/>
                </a:lnTo>
                <a:lnTo>
                  <a:pt x="358860" y="1967798"/>
                </a:lnTo>
                <a:lnTo>
                  <a:pt x="358980" y="1966319"/>
                </a:lnTo>
                <a:lnTo>
                  <a:pt x="359100" y="1966319"/>
                </a:lnTo>
                <a:lnTo>
                  <a:pt x="359220" y="1964100"/>
                </a:lnTo>
                <a:lnTo>
                  <a:pt x="359220" y="1964100"/>
                </a:lnTo>
                <a:lnTo>
                  <a:pt x="359459" y="1961881"/>
                </a:lnTo>
                <a:lnTo>
                  <a:pt x="359459" y="1961881"/>
                </a:lnTo>
                <a:lnTo>
                  <a:pt x="359459" y="1961388"/>
                </a:lnTo>
                <a:lnTo>
                  <a:pt x="359459" y="1961388"/>
                </a:lnTo>
                <a:lnTo>
                  <a:pt x="359938" y="1954978"/>
                </a:lnTo>
                <a:lnTo>
                  <a:pt x="359938" y="1954978"/>
                </a:lnTo>
                <a:lnTo>
                  <a:pt x="360417" y="1948445"/>
                </a:lnTo>
                <a:lnTo>
                  <a:pt x="360417" y="1948445"/>
                </a:lnTo>
                <a:lnTo>
                  <a:pt x="360776" y="1942035"/>
                </a:lnTo>
                <a:lnTo>
                  <a:pt x="360776" y="1942035"/>
                </a:lnTo>
                <a:lnTo>
                  <a:pt x="360896" y="1939324"/>
                </a:lnTo>
                <a:lnTo>
                  <a:pt x="360896" y="1939324"/>
                </a:lnTo>
                <a:lnTo>
                  <a:pt x="361135" y="1935995"/>
                </a:lnTo>
                <a:lnTo>
                  <a:pt x="361135" y="1935995"/>
                </a:lnTo>
                <a:lnTo>
                  <a:pt x="361135" y="1932544"/>
                </a:lnTo>
                <a:lnTo>
                  <a:pt x="361135" y="1932544"/>
                </a:lnTo>
                <a:lnTo>
                  <a:pt x="361135" y="1930325"/>
                </a:lnTo>
                <a:lnTo>
                  <a:pt x="361135" y="1930325"/>
                </a:lnTo>
                <a:lnTo>
                  <a:pt x="361135" y="1929216"/>
                </a:lnTo>
                <a:lnTo>
                  <a:pt x="361135" y="1929216"/>
                </a:lnTo>
                <a:lnTo>
                  <a:pt x="361016" y="1925764"/>
                </a:lnTo>
                <a:lnTo>
                  <a:pt x="361016" y="1925764"/>
                </a:lnTo>
                <a:lnTo>
                  <a:pt x="360776" y="1922436"/>
                </a:lnTo>
                <a:lnTo>
                  <a:pt x="360776" y="1922436"/>
                </a:lnTo>
                <a:lnTo>
                  <a:pt x="360537" y="1919848"/>
                </a:lnTo>
                <a:lnTo>
                  <a:pt x="360537" y="1919848"/>
                </a:lnTo>
                <a:lnTo>
                  <a:pt x="360537" y="1919108"/>
                </a:lnTo>
                <a:lnTo>
                  <a:pt x="360537" y="1919108"/>
                </a:lnTo>
                <a:lnTo>
                  <a:pt x="360417" y="1918245"/>
                </a:lnTo>
                <a:lnTo>
                  <a:pt x="360417" y="1918245"/>
                </a:lnTo>
                <a:lnTo>
                  <a:pt x="360178" y="1915657"/>
                </a:lnTo>
                <a:lnTo>
                  <a:pt x="360178" y="1915657"/>
                </a:lnTo>
                <a:lnTo>
                  <a:pt x="360178" y="1915287"/>
                </a:lnTo>
                <a:lnTo>
                  <a:pt x="360178" y="1915287"/>
                </a:lnTo>
                <a:lnTo>
                  <a:pt x="359818" y="1911096"/>
                </a:lnTo>
                <a:lnTo>
                  <a:pt x="359818" y="1911096"/>
                </a:lnTo>
                <a:lnTo>
                  <a:pt x="359699" y="1907521"/>
                </a:lnTo>
                <a:lnTo>
                  <a:pt x="359699" y="1907521"/>
                </a:lnTo>
                <a:lnTo>
                  <a:pt x="359699" y="1906782"/>
                </a:lnTo>
                <a:lnTo>
                  <a:pt x="359699" y="1906782"/>
                </a:lnTo>
                <a:lnTo>
                  <a:pt x="359818" y="1904933"/>
                </a:lnTo>
                <a:lnTo>
                  <a:pt x="359818" y="1904933"/>
                </a:lnTo>
                <a:lnTo>
                  <a:pt x="359938" y="1902467"/>
                </a:lnTo>
                <a:lnTo>
                  <a:pt x="359938" y="1902467"/>
                </a:lnTo>
                <a:lnTo>
                  <a:pt x="360058" y="1900125"/>
                </a:lnTo>
                <a:lnTo>
                  <a:pt x="360058" y="1900125"/>
                </a:lnTo>
                <a:lnTo>
                  <a:pt x="360058" y="1897660"/>
                </a:lnTo>
                <a:lnTo>
                  <a:pt x="360058" y="1897660"/>
                </a:lnTo>
                <a:lnTo>
                  <a:pt x="359938" y="1895195"/>
                </a:lnTo>
                <a:lnTo>
                  <a:pt x="359938" y="1895195"/>
                </a:lnTo>
                <a:lnTo>
                  <a:pt x="359818" y="1893839"/>
                </a:lnTo>
                <a:lnTo>
                  <a:pt x="359818" y="1893839"/>
                </a:lnTo>
                <a:lnTo>
                  <a:pt x="359699" y="1892853"/>
                </a:lnTo>
                <a:lnTo>
                  <a:pt x="359699" y="1892853"/>
                </a:lnTo>
                <a:lnTo>
                  <a:pt x="359339" y="1890388"/>
                </a:lnTo>
                <a:lnTo>
                  <a:pt x="359339" y="1890388"/>
                </a:lnTo>
                <a:lnTo>
                  <a:pt x="358980" y="1888045"/>
                </a:lnTo>
                <a:lnTo>
                  <a:pt x="358980" y="1888045"/>
                </a:lnTo>
                <a:lnTo>
                  <a:pt x="358980" y="1887922"/>
                </a:lnTo>
                <a:lnTo>
                  <a:pt x="358980" y="1887922"/>
                </a:lnTo>
                <a:lnTo>
                  <a:pt x="358501" y="1885580"/>
                </a:lnTo>
                <a:lnTo>
                  <a:pt x="358501" y="1885580"/>
                </a:lnTo>
                <a:lnTo>
                  <a:pt x="358501" y="1885334"/>
                </a:lnTo>
                <a:lnTo>
                  <a:pt x="358501" y="1885334"/>
                </a:lnTo>
                <a:lnTo>
                  <a:pt x="358142" y="1883115"/>
                </a:lnTo>
                <a:lnTo>
                  <a:pt x="358142" y="1883115"/>
                </a:lnTo>
                <a:lnTo>
                  <a:pt x="357902" y="1881389"/>
                </a:lnTo>
                <a:lnTo>
                  <a:pt x="357902" y="1881389"/>
                </a:lnTo>
                <a:lnTo>
                  <a:pt x="357902" y="1880896"/>
                </a:lnTo>
                <a:lnTo>
                  <a:pt x="357902" y="1880896"/>
                </a:lnTo>
                <a:lnTo>
                  <a:pt x="357783" y="1878677"/>
                </a:lnTo>
                <a:lnTo>
                  <a:pt x="357783" y="1878677"/>
                </a:lnTo>
                <a:lnTo>
                  <a:pt x="357663" y="1876459"/>
                </a:lnTo>
                <a:lnTo>
                  <a:pt x="357663" y="1876459"/>
                </a:lnTo>
                <a:lnTo>
                  <a:pt x="357663" y="1875719"/>
                </a:lnTo>
                <a:lnTo>
                  <a:pt x="357663" y="1875719"/>
                </a:lnTo>
                <a:lnTo>
                  <a:pt x="357064" y="1865735"/>
                </a:lnTo>
                <a:lnTo>
                  <a:pt x="357064" y="1865735"/>
                </a:lnTo>
                <a:lnTo>
                  <a:pt x="356346" y="1855750"/>
                </a:lnTo>
                <a:lnTo>
                  <a:pt x="356346" y="1855750"/>
                </a:lnTo>
                <a:lnTo>
                  <a:pt x="355867" y="1849587"/>
                </a:lnTo>
                <a:lnTo>
                  <a:pt x="355867" y="1849587"/>
                </a:lnTo>
                <a:lnTo>
                  <a:pt x="355508" y="1846629"/>
                </a:lnTo>
                <a:lnTo>
                  <a:pt x="355508" y="1846505"/>
                </a:lnTo>
                <a:lnTo>
                  <a:pt x="355029" y="1843177"/>
                </a:lnTo>
                <a:lnTo>
                  <a:pt x="355029" y="1843177"/>
                </a:lnTo>
                <a:lnTo>
                  <a:pt x="354789" y="1839726"/>
                </a:lnTo>
                <a:lnTo>
                  <a:pt x="354789" y="1839726"/>
                </a:lnTo>
                <a:lnTo>
                  <a:pt x="354669" y="1837384"/>
                </a:lnTo>
                <a:lnTo>
                  <a:pt x="354669" y="1837384"/>
                </a:lnTo>
                <a:lnTo>
                  <a:pt x="354669" y="1837014"/>
                </a:lnTo>
                <a:lnTo>
                  <a:pt x="354669" y="1837014"/>
                </a:lnTo>
                <a:lnTo>
                  <a:pt x="354550" y="1835411"/>
                </a:lnTo>
                <a:lnTo>
                  <a:pt x="354550" y="1835411"/>
                </a:lnTo>
                <a:lnTo>
                  <a:pt x="354550" y="1833439"/>
                </a:lnTo>
                <a:lnTo>
                  <a:pt x="354550" y="1833439"/>
                </a:lnTo>
                <a:lnTo>
                  <a:pt x="354430" y="1832700"/>
                </a:lnTo>
                <a:lnTo>
                  <a:pt x="354430" y="1832700"/>
                </a:lnTo>
                <a:lnTo>
                  <a:pt x="354430" y="1829618"/>
                </a:lnTo>
                <a:lnTo>
                  <a:pt x="354430" y="1829618"/>
                </a:lnTo>
                <a:lnTo>
                  <a:pt x="354430" y="1825797"/>
                </a:lnTo>
                <a:lnTo>
                  <a:pt x="354430" y="1825797"/>
                </a:lnTo>
                <a:lnTo>
                  <a:pt x="354550" y="1821976"/>
                </a:lnTo>
                <a:lnTo>
                  <a:pt x="354550" y="1821976"/>
                </a:lnTo>
                <a:lnTo>
                  <a:pt x="354789" y="1818154"/>
                </a:lnTo>
                <a:lnTo>
                  <a:pt x="354789" y="1818154"/>
                </a:lnTo>
                <a:lnTo>
                  <a:pt x="354789" y="1817785"/>
                </a:lnTo>
                <a:lnTo>
                  <a:pt x="354789" y="1817785"/>
                </a:lnTo>
                <a:lnTo>
                  <a:pt x="354909" y="1815689"/>
                </a:lnTo>
                <a:lnTo>
                  <a:pt x="354909" y="1815689"/>
                </a:lnTo>
                <a:lnTo>
                  <a:pt x="355029" y="1815566"/>
                </a:lnTo>
                <a:lnTo>
                  <a:pt x="355029" y="1815566"/>
                </a:lnTo>
                <a:lnTo>
                  <a:pt x="385323" y="1804965"/>
                </a:lnTo>
                <a:lnTo>
                  <a:pt x="385562" y="1804225"/>
                </a:lnTo>
                <a:lnTo>
                  <a:pt x="385562" y="1804225"/>
                </a:lnTo>
                <a:lnTo>
                  <a:pt x="385562" y="1804225"/>
                </a:lnTo>
                <a:lnTo>
                  <a:pt x="385682" y="1803486"/>
                </a:lnTo>
                <a:lnTo>
                  <a:pt x="385682" y="1803486"/>
                </a:lnTo>
                <a:lnTo>
                  <a:pt x="385682" y="1802993"/>
                </a:lnTo>
                <a:lnTo>
                  <a:pt x="385682" y="1802993"/>
                </a:lnTo>
                <a:lnTo>
                  <a:pt x="385922" y="1800774"/>
                </a:lnTo>
                <a:lnTo>
                  <a:pt x="385922" y="1800774"/>
                </a:lnTo>
                <a:lnTo>
                  <a:pt x="386161" y="1798309"/>
                </a:lnTo>
                <a:lnTo>
                  <a:pt x="386161" y="1798309"/>
                </a:lnTo>
                <a:lnTo>
                  <a:pt x="386401" y="1795844"/>
                </a:lnTo>
                <a:lnTo>
                  <a:pt x="386401" y="1795844"/>
                </a:lnTo>
                <a:lnTo>
                  <a:pt x="386879" y="1793501"/>
                </a:lnTo>
                <a:lnTo>
                  <a:pt x="386879" y="1793501"/>
                </a:lnTo>
                <a:lnTo>
                  <a:pt x="386879" y="1792762"/>
                </a:lnTo>
                <a:lnTo>
                  <a:pt x="386879" y="1792762"/>
                </a:lnTo>
                <a:lnTo>
                  <a:pt x="386999" y="1791776"/>
                </a:lnTo>
                <a:lnTo>
                  <a:pt x="386999" y="1791776"/>
                </a:lnTo>
                <a:lnTo>
                  <a:pt x="387119" y="1790790"/>
                </a:lnTo>
                <a:lnTo>
                  <a:pt x="387119" y="1790790"/>
                </a:lnTo>
                <a:lnTo>
                  <a:pt x="459083" y="1761822"/>
                </a:lnTo>
                <a:lnTo>
                  <a:pt x="459442" y="1761576"/>
                </a:lnTo>
                <a:lnTo>
                  <a:pt x="461717" y="1760343"/>
                </a:lnTo>
                <a:lnTo>
                  <a:pt x="499435" y="1719666"/>
                </a:lnTo>
                <a:lnTo>
                  <a:pt x="499914" y="1718187"/>
                </a:lnTo>
                <a:lnTo>
                  <a:pt x="500513" y="1716214"/>
                </a:lnTo>
                <a:lnTo>
                  <a:pt x="503027" y="1707093"/>
                </a:lnTo>
                <a:lnTo>
                  <a:pt x="503506" y="1704997"/>
                </a:lnTo>
                <a:lnTo>
                  <a:pt x="503506" y="1704997"/>
                </a:lnTo>
                <a:lnTo>
                  <a:pt x="503985" y="1702902"/>
                </a:lnTo>
                <a:lnTo>
                  <a:pt x="503985" y="1702902"/>
                </a:lnTo>
                <a:lnTo>
                  <a:pt x="504344" y="1700806"/>
                </a:lnTo>
                <a:lnTo>
                  <a:pt x="504344" y="1700806"/>
                </a:lnTo>
                <a:lnTo>
                  <a:pt x="504584" y="1698711"/>
                </a:lnTo>
                <a:lnTo>
                  <a:pt x="504584" y="1698711"/>
                </a:lnTo>
                <a:lnTo>
                  <a:pt x="504704" y="1696739"/>
                </a:lnTo>
                <a:lnTo>
                  <a:pt x="504704" y="1696739"/>
                </a:lnTo>
                <a:lnTo>
                  <a:pt x="504704" y="1696615"/>
                </a:lnTo>
                <a:lnTo>
                  <a:pt x="504704" y="1696615"/>
                </a:lnTo>
                <a:lnTo>
                  <a:pt x="504704" y="1695506"/>
                </a:lnTo>
                <a:lnTo>
                  <a:pt x="504704" y="1695506"/>
                </a:lnTo>
                <a:lnTo>
                  <a:pt x="504704" y="1694397"/>
                </a:lnTo>
                <a:lnTo>
                  <a:pt x="504704" y="1694397"/>
                </a:lnTo>
                <a:lnTo>
                  <a:pt x="504704" y="1692301"/>
                </a:lnTo>
                <a:lnTo>
                  <a:pt x="504704" y="1692301"/>
                </a:lnTo>
                <a:lnTo>
                  <a:pt x="504584" y="1690206"/>
                </a:lnTo>
                <a:lnTo>
                  <a:pt x="504584" y="1690206"/>
                </a:lnTo>
                <a:lnTo>
                  <a:pt x="504584" y="1689713"/>
                </a:lnTo>
                <a:lnTo>
                  <a:pt x="504584" y="1689713"/>
                </a:lnTo>
                <a:lnTo>
                  <a:pt x="504464" y="1689466"/>
                </a:lnTo>
                <a:lnTo>
                  <a:pt x="504344" y="1688233"/>
                </a:lnTo>
                <a:lnTo>
                  <a:pt x="504344" y="1688110"/>
                </a:lnTo>
                <a:lnTo>
                  <a:pt x="504344" y="1688110"/>
                </a:lnTo>
                <a:lnTo>
                  <a:pt x="504105" y="1685891"/>
                </a:lnTo>
                <a:lnTo>
                  <a:pt x="504105" y="1685891"/>
                </a:lnTo>
                <a:lnTo>
                  <a:pt x="503626" y="1683796"/>
                </a:lnTo>
                <a:lnTo>
                  <a:pt x="503626" y="1683796"/>
                </a:lnTo>
                <a:lnTo>
                  <a:pt x="502668" y="1679728"/>
                </a:lnTo>
                <a:lnTo>
                  <a:pt x="502069" y="1678002"/>
                </a:lnTo>
                <a:lnTo>
                  <a:pt x="501949" y="1677633"/>
                </a:lnTo>
                <a:lnTo>
                  <a:pt x="498597" y="1669867"/>
                </a:lnTo>
                <a:lnTo>
                  <a:pt x="498118" y="1669127"/>
                </a:lnTo>
                <a:lnTo>
                  <a:pt x="497998" y="1668881"/>
                </a:lnTo>
                <a:lnTo>
                  <a:pt x="458364" y="1615014"/>
                </a:lnTo>
                <a:lnTo>
                  <a:pt x="457406" y="1613412"/>
                </a:lnTo>
                <a:lnTo>
                  <a:pt x="457287" y="1613165"/>
                </a:lnTo>
                <a:lnTo>
                  <a:pt x="451060" y="1598373"/>
                </a:lnTo>
                <a:lnTo>
                  <a:pt x="450701" y="1596771"/>
                </a:lnTo>
                <a:lnTo>
                  <a:pt x="450701" y="1596771"/>
                </a:lnTo>
                <a:lnTo>
                  <a:pt x="450701" y="1596648"/>
                </a:lnTo>
                <a:lnTo>
                  <a:pt x="450701" y="1596648"/>
                </a:lnTo>
                <a:lnTo>
                  <a:pt x="450461" y="1595415"/>
                </a:lnTo>
                <a:lnTo>
                  <a:pt x="450342" y="1594552"/>
                </a:lnTo>
                <a:lnTo>
                  <a:pt x="449982" y="1592333"/>
                </a:lnTo>
                <a:lnTo>
                  <a:pt x="449982" y="1592333"/>
                </a:lnTo>
                <a:lnTo>
                  <a:pt x="449743" y="1590115"/>
                </a:lnTo>
                <a:lnTo>
                  <a:pt x="449743" y="1590115"/>
                </a:lnTo>
                <a:lnTo>
                  <a:pt x="449503" y="1587896"/>
                </a:lnTo>
                <a:lnTo>
                  <a:pt x="449503" y="1587896"/>
                </a:lnTo>
                <a:lnTo>
                  <a:pt x="449503" y="1587896"/>
                </a:lnTo>
                <a:lnTo>
                  <a:pt x="449503" y="1587896"/>
                </a:lnTo>
                <a:lnTo>
                  <a:pt x="449623" y="1583582"/>
                </a:lnTo>
                <a:lnTo>
                  <a:pt x="449623" y="1583582"/>
                </a:lnTo>
                <a:lnTo>
                  <a:pt x="449982" y="1573227"/>
                </a:lnTo>
                <a:lnTo>
                  <a:pt x="449982" y="1573227"/>
                </a:lnTo>
                <a:lnTo>
                  <a:pt x="450461" y="1562873"/>
                </a:lnTo>
                <a:lnTo>
                  <a:pt x="450461" y="1562873"/>
                </a:lnTo>
                <a:lnTo>
                  <a:pt x="450581" y="1562627"/>
                </a:lnTo>
                <a:lnTo>
                  <a:pt x="450581" y="1562627"/>
                </a:lnTo>
                <a:lnTo>
                  <a:pt x="450701" y="1561271"/>
                </a:lnTo>
                <a:lnTo>
                  <a:pt x="450701" y="1561271"/>
                </a:lnTo>
                <a:lnTo>
                  <a:pt x="450701" y="1560038"/>
                </a:lnTo>
                <a:lnTo>
                  <a:pt x="450701" y="1560038"/>
                </a:lnTo>
                <a:lnTo>
                  <a:pt x="450701" y="1558929"/>
                </a:lnTo>
                <a:lnTo>
                  <a:pt x="450701" y="1558929"/>
                </a:lnTo>
                <a:lnTo>
                  <a:pt x="450701" y="1558682"/>
                </a:lnTo>
                <a:lnTo>
                  <a:pt x="450701" y="1558682"/>
                </a:lnTo>
                <a:lnTo>
                  <a:pt x="450581" y="1557450"/>
                </a:lnTo>
                <a:lnTo>
                  <a:pt x="450581" y="1557450"/>
                </a:lnTo>
                <a:lnTo>
                  <a:pt x="450342" y="1556217"/>
                </a:lnTo>
                <a:lnTo>
                  <a:pt x="450342" y="1556217"/>
                </a:lnTo>
                <a:lnTo>
                  <a:pt x="270971" y="1600469"/>
                </a:lnTo>
                <a:lnTo>
                  <a:pt x="198768" y="1552026"/>
                </a:lnTo>
                <a:lnTo>
                  <a:pt x="198050" y="1549314"/>
                </a:lnTo>
                <a:lnTo>
                  <a:pt x="198050" y="1549314"/>
                </a:lnTo>
                <a:lnTo>
                  <a:pt x="197451" y="1546479"/>
                </a:lnTo>
                <a:lnTo>
                  <a:pt x="197451" y="1546479"/>
                </a:lnTo>
                <a:lnTo>
                  <a:pt x="196972" y="1543767"/>
                </a:lnTo>
                <a:lnTo>
                  <a:pt x="196972" y="1543767"/>
                </a:lnTo>
                <a:lnTo>
                  <a:pt x="196852" y="1543274"/>
                </a:lnTo>
                <a:lnTo>
                  <a:pt x="196852" y="1543274"/>
                </a:lnTo>
                <a:lnTo>
                  <a:pt x="196493" y="1540932"/>
                </a:lnTo>
                <a:lnTo>
                  <a:pt x="196493" y="1540932"/>
                </a:lnTo>
                <a:lnTo>
                  <a:pt x="196134" y="1538097"/>
                </a:lnTo>
                <a:lnTo>
                  <a:pt x="196134" y="1538097"/>
                </a:lnTo>
                <a:lnTo>
                  <a:pt x="195894" y="1535262"/>
                </a:lnTo>
                <a:lnTo>
                  <a:pt x="195894" y="1535262"/>
                </a:lnTo>
                <a:lnTo>
                  <a:pt x="195894" y="1535015"/>
                </a:lnTo>
                <a:lnTo>
                  <a:pt x="195894" y="1535015"/>
                </a:lnTo>
                <a:lnTo>
                  <a:pt x="195176" y="1529962"/>
                </a:lnTo>
                <a:lnTo>
                  <a:pt x="195176" y="1529962"/>
                </a:lnTo>
                <a:lnTo>
                  <a:pt x="194817" y="1527989"/>
                </a:lnTo>
                <a:lnTo>
                  <a:pt x="194817" y="1527989"/>
                </a:lnTo>
                <a:lnTo>
                  <a:pt x="193739" y="1522319"/>
                </a:lnTo>
                <a:lnTo>
                  <a:pt x="193739" y="1522319"/>
                </a:lnTo>
                <a:lnTo>
                  <a:pt x="193619" y="1521333"/>
                </a:lnTo>
                <a:lnTo>
                  <a:pt x="192661" y="1516649"/>
                </a:lnTo>
                <a:lnTo>
                  <a:pt x="191344" y="1510979"/>
                </a:lnTo>
                <a:lnTo>
                  <a:pt x="191344" y="1510979"/>
                </a:lnTo>
                <a:lnTo>
                  <a:pt x="164642" y="1432829"/>
                </a:lnTo>
                <a:lnTo>
                  <a:pt x="164044" y="1430487"/>
                </a:lnTo>
                <a:lnTo>
                  <a:pt x="164044" y="1430487"/>
                </a:lnTo>
                <a:lnTo>
                  <a:pt x="163684" y="1428145"/>
                </a:lnTo>
                <a:lnTo>
                  <a:pt x="163684" y="1428145"/>
                </a:lnTo>
                <a:lnTo>
                  <a:pt x="163325" y="1425803"/>
                </a:lnTo>
                <a:lnTo>
                  <a:pt x="163325" y="1425803"/>
                </a:lnTo>
                <a:lnTo>
                  <a:pt x="163086" y="1423461"/>
                </a:lnTo>
                <a:lnTo>
                  <a:pt x="163086" y="1423461"/>
                </a:lnTo>
                <a:lnTo>
                  <a:pt x="162846" y="1421119"/>
                </a:lnTo>
                <a:lnTo>
                  <a:pt x="162846" y="1421119"/>
                </a:lnTo>
                <a:lnTo>
                  <a:pt x="162846" y="1418777"/>
                </a:lnTo>
                <a:lnTo>
                  <a:pt x="162846" y="1418777"/>
                </a:lnTo>
                <a:lnTo>
                  <a:pt x="162846" y="1417051"/>
                </a:lnTo>
                <a:lnTo>
                  <a:pt x="162846" y="1417051"/>
                </a:lnTo>
                <a:lnTo>
                  <a:pt x="162846" y="1416435"/>
                </a:lnTo>
                <a:lnTo>
                  <a:pt x="162846" y="1416435"/>
                </a:lnTo>
                <a:lnTo>
                  <a:pt x="162846" y="1415942"/>
                </a:lnTo>
                <a:lnTo>
                  <a:pt x="162846" y="1415942"/>
                </a:lnTo>
                <a:lnTo>
                  <a:pt x="162846" y="1415818"/>
                </a:lnTo>
                <a:lnTo>
                  <a:pt x="162846" y="1415818"/>
                </a:lnTo>
                <a:lnTo>
                  <a:pt x="162846" y="1413969"/>
                </a:lnTo>
                <a:lnTo>
                  <a:pt x="162846" y="1413969"/>
                </a:lnTo>
                <a:lnTo>
                  <a:pt x="162726" y="1412244"/>
                </a:lnTo>
                <a:lnTo>
                  <a:pt x="162726" y="1412244"/>
                </a:lnTo>
                <a:lnTo>
                  <a:pt x="162487" y="1410395"/>
                </a:lnTo>
                <a:lnTo>
                  <a:pt x="162487" y="1410395"/>
                </a:lnTo>
                <a:lnTo>
                  <a:pt x="162367" y="1409655"/>
                </a:lnTo>
                <a:lnTo>
                  <a:pt x="162367" y="1409655"/>
                </a:lnTo>
                <a:lnTo>
                  <a:pt x="162128" y="1408546"/>
                </a:lnTo>
                <a:lnTo>
                  <a:pt x="162128" y="1408546"/>
                </a:lnTo>
                <a:lnTo>
                  <a:pt x="161769" y="1406820"/>
                </a:lnTo>
                <a:lnTo>
                  <a:pt x="161769" y="1406820"/>
                </a:lnTo>
                <a:lnTo>
                  <a:pt x="120698" y="1346297"/>
                </a:lnTo>
                <a:lnTo>
                  <a:pt x="120339" y="1344818"/>
                </a:lnTo>
                <a:lnTo>
                  <a:pt x="120339" y="1344818"/>
                </a:lnTo>
                <a:lnTo>
                  <a:pt x="119979" y="1343462"/>
                </a:lnTo>
                <a:lnTo>
                  <a:pt x="119979" y="1343339"/>
                </a:lnTo>
                <a:lnTo>
                  <a:pt x="119740" y="1341860"/>
                </a:lnTo>
                <a:lnTo>
                  <a:pt x="119740" y="1341860"/>
                </a:lnTo>
                <a:lnTo>
                  <a:pt x="119620" y="1340380"/>
                </a:lnTo>
                <a:lnTo>
                  <a:pt x="119620" y="1340380"/>
                </a:lnTo>
                <a:lnTo>
                  <a:pt x="119620" y="1339764"/>
                </a:lnTo>
                <a:lnTo>
                  <a:pt x="119620" y="1339764"/>
                </a:lnTo>
                <a:lnTo>
                  <a:pt x="119620" y="1339024"/>
                </a:lnTo>
                <a:lnTo>
                  <a:pt x="119620" y="1339024"/>
                </a:lnTo>
                <a:lnTo>
                  <a:pt x="119500" y="1338162"/>
                </a:lnTo>
                <a:lnTo>
                  <a:pt x="119500" y="1338162"/>
                </a:lnTo>
                <a:lnTo>
                  <a:pt x="112555" y="1331875"/>
                </a:lnTo>
                <a:lnTo>
                  <a:pt x="112436" y="1331752"/>
                </a:lnTo>
                <a:lnTo>
                  <a:pt x="111957" y="1331505"/>
                </a:lnTo>
                <a:lnTo>
                  <a:pt x="106449" y="1324479"/>
                </a:lnTo>
                <a:lnTo>
                  <a:pt x="106090" y="1323493"/>
                </a:lnTo>
                <a:lnTo>
                  <a:pt x="106090" y="1323493"/>
                </a:lnTo>
                <a:lnTo>
                  <a:pt x="105850" y="1322384"/>
                </a:lnTo>
                <a:lnTo>
                  <a:pt x="105850" y="1322384"/>
                </a:lnTo>
                <a:lnTo>
                  <a:pt x="105730" y="1321274"/>
                </a:lnTo>
                <a:lnTo>
                  <a:pt x="105730" y="1321274"/>
                </a:lnTo>
                <a:lnTo>
                  <a:pt x="105730" y="1320165"/>
                </a:lnTo>
                <a:lnTo>
                  <a:pt x="105730" y="1320165"/>
                </a:lnTo>
                <a:lnTo>
                  <a:pt x="105730" y="1319056"/>
                </a:lnTo>
                <a:lnTo>
                  <a:pt x="105730" y="1319056"/>
                </a:lnTo>
                <a:lnTo>
                  <a:pt x="105970" y="1318070"/>
                </a:lnTo>
                <a:lnTo>
                  <a:pt x="105970" y="1318070"/>
                </a:lnTo>
                <a:lnTo>
                  <a:pt x="105970" y="1317576"/>
                </a:lnTo>
                <a:lnTo>
                  <a:pt x="105970" y="1317576"/>
                </a:lnTo>
                <a:lnTo>
                  <a:pt x="108125" y="1309441"/>
                </a:lnTo>
                <a:lnTo>
                  <a:pt x="108844" y="1307469"/>
                </a:lnTo>
                <a:lnTo>
                  <a:pt x="109083" y="1306359"/>
                </a:lnTo>
                <a:lnTo>
                  <a:pt x="109921" y="1304017"/>
                </a:lnTo>
                <a:lnTo>
                  <a:pt x="110041" y="1303031"/>
                </a:lnTo>
                <a:lnTo>
                  <a:pt x="110041" y="1303031"/>
                </a:lnTo>
                <a:lnTo>
                  <a:pt x="110041" y="1302785"/>
                </a:lnTo>
                <a:lnTo>
                  <a:pt x="110041" y="1302785"/>
                </a:lnTo>
                <a:lnTo>
                  <a:pt x="110161" y="1301306"/>
                </a:lnTo>
                <a:lnTo>
                  <a:pt x="110161" y="1301306"/>
                </a:lnTo>
                <a:lnTo>
                  <a:pt x="110041" y="1299826"/>
                </a:lnTo>
                <a:lnTo>
                  <a:pt x="110041" y="1299826"/>
                </a:lnTo>
                <a:lnTo>
                  <a:pt x="109921" y="1298347"/>
                </a:lnTo>
                <a:lnTo>
                  <a:pt x="109921" y="1298347"/>
                </a:lnTo>
                <a:lnTo>
                  <a:pt x="109682" y="1296868"/>
                </a:lnTo>
                <a:lnTo>
                  <a:pt x="109682" y="1296868"/>
                </a:lnTo>
                <a:lnTo>
                  <a:pt x="109682" y="1296745"/>
                </a:lnTo>
                <a:lnTo>
                  <a:pt x="109442" y="1295389"/>
                </a:lnTo>
                <a:lnTo>
                  <a:pt x="94834" y="1269133"/>
                </a:lnTo>
                <a:lnTo>
                  <a:pt x="94475" y="1267901"/>
                </a:lnTo>
                <a:lnTo>
                  <a:pt x="94355" y="1267284"/>
                </a:lnTo>
                <a:lnTo>
                  <a:pt x="94235" y="1266668"/>
                </a:lnTo>
                <a:lnTo>
                  <a:pt x="93876" y="1265435"/>
                </a:lnTo>
                <a:lnTo>
                  <a:pt x="93876" y="1265435"/>
                </a:lnTo>
                <a:lnTo>
                  <a:pt x="93637" y="1263463"/>
                </a:lnTo>
                <a:lnTo>
                  <a:pt x="93637" y="1263463"/>
                </a:lnTo>
                <a:lnTo>
                  <a:pt x="93277" y="1261614"/>
                </a:lnTo>
                <a:lnTo>
                  <a:pt x="93277" y="1261614"/>
                </a:lnTo>
                <a:lnTo>
                  <a:pt x="93158" y="1259642"/>
                </a:lnTo>
                <a:lnTo>
                  <a:pt x="93158" y="1259642"/>
                </a:lnTo>
                <a:lnTo>
                  <a:pt x="93038" y="1257670"/>
                </a:lnTo>
                <a:lnTo>
                  <a:pt x="93038" y="1257670"/>
                </a:lnTo>
                <a:lnTo>
                  <a:pt x="93038" y="1255821"/>
                </a:lnTo>
                <a:lnTo>
                  <a:pt x="93038" y="1255821"/>
                </a:lnTo>
                <a:lnTo>
                  <a:pt x="93158" y="1255574"/>
                </a:lnTo>
                <a:lnTo>
                  <a:pt x="93158" y="1255574"/>
                </a:lnTo>
                <a:lnTo>
                  <a:pt x="93038" y="1252862"/>
                </a:lnTo>
                <a:lnTo>
                  <a:pt x="93038" y="1252862"/>
                </a:lnTo>
                <a:lnTo>
                  <a:pt x="93158" y="1250151"/>
                </a:lnTo>
                <a:lnTo>
                  <a:pt x="93158" y="1250151"/>
                </a:lnTo>
                <a:lnTo>
                  <a:pt x="93277" y="1247439"/>
                </a:lnTo>
                <a:lnTo>
                  <a:pt x="93277" y="1247439"/>
                </a:lnTo>
                <a:lnTo>
                  <a:pt x="93517" y="1244850"/>
                </a:lnTo>
                <a:lnTo>
                  <a:pt x="93517" y="1244850"/>
                </a:lnTo>
                <a:lnTo>
                  <a:pt x="93876" y="1242138"/>
                </a:lnTo>
                <a:lnTo>
                  <a:pt x="93876" y="1242138"/>
                </a:lnTo>
                <a:lnTo>
                  <a:pt x="94235" y="1239427"/>
                </a:lnTo>
                <a:lnTo>
                  <a:pt x="94235" y="1239427"/>
                </a:lnTo>
                <a:lnTo>
                  <a:pt x="94714" y="1236838"/>
                </a:lnTo>
                <a:lnTo>
                  <a:pt x="94714" y="1236838"/>
                </a:lnTo>
                <a:lnTo>
                  <a:pt x="95313" y="1234250"/>
                </a:lnTo>
                <a:lnTo>
                  <a:pt x="95313" y="1234250"/>
                </a:lnTo>
                <a:lnTo>
                  <a:pt x="95792" y="1230552"/>
                </a:lnTo>
                <a:lnTo>
                  <a:pt x="95792" y="1230552"/>
                </a:lnTo>
                <a:lnTo>
                  <a:pt x="96151" y="1226237"/>
                </a:lnTo>
                <a:lnTo>
                  <a:pt x="96151" y="1226237"/>
                </a:lnTo>
                <a:lnTo>
                  <a:pt x="96510" y="1222046"/>
                </a:lnTo>
                <a:lnTo>
                  <a:pt x="96510" y="1222046"/>
                </a:lnTo>
                <a:lnTo>
                  <a:pt x="96750" y="1217732"/>
                </a:lnTo>
                <a:lnTo>
                  <a:pt x="96750" y="1217732"/>
                </a:lnTo>
                <a:lnTo>
                  <a:pt x="96989" y="1213541"/>
                </a:lnTo>
                <a:lnTo>
                  <a:pt x="96989" y="1213541"/>
                </a:lnTo>
                <a:lnTo>
                  <a:pt x="96989" y="1209227"/>
                </a:lnTo>
                <a:lnTo>
                  <a:pt x="96989" y="1209227"/>
                </a:lnTo>
                <a:lnTo>
                  <a:pt x="96989" y="1204912"/>
                </a:lnTo>
                <a:lnTo>
                  <a:pt x="96989" y="1204912"/>
                </a:lnTo>
                <a:lnTo>
                  <a:pt x="96870" y="1200722"/>
                </a:lnTo>
                <a:lnTo>
                  <a:pt x="96870" y="1200722"/>
                </a:lnTo>
                <a:lnTo>
                  <a:pt x="96870" y="1200105"/>
                </a:lnTo>
                <a:lnTo>
                  <a:pt x="96870" y="1200105"/>
                </a:lnTo>
                <a:lnTo>
                  <a:pt x="96989" y="1198256"/>
                </a:lnTo>
                <a:lnTo>
                  <a:pt x="96989" y="1198256"/>
                </a:lnTo>
                <a:lnTo>
                  <a:pt x="96989" y="1196531"/>
                </a:lnTo>
                <a:lnTo>
                  <a:pt x="96989" y="1196531"/>
                </a:lnTo>
                <a:lnTo>
                  <a:pt x="96870" y="1194805"/>
                </a:lnTo>
                <a:lnTo>
                  <a:pt x="96870" y="1194805"/>
                </a:lnTo>
                <a:lnTo>
                  <a:pt x="96630" y="1193079"/>
                </a:lnTo>
                <a:lnTo>
                  <a:pt x="96630" y="1193079"/>
                </a:lnTo>
                <a:lnTo>
                  <a:pt x="96391" y="1191970"/>
                </a:lnTo>
                <a:lnTo>
                  <a:pt x="96391" y="1191970"/>
                </a:lnTo>
                <a:lnTo>
                  <a:pt x="96271" y="1191477"/>
                </a:lnTo>
                <a:lnTo>
                  <a:pt x="96271" y="1191477"/>
                </a:lnTo>
                <a:lnTo>
                  <a:pt x="91840" y="1180260"/>
                </a:lnTo>
                <a:lnTo>
                  <a:pt x="91002" y="1179027"/>
                </a:lnTo>
                <a:lnTo>
                  <a:pt x="90883" y="1178780"/>
                </a:lnTo>
                <a:lnTo>
                  <a:pt x="85375" y="1169905"/>
                </a:lnTo>
                <a:lnTo>
                  <a:pt x="85015" y="1168549"/>
                </a:lnTo>
                <a:lnTo>
                  <a:pt x="85015" y="1168549"/>
                </a:lnTo>
                <a:lnTo>
                  <a:pt x="84776" y="1167317"/>
                </a:lnTo>
                <a:lnTo>
                  <a:pt x="84776" y="1167317"/>
                </a:lnTo>
                <a:lnTo>
                  <a:pt x="84656" y="1165961"/>
                </a:lnTo>
                <a:lnTo>
                  <a:pt x="84656" y="1165961"/>
                </a:lnTo>
                <a:lnTo>
                  <a:pt x="84536" y="1164728"/>
                </a:lnTo>
                <a:lnTo>
                  <a:pt x="84536" y="1164728"/>
                </a:lnTo>
                <a:lnTo>
                  <a:pt x="84536" y="1163372"/>
                </a:lnTo>
                <a:lnTo>
                  <a:pt x="84536" y="1163372"/>
                </a:lnTo>
                <a:lnTo>
                  <a:pt x="84536" y="1162633"/>
                </a:lnTo>
                <a:lnTo>
                  <a:pt x="84536" y="1162633"/>
                </a:lnTo>
                <a:lnTo>
                  <a:pt x="84656" y="1162016"/>
                </a:lnTo>
                <a:lnTo>
                  <a:pt x="84656" y="1162016"/>
                </a:lnTo>
                <a:lnTo>
                  <a:pt x="84656" y="1162016"/>
                </a:lnTo>
                <a:lnTo>
                  <a:pt x="84656" y="1162016"/>
                </a:lnTo>
                <a:lnTo>
                  <a:pt x="84656" y="1160660"/>
                </a:lnTo>
                <a:lnTo>
                  <a:pt x="84656" y="1160660"/>
                </a:lnTo>
                <a:lnTo>
                  <a:pt x="84536" y="1158935"/>
                </a:lnTo>
                <a:lnTo>
                  <a:pt x="84536" y="1158935"/>
                </a:lnTo>
                <a:lnTo>
                  <a:pt x="84297" y="1157332"/>
                </a:lnTo>
                <a:lnTo>
                  <a:pt x="84297" y="1157332"/>
                </a:lnTo>
                <a:lnTo>
                  <a:pt x="83938" y="1155607"/>
                </a:lnTo>
                <a:lnTo>
                  <a:pt x="83938" y="1155607"/>
                </a:lnTo>
                <a:lnTo>
                  <a:pt x="72562" y="1137117"/>
                </a:lnTo>
                <a:lnTo>
                  <a:pt x="71485" y="1136131"/>
                </a:lnTo>
                <a:lnTo>
                  <a:pt x="71006" y="1135761"/>
                </a:lnTo>
                <a:lnTo>
                  <a:pt x="50770" y="1123804"/>
                </a:lnTo>
                <a:lnTo>
                  <a:pt x="50770" y="1123804"/>
                </a:lnTo>
                <a:lnTo>
                  <a:pt x="50650" y="1123804"/>
                </a:lnTo>
                <a:lnTo>
                  <a:pt x="22751" y="1097919"/>
                </a:lnTo>
                <a:lnTo>
                  <a:pt x="22032" y="1096686"/>
                </a:lnTo>
                <a:lnTo>
                  <a:pt x="21194" y="1095330"/>
                </a:lnTo>
                <a:lnTo>
                  <a:pt x="17602" y="1087934"/>
                </a:lnTo>
                <a:lnTo>
                  <a:pt x="17243" y="1086578"/>
                </a:lnTo>
                <a:lnTo>
                  <a:pt x="17243" y="1086578"/>
                </a:lnTo>
                <a:lnTo>
                  <a:pt x="17003" y="1085839"/>
                </a:lnTo>
                <a:lnTo>
                  <a:pt x="17003" y="1085839"/>
                </a:lnTo>
                <a:lnTo>
                  <a:pt x="17003" y="1085346"/>
                </a:lnTo>
                <a:lnTo>
                  <a:pt x="17003" y="1085346"/>
                </a:lnTo>
                <a:lnTo>
                  <a:pt x="16764" y="1083990"/>
                </a:lnTo>
                <a:lnTo>
                  <a:pt x="16764" y="1083990"/>
                </a:lnTo>
                <a:lnTo>
                  <a:pt x="16644" y="1082634"/>
                </a:lnTo>
                <a:lnTo>
                  <a:pt x="16644" y="1082634"/>
                </a:lnTo>
                <a:lnTo>
                  <a:pt x="16644" y="1081278"/>
                </a:lnTo>
                <a:lnTo>
                  <a:pt x="16644" y="1081278"/>
                </a:lnTo>
                <a:lnTo>
                  <a:pt x="16764" y="1080045"/>
                </a:lnTo>
                <a:lnTo>
                  <a:pt x="16764" y="1080045"/>
                </a:lnTo>
                <a:lnTo>
                  <a:pt x="17003" y="1078689"/>
                </a:lnTo>
                <a:lnTo>
                  <a:pt x="17003" y="1078689"/>
                </a:lnTo>
                <a:lnTo>
                  <a:pt x="17243" y="1077334"/>
                </a:lnTo>
                <a:lnTo>
                  <a:pt x="17243" y="1077334"/>
                </a:lnTo>
                <a:lnTo>
                  <a:pt x="17602" y="1076101"/>
                </a:lnTo>
                <a:lnTo>
                  <a:pt x="17841" y="1075608"/>
                </a:lnTo>
                <a:lnTo>
                  <a:pt x="17961" y="1075238"/>
                </a:lnTo>
                <a:lnTo>
                  <a:pt x="19877" y="1069445"/>
                </a:lnTo>
                <a:lnTo>
                  <a:pt x="20356" y="1067472"/>
                </a:lnTo>
                <a:lnTo>
                  <a:pt x="20356" y="1067472"/>
                </a:lnTo>
                <a:lnTo>
                  <a:pt x="20835" y="1065500"/>
                </a:lnTo>
                <a:lnTo>
                  <a:pt x="20835" y="1065500"/>
                </a:lnTo>
                <a:lnTo>
                  <a:pt x="21074" y="1063405"/>
                </a:lnTo>
                <a:lnTo>
                  <a:pt x="21074" y="1063405"/>
                </a:lnTo>
                <a:lnTo>
                  <a:pt x="21314" y="1061432"/>
                </a:lnTo>
                <a:lnTo>
                  <a:pt x="21314" y="1061432"/>
                </a:lnTo>
                <a:lnTo>
                  <a:pt x="21553" y="1059337"/>
                </a:lnTo>
                <a:lnTo>
                  <a:pt x="21553" y="1059337"/>
                </a:lnTo>
                <a:lnTo>
                  <a:pt x="21553" y="1057365"/>
                </a:lnTo>
                <a:lnTo>
                  <a:pt x="21553" y="1057365"/>
                </a:lnTo>
                <a:lnTo>
                  <a:pt x="21553" y="1055269"/>
                </a:lnTo>
                <a:lnTo>
                  <a:pt x="21553" y="1055269"/>
                </a:lnTo>
                <a:lnTo>
                  <a:pt x="21433" y="1053174"/>
                </a:lnTo>
                <a:lnTo>
                  <a:pt x="21433" y="1053174"/>
                </a:lnTo>
                <a:lnTo>
                  <a:pt x="21194" y="1051201"/>
                </a:lnTo>
                <a:lnTo>
                  <a:pt x="21194" y="1051201"/>
                </a:lnTo>
                <a:lnTo>
                  <a:pt x="20954" y="1049229"/>
                </a:lnTo>
                <a:lnTo>
                  <a:pt x="20954" y="1049229"/>
                </a:lnTo>
                <a:lnTo>
                  <a:pt x="20476" y="1047134"/>
                </a:lnTo>
                <a:lnTo>
                  <a:pt x="20476" y="1047134"/>
                </a:lnTo>
                <a:lnTo>
                  <a:pt x="19757" y="1044299"/>
                </a:lnTo>
                <a:lnTo>
                  <a:pt x="19158" y="1041710"/>
                </a:lnTo>
                <a:lnTo>
                  <a:pt x="19158" y="1041710"/>
                </a:lnTo>
                <a:lnTo>
                  <a:pt x="18560" y="1039121"/>
                </a:lnTo>
                <a:lnTo>
                  <a:pt x="18560" y="1039121"/>
                </a:lnTo>
                <a:lnTo>
                  <a:pt x="18081" y="1036533"/>
                </a:lnTo>
                <a:lnTo>
                  <a:pt x="18081" y="1036533"/>
                </a:lnTo>
                <a:lnTo>
                  <a:pt x="17721" y="1033821"/>
                </a:lnTo>
                <a:lnTo>
                  <a:pt x="17721" y="1033821"/>
                </a:lnTo>
                <a:lnTo>
                  <a:pt x="17482" y="1031233"/>
                </a:lnTo>
                <a:lnTo>
                  <a:pt x="17482" y="1031233"/>
                </a:lnTo>
                <a:lnTo>
                  <a:pt x="17243" y="1028521"/>
                </a:lnTo>
                <a:lnTo>
                  <a:pt x="17243" y="1028521"/>
                </a:lnTo>
                <a:lnTo>
                  <a:pt x="17123" y="1026918"/>
                </a:lnTo>
                <a:lnTo>
                  <a:pt x="17123" y="1026918"/>
                </a:lnTo>
                <a:lnTo>
                  <a:pt x="17243" y="1026302"/>
                </a:lnTo>
                <a:lnTo>
                  <a:pt x="17243" y="1026302"/>
                </a:lnTo>
                <a:lnTo>
                  <a:pt x="18081" y="1016071"/>
                </a:lnTo>
                <a:lnTo>
                  <a:pt x="18081" y="1016071"/>
                </a:lnTo>
                <a:lnTo>
                  <a:pt x="18081" y="1015824"/>
                </a:lnTo>
                <a:lnTo>
                  <a:pt x="18081" y="1015824"/>
                </a:lnTo>
                <a:lnTo>
                  <a:pt x="18440" y="1013359"/>
                </a:lnTo>
                <a:lnTo>
                  <a:pt x="18440" y="1013359"/>
                </a:lnTo>
                <a:lnTo>
                  <a:pt x="18679" y="1011017"/>
                </a:lnTo>
                <a:lnTo>
                  <a:pt x="18679" y="1011017"/>
                </a:lnTo>
                <a:lnTo>
                  <a:pt x="18799" y="1008552"/>
                </a:lnTo>
                <a:lnTo>
                  <a:pt x="18799" y="1008552"/>
                </a:lnTo>
                <a:lnTo>
                  <a:pt x="18919" y="1006087"/>
                </a:lnTo>
                <a:lnTo>
                  <a:pt x="18919" y="1006087"/>
                </a:lnTo>
                <a:lnTo>
                  <a:pt x="18919" y="1005840"/>
                </a:lnTo>
                <a:lnTo>
                  <a:pt x="18919" y="1005840"/>
                </a:lnTo>
                <a:lnTo>
                  <a:pt x="18919" y="1003621"/>
                </a:lnTo>
                <a:lnTo>
                  <a:pt x="18919" y="1003621"/>
                </a:lnTo>
                <a:lnTo>
                  <a:pt x="18799" y="1001526"/>
                </a:lnTo>
                <a:lnTo>
                  <a:pt x="18799" y="1001526"/>
                </a:lnTo>
                <a:lnTo>
                  <a:pt x="18799" y="1001279"/>
                </a:lnTo>
                <a:lnTo>
                  <a:pt x="18799" y="1001279"/>
                </a:lnTo>
                <a:lnTo>
                  <a:pt x="18560" y="998814"/>
                </a:lnTo>
                <a:lnTo>
                  <a:pt x="18560" y="998814"/>
                </a:lnTo>
                <a:lnTo>
                  <a:pt x="18200" y="996349"/>
                </a:lnTo>
                <a:lnTo>
                  <a:pt x="18200" y="996349"/>
                </a:lnTo>
                <a:lnTo>
                  <a:pt x="17841" y="994007"/>
                </a:lnTo>
                <a:lnTo>
                  <a:pt x="17841" y="994007"/>
                </a:lnTo>
                <a:lnTo>
                  <a:pt x="17602" y="992651"/>
                </a:lnTo>
                <a:lnTo>
                  <a:pt x="17602" y="992651"/>
                </a:lnTo>
                <a:lnTo>
                  <a:pt x="17482" y="990185"/>
                </a:lnTo>
                <a:lnTo>
                  <a:pt x="17482" y="990185"/>
                </a:lnTo>
                <a:lnTo>
                  <a:pt x="17482" y="987720"/>
                </a:lnTo>
                <a:lnTo>
                  <a:pt x="17482" y="987720"/>
                </a:lnTo>
                <a:lnTo>
                  <a:pt x="17482" y="987474"/>
                </a:lnTo>
                <a:lnTo>
                  <a:pt x="17482" y="987474"/>
                </a:lnTo>
                <a:lnTo>
                  <a:pt x="17482" y="985255"/>
                </a:lnTo>
                <a:lnTo>
                  <a:pt x="17482" y="985255"/>
                </a:lnTo>
                <a:lnTo>
                  <a:pt x="17721" y="982666"/>
                </a:lnTo>
                <a:lnTo>
                  <a:pt x="17721" y="982666"/>
                </a:lnTo>
                <a:lnTo>
                  <a:pt x="17841" y="980201"/>
                </a:lnTo>
                <a:lnTo>
                  <a:pt x="17841" y="980201"/>
                </a:lnTo>
                <a:lnTo>
                  <a:pt x="18200" y="977736"/>
                </a:lnTo>
                <a:lnTo>
                  <a:pt x="18200" y="977736"/>
                </a:lnTo>
                <a:lnTo>
                  <a:pt x="18679" y="975270"/>
                </a:lnTo>
                <a:lnTo>
                  <a:pt x="18679" y="975270"/>
                </a:lnTo>
                <a:lnTo>
                  <a:pt x="18679" y="975270"/>
                </a:lnTo>
                <a:lnTo>
                  <a:pt x="18679" y="975270"/>
                </a:lnTo>
                <a:lnTo>
                  <a:pt x="20236" y="969847"/>
                </a:lnTo>
                <a:lnTo>
                  <a:pt x="20835" y="967258"/>
                </a:lnTo>
                <a:lnTo>
                  <a:pt x="20835" y="967258"/>
                </a:lnTo>
                <a:lnTo>
                  <a:pt x="21314" y="964670"/>
                </a:lnTo>
                <a:lnTo>
                  <a:pt x="21314" y="964670"/>
                </a:lnTo>
                <a:lnTo>
                  <a:pt x="21793" y="962081"/>
                </a:lnTo>
                <a:lnTo>
                  <a:pt x="21793" y="962081"/>
                </a:lnTo>
                <a:lnTo>
                  <a:pt x="22032" y="959492"/>
                </a:lnTo>
                <a:lnTo>
                  <a:pt x="22032" y="959492"/>
                </a:lnTo>
                <a:lnTo>
                  <a:pt x="22272" y="956904"/>
                </a:lnTo>
                <a:lnTo>
                  <a:pt x="22272" y="956904"/>
                </a:lnTo>
                <a:lnTo>
                  <a:pt x="22391" y="954315"/>
                </a:lnTo>
                <a:lnTo>
                  <a:pt x="22391" y="954315"/>
                </a:lnTo>
                <a:lnTo>
                  <a:pt x="22511" y="951727"/>
                </a:lnTo>
                <a:lnTo>
                  <a:pt x="22511" y="951727"/>
                </a:lnTo>
                <a:lnTo>
                  <a:pt x="22511" y="949138"/>
                </a:lnTo>
                <a:lnTo>
                  <a:pt x="22511" y="949138"/>
                </a:lnTo>
                <a:lnTo>
                  <a:pt x="22391" y="946550"/>
                </a:lnTo>
                <a:lnTo>
                  <a:pt x="22391" y="946550"/>
                </a:lnTo>
                <a:lnTo>
                  <a:pt x="22152" y="944208"/>
                </a:lnTo>
                <a:lnTo>
                  <a:pt x="22152" y="944208"/>
                </a:lnTo>
                <a:lnTo>
                  <a:pt x="22152" y="943222"/>
                </a:lnTo>
                <a:lnTo>
                  <a:pt x="22152" y="943222"/>
                </a:lnTo>
                <a:lnTo>
                  <a:pt x="22152" y="940633"/>
                </a:lnTo>
                <a:lnTo>
                  <a:pt x="22152" y="940633"/>
                </a:lnTo>
                <a:lnTo>
                  <a:pt x="22152" y="938168"/>
                </a:lnTo>
                <a:lnTo>
                  <a:pt x="22152" y="938168"/>
                </a:lnTo>
                <a:lnTo>
                  <a:pt x="22272" y="935579"/>
                </a:lnTo>
                <a:lnTo>
                  <a:pt x="22272" y="935579"/>
                </a:lnTo>
                <a:lnTo>
                  <a:pt x="22511" y="933114"/>
                </a:lnTo>
                <a:lnTo>
                  <a:pt x="22511" y="933114"/>
                </a:lnTo>
                <a:lnTo>
                  <a:pt x="22870" y="930525"/>
                </a:lnTo>
                <a:lnTo>
                  <a:pt x="22870" y="930525"/>
                </a:lnTo>
                <a:lnTo>
                  <a:pt x="23110" y="929293"/>
                </a:lnTo>
                <a:lnTo>
                  <a:pt x="23110" y="929293"/>
                </a:lnTo>
                <a:lnTo>
                  <a:pt x="23469" y="925964"/>
                </a:lnTo>
                <a:lnTo>
                  <a:pt x="23469" y="925964"/>
                </a:lnTo>
                <a:lnTo>
                  <a:pt x="23828" y="922636"/>
                </a:lnTo>
                <a:lnTo>
                  <a:pt x="23828" y="922636"/>
                </a:lnTo>
                <a:lnTo>
                  <a:pt x="24068" y="919308"/>
                </a:lnTo>
                <a:lnTo>
                  <a:pt x="24068" y="919308"/>
                </a:lnTo>
                <a:lnTo>
                  <a:pt x="24187" y="915980"/>
                </a:lnTo>
                <a:lnTo>
                  <a:pt x="24187" y="915980"/>
                </a:lnTo>
                <a:lnTo>
                  <a:pt x="24307" y="914254"/>
                </a:lnTo>
                <a:lnTo>
                  <a:pt x="24307" y="914254"/>
                </a:lnTo>
                <a:lnTo>
                  <a:pt x="24307" y="913761"/>
                </a:lnTo>
                <a:lnTo>
                  <a:pt x="24307" y="913761"/>
                </a:lnTo>
                <a:lnTo>
                  <a:pt x="24307" y="912652"/>
                </a:lnTo>
                <a:lnTo>
                  <a:pt x="24307" y="912652"/>
                </a:lnTo>
                <a:lnTo>
                  <a:pt x="24187" y="909324"/>
                </a:lnTo>
                <a:lnTo>
                  <a:pt x="24187" y="909324"/>
                </a:lnTo>
                <a:lnTo>
                  <a:pt x="24187" y="905996"/>
                </a:lnTo>
                <a:lnTo>
                  <a:pt x="24187" y="905996"/>
                </a:lnTo>
                <a:lnTo>
                  <a:pt x="24068" y="905872"/>
                </a:lnTo>
                <a:lnTo>
                  <a:pt x="24068" y="905872"/>
                </a:lnTo>
                <a:lnTo>
                  <a:pt x="23948" y="901928"/>
                </a:lnTo>
                <a:lnTo>
                  <a:pt x="23948" y="901928"/>
                </a:lnTo>
                <a:lnTo>
                  <a:pt x="23589" y="897860"/>
                </a:lnTo>
                <a:lnTo>
                  <a:pt x="23589" y="897860"/>
                </a:lnTo>
                <a:lnTo>
                  <a:pt x="23230" y="893916"/>
                </a:lnTo>
                <a:lnTo>
                  <a:pt x="23230" y="893916"/>
                </a:lnTo>
                <a:lnTo>
                  <a:pt x="22751" y="889971"/>
                </a:lnTo>
                <a:lnTo>
                  <a:pt x="22751" y="889971"/>
                </a:lnTo>
                <a:lnTo>
                  <a:pt x="22272" y="886027"/>
                </a:lnTo>
                <a:lnTo>
                  <a:pt x="22272" y="886027"/>
                </a:lnTo>
                <a:lnTo>
                  <a:pt x="22152" y="885780"/>
                </a:lnTo>
                <a:lnTo>
                  <a:pt x="22152" y="885780"/>
                </a:lnTo>
                <a:lnTo>
                  <a:pt x="21673" y="880850"/>
                </a:lnTo>
                <a:lnTo>
                  <a:pt x="21673" y="880850"/>
                </a:lnTo>
                <a:lnTo>
                  <a:pt x="19757" y="860881"/>
                </a:lnTo>
                <a:lnTo>
                  <a:pt x="19757" y="860881"/>
                </a:lnTo>
                <a:lnTo>
                  <a:pt x="17721" y="840912"/>
                </a:lnTo>
                <a:lnTo>
                  <a:pt x="17721" y="840912"/>
                </a:lnTo>
                <a:lnTo>
                  <a:pt x="16764" y="831420"/>
                </a:lnTo>
                <a:lnTo>
                  <a:pt x="16764" y="831420"/>
                </a:lnTo>
                <a:lnTo>
                  <a:pt x="16644" y="830434"/>
                </a:lnTo>
                <a:lnTo>
                  <a:pt x="16644" y="830434"/>
                </a:lnTo>
                <a:lnTo>
                  <a:pt x="16524" y="827229"/>
                </a:lnTo>
                <a:lnTo>
                  <a:pt x="16524" y="827229"/>
                </a:lnTo>
                <a:lnTo>
                  <a:pt x="16404" y="824025"/>
                </a:lnTo>
                <a:lnTo>
                  <a:pt x="16404" y="824025"/>
                </a:lnTo>
                <a:lnTo>
                  <a:pt x="16045" y="820820"/>
                </a:lnTo>
                <a:lnTo>
                  <a:pt x="16045" y="820820"/>
                </a:lnTo>
                <a:lnTo>
                  <a:pt x="15686" y="817615"/>
                </a:lnTo>
                <a:lnTo>
                  <a:pt x="15686" y="817615"/>
                </a:lnTo>
                <a:lnTo>
                  <a:pt x="15207" y="814533"/>
                </a:lnTo>
                <a:lnTo>
                  <a:pt x="15207" y="814533"/>
                </a:lnTo>
                <a:lnTo>
                  <a:pt x="14728" y="811328"/>
                </a:lnTo>
                <a:lnTo>
                  <a:pt x="14728" y="811328"/>
                </a:lnTo>
                <a:lnTo>
                  <a:pt x="14010" y="808123"/>
                </a:lnTo>
                <a:lnTo>
                  <a:pt x="14010" y="808123"/>
                </a:lnTo>
                <a:lnTo>
                  <a:pt x="0" y="761776"/>
                </a:lnTo>
                <a:lnTo>
                  <a:pt x="831234" y="0"/>
                </a:lnTo>
                <a:lnTo>
                  <a:pt x="852428" y="11464"/>
                </a:lnTo>
                <a:lnTo>
                  <a:pt x="853506" y="90230"/>
                </a:lnTo>
                <a:lnTo>
                  <a:pt x="888230" y="88504"/>
                </a:lnTo>
                <a:lnTo>
                  <a:pt x="876496" y="262184"/>
                </a:lnTo>
                <a:lnTo>
                  <a:pt x="1044491" y="331336"/>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1" name="ขอบเขตเขตบางคอแหลม"/>
          <p:cNvSpPr/>
          <p:nvPr/>
        </p:nvSpPr>
        <p:spPr>
          <a:xfrm>
            <a:off x="4789080" y="5855760"/>
            <a:ext cx="495360" cy="365400"/>
          </a:xfrm>
          <a:custGeom>
            <a:avLst/>
            <a:gdLst/>
            <a:ahLst/>
            <a:rect l="l" t="t" r="r" b="b"/>
            <a:pathLst>
              <a:path w="495603" h="365726">
                <a:moveTo>
                  <a:pt x="294560" y="87641"/>
                </a:moveTo>
                <a:lnTo>
                  <a:pt x="481115" y="123881"/>
                </a:lnTo>
                <a:lnTo>
                  <a:pt x="495603" y="159998"/>
                </a:lnTo>
                <a:lnTo>
                  <a:pt x="330243" y="365726"/>
                </a:lnTo>
                <a:lnTo>
                  <a:pt x="192901" y="323816"/>
                </a:lnTo>
                <a:lnTo>
                  <a:pt x="122254" y="310257"/>
                </a:lnTo>
                <a:lnTo>
                  <a:pt x="0" y="210413"/>
                </a:lnTo>
                <a:lnTo>
                  <a:pt x="103216" y="84190"/>
                </a:lnTo>
                <a:lnTo>
                  <a:pt x="212778" y="0"/>
                </a:lnTo>
                <a:lnTo>
                  <a:pt x="316233" y="44499"/>
                </a:lnTo>
                <a:lnTo>
                  <a:pt x="294560" y="87641"/>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2" name="ขอบเขตเขตบางซื่อ"/>
          <p:cNvSpPr/>
          <p:nvPr/>
        </p:nvSpPr>
        <p:spPr>
          <a:xfrm>
            <a:off x="4986000" y="4155840"/>
            <a:ext cx="459720" cy="642240"/>
          </a:xfrm>
          <a:custGeom>
            <a:avLst/>
            <a:gdLst/>
            <a:ahLst/>
            <a:rect l="l" t="t" r="r" b="b"/>
            <a:pathLst>
              <a:path w="459921" h="642579">
                <a:moveTo>
                  <a:pt x="367601" y="349579"/>
                </a:moveTo>
                <a:lnTo>
                  <a:pt x="459921" y="395433"/>
                </a:lnTo>
                <a:lnTo>
                  <a:pt x="371074" y="642579"/>
                </a:lnTo>
                <a:lnTo>
                  <a:pt x="120099" y="609790"/>
                </a:lnTo>
                <a:lnTo>
                  <a:pt x="103096" y="450163"/>
                </a:lnTo>
                <a:lnTo>
                  <a:pt x="103335" y="449300"/>
                </a:lnTo>
                <a:lnTo>
                  <a:pt x="103335" y="449300"/>
                </a:lnTo>
                <a:lnTo>
                  <a:pt x="7903" y="417744"/>
                </a:lnTo>
                <a:lnTo>
                  <a:pt x="599" y="406034"/>
                </a:lnTo>
                <a:lnTo>
                  <a:pt x="0" y="403076"/>
                </a:lnTo>
                <a:lnTo>
                  <a:pt x="0" y="403076"/>
                </a:lnTo>
                <a:lnTo>
                  <a:pt x="239" y="399254"/>
                </a:lnTo>
                <a:lnTo>
                  <a:pt x="239" y="399254"/>
                </a:lnTo>
                <a:lnTo>
                  <a:pt x="958" y="394201"/>
                </a:lnTo>
                <a:lnTo>
                  <a:pt x="958" y="394201"/>
                </a:lnTo>
                <a:lnTo>
                  <a:pt x="2515" y="385819"/>
                </a:lnTo>
                <a:lnTo>
                  <a:pt x="2515" y="385819"/>
                </a:lnTo>
                <a:lnTo>
                  <a:pt x="7065" y="372999"/>
                </a:lnTo>
                <a:lnTo>
                  <a:pt x="6945" y="369917"/>
                </a:lnTo>
                <a:lnTo>
                  <a:pt x="6945" y="369917"/>
                </a:lnTo>
                <a:lnTo>
                  <a:pt x="1796" y="361289"/>
                </a:lnTo>
                <a:lnTo>
                  <a:pt x="718" y="355495"/>
                </a:lnTo>
                <a:lnTo>
                  <a:pt x="718" y="355495"/>
                </a:lnTo>
                <a:lnTo>
                  <a:pt x="1317" y="352167"/>
                </a:lnTo>
                <a:lnTo>
                  <a:pt x="1317" y="352167"/>
                </a:lnTo>
                <a:lnTo>
                  <a:pt x="8621" y="345511"/>
                </a:lnTo>
                <a:lnTo>
                  <a:pt x="26582" y="325789"/>
                </a:lnTo>
                <a:lnTo>
                  <a:pt x="26582" y="325542"/>
                </a:lnTo>
                <a:lnTo>
                  <a:pt x="26582" y="325542"/>
                </a:lnTo>
                <a:lnTo>
                  <a:pt x="39993" y="324433"/>
                </a:lnTo>
                <a:lnTo>
                  <a:pt x="40592" y="320858"/>
                </a:lnTo>
                <a:lnTo>
                  <a:pt x="40592" y="320858"/>
                </a:lnTo>
                <a:lnTo>
                  <a:pt x="41310" y="315558"/>
                </a:lnTo>
                <a:lnTo>
                  <a:pt x="41310" y="315558"/>
                </a:lnTo>
                <a:lnTo>
                  <a:pt x="82381" y="305820"/>
                </a:lnTo>
                <a:lnTo>
                  <a:pt x="82501" y="302861"/>
                </a:lnTo>
                <a:lnTo>
                  <a:pt x="82501" y="302861"/>
                </a:lnTo>
                <a:lnTo>
                  <a:pt x="82261" y="299410"/>
                </a:lnTo>
                <a:lnTo>
                  <a:pt x="82261" y="299410"/>
                </a:lnTo>
                <a:lnTo>
                  <a:pt x="438966" y="1726"/>
                </a:lnTo>
                <a:lnTo>
                  <a:pt x="446390" y="0"/>
                </a:lnTo>
                <a:lnTo>
                  <a:pt x="367601" y="349579"/>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3" name="ขอบเขตเขตบางนา"/>
          <p:cNvSpPr/>
          <p:nvPr/>
        </p:nvSpPr>
        <p:spPr>
          <a:xfrm>
            <a:off x="5857920" y="6194520"/>
            <a:ext cx="888480" cy="401760"/>
          </a:xfrm>
          <a:custGeom>
            <a:avLst/>
            <a:gdLst/>
            <a:ahLst/>
            <a:rect l="l" t="t" r="r" b="b"/>
            <a:pathLst>
              <a:path w="888709" h="402089">
                <a:moveTo>
                  <a:pt x="539189" y="0"/>
                </a:moveTo>
                <a:lnTo>
                  <a:pt x="558107" y="76301"/>
                </a:lnTo>
                <a:lnTo>
                  <a:pt x="729695" y="81971"/>
                </a:lnTo>
                <a:lnTo>
                  <a:pt x="790642" y="184157"/>
                </a:lnTo>
                <a:lnTo>
                  <a:pt x="888709" y="189704"/>
                </a:lnTo>
                <a:lnTo>
                  <a:pt x="877813" y="217809"/>
                </a:lnTo>
                <a:lnTo>
                  <a:pt x="877813" y="217809"/>
                </a:lnTo>
                <a:lnTo>
                  <a:pt x="874340" y="234449"/>
                </a:lnTo>
                <a:lnTo>
                  <a:pt x="847279" y="318639"/>
                </a:lnTo>
                <a:lnTo>
                  <a:pt x="820458" y="402089"/>
                </a:lnTo>
                <a:lnTo>
                  <a:pt x="804532" y="398268"/>
                </a:lnTo>
                <a:lnTo>
                  <a:pt x="783578" y="393091"/>
                </a:lnTo>
                <a:lnTo>
                  <a:pt x="774477" y="390872"/>
                </a:lnTo>
                <a:lnTo>
                  <a:pt x="766694" y="388900"/>
                </a:lnTo>
                <a:lnTo>
                  <a:pt x="697485" y="372013"/>
                </a:lnTo>
                <a:lnTo>
                  <a:pt x="616421" y="352044"/>
                </a:lnTo>
                <a:lnTo>
                  <a:pt x="604207" y="348962"/>
                </a:lnTo>
                <a:lnTo>
                  <a:pt x="442559" y="307052"/>
                </a:lnTo>
                <a:lnTo>
                  <a:pt x="150872" y="248871"/>
                </a:lnTo>
                <a:lnTo>
                  <a:pt x="0" y="200182"/>
                </a:lnTo>
                <a:lnTo>
                  <a:pt x="0" y="200182"/>
                </a:lnTo>
                <a:lnTo>
                  <a:pt x="359" y="197593"/>
                </a:lnTo>
                <a:lnTo>
                  <a:pt x="718" y="195621"/>
                </a:lnTo>
                <a:lnTo>
                  <a:pt x="718" y="195621"/>
                </a:lnTo>
                <a:lnTo>
                  <a:pt x="111717" y="26009"/>
                </a:lnTo>
                <a:lnTo>
                  <a:pt x="113753" y="17997"/>
                </a:lnTo>
                <a:lnTo>
                  <a:pt x="250975" y="56209"/>
                </a:lnTo>
                <a:lnTo>
                  <a:pt x="539189" y="0"/>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4" name="ขอบเขตเขตบางบอน"/>
          <p:cNvSpPr/>
          <p:nvPr/>
        </p:nvSpPr>
        <p:spPr>
          <a:xfrm>
            <a:off x="3044520" y="6081840"/>
            <a:ext cx="1226520" cy="897840"/>
          </a:xfrm>
          <a:custGeom>
            <a:avLst/>
            <a:gdLst/>
            <a:ahLst/>
            <a:rect l="l" t="t" r="r" b="b"/>
            <a:pathLst>
              <a:path w="1226974" h="898230">
                <a:moveTo>
                  <a:pt x="1226974" y="136454"/>
                </a:moveTo>
                <a:lnTo>
                  <a:pt x="395740" y="898230"/>
                </a:lnTo>
                <a:lnTo>
                  <a:pt x="330961" y="897244"/>
                </a:lnTo>
                <a:lnTo>
                  <a:pt x="328207" y="852375"/>
                </a:lnTo>
                <a:lnTo>
                  <a:pt x="328207" y="852375"/>
                </a:lnTo>
                <a:lnTo>
                  <a:pt x="275761" y="790004"/>
                </a:lnTo>
                <a:lnTo>
                  <a:pt x="265703" y="737616"/>
                </a:lnTo>
                <a:lnTo>
                  <a:pt x="265703" y="737616"/>
                </a:lnTo>
                <a:lnTo>
                  <a:pt x="127283" y="690406"/>
                </a:lnTo>
                <a:lnTo>
                  <a:pt x="127044" y="689543"/>
                </a:lnTo>
                <a:lnTo>
                  <a:pt x="127044" y="689543"/>
                </a:lnTo>
                <a:lnTo>
                  <a:pt x="126924" y="688926"/>
                </a:lnTo>
                <a:lnTo>
                  <a:pt x="126924" y="688926"/>
                </a:lnTo>
                <a:lnTo>
                  <a:pt x="126805" y="688557"/>
                </a:lnTo>
                <a:lnTo>
                  <a:pt x="126805" y="688557"/>
                </a:lnTo>
                <a:lnTo>
                  <a:pt x="126685" y="687940"/>
                </a:lnTo>
                <a:lnTo>
                  <a:pt x="126685" y="687940"/>
                </a:lnTo>
                <a:lnTo>
                  <a:pt x="126565" y="686584"/>
                </a:lnTo>
                <a:lnTo>
                  <a:pt x="126565" y="686584"/>
                </a:lnTo>
                <a:lnTo>
                  <a:pt x="126206" y="684612"/>
                </a:lnTo>
                <a:lnTo>
                  <a:pt x="126206" y="684612"/>
                </a:lnTo>
                <a:lnTo>
                  <a:pt x="126086" y="682640"/>
                </a:lnTo>
                <a:lnTo>
                  <a:pt x="126086" y="682640"/>
                </a:lnTo>
                <a:lnTo>
                  <a:pt x="126086" y="682517"/>
                </a:lnTo>
                <a:lnTo>
                  <a:pt x="126086" y="682517"/>
                </a:lnTo>
                <a:lnTo>
                  <a:pt x="125966" y="680668"/>
                </a:lnTo>
                <a:lnTo>
                  <a:pt x="125966" y="680668"/>
                </a:lnTo>
                <a:lnTo>
                  <a:pt x="125966" y="680421"/>
                </a:lnTo>
                <a:lnTo>
                  <a:pt x="125966" y="680421"/>
                </a:lnTo>
                <a:lnTo>
                  <a:pt x="125966" y="679805"/>
                </a:lnTo>
                <a:lnTo>
                  <a:pt x="125966" y="679805"/>
                </a:lnTo>
                <a:lnTo>
                  <a:pt x="125727" y="678819"/>
                </a:lnTo>
                <a:lnTo>
                  <a:pt x="125727" y="678819"/>
                </a:lnTo>
                <a:lnTo>
                  <a:pt x="89206" y="675984"/>
                </a:lnTo>
                <a:lnTo>
                  <a:pt x="87650" y="676230"/>
                </a:lnTo>
                <a:lnTo>
                  <a:pt x="87650" y="676230"/>
                </a:lnTo>
                <a:lnTo>
                  <a:pt x="22870" y="662301"/>
                </a:lnTo>
                <a:lnTo>
                  <a:pt x="3712" y="630869"/>
                </a:lnTo>
                <a:lnTo>
                  <a:pt x="5508" y="611393"/>
                </a:lnTo>
                <a:lnTo>
                  <a:pt x="5508" y="611393"/>
                </a:lnTo>
                <a:lnTo>
                  <a:pt x="6945" y="588712"/>
                </a:lnTo>
                <a:lnTo>
                  <a:pt x="6945" y="588712"/>
                </a:lnTo>
                <a:lnTo>
                  <a:pt x="7544" y="561224"/>
                </a:lnTo>
                <a:lnTo>
                  <a:pt x="7544" y="561224"/>
                </a:lnTo>
                <a:lnTo>
                  <a:pt x="8142" y="528929"/>
                </a:lnTo>
                <a:lnTo>
                  <a:pt x="8142" y="528929"/>
                </a:lnTo>
                <a:lnTo>
                  <a:pt x="8142" y="497127"/>
                </a:lnTo>
                <a:lnTo>
                  <a:pt x="8142" y="497127"/>
                </a:lnTo>
                <a:lnTo>
                  <a:pt x="6107" y="484430"/>
                </a:lnTo>
                <a:lnTo>
                  <a:pt x="6107" y="484430"/>
                </a:lnTo>
                <a:lnTo>
                  <a:pt x="0" y="480116"/>
                </a:lnTo>
                <a:lnTo>
                  <a:pt x="486503" y="274880"/>
                </a:lnTo>
                <a:lnTo>
                  <a:pt x="573075" y="305820"/>
                </a:lnTo>
                <a:lnTo>
                  <a:pt x="743704" y="214850"/>
                </a:lnTo>
                <a:lnTo>
                  <a:pt x="997074" y="75315"/>
                </a:lnTo>
                <a:lnTo>
                  <a:pt x="1117532" y="0"/>
                </a:lnTo>
                <a:lnTo>
                  <a:pt x="1226974" y="136454"/>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5" name="ขอบเขตเขตบางพลัด"/>
          <p:cNvSpPr/>
          <p:nvPr/>
        </p:nvSpPr>
        <p:spPr>
          <a:xfrm>
            <a:off x="4501440" y="4605840"/>
            <a:ext cx="604440" cy="633600"/>
          </a:xfrm>
          <a:custGeom>
            <a:avLst/>
            <a:gdLst/>
            <a:ahLst/>
            <a:rect l="l" t="t" r="r" b="b"/>
            <a:pathLst>
              <a:path w="604926" h="633827">
                <a:moveTo>
                  <a:pt x="300188" y="632964"/>
                </a:moveTo>
                <a:lnTo>
                  <a:pt x="299110" y="633827"/>
                </a:lnTo>
                <a:lnTo>
                  <a:pt x="192422" y="494785"/>
                </a:lnTo>
                <a:lnTo>
                  <a:pt x="30893" y="316544"/>
                </a:lnTo>
                <a:lnTo>
                  <a:pt x="0" y="324926"/>
                </a:lnTo>
                <a:lnTo>
                  <a:pt x="1317" y="303231"/>
                </a:lnTo>
                <a:lnTo>
                  <a:pt x="9220" y="301999"/>
                </a:lnTo>
                <a:lnTo>
                  <a:pt x="211221" y="230505"/>
                </a:lnTo>
                <a:lnTo>
                  <a:pt x="337068" y="186376"/>
                </a:lnTo>
                <a:lnTo>
                  <a:pt x="587923" y="0"/>
                </a:lnTo>
                <a:lnTo>
                  <a:pt x="604926" y="159628"/>
                </a:lnTo>
                <a:lnTo>
                  <a:pt x="503746" y="296945"/>
                </a:lnTo>
                <a:lnTo>
                  <a:pt x="476325" y="326035"/>
                </a:lnTo>
                <a:lnTo>
                  <a:pt x="434656" y="397036"/>
                </a:lnTo>
                <a:lnTo>
                  <a:pt x="393106" y="499962"/>
                </a:lnTo>
                <a:lnTo>
                  <a:pt x="344971" y="590561"/>
                </a:lnTo>
                <a:lnTo>
                  <a:pt x="300188" y="632964"/>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6" name="ขอบเขตเขตบางรัก"/>
          <p:cNvSpPr/>
          <p:nvPr/>
        </p:nvSpPr>
        <p:spPr>
          <a:xfrm>
            <a:off x="5052600" y="5535000"/>
            <a:ext cx="388800" cy="239400"/>
          </a:xfrm>
          <a:custGeom>
            <a:avLst/>
            <a:gdLst/>
            <a:ahLst/>
            <a:rect l="l" t="t" r="r" b="b"/>
            <a:pathLst>
              <a:path w="389035" h="239750">
                <a:moveTo>
                  <a:pt x="296955" y="105145"/>
                </a:moveTo>
                <a:lnTo>
                  <a:pt x="389035" y="144959"/>
                </a:lnTo>
                <a:lnTo>
                  <a:pt x="217687" y="198826"/>
                </a:lnTo>
                <a:lnTo>
                  <a:pt x="37000" y="239750"/>
                </a:lnTo>
                <a:lnTo>
                  <a:pt x="0" y="229889"/>
                </a:lnTo>
                <a:lnTo>
                  <a:pt x="3712" y="108843"/>
                </a:lnTo>
                <a:lnTo>
                  <a:pt x="37958" y="76547"/>
                </a:lnTo>
                <a:lnTo>
                  <a:pt x="43705" y="0"/>
                </a:lnTo>
                <a:lnTo>
                  <a:pt x="111598" y="26872"/>
                </a:lnTo>
                <a:lnTo>
                  <a:pt x="200205" y="63235"/>
                </a:lnTo>
                <a:lnTo>
                  <a:pt x="258399" y="88874"/>
                </a:lnTo>
                <a:lnTo>
                  <a:pt x="293602" y="103789"/>
                </a:lnTo>
                <a:lnTo>
                  <a:pt x="296955" y="105145"/>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7" name="ขอบเขตเขตบางเขน"/>
          <p:cNvSpPr/>
          <p:nvPr/>
        </p:nvSpPr>
        <p:spPr>
          <a:xfrm>
            <a:off x="5942880" y="3589920"/>
            <a:ext cx="1172520" cy="654840"/>
          </a:xfrm>
          <a:custGeom>
            <a:avLst/>
            <a:gdLst/>
            <a:ahLst/>
            <a:rect l="l" t="t" r="r" b="b"/>
            <a:pathLst>
              <a:path w="1172732" h="655029">
                <a:moveTo>
                  <a:pt x="793995" y="159505"/>
                </a:moveTo>
                <a:lnTo>
                  <a:pt x="798545" y="116855"/>
                </a:lnTo>
                <a:lnTo>
                  <a:pt x="897211" y="208441"/>
                </a:lnTo>
                <a:lnTo>
                  <a:pt x="1135373" y="198086"/>
                </a:lnTo>
                <a:lnTo>
                  <a:pt x="1172732" y="267238"/>
                </a:lnTo>
                <a:lnTo>
                  <a:pt x="1124238" y="457066"/>
                </a:lnTo>
                <a:lnTo>
                  <a:pt x="1064727" y="484184"/>
                </a:lnTo>
                <a:lnTo>
                  <a:pt x="920201" y="489977"/>
                </a:lnTo>
                <a:lnTo>
                  <a:pt x="865719" y="592410"/>
                </a:lnTo>
                <a:lnTo>
                  <a:pt x="757834" y="609791"/>
                </a:lnTo>
                <a:lnTo>
                  <a:pt x="597502" y="637648"/>
                </a:lnTo>
                <a:lnTo>
                  <a:pt x="506859" y="655029"/>
                </a:lnTo>
                <a:lnTo>
                  <a:pt x="389274" y="583042"/>
                </a:lnTo>
                <a:lnTo>
                  <a:pt x="40951" y="640607"/>
                </a:lnTo>
                <a:lnTo>
                  <a:pt x="0" y="454723"/>
                </a:lnTo>
                <a:lnTo>
                  <a:pt x="19637" y="202031"/>
                </a:lnTo>
                <a:lnTo>
                  <a:pt x="99384" y="100091"/>
                </a:lnTo>
                <a:lnTo>
                  <a:pt x="266301" y="0"/>
                </a:lnTo>
                <a:lnTo>
                  <a:pt x="276120" y="100337"/>
                </a:lnTo>
                <a:lnTo>
                  <a:pt x="438966" y="158395"/>
                </a:lnTo>
                <a:lnTo>
                  <a:pt x="643362" y="112541"/>
                </a:lnTo>
                <a:lnTo>
                  <a:pt x="793995" y="159505"/>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8" name="ขอบเขตเขตบางแค"/>
          <p:cNvSpPr/>
          <p:nvPr/>
        </p:nvSpPr>
        <p:spPr>
          <a:xfrm>
            <a:off x="3143160" y="5360760"/>
            <a:ext cx="898200" cy="1026360"/>
          </a:xfrm>
          <a:custGeom>
            <a:avLst/>
            <a:gdLst/>
            <a:ahLst/>
            <a:rect l="l" t="t" r="r" b="b"/>
            <a:pathLst>
              <a:path w="898408" h="1026795">
                <a:moveTo>
                  <a:pt x="878651" y="492073"/>
                </a:moveTo>
                <a:lnTo>
                  <a:pt x="898408" y="796290"/>
                </a:lnTo>
                <a:lnTo>
                  <a:pt x="645039" y="935826"/>
                </a:lnTo>
                <a:lnTo>
                  <a:pt x="474409" y="1026795"/>
                </a:lnTo>
                <a:lnTo>
                  <a:pt x="387837" y="995856"/>
                </a:lnTo>
                <a:lnTo>
                  <a:pt x="295159" y="635799"/>
                </a:lnTo>
                <a:lnTo>
                  <a:pt x="146442" y="318393"/>
                </a:lnTo>
                <a:lnTo>
                  <a:pt x="80345" y="174296"/>
                </a:lnTo>
                <a:lnTo>
                  <a:pt x="0" y="0"/>
                </a:lnTo>
                <a:lnTo>
                  <a:pt x="638333" y="33405"/>
                </a:lnTo>
                <a:lnTo>
                  <a:pt x="727659" y="52388"/>
                </a:lnTo>
                <a:lnTo>
                  <a:pt x="780584" y="258609"/>
                </a:lnTo>
                <a:lnTo>
                  <a:pt x="865001" y="247269"/>
                </a:lnTo>
                <a:lnTo>
                  <a:pt x="867276" y="283879"/>
                </a:lnTo>
                <a:lnTo>
                  <a:pt x="876137" y="455463"/>
                </a:lnTo>
                <a:lnTo>
                  <a:pt x="878651" y="492073"/>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9" name="ขอบเขตเขตบึงกุ่ม"/>
          <p:cNvSpPr/>
          <p:nvPr/>
        </p:nvSpPr>
        <p:spPr>
          <a:xfrm>
            <a:off x="6387840" y="4199400"/>
            <a:ext cx="617760" cy="933120"/>
          </a:xfrm>
          <a:custGeom>
            <a:avLst/>
            <a:gdLst/>
            <a:ahLst/>
            <a:rect l="l" t="t" r="r" b="b"/>
            <a:pathLst>
              <a:path w="618097" h="933484">
                <a:moveTo>
                  <a:pt x="312880" y="0"/>
                </a:moveTo>
                <a:lnTo>
                  <a:pt x="299948" y="153218"/>
                </a:lnTo>
                <a:lnTo>
                  <a:pt x="403883" y="132879"/>
                </a:lnTo>
                <a:lnTo>
                  <a:pt x="455371" y="190074"/>
                </a:lnTo>
                <a:lnTo>
                  <a:pt x="470697" y="445109"/>
                </a:lnTo>
                <a:lnTo>
                  <a:pt x="598101" y="615337"/>
                </a:lnTo>
                <a:lnTo>
                  <a:pt x="618097" y="804425"/>
                </a:lnTo>
                <a:lnTo>
                  <a:pt x="492251" y="875796"/>
                </a:lnTo>
                <a:lnTo>
                  <a:pt x="390112" y="933484"/>
                </a:lnTo>
                <a:lnTo>
                  <a:pt x="295159" y="760297"/>
                </a:lnTo>
                <a:lnTo>
                  <a:pt x="228583" y="732932"/>
                </a:lnTo>
                <a:lnTo>
                  <a:pt x="93038" y="334540"/>
                </a:lnTo>
                <a:lnTo>
                  <a:pt x="0" y="359070"/>
                </a:lnTo>
                <a:lnTo>
                  <a:pt x="152549" y="27858"/>
                </a:lnTo>
                <a:lnTo>
                  <a:pt x="312880" y="0"/>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0" name="ขอบเขตเขตปทุมวัน"/>
          <p:cNvSpPr/>
          <p:nvPr/>
        </p:nvSpPr>
        <p:spPr>
          <a:xfrm>
            <a:off x="5096520" y="5348520"/>
            <a:ext cx="446040" cy="374400"/>
          </a:xfrm>
          <a:custGeom>
            <a:avLst/>
            <a:gdLst/>
            <a:ahLst/>
            <a:rect l="l" t="t" r="r" b="b"/>
            <a:pathLst>
              <a:path w="446390" h="374725">
                <a:moveTo>
                  <a:pt x="412743" y="59537"/>
                </a:moveTo>
                <a:lnTo>
                  <a:pt x="419688" y="128319"/>
                </a:lnTo>
                <a:lnTo>
                  <a:pt x="446390" y="374725"/>
                </a:lnTo>
                <a:lnTo>
                  <a:pt x="345330" y="331459"/>
                </a:lnTo>
                <a:lnTo>
                  <a:pt x="253250" y="291644"/>
                </a:lnTo>
                <a:lnTo>
                  <a:pt x="249897" y="290288"/>
                </a:lnTo>
                <a:lnTo>
                  <a:pt x="214694" y="275373"/>
                </a:lnTo>
                <a:lnTo>
                  <a:pt x="156500" y="249734"/>
                </a:lnTo>
                <a:lnTo>
                  <a:pt x="67893" y="213371"/>
                </a:lnTo>
                <a:lnTo>
                  <a:pt x="0" y="186499"/>
                </a:lnTo>
                <a:lnTo>
                  <a:pt x="7424" y="93311"/>
                </a:lnTo>
                <a:lnTo>
                  <a:pt x="14129" y="50292"/>
                </a:lnTo>
                <a:lnTo>
                  <a:pt x="20236" y="0"/>
                </a:lnTo>
                <a:lnTo>
                  <a:pt x="39394" y="5793"/>
                </a:lnTo>
                <a:lnTo>
                  <a:pt x="114232" y="47827"/>
                </a:lnTo>
                <a:lnTo>
                  <a:pt x="185836" y="48073"/>
                </a:lnTo>
                <a:lnTo>
                  <a:pt x="303062" y="46101"/>
                </a:lnTo>
                <a:lnTo>
                  <a:pt x="412743" y="59537"/>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1" name="ขอบเขตเขตประเวศ"/>
          <p:cNvSpPr/>
          <p:nvPr/>
        </p:nvSpPr>
        <p:spPr>
          <a:xfrm>
            <a:off x="6513840" y="5532840"/>
            <a:ext cx="932760" cy="1073160"/>
          </a:xfrm>
          <a:custGeom>
            <a:avLst/>
            <a:gdLst/>
            <a:ahLst/>
            <a:rect l="l" t="t" r="r" b="b"/>
            <a:pathLst>
              <a:path w="933252" h="1073389">
                <a:moveTo>
                  <a:pt x="909305" y="530531"/>
                </a:moveTo>
                <a:lnTo>
                  <a:pt x="909305" y="530531"/>
                </a:lnTo>
                <a:lnTo>
                  <a:pt x="907748" y="539653"/>
                </a:lnTo>
                <a:lnTo>
                  <a:pt x="907748" y="539653"/>
                </a:lnTo>
                <a:lnTo>
                  <a:pt x="905353" y="553705"/>
                </a:lnTo>
                <a:lnTo>
                  <a:pt x="905353" y="553705"/>
                </a:lnTo>
                <a:lnTo>
                  <a:pt x="903437" y="564676"/>
                </a:lnTo>
                <a:lnTo>
                  <a:pt x="903437" y="564676"/>
                </a:lnTo>
                <a:lnTo>
                  <a:pt x="902719" y="574414"/>
                </a:lnTo>
                <a:lnTo>
                  <a:pt x="902719" y="574414"/>
                </a:lnTo>
                <a:lnTo>
                  <a:pt x="901282" y="583658"/>
                </a:lnTo>
                <a:lnTo>
                  <a:pt x="882004" y="632594"/>
                </a:lnTo>
                <a:lnTo>
                  <a:pt x="882004" y="632594"/>
                </a:lnTo>
                <a:lnTo>
                  <a:pt x="879729" y="644798"/>
                </a:lnTo>
                <a:lnTo>
                  <a:pt x="853386" y="714689"/>
                </a:lnTo>
                <a:lnTo>
                  <a:pt x="853386" y="714689"/>
                </a:lnTo>
                <a:lnTo>
                  <a:pt x="852308" y="719619"/>
                </a:lnTo>
                <a:lnTo>
                  <a:pt x="852308" y="719619"/>
                </a:lnTo>
                <a:lnTo>
                  <a:pt x="852189" y="719866"/>
                </a:lnTo>
                <a:lnTo>
                  <a:pt x="852189" y="719989"/>
                </a:lnTo>
                <a:lnTo>
                  <a:pt x="850632" y="727385"/>
                </a:lnTo>
                <a:lnTo>
                  <a:pt x="850632" y="727385"/>
                </a:lnTo>
                <a:lnTo>
                  <a:pt x="847638" y="736383"/>
                </a:lnTo>
                <a:lnTo>
                  <a:pt x="845244" y="744642"/>
                </a:lnTo>
                <a:lnTo>
                  <a:pt x="845244" y="744642"/>
                </a:lnTo>
                <a:lnTo>
                  <a:pt x="844525" y="753147"/>
                </a:lnTo>
                <a:lnTo>
                  <a:pt x="844525" y="753147"/>
                </a:lnTo>
                <a:lnTo>
                  <a:pt x="843927" y="762392"/>
                </a:lnTo>
                <a:lnTo>
                  <a:pt x="843927" y="762392"/>
                </a:lnTo>
                <a:lnTo>
                  <a:pt x="840574" y="781745"/>
                </a:lnTo>
                <a:lnTo>
                  <a:pt x="840574" y="781745"/>
                </a:lnTo>
                <a:lnTo>
                  <a:pt x="838059" y="793578"/>
                </a:lnTo>
                <a:lnTo>
                  <a:pt x="838059" y="793578"/>
                </a:lnTo>
                <a:lnTo>
                  <a:pt x="834946" y="805781"/>
                </a:lnTo>
                <a:lnTo>
                  <a:pt x="776872" y="928553"/>
                </a:lnTo>
                <a:lnTo>
                  <a:pt x="776872" y="928553"/>
                </a:lnTo>
                <a:lnTo>
                  <a:pt x="773879" y="947289"/>
                </a:lnTo>
                <a:lnTo>
                  <a:pt x="773879" y="947289"/>
                </a:lnTo>
                <a:lnTo>
                  <a:pt x="770526" y="961465"/>
                </a:lnTo>
                <a:lnTo>
                  <a:pt x="770526" y="961465"/>
                </a:lnTo>
                <a:lnTo>
                  <a:pt x="768371" y="979831"/>
                </a:lnTo>
                <a:lnTo>
                  <a:pt x="768371" y="979831"/>
                </a:lnTo>
                <a:lnTo>
                  <a:pt x="766096" y="995609"/>
                </a:lnTo>
                <a:lnTo>
                  <a:pt x="766096" y="995609"/>
                </a:lnTo>
                <a:lnTo>
                  <a:pt x="764180" y="1012496"/>
                </a:lnTo>
                <a:lnTo>
                  <a:pt x="764180" y="1012496"/>
                </a:lnTo>
                <a:lnTo>
                  <a:pt x="760109" y="1028767"/>
                </a:lnTo>
                <a:lnTo>
                  <a:pt x="706465" y="1073389"/>
                </a:lnTo>
                <a:lnTo>
                  <a:pt x="703951" y="1069938"/>
                </a:lnTo>
                <a:lnTo>
                  <a:pt x="703232" y="1062295"/>
                </a:lnTo>
                <a:lnTo>
                  <a:pt x="703232" y="1062295"/>
                </a:lnTo>
                <a:lnTo>
                  <a:pt x="702873" y="1056132"/>
                </a:lnTo>
                <a:lnTo>
                  <a:pt x="702873" y="1056132"/>
                </a:lnTo>
                <a:lnTo>
                  <a:pt x="702634" y="1050462"/>
                </a:lnTo>
                <a:lnTo>
                  <a:pt x="702634" y="1050462"/>
                </a:lnTo>
                <a:lnTo>
                  <a:pt x="702274" y="1044668"/>
                </a:lnTo>
                <a:lnTo>
                  <a:pt x="702274" y="1044668"/>
                </a:lnTo>
                <a:lnTo>
                  <a:pt x="703711" y="1038628"/>
                </a:lnTo>
                <a:lnTo>
                  <a:pt x="703711" y="1038628"/>
                </a:lnTo>
                <a:lnTo>
                  <a:pt x="704909" y="1030493"/>
                </a:lnTo>
                <a:lnTo>
                  <a:pt x="704909" y="1030493"/>
                </a:lnTo>
                <a:lnTo>
                  <a:pt x="705986" y="1024083"/>
                </a:lnTo>
                <a:lnTo>
                  <a:pt x="705986" y="1024083"/>
                </a:lnTo>
                <a:lnTo>
                  <a:pt x="708022" y="1014345"/>
                </a:lnTo>
                <a:lnTo>
                  <a:pt x="708022" y="1014345"/>
                </a:lnTo>
                <a:lnTo>
                  <a:pt x="708740" y="1007319"/>
                </a:lnTo>
                <a:lnTo>
                  <a:pt x="708740" y="1007319"/>
                </a:lnTo>
                <a:lnTo>
                  <a:pt x="708860" y="999553"/>
                </a:lnTo>
                <a:lnTo>
                  <a:pt x="708860" y="999553"/>
                </a:lnTo>
                <a:lnTo>
                  <a:pt x="388915" y="875549"/>
                </a:lnTo>
                <a:lnTo>
                  <a:pt x="391310" y="861004"/>
                </a:lnTo>
                <a:lnTo>
                  <a:pt x="391310" y="861004"/>
                </a:lnTo>
                <a:lnTo>
                  <a:pt x="258039" y="812684"/>
                </a:lnTo>
                <a:lnTo>
                  <a:pt x="232774" y="851513"/>
                </a:lnTo>
                <a:lnTo>
                  <a:pt x="134707" y="845966"/>
                </a:lnTo>
                <a:lnTo>
                  <a:pt x="73760" y="743779"/>
                </a:lnTo>
                <a:lnTo>
                  <a:pt x="0" y="462366"/>
                </a:lnTo>
                <a:lnTo>
                  <a:pt x="201642" y="434015"/>
                </a:lnTo>
                <a:lnTo>
                  <a:pt x="187872" y="114883"/>
                </a:lnTo>
                <a:lnTo>
                  <a:pt x="299709" y="0"/>
                </a:lnTo>
                <a:lnTo>
                  <a:pt x="888949" y="77903"/>
                </a:lnTo>
                <a:lnTo>
                  <a:pt x="888949" y="91709"/>
                </a:lnTo>
                <a:lnTo>
                  <a:pt x="904874" y="249858"/>
                </a:lnTo>
                <a:lnTo>
                  <a:pt x="904874" y="249858"/>
                </a:lnTo>
                <a:lnTo>
                  <a:pt x="905593" y="262554"/>
                </a:lnTo>
                <a:lnTo>
                  <a:pt x="905593" y="262554"/>
                </a:lnTo>
                <a:lnTo>
                  <a:pt x="907508" y="286344"/>
                </a:lnTo>
                <a:lnTo>
                  <a:pt x="907508" y="286344"/>
                </a:lnTo>
                <a:lnTo>
                  <a:pt x="909544" y="303354"/>
                </a:lnTo>
                <a:lnTo>
                  <a:pt x="909544" y="303354"/>
                </a:lnTo>
                <a:lnTo>
                  <a:pt x="912657" y="318639"/>
                </a:lnTo>
                <a:lnTo>
                  <a:pt x="912657" y="318639"/>
                </a:lnTo>
                <a:lnTo>
                  <a:pt x="916369" y="336882"/>
                </a:lnTo>
                <a:lnTo>
                  <a:pt x="916369" y="336882"/>
                </a:lnTo>
                <a:lnTo>
                  <a:pt x="919243" y="355126"/>
                </a:lnTo>
                <a:lnTo>
                  <a:pt x="919243" y="355126"/>
                </a:lnTo>
                <a:lnTo>
                  <a:pt x="922955" y="375834"/>
                </a:lnTo>
                <a:lnTo>
                  <a:pt x="922955" y="375834"/>
                </a:lnTo>
                <a:lnTo>
                  <a:pt x="925709" y="399994"/>
                </a:lnTo>
                <a:lnTo>
                  <a:pt x="925709" y="399994"/>
                </a:lnTo>
                <a:lnTo>
                  <a:pt x="928583" y="416018"/>
                </a:lnTo>
                <a:lnTo>
                  <a:pt x="928583" y="416018"/>
                </a:lnTo>
                <a:lnTo>
                  <a:pt x="931696" y="435741"/>
                </a:lnTo>
                <a:lnTo>
                  <a:pt x="931696" y="435741"/>
                </a:lnTo>
                <a:lnTo>
                  <a:pt x="932295" y="447451"/>
                </a:lnTo>
                <a:lnTo>
                  <a:pt x="932295" y="447451"/>
                </a:lnTo>
                <a:lnTo>
                  <a:pt x="933252" y="461626"/>
                </a:lnTo>
                <a:lnTo>
                  <a:pt x="933252" y="461626"/>
                </a:lnTo>
                <a:lnTo>
                  <a:pt x="932534" y="476788"/>
                </a:lnTo>
                <a:lnTo>
                  <a:pt x="932534" y="476788"/>
                </a:lnTo>
                <a:lnTo>
                  <a:pt x="930618" y="493059"/>
                </a:lnTo>
                <a:lnTo>
                  <a:pt x="930618" y="493059"/>
                </a:lnTo>
                <a:lnTo>
                  <a:pt x="929421" y="506618"/>
                </a:lnTo>
                <a:lnTo>
                  <a:pt x="929421" y="506618"/>
                </a:lnTo>
                <a:lnTo>
                  <a:pt x="927625" y="515740"/>
                </a:lnTo>
                <a:lnTo>
                  <a:pt x="927625" y="515740"/>
                </a:lnTo>
                <a:lnTo>
                  <a:pt x="926308" y="523259"/>
                </a:lnTo>
                <a:lnTo>
                  <a:pt x="925110" y="527080"/>
                </a:lnTo>
                <a:lnTo>
                  <a:pt x="925110" y="527080"/>
                </a:lnTo>
                <a:lnTo>
                  <a:pt x="924272" y="532380"/>
                </a:lnTo>
                <a:lnTo>
                  <a:pt x="924272" y="532380"/>
                </a:lnTo>
                <a:lnTo>
                  <a:pt x="924033" y="533366"/>
                </a:lnTo>
                <a:lnTo>
                  <a:pt x="909305" y="530531"/>
                </a:lnTo>
                <a:lnTo>
                  <a:pt x="909305" y="530531"/>
                </a:lnTo>
                <a:lnTo>
                  <a:pt x="909305" y="530531"/>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2" name="ขอบเขตเขตป้อมปราบศัตรูพ่าย"/>
          <p:cNvSpPr/>
          <p:nvPr/>
        </p:nvSpPr>
        <p:spPr>
          <a:xfrm>
            <a:off x="4955040" y="5218200"/>
            <a:ext cx="160920" cy="316080"/>
          </a:xfrm>
          <a:custGeom>
            <a:avLst/>
            <a:gdLst/>
            <a:ahLst/>
            <a:rect l="l" t="t" r="r" b="b"/>
            <a:pathLst>
              <a:path w="161409" h="316544">
                <a:moveTo>
                  <a:pt x="141173" y="316544"/>
                </a:moveTo>
                <a:lnTo>
                  <a:pt x="100103" y="286097"/>
                </a:lnTo>
                <a:lnTo>
                  <a:pt x="21553" y="222616"/>
                </a:lnTo>
                <a:lnTo>
                  <a:pt x="0" y="208194"/>
                </a:lnTo>
                <a:lnTo>
                  <a:pt x="2634" y="196730"/>
                </a:lnTo>
                <a:lnTo>
                  <a:pt x="20236" y="122032"/>
                </a:lnTo>
                <a:lnTo>
                  <a:pt x="21673" y="92079"/>
                </a:lnTo>
                <a:lnTo>
                  <a:pt x="24427" y="90476"/>
                </a:lnTo>
                <a:lnTo>
                  <a:pt x="45022" y="45731"/>
                </a:lnTo>
                <a:lnTo>
                  <a:pt x="65737" y="0"/>
                </a:lnTo>
                <a:lnTo>
                  <a:pt x="98785" y="34021"/>
                </a:lnTo>
                <a:lnTo>
                  <a:pt x="107646" y="42896"/>
                </a:lnTo>
                <a:lnTo>
                  <a:pt x="149795" y="86902"/>
                </a:lnTo>
                <a:lnTo>
                  <a:pt x="161409" y="130044"/>
                </a:lnTo>
                <a:lnTo>
                  <a:pt x="155303" y="180336"/>
                </a:lnTo>
                <a:lnTo>
                  <a:pt x="148597" y="223356"/>
                </a:lnTo>
                <a:lnTo>
                  <a:pt x="141173" y="316544"/>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3" name="ขอบเขตเขตพญาไท"/>
          <p:cNvSpPr/>
          <p:nvPr/>
        </p:nvSpPr>
        <p:spPr>
          <a:xfrm>
            <a:off x="5240160" y="4798440"/>
            <a:ext cx="401040" cy="430920"/>
          </a:xfrm>
          <a:custGeom>
            <a:avLst/>
            <a:gdLst/>
            <a:ahLst/>
            <a:rect l="l" t="t" r="r" b="b"/>
            <a:pathLst>
              <a:path w="401248" h="431180">
                <a:moveTo>
                  <a:pt x="401248" y="34514"/>
                </a:moveTo>
                <a:lnTo>
                  <a:pt x="244509" y="417128"/>
                </a:lnTo>
                <a:lnTo>
                  <a:pt x="185597" y="431180"/>
                </a:lnTo>
                <a:lnTo>
                  <a:pt x="133869" y="391489"/>
                </a:lnTo>
                <a:lnTo>
                  <a:pt x="0" y="288070"/>
                </a:lnTo>
                <a:lnTo>
                  <a:pt x="116866" y="0"/>
                </a:lnTo>
                <a:lnTo>
                  <a:pt x="401248" y="34514"/>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4" name="ขอบเขตเขตพระนคร"/>
          <p:cNvSpPr/>
          <p:nvPr/>
        </p:nvSpPr>
        <p:spPr>
          <a:xfrm>
            <a:off x="4768200" y="5105880"/>
            <a:ext cx="252360" cy="420840"/>
          </a:xfrm>
          <a:custGeom>
            <a:avLst/>
            <a:gdLst/>
            <a:ahLst/>
            <a:rect l="l" t="t" r="r" b="b"/>
            <a:pathLst>
              <a:path w="252771" h="421196">
                <a:moveTo>
                  <a:pt x="138539" y="421196"/>
                </a:moveTo>
                <a:lnTo>
                  <a:pt x="122254" y="416758"/>
                </a:lnTo>
                <a:lnTo>
                  <a:pt x="61906" y="394324"/>
                </a:lnTo>
                <a:lnTo>
                  <a:pt x="42627" y="375341"/>
                </a:lnTo>
                <a:lnTo>
                  <a:pt x="0" y="302368"/>
                </a:lnTo>
                <a:lnTo>
                  <a:pt x="12692" y="158518"/>
                </a:lnTo>
                <a:lnTo>
                  <a:pt x="32210" y="133865"/>
                </a:lnTo>
                <a:lnTo>
                  <a:pt x="33288" y="133003"/>
                </a:lnTo>
                <a:lnTo>
                  <a:pt x="78070" y="90600"/>
                </a:lnTo>
                <a:lnTo>
                  <a:pt x="126206" y="0"/>
                </a:lnTo>
                <a:lnTo>
                  <a:pt x="186076" y="37842"/>
                </a:lnTo>
                <a:lnTo>
                  <a:pt x="252771" y="112541"/>
                </a:lnTo>
                <a:lnTo>
                  <a:pt x="232056" y="158272"/>
                </a:lnTo>
                <a:lnTo>
                  <a:pt x="211461" y="203017"/>
                </a:lnTo>
                <a:lnTo>
                  <a:pt x="208707" y="204619"/>
                </a:lnTo>
                <a:lnTo>
                  <a:pt x="207270" y="234573"/>
                </a:lnTo>
                <a:lnTo>
                  <a:pt x="189668" y="309271"/>
                </a:lnTo>
                <a:lnTo>
                  <a:pt x="187034" y="320735"/>
                </a:lnTo>
                <a:lnTo>
                  <a:pt x="178412" y="345511"/>
                </a:lnTo>
                <a:lnTo>
                  <a:pt x="138539" y="421196"/>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5" name="ขอบเขตเขตพระโขนง"/>
          <p:cNvSpPr/>
          <p:nvPr/>
        </p:nvSpPr>
        <p:spPr>
          <a:xfrm>
            <a:off x="5906160" y="5922720"/>
            <a:ext cx="681480" cy="353520"/>
          </a:xfrm>
          <a:custGeom>
            <a:avLst/>
            <a:gdLst/>
            <a:ahLst/>
            <a:rect l="l" t="t" r="r" b="b"/>
            <a:pathLst>
              <a:path w="681679" h="354016">
                <a:moveTo>
                  <a:pt x="585408" y="22804"/>
                </a:moveTo>
                <a:lnTo>
                  <a:pt x="607919" y="72603"/>
                </a:lnTo>
                <a:lnTo>
                  <a:pt x="681679" y="354016"/>
                </a:lnTo>
                <a:lnTo>
                  <a:pt x="510092" y="348346"/>
                </a:lnTo>
                <a:lnTo>
                  <a:pt x="491173" y="272045"/>
                </a:lnTo>
                <a:lnTo>
                  <a:pt x="202959" y="328254"/>
                </a:lnTo>
                <a:lnTo>
                  <a:pt x="65737" y="290042"/>
                </a:lnTo>
                <a:lnTo>
                  <a:pt x="66216" y="288070"/>
                </a:lnTo>
                <a:lnTo>
                  <a:pt x="67414" y="282646"/>
                </a:lnTo>
                <a:lnTo>
                  <a:pt x="67414" y="282646"/>
                </a:lnTo>
                <a:lnTo>
                  <a:pt x="71006" y="273401"/>
                </a:lnTo>
                <a:lnTo>
                  <a:pt x="71604" y="267977"/>
                </a:lnTo>
                <a:lnTo>
                  <a:pt x="71604" y="267977"/>
                </a:lnTo>
                <a:lnTo>
                  <a:pt x="72682" y="258733"/>
                </a:lnTo>
                <a:lnTo>
                  <a:pt x="72682" y="258733"/>
                </a:lnTo>
                <a:lnTo>
                  <a:pt x="72323" y="250597"/>
                </a:lnTo>
                <a:lnTo>
                  <a:pt x="72323" y="250597"/>
                </a:lnTo>
                <a:lnTo>
                  <a:pt x="71125" y="242708"/>
                </a:lnTo>
                <a:lnTo>
                  <a:pt x="71125" y="242708"/>
                </a:lnTo>
                <a:lnTo>
                  <a:pt x="65138" y="224712"/>
                </a:lnTo>
                <a:lnTo>
                  <a:pt x="63223" y="214481"/>
                </a:lnTo>
                <a:lnTo>
                  <a:pt x="63223" y="214481"/>
                </a:lnTo>
                <a:lnTo>
                  <a:pt x="55919" y="195128"/>
                </a:lnTo>
                <a:lnTo>
                  <a:pt x="55080" y="193772"/>
                </a:lnTo>
                <a:lnTo>
                  <a:pt x="55080" y="193772"/>
                </a:lnTo>
                <a:lnTo>
                  <a:pt x="4191" y="124744"/>
                </a:lnTo>
                <a:lnTo>
                  <a:pt x="0" y="121169"/>
                </a:lnTo>
                <a:lnTo>
                  <a:pt x="218525" y="23544"/>
                </a:lnTo>
                <a:lnTo>
                  <a:pt x="268457" y="0"/>
                </a:lnTo>
                <a:lnTo>
                  <a:pt x="585408" y="22804"/>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6" name="ขอบเขตเขตภาษีเจริญ"/>
          <p:cNvSpPr/>
          <p:nvPr/>
        </p:nvSpPr>
        <p:spPr>
          <a:xfrm>
            <a:off x="3871080" y="5413320"/>
            <a:ext cx="696600" cy="743400"/>
          </a:xfrm>
          <a:custGeom>
            <a:avLst/>
            <a:gdLst/>
            <a:ahLst/>
            <a:rect l="l" t="t" r="r" b="b"/>
            <a:pathLst>
              <a:path w="697006" h="743902">
                <a:moveTo>
                  <a:pt x="559664" y="429208"/>
                </a:moveTo>
                <a:lnTo>
                  <a:pt x="502428" y="443383"/>
                </a:lnTo>
                <a:lnTo>
                  <a:pt x="509852" y="487142"/>
                </a:lnTo>
                <a:lnTo>
                  <a:pt x="471775" y="465694"/>
                </a:lnTo>
                <a:lnTo>
                  <a:pt x="436452" y="523752"/>
                </a:lnTo>
                <a:lnTo>
                  <a:pt x="299709" y="471734"/>
                </a:lnTo>
                <a:lnTo>
                  <a:pt x="249658" y="594259"/>
                </a:lnTo>
                <a:lnTo>
                  <a:pt x="291207" y="668588"/>
                </a:lnTo>
                <a:lnTo>
                  <a:pt x="170749" y="743902"/>
                </a:lnTo>
                <a:lnTo>
                  <a:pt x="150992" y="439685"/>
                </a:lnTo>
                <a:lnTo>
                  <a:pt x="148477" y="403076"/>
                </a:lnTo>
                <a:lnTo>
                  <a:pt x="139617" y="231491"/>
                </a:lnTo>
                <a:lnTo>
                  <a:pt x="137342" y="194882"/>
                </a:lnTo>
                <a:lnTo>
                  <a:pt x="52925" y="206222"/>
                </a:lnTo>
                <a:lnTo>
                  <a:pt x="0" y="0"/>
                </a:lnTo>
                <a:lnTo>
                  <a:pt x="226668" y="92942"/>
                </a:lnTo>
                <a:lnTo>
                  <a:pt x="520988" y="53867"/>
                </a:lnTo>
                <a:lnTo>
                  <a:pt x="558107" y="50169"/>
                </a:lnTo>
                <a:lnTo>
                  <a:pt x="561221" y="48690"/>
                </a:lnTo>
                <a:lnTo>
                  <a:pt x="583373" y="43266"/>
                </a:lnTo>
                <a:lnTo>
                  <a:pt x="600376" y="205359"/>
                </a:lnTo>
                <a:lnTo>
                  <a:pt x="697006" y="311983"/>
                </a:lnTo>
                <a:lnTo>
                  <a:pt x="667909" y="393831"/>
                </a:lnTo>
                <a:lnTo>
                  <a:pt x="591515" y="369424"/>
                </a:lnTo>
                <a:lnTo>
                  <a:pt x="559664" y="429208"/>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7" name="ขอบเขตเขตมีนบุรี"/>
          <p:cNvSpPr/>
          <p:nvPr/>
        </p:nvSpPr>
        <p:spPr>
          <a:xfrm>
            <a:off x="7263720" y="4112640"/>
            <a:ext cx="1337400" cy="981360"/>
          </a:xfrm>
          <a:custGeom>
            <a:avLst/>
            <a:gdLst/>
            <a:ahLst/>
            <a:rect l="l" t="t" r="r" b="b"/>
            <a:pathLst>
              <a:path w="1337853" h="981680">
                <a:moveTo>
                  <a:pt x="558347" y="222370"/>
                </a:moveTo>
                <a:lnTo>
                  <a:pt x="629113" y="387298"/>
                </a:lnTo>
                <a:lnTo>
                  <a:pt x="1231046" y="49059"/>
                </a:lnTo>
                <a:lnTo>
                  <a:pt x="1337853" y="0"/>
                </a:lnTo>
                <a:lnTo>
                  <a:pt x="1308397" y="335403"/>
                </a:lnTo>
                <a:lnTo>
                  <a:pt x="1254036" y="406157"/>
                </a:lnTo>
                <a:lnTo>
                  <a:pt x="1254993" y="527326"/>
                </a:lnTo>
                <a:lnTo>
                  <a:pt x="1329232" y="559498"/>
                </a:lnTo>
                <a:lnTo>
                  <a:pt x="1177163" y="732069"/>
                </a:lnTo>
                <a:lnTo>
                  <a:pt x="1099571" y="653796"/>
                </a:lnTo>
                <a:lnTo>
                  <a:pt x="1028565" y="672902"/>
                </a:lnTo>
                <a:lnTo>
                  <a:pt x="1030481" y="882452"/>
                </a:lnTo>
                <a:lnTo>
                  <a:pt x="862007" y="875919"/>
                </a:lnTo>
                <a:lnTo>
                  <a:pt x="761665" y="952713"/>
                </a:lnTo>
                <a:lnTo>
                  <a:pt x="595586" y="935702"/>
                </a:lnTo>
                <a:lnTo>
                  <a:pt x="594868" y="978475"/>
                </a:lnTo>
                <a:lnTo>
                  <a:pt x="505542" y="981680"/>
                </a:lnTo>
                <a:lnTo>
                  <a:pt x="505302" y="937182"/>
                </a:lnTo>
                <a:lnTo>
                  <a:pt x="439565" y="969600"/>
                </a:lnTo>
                <a:lnTo>
                  <a:pt x="234930" y="928060"/>
                </a:lnTo>
                <a:lnTo>
                  <a:pt x="99145" y="688680"/>
                </a:lnTo>
                <a:lnTo>
                  <a:pt x="0" y="468283"/>
                </a:lnTo>
                <a:lnTo>
                  <a:pt x="225231" y="388161"/>
                </a:lnTo>
                <a:lnTo>
                  <a:pt x="214933" y="282892"/>
                </a:lnTo>
                <a:lnTo>
                  <a:pt x="281389" y="282769"/>
                </a:lnTo>
                <a:lnTo>
                  <a:pt x="280670" y="208071"/>
                </a:lnTo>
                <a:lnTo>
                  <a:pt x="307492" y="277222"/>
                </a:lnTo>
                <a:lnTo>
                  <a:pt x="395022" y="276359"/>
                </a:lnTo>
                <a:lnTo>
                  <a:pt x="393585" y="207455"/>
                </a:lnTo>
                <a:lnTo>
                  <a:pt x="558347" y="222370"/>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8" name="ขอบเขตเขตยานนาวา"/>
          <p:cNvSpPr/>
          <p:nvPr/>
        </p:nvSpPr>
        <p:spPr>
          <a:xfrm>
            <a:off x="5119200" y="5766120"/>
            <a:ext cx="446760" cy="615240"/>
          </a:xfrm>
          <a:custGeom>
            <a:avLst/>
            <a:gdLst/>
            <a:ahLst/>
            <a:rect l="l" t="t" r="r" b="b"/>
            <a:pathLst>
              <a:path w="447109" h="615461">
                <a:moveTo>
                  <a:pt x="235528" y="615461"/>
                </a:moveTo>
                <a:lnTo>
                  <a:pt x="127643" y="564799"/>
                </a:lnTo>
                <a:lnTo>
                  <a:pt x="122015" y="560854"/>
                </a:lnTo>
                <a:lnTo>
                  <a:pt x="52566" y="495401"/>
                </a:lnTo>
                <a:lnTo>
                  <a:pt x="47776" y="490100"/>
                </a:lnTo>
                <a:lnTo>
                  <a:pt x="43945" y="487389"/>
                </a:lnTo>
                <a:lnTo>
                  <a:pt x="0" y="455340"/>
                </a:lnTo>
                <a:lnTo>
                  <a:pt x="165361" y="249611"/>
                </a:lnTo>
                <a:lnTo>
                  <a:pt x="150872" y="213494"/>
                </a:lnTo>
                <a:lnTo>
                  <a:pt x="132672" y="164435"/>
                </a:lnTo>
                <a:lnTo>
                  <a:pt x="237684" y="150013"/>
                </a:lnTo>
                <a:lnTo>
                  <a:pt x="312880" y="150753"/>
                </a:lnTo>
                <a:lnTo>
                  <a:pt x="289770" y="106501"/>
                </a:lnTo>
                <a:lnTo>
                  <a:pt x="376462" y="0"/>
                </a:lnTo>
                <a:lnTo>
                  <a:pt x="433458" y="33405"/>
                </a:lnTo>
                <a:lnTo>
                  <a:pt x="447109" y="165298"/>
                </a:lnTo>
                <a:lnTo>
                  <a:pt x="438727" y="169982"/>
                </a:lnTo>
                <a:lnTo>
                  <a:pt x="401847" y="215220"/>
                </a:lnTo>
                <a:lnTo>
                  <a:pt x="401847" y="215220"/>
                </a:lnTo>
                <a:lnTo>
                  <a:pt x="399452" y="228533"/>
                </a:lnTo>
                <a:lnTo>
                  <a:pt x="399452" y="228533"/>
                </a:lnTo>
                <a:lnTo>
                  <a:pt x="396339" y="242462"/>
                </a:lnTo>
                <a:lnTo>
                  <a:pt x="396339" y="242462"/>
                </a:lnTo>
                <a:lnTo>
                  <a:pt x="396818" y="259842"/>
                </a:lnTo>
                <a:lnTo>
                  <a:pt x="396818" y="259842"/>
                </a:lnTo>
                <a:lnTo>
                  <a:pt x="397057" y="272415"/>
                </a:lnTo>
                <a:lnTo>
                  <a:pt x="397057" y="272415"/>
                </a:lnTo>
                <a:lnTo>
                  <a:pt x="400051" y="287700"/>
                </a:lnTo>
                <a:lnTo>
                  <a:pt x="414300" y="340950"/>
                </a:lnTo>
                <a:lnTo>
                  <a:pt x="414300" y="340950"/>
                </a:lnTo>
                <a:lnTo>
                  <a:pt x="415976" y="351181"/>
                </a:lnTo>
                <a:lnTo>
                  <a:pt x="415976" y="351181"/>
                </a:lnTo>
                <a:lnTo>
                  <a:pt x="416575" y="362768"/>
                </a:lnTo>
                <a:lnTo>
                  <a:pt x="416575" y="362768"/>
                </a:lnTo>
                <a:lnTo>
                  <a:pt x="417892" y="372876"/>
                </a:lnTo>
                <a:lnTo>
                  <a:pt x="417892" y="372876"/>
                </a:lnTo>
                <a:lnTo>
                  <a:pt x="418132" y="376943"/>
                </a:lnTo>
                <a:lnTo>
                  <a:pt x="418850" y="386435"/>
                </a:lnTo>
                <a:lnTo>
                  <a:pt x="418850" y="386435"/>
                </a:lnTo>
                <a:lnTo>
                  <a:pt x="418850" y="398145"/>
                </a:lnTo>
                <a:lnTo>
                  <a:pt x="418850" y="398145"/>
                </a:lnTo>
                <a:lnTo>
                  <a:pt x="418251" y="410718"/>
                </a:lnTo>
                <a:lnTo>
                  <a:pt x="418251" y="410718"/>
                </a:lnTo>
                <a:lnTo>
                  <a:pt x="415617" y="423907"/>
                </a:lnTo>
                <a:lnTo>
                  <a:pt x="415617" y="423907"/>
                </a:lnTo>
                <a:lnTo>
                  <a:pt x="411306" y="438329"/>
                </a:lnTo>
                <a:lnTo>
                  <a:pt x="411306" y="438329"/>
                </a:lnTo>
                <a:lnTo>
                  <a:pt x="410229" y="447081"/>
                </a:lnTo>
                <a:lnTo>
                  <a:pt x="410229" y="447081"/>
                </a:lnTo>
                <a:lnTo>
                  <a:pt x="409031" y="456079"/>
                </a:lnTo>
                <a:lnTo>
                  <a:pt x="409031" y="456079"/>
                </a:lnTo>
                <a:lnTo>
                  <a:pt x="407954" y="467543"/>
                </a:lnTo>
                <a:lnTo>
                  <a:pt x="407954" y="467543"/>
                </a:lnTo>
                <a:lnTo>
                  <a:pt x="406397" y="476665"/>
                </a:lnTo>
                <a:lnTo>
                  <a:pt x="406397" y="476665"/>
                </a:lnTo>
                <a:lnTo>
                  <a:pt x="403523" y="490100"/>
                </a:lnTo>
                <a:lnTo>
                  <a:pt x="403523" y="490100"/>
                </a:lnTo>
                <a:lnTo>
                  <a:pt x="400889" y="500701"/>
                </a:lnTo>
                <a:lnTo>
                  <a:pt x="386640" y="535339"/>
                </a:lnTo>
                <a:lnTo>
                  <a:pt x="344731" y="587356"/>
                </a:lnTo>
                <a:lnTo>
                  <a:pt x="235528" y="615461"/>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9" name="ขอบเขตเขตราชเทวี"/>
          <p:cNvSpPr/>
          <p:nvPr/>
        </p:nvSpPr>
        <p:spPr>
          <a:xfrm>
            <a:off x="5135760" y="5086440"/>
            <a:ext cx="547920" cy="327600"/>
          </a:xfrm>
          <a:custGeom>
            <a:avLst/>
            <a:gdLst/>
            <a:ahLst/>
            <a:rect l="l" t="t" r="r" b="b"/>
            <a:pathLst>
              <a:path w="548289" h="327884">
                <a:moveTo>
                  <a:pt x="263667" y="308162"/>
                </a:moveTo>
                <a:lnTo>
                  <a:pt x="146442" y="310134"/>
                </a:lnTo>
                <a:lnTo>
                  <a:pt x="74837" y="309887"/>
                </a:lnTo>
                <a:lnTo>
                  <a:pt x="0" y="267854"/>
                </a:lnTo>
                <a:lnTo>
                  <a:pt x="21793" y="213125"/>
                </a:lnTo>
                <a:lnTo>
                  <a:pt x="104533" y="0"/>
                </a:lnTo>
                <a:lnTo>
                  <a:pt x="238402" y="103419"/>
                </a:lnTo>
                <a:lnTo>
                  <a:pt x="290130" y="143110"/>
                </a:lnTo>
                <a:lnTo>
                  <a:pt x="399931" y="226807"/>
                </a:lnTo>
                <a:lnTo>
                  <a:pt x="548289" y="237408"/>
                </a:lnTo>
                <a:lnTo>
                  <a:pt x="528651" y="327884"/>
                </a:lnTo>
                <a:lnTo>
                  <a:pt x="373349" y="321598"/>
                </a:lnTo>
                <a:lnTo>
                  <a:pt x="263667" y="308162"/>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0" name="ขอบเขตเขตราษฎร์บูรณะ"/>
          <p:cNvSpPr/>
          <p:nvPr/>
        </p:nvSpPr>
        <p:spPr>
          <a:xfrm>
            <a:off x="4618800" y="6066000"/>
            <a:ext cx="564840" cy="500400"/>
          </a:xfrm>
          <a:custGeom>
            <a:avLst/>
            <a:gdLst/>
            <a:ahLst/>
            <a:rect l="l" t="t" r="r" b="b"/>
            <a:pathLst>
              <a:path w="565052" h="500701">
                <a:moveTo>
                  <a:pt x="429627" y="473090"/>
                </a:moveTo>
                <a:lnTo>
                  <a:pt x="320544" y="433275"/>
                </a:lnTo>
                <a:lnTo>
                  <a:pt x="278994" y="500701"/>
                </a:lnTo>
                <a:lnTo>
                  <a:pt x="252771" y="442890"/>
                </a:lnTo>
                <a:lnTo>
                  <a:pt x="205234" y="425017"/>
                </a:lnTo>
                <a:lnTo>
                  <a:pt x="185836" y="472474"/>
                </a:lnTo>
                <a:lnTo>
                  <a:pt x="0" y="404062"/>
                </a:lnTo>
                <a:lnTo>
                  <a:pt x="74718" y="371643"/>
                </a:lnTo>
                <a:lnTo>
                  <a:pt x="51368" y="315681"/>
                </a:lnTo>
                <a:lnTo>
                  <a:pt x="151591" y="190814"/>
                </a:lnTo>
                <a:lnTo>
                  <a:pt x="145005" y="118581"/>
                </a:lnTo>
                <a:lnTo>
                  <a:pt x="65737" y="59783"/>
                </a:lnTo>
                <a:lnTo>
                  <a:pt x="80944" y="3575"/>
                </a:lnTo>
                <a:lnTo>
                  <a:pt x="170150" y="0"/>
                </a:lnTo>
                <a:lnTo>
                  <a:pt x="292405" y="99844"/>
                </a:lnTo>
                <a:lnTo>
                  <a:pt x="363051" y="113404"/>
                </a:lnTo>
                <a:lnTo>
                  <a:pt x="500393" y="155314"/>
                </a:lnTo>
                <a:lnTo>
                  <a:pt x="544337" y="187362"/>
                </a:lnTo>
                <a:lnTo>
                  <a:pt x="544337" y="187362"/>
                </a:lnTo>
                <a:lnTo>
                  <a:pt x="544337" y="187979"/>
                </a:lnTo>
                <a:lnTo>
                  <a:pt x="544337" y="187979"/>
                </a:lnTo>
                <a:lnTo>
                  <a:pt x="543499" y="192539"/>
                </a:lnTo>
                <a:lnTo>
                  <a:pt x="492251" y="277592"/>
                </a:lnTo>
                <a:lnTo>
                  <a:pt x="492251" y="277592"/>
                </a:lnTo>
                <a:lnTo>
                  <a:pt x="489497" y="293247"/>
                </a:lnTo>
                <a:lnTo>
                  <a:pt x="489497" y="293247"/>
                </a:lnTo>
                <a:lnTo>
                  <a:pt x="489257" y="302492"/>
                </a:lnTo>
                <a:lnTo>
                  <a:pt x="489257" y="302492"/>
                </a:lnTo>
                <a:lnTo>
                  <a:pt x="489736" y="313216"/>
                </a:lnTo>
                <a:lnTo>
                  <a:pt x="489736" y="313216"/>
                </a:lnTo>
                <a:lnTo>
                  <a:pt x="491412" y="325542"/>
                </a:lnTo>
                <a:lnTo>
                  <a:pt x="563735" y="409978"/>
                </a:lnTo>
                <a:lnTo>
                  <a:pt x="563735" y="409978"/>
                </a:lnTo>
                <a:lnTo>
                  <a:pt x="565052" y="416881"/>
                </a:lnTo>
                <a:lnTo>
                  <a:pt x="429627" y="473090"/>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1" name="ขอบเขตเขตลาดกระบัง"/>
          <p:cNvSpPr/>
          <p:nvPr/>
        </p:nvSpPr>
        <p:spPr>
          <a:xfrm>
            <a:off x="7381800" y="4766400"/>
            <a:ext cx="2056320" cy="1231560"/>
          </a:xfrm>
          <a:custGeom>
            <a:avLst/>
            <a:gdLst/>
            <a:ahLst/>
            <a:rect l="l" t="t" r="r" b="b"/>
            <a:pathLst>
              <a:path w="2056532" h="1231784">
                <a:moveTo>
                  <a:pt x="1504172" y="405048"/>
                </a:moveTo>
                <a:lnTo>
                  <a:pt x="1535185" y="399994"/>
                </a:lnTo>
                <a:lnTo>
                  <a:pt x="1568233" y="404431"/>
                </a:lnTo>
                <a:lnTo>
                  <a:pt x="1628342" y="362891"/>
                </a:lnTo>
                <a:lnTo>
                  <a:pt x="1852735" y="374355"/>
                </a:lnTo>
                <a:lnTo>
                  <a:pt x="1929728" y="614598"/>
                </a:lnTo>
                <a:lnTo>
                  <a:pt x="2056532" y="769665"/>
                </a:lnTo>
                <a:lnTo>
                  <a:pt x="1785441" y="1229319"/>
                </a:lnTo>
                <a:lnTo>
                  <a:pt x="1785441" y="1229319"/>
                </a:lnTo>
                <a:lnTo>
                  <a:pt x="1786040" y="1231784"/>
                </a:lnTo>
                <a:lnTo>
                  <a:pt x="1785321" y="1231661"/>
                </a:lnTo>
                <a:lnTo>
                  <a:pt x="1490881" y="1166700"/>
                </a:lnTo>
                <a:lnTo>
                  <a:pt x="973246" y="1034807"/>
                </a:lnTo>
                <a:lnTo>
                  <a:pt x="935049" y="1033944"/>
                </a:lnTo>
                <a:lnTo>
                  <a:pt x="647194" y="1035054"/>
                </a:lnTo>
                <a:lnTo>
                  <a:pt x="645877" y="1035054"/>
                </a:lnTo>
                <a:lnTo>
                  <a:pt x="495244" y="1035793"/>
                </a:lnTo>
                <a:lnTo>
                  <a:pt x="37119" y="1016317"/>
                </a:lnTo>
                <a:lnTo>
                  <a:pt x="21194" y="858169"/>
                </a:lnTo>
                <a:lnTo>
                  <a:pt x="21194" y="844363"/>
                </a:lnTo>
                <a:lnTo>
                  <a:pt x="38556" y="540886"/>
                </a:lnTo>
                <a:lnTo>
                  <a:pt x="0" y="537064"/>
                </a:lnTo>
                <a:lnTo>
                  <a:pt x="116746" y="274264"/>
                </a:lnTo>
                <a:lnTo>
                  <a:pt x="321382" y="315804"/>
                </a:lnTo>
                <a:lnTo>
                  <a:pt x="387119" y="283386"/>
                </a:lnTo>
                <a:lnTo>
                  <a:pt x="387358" y="327884"/>
                </a:lnTo>
                <a:lnTo>
                  <a:pt x="476684" y="324679"/>
                </a:lnTo>
                <a:lnTo>
                  <a:pt x="477403" y="281906"/>
                </a:lnTo>
                <a:lnTo>
                  <a:pt x="643482" y="298917"/>
                </a:lnTo>
                <a:lnTo>
                  <a:pt x="743824" y="222123"/>
                </a:lnTo>
                <a:lnTo>
                  <a:pt x="912298" y="228656"/>
                </a:lnTo>
                <a:lnTo>
                  <a:pt x="910382" y="19106"/>
                </a:lnTo>
                <a:lnTo>
                  <a:pt x="981388" y="0"/>
                </a:lnTo>
                <a:lnTo>
                  <a:pt x="1058979" y="78273"/>
                </a:lnTo>
                <a:lnTo>
                  <a:pt x="1045209" y="203633"/>
                </a:lnTo>
                <a:lnTo>
                  <a:pt x="1295346" y="199072"/>
                </a:lnTo>
                <a:lnTo>
                  <a:pt x="1504172" y="405048"/>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2" name="ขอบเขตเขตลาดพร้าว"/>
          <p:cNvSpPr/>
          <p:nvPr/>
        </p:nvSpPr>
        <p:spPr>
          <a:xfrm>
            <a:off x="5965200" y="4172760"/>
            <a:ext cx="574920" cy="660960"/>
          </a:xfrm>
          <a:custGeom>
            <a:avLst/>
            <a:gdLst/>
            <a:ahLst/>
            <a:rect l="l" t="t" r="r" b="b"/>
            <a:pathLst>
              <a:path w="575111" h="661315">
                <a:moveTo>
                  <a:pt x="575111" y="54606"/>
                </a:moveTo>
                <a:lnTo>
                  <a:pt x="422562" y="385819"/>
                </a:lnTo>
                <a:lnTo>
                  <a:pt x="316832" y="601285"/>
                </a:lnTo>
                <a:lnTo>
                  <a:pt x="284382" y="661315"/>
                </a:lnTo>
                <a:lnTo>
                  <a:pt x="208587" y="657740"/>
                </a:lnTo>
                <a:lnTo>
                  <a:pt x="170869" y="594875"/>
                </a:lnTo>
                <a:lnTo>
                  <a:pt x="958" y="563936"/>
                </a:lnTo>
                <a:lnTo>
                  <a:pt x="0" y="560854"/>
                </a:lnTo>
                <a:lnTo>
                  <a:pt x="27780" y="163696"/>
                </a:lnTo>
                <a:lnTo>
                  <a:pt x="18560" y="57565"/>
                </a:lnTo>
                <a:lnTo>
                  <a:pt x="366883" y="0"/>
                </a:lnTo>
                <a:lnTo>
                  <a:pt x="484467" y="71987"/>
                </a:lnTo>
                <a:lnTo>
                  <a:pt x="575111" y="54606"/>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3" name="ขอบเขตเขตวังทองหลาง"/>
          <p:cNvSpPr/>
          <p:nvPr/>
        </p:nvSpPr>
        <p:spPr>
          <a:xfrm>
            <a:off x="5966280" y="4736880"/>
            <a:ext cx="503640" cy="637560"/>
          </a:xfrm>
          <a:custGeom>
            <a:avLst/>
            <a:gdLst/>
            <a:ahLst/>
            <a:rect l="l" t="t" r="r" b="b"/>
            <a:pathLst>
              <a:path w="504105" h="637772">
                <a:moveTo>
                  <a:pt x="169911" y="30939"/>
                </a:moveTo>
                <a:lnTo>
                  <a:pt x="207629" y="93804"/>
                </a:lnTo>
                <a:lnTo>
                  <a:pt x="283424" y="97379"/>
                </a:lnTo>
                <a:lnTo>
                  <a:pt x="315874" y="37349"/>
                </a:lnTo>
                <a:lnTo>
                  <a:pt x="422322" y="31556"/>
                </a:lnTo>
                <a:lnTo>
                  <a:pt x="449863" y="181076"/>
                </a:lnTo>
                <a:lnTo>
                  <a:pt x="486623" y="173927"/>
                </a:lnTo>
                <a:lnTo>
                  <a:pt x="504105" y="488498"/>
                </a:lnTo>
                <a:lnTo>
                  <a:pt x="322819" y="513521"/>
                </a:lnTo>
                <a:lnTo>
                  <a:pt x="187872" y="637772"/>
                </a:lnTo>
                <a:lnTo>
                  <a:pt x="75436" y="478144"/>
                </a:lnTo>
                <a:lnTo>
                  <a:pt x="0" y="0"/>
                </a:lnTo>
                <a:lnTo>
                  <a:pt x="169911" y="30939"/>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4" name="ขอบเขตเขตวัฒนา"/>
          <p:cNvSpPr/>
          <p:nvPr/>
        </p:nvSpPr>
        <p:spPr>
          <a:xfrm>
            <a:off x="5509080" y="5407920"/>
            <a:ext cx="672480" cy="537840"/>
          </a:xfrm>
          <a:custGeom>
            <a:avLst/>
            <a:gdLst/>
            <a:ahLst/>
            <a:rect l="l" t="t" r="r" b="b"/>
            <a:pathLst>
              <a:path w="672818" h="538174">
                <a:moveTo>
                  <a:pt x="662161" y="309887"/>
                </a:moveTo>
                <a:lnTo>
                  <a:pt x="672818" y="407760"/>
                </a:lnTo>
                <a:lnTo>
                  <a:pt x="617259" y="447081"/>
                </a:lnTo>
                <a:lnTo>
                  <a:pt x="665394" y="514630"/>
                </a:lnTo>
                <a:lnTo>
                  <a:pt x="615463" y="538174"/>
                </a:lnTo>
                <a:lnTo>
                  <a:pt x="411306" y="348593"/>
                </a:lnTo>
                <a:lnTo>
                  <a:pt x="329165" y="289056"/>
                </a:lnTo>
                <a:lnTo>
                  <a:pt x="189788" y="187486"/>
                </a:lnTo>
                <a:lnTo>
                  <a:pt x="181047" y="180953"/>
                </a:lnTo>
                <a:lnTo>
                  <a:pt x="6945" y="68782"/>
                </a:lnTo>
                <a:lnTo>
                  <a:pt x="0" y="0"/>
                </a:lnTo>
                <a:lnTo>
                  <a:pt x="155303" y="6287"/>
                </a:lnTo>
                <a:lnTo>
                  <a:pt x="246904" y="23174"/>
                </a:lnTo>
                <a:lnTo>
                  <a:pt x="571279" y="89367"/>
                </a:lnTo>
                <a:lnTo>
                  <a:pt x="655097" y="131154"/>
                </a:lnTo>
                <a:lnTo>
                  <a:pt x="662161" y="309887"/>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5" name="ขอบเขตเขตสวนหลวง"/>
          <p:cNvSpPr/>
          <p:nvPr/>
        </p:nvSpPr>
        <p:spPr>
          <a:xfrm>
            <a:off x="6080400" y="5386680"/>
            <a:ext cx="732960" cy="608040"/>
          </a:xfrm>
          <a:custGeom>
            <a:avLst/>
            <a:gdLst/>
            <a:ahLst/>
            <a:rect l="l" t="t" r="r" b="b"/>
            <a:pathLst>
              <a:path w="733407" h="608435">
                <a:moveTo>
                  <a:pt x="733407" y="143850"/>
                </a:moveTo>
                <a:lnTo>
                  <a:pt x="733287" y="146069"/>
                </a:lnTo>
                <a:lnTo>
                  <a:pt x="621450" y="260951"/>
                </a:lnTo>
                <a:lnTo>
                  <a:pt x="635220" y="580084"/>
                </a:lnTo>
                <a:lnTo>
                  <a:pt x="433578" y="608435"/>
                </a:lnTo>
                <a:lnTo>
                  <a:pt x="411067" y="558636"/>
                </a:lnTo>
                <a:lnTo>
                  <a:pt x="94116" y="535832"/>
                </a:lnTo>
                <a:lnTo>
                  <a:pt x="45980" y="468283"/>
                </a:lnTo>
                <a:lnTo>
                  <a:pt x="101539" y="428961"/>
                </a:lnTo>
                <a:lnTo>
                  <a:pt x="90883" y="331089"/>
                </a:lnTo>
                <a:lnTo>
                  <a:pt x="83818" y="152355"/>
                </a:lnTo>
                <a:lnTo>
                  <a:pt x="0" y="110568"/>
                </a:lnTo>
                <a:lnTo>
                  <a:pt x="37958" y="23420"/>
                </a:lnTo>
                <a:lnTo>
                  <a:pt x="155303" y="77780"/>
                </a:lnTo>
                <a:lnTo>
                  <a:pt x="456688" y="0"/>
                </a:lnTo>
                <a:lnTo>
                  <a:pt x="733407" y="143850"/>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6" name="ขอบเขตเขตสะพานสูง"/>
          <p:cNvSpPr/>
          <p:nvPr/>
        </p:nvSpPr>
        <p:spPr>
          <a:xfrm>
            <a:off x="6813720" y="4801320"/>
            <a:ext cx="684360" cy="809280"/>
          </a:xfrm>
          <a:custGeom>
            <a:avLst/>
            <a:gdLst/>
            <a:ahLst/>
            <a:rect l="l" t="t" r="r" b="b"/>
            <a:pathLst>
              <a:path w="684792" h="809479">
                <a:moveTo>
                  <a:pt x="606602" y="506002"/>
                </a:moveTo>
                <a:lnTo>
                  <a:pt x="589240" y="809479"/>
                </a:lnTo>
                <a:lnTo>
                  <a:pt x="0" y="731576"/>
                </a:lnTo>
                <a:lnTo>
                  <a:pt x="120" y="729357"/>
                </a:lnTo>
                <a:lnTo>
                  <a:pt x="86452" y="623966"/>
                </a:lnTo>
                <a:lnTo>
                  <a:pt x="237564" y="563566"/>
                </a:lnTo>
                <a:lnTo>
                  <a:pt x="127283" y="508837"/>
                </a:lnTo>
                <a:lnTo>
                  <a:pt x="66456" y="274141"/>
                </a:lnTo>
                <a:lnTo>
                  <a:pt x="192302" y="202770"/>
                </a:lnTo>
                <a:lnTo>
                  <a:pt x="549007" y="0"/>
                </a:lnTo>
                <a:lnTo>
                  <a:pt x="684792" y="239380"/>
                </a:lnTo>
                <a:lnTo>
                  <a:pt x="568046" y="502180"/>
                </a:lnTo>
                <a:lnTo>
                  <a:pt x="606602" y="506002"/>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7" name="ขอบเขตเขตสัมพันธวงศ์"/>
          <p:cNvSpPr/>
          <p:nvPr/>
        </p:nvSpPr>
        <p:spPr>
          <a:xfrm>
            <a:off x="4906800" y="5426640"/>
            <a:ext cx="189360" cy="216720"/>
          </a:xfrm>
          <a:custGeom>
            <a:avLst/>
            <a:gdLst/>
            <a:ahLst/>
            <a:rect l="l" t="t" r="r" b="b"/>
            <a:pathLst>
              <a:path w="189668" h="217192">
                <a:moveTo>
                  <a:pt x="183920" y="184897"/>
                </a:moveTo>
                <a:lnTo>
                  <a:pt x="149675" y="217192"/>
                </a:lnTo>
                <a:lnTo>
                  <a:pt x="144287" y="196361"/>
                </a:lnTo>
                <a:lnTo>
                  <a:pt x="112316" y="140892"/>
                </a:lnTo>
                <a:lnTo>
                  <a:pt x="79627" y="120553"/>
                </a:lnTo>
                <a:lnTo>
                  <a:pt x="0" y="100461"/>
                </a:lnTo>
                <a:lnTo>
                  <a:pt x="39873" y="24776"/>
                </a:lnTo>
                <a:lnTo>
                  <a:pt x="48495" y="0"/>
                </a:lnTo>
                <a:lnTo>
                  <a:pt x="70048" y="14422"/>
                </a:lnTo>
                <a:lnTo>
                  <a:pt x="148597" y="77903"/>
                </a:lnTo>
                <a:lnTo>
                  <a:pt x="189668" y="108350"/>
                </a:lnTo>
                <a:lnTo>
                  <a:pt x="183920" y="184897"/>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8" name="ขอบเขตเขตสาทร"/>
          <p:cNvSpPr/>
          <p:nvPr/>
        </p:nvSpPr>
        <p:spPr>
          <a:xfrm>
            <a:off x="5001840" y="5679720"/>
            <a:ext cx="550440" cy="299160"/>
          </a:xfrm>
          <a:custGeom>
            <a:avLst/>
            <a:gdLst/>
            <a:ahLst/>
            <a:rect l="l" t="t" r="r" b="b"/>
            <a:pathLst>
              <a:path w="550923" h="299656">
                <a:moveTo>
                  <a:pt x="355148" y="236175"/>
                </a:moveTo>
                <a:lnTo>
                  <a:pt x="250137" y="250597"/>
                </a:lnTo>
                <a:lnTo>
                  <a:pt x="268337" y="299656"/>
                </a:lnTo>
                <a:lnTo>
                  <a:pt x="81782" y="263417"/>
                </a:lnTo>
                <a:lnTo>
                  <a:pt x="103455" y="220274"/>
                </a:lnTo>
                <a:lnTo>
                  <a:pt x="0" y="175775"/>
                </a:lnTo>
                <a:lnTo>
                  <a:pt x="50889" y="84929"/>
                </a:lnTo>
                <a:lnTo>
                  <a:pt x="87889" y="94791"/>
                </a:lnTo>
                <a:lnTo>
                  <a:pt x="268577" y="53867"/>
                </a:lnTo>
                <a:lnTo>
                  <a:pt x="439924" y="0"/>
                </a:lnTo>
                <a:lnTo>
                  <a:pt x="540985" y="43266"/>
                </a:lnTo>
                <a:lnTo>
                  <a:pt x="550923" y="119567"/>
                </a:lnTo>
                <a:lnTo>
                  <a:pt x="493927" y="86162"/>
                </a:lnTo>
                <a:lnTo>
                  <a:pt x="407235" y="192663"/>
                </a:lnTo>
                <a:lnTo>
                  <a:pt x="430345" y="236915"/>
                </a:lnTo>
                <a:lnTo>
                  <a:pt x="355148" y="236175"/>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9" name="ขอบเขตเขตสายไหม"/>
          <p:cNvSpPr/>
          <p:nvPr/>
        </p:nvSpPr>
        <p:spPr>
          <a:xfrm>
            <a:off x="6209280" y="3087360"/>
            <a:ext cx="1000080" cy="769320"/>
          </a:xfrm>
          <a:custGeom>
            <a:avLst/>
            <a:gdLst/>
            <a:ahLst/>
            <a:rect l="l" t="t" r="r" b="b"/>
            <a:pathLst>
              <a:path w="1000546" h="769542">
                <a:moveTo>
                  <a:pt x="897211" y="308532"/>
                </a:moveTo>
                <a:lnTo>
                  <a:pt x="1000546" y="473336"/>
                </a:lnTo>
                <a:lnTo>
                  <a:pt x="998391" y="614228"/>
                </a:lnTo>
                <a:lnTo>
                  <a:pt x="906431" y="769542"/>
                </a:lnTo>
                <a:lnTo>
                  <a:pt x="869072" y="700390"/>
                </a:lnTo>
                <a:lnTo>
                  <a:pt x="630909" y="710744"/>
                </a:lnTo>
                <a:lnTo>
                  <a:pt x="532244" y="619159"/>
                </a:lnTo>
                <a:lnTo>
                  <a:pt x="527694" y="661808"/>
                </a:lnTo>
                <a:lnTo>
                  <a:pt x="377061" y="614844"/>
                </a:lnTo>
                <a:lnTo>
                  <a:pt x="172665" y="660699"/>
                </a:lnTo>
                <a:lnTo>
                  <a:pt x="9819" y="602641"/>
                </a:lnTo>
                <a:lnTo>
                  <a:pt x="0" y="502304"/>
                </a:lnTo>
                <a:lnTo>
                  <a:pt x="174700" y="198086"/>
                </a:lnTo>
                <a:lnTo>
                  <a:pt x="199247" y="0"/>
                </a:lnTo>
                <a:lnTo>
                  <a:pt x="375504" y="29090"/>
                </a:lnTo>
                <a:lnTo>
                  <a:pt x="375504" y="29090"/>
                </a:lnTo>
                <a:lnTo>
                  <a:pt x="374187" y="36733"/>
                </a:lnTo>
                <a:lnTo>
                  <a:pt x="374187" y="36733"/>
                </a:lnTo>
                <a:lnTo>
                  <a:pt x="371313" y="46717"/>
                </a:lnTo>
                <a:lnTo>
                  <a:pt x="371313" y="46717"/>
                </a:lnTo>
                <a:lnTo>
                  <a:pt x="373948" y="56209"/>
                </a:lnTo>
                <a:lnTo>
                  <a:pt x="650547" y="70261"/>
                </a:lnTo>
                <a:lnTo>
                  <a:pt x="976000" y="75685"/>
                </a:lnTo>
                <a:lnTo>
                  <a:pt x="976000" y="75685"/>
                </a:lnTo>
                <a:lnTo>
                  <a:pt x="976119" y="97749"/>
                </a:lnTo>
                <a:lnTo>
                  <a:pt x="949058" y="167640"/>
                </a:lnTo>
                <a:lnTo>
                  <a:pt x="949058" y="167640"/>
                </a:lnTo>
                <a:lnTo>
                  <a:pt x="946065" y="185637"/>
                </a:lnTo>
                <a:lnTo>
                  <a:pt x="946065" y="185637"/>
                </a:lnTo>
                <a:lnTo>
                  <a:pt x="945226" y="233833"/>
                </a:lnTo>
                <a:lnTo>
                  <a:pt x="935408" y="250104"/>
                </a:lnTo>
                <a:lnTo>
                  <a:pt x="897211" y="308532"/>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0" name="ขอบเขตเขตหนองจอก"/>
          <p:cNvSpPr/>
          <p:nvPr/>
        </p:nvSpPr>
        <p:spPr>
          <a:xfrm>
            <a:off x="8360640" y="2978640"/>
            <a:ext cx="1791360" cy="2557080"/>
          </a:xfrm>
          <a:custGeom>
            <a:avLst/>
            <a:gdLst/>
            <a:ahLst/>
            <a:rect l="l" t="t" r="r" b="b"/>
            <a:pathLst>
              <a:path w="1791787" h="2557373">
                <a:moveTo>
                  <a:pt x="1077778" y="2557373"/>
                </a:moveTo>
                <a:lnTo>
                  <a:pt x="950974" y="2402306"/>
                </a:lnTo>
                <a:lnTo>
                  <a:pt x="873981" y="2162063"/>
                </a:lnTo>
                <a:lnTo>
                  <a:pt x="649589" y="2150599"/>
                </a:lnTo>
                <a:lnTo>
                  <a:pt x="589479" y="2192140"/>
                </a:lnTo>
                <a:lnTo>
                  <a:pt x="556431" y="2187702"/>
                </a:lnTo>
                <a:lnTo>
                  <a:pt x="525419" y="2192756"/>
                </a:lnTo>
                <a:lnTo>
                  <a:pt x="316592" y="1986781"/>
                </a:lnTo>
                <a:lnTo>
                  <a:pt x="66456" y="1991341"/>
                </a:lnTo>
                <a:lnTo>
                  <a:pt x="80226" y="1865981"/>
                </a:lnTo>
                <a:lnTo>
                  <a:pt x="232295" y="1693411"/>
                </a:lnTo>
                <a:lnTo>
                  <a:pt x="158057" y="1661238"/>
                </a:lnTo>
                <a:lnTo>
                  <a:pt x="157099" y="1540069"/>
                </a:lnTo>
                <a:lnTo>
                  <a:pt x="211461" y="1469315"/>
                </a:lnTo>
                <a:lnTo>
                  <a:pt x="240917" y="1133912"/>
                </a:lnTo>
                <a:lnTo>
                  <a:pt x="134109" y="1182971"/>
                </a:lnTo>
                <a:lnTo>
                  <a:pt x="0" y="802576"/>
                </a:lnTo>
                <a:lnTo>
                  <a:pt x="89446" y="680298"/>
                </a:lnTo>
                <a:lnTo>
                  <a:pt x="54122" y="634074"/>
                </a:lnTo>
                <a:lnTo>
                  <a:pt x="50171" y="204989"/>
                </a:lnTo>
                <a:lnTo>
                  <a:pt x="56158" y="203633"/>
                </a:lnTo>
                <a:lnTo>
                  <a:pt x="612948" y="114513"/>
                </a:lnTo>
                <a:lnTo>
                  <a:pt x="705148" y="101817"/>
                </a:lnTo>
                <a:lnTo>
                  <a:pt x="1084005" y="51648"/>
                </a:lnTo>
                <a:lnTo>
                  <a:pt x="1485972" y="0"/>
                </a:lnTo>
                <a:lnTo>
                  <a:pt x="1485972" y="0"/>
                </a:lnTo>
                <a:lnTo>
                  <a:pt x="1486451" y="115499"/>
                </a:lnTo>
                <a:lnTo>
                  <a:pt x="1486451" y="115499"/>
                </a:lnTo>
                <a:lnTo>
                  <a:pt x="1482020" y="155314"/>
                </a:lnTo>
                <a:lnTo>
                  <a:pt x="1482020" y="155314"/>
                </a:lnTo>
                <a:lnTo>
                  <a:pt x="1476512" y="197470"/>
                </a:lnTo>
                <a:lnTo>
                  <a:pt x="1476512" y="197470"/>
                </a:lnTo>
                <a:lnTo>
                  <a:pt x="1472441" y="238764"/>
                </a:lnTo>
                <a:lnTo>
                  <a:pt x="1472441" y="238764"/>
                </a:lnTo>
                <a:lnTo>
                  <a:pt x="1465257" y="298670"/>
                </a:lnTo>
                <a:lnTo>
                  <a:pt x="1465257" y="298670"/>
                </a:lnTo>
                <a:lnTo>
                  <a:pt x="1460587" y="343785"/>
                </a:lnTo>
                <a:lnTo>
                  <a:pt x="1460587" y="343785"/>
                </a:lnTo>
                <a:lnTo>
                  <a:pt x="1454121" y="385202"/>
                </a:lnTo>
                <a:lnTo>
                  <a:pt x="1454121" y="385202"/>
                </a:lnTo>
                <a:lnTo>
                  <a:pt x="1446218" y="442274"/>
                </a:lnTo>
                <a:lnTo>
                  <a:pt x="1446218" y="442274"/>
                </a:lnTo>
                <a:lnTo>
                  <a:pt x="1441189" y="495154"/>
                </a:lnTo>
                <a:lnTo>
                  <a:pt x="1441189" y="495154"/>
                </a:lnTo>
                <a:lnTo>
                  <a:pt x="1434124" y="541995"/>
                </a:lnTo>
                <a:lnTo>
                  <a:pt x="1434124" y="541995"/>
                </a:lnTo>
                <a:lnTo>
                  <a:pt x="1428377" y="596478"/>
                </a:lnTo>
                <a:lnTo>
                  <a:pt x="1428377" y="596478"/>
                </a:lnTo>
                <a:lnTo>
                  <a:pt x="1425623" y="654659"/>
                </a:lnTo>
                <a:lnTo>
                  <a:pt x="1425623" y="654659"/>
                </a:lnTo>
                <a:lnTo>
                  <a:pt x="1418438" y="709388"/>
                </a:lnTo>
                <a:lnTo>
                  <a:pt x="1418438" y="709388"/>
                </a:lnTo>
                <a:lnTo>
                  <a:pt x="1416523" y="739588"/>
                </a:lnTo>
                <a:lnTo>
                  <a:pt x="1416523" y="739588"/>
                </a:lnTo>
                <a:lnTo>
                  <a:pt x="1415325" y="759804"/>
                </a:lnTo>
                <a:lnTo>
                  <a:pt x="1415325" y="759804"/>
                </a:lnTo>
                <a:lnTo>
                  <a:pt x="1410296" y="802576"/>
                </a:lnTo>
                <a:lnTo>
                  <a:pt x="1410296" y="802576"/>
                </a:lnTo>
                <a:lnTo>
                  <a:pt x="1408500" y="857306"/>
                </a:lnTo>
                <a:lnTo>
                  <a:pt x="1408500" y="857306"/>
                </a:lnTo>
                <a:lnTo>
                  <a:pt x="1409697" y="919678"/>
                </a:lnTo>
                <a:lnTo>
                  <a:pt x="1409697" y="919678"/>
                </a:lnTo>
                <a:lnTo>
                  <a:pt x="1409218" y="968368"/>
                </a:lnTo>
                <a:lnTo>
                  <a:pt x="1409218" y="968368"/>
                </a:lnTo>
                <a:lnTo>
                  <a:pt x="1409458" y="1018783"/>
                </a:lnTo>
                <a:lnTo>
                  <a:pt x="1409458" y="1018783"/>
                </a:lnTo>
                <a:lnTo>
                  <a:pt x="1407303" y="1049599"/>
                </a:lnTo>
                <a:lnTo>
                  <a:pt x="1401435" y="1059460"/>
                </a:lnTo>
                <a:lnTo>
                  <a:pt x="1401435" y="1059460"/>
                </a:lnTo>
                <a:lnTo>
                  <a:pt x="1399400" y="1100137"/>
                </a:lnTo>
                <a:lnTo>
                  <a:pt x="1399400" y="1100137"/>
                </a:lnTo>
                <a:lnTo>
                  <a:pt x="1396765" y="1146362"/>
                </a:lnTo>
                <a:lnTo>
                  <a:pt x="1396765" y="1146362"/>
                </a:lnTo>
                <a:lnTo>
                  <a:pt x="1396167" y="1169659"/>
                </a:lnTo>
                <a:lnTo>
                  <a:pt x="1396167" y="1169659"/>
                </a:lnTo>
                <a:lnTo>
                  <a:pt x="1396167" y="1169905"/>
                </a:lnTo>
                <a:lnTo>
                  <a:pt x="1396047" y="1172001"/>
                </a:lnTo>
                <a:lnTo>
                  <a:pt x="1396047" y="1172001"/>
                </a:lnTo>
                <a:lnTo>
                  <a:pt x="1392335" y="1194065"/>
                </a:lnTo>
                <a:lnTo>
                  <a:pt x="1490522" y="1221553"/>
                </a:lnTo>
                <a:lnTo>
                  <a:pt x="1490522" y="1221553"/>
                </a:lnTo>
                <a:lnTo>
                  <a:pt x="1471842" y="1238194"/>
                </a:lnTo>
                <a:lnTo>
                  <a:pt x="1424665" y="1317083"/>
                </a:lnTo>
                <a:lnTo>
                  <a:pt x="1791787" y="1611686"/>
                </a:lnTo>
                <a:lnTo>
                  <a:pt x="1791787" y="1611686"/>
                </a:lnTo>
                <a:lnTo>
                  <a:pt x="1768438" y="1646570"/>
                </a:lnTo>
                <a:lnTo>
                  <a:pt x="1724134" y="1704874"/>
                </a:lnTo>
                <a:lnTo>
                  <a:pt x="1704377" y="1731869"/>
                </a:lnTo>
                <a:lnTo>
                  <a:pt x="1703659" y="1732732"/>
                </a:lnTo>
                <a:lnTo>
                  <a:pt x="1423348" y="1955964"/>
                </a:lnTo>
                <a:lnTo>
                  <a:pt x="1077778" y="2557373"/>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1" name="ขอบเขตเขตหนองแขม"/>
          <p:cNvSpPr/>
          <p:nvPr/>
        </p:nvSpPr>
        <p:spPr>
          <a:xfrm>
            <a:off x="2881440" y="5535000"/>
            <a:ext cx="649440" cy="1026360"/>
          </a:xfrm>
          <a:custGeom>
            <a:avLst/>
            <a:gdLst/>
            <a:ahLst/>
            <a:rect l="l" t="t" r="r" b="b"/>
            <a:pathLst>
              <a:path w="649708" h="1026795">
                <a:moveTo>
                  <a:pt x="557030" y="461503"/>
                </a:moveTo>
                <a:lnTo>
                  <a:pt x="649708" y="821559"/>
                </a:lnTo>
                <a:lnTo>
                  <a:pt x="163205" y="1026795"/>
                </a:lnTo>
                <a:lnTo>
                  <a:pt x="108724" y="1024699"/>
                </a:lnTo>
                <a:lnTo>
                  <a:pt x="104653" y="1024576"/>
                </a:lnTo>
                <a:lnTo>
                  <a:pt x="101420" y="1015331"/>
                </a:lnTo>
                <a:lnTo>
                  <a:pt x="103695" y="994253"/>
                </a:lnTo>
                <a:lnTo>
                  <a:pt x="103695" y="994253"/>
                </a:lnTo>
                <a:lnTo>
                  <a:pt x="124290" y="961588"/>
                </a:lnTo>
                <a:lnTo>
                  <a:pt x="125487" y="943591"/>
                </a:lnTo>
                <a:lnTo>
                  <a:pt x="125487" y="943591"/>
                </a:lnTo>
                <a:lnTo>
                  <a:pt x="118183" y="916103"/>
                </a:lnTo>
                <a:lnTo>
                  <a:pt x="118183" y="916103"/>
                </a:lnTo>
                <a:lnTo>
                  <a:pt x="113394" y="890094"/>
                </a:lnTo>
                <a:lnTo>
                  <a:pt x="113394" y="890094"/>
                </a:lnTo>
                <a:lnTo>
                  <a:pt x="106449" y="867414"/>
                </a:lnTo>
                <a:lnTo>
                  <a:pt x="97588" y="834379"/>
                </a:lnTo>
                <a:lnTo>
                  <a:pt x="97588" y="834379"/>
                </a:lnTo>
                <a:lnTo>
                  <a:pt x="92439" y="804672"/>
                </a:lnTo>
                <a:lnTo>
                  <a:pt x="92439" y="804672"/>
                </a:lnTo>
                <a:lnTo>
                  <a:pt x="36161" y="704335"/>
                </a:lnTo>
                <a:lnTo>
                  <a:pt x="33168" y="691022"/>
                </a:lnTo>
                <a:lnTo>
                  <a:pt x="33168" y="691022"/>
                </a:lnTo>
                <a:lnTo>
                  <a:pt x="30414" y="667602"/>
                </a:lnTo>
                <a:lnTo>
                  <a:pt x="30414" y="667602"/>
                </a:lnTo>
                <a:lnTo>
                  <a:pt x="22511" y="633581"/>
                </a:lnTo>
                <a:lnTo>
                  <a:pt x="13531" y="604244"/>
                </a:lnTo>
                <a:lnTo>
                  <a:pt x="13531" y="604244"/>
                </a:lnTo>
                <a:lnTo>
                  <a:pt x="10058" y="582672"/>
                </a:lnTo>
                <a:lnTo>
                  <a:pt x="7544" y="562210"/>
                </a:lnTo>
                <a:lnTo>
                  <a:pt x="7544" y="562210"/>
                </a:lnTo>
                <a:lnTo>
                  <a:pt x="7544" y="562210"/>
                </a:lnTo>
                <a:lnTo>
                  <a:pt x="6107" y="545570"/>
                </a:lnTo>
                <a:lnTo>
                  <a:pt x="6107" y="545570"/>
                </a:lnTo>
                <a:lnTo>
                  <a:pt x="4191" y="519068"/>
                </a:lnTo>
                <a:lnTo>
                  <a:pt x="4191" y="519068"/>
                </a:lnTo>
                <a:lnTo>
                  <a:pt x="0" y="494291"/>
                </a:lnTo>
                <a:lnTo>
                  <a:pt x="0" y="494291"/>
                </a:lnTo>
                <a:lnTo>
                  <a:pt x="718" y="474323"/>
                </a:lnTo>
                <a:lnTo>
                  <a:pt x="718" y="474323"/>
                </a:lnTo>
                <a:lnTo>
                  <a:pt x="57715" y="400980"/>
                </a:lnTo>
                <a:lnTo>
                  <a:pt x="68012" y="360796"/>
                </a:lnTo>
                <a:lnTo>
                  <a:pt x="68012" y="360796"/>
                </a:lnTo>
                <a:lnTo>
                  <a:pt x="74957" y="315558"/>
                </a:lnTo>
                <a:lnTo>
                  <a:pt x="74957" y="315558"/>
                </a:lnTo>
                <a:lnTo>
                  <a:pt x="79747" y="277222"/>
                </a:lnTo>
                <a:lnTo>
                  <a:pt x="79747" y="277222"/>
                </a:lnTo>
                <a:lnTo>
                  <a:pt x="66096" y="197224"/>
                </a:lnTo>
                <a:lnTo>
                  <a:pt x="66096" y="197224"/>
                </a:lnTo>
                <a:lnTo>
                  <a:pt x="66096" y="197224"/>
                </a:lnTo>
                <a:lnTo>
                  <a:pt x="66216" y="196361"/>
                </a:lnTo>
                <a:lnTo>
                  <a:pt x="66216" y="196361"/>
                </a:lnTo>
                <a:lnTo>
                  <a:pt x="66336" y="195498"/>
                </a:lnTo>
                <a:lnTo>
                  <a:pt x="66336" y="195498"/>
                </a:lnTo>
                <a:lnTo>
                  <a:pt x="66336" y="195128"/>
                </a:lnTo>
                <a:lnTo>
                  <a:pt x="66336" y="195128"/>
                </a:lnTo>
                <a:lnTo>
                  <a:pt x="66336" y="193895"/>
                </a:lnTo>
                <a:lnTo>
                  <a:pt x="66336" y="193895"/>
                </a:lnTo>
                <a:lnTo>
                  <a:pt x="66336" y="192293"/>
                </a:lnTo>
                <a:lnTo>
                  <a:pt x="66336" y="192293"/>
                </a:lnTo>
                <a:lnTo>
                  <a:pt x="66216" y="191677"/>
                </a:lnTo>
                <a:lnTo>
                  <a:pt x="66216" y="191677"/>
                </a:lnTo>
                <a:lnTo>
                  <a:pt x="66216" y="190690"/>
                </a:lnTo>
                <a:lnTo>
                  <a:pt x="66216" y="190690"/>
                </a:lnTo>
                <a:lnTo>
                  <a:pt x="65977" y="189088"/>
                </a:lnTo>
                <a:lnTo>
                  <a:pt x="65977" y="189088"/>
                </a:lnTo>
                <a:lnTo>
                  <a:pt x="65977" y="188718"/>
                </a:lnTo>
                <a:lnTo>
                  <a:pt x="65857" y="188718"/>
                </a:lnTo>
                <a:lnTo>
                  <a:pt x="65617" y="187486"/>
                </a:lnTo>
                <a:lnTo>
                  <a:pt x="65617" y="187486"/>
                </a:lnTo>
                <a:lnTo>
                  <a:pt x="65498" y="186746"/>
                </a:lnTo>
                <a:lnTo>
                  <a:pt x="65498" y="186746"/>
                </a:lnTo>
                <a:lnTo>
                  <a:pt x="58313" y="153341"/>
                </a:lnTo>
                <a:lnTo>
                  <a:pt x="58313" y="153341"/>
                </a:lnTo>
                <a:lnTo>
                  <a:pt x="65378" y="143603"/>
                </a:lnTo>
                <a:lnTo>
                  <a:pt x="65737" y="142494"/>
                </a:lnTo>
                <a:lnTo>
                  <a:pt x="65737" y="142494"/>
                </a:lnTo>
                <a:lnTo>
                  <a:pt x="65977" y="141385"/>
                </a:lnTo>
                <a:lnTo>
                  <a:pt x="65977" y="141385"/>
                </a:lnTo>
                <a:lnTo>
                  <a:pt x="66096" y="140275"/>
                </a:lnTo>
                <a:lnTo>
                  <a:pt x="66096" y="140275"/>
                </a:lnTo>
                <a:lnTo>
                  <a:pt x="66096" y="139166"/>
                </a:lnTo>
                <a:lnTo>
                  <a:pt x="66096" y="139166"/>
                </a:lnTo>
                <a:lnTo>
                  <a:pt x="66096" y="137933"/>
                </a:lnTo>
                <a:lnTo>
                  <a:pt x="66096" y="137933"/>
                </a:lnTo>
                <a:lnTo>
                  <a:pt x="65977" y="136824"/>
                </a:lnTo>
                <a:lnTo>
                  <a:pt x="65977" y="136824"/>
                </a:lnTo>
                <a:lnTo>
                  <a:pt x="65857" y="136331"/>
                </a:lnTo>
                <a:lnTo>
                  <a:pt x="65857" y="136331"/>
                </a:lnTo>
                <a:lnTo>
                  <a:pt x="65737" y="135714"/>
                </a:lnTo>
                <a:lnTo>
                  <a:pt x="65737" y="135714"/>
                </a:lnTo>
                <a:lnTo>
                  <a:pt x="56996" y="104405"/>
                </a:lnTo>
                <a:lnTo>
                  <a:pt x="56397" y="101324"/>
                </a:lnTo>
                <a:lnTo>
                  <a:pt x="56397" y="101324"/>
                </a:lnTo>
                <a:lnTo>
                  <a:pt x="55679" y="98365"/>
                </a:lnTo>
                <a:lnTo>
                  <a:pt x="55679" y="98365"/>
                </a:lnTo>
                <a:lnTo>
                  <a:pt x="55200" y="95284"/>
                </a:lnTo>
                <a:lnTo>
                  <a:pt x="55200" y="95284"/>
                </a:lnTo>
                <a:lnTo>
                  <a:pt x="54841" y="92079"/>
                </a:lnTo>
                <a:lnTo>
                  <a:pt x="54841" y="92079"/>
                </a:lnTo>
                <a:lnTo>
                  <a:pt x="54482" y="88997"/>
                </a:lnTo>
                <a:lnTo>
                  <a:pt x="54482" y="88997"/>
                </a:lnTo>
                <a:lnTo>
                  <a:pt x="54242" y="85915"/>
                </a:lnTo>
                <a:lnTo>
                  <a:pt x="54242" y="85915"/>
                </a:lnTo>
                <a:lnTo>
                  <a:pt x="54003" y="82834"/>
                </a:lnTo>
                <a:lnTo>
                  <a:pt x="54003" y="82834"/>
                </a:lnTo>
                <a:lnTo>
                  <a:pt x="54003" y="79629"/>
                </a:lnTo>
                <a:lnTo>
                  <a:pt x="54003" y="79629"/>
                </a:lnTo>
                <a:lnTo>
                  <a:pt x="54003" y="79259"/>
                </a:lnTo>
                <a:lnTo>
                  <a:pt x="54003" y="79259"/>
                </a:lnTo>
                <a:lnTo>
                  <a:pt x="54003" y="78889"/>
                </a:lnTo>
                <a:lnTo>
                  <a:pt x="54003" y="78889"/>
                </a:lnTo>
                <a:lnTo>
                  <a:pt x="54122" y="78150"/>
                </a:lnTo>
                <a:lnTo>
                  <a:pt x="54122" y="78150"/>
                </a:lnTo>
                <a:lnTo>
                  <a:pt x="56637" y="32788"/>
                </a:lnTo>
                <a:lnTo>
                  <a:pt x="55799" y="31679"/>
                </a:lnTo>
                <a:lnTo>
                  <a:pt x="342217" y="0"/>
                </a:lnTo>
                <a:lnTo>
                  <a:pt x="408313" y="144096"/>
                </a:lnTo>
                <a:lnTo>
                  <a:pt x="557030" y="461503"/>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2" name="ขอบเขตเขตหลักสี่"/>
          <p:cNvSpPr/>
          <p:nvPr/>
        </p:nvSpPr>
        <p:spPr>
          <a:xfrm>
            <a:off x="5425200" y="3360240"/>
            <a:ext cx="617040" cy="797040"/>
          </a:xfrm>
          <a:custGeom>
            <a:avLst/>
            <a:gdLst/>
            <a:ahLst/>
            <a:rect l="l" t="t" r="r" b="b"/>
            <a:pathLst>
              <a:path w="617259" h="797276">
                <a:moveTo>
                  <a:pt x="617259" y="329733"/>
                </a:moveTo>
                <a:lnTo>
                  <a:pt x="537512" y="431673"/>
                </a:lnTo>
                <a:lnTo>
                  <a:pt x="517875" y="684366"/>
                </a:lnTo>
                <a:lnTo>
                  <a:pt x="241755" y="731206"/>
                </a:lnTo>
                <a:lnTo>
                  <a:pt x="7424" y="795550"/>
                </a:lnTo>
                <a:lnTo>
                  <a:pt x="0" y="797276"/>
                </a:lnTo>
                <a:lnTo>
                  <a:pt x="2155" y="794441"/>
                </a:lnTo>
                <a:lnTo>
                  <a:pt x="2155" y="794441"/>
                </a:lnTo>
                <a:lnTo>
                  <a:pt x="1916" y="794564"/>
                </a:lnTo>
                <a:lnTo>
                  <a:pt x="1916" y="794564"/>
                </a:lnTo>
                <a:lnTo>
                  <a:pt x="9819" y="769049"/>
                </a:lnTo>
                <a:lnTo>
                  <a:pt x="12812" y="759187"/>
                </a:lnTo>
                <a:lnTo>
                  <a:pt x="12812" y="759187"/>
                </a:lnTo>
                <a:lnTo>
                  <a:pt x="16764" y="741437"/>
                </a:lnTo>
                <a:lnTo>
                  <a:pt x="16764" y="741437"/>
                </a:lnTo>
                <a:lnTo>
                  <a:pt x="27301" y="696322"/>
                </a:lnTo>
                <a:lnTo>
                  <a:pt x="27420" y="695829"/>
                </a:lnTo>
                <a:lnTo>
                  <a:pt x="27420" y="695829"/>
                </a:lnTo>
                <a:lnTo>
                  <a:pt x="27899" y="693487"/>
                </a:lnTo>
                <a:lnTo>
                  <a:pt x="27899" y="693487"/>
                </a:lnTo>
                <a:lnTo>
                  <a:pt x="28977" y="688557"/>
                </a:lnTo>
                <a:lnTo>
                  <a:pt x="28977" y="688557"/>
                </a:lnTo>
                <a:lnTo>
                  <a:pt x="32330" y="672039"/>
                </a:lnTo>
                <a:lnTo>
                  <a:pt x="32330" y="672039"/>
                </a:lnTo>
                <a:lnTo>
                  <a:pt x="36760" y="651454"/>
                </a:lnTo>
                <a:lnTo>
                  <a:pt x="36760" y="651454"/>
                </a:lnTo>
                <a:lnTo>
                  <a:pt x="40352" y="629759"/>
                </a:lnTo>
                <a:lnTo>
                  <a:pt x="40352" y="629759"/>
                </a:lnTo>
                <a:lnTo>
                  <a:pt x="40472" y="629636"/>
                </a:lnTo>
                <a:lnTo>
                  <a:pt x="44304" y="614475"/>
                </a:lnTo>
                <a:lnTo>
                  <a:pt x="58194" y="563443"/>
                </a:lnTo>
                <a:lnTo>
                  <a:pt x="65378" y="532627"/>
                </a:lnTo>
                <a:lnTo>
                  <a:pt x="65378" y="532627"/>
                </a:lnTo>
                <a:lnTo>
                  <a:pt x="70168" y="509576"/>
                </a:lnTo>
                <a:lnTo>
                  <a:pt x="70168" y="509576"/>
                </a:lnTo>
                <a:lnTo>
                  <a:pt x="70168" y="509207"/>
                </a:lnTo>
                <a:lnTo>
                  <a:pt x="70168" y="509207"/>
                </a:lnTo>
                <a:lnTo>
                  <a:pt x="71724" y="501687"/>
                </a:lnTo>
                <a:lnTo>
                  <a:pt x="71724" y="501687"/>
                </a:lnTo>
                <a:lnTo>
                  <a:pt x="75197" y="475555"/>
                </a:lnTo>
                <a:lnTo>
                  <a:pt x="75197" y="475555"/>
                </a:lnTo>
                <a:lnTo>
                  <a:pt x="74718" y="453861"/>
                </a:lnTo>
                <a:lnTo>
                  <a:pt x="74718" y="453861"/>
                </a:lnTo>
                <a:lnTo>
                  <a:pt x="76634" y="447451"/>
                </a:lnTo>
                <a:lnTo>
                  <a:pt x="100941" y="362152"/>
                </a:lnTo>
                <a:lnTo>
                  <a:pt x="131714" y="232231"/>
                </a:lnTo>
                <a:lnTo>
                  <a:pt x="131834" y="231861"/>
                </a:lnTo>
                <a:lnTo>
                  <a:pt x="138180" y="206468"/>
                </a:lnTo>
                <a:lnTo>
                  <a:pt x="138180" y="206468"/>
                </a:lnTo>
                <a:lnTo>
                  <a:pt x="145364" y="169489"/>
                </a:lnTo>
                <a:lnTo>
                  <a:pt x="145364" y="169489"/>
                </a:lnTo>
                <a:lnTo>
                  <a:pt x="163684" y="102680"/>
                </a:lnTo>
                <a:lnTo>
                  <a:pt x="181047" y="36733"/>
                </a:lnTo>
                <a:lnTo>
                  <a:pt x="191105" y="0"/>
                </a:lnTo>
                <a:lnTo>
                  <a:pt x="531645" y="185760"/>
                </a:lnTo>
                <a:lnTo>
                  <a:pt x="474888" y="292754"/>
                </a:lnTo>
                <a:lnTo>
                  <a:pt x="617259" y="329733"/>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3" name="ขอบเขตเขตห้วยขวาง"/>
          <p:cNvSpPr/>
          <p:nvPr/>
        </p:nvSpPr>
        <p:spPr>
          <a:xfrm>
            <a:off x="5664240" y="4733640"/>
            <a:ext cx="489240" cy="763200"/>
          </a:xfrm>
          <a:custGeom>
            <a:avLst/>
            <a:gdLst/>
            <a:ahLst/>
            <a:rect l="l" t="t" r="r" b="b"/>
            <a:pathLst>
              <a:path w="489736" h="763625">
                <a:moveTo>
                  <a:pt x="489736" y="640853"/>
                </a:moveTo>
                <a:lnTo>
                  <a:pt x="453934" y="676477"/>
                </a:lnTo>
                <a:lnTo>
                  <a:pt x="415976" y="763625"/>
                </a:lnTo>
                <a:lnTo>
                  <a:pt x="91601" y="697432"/>
                </a:lnTo>
                <a:lnTo>
                  <a:pt x="0" y="680544"/>
                </a:lnTo>
                <a:lnTo>
                  <a:pt x="19637" y="590068"/>
                </a:lnTo>
                <a:lnTo>
                  <a:pt x="119261" y="401473"/>
                </a:lnTo>
                <a:lnTo>
                  <a:pt x="132313" y="163079"/>
                </a:lnTo>
                <a:lnTo>
                  <a:pt x="139377" y="24406"/>
                </a:lnTo>
                <a:lnTo>
                  <a:pt x="300906" y="0"/>
                </a:lnTo>
                <a:lnTo>
                  <a:pt x="301864" y="3082"/>
                </a:lnTo>
                <a:lnTo>
                  <a:pt x="377300" y="481225"/>
                </a:lnTo>
                <a:lnTo>
                  <a:pt x="489736" y="640853"/>
                </a:lnTo>
                <a:close/>
              </a:path>
            </a:pathLst>
          </a:custGeom>
          <a:solidFill>
            <a:srgbClr val="ebeee8"/>
          </a:solidFill>
          <a:ln w="6191">
            <a:solidFill>
              <a:srgbClr val="c1ccc6"/>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4" name="ชุมชนวัดสังเวชวิศยาราม"/>
          <p:cNvSpPr/>
          <p:nvPr/>
        </p:nvSpPr>
        <p:spPr>
          <a:xfrm>
            <a:off x="4855680" y="5186880"/>
            <a:ext cx="45000" cy="41760"/>
          </a:xfrm>
          <a:custGeom>
            <a:avLst/>
            <a:gdLst/>
            <a:ahLst/>
            <a:rect l="l" t="t" r="r" b="b"/>
            <a:pathLst>
              <a:path w="45501" h="42033">
                <a:moveTo>
                  <a:pt x="45501" y="25023"/>
                </a:moveTo>
                <a:lnTo>
                  <a:pt x="43226" y="26255"/>
                </a:lnTo>
                <a:lnTo>
                  <a:pt x="35922" y="21941"/>
                </a:lnTo>
                <a:lnTo>
                  <a:pt x="37718" y="18983"/>
                </a:lnTo>
                <a:lnTo>
                  <a:pt x="30893" y="14792"/>
                </a:lnTo>
                <a:lnTo>
                  <a:pt x="30653" y="11464"/>
                </a:lnTo>
                <a:lnTo>
                  <a:pt x="12692" y="0"/>
                </a:lnTo>
                <a:lnTo>
                  <a:pt x="0" y="15408"/>
                </a:lnTo>
                <a:lnTo>
                  <a:pt x="7065" y="23420"/>
                </a:lnTo>
                <a:lnTo>
                  <a:pt x="18081" y="31679"/>
                </a:lnTo>
                <a:lnTo>
                  <a:pt x="36161" y="42033"/>
                </a:lnTo>
                <a:lnTo>
                  <a:pt x="45501" y="25023"/>
                </a:lnTo>
                <a:close/>
              </a:path>
            </a:pathLst>
          </a:custGeom>
          <a:solidFill>
            <a:srgbClr val="ded5c5"/>
          </a:solidFill>
          <a:ln w="6191">
            <a:solidFill>
              <a:srgbClr val="b5a68d"/>
            </a:solidFill>
            <a:round/>
          </a:ln>
        </p:spPr>
        <p:style>
          <a:lnRef idx="0"/>
          <a:fillRef idx="0"/>
          <a:effectRef idx="0"/>
          <a:fontRef idx="minor"/>
        </p:style>
        <p:txBody>
          <a:bodyPr lIns="90000" rIns="90000" tIns="-3240" bIns="-3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5" name="สวนอ้อย"/>
          <p:cNvSpPr/>
          <p:nvPr/>
        </p:nvSpPr>
        <p:spPr>
          <a:xfrm>
            <a:off x="5015160" y="5009760"/>
            <a:ext cx="39240" cy="39600"/>
          </a:xfrm>
          <a:custGeom>
            <a:avLst/>
            <a:gdLst/>
            <a:ahLst/>
            <a:rect l="l" t="t" r="r" b="b"/>
            <a:pathLst>
              <a:path w="39634" h="39815">
                <a:moveTo>
                  <a:pt x="28857" y="24653"/>
                </a:moveTo>
                <a:lnTo>
                  <a:pt x="24547" y="21818"/>
                </a:lnTo>
                <a:lnTo>
                  <a:pt x="29815" y="9861"/>
                </a:lnTo>
                <a:lnTo>
                  <a:pt x="26822" y="8259"/>
                </a:lnTo>
                <a:lnTo>
                  <a:pt x="26941" y="6903"/>
                </a:lnTo>
                <a:lnTo>
                  <a:pt x="13531" y="0"/>
                </a:lnTo>
                <a:lnTo>
                  <a:pt x="0" y="29584"/>
                </a:lnTo>
                <a:lnTo>
                  <a:pt x="22272" y="39815"/>
                </a:lnTo>
                <a:lnTo>
                  <a:pt x="24547" y="35130"/>
                </a:lnTo>
                <a:lnTo>
                  <a:pt x="35922" y="39568"/>
                </a:lnTo>
                <a:lnTo>
                  <a:pt x="39634" y="30200"/>
                </a:lnTo>
                <a:lnTo>
                  <a:pt x="28857" y="24653"/>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6" name="วัดเทวราชกุญชร"/>
          <p:cNvSpPr/>
          <p:nvPr/>
        </p:nvSpPr>
        <p:spPr>
          <a:xfrm>
            <a:off x="4914360" y="5095440"/>
            <a:ext cx="29880" cy="19800"/>
          </a:xfrm>
          <a:custGeom>
            <a:avLst/>
            <a:gdLst/>
            <a:ahLst/>
            <a:rect l="l" t="t" r="r" b="b"/>
            <a:pathLst>
              <a:path w="30174" h="20215">
                <a:moveTo>
                  <a:pt x="17362" y="4068"/>
                </a:moveTo>
                <a:lnTo>
                  <a:pt x="7065" y="0"/>
                </a:lnTo>
                <a:lnTo>
                  <a:pt x="1557" y="10354"/>
                </a:lnTo>
                <a:lnTo>
                  <a:pt x="0" y="17134"/>
                </a:lnTo>
                <a:lnTo>
                  <a:pt x="6346" y="20215"/>
                </a:lnTo>
                <a:lnTo>
                  <a:pt x="6107" y="15285"/>
                </a:lnTo>
                <a:lnTo>
                  <a:pt x="11495" y="4807"/>
                </a:lnTo>
                <a:lnTo>
                  <a:pt x="17123" y="6656"/>
                </a:lnTo>
                <a:lnTo>
                  <a:pt x="15566" y="11464"/>
                </a:lnTo>
                <a:lnTo>
                  <a:pt x="22631" y="14422"/>
                </a:lnTo>
                <a:lnTo>
                  <a:pt x="25744" y="9615"/>
                </a:lnTo>
                <a:lnTo>
                  <a:pt x="30174" y="11340"/>
                </a:lnTo>
                <a:lnTo>
                  <a:pt x="30174" y="8998"/>
                </a:lnTo>
                <a:lnTo>
                  <a:pt x="17362" y="4068"/>
                </a:lnTo>
                <a:close/>
              </a:path>
            </a:pathLst>
          </a:custGeom>
          <a:solidFill>
            <a:srgbClr val="ded5c5"/>
          </a:solidFill>
          <a:ln w="6191">
            <a:solidFill>
              <a:srgbClr val="b5a68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7" name="บ้านคลองเก้า"/>
          <p:cNvSpPr/>
          <p:nvPr/>
        </p:nvSpPr>
        <p:spPr>
          <a:xfrm>
            <a:off x="8409600" y="3159360"/>
            <a:ext cx="126360" cy="194040"/>
          </a:xfrm>
          <a:custGeom>
            <a:avLst/>
            <a:gdLst/>
            <a:ahLst/>
            <a:rect l="l" t="t" r="r" b="b"/>
            <a:pathLst>
              <a:path w="126685" h="194512">
                <a:moveTo>
                  <a:pt x="3592" y="0"/>
                </a:moveTo>
                <a:lnTo>
                  <a:pt x="1916" y="5424"/>
                </a:lnTo>
                <a:lnTo>
                  <a:pt x="0" y="194265"/>
                </a:lnTo>
                <a:lnTo>
                  <a:pt x="15925" y="194512"/>
                </a:lnTo>
                <a:lnTo>
                  <a:pt x="17961" y="73219"/>
                </a:lnTo>
                <a:lnTo>
                  <a:pt x="62863" y="73836"/>
                </a:lnTo>
                <a:lnTo>
                  <a:pt x="64660" y="98612"/>
                </a:lnTo>
                <a:lnTo>
                  <a:pt x="18081" y="98242"/>
                </a:lnTo>
                <a:lnTo>
                  <a:pt x="18081" y="126100"/>
                </a:lnTo>
                <a:lnTo>
                  <a:pt x="82142" y="120183"/>
                </a:lnTo>
                <a:lnTo>
                  <a:pt x="96750" y="120799"/>
                </a:lnTo>
                <a:lnTo>
                  <a:pt x="97229" y="110568"/>
                </a:lnTo>
                <a:lnTo>
                  <a:pt x="66815" y="98858"/>
                </a:lnTo>
                <a:lnTo>
                  <a:pt x="64899" y="72603"/>
                </a:lnTo>
                <a:lnTo>
                  <a:pt x="126685" y="51278"/>
                </a:lnTo>
                <a:lnTo>
                  <a:pt x="125727" y="36240"/>
                </a:lnTo>
                <a:lnTo>
                  <a:pt x="124529" y="25516"/>
                </a:lnTo>
                <a:lnTo>
                  <a:pt x="40951" y="4561"/>
                </a:lnTo>
                <a:lnTo>
                  <a:pt x="40831" y="740"/>
                </a:lnTo>
                <a:lnTo>
                  <a:pt x="3592"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8" name="อุมาร์2"/>
          <p:cNvSpPr/>
          <p:nvPr/>
        </p:nvSpPr>
        <p:spPr>
          <a:xfrm>
            <a:off x="8699400" y="3231000"/>
            <a:ext cx="79920" cy="21600"/>
          </a:xfrm>
          <a:custGeom>
            <a:avLst/>
            <a:gdLst/>
            <a:ahLst/>
            <a:rect l="l" t="t" r="r" b="b"/>
            <a:pathLst>
              <a:path w="80226" h="21941">
                <a:moveTo>
                  <a:pt x="0" y="7149"/>
                </a:moveTo>
                <a:lnTo>
                  <a:pt x="599" y="21941"/>
                </a:lnTo>
                <a:lnTo>
                  <a:pt x="80226" y="12203"/>
                </a:lnTo>
                <a:lnTo>
                  <a:pt x="78549" y="0"/>
                </a:lnTo>
                <a:lnTo>
                  <a:pt x="0" y="7149"/>
                </a:lnTo>
                <a:close/>
              </a:path>
            </a:pathLst>
          </a:custGeom>
          <a:solidFill>
            <a:srgbClr val="ded5c5"/>
          </a:solidFill>
          <a:ln w="6191">
            <a:solidFill>
              <a:srgbClr val="b5a68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9" name="อัลฟาลาห์"/>
          <p:cNvSpPr/>
          <p:nvPr/>
        </p:nvSpPr>
        <p:spPr>
          <a:xfrm>
            <a:off x="8407080" y="3417840"/>
            <a:ext cx="125640" cy="116640"/>
          </a:xfrm>
          <a:custGeom>
            <a:avLst/>
            <a:gdLst/>
            <a:ahLst/>
            <a:rect l="l" t="t" r="r" b="b"/>
            <a:pathLst>
              <a:path w="125847" h="116978">
                <a:moveTo>
                  <a:pt x="122374" y="11340"/>
                </a:moveTo>
                <a:lnTo>
                  <a:pt x="122015" y="616"/>
                </a:lnTo>
                <a:lnTo>
                  <a:pt x="1197" y="0"/>
                </a:lnTo>
                <a:lnTo>
                  <a:pt x="0" y="116485"/>
                </a:lnTo>
                <a:lnTo>
                  <a:pt x="125847" y="116978"/>
                </a:lnTo>
                <a:lnTo>
                  <a:pt x="122374" y="1134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0" name="แผ่นดินทองบิดาย่าตุ้ลฮิดายะห์"/>
          <p:cNvSpPr/>
          <p:nvPr/>
        </p:nvSpPr>
        <p:spPr>
          <a:xfrm>
            <a:off x="9766080" y="3722760"/>
            <a:ext cx="11880" cy="11880"/>
          </a:xfrm>
          <a:custGeom>
            <a:avLst/>
            <a:gdLst/>
            <a:ahLst/>
            <a:rect l="l" t="t" r="r" b="b"/>
            <a:pathLst>
              <a:path w="12094" h="12080">
                <a:moveTo>
                  <a:pt x="12094" y="1602"/>
                </a:moveTo>
                <a:lnTo>
                  <a:pt x="11974" y="0"/>
                </a:lnTo>
                <a:lnTo>
                  <a:pt x="0" y="1849"/>
                </a:lnTo>
                <a:lnTo>
                  <a:pt x="3113" y="10354"/>
                </a:lnTo>
                <a:lnTo>
                  <a:pt x="11495" y="12080"/>
                </a:lnTo>
                <a:lnTo>
                  <a:pt x="12094" y="1602"/>
                </a:lnTo>
                <a:close/>
              </a:path>
            </a:pathLst>
          </a:custGeom>
          <a:solidFill>
            <a:srgbClr val="ded5c5"/>
          </a:solidFill>
          <a:ln w="6191">
            <a:solidFill>
              <a:srgbClr val="b5a68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1" name="แผ่นดินทองวัดพระยาปลา"/>
          <p:cNvSpPr/>
          <p:nvPr/>
        </p:nvSpPr>
        <p:spPr>
          <a:xfrm>
            <a:off x="9247320" y="3347280"/>
            <a:ext cx="30600" cy="32400"/>
          </a:xfrm>
          <a:custGeom>
            <a:avLst/>
            <a:gdLst/>
            <a:ahLst/>
            <a:rect l="l" t="t" r="r" b="b"/>
            <a:pathLst>
              <a:path w="31132" h="32665">
                <a:moveTo>
                  <a:pt x="0" y="1233"/>
                </a:moveTo>
                <a:lnTo>
                  <a:pt x="958" y="31186"/>
                </a:lnTo>
                <a:lnTo>
                  <a:pt x="15686" y="32665"/>
                </a:lnTo>
                <a:lnTo>
                  <a:pt x="15686" y="26502"/>
                </a:lnTo>
                <a:lnTo>
                  <a:pt x="17841" y="19722"/>
                </a:lnTo>
                <a:lnTo>
                  <a:pt x="31132" y="17997"/>
                </a:lnTo>
                <a:lnTo>
                  <a:pt x="30653" y="11957"/>
                </a:lnTo>
                <a:lnTo>
                  <a:pt x="18320" y="11710"/>
                </a:lnTo>
                <a:lnTo>
                  <a:pt x="17123" y="1602"/>
                </a:lnTo>
                <a:lnTo>
                  <a:pt x="718" y="0"/>
                </a:lnTo>
                <a:lnTo>
                  <a:pt x="0" y="1233"/>
                </a:lnTo>
                <a:close/>
              </a:path>
            </a:pathLst>
          </a:custGeom>
          <a:solidFill>
            <a:srgbClr val="ded5c5"/>
          </a:solidFill>
          <a:ln w="6191">
            <a:solidFill>
              <a:srgbClr val="b5a68d"/>
            </a:solidFill>
            <a:round/>
          </a:ln>
        </p:spPr>
        <p:style>
          <a:lnRef idx="0"/>
          <a:fillRef idx="0"/>
          <a:effectRef idx="0"/>
          <a:fontRef idx="minor"/>
        </p:style>
        <p:txBody>
          <a:bodyPr lIns="90000" rIns="90000" tIns="-12600" bIns="-12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2" name="แผ่นดินทองวัดแสนเกษม"/>
          <p:cNvSpPr/>
          <p:nvPr/>
        </p:nvSpPr>
        <p:spPr>
          <a:xfrm>
            <a:off x="9563400" y="3290760"/>
            <a:ext cx="63000" cy="33840"/>
          </a:xfrm>
          <a:custGeom>
            <a:avLst/>
            <a:gdLst/>
            <a:ahLst/>
            <a:rect l="l" t="t" r="r" b="b"/>
            <a:pathLst>
              <a:path w="63462" h="34021">
                <a:moveTo>
                  <a:pt x="0" y="0"/>
                </a:moveTo>
                <a:lnTo>
                  <a:pt x="16644" y="27365"/>
                </a:lnTo>
                <a:lnTo>
                  <a:pt x="41550" y="34021"/>
                </a:lnTo>
                <a:lnTo>
                  <a:pt x="63462" y="9368"/>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3" name="ประชาสำราญ"/>
          <p:cNvSpPr/>
          <p:nvPr/>
        </p:nvSpPr>
        <p:spPr>
          <a:xfrm>
            <a:off x="9266040" y="3260880"/>
            <a:ext cx="101520" cy="38160"/>
          </a:xfrm>
          <a:custGeom>
            <a:avLst/>
            <a:gdLst/>
            <a:ahLst/>
            <a:rect l="l" t="t" r="r" b="b"/>
            <a:pathLst>
              <a:path w="101779" h="38582">
                <a:moveTo>
                  <a:pt x="359" y="1479"/>
                </a:moveTo>
                <a:lnTo>
                  <a:pt x="0" y="32665"/>
                </a:lnTo>
                <a:lnTo>
                  <a:pt x="95313" y="38582"/>
                </a:lnTo>
                <a:lnTo>
                  <a:pt x="101779" y="3575"/>
                </a:lnTo>
                <a:lnTo>
                  <a:pt x="5029" y="1602"/>
                </a:lnTo>
                <a:lnTo>
                  <a:pt x="5149" y="0"/>
                </a:lnTo>
                <a:lnTo>
                  <a:pt x="2395" y="0"/>
                </a:lnTo>
                <a:lnTo>
                  <a:pt x="2275" y="1602"/>
                </a:lnTo>
                <a:lnTo>
                  <a:pt x="359" y="1479"/>
                </a:lnTo>
                <a:close/>
              </a:path>
            </a:pathLst>
          </a:custGeom>
          <a:solidFill>
            <a:srgbClr val="ded5c5"/>
          </a:solidFill>
          <a:ln w="6191">
            <a:solidFill>
              <a:srgbClr val="b5a68d"/>
            </a:solidFill>
            <a:round/>
          </a:ln>
        </p:spPr>
        <p:style>
          <a:lnRef idx="0"/>
          <a:fillRef idx="0"/>
          <a:effectRef idx="0"/>
          <a:fontRef idx="minor"/>
        </p:style>
        <p:txBody>
          <a:bodyPr lIns="90000" rIns="90000" tIns="-6840" bIns="-6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4" name="วัดใหม่เจริญราษฎร์"/>
          <p:cNvSpPr/>
          <p:nvPr/>
        </p:nvSpPr>
        <p:spPr>
          <a:xfrm>
            <a:off x="9766800" y="3688920"/>
            <a:ext cx="15480" cy="32040"/>
          </a:xfrm>
          <a:custGeom>
            <a:avLst/>
            <a:gdLst/>
            <a:ahLst/>
            <a:rect l="l" t="t" r="r" b="b"/>
            <a:pathLst>
              <a:path w="15925" h="32542">
                <a:moveTo>
                  <a:pt x="2874" y="740"/>
                </a:moveTo>
                <a:lnTo>
                  <a:pt x="0" y="31556"/>
                </a:lnTo>
                <a:lnTo>
                  <a:pt x="12213" y="32542"/>
                </a:lnTo>
                <a:lnTo>
                  <a:pt x="15925" y="1726"/>
                </a:lnTo>
                <a:lnTo>
                  <a:pt x="6346" y="0"/>
                </a:lnTo>
                <a:lnTo>
                  <a:pt x="2874" y="740"/>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5" name="หมู่ 6 ก้าวหน้า"/>
          <p:cNvSpPr/>
          <p:nvPr/>
        </p:nvSpPr>
        <p:spPr>
          <a:xfrm>
            <a:off x="9585000" y="3209040"/>
            <a:ext cx="37800" cy="74160"/>
          </a:xfrm>
          <a:custGeom>
            <a:avLst/>
            <a:gdLst/>
            <a:ahLst/>
            <a:rect l="l" t="t" r="r" b="b"/>
            <a:pathLst>
              <a:path w="38317" h="74452">
                <a:moveTo>
                  <a:pt x="38317" y="4314"/>
                </a:moveTo>
                <a:lnTo>
                  <a:pt x="6107" y="0"/>
                </a:lnTo>
                <a:lnTo>
                  <a:pt x="0" y="64221"/>
                </a:lnTo>
                <a:lnTo>
                  <a:pt x="30534" y="74452"/>
                </a:lnTo>
                <a:lnTo>
                  <a:pt x="38317" y="4314"/>
                </a:lnTo>
                <a:close/>
              </a:path>
            </a:pathLst>
          </a:custGeom>
          <a:solidFill>
            <a:srgbClr val="ded5c5"/>
          </a:solidFill>
          <a:ln w="6191">
            <a:solidFill>
              <a:srgbClr val="b5a68d"/>
            </a:solidFill>
            <a:round/>
          </a:ln>
        </p:spPr>
        <p:style>
          <a:lnRef idx="0"/>
          <a:fillRef idx="0"/>
          <a:effectRef idx="0"/>
          <a:fontRef idx="minor"/>
        </p:style>
        <p:txBody>
          <a:bodyPr lIns="90000" rIns="90000" tIns="29160" bIns="29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6" name="ก้าวไกลพัฒนา"/>
          <p:cNvSpPr/>
          <p:nvPr/>
        </p:nvSpPr>
        <p:spPr>
          <a:xfrm>
            <a:off x="9527400" y="3593520"/>
            <a:ext cx="38880" cy="56160"/>
          </a:xfrm>
          <a:custGeom>
            <a:avLst/>
            <a:gdLst/>
            <a:ahLst/>
            <a:rect l="l" t="t" r="r" b="b"/>
            <a:pathLst>
              <a:path w="39275" h="56455">
                <a:moveTo>
                  <a:pt x="0" y="54360"/>
                </a:moveTo>
                <a:lnTo>
                  <a:pt x="17961" y="54976"/>
                </a:lnTo>
                <a:lnTo>
                  <a:pt x="19278" y="56455"/>
                </a:lnTo>
                <a:lnTo>
                  <a:pt x="19518" y="55099"/>
                </a:lnTo>
                <a:lnTo>
                  <a:pt x="29217" y="55346"/>
                </a:lnTo>
                <a:lnTo>
                  <a:pt x="39275" y="4807"/>
                </a:lnTo>
                <a:lnTo>
                  <a:pt x="9938" y="0"/>
                </a:lnTo>
                <a:lnTo>
                  <a:pt x="0" y="54360"/>
                </a:lnTo>
                <a:close/>
              </a:path>
            </a:pathLst>
          </a:custGeom>
          <a:solidFill>
            <a:srgbClr val="ded5c5"/>
          </a:solidFill>
          <a:ln w="6191">
            <a:solidFill>
              <a:srgbClr val="b5a68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7" name="ชุมชนก้าวใหม่พัฒนาบึงปรง"/>
          <p:cNvSpPr/>
          <p:nvPr/>
        </p:nvSpPr>
        <p:spPr>
          <a:xfrm>
            <a:off x="9363600" y="3655080"/>
            <a:ext cx="76320" cy="110160"/>
          </a:xfrm>
          <a:custGeom>
            <a:avLst/>
            <a:gdLst/>
            <a:ahLst/>
            <a:rect l="l" t="t" r="r" b="b"/>
            <a:pathLst>
              <a:path w="76634" h="110445">
                <a:moveTo>
                  <a:pt x="18799" y="3451"/>
                </a:moveTo>
                <a:lnTo>
                  <a:pt x="11495" y="5917"/>
                </a:lnTo>
                <a:lnTo>
                  <a:pt x="7544" y="14792"/>
                </a:lnTo>
                <a:lnTo>
                  <a:pt x="0" y="104159"/>
                </a:lnTo>
                <a:lnTo>
                  <a:pt x="44304" y="110445"/>
                </a:lnTo>
                <a:lnTo>
                  <a:pt x="71365" y="84806"/>
                </a:lnTo>
                <a:lnTo>
                  <a:pt x="76634" y="64467"/>
                </a:lnTo>
                <a:lnTo>
                  <a:pt x="65977" y="16271"/>
                </a:lnTo>
                <a:lnTo>
                  <a:pt x="66096" y="5424"/>
                </a:lnTo>
                <a:lnTo>
                  <a:pt x="36880" y="0"/>
                </a:lnTo>
                <a:lnTo>
                  <a:pt x="18799" y="3451"/>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8" name="บ้านคลองนาหมอน"/>
          <p:cNvSpPr/>
          <p:nvPr/>
        </p:nvSpPr>
        <p:spPr>
          <a:xfrm>
            <a:off x="9417960" y="3157200"/>
            <a:ext cx="17640" cy="27720"/>
          </a:xfrm>
          <a:custGeom>
            <a:avLst/>
            <a:gdLst/>
            <a:ahLst/>
            <a:rect l="l" t="t" r="r" b="b"/>
            <a:pathLst>
              <a:path w="17841" h="28228">
                <a:moveTo>
                  <a:pt x="12812" y="1479"/>
                </a:moveTo>
                <a:lnTo>
                  <a:pt x="9220" y="0"/>
                </a:lnTo>
                <a:lnTo>
                  <a:pt x="1437" y="7642"/>
                </a:lnTo>
                <a:lnTo>
                  <a:pt x="0" y="13313"/>
                </a:lnTo>
                <a:lnTo>
                  <a:pt x="5149" y="17997"/>
                </a:lnTo>
                <a:lnTo>
                  <a:pt x="9699" y="28228"/>
                </a:lnTo>
                <a:lnTo>
                  <a:pt x="16524" y="24037"/>
                </a:lnTo>
                <a:lnTo>
                  <a:pt x="17841" y="16887"/>
                </a:lnTo>
                <a:lnTo>
                  <a:pt x="12453" y="8875"/>
                </a:lnTo>
                <a:lnTo>
                  <a:pt x="12812" y="1479"/>
                </a:lnTo>
                <a:close/>
              </a:path>
            </a:pathLst>
          </a:custGeom>
          <a:solidFill>
            <a:srgbClr val="ded5c5"/>
          </a:solidFill>
          <a:ln w="6191">
            <a:solidFill>
              <a:srgbClr val="b5a68d"/>
            </a:solidFill>
            <a:round/>
          </a:ln>
        </p:spPr>
        <p:style>
          <a:lnRef idx="0"/>
          <a:fillRef idx="0"/>
          <a:effectRef idx="0"/>
          <a:fontRef idx="minor"/>
        </p:style>
        <p:txBody>
          <a:bodyPr lIns="90000" rIns="90000" tIns="-17280" bIns="-17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9" name="ส่งเสริมศิลธรรม"/>
          <p:cNvSpPr/>
          <p:nvPr/>
        </p:nvSpPr>
        <p:spPr>
          <a:xfrm>
            <a:off x="8620200" y="4130280"/>
            <a:ext cx="18000" cy="123120"/>
          </a:xfrm>
          <a:custGeom>
            <a:avLst/>
            <a:gdLst/>
            <a:ahLst/>
            <a:rect l="l" t="t" r="r" b="b"/>
            <a:pathLst>
              <a:path w="18320" h="123388">
                <a:moveTo>
                  <a:pt x="0" y="493"/>
                </a:moveTo>
                <a:lnTo>
                  <a:pt x="10058" y="120553"/>
                </a:lnTo>
                <a:lnTo>
                  <a:pt x="13291" y="123388"/>
                </a:lnTo>
                <a:lnTo>
                  <a:pt x="15925" y="123265"/>
                </a:lnTo>
                <a:lnTo>
                  <a:pt x="16045" y="116732"/>
                </a:lnTo>
                <a:lnTo>
                  <a:pt x="18320" y="116608"/>
                </a:lnTo>
                <a:lnTo>
                  <a:pt x="10178" y="0"/>
                </a:lnTo>
                <a:lnTo>
                  <a:pt x="0" y="49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0" name="แผ่นดินทองคอยรุตตั๊กวา"/>
          <p:cNvSpPr/>
          <p:nvPr/>
        </p:nvSpPr>
        <p:spPr>
          <a:xfrm>
            <a:off x="8938800" y="4319280"/>
            <a:ext cx="118080" cy="123840"/>
          </a:xfrm>
          <a:custGeom>
            <a:avLst/>
            <a:gdLst/>
            <a:ahLst/>
            <a:rect l="l" t="t" r="r" b="b"/>
            <a:pathLst>
              <a:path w="118423" h="124374">
                <a:moveTo>
                  <a:pt x="114591" y="20832"/>
                </a:moveTo>
                <a:lnTo>
                  <a:pt x="70048" y="50908"/>
                </a:lnTo>
                <a:lnTo>
                  <a:pt x="70407" y="28351"/>
                </a:lnTo>
                <a:lnTo>
                  <a:pt x="49333" y="1233"/>
                </a:lnTo>
                <a:lnTo>
                  <a:pt x="0" y="0"/>
                </a:lnTo>
                <a:lnTo>
                  <a:pt x="5029" y="19476"/>
                </a:lnTo>
                <a:lnTo>
                  <a:pt x="1796" y="40924"/>
                </a:lnTo>
                <a:lnTo>
                  <a:pt x="30414" y="53867"/>
                </a:lnTo>
                <a:lnTo>
                  <a:pt x="49093" y="70631"/>
                </a:lnTo>
                <a:lnTo>
                  <a:pt x="48734" y="77903"/>
                </a:lnTo>
                <a:lnTo>
                  <a:pt x="35084" y="91339"/>
                </a:lnTo>
                <a:lnTo>
                  <a:pt x="28738" y="124374"/>
                </a:lnTo>
                <a:lnTo>
                  <a:pt x="61187" y="117225"/>
                </a:lnTo>
                <a:lnTo>
                  <a:pt x="65498" y="97749"/>
                </a:lnTo>
                <a:lnTo>
                  <a:pt x="67533" y="74205"/>
                </a:lnTo>
                <a:lnTo>
                  <a:pt x="75556" y="71617"/>
                </a:lnTo>
                <a:lnTo>
                  <a:pt x="77831" y="65084"/>
                </a:lnTo>
                <a:lnTo>
                  <a:pt x="77352" y="57688"/>
                </a:lnTo>
                <a:lnTo>
                  <a:pt x="81184" y="56085"/>
                </a:lnTo>
                <a:lnTo>
                  <a:pt x="80465" y="47087"/>
                </a:lnTo>
                <a:lnTo>
                  <a:pt x="82261" y="44129"/>
                </a:lnTo>
                <a:lnTo>
                  <a:pt x="85015" y="43636"/>
                </a:lnTo>
                <a:lnTo>
                  <a:pt x="87769" y="59044"/>
                </a:lnTo>
                <a:lnTo>
                  <a:pt x="101659" y="56579"/>
                </a:lnTo>
                <a:lnTo>
                  <a:pt x="96510" y="37596"/>
                </a:lnTo>
                <a:lnTo>
                  <a:pt x="107646" y="29953"/>
                </a:lnTo>
                <a:lnTo>
                  <a:pt x="116028" y="51525"/>
                </a:lnTo>
                <a:lnTo>
                  <a:pt x="118423" y="51771"/>
                </a:lnTo>
                <a:lnTo>
                  <a:pt x="114591" y="2083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1" name="แผ่นดินทองซอลีฮุ้ลมุสลีมีน"/>
          <p:cNvSpPr/>
          <p:nvPr/>
        </p:nvSpPr>
        <p:spPr>
          <a:xfrm>
            <a:off x="9051480" y="4471920"/>
            <a:ext cx="66240" cy="88920"/>
          </a:xfrm>
          <a:custGeom>
            <a:avLst/>
            <a:gdLst/>
            <a:ahLst/>
            <a:rect l="l" t="t" r="r" b="b"/>
            <a:pathLst>
              <a:path w="66575" h="89244">
                <a:moveTo>
                  <a:pt x="51249" y="89244"/>
                </a:moveTo>
                <a:lnTo>
                  <a:pt x="66575" y="76054"/>
                </a:lnTo>
                <a:lnTo>
                  <a:pt x="60828" y="66440"/>
                </a:lnTo>
                <a:lnTo>
                  <a:pt x="7424" y="0"/>
                </a:lnTo>
                <a:lnTo>
                  <a:pt x="0" y="15038"/>
                </a:lnTo>
                <a:lnTo>
                  <a:pt x="10657" y="32542"/>
                </a:lnTo>
                <a:lnTo>
                  <a:pt x="9699" y="33158"/>
                </a:lnTo>
                <a:lnTo>
                  <a:pt x="23948" y="54360"/>
                </a:lnTo>
                <a:lnTo>
                  <a:pt x="14608" y="67179"/>
                </a:lnTo>
                <a:lnTo>
                  <a:pt x="24307" y="81231"/>
                </a:lnTo>
                <a:lnTo>
                  <a:pt x="51249" y="89244"/>
                </a:lnTo>
                <a:close/>
              </a:path>
            </a:pathLst>
          </a:custGeom>
          <a:solidFill>
            <a:srgbClr val="ded5c5"/>
          </a:solidFill>
          <a:ln w="6191">
            <a:solidFill>
              <a:srgbClr val="b5a68d"/>
            </a:solidFill>
            <a:round/>
          </a:ln>
        </p:spPr>
        <p:style>
          <a:lnRef idx="0"/>
          <a:fillRef idx="0"/>
          <a:effectRef idx="0"/>
          <a:fontRef idx="minor"/>
        </p:style>
        <p:txBody>
          <a:bodyPr lIns="90000" rIns="90000" tIns="43920" bIns="43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2" name="แผ่นดินทองซอลีฮุ้ลมุสลีมีน"/>
          <p:cNvSpPr/>
          <p:nvPr/>
        </p:nvSpPr>
        <p:spPr>
          <a:xfrm>
            <a:off x="9102600" y="4530600"/>
            <a:ext cx="39960" cy="40680"/>
          </a:xfrm>
          <a:custGeom>
            <a:avLst/>
            <a:gdLst/>
            <a:ahLst/>
            <a:rect l="l" t="t" r="r" b="b"/>
            <a:pathLst>
              <a:path w="40472" h="40924">
                <a:moveTo>
                  <a:pt x="0" y="30693"/>
                </a:moveTo>
                <a:lnTo>
                  <a:pt x="6945" y="40924"/>
                </a:lnTo>
                <a:lnTo>
                  <a:pt x="22152" y="26872"/>
                </a:lnTo>
                <a:lnTo>
                  <a:pt x="15806" y="17257"/>
                </a:lnTo>
                <a:lnTo>
                  <a:pt x="22152" y="26748"/>
                </a:lnTo>
                <a:lnTo>
                  <a:pt x="40472" y="20339"/>
                </a:lnTo>
                <a:lnTo>
                  <a:pt x="28139" y="0"/>
                </a:lnTo>
                <a:lnTo>
                  <a:pt x="9579" y="7889"/>
                </a:lnTo>
                <a:lnTo>
                  <a:pt x="15806" y="17257"/>
                </a:lnTo>
                <a:lnTo>
                  <a:pt x="0" y="30693"/>
                </a:lnTo>
                <a:close/>
              </a:path>
            </a:pathLst>
          </a:custGeom>
          <a:solidFill>
            <a:srgbClr val="ded5c5"/>
          </a:solidFill>
          <a:ln w="6191">
            <a:solidFill>
              <a:srgbClr val="b5a68d"/>
            </a:solidFill>
            <a:round/>
          </a:ln>
        </p:spPr>
        <p:style>
          <a:lnRef idx="0"/>
          <a:fillRef idx="0"/>
          <a:effectRef idx="0"/>
          <a:fontRef idx="minor"/>
        </p:style>
        <p:txBody>
          <a:bodyPr lIns="90000" rIns="90000" tIns="-4320" bIns="-4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3" name="แผ่นดินทองมัสยิดนูรุสลาม (กุโบว์โต๊ะเยาะห์)"/>
          <p:cNvSpPr/>
          <p:nvPr/>
        </p:nvSpPr>
        <p:spPr>
          <a:xfrm>
            <a:off x="8669520" y="4103640"/>
            <a:ext cx="64800" cy="111240"/>
          </a:xfrm>
          <a:custGeom>
            <a:avLst/>
            <a:gdLst/>
            <a:ahLst/>
            <a:rect l="l" t="t" r="r" b="b"/>
            <a:pathLst>
              <a:path w="65138" h="111555">
                <a:moveTo>
                  <a:pt x="59630" y="46101"/>
                </a:moveTo>
                <a:lnTo>
                  <a:pt x="58074" y="32665"/>
                </a:lnTo>
                <a:lnTo>
                  <a:pt x="64420" y="32172"/>
                </a:lnTo>
                <a:lnTo>
                  <a:pt x="63582" y="22804"/>
                </a:lnTo>
                <a:lnTo>
                  <a:pt x="65138" y="22188"/>
                </a:lnTo>
                <a:lnTo>
                  <a:pt x="64779" y="20092"/>
                </a:lnTo>
                <a:lnTo>
                  <a:pt x="63342" y="20215"/>
                </a:lnTo>
                <a:lnTo>
                  <a:pt x="62744" y="13806"/>
                </a:lnTo>
                <a:lnTo>
                  <a:pt x="61067" y="13929"/>
                </a:lnTo>
                <a:lnTo>
                  <a:pt x="60469" y="9368"/>
                </a:lnTo>
                <a:lnTo>
                  <a:pt x="62265" y="8998"/>
                </a:lnTo>
                <a:lnTo>
                  <a:pt x="61427" y="0"/>
                </a:lnTo>
                <a:lnTo>
                  <a:pt x="0" y="6656"/>
                </a:lnTo>
                <a:lnTo>
                  <a:pt x="7424" y="20215"/>
                </a:lnTo>
                <a:lnTo>
                  <a:pt x="11854" y="20092"/>
                </a:lnTo>
                <a:lnTo>
                  <a:pt x="6107" y="21571"/>
                </a:lnTo>
                <a:lnTo>
                  <a:pt x="6226" y="23913"/>
                </a:lnTo>
                <a:lnTo>
                  <a:pt x="8621" y="23667"/>
                </a:lnTo>
                <a:lnTo>
                  <a:pt x="9579" y="35747"/>
                </a:lnTo>
                <a:lnTo>
                  <a:pt x="13650" y="35624"/>
                </a:lnTo>
                <a:lnTo>
                  <a:pt x="16883" y="69028"/>
                </a:lnTo>
                <a:lnTo>
                  <a:pt x="14967" y="69521"/>
                </a:lnTo>
                <a:lnTo>
                  <a:pt x="15327" y="70877"/>
                </a:lnTo>
                <a:lnTo>
                  <a:pt x="17003" y="70631"/>
                </a:lnTo>
                <a:lnTo>
                  <a:pt x="17841" y="80615"/>
                </a:lnTo>
                <a:lnTo>
                  <a:pt x="20954" y="85669"/>
                </a:lnTo>
                <a:lnTo>
                  <a:pt x="22391" y="103666"/>
                </a:lnTo>
                <a:lnTo>
                  <a:pt x="21194" y="104405"/>
                </a:lnTo>
                <a:lnTo>
                  <a:pt x="22511" y="105145"/>
                </a:lnTo>
                <a:lnTo>
                  <a:pt x="23349" y="111555"/>
                </a:lnTo>
                <a:lnTo>
                  <a:pt x="28977" y="111061"/>
                </a:lnTo>
                <a:lnTo>
                  <a:pt x="25624" y="86778"/>
                </a:lnTo>
                <a:lnTo>
                  <a:pt x="39514" y="86532"/>
                </a:lnTo>
                <a:lnTo>
                  <a:pt x="37119" y="46594"/>
                </a:lnTo>
                <a:lnTo>
                  <a:pt x="59630" y="46101"/>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4" name="แผ่นดินทองยะมีอุ้ลมุตตะกีน (ลำหินใต้)"/>
          <p:cNvSpPr/>
          <p:nvPr/>
        </p:nvSpPr>
        <p:spPr>
          <a:xfrm>
            <a:off x="8568360" y="4334040"/>
            <a:ext cx="53280" cy="129960"/>
          </a:xfrm>
          <a:custGeom>
            <a:avLst/>
            <a:gdLst/>
            <a:ahLst/>
            <a:rect l="l" t="t" r="r" b="b"/>
            <a:pathLst>
              <a:path w="53763" h="130414">
                <a:moveTo>
                  <a:pt x="2754" y="70507"/>
                </a:moveTo>
                <a:lnTo>
                  <a:pt x="2634" y="83327"/>
                </a:lnTo>
                <a:lnTo>
                  <a:pt x="0" y="100954"/>
                </a:lnTo>
                <a:lnTo>
                  <a:pt x="2874" y="115376"/>
                </a:lnTo>
                <a:lnTo>
                  <a:pt x="3353" y="130414"/>
                </a:lnTo>
                <a:lnTo>
                  <a:pt x="16764" y="129921"/>
                </a:lnTo>
                <a:lnTo>
                  <a:pt x="17123" y="125977"/>
                </a:lnTo>
                <a:lnTo>
                  <a:pt x="19637" y="125730"/>
                </a:lnTo>
                <a:lnTo>
                  <a:pt x="20236" y="116608"/>
                </a:lnTo>
                <a:lnTo>
                  <a:pt x="48255" y="115129"/>
                </a:lnTo>
                <a:lnTo>
                  <a:pt x="53763" y="79382"/>
                </a:lnTo>
                <a:lnTo>
                  <a:pt x="19039" y="72603"/>
                </a:lnTo>
                <a:lnTo>
                  <a:pt x="39634" y="6163"/>
                </a:lnTo>
                <a:lnTo>
                  <a:pt x="22870" y="0"/>
                </a:lnTo>
                <a:lnTo>
                  <a:pt x="14728" y="19969"/>
                </a:lnTo>
                <a:lnTo>
                  <a:pt x="2754" y="7050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5" name="พัฒนาบ้านแบนใหญ่"/>
          <p:cNvSpPr/>
          <p:nvPr/>
        </p:nvSpPr>
        <p:spPr>
          <a:xfrm>
            <a:off x="8745840" y="4372200"/>
            <a:ext cx="121320" cy="189720"/>
          </a:xfrm>
          <a:custGeom>
            <a:avLst/>
            <a:gdLst/>
            <a:ahLst/>
            <a:rect l="l" t="t" r="r" b="b"/>
            <a:pathLst>
              <a:path w="121656" h="190074">
                <a:moveTo>
                  <a:pt x="111478" y="110692"/>
                </a:moveTo>
                <a:lnTo>
                  <a:pt x="97109" y="99968"/>
                </a:lnTo>
                <a:lnTo>
                  <a:pt x="121656" y="70138"/>
                </a:lnTo>
                <a:lnTo>
                  <a:pt x="82261" y="36733"/>
                </a:lnTo>
                <a:lnTo>
                  <a:pt x="45381" y="0"/>
                </a:lnTo>
                <a:lnTo>
                  <a:pt x="35802" y="37596"/>
                </a:lnTo>
                <a:lnTo>
                  <a:pt x="34605" y="76917"/>
                </a:lnTo>
                <a:lnTo>
                  <a:pt x="22272" y="109336"/>
                </a:lnTo>
                <a:lnTo>
                  <a:pt x="3712" y="149397"/>
                </a:lnTo>
                <a:lnTo>
                  <a:pt x="0" y="165298"/>
                </a:lnTo>
                <a:lnTo>
                  <a:pt x="120" y="190074"/>
                </a:lnTo>
                <a:lnTo>
                  <a:pt x="5867" y="187855"/>
                </a:lnTo>
                <a:lnTo>
                  <a:pt x="27181" y="165421"/>
                </a:lnTo>
                <a:lnTo>
                  <a:pt x="41550" y="123881"/>
                </a:lnTo>
                <a:lnTo>
                  <a:pt x="54721" y="97133"/>
                </a:lnTo>
                <a:lnTo>
                  <a:pt x="78070" y="116608"/>
                </a:lnTo>
                <a:lnTo>
                  <a:pt x="101899" y="143357"/>
                </a:lnTo>
                <a:lnTo>
                  <a:pt x="111478" y="11069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6" name="แผ่นดินทองดารุ้ลคอยรอต (เจียระดับ) หมู่ที่ 2"/>
          <p:cNvSpPr/>
          <p:nvPr/>
        </p:nvSpPr>
        <p:spPr>
          <a:xfrm>
            <a:off x="8829000" y="4075920"/>
            <a:ext cx="127080" cy="69120"/>
          </a:xfrm>
          <a:custGeom>
            <a:avLst/>
            <a:gdLst/>
            <a:ahLst/>
            <a:rect l="l" t="t" r="r" b="b"/>
            <a:pathLst>
              <a:path w="127283" h="69398">
                <a:moveTo>
                  <a:pt x="116866" y="32788"/>
                </a:moveTo>
                <a:lnTo>
                  <a:pt x="127283" y="32912"/>
                </a:lnTo>
                <a:lnTo>
                  <a:pt x="124410" y="0"/>
                </a:lnTo>
                <a:lnTo>
                  <a:pt x="1676" y="14668"/>
                </a:lnTo>
                <a:lnTo>
                  <a:pt x="0" y="48936"/>
                </a:lnTo>
                <a:lnTo>
                  <a:pt x="4191" y="55099"/>
                </a:lnTo>
                <a:lnTo>
                  <a:pt x="17841" y="64837"/>
                </a:lnTo>
                <a:lnTo>
                  <a:pt x="21793" y="69398"/>
                </a:lnTo>
                <a:lnTo>
                  <a:pt x="20715" y="56085"/>
                </a:lnTo>
                <a:lnTo>
                  <a:pt x="24906" y="55223"/>
                </a:lnTo>
                <a:lnTo>
                  <a:pt x="23230" y="31679"/>
                </a:lnTo>
                <a:lnTo>
                  <a:pt x="35204" y="31679"/>
                </a:lnTo>
                <a:lnTo>
                  <a:pt x="36042" y="42033"/>
                </a:lnTo>
                <a:lnTo>
                  <a:pt x="45860" y="40801"/>
                </a:lnTo>
                <a:lnTo>
                  <a:pt x="48495" y="46348"/>
                </a:lnTo>
                <a:lnTo>
                  <a:pt x="57715" y="45854"/>
                </a:lnTo>
                <a:lnTo>
                  <a:pt x="66695" y="39445"/>
                </a:lnTo>
                <a:lnTo>
                  <a:pt x="74718" y="40554"/>
                </a:lnTo>
                <a:lnTo>
                  <a:pt x="74119" y="27981"/>
                </a:lnTo>
                <a:lnTo>
                  <a:pt x="89206" y="26379"/>
                </a:lnTo>
                <a:lnTo>
                  <a:pt x="91122" y="46101"/>
                </a:lnTo>
                <a:lnTo>
                  <a:pt x="103814" y="44868"/>
                </a:lnTo>
                <a:lnTo>
                  <a:pt x="103096" y="24776"/>
                </a:lnTo>
                <a:lnTo>
                  <a:pt x="116507" y="21818"/>
                </a:lnTo>
                <a:lnTo>
                  <a:pt x="116866" y="32788"/>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7" name="แผ่นดินทองนูรุ้ลเอี๊ยะซาน (ลำตาจีน) หมู่ที่ 4"/>
          <p:cNvSpPr/>
          <p:nvPr/>
        </p:nvSpPr>
        <p:spPr>
          <a:xfrm>
            <a:off x="8790480" y="4228560"/>
            <a:ext cx="151200" cy="154800"/>
          </a:xfrm>
          <a:custGeom>
            <a:avLst/>
            <a:gdLst/>
            <a:ahLst/>
            <a:rect l="l" t="t" r="r" b="b"/>
            <a:pathLst>
              <a:path w="151591" h="155314">
                <a:moveTo>
                  <a:pt x="143329" y="108103"/>
                </a:moveTo>
                <a:lnTo>
                  <a:pt x="144765" y="86285"/>
                </a:lnTo>
                <a:lnTo>
                  <a:pt x="115788" y="87888"/>
                </a:lnTo>
                <a:lnTo>
                  <a:pt x="90643" y="62125"/>
                </a:lnTo>
                <a:lnTo>
                  <a:pt x="82980" y="59907"/>
                </a:lnTo>
                <a:lnTo>
                  <a:pt x="118542" y="46471"/>
                </a:lnTo>
                <a:lnTo>
                  <a:pt x="66336" y="0"/>
                </a:lnTo>
                <a:lnTo>
                  <a:pt x="18919" y="24776"/>
                </a:lnTo>
                <a:lnTo>
                  <a:pt x="26463" y="61879"/>
                </a:lnTo>
                <a:lnTo>
                  <a:pt x="13770" y="77164"/>
                </a:lnTo>
                <a:lnTo>
                  <a:pt x="0" y="130168"/>
                </a:lnTo>
                <a:lnTo>
                  <a:pt x="51368" y="155314"/>
                </a:lnTo>
                <a:lnTo>
                  <a:pt x="87530" y="127702"/>
                </a:lnTo>
                <a:lnTo>
                  <a:pt x="149435" y="131154"/>
                </a:lnTo>
                <a:lnTo>
                  <a:pt x="151591" y="112541"/>
                </a:lnTo>
                <a:lnTo>
                  <a:pt x="143329" y="10810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8" name="แผ่นดินทองคอยรุดดีน"/>
          <p:cNvSpPr/>
          <p:nvPr/>
        </p:nvSpPr>
        <p:spPr>
          <a:xfrm>
            <a:off x="9084960" y="4425120"/>
            <a:ext cx="145440" cy="125280"/>
          </a:xfrm>
          <a:custGeom>
            <a:avLst/>
            <a:gdLst/>
            <a:ahLst/>
            <a:rect l="l" t="t" r="r" b="b"/>
            <a:pathLst>
              <a:path w="145723" h="125730">
                <a:moveTo>
                  <a:pt x="91242" y="86409"/>
                </a:moveTo>
                <a:lnTo>
                  <a:pt x="95792" y="63974"/>
                </a:lnTo>
                <a:lnTo>
                  <a:pt x="97229" y="64221"/>
                </a:lnTo>
                <a:lnTo>
                  <a:pt x="97468" y="61756"/>
                </a:lnTo>
                <a:lnTo>
                  <a:pt x="96391" y="61509"/>
                </a:lnTo>
                <a:lnTo>
                  <a:pt x="105132" y="19106"/>
                </a:lnTo>
                <a:lnTo>
                  <a:pt x="71245" y="5793"/>
                </a:lnTo>
                <a:lnTo>
                  <a:pt x="41789" y="0"/>
                </a:lnTo>
                <a:lnTo>
                  <a:pt x="0" y="247"/>
                </a:lnTo>
                <a:lnTo>
                  <a:pt x="54122" y="80862"/>
                </a:lnTo>
                <a:lnTo>
                  <a:pt x="43945" y="99598"/>
                </a:lnTo>
                <a:lnTo>
                  <a:pt x="58313" y="125483"/>
                </a:lnTo>
                <a:lnTo>
                  <a:pt x="145723" y="125730"/>
                </a:lnTo>
                <a:lnTo>
                  <a:pt x="142490" y="108103"/>
                </a:lnTo>
                <a:lnTo>
                  <a:pt x="91242" y="8640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9" name="แผ่นดินทองสุกกาทอง"/>
          <p:cNvSpPr/>
          <p:nvPr/>
        </p:nvSpPr>
        <p:spPr>
          <a:xfrm>
            <a:off x="8526600" y="4165200"/>
            <a:ext cx="32400" cy="69480"/>
          </a:xfrm>
          <a:custGeom>
            <a:avLst/>
            <a:gdLst/>
            <a:ahLst/>
            <a:rect l="l" t="t" r="r" b="b"/>
            <a:pathLst>
              <a:path w="32809" h="70014">
                <a:moveTo>
                  <a:pt x="3113" y="18366"/>
                </a:moveTo>
                <a:lnTo>
                  <a:pt x="9340" y="42157"/>
                </a:lnTo>
                <a:lnTo>
                  <a:pt x="9340" y="50169"/>
                </a:lnTo>
                <a:lnTo>
                  <a:pt x="958" y="52511"/>
                </a:lnTo>
                <a:lnTo>
                  <a:pt x="6825" y="70014"/>
                </a:lnTo>
                <a:lnTo>
                  <a:pt x="11854" y="66933"/>
                </a:lnTo>
                <a:lnTo>
                  <a:pt x="32809" y="61016"/>
                </a:lnTo>
                <a:lnTo>
                  <a:pt x="29097" y="57565"/>
                </a:lnTo>
                <a:lnTo>
                  <a:pt x="22870" y="59537"/>
                </a:lnTo>
                <a:lnTo>
                  <a:pt x="12333" y="11464"/>
                </a:lnTo>
                <a:lnTo>
                  <a:pt x="11495" y="9491"/>
                </a:lnTo>
                <a:lnTo>
                  <a:pt x="7184" y="9368"/>
                </a:lnTo>
                <a:lnTo>
                  <a:pt x="4790" y="0"/>
                </a:lnTo>
                <a:lnTo>
                  <a:pt x="0" y="2219"/>
                </a:lnTo>
                <a:lnTo>
                  <a:pt x="3113" y="18366"/>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0" name="แผ่นดินทองอัล-ยามีอะห์ (ลำอีรั้ว) หมู่ 7"/>
          <p:cNvSpPr/>
          <p:nvPr/>
        </p:nvSpPr>
        <p:spPr>
          <a:xfrm>
            <a:off x="8860320" y="4437720"/>
            <a:ext cx="183960" cy="157680"/>
          </a:xfrm>
          <a:custGeom>
            <a:avLst/>
            <a:gdLst/>
            <a:ahLst/>
            <a:rect l="l" t="t" r="r" b="b"/>
            <a:pathLst>
              <a:path w="184399" h="157902">
                <a:moveTo>
                  <a:pt x="103575" y="46594"/>
                </a:moveTo>
                <a:lnTo>
                  <a:pt x="108963" y="27735"/>
                </a:lnTo>
                <a:lnTo>
                  <a:pt x="103934" y="18860"/>
                </a:lnTo>
                <a:lnTo>
                  <a:pt x="31611" y="0"/>
                </a:lnTo>
                <a:lnTo>
                  <a:pt x="11735" y="71987"/>
                </a:lnTo>
                <a:lnTo>
                  <a:pt x="0" y="77164"/>
                </a:lnTo>
                <a:lnTo>
                  <a:pt x="359" y="88134"/>
                </a:lnTo>
                <a:lnTo>
                  <a:pt x="19158" y="105884"/>
                </a:lnTo>
                <a:lnTo>
                  <a:pt x="27420" y="109089"/>
                </a:lnTo>
                <a:lnTo>
                  <a:pt x="53524" y="114883"/>
                </a:lnTo>
                <a:lnTo>
                  <a:pt x="55799" y="125607"/>
                </a:lnTo>
                <a:lnTo>
                  <a:pt x="73640" y="129921"/>
                </a:lnTo>
                <a:lnTo>
                  <a:pt x="89206" y="138303"/>
                </a:lnTo>
                <a:lnTo>
                  <a:pt x="135067" y="157902"/>
                </a:lnTo>
                <a:lnTo>
                  <a:pt x="184399" y="63235"/>
                </a:lnTo>
                <a:lnTo>
                  <a:pt x="182364" y="62865"/>
                </a:lnTo>
                <a:lnTo>
                  <a:pt x="182484" y="61263"/>
                </a:lnTo>
                <a:lnTo>
                  <a:pt x="168713" y="62988"/>
                </a:lnTo>
                <a:lnTo>
                  <a:pt x="167995" y="59907"/>
                </a:lnTo>
                <a:lnTo>
                  <a:pt x="103575" y="4659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1" name="ท่าเตียน"/>
          <p:cNvSpPr/>
          <p:nvPr/>
        </p:nvSpPr>
        <p:spPr>
          <a:xfrm>
            <a:off x="4786200" y="5429520"/>
            <a:ext cx="36360" cy="37440"/>
          </a:xfrm>
          <a:custGeom>
            <a:avLst/>
            <a:gdLst/>
            <a:ahLst/>
            <a:rect l="l" t="t" r="r" b="b"/>
            <a:pathLst>
              <a:path w="36880" h="37842">
                <a:moveTo>
                  <a:pt x="18799" y="25516"/>
                </a:moveTo>
                <a:lnTo>
                  <a:pt x="27780" y="37842"/>
                </a:lnTo>
                <a:lnTo>
                  <a:pt x="36880" y="30570"/>
                </a:lnTo>
                <a:lnTo>
                  <a:pt x="23589" y="16271"/>
                </a:lnTo>
                <a:lnTo>
                  <a:pt x="15686" y="1726"/>
                </a:lnTo>
                <a:lnTo>
                  <a:pt x="12094" y="493"/>
                </a:lnTo>
                <a:lnTo>
                  <a:pt x="6825" y="2958"/>
                </a:lnTo>
                <a:lnTo>
                  <a:pt x="5269" y="0"/>
                </a:lnTo>
                <a:lnTo>
                  <a:pt x="0" y="2342"/>
                </a:lnTo>
                <a:lnTo>
                  <a:pt x="6825" y="12080"/>
                </a:lnTo>
                <a:lnTo>
                  <a:pt x="8382" y="16641"/>
                </a:lnTo>
                <a:lnTo>
                  <a:pt x="11495" y="18736"/>
                </a:lnTo>
                <a:lnTo>
                  <a:pt x="14249" y="23174"/>
                </a:lnTo>
                <a:lnTo>
                  <a:pt x="18799" y="25516"/>
                </a:lnTo>
                <a:close/>
              </a:path>
            </a:pathLst>
          </a:custGeom>
          <a:solidFill>
            <a:srgbClr val="ded5c5"/>
          </a:solidFill>
          <a:ln w="6191">
            <a:solidFill>
              <a:srgbClr val="b5a68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2" name="ราชบพิธพัฒนา"/>
          <p:cNvSpPr/>
          <p:nvPr/>
        </p:nvSpPr>
        <p:spPr>
          <a:xfrm>
            <a:off x="4884120" y="5366880"/>
            <a:ext cx="28440" cy="25560"/>
          </a:xfrm>
          <a:custGeom>
            <a:avLst/>
            <a:gdLst/>
            <a:ahLst/>
            <a:rect l="l" t="t" r="r" b="b"/>
            <a:pathLst>
              <a:path w="28738" h="25886">
                <a:moveTo>
                  <a:pt x="2874" y="2465"/>
                </a:moveTo>
                <a:lnTo>
                  <a:pt x="0" y="25023"/>
                </a:lnTo>
                <a:lnTo>
                  <a:pt x="25265" y="25886"/>
                </a:lnTo>
                <a:lnTo>
                  <a:pt x="28738" y="0"/>
                </a:lnTo>
                <a:lnTo>
                  <a:pt x="2874" y="2465"/>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3" name="เฟื่องทอง-ตรอกวิสูตร"/>
          <p:cNvSpPr/>
          <p:nvPr/>
        </p:nvSpPr>
        <p:spPr>
          <a:xfrm>
            <a:off x="4880880" y="5392440"/>
            <a:ext cx="28440" cy="29160"/>
          </a:xfrm>
          <a:custGeom>
            <a:avLst/>
            <a:gdLst/>
            <a:ahLst/>
            <a:rect l="l" t="t" r="r" b="b"/>
            <a:pathLst>
              <a:path w="28977" h="29584">
                <a:moveTo>
                  <a:pt x="3233" y="0"/>
                </a:moveTo>
                <a:lnTo>
                  <a:pt x="0" y="25762"/>
                </a:lnTo>
                <a:lnTo>
                  <a:pt x="2036" y="28351"/>
                </a:lnTo>
                <a:lnTo>
                  <a:pt x="23828" y="29584"/>
                </a:lnTo>
                <a:lnTo>
                  <a:pt x="28977" y="1233"/>
                </a:lnTo>
                <a:lnTo>
                  <a:pt x="3233" y="0"/>
                </a:lnTo>
                <a:close/>
              </a:path>
            </a:pathLst>
          </a:custGeom>
          <a:solidFill>
            <a:srgbClr val="ded5c5"/>
          </a:solidFill>
          <a:ln w="6191">
            <a:solidFill>
              <a:srgbClr val="b5a68d"/>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4" name="วัดเทพธิดาราม"/>
          <p:cNvSpPr/>
          <p:nvPr/>
        </p:nvSpPr>
        <p:spPr>
          <a:xfrm>
            <a:off x="4935240" y="5331240"/>
            <a:ext cx="31320" cy="21960"/>
          </a:xfrm>
          <a:custGeom>
            <a:avLst/>
            <a:gdLst/>
            <a:ahLst/>
            <a:rect l="l" t="t" r="r" b="b"/>
            <a:pathLst>
              <a:path w="31611" h="22311">
                <a:moveTo>
                  <a:pt x="10298" y="18120"/>
                </a:moveTo>
                <a:lnTo>
                  <a:pt x="27780" y="22311"/>
                </a:lnTo>
                <a:lnTo>
                  <a:pt x="31611" y="7519"/>
                </a:lnTo>
                <a:lnTo>
                  <a:pt x="2155" y="0"/>
                </a:lnTo>
                <a:lnTo>
                  <a:pt x="0" y="15408"/>
                </a:lnTo>
                <a:lnTo>
                  <a:pt x="10298" y="18120"/>
                </a:lnTo>
                <a:close/>
              </a:path>
            </a:pathLst>
          </a:custGeom>
          <a:solidFill>
            <a:srgbClr val="ded5c5"/>
          </a:solidFill>
          <a:ln w="6191">
            <a:solidFill>
              <a:srgbClr val="b5a68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5" name="แพร่งภูธร"/>
          <p:cNvSpPr/>
          <p:nvPr/>
        </p:nvSpPr>
        <p:spPr>
          <a:xfrm>
            <a:off x="4864320" y="5356800"/>
            <a:ext cx="22680" cy="12960"/>
          </a:xfrm>
          <a:custGeom>
            <a:avLst/>
            <a:gdLst/>
            <a:ahLst/>
            <a:rect l="l" t="t" r="r" b="b"/>
            <a:pathLst>
              <a:path w="22990" h="13313">
                <a:moveTo>
                  <a:pt x="22990" y="0"/>
                </a:moveTo>
                <a:lnTo>
                  <a:pt x="0" y="1726"/>
                </a:lnTo>
                <a:lnTo>
                  <a:pt x="1676" y="13313"/>
                </a:lnTo>
                <a:lnTo>
                  <a:pt x="19877" y="11833"/>
                </a:lnTo>
                <a:lnTo>
                  <a:pt x="21912" y="9615"/>
                </a:lnTo>
                <a:lnTo>
                  <a:pt x="22990" y="0"/>
                </a:lnTo>
                <a:close/>
              </a:path>
            </a:pathLst>
          </a:custGeom>
          <a:solidFill>
            <a:srgbClr val="ded5c5"/>
          </a:solidFill>
          <a:ln w="6191">
            <a:solidFill>
              <a:srgbClr val="b5a68d"/>
            </a:solidFill>
            <a:round/>
          </a:ln>
        </p:spPr>
        <p:style>
          <a:lnRef idx="0"/>
          <a:fillRef idx="0"/>
          <a:effectRef idx="0"/>
          <a:fontRef idx="minor"/>
        </p:style>
        <p:txBody>
          <a:bodyPr lIns="90000" rIns="90000" tIns="-32040" bIns="-32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6" name="โบสถ์พราหมณ์"/>
          <p:cNvSpPr/>
          <p:nvPr/>
        </p:nvSpPr>
        <p:spPr>
          <a:xfrm>
            <a:off x="4887360" y="5340960"/>
            <a:ext cx="33120" cy="27000"/>
          </a:xfrm>
          <a:custGeom>
            <a:avLst/>
            <a:gdLst/>
            <a:ahLst/>
            <a:rect l="l" t="t" r="r" b="b"/>
            <a:pathLst>
              <a:path w="33527" h="27241">
                <a:moveTo>
                  <a:pt x="2993" y="0"/>
                </a:moveTo>
                <a:lnTo>
                  <a:pt x="0" y="26132"/>
                </a:lnTo>
                <a:lnTo>
                  <a:pt x="1557" y="27241"/>
                </a:lnTo>
                <a:lnTo>
                  <a:pt x="29695" y="23420"/>
                </a:lnTo>
                <a:lnTo>
                  <a:pt x="33527" y="4684"/>
                </a:lnTo>
                <a:lnTo>
                  <a:pt x="2993" y="0"/>
                </a:lnTo>
                <a:close/>
              </a:path>
            </a:pathLst>
          </a:custGeom>
          <a:solidFill>
            <a:srgbClr val="ded5c5"/>
          </a:solidFill>
          <a:ln w="6191">
            <a:solidFill>
              <a:srgbClr val="b5a68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7" name="ตรอกศิลป์ - ตรอกตึกดิน"/>
          <p:cNvSpPr/>
          <p:nvPr/>
        </p:nvSpPr>
        <p:spPr>
          <a:xfrm>
            <a:off x="4900680" y="5309640"/>
            <a:ext cx="25200" cy="29160"/>
          </a:xfrm>
          <a:custGeom>
            <a:avLst/>
            <a:gdLst/>
            <a:ahLst/>
            <a:rect l="l" t="t" r="r" b="b"/>
            <a:pathLst>
              <a:path w="25624" h="29460">
                <a:moveTo>
                  <a:pt x="25624" y="10231"/>
                </a:moveTo>
                <a:lnTo>
                  <a:pt x="23948" y="9738"/>
                </a:lnTo>
                <a:lnTo>
                  <a:pt x="24427" y="8012"/>
                </a:lnTo>
                <a:lnTo>
                  <a:pt x="18799" y="7889"/>
                </a:lnTo>
                <a:lnTo>
                  <a:pt x="19398" y="5300"/>
                </a:lnTo>
                <a:lnTo>
                  <a:pt x="12453" y="2465"/>
                </a:lnTo>
                <a:lnTo>
                  <a:pt x="11615" y="4314"/>
                </a:lnTo>
                <a:lnTo>
                  <a:pt x="2874" y="0"/>
                </a:lnTo>
                <a:lnTo>
                  <a:pt x="239" y="5670"/>
                </a:lnTo>
                <a:lnTo>
                  <a:pt x="1676" y="6533"/>
                </a:lnTo>
                <a:lnTo>
                  <a:pt x="0" y="10231"/>
                </a:lnTo>
                <a:lnTo>
                  <a:pt x="9340" y="12696"/>
                </a:lnTo>
                <a:lnTo>
                  <a:pt x="6705" y="29460"/>
                </a:lnTo>
                <a:lnTo>
                  <a:pt x="8621" y="22927"/>
                </a:lnTo>
                <a:lnTo>
                  <a:pt x="12812" y="23544"/>
                </a:lnTo>
                <a:lnTo>
                  <a:pt x="11735" y="27488"/>
                </a:lnTo>
                <a:lnTo>
                  <a:pt x="14129" y="27981"/>
                </a:lnTo>
                <a:lnTo>
                  <a:pt x="16883" y="26748"/>
                </a:lnTo>
                <a:lnTo>
                  <a:pt x="19997" y="27488"/>
                </a:lnTo>
                <a:lnTo>
                  <a:pt x="20356" y="25516"/>
                </a:lnTo>
                <a:lnTo>
                  <a:pt x="22032" y="25886"/>
                </a:lnTo>
                <a:lnTo>
                  <a:pt x="25624" y="10231"/>
                </a:lnTo>
                <a:close/>
              </a:path>
            </a:pathLst>
          </a:custGeom>
          <a:solidFill>
            <a:srgbClr val="ded5c5"/>
          </a:solidFill>
          <a:ln w="6191">
            <a:solidFill>
              <a:srgbClr val="b5a68d"/>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8" name="ชุมนบวรรังษี"/>
          <p:cNvSpPr/>
          <p:nvPr/>
        </p:nvSpPr>
        <p:spPr>
          <a:xfrm>
            <a:off x="4896720" y="5265000"/>
            <a:ext cx="21240" cy="25200"/>
          </a:xfrm>
          <a:custGeom>
            <a:avLst/>
            <a:gdLst/>
            <a:ahLst/>
            <a:rect l="l" t="t" r="r" b="b"/>
            <a:pathLst>
              <a:path w="21553" h="25639">
                <a:moveTo>
                  <a:pt x="19637" y="14299"/>
                </a:moveTo>
                <a:lnTo>
                  <a:pt x="8502" y="8259"/>
                </a:lnTo>
                <a:lnTo>
                  <a:pt x="10058" y="5300"/>
                </a:lnTo>
                <a:lnTo>
                  <a:pt x="8502" y="4438"/>
                </a:lnTo>
                <a:lnTo>
                  <a:pt x="7783" y="6287"/>
                </a:lnTo>
                <a:lnTo>
                  <a:pt x="4550" y="4561"/>
                </a:lnTo>
                <a:lnTo>
                  <a:pt x="4311" y="1479"/>
                </a:lnTo>
                <a:lnTo>
                  <a:pt x="2155" y="0"/>
                </a:lnTo>
                <a:lnTo>
                  <a:pt x="0" y="24776"/>
                </a:lnTo>
                <a:lnTo>
                  <a:pt x="4071" y="25639"/>
                </a:lnTo>
                <a:lnTo>
                  <a:pt x="5987" y="18983"/>
                </a:lnTo>
                <a:lnTo>
                  <a:pt x="8262" y="19846"/>
                </a:lnTo>
                <a:lnTo>
                  <a:pt x="10417" y="15531"/>
                </a:lnTo>
                <a:lnTo>
                  <a:pt x="13411" y="16764"/>
                </a:lnTo>
                <a:lnTo>
                  <a:pt x="14369" y="15038"/>
                </a:lnTo>
                <a:lnTo>
                  <a:pt x="15925" y="16271"/>
                </a:lnTo>
                <a:lnTo>
                  <a:pt x="17123" y="14175"/>
                </a:lnTo>
                <a:lnTo>
                  <a:pt x="21553" y="15285"/>
                </a:lnTo>
                <a:lnTo>
                  <a:pt x="19637" y="14299"/>
                </a:lnTo>
                <a:close/>
              </a:path>
            </a:pathLst>
          </a:custGeom>
          <a:solidFill>
            <a:srgbClr val="ded5c5"/>
          </a:solidFill>
          <a:ln w="6191">
            <a:solidFill>
              <a:srgbClr val="b5a68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9" name="ชุมนบวรรังษี"/>
          <p:cNvSpPr/>
          <p:nvPr/>
        </p:nvSpPr>
        <p:spPr>
          <a:xfrm>
            <a:off x="4917960" y="5269320"/>
            <a:ext cx="19440" cy="20520"/>
          </a:xfrm>
          <a:custGeom>
            <a:avLst/>
            <a:gdLst/>
            <a:ahLst/>
            <a:rect l="l" t="t" r="r" b="b"/>
            <a:pathLst>
              <a:path w="19637" h="20708">
                <a:moveTo>
                  <a:pt x="0" y="12450"/>
                </a:moveTo>
                <a:lnTo>
                  <a:pt x="15327" y="20708"/>
                </a:lnTo>
                <a:lnTo>
                  <a:pt x="19637" y="2465"/>
                </a:lnTo>
                <a:lnTo>
                  <a:pt x="15686" y="0"/>
                </a:lnTo>
                <a:lnTo>
                  <a:pt x="15087" y="1109"/>
                </a:lnTo>
                <a:lnTo>
                  <a:pt x="17362" y="3698"/>
                </a:lnTo>
                <a:lnTo>
                  <a:pt x="14010" y="18736"/>
                </a:lnTo>
                <a:lnTo>
                  <a:pt x="599" y="11094"/>
                </a:lnTo>
                <a:lnTo>
                  <a:pt x="0" y="12450"/>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0" name="มัสยยิดบ้านตึกดิน"/>
          <p:cNvSpPr/>
          <p:nvPr/>
        </p:nvSpPr>
        <p:spPr>
          <a:xfrm>
            <a:off x="4901400" y="5279400"/>
            <a:ext cx="16920" cy="13320"/>
          </a:xfrm>
          <a:custGeom>
            <a:avLst/>
            <a:gdLst/>
            <a:ahLst/>
            <a:rect l="l" t="t" r="r" b="b"/>
            <a:pathLst>
              <a:path w="17123" h="13806">
                <a:moveTo>
                  <a:pt x="1557" y="4807"/>
                </a:moveTo>
                <a:lnTo>
                  <a:pt x="0" y="11587"/>
                </a:lnTo>
                <a:lnTo>
                  <a:pt x="9938" y="13806"/>
                </a:lnTo>
                <a:lnTo>
                  <a:pt x="14369" y="3944"/>
                </a:lnTo>
                <a:lnTo>
                  <a:pt x="17123" y="1356"/>
                </a:lnTo>
                <a:lnTo>
                  <a:pt x="12692" y="0"/>
                </a:lnTo>
                <a:lnTo>
                  <a:pt x="11495" y="2096"/>
                </a:lnTo>
                <a:lnTo>
                  <a:pt x="5987" y="1356"/>
                </a:lnTo>
                <a:lnTo>
                  <a:pt x="3832" y="5670"/>
                </a:lnTo>
                <a:lnTo>
                  <a:pt x="1557" y="4807"/>
                </a:lnTo>
                <a:close/>
              </a:path>
            </a:pathLst>
          </a:custGeom>
          <a:solidFill>
            <a:srgbClr val="ded5c5"/>
          </a:solidFill>
          <a:ln w="6191">
            <a:solidFill>
              <a:srgbClr val="b5a68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1" name="ชุมชนหลังวัดราชนัดดา"/>
          <p:cNvSpPr/>
          <p:nvPr/>
        </p:nvSpPr>
        <p:spPr>
          <a:xfrm>
            <a:off x="4925520" y="5312160"/>
            <a:ext cx="26640" cy="20880"/>
          </a:xfrm>
          <a:custGeom>
            <a:avLst/>
            <a:gdLst/>
            <a:ahLst/>
            <a:rect l="l" t="t" r="r" b="b"/>
            <a:pathLst>
              <a:path w="26941" h="21325">
                <a:moveTo>
                  <a:pt x="0" y="14915"/>
                </a:moveTo>
                <a:lnTo>
                  <a:pt x="22511" y="21325"/>
                </a:lnTo>
                <a:lnTo>
                  <a:pt x="26941" y="4931"/>
                </a:lnTo>
                <a:lnTo>
                  <a:pt x="3353" y="0"/>
                </a:lnTo>
                <a:lnTo>
                  <a:pt x="0" y="14915"/>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2" name="ตรอกเขียนนิวาศน์"/>
          <p:cNvSpPr/>
          <p:nvPr/>
        </p:nvSpPr>
        <p:spPr>
          <a:xfrm>
            <a:off x="4848120" y="5218920"/>
            <a:ext cx="24120" cy="19800"/>
          </a:xfrm>
          <a:custGeom>
            <a:avLst/>
            <a:gdLst/>
            <a:ahLst/>
            <a:rect l="l" t="t" r="r" b="b"/>
            <a:pathLst>
              <a:path w="24547" h="20339">
                <a:moveTo>
                  <a:pt x="18799" y="17627"/>
                </a:moveTo>
                <a:lnTo>
                  <a:pt x="17721" y="15778"/>
                </a:lnTo>
                <a:lnTo>
                  <a:pt x="19398" y="13806"/>
                </a:lnTo>
                <a:lnTo>
                  <a:pt x="17123" y="12080"/>
                </a:lnTo>
                <a:lnTo>
                  <a:pt x="20835" y="9245"/>
                </a:lnTo>
                <a:lnTo>
                  <a:pt x="22990" y="12450"/>
                </a:lnTo>
                <a:lnTo>
                  <a:pt x="24547" y="9122"/>
                </a:lnTo>
                <a:lnTo>
                  <a:pt x="11615" y="370"/>
                </a:lnTo>
                <a:lnTo>
                  <a:pt x="7903" y="0"/>
                </a:lnTo>
                <a:lnTo>
                  <a:pt x="0" y="6533"/>
                </a:lnTo>
                <a:lnTo>
                  <a:pt x="5029" y="11957"/>
                </a:lnTo>
                <a:lnTo>
                  <a:pt x="2395" y="14792"/>
                </a:lnTo>
                <a:lnTo>
                  <a:pt x="3233" y="15655"/>
                </a:lnTo>
                <a:lnTo>
                  <a:pt x="5269" y="12943"/>
                </a:lnTo>
                <a:lnTo>
                  <a:pt x="5987" y="13929"/>
                </a:lnTo>
                <a:lnTo>
                  <a:pt x="3233" y="15901"/>
                </a:lnTo>
                <a:lnTo>
                  <a:pt x="4430" y="17380"/>
                </a:lnTo>
                <a:lnTo>
                  <a:pt x="6586" y="14545"/>
                </a:lnTo>
                <a:lnTo>
                  <a:pt x="13890" y="20339"/>
                </a:lnTo>
                <a:lnTo>
                  <a:pt x="15446" y="18120"/>
                </a:lnTo>
                <a:lnTo>
                  <a:pt x="17841" y="19969"/>
                </a:lnTo>
                <a:lnTo>
                  <a:pt x="18799" y="17627"/>
                </a:lnTo>
                <a:close/>
              </a:path>
            </a:pathLst>
          </a:custGeom>
          <a:solidFill>
            <a:srgbClr val="ded5c5"/>
          </a:solidFill>
          <a:ln w="6191">
            <a:solidFill>
              <a:srgbClr val="b5a68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3" name="ชุมชนวัดใหม่อมตรส"/>
          <p:cNvSpPr/>
          <p:nvPr/>
        </p:nvSpPr>
        <p:spPr>
          <a:xfrm>
            <a:off x="4904640" y="5179680"/>
            <a:ext cx="36000" cy="43560"/>
          </a:xfrm>
          <a:custGeom>
            <a:avLst/>
            <a:gdLst/>
            <a:ahLst/>
            <a:rect l="l" t="t" r="r" b="b"/>
            <a:pathLst>
              <a:path w="36281" h="44005">
                <a:moveTo>
                  <a:pt x="0" y="28967"/>
                </a:moveTo>
                <a:lnTo>
                  <a:pt x="26103" y="44005"/>
                </a:lnTo>
                <a:lnTo>
                  <a:pt x="36281" y="21941"/>
                </a:lnTo>
                <a:lnTo>
                  <a:pt x="29217" y="8998"/>
                </a:lnTo>
                <a:lnTo>
                  <a:pt x="16524" y="0"/>
                </a:lnTo>
                <a:lnTo>
                  <a:pt x="0" y="28967"/>
                </a:lnTo>
                <a:close/>
              </a:path>
            </a:pathLst>
          </a:custGeom>
          <a:solidFill>
            <a:srgbClr val="ded5c5"/>
          </a:solidFill>
          <a:ln w="6191">
            <a:solidFill>
              <a:srgbClr val="b5a68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4" name="ชุมชนวัดนรนาถ"/>
          <p:cNvSpPr/>
          <p:nvPr/>
        </p:nvSpPr>
        <p:spPr>
          <a:xfrm>
            <a:off x="4929840" y="5134680"/>
            <a:ext cx="8640" cy="11160"/>
          </a:xfrm>
          <a:custGeom>
            <a:avLst/>
            <a:gdLst/>
            <a:ahLst/>
            <a:rect l="l" t="t" r="r" b="b"/>
            <a:pathLst>
              <a:path w="9100" h="11464">
                <a:moveTo>
                  <a:pt x="5628" y="247"/>
                </a:moveTo>
                <a:lnTo>
                  <a:pt x="0" y="10231"/>
                </a:lnTo>
                <a:lnTo>
                  <a:pt x="2993" y="11464"/>
                </a:lnTo>
                <a:lnTo>
                  <a:pt x="9100" y="0"/>
                </a:lnTo>
                <a:lnTo>
                  <a:pt x="5628" y="247"/>
                </a:lnTo>
                <a:close/>
              </a:path>
            </a:pathLst>
          </a:custGeom>
          <a:solidFill>
            <a:srgbClr val="ded5c5"/>
          </a:solidFill>
          <a:ln w="6191">
            <a:solidFill>
              <a:srgbClr val="b5a68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5" name="ถนนสุคันธาราม"/>
          <p:cNvSpPr/>
          <p:nvPr/>
        </p:nvSpPr>
        <p:spPr>
          <a:xfrm>
            <a:off x="5157720" y="5050080"/>
            <a:ext cx="79200" cy="43920"/>
          </a:xfrm>
          <a:custGeom>
            <a:avLst/>
            <a:gdLst/>
            <a:ahLst/>
            <a:rect l="l" t="t" r="r" b="b"/>
            <a:pathLst>
              <a:path w="79507" h="44129">
                <a:moveTo>
                  <a:pt x="15446" y="16271"/>
                </a:moveTo>
                <a:lnTo>
                  <a:pt x="75676" y="44129"/>
                </a:lnTo>
                <a:lnTo>
                  <a:pt x="79507" y="34884"/>
                </a:lnTo>
                <a:lnTo>
                  <a:pt x="70766" y="27488"/>
                </a:lnTo>
                <a:lnTo>
                  <a:pt x="41430" y="8382"/>
                </a:lnTo>
                <a:lnTo>
                  <a:pt x="38556" y="18366"/>
                </a:lnTo>
                <a:lnTo>
                  <a:pt x="27301" y="12573"/>
                </a:lnTo>
                <a:lnTo>
                  <a:pt x="28019" y="9368"/>
                </a:lnTo>
                <a:lnTo>
                  <a:pt x="20954" y="8629"/>
                </a:lnTo>
                <a:lnTo>
                  <a:pt x="18919" y="3821"/>
                </a:lnTo>
                <a:lnTo>
                  <a:pt x="4790" y="0"/>
                </a:lnTo>
                <a:lnTo>
                  <a:pt x="0" y="9245"/>
                </a:lnTo>
                <a:lnTo>
                  <a:pt x="12333" y="15162"/>
                </a:lnTo>
                <a:lnTo>
                  <a:pt x="13531" y="10108"/>
                </a:lnTo>
                <a:lnTo>
                  <a:pt x="15566" y="7149"/>
                </a:lnTo>
                <a:lnTo>
                  <a:pt x="17003" y="7766"/>
                </a:lnTo>
                <a:lnTo>
                  <a:pt x="18081" y="10108"/>
                </a:lnTo>
                <a:lnTo>
                  <a:pt x="15446" y="16271"/>
                </a:lnTo>
                <a:close/>
              </a:path>
            </a:pathLst>
          </a:custGeom>
          <a:solidFill>
            <a:srgbClr val="ded5c5"/>
          </a:solidFill>
          <a:ln w="6191">
            <a:solidFill>
              <a:srgbClr val="b5a68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6" name="สุโขทัย ซอย 1"/>
          <p:cNvSpPr/>
          <p:nvPr/>
        </p:nvSpPr>
        <p:spPr>
          <a:xfrm>
            <a:off x="5177520" y="5079600"/>
            <a:ext cx="14760" cy="30960"/>
          </a:xfrm>
          <a:custGeom>
            <a:avLst/>
            <a:gdLst/>
            <a:ahLst/>
            <a:rect l="l" t="t" r="r" b="b"/>
            <a:pathLst>
              <a:path w="14967" h="31309">
                <a:moveTo>
                  <a:pt x="4670" y="370"/>
                </a:moveTo>
                <a:lnTo>
                  <a:pt x="1317" y="0"/>
                </a:lnTo>
                <a:lnTo>
                  <a:pt x="0" y="2342"/>
                </a:lnTo>
                <a:lnTo>
                  <a:pt x="239" y="30816"/>
                </a:lnTo>
                <a:lnTo>
                  <a:pt x="2515" y="31309"/>
                </a:lnTo>
                <a:lnTo>
                  <a:pt x="14967" y="4191"/>
                </a:lnTo>
                <a:lnTo>
                  <a:pt x="14010" y="247"/>
                </a:lnTo>
                <a:lnTo>
                  <a:pt x="12932" y="0"/>
                </a:lnTo>
                <a:lnTo>
                  <a:pt x="11854" y="4561"/>
                </a:lnTo>
                <a:lnTo>
                  <a:pt x="7783" y="4068"/>
                </a:lnTo>
                <a:lnTo>
                  <a:pt x="8502" y="863"/>
                </a:lnTo>
                <a:lnTo>
                  <a:pt x="4670" y="370"/>
                </a:lnTo>
                <a:close/>
              </a:path>
            </a:pathLst>
          </a:custGeom>
          <a:solidFill>
            <a:srgbClr val="ded5c5"/>
          </a:solidFill>
          <a:ln w="6191">
            <a:solidFill>
              <a:srgbClr val="b5a68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7" name="หลังบ้านมนังคศิลา"/>
          <p:cNvSpPr/>
          <p:nvPr/>
        </p:nvSpPr>
        <p:spPr>
          <a:xfrm>
            <a:off x="5136840" y="5320800"/>
            <a:ext cx="9720" cy="12600"/>
          </a:xfrm>
          <a:custGeom>
            <a:avLst/>
            <a:gdLst/>
            <a:ahLst/>
            <a:rect l="l" t="t" r="r" b="b"/>
            <a:pathLst>
              <a:path w="10178" h="12943">
                <a:moveTo>
                  <a:pt x="5029" y="12943"/>
                </a:moveTo>
                <a:lnTo>
                  <a:pt x="10178" y="0"/>
                </a:lnTo>
                <a:lnTo>
                  <a:pt x="0" y="1233"/>
                </a:lnTo>
                <a:lnTo>
                  <a:pt x="599" y="12943"/>
                </a:lnTo>
                <a:lnTo>
                  <a:pt x="5029" y="12943"/>
                </a:lnTo>
                <a:close/>
              </a:path>
            </a:pathLst>
          </a:custGeom>
          <a:solidFill>
            <a:srgbClr val="ded5c5"/>
          </a:solidFill>
          <a:ln w="6191">
            <a:solidFill>
              <a:srgbClr val="b5a68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8" name="วัดญวน"/>
          <p:cNvSpPr/>
          <p:nvPr/>
        </p:nvSpPr>
        <p:spPr>
          <a:xfrm>
            <a:off x="5092920" y="5257800"/>
            <a:ext cx="33480" cy="42120"/>
          </a:xfrm>
          <a:custGeom>
            <a:avLst/>
            <a:gdLst/>
            <a:ahLst/>
            <a:rect l="l" t="t" r="r" b="b"/>
            <a:pathLst>
              <a:path w="33767" h="42526">
                <a:moveTo>
                  <a:pt x="33767" y="42526"/>
                </a:moveTo>
                <a:lnTo>
                  <a:pt x="31013" y="36486"/>
                </a:lnTo>
                <a:lnTo>
                  <a:pt x="11854" y="19846"/>
                </a:lnTo>
                <a:lnTo>
                  <a:pt x="17123" y="4931"/>
                </a:lnTo>
                <a:lnTo>
                  <a:pt x="17243" y="2342"/>
                </a:lnTo>
                <a:lnTo>
                  <a:pt x="14489" y="0"/>
                </a:lnTo>
                <a:lnTo>
                  <a:pt x="10896" y="5177"/>
                </a:lnTo>
                <a:lnTo>
                  <a:pt x="10777" y="10601"/>
                </a:lnTo>
                <a:lnTo>
                  <a:pt x="8023" y="17257"/>
                </a:lnTo>
                <a:lnTo>
                  <a:pt x="6825" y="17011"/>
                </a:lnTo>
                <a:lnTo>
                  <a:pt x="5628" y="20462"/>
                </a:lnTo>
                <a:lnTo>
                  <a:pt x="4670" y="19969"/>
                </a:lnTo>
                <a:lnTo>
                  <a:pt x="4550" y="22557"/>
                </a:lnTo>
                <a:lnTo>
                  <a:pt x="2993" y="21941"/>
                </a:lnTo>
                <a:lnTo>
                  <a:pt x="0" y="29214"/>
                </a:lnTo>
                <a:lnTo>
                  <a:pt x="3951" y="34144"/>
                </a:lnTo>
                <a:lnTo>
                  <a:pt x="8980" y="20462"/>
                </a:lnTo>
                <a:lnTo>
                  <a:pt x="10298" y="20462"/>
                </a:lnTo>
                <a:lnTo>
                  <a:pt x="26582" y="34268"/>
                </a:lnTo>
                <a:lnTo>
                  <a:pt x="33767" y="42526"/>
                </a:lnTo>
                <a:close/>
              </a:path>
            </a:pathLst>
          </a:custGeom>
          <a:solidFill>
            <a:srgbClr val="ded5c5"/>
          </a:solidFill>
          <a:ln w="6191">
            <a:solidFill>
              <a:srgbClr val="b5a68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9" name="ซอยราชพัสดุ"/>
          <p:cNvSpPr/>
          <p:nvPr/>
        </p:nvSpPr>
        <p:spPr>
          <a:xfrm>
            <a:off x="5061600" y="4932000"/>
            <a:ext cx="39960" cy="22320"/>
          </a:xfrm>
          <a:custGeom>
            <a:avLst/>
            <a:gdLst/>
            <a:ahLst/>
            <a:rect l="l" t="t" r="r" b="b"/>
            <a:pathLst>
              <a:path w="40352" h="22681">
                <a:moveTo>
                  <a:pt x="0" y="10231"/>
                </a:moveTo>
                <a:lnTo>
                  <a:pt x="1317" y="12203"/>
                </a:lnTo>
                <a:lnTo>
                  <a:pt x="3951" y="8752"/>
                </a:lnTo>
                <a:lnTo>
                  <a:pt x="4790" y="10724"/>
                </a:lnTo>
                <a:lnTo>
                  <a:pt x="7903" y="12450"/>
                </a:lnTo>
                <a:lnTo>
                  <a:pt x="11375" y="6410"/>
                </a:lnTo>
                <a:lnTo>
                  <a:pt x="18200" y="10108"/>
                </a:lnTo>
                <a:lnTo>
                  <a:pt x="18440" y="12943"/>
                </a:lnTo>
                <a:lnTo>
                  <a:pt x="34725" y="22557"/>
                </a:lnTo>
                <a:lnTo>
                  <a:pt x="35563" y="21571"/>
                </a:lnTo>
                <a:lnTo>
                  <a:pt x="37479" y="22681"/>
                </a:lnTo>
                <a:lnTo>
                  <a:pt x="40352" y="17997"/>
                </a:lnTo>
                <a:lnTo>
                  <a:pt x="8142" y="0"/>
                </a:lnTo>
                <a:lnTo>
                  <a:pt x="5987" y="370"/>
                </a:lnTo>
                <a:lnTo>
                  <a:pt x="0" y="10231"/>
                </a:lnTo>
                <a:close/>
              </a:path>
            </a:pathLst>
          </a:custGeom>
          <a:solidFill>
            <a:srgbClr val="ded5c5"/>
          </a:solidFill>
          <a:ln w="6191">
            <a:solidFill>
              <a:srgbClr val="b5a68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0" name="ซอยสันติสุข"/>
          <p:cNvSpPr/>
          <p:nvPr/>
        </p:nvSpPr>
        <p:spPr>
          <a:xfrm>
            <a:off x="5146560" y="4996080"/>
            <a:ext cx="28440" cy="19080"/>
          </a:xfrm>
          <a:custGeom>
            <a:avLst/>
            <a:gdLst/>
            <a:ahLst/>
            <a:rect l="l" t="t" r="r" b="b"/>
            <a:pathLst>
              <a:path w="28857" h="19599">
                <a:moveTo>
                  <a:pt x="21314" y="18366"/>
                </a:moveTo>
                <a:lnTo>
                  <a:pt x="28378" y="19599"/>
                </a:lnTo>
                <a:lnTo>
                  <a:pt x="28857" y="8259"/>
                </a:lnTo>
                <a:lnTo>
                  <a:pt x="6705" y="0"/>
                </a:lnTo>
                <a:lnTo>
                  <a:pt x="0" y="9861"/>
                </a:lnTo>
                <a:lnTo>
                  <a:pt x="14249" y="17504"/>
                </a:lnTo>
                <a:lnTo>
                  <a:pt x="15087" y="16024"/>
                </a:lnTo>
                <a:lnTo>
                  <a:pt x="21314" y="18366"/>
                </a:lnTo>
                <a:close/>
              </a:path>
            </a:pathLst>
          </a:custGeom>
          <a:solidFill>
            <a:srgbClr val="ded5c5"/>
          </a:solidFill>
          <a:ln w="6191">
            <a:solidFill>
              <a:srgbClr val="b5a68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1" name="วัดประชาระบือธรรม 3"/>
          <p:cNvSpPr/>
          <p:nvPr/>
        </p:nvSpPr>
        <p:spPr>
          <a:xfrm>
            <a:off x="5142240" y="4872960"/>
            <a:ext cx="38160" cy="20880"/>
          </a:xfrm>
          <a:custGeom>
            <a:avLst/>
            <a:gdLst/>
            <a:ahLst/>
            <a:rect l="l" t="t" r="r" b="b"/>
            <a:pathLst>
              <a:path w="38436" h="21325">
                <a:moveTo>
                  <a:pt x="15327" y="15285"/>
                </a:moveTo>
                <a:lnTo>
                  <a:pt x="35682" y="21325"/>
                </a:lnTo>
                <a:lnTo>
                  <a:pt x="38436" y="12326"/>
                </a:lnTo>
                <a:lnTo>
                  <a:pt x="4311" y="0"/>
                </a:lnTo>
                <a:lnTo>
                  <a:pt x="0" y="7396"/>
                </a:lnTo>
                <a:lnTo>
                  <a:pt x="4790" y="9984"/>
                </a:lnTo>
                <a:lnTo>
                  <a:pt x="1796" y="15531"/>
                </a:lnTo>
                <a:lnTo>
                  <a:pt x="7304" y="17627"/>
                </a:lnTo>
                <a:lnTo>
                  <a:pt x="9819" y="12696"/>
                </a:lnTo>
                <a:lnTo>
                  <a:pt x="15327" y="15285"/>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2" name="ชุมชนวัดโบสถ์สามเสน"/>
          <p:cNvSpPr/>
          <p:nvPr/>
        </p:nvSpPr>
        <p:spPr>
          <a:xfrm>
            <a:off x="5027760" y="4978800"/>
            <a:ext cx="21240" cy="21240"/>
          </a:xfrm>
          <a:custGeom>
            <a:avLst/>
            <a:gdLst/>
            <a:ahLst/>
            <a:rect l="l" t="t" r="r" b="b"/>
            <a:pathLst>
              <a:path w="21553" h="21571">
                <a:moveTo>
                  <a:pt x="8741" y="493"/>
                </a:moveTo>
                <a:lnTo>
                  <a:pt x="0" y="21078"/>
                </a:lnTo>
                <a:lnTo>
                  <a:pt x="1078" y="21571"/>
                </a:lnTo>
                <a:lnTo>
                  <a:pt x="2634" y="18366"/>
                </a:lnTo>
                <a:lnTo>
                  <a:pt x="5628" y="19722"/>
                </a:lnTo>
                <a:lnTo>
                  <a:pt x="6705" y="17134"/>
                </a:lnTo>
                <a:lnTo>
                  <a:pt x="14010" y="20092"/>
                </a:lnTo>
                <a:lnTo>
                  <a:pt x="19158" y="9245"/>
                </a:lnTo>
                <a:lnTo>
                  <a:pt x="21553" y="7519"/>
                </a:lnTo>
                <a:lnTo>
                  <a:pt x="14369" y="0"/>
                </a:lnTo>
                <a:lnTo>
                  <a:pt x="8741" y="493"/>
                </a:lnTo>
                <a:close/>
              </a:path>
            </a:pathLst>
          </a:custGeom>
          <a:solidFill>
            <a:srgbClr val="ded5c5"/>
          </a:solidFill>
          <a:ln w="6191">
            <a:solidFill>
              <a:srgbClr val="b5a68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3" name="พระยาประสิทธิ์"/>
          <p:cNvSpPr/>
          <p:nvPr/>
        </p:nvSpPr>
        <p:spPr>
          <a:xfrm>
            <a:off x="5139360" y="4897800"/>
            <a:ext cx="37800" cy="30960"/>
          </a:xfrm>
          <a:custGeom>
            <a:avLst/>
            <a:gdLst/>
            <a:ahLst/>
            <a:rect l="l" t="t" r="r" b="b"/>
            <a:pathLst>
              <a:path w="38197" h="31432">
                <a:moveTo>
                  <a:pt x="18919" y="28967"/>
                </a:moveTo>
                <a:lnTo>
                  <a:pt x="20595" y="26625"/>
                </a:lnTo>
                <a:lnTo>
                  <a:pt x="32090" y="31432"/>
                </a:lnTo>
                <a:lnTo>
                  <a:pt x="38197" y="10601"/>
                </a:lnTo>
                <a:lnTo>
                  <a:pt x="29815" y="8752"/>
                </a:lnTo>
                <a:lnTo>
                  <a:pt x="29217" y="12450"/>
                </a:lnTo>
                <a:lnTo>
                  <a:pt x="22751" y="10601"/>
                </a:lnTo>
                <a:lnTo>
                  <a:pt x="11495" y="6163"/>
                </a:lnTo>
                <a:lnTo>
                  <a:pt x="13291" y="1479"/>
                </a:lnTo>
                <a:lnTo>
                  <a:pt x="8502" y="0"/>
                </a:lnTo>
                <a:lnTo>
                  <a:pt x="0" y="18366"/>
                </a:lnTo>
                <a:lnTo>
                  <a:pt x="18919" y="28967"/>
                </a:lnTo>
                <a:close/>
              </a:path>
            </a:pathLst>
          </a:custGeom>
          <a:solidFill>
            <a:srgbClr val="ded5c5"/>
          </a:solidFill>
          <a:ln w="6191">
            <a:solidFill>
              <a:srgbClr val="b5a68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4" name="ชุมชนซอยเสริมสุข"/>
          <p:cNvSpPr/>
          <p:nvPr/>
        </p:nvSpPr>
        <p:spPr>
          <a:xfrm>
            <a:off x="5186160" y="4999680"/>
            <a:ext cx="41040" cy="21240"/>
          </a:xfrm>
          <a:custGeom>
            <a:avLst/>
            <a:gdLst/>
            <a:ahLst/>
            <a:rect l="l" t="t" r="r" b="b"/>
            <a:pathLst>
              <a:path w="41430" h="21448">
                <a:moveTo>
                  <a:pt x="2874" y="0"/>
                </a:moveTo>
                <a:lnTo>
                  <a:pt x="0" y="6287"/>
                </a:lnTo>
                <a:lnTo>
                  <a:pt x="718" y="8259"/>
                </a:lnTo>
                <a:lnTo>
                  <a:pt x="14967" y="11587"/>
                </a:lnTo>
                <a:lnTo>
                  <a:pt x="14129" y="15162"/>
                </a:lnTo>
                <a:lnTo>
                  <a:pt x="40831" y="21448"/>
                </a:lnTo>
                <a:lnTo>
                  <a:pt x="41430" y="18860"/>
                </a:lnTo>
                <a:lnTo>
                  <a:pt x="38796" y="18120"/>
                </a:lnTo>
                <a:lnTo>
                  <a:pt x="39394" y="16024"/>
                </a:lnTo>
                <a:lnTo>
                  <a:pt x="37479" y="15285"/>
                </a:lnTo>
                <a:lnTo>
                  <a:pt x="37958" y="14052"/>
                </a:lnTo>
                <a:lnTo>
                  <a:pt x="27660" y="10724"/>
                </a:lnTo>
                <a:lnTo>
                  <a:pt x="28618" y="7396"/>
                </a:lnTo>
                <a:lnTo>
                  <a:pt x="2874" y="0"/>
                </a:lnTo>
                <a:close/>
              </a:path>
            </a:pathLst>
          </a:custGeom>
          <a:solidFill>
            <a:srgbClr val="ded5c5"/>
          </a:solidFill>
          <a:ln w="6191">
            <a:solidFill>
              <a:srgbClr val="b5a68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5" name="วัดน้อยนพคุณ"/>
          <p:cNvSpPr/>
          <p:nvPr/>
        </p:nvSpPr>
        <p:spPr>
          <a:xfrm>
            <a:off x="5136120" y="4965120"/>
            <a:ext cx="37800" cy="28080"/>
          </a:xfrm>
          <a:custGeom>
            <a:avLst/>
            <a:gdLst/>
            <a:ahLst/>
            <a:rect l="l" t="t" r="r" b="b"/>
            <a:pathLst>
              <a:path w="38317" h="28351">
                <a:moveTo>
                  <a:pt x="38317" y="28351"/>
                </a:moveTo>
                <a:lnTo>
                  <a:pt x="38077" y="15778"/>
                </a:lnTo>
                <a:lnTo>
                  <a:pt x="17961" y="7273"/>
                </a:lnTo>
                <a:lnTo>
                  <a:pt x="19039" y="4807"/>
                </a:lnTo>
                <a:lnTo>
                  <a:pt x="14369" y="2589"/>
                </a:lnTo>
                <a:lnTo>
                  <a:pt x="13531" y="4684"/>
                </a:lnTo>
                <a:lnTo>
                  <a:pt x="2874" y="0"/>
                </a:lnTo>
                <a:lnTo>
                  <a:pt x="0" y="6656"/>
                </a:lnTo>
                <a:lnTo>
                  <a:pt x="15806" y="16271"/>
                </a:lnTo>
                <a:lnTo>
                  <a:pt x="30534" y="21695"/>
                </a:lnTo>
                <a:lnTo>
                  <a:pt x="30294" y="26132"/>
                </a:lnTo>
                <a:lnTo>
                  <a:pt x="38317" y="28351"/>
                </a:lnTo>
                <a:close/>
              </a:path>
            </a:pathLst>
          </a:custGeom>
          <a:solidFill>
            <a:srgbClr val="ded5c5"/>
          </a:solidFill>
          <a:ln w="6191">
            <a:solidFill>
              <a:srgbClr val="b5a68d"/>
            </a:solidFill>
            <a:round/>
          </a:ln>
        </p:spPr>
        <p:style>
          <a:lnRef idx="0"/>
          <a:fillRef idx="0"/>
          <a:effectRef idx="0"/>
          <a:fontRef idx="minor"/>
        </p:style>
        <p:txBody>
          <a:bodyPr lIns="90000" rIns="90000" tIns="-16920" bIns="-16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6" name="นครไชยศรี"/>
          <p:cNvSpPr/>
          <p:nvPr/>
        </p:nvSpPr>
        <p:spPr>
          <a:xfrm>
            <a:off x="5087160" y="4986720"/>
            <a:ext cx="21960" cy="17280"/>
          </a:xfrm>
          <a:custGeom>
            <a:avLst/>
            <a:gdLst/>
            <a:ahLst/>
            <a:rect l="l" t="t" r="r" b="b"/>
            <a:pathLst>
              <a:path w="22152" h="17627">
                <a:moveTo>
                  <a:pt x="9340" y="10108"/>
                </a:moveTo>
                <a:lnTo>
                  <a:pt x="14728" y="13929"/>
                </a:lnTo>
                <a:lnTo>
                  <a:pt x="17243" y="12203"/>
                </a:lnTo>
                <a:lnTo>
                  <a:pt x="14608" y="11217"/>
                </a:lnTo>
                <a:lnTo>
                  <a:pt x="15686" y="9368"/>
                </a:lnTo>
                <a:lnTo>
                  <a:pt x="19757" y="11464"/>
                </a:lnTo>
                <a:lnTo>
                  <a:pt x="22152" y="6780"/>
                </a:lnTo>
                <a:lnTo>
                  <a:pt x="18679" y="5177"/>
                </a:lnTo>
                <a:lnTo>
                  <a:pt x="19398" y="3698"/>
                </a:lnTo>
                <a:lnTo>
                  <a:pt x="17123" y="1849"/>
                </a:lnTo>
                <a:lnTo>
                  <a:pt x="15925" y="3082"/>
                </a:lnTo>
                <a:lnTo>
                  <a:pt x="9938" y="0"/>
                </a:lnTo>
                <a:lnTo>
                  <a:pt x="6226" y="6410"/>
                </a:lnTo>
                <a:lnTo>
                  <a:pt x="4790" y="5793"/>
                </a:lnTo>
                <a:lnTo>
                  <a:pt x="718" y="9491"/>
                </a:lnTo>
                <a:lnTo>
                  <a:pt x="2036" y="10354"/>
                </a:lnTo>
                <a:lnTo>
                  <a:pt x="0" y="16517"/>
                </a:lnTo>
                <a:lnTo>
                  <a:pt x="1078" y="17627"/>
                </a:lnTo>
                <a:lnTo>
                  <a:pt x="6705" y="8505"/>
                </a:lnTo>
                <a:lnTo>
                  <a:pt x="9340" y="10108"/>
                </a:lnTo>
                <a:close/>
              </a:path>
            </a:pathLst>
          </a:custGeom>
          <a:solidFill>
            <a:srgbClr val="ded5c5"/>
          </a:solidFill>
          <a:ln w="6191">
            <a:solidFill>
              <a:srgbClr val="b5a68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7" name="ศรีย่านซอย 3"/>
          <p:cNvSpPr/>
          <p:nvPr/>
        </p:nvSpPr>
        <p:spPr>
          <a:xfrm>
            <a:off x="5062680" y="4938480"/>
            <a:ext cx="27000" cy="24840"/>
          </a:xfrm>
          <a:custGeom>
            <a:avLst/>
            <a:gdLst/>
            <a:ahLst/>
            <a:rect l="l" t="t" r="r" b="b"/>
            <a:pathLst>
              <a:path w="27181" h="25146">
                <a:moveTo>
                  <a:pt x="18320" y="20462"/>
                </a:moveTo>
                <a:lnTo>
                  <a:pt x="19518" y="17873"/>
                </a:lnTo>
                <a:lnTo>
                  <a:pt x="22751" y="17873"/>
                </a:lnTo>
                <a:lnTo>
                  <a:pt x="27181" y="12573"/>
                </a:lnTo>
                <a:lnTo>
                  <a:pt x="17123" y="6533"/>
                </a:lnTo>
                <a:lnTo>
                  <a:pt x="16883" y="3821"/>
                </a:lnTo>
                <a:lnTo>
                  <a:pt x="9938" y="0"/>
                </a:lnTo>
                <a:lnTo>
                  <a:pt x="5508" y="8752"/>
                </a:lnTo>
                <a:lnTo>
                  <a:pt x="12094" y="12326"/>
                </a:lnTo>
                <a:lnTo>
                  <a:pt x="9220" y="17627"/>
                </a:lnTo>
                <a:lnTo>
                  <a:pt x="2036" y="14052"/>
                </a:lnTo>
                <a:lnTo>
                  <a:pt x="0" y="15162"/>
                </a:lnTo>
                <a:lnTo>
                  <a:pt x="5029" y="19353"/>
                </a:lnTo>
                <a:lnTo>
                  <a:pt x="3951" y="22064"/>
                </a:lnTo>
                <a:lnTo>
                  <a:pt x="8621" y="24899"/>
                </a:lnTo>
                <a:lnTo>
                  <a:pt x="9699" y="23297"/>
                </a:lnTo>
                <a:lnTo>
                  <a:pt x="12573" y="25146"/>
                </a:lnTo>
                <a:lnTo>
                  <a:pt x="15566" y="18983"/>
                </a:lnTo>
                <a:lnTo>
                  <a:pt x="18320" y="20462"/>
                </a:lnTo>
                <a:close/>
              </a:path>
            </a:pathLst>
          </a:custGeom>
          <a:solidFill>
            <a:srgbClr val="ded5c5"/>
          </a:solidFill>
          <a:ln w="6191">
            <a:solidFill>
              <a:srgbClr val="b5a68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8" name="พล.ปตอ.พื้นที่เกียกกาย"/>
          <p:cNvSpPr/>
          <p:nvPr/>
        </p:nvSpPr>
        <p:spPr>
          <a:xfrm>
            <a:off x="5209200" y="4785840"/>
            <a:ext cx="15840" cy="34200"/>
          </a:xfrm>
          <a:custGeom>
            <a:avLst/>
            <a:gdLst/>
            <a:ahLst/>
            <a:rect l="l" t="t" r="r" b="b"/>
            <a:pathLst>
              <a:path w="16045" h="34637">
                <a:moveTo>
                  <a:pt x="2155" y="3082"/>
                </a:moveTo>
                <a:lnTo>
                  <a:pt x="6825" y="4561"/>
                </a:lnTo>
                <a:lnTo>
                  <a:pt x="0" y="30200"/>
                </a:lnTo>
                <a:lnTo>
                  <a:pt x="9340" y="34637"/>
                </a:lnTo>
                <a:lnTo>
                  <a:pt x="15686" y="20339"/>
                </a:lnTo>
                <a:lnTo>
                  <a:pt x="16045" y="15285"/>
                </a:lnTo>
                <a:lnTo>
                  <a:pt x="13052" y="13806"/>
                </a:lnTo>
                <a:lnTo>
                  <a:pt x="14848" y="8505"/>
                </a:lnTo>
                <a:lnTo>
                  <a:pt x="12573" y="6780"/>
                </a:lnTo>
                <a:lnTo>
                  <a:pt x="13531" y="4314"/>
                </a:lnTo>
                <a:lnTo>
                  <a:pt x="3113" y="0"/>
                </a:lnTo>
                <a:lnTo>
                  <a:pt x="2155" y="3082"/>
                </a:lnTo>
                <a:close/>
              </a:path>
            </a:pathLst>
          </a:custGeom>
          <a:solidFill>
            <a:srgbClr val="ded5c5"/>
          </a:solidFill>
          <a:ln w="6191">
            <a:solidFill>
              <a:srgbClr val="b5a68d"/>
            </a:solidFill>
            <a:round/>
          </a:ln>
        </p:spPr>
        <p:style>
          <a:lnRef idx="0"/>
          <a:fillRef idx="0"/>
          <a:effectRef idx="0"/>
          <a:fontRef idx="minor"/>
        </p:style>
        <p:txBody>
          <a:bodyPr lIns="90000" rIns="90000" tIns="-10800" bIns="-10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9" name="พิชัย"/>
          <p:cNvSpPr/>
          <p:nvPr/>
        </p:nvSpPr>
        <p:spPr>
          <a:xfrm>
            <a:off x="5166720" y="4991400"/>
            <a:ext cx="7200" cy="2880"/>
          </a:xfrm>
          <a:custGeom>
            <a:avLst/>
            <a:gdLst/>
            <a:ahLst/>
            <a:rect l="l" t="t" r="r" b="b"/>
            <a:pathLst>
              <a:path w="7544" h="3205">
                <a:moveTo>
                  <a:pt x="359" y="0"/>
                </a:moveTo>
                <a:lnTo>
                  <a:pt x="0" y="1233"/>
                </a:lnTo>
                <a:lnTo>
                  <a:pt x="7184" y="3205"/>
                </a:lnTo>
                <a:lnTo>
                  <a:pt x="7544" y="1972"/>
                </a:lnTo>
                <a:lnTo>
                  <a:pt x="359" y="0"/>
                </a:lnTo>
                <a:close/>
              </a:path>
            </a:pathLst>
          </a:custGeom>
          <a:solidFill>
            <a:srgbClr val="ded5c5"/>
          </a:solidFill>
          <a:ln w="6191">
            <a:solidFill>
              <a:srgbClr val="b5a68d"/>
            </a:solidFill>
            <a:round/>
          </a:ln>
        </p:spPr>
        <p:style>
          <a:lnRef idx="0"/>
          <a:fillRef idx="0"/>
          <a:effectRef idx="0"/>
          <a:fontRef idx="minor"/>
        </p:style>
        <p:txBody>
          <a:bodyPr lIns="90000" rIns="90000" tIns="-42120" bIns="-42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0" name="ปืนหนึ่ง"/>
          <p:cNvSpPr/>
          <p:nvPr/>
        </p:nvSpPr>
        <p:spPr>
          <a:xfrm>
            <a:off x="5278320" y="4865040"/>
            <a:ext cx="21960" cy="33120"/>
          </a:xfrm>
          <a:custGeom>
            <a:avLst/>
            <a:gdLst/>
            <a:ahLst/>
            <a:rect l="l" t="t" r="r" b="b"/>
            <a:pathLst>
              <a:path w="22272" h="33405">
                <a:moveTo>
                  <a:pt x="15087" y="0"/>
                </a:moveTo>
                <a:lnTo>
                  <a:pt x="0" y="32419"/>
                </a:lnTo>
                <a:lnTo>
                  <a:pt x="2275" y="33405"/>
                </a:lnTo>
                <a:lnTo>
                  <a:pt x="6586" y="24283"/>
                </a:lnTo>
                <a:lnTo>
                  <a:pt x="11375" y="26132"/>
                </a:lnTo>
                <a:lnTo>
                  <a:pt x="22272" y="2958"/>
                </a:lnTo>
                <a:lnTo>
                  <a:pt x="15087" y="0"/>
                </a:lnTo>
                <a:close/>
              </a:path>
            </a:pathLst>
          </a:custGeom>
          <a:solidFill>
            <a:srgbClr val="ded5c5"/>
          </a:solidFill>
          <a:ln w="6191">
            <a:solidFill>
              <a:srgbClr val="b5a68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1" name="สรรพาวุธนิเวศน์"/>
          <p:cNvSpPr/>
          <p:nvPr/>
        </p:nvSpPr>
        <p:spPr>
          <a:xfrm>
            <a:off x="5251680" y="4903200"/>
            <a:ext cx="50400" cy="22680"/>
          </a:xfrm>
          <a:custGeom>
            <a:avLst/>
            <a:gdLst/>
            <a:ahLst/>
            <a:rect l="l" t="t" r="r" b="b"/>
            <a:pathLst>
              <a:path w="50889" h="22927">
                <a:moveTo>
                  <a:pt x="1078" y="863"/>
                </a:moveTo>
                <a:lnTo>
                  <a:pt x="0" y="2589"/>
                </a:lnTo>
                <a:lnTo>
                  <a:pt x="48734" y="22927"/>
                </a:lnTo>
                <a:lnTo>
                  <a:pt x="50889" y="16764"/>
                </a:lnTo>
                <a:lnTo>
                  <a:pt x="1796" y="0"/>
                </a:lnTo>
                <a:lnTo>
                  <a:pt x="1078" y="863"/>
                </a:lnTo>
                <a:close/>
              </a:path>
            </a:pathLst>
          </a:custGeom>
          <a:solidFill>
            <a:srgbClr val="ded5c5"/>
          </a:solidFill>
          <a:ln w="6191">
            <a:solidFill>
              <a:srgbClr val="b5a68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2" name="ม.พัน 3 รอ."/>
          <p:cNvSpPr/>
          <p:nvPr/>
        </p:nvSpPr>
        <p:spPr>
          <a:xfrm>
            <a:off x="5181120" y="4816800"/>
            <a:ext cx="45360" cy="37080"/>
          </a:xfrm>
          <a:custGeom>
            <a:avLst/>
            <a:gdLst/>
            <a:ahLst/>
            <a:rect l="l" t="t" r="r" b="b"/>
            <a:pathLst>
              <a:path w="45860" h="37349">
                <a:moveTo>
                  <a:pt x="1557" y="17380"/>
                </a:moveTo>
                <a:lnTo>
                  <a:pt x="0" y="22434"/>
                </a:lnTo>
                <a:lnTo>
                  <a:pt x="3592" y="25269"/>
                </a:lnTo>
                <a:lnTo>
                  <a:pt x="34725" y="37349"/>
                </a:lnTo>
                <a:lnTo>
                  <a:pt x="45860" y="15038"/>
                </a:lnTo>
                <a:lnTo>
                  <a:pt x="10657" y="0"/>
                </a:lnTo>
                <a:lnTo>
                  <a:pt x="7783" y="2835"/>
                </a:lnTo>
                <a:lnTo>
                  <a:pt x="8621" y="3328"/>
                </a:lnTo>
                <a:lnTo>
                  <a:pt x="1557" y="17380"/>
                </a:lnTo>
                <a:close/>
              </a:path>
            </a:pathLst>
          </a:custGeom>
          <a:solidFill>
            <a:srgbClr val="ded5c5"/>
          </a:solidFill>
          <a:ln w="6191">
            <a:solidFill>
              <a:srgbClr val="b5a68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3" name="ตรอกต้นโพธิ์"/>
          <p:cNvSpPr/>
          <p:nvPr/>
        </p:nvSpPr>
        <p:spPr>
          <a:xfrm>
            <a:off x="5113800" y="4995000"/>
            <a:ext cx="30960" cy="29520"/>
          </a:xfrm>
          <a:custGeom>
            <a:avLst/>
            <a:gdLst/>
            <a:ahLst/>
            <a:rect l="l" t="t" r="r" b="b"/>
            <a:pathLst>
              <a:path w="31252" h="29707">
                <a:moveTo>
                  <a:pt x="0" y="21078"/>
                </a:moveTo>
                <a:lnTo>
                  <a:pt x="2634" y="25146"/>
                </a:lnTo>
                <a:lnTo>
                  <a:pt x="9579" y="28721"/>
                </a:lnTo>
                <a:lnTo>
                  <a:pt x="24187" y="29707"/>
                </a:lnTo>
                <a:lnTo>
                  <a:pt x="23589" y="25269"/>
                </a:lnTo>
                <a:lnTo>
                  <a:pt x="26702" y="23174"/>
                </a:lnTo>
                <a:lnTo>
                  <a:pt x="31252" y="11833"/>
                </a:lnTo>
                <a:lnTo>
                  <a:pt x="10298" y="0"/>
                </a:lnTo>
                <a:lnTo>
                  <a:pt x="0" y="21078"/>
                </a:lnTo>
                <a:close/>
              </a:path>
            </a:pathLst>
          </a:custGeom>
          <a:solidFill>
            <a:srgbClr val="ded5c5"/>
          </a:solidFill>
          <a:ln w="6191">
            <a:solidFill>
              <a:srgbClr val="b5a68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4" name="ม้าหนึ่ง"/>
          <p:cNvSpPr/>
          <p:nvPr/>
        </p:nvSpPr>
        <p:spPr>
          <a:xfrm>
            <a:off x="5163480" y="4807440"/>
            <a:ext cx="18360" cy="25560"/>
          </a:xfrm>
          <a:custGeom>
            <a:avLst/>
            <a:gdLst/>
            <a:ahLst/>
            <a:rect l="l" t="t" r="r" b="b"/>
            <a:pathLst>
              <a:path w="18799" h="25762">
                <a:moveTo>
                  <a:pt x="1197" y="123"/>
                </a:moveTo>
                <a:lnTo>
                  <a:pt x="0" y="11217"/>
                </a:lnTo>
                <a:lnTo>
                  <a:pt x="7424" y="11464"/>
                </a:lnTo>
                <a:lnTo>
                  <a:pt x="8621" y="25762"/>
                </a:lnTo>
                <a:lnTo>
                  <a:pt x="14728" y="24653"/>
                </a:lnTo>
                <a:lnTo>
                  <a:pt x="18799" y="15285"/>
                </a:lnTo>
                <a:lnTo>
                  <a:pt x="12932" y="12696"/>
                </a:lnTo>
                <a:lnTo>
                  <a:pt x="16404" y="3328"/>
                </a:lnTo>
                <a:lnTo>
                  <a:pt x="7065" y="0"/>
                </a:lnTo>
                <a:lnTo>
                  <a:pt x="1197" y="123"/>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5" name="กรมสรรพาวุธทหารบก"/>
          <p:cNvSpPr/>
          <p:nvPr/>
        </p:nvSpPr>
        <p:spPr>
          <a:xfrm>
            <a:off x="5230440" y="4786200"/>
            <a:ext cx="59040" cy="49680"/>
          </a:xfrm>
          <a:custGeom>
            <a:avLst/>
            <a:gdLst/>
            <a:ahLst/>
            <a:rect l="l" t="t" r="r" b="b"/>
            <a:pathLst>
              <a:path w="59391" h="49922">
                <a:moveTo>
                  <a:pt x="0" y="40308"/>
                </a:moveTo>
                <a:lnTo>
                  <a:pt x="18200" y="49922"/>
                </a:lnTo>
                <a:lnTo>
                  <a:pt x="32928" y="21078"/>
                </a:lnTo>
                <a:lnTo>
                  <a:pt x="43585" y="23667"/>
                </a:lnTo>
                <a:lnTo>
                  <a:pt x="44543" y="21818"/>
                </a:lnTo>
                <a:lnTo>
                  <a:pt x="52805" y="27118"/>
                </a:lnTo>
                <a:lnTo>
                  <a:pt x="59391" y="14668"/>
                </a:lnTo>
                <a:lnTo>
                  <a:pt x="37119" y="10477"/>
                </a:lnTo>
                <a:lnTo>
                  <a:pt x="40352" y="4561"/>
                </a:lnTo>
                <a:lnTo>
                  <a:pt x="25265" y="0"/>
                </a:lnTo>
                <a:lnTo>
                  <a:pt x="20835" y="123"/>
                </a:lnTo>
                <a:lnTo>
                  <a:pt x="0" y="40308"/>
                </a:lnTo>
                <a:close/>
              </a:path>
            </a:pathLst>
          </a:custGeom>
          <a:solidFill>
            <a:srgbClr val="ded5c5"/>
          </a:solidFill>
          <a:ln w="6191">
            <a:solidFill>
              <a:srgbClr val="b5a68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6" name="บ้านพัก ขส.ทบ. สะพานแดง"/>
          <p:cNvSpPr/>
          <p:nvPr/>
        </p:nvSpPr>
        <p:spPr>
          <a:xfrm>
            <a:off x="5253120" y="4854600"/>
            <a:ext cx="41760" cy="37080"/>
          </a:xfrm>
          <a:custGeom>
            <a:avLst/>
            <a:gdLst/>
            <a:ahLst/>
            <a:rect l="l" t="t" r="r" b="b"/>
            <a:pathLst>
              <a:path w="42148" h="37596">
                <a:moveTo>
                  <a:pt x="12692" y="0"/>
                </a:moveTo>
                <a:lnTo>
                  <a:pt x="0" y="24160"/>
                </a:lnTo>
                <a:lnTo>
                  <a:pt x="5867" y="32049"/>
                </a:lnTo>
                <a:lnTo>
                  <a:pt x="26582" y="37596"/>
                </a:lnTo>
                <a:lnTo>
                  <a:pt x="42148" y="6040"/>
                </a:lnTo>
                <a:lnTo>
                  <a:pt x="12692" y="0"/>
                </a:lnTo>
                <a:close/>
              </a:path>
            </a:pathLst>
          </a:custGeom>
          <a:solidFill>
            <a:srgbClr val="ded5c5"/>
          </a:solidFill>
          <a:ln w="6191">
            <a:solidFill>
              <a:srgbClr val="b5a68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7" name="หมู่บ้านอมรทรัพย์"/>
          <p:cNvSpPr/>
          <p:nvPr/>
        </p:nvSpPr>
        <p:spPr>
          <a:xfrm>
            <a:off x="8970120" y="4097520"/>
            <a:ext cx="34920" cy="209880"/>
          </a:xfrm>
          <a:custGeom>
            <a:avLst/>
            <a:gdLst/>
            <a:ahLst/>
            <a:rect l="l" t="t" r="r" b="b"/>
            <a:pathLst>
              <a:path w="35323" h="210413">
                <a:moveTo>
                  <a:pt x="0" y="370"/>
                </a:moveTo>
                <a:lnTo>
                  <a:pt x="24547" y="210413"/>
                </a:lnTo>
                <a:lnTo>
                  <a:pt x="35323" y="209797"/>
                </a:lnTo>
                <a:lnTo>
                  <a:pt x="30174" y="171091"/>
                </a:lnTo>
                <a:lnTo>
                  <a:pt x="25385" y="171954"/>
                </a:lnTo>
                <a:lnTo>
                  <a:pt x="4670" y="4684"/>
                </a:lnTo>
                <a:lnTo>
                  <a:pt x="1916" y="0"/>
                </a:lnTo>
                <a:lnTo>
                  <a:pt x="0" y="37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8" name="หมู่บ้านทรัพย์เจริญ"/>
          <p:cNvSpPr/>
          <p:nvPr/>
        </p:nvSpPr>
        <p:spPr>
          <a:xfrm>
            <a:off x="8948520" y="4110120"/>
            <a:ext cx="24120" cy="187920"/>
          </a:xfrm>
          <a:custGeom>
            <a:avLst/>
            <a:gdLst/>
            <a:ahLst/>
            <a:rect l="l" t="t" r="r" b="b"/>
            <a:pathLst>
              <a:path w="24547" h="188102">
                <a:moveTo>
                  <a:pt x="0" y="0"/>
                </a:moveTo>
                <a:lnTo>
                  <a:pt x="2036" y="37472"/>
                </a:lnTo>
                <a:lnTo>
                  <a:pt x="16404" y="188102"/>
                </a:lnTo>
                <a:lnTo>
                  <a:pt x="24547" y="187979"/>
                </a:lnTo>
                <a:lnTo>
                  <a:pt x="6586" y="740"/>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9" name="ดำรงสันติธรรม"/>
          <p:cNvSpPr/>
          <p:nvPr/>
        </p:nvSpPr>
        <p:spPr>
          <a:xfrm>
            <a:off x="8955000" y="4065840"/>
            <a:ext cx="113760" cy="72000"/>
          </a:xfrm>
          <a:custGeom>
            <a:avLst/>
            <a:gdLst/>
            <a:ahLst/>
            <a:rect l="l" t="t" r="r" b="b"/>
            <a:pathLst>
              <a:path w="114232" h="72356">
                <a:moveTo>
                  <a:pt x="65378" y="4068"/>
                </a:moveTo>
                <a:lnTo>
                  <a:pt x="0" y="11340"/>
                </a:lnTo>
                <a:lnTo>
                  <a:pt x="2634" y="32788"/>
                </a:lnTo>
                <a:lnTo>
                  <a:pt x="60588" y="27488"/>
                </a:lnTo>
                <a:lnTo>
                  <a:pt x="66096" y="51525"/>
                </a:lnTo>
                <a:lnTo>
                  <a:pt x="75676" y="51525"/>
                </a:lnTo>
                <a:lnTo>
                  <a:pt x="76274" y="33405"/>
                </a:lnTo>
                <a:lnTo>
                  <a:pt x="80944" y="33158"/>
                </a:lnTo>
                <a:lnTo>
                  <a:pt x="79986" y="25639"/>
                </a:lnTo>
                <a:lnTo>
                  <a:pt x="93397" y="24283"/>
                </a:lnTo>
                <a:lnTo>
                  <a:pt x="94116" y="31309"/>
                </a:lnTo>
                <a:lnTo>
                  <a:pt x="96630" y="30939"/>
                </a:lnTo>
                <a:lnTo>
                  <a:pt x="97947" y="39691"/>
                </a:lnTo>
                <a:lnTo>
                  <a:pt x="100581" y="39568"/>
                </a:lnTo>
                <a:lnTo>
                  <a:pt x="107167" y="72356"/>
                </a:lnTo>
                <a:lnTo>
                  <a:pt x="114232" y="70877"/>
                </a:lnTo>
                <a:lnTo>
                  <a:pt x="109203" y="46964"/>
                </a:lnTo>
                <a:lnTo>
                  <a:pt x="106688" y="22804"/>
                </a:lnTo>
                <a:lnTo>
                  <a:pt x="98905" y="23790"/>
                </a:lnTo>
                <a:lnTo>
                  <a:pt x="98785" y="0"/>
                </a:lnTo>
                <a:lnTo>
                  <a:pt x="74478" y="4314"/>
                </a:lnTo>
                <a:lnTo>
                  <a:pt x="72203" y="3575"/>
                </a:lnTo>
                <a:lnTo>
                  <a:pt x="72323" y="4807"/>
                </a:lnTo>
                <a:lnTo>
                  <a:pt x="65378" y="4068"/>
                </a:lnTo>
                <a:close/>
              </a:path>
            </a:pathLst>
          </a:custGeom>
          <a:solidFill>
            <a:srgbClr val="ded5c5"/>
          </a:solidFill>
          <a:ln w="6191">
            <a:solidFill>
              <a:srgbClr val="b5a68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0" name="หมู่บ้านพิบูลย์ทรัพย์17"/>
          <p:cNvSpPr/>
          <p:nvPr/>
        </p:nvSpPr>
        <p:spPr>
          <a:xfrm>
            <a:off x="9060840" y="4472640"/>
            <a:ext cx="59400" cy="66600"/>
          </a:xfrm>
          <a:custGeom>
            <a:avLst/>
            <a:gdLst/>
            <a:ahLst/>
            <a:rect l="l" t="t" r="r" b="b"/>
            <a:pathLst>
              <a:path w="59870" h="67056">
                <a:moveTo>
                  <a:pt x="0" y="1849"/>
                </a:moveTo>
                <a:lnTo>
                  <a:pt x="52446" y="67056"/>
                </a:lnTo>
                <a:lnTo>
                  <a:pt x="59870" y="60276"/>
                </a:lnTo>
                <a:lnTo>
                  <a:pt x="25984" y="18860"/>
                </a:lnTo>
                <a:lnTo>
                  <a:pt x="20595" y="22311"/>
                </a:lnTo>
                <a:lnTo>
                  <a:pt x="2275" y="0"/>
                </a:lnTo>
                <a:lnTo>
                  <a:pt x="0" y="1849"/>
                </a:lnTo>
                <a:close/>
              </a:path>
            </a:pathLst>
          </a:custGeom>
          <a:solidFill>
            <a:srgbClr val="ded5c5"/>
          </a:solidFill>
          <a:ln w="6191">
            <a:solidFill>
              <a:srgbClr val="b5a68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1" name="พิบูลย์ทรัพย์1"/>
          <p:cNvSpPr/>
          <p:nvPr/>
        </p:nvSpPr>
        <p:spPr>
          <a:xfrm>
            <a:off x="8961120" y="4098240"/>
            <a:ext cx="28440" cy="207720"/>
          </a:xfrm>
          <a:custGeom>
            <a:avLst/>
            <a:gdLst/>
            <a:ahLst/>
            <a:rect l="l" t="t" r="r" b="b"/>
            <a:pathLst>
              <a:path w="28738" h="207948">
                <a:moveTo>
                  <a:pt x="2395" y="16764"/>
                </a:moveTo>
                <a:lnTo>
                  <a:pt x="11495" y="112787"/>
                </a:lnTo>
                <a:lnTo>
                  <a:pt x="7783" y="113157"/>
                </a:lnTo>
                <a:lnTo>
                  <a:pt x="17362" y="207948"/>
                </a:lnTo>
                <a:lnTo>
                  <a:pt x="28738" y="207208"/>
                </a:lnTo>
                <a:lnTo>
                  <a:pt x="4550" y="0"/>
                </a:lnTo>
                <a:lnTo>
                  <a:pt x="0" y="616"/>
                </a:lnTo>
                <a:lnTo>
                  <a:pt x="2395" y="1676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2" name="แผ่นดินทองวัดสามง่าม"/>
          <p:cNvSpPr/>
          <p:nvPr/>
        </p:nvSpPr>
        <p:spPr>
          <a:xfrm>
            <a:off x="8525520" y="3608640"/>
            <a:ext cx="226080" cy="136800"/>
          </a:xfrm>
          <a:custGeom>
            <a:avLst/>
            <a:gdLst/>
            <a:ahLst/>
            <a:rect l="l" t="t" r="r" b="b"/>
            <a:pathLst>
              <a:path w="226428" h="137194">
                <a:moveTo>
                  <a:pt x="89805" y="128688"/>
                </a:moveTo>
                <a:lnTo>
                  <a:pt x="91242" y="104035"/>
                </a:lnTo>
                <a:lnTo>
                  <a:pt x="77951" y="104282"/>
                </a:lnTo>
                <a:lnTo>
                  <a:pt x="95912" y="84067"/>
                </a:lnTo>
                <a:lnTo>
                  <a:pt x="139497" y="80615"/>
                </a:lnTo>
                <a:lnTo>
                  <a:pt x="224033" y="81724"/>
                </a:lnTo>
                <a:lnTo>
                  <a:pt x="226428" y="1109"/>
                </a:lnTo>
                <a:lnTo>
                  <a:pt x="217687" y="0"/>
                </a:lnTo>
                <a:lnTo>
                  <a:pt x="209305" y="1849"/>
                </a:lnTo>
                <a:lnTo>
                  <a:pt x="168713" y="16024"/>
                </a:lnTo>
                <a:lnTo>
                  <a:pt x="156739" y="21695"/>
                </a:lnTo>
                <a:lnTo>
                  <a:pt x="139617" y="40308"/>
                </a:lnTo>
                <a:lnTo>
                  <a:pt x="126206" y="45978"/>
                </a:lnTo>
                <a:lnTo>
                  <a:pt x="99384" y="41294"/>
                </a:lnTo>
                <a:lnTo>
                  <a:pt x="98426" y="55592"/>
                </a:lnTo>
                <a:lnTo>
                  <a:pt x="78430" y="62865"/>
                </a:lnTo>
                <a:lnTo>
                  <a:pt x="58912" y="58304"/>
                </a:lnTo>
                <a:lnTo>
                  <a:pt x="55799" y="72110"/>
                </a:lnTo>
                <a:lnTo>
                  <a:pt x="33647" y="67179"/>
                </a:lnTo>
                <a:lnTo>
                  <a:pt x="3592" y="52511"/>
                </a:lnTo>
                <a:lnTo>
                  <a:pt x="0" y="52881"/>
                </a:lnTo>
                <a:lnTo>
                  <a:pt x="838" y="58181"/>
                </a:lnTo>
                <a:lnTo>
                  <a:pt x="15566" y="72973"/>
                </a:lnTo>
                <a:lnTo>
                  <a:pt x="49093" y="119074"/>
                </a:lnTo>
                <a:lnTo>
                  <a:pt x="47297" y="130044"/>
                </a:lnTo>
                <a:lnTo>
                  <a:pt x="66695" y="137194"/>
                </a:lnTo>
                <a:lnTo>
                  <a:pt x="71964" y="136701"/>
                </a:lnTo>
                <a:lnTo>
                  <a:pt x="73041" y="133496"/>
                </a:lnTo>
                <a:lnTo>
                  <a:pt x="77951" y="129551"/>
                </a:lnTo>
                <a:lnTo>
                  <a:pt x="89805" y="12868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3" name="ยายชุ่มอุทิศ"/>
          <p:cNvSpPr/>
          <p:nvPr/>
        </p:nvSpPr>
        <p:spPr>
          <a:xfrm>
            <a:off x="8501760" y="4074840"/>
            <a:ext cx="29520" cy="67320"/>
          </a:xfrm>
          <a:custGeom>
            <a:avLst/>
            <a:gdLst/>
            <a:ahLst/>
            <a:rect l="l" t="t" r="r" b="b"/>
            <a:pathLst>
              <a:path w="29935" h="67549">
                <a:moveTo>
                  <a:pt x="16285" y="45608"/>
                </a:moveTo>
                <a:lnTo>
                  <a:pt x="13531" y="47580"/>
                </a:lnTo>
                <a:lnTo>
                  <a:pt x="22990" y="67549"/>
                </a:lnTo>
                <a:lnTo>
                  <a:pt x="29935" y="63605"/>
                </a:lnTo>
                <a:lnTo>
                  <a:pt x="29456" y="57934"/>
                </a:lnTo>
                <a:lnTo>
                  <a:pt x="19997" y="47703"/>
                </a:lnTo>
                <a:lnTo>
                  <a:pt x="22272" y="45608"/>
                </a:lnTo>
                <a:lnTo>
                  <a:pt x="20954" y="41294"/>
                </a:lnTo>
                <a:lnTo>
                  <a:pt x="2874" y="0"/>
                </a:lnTo>
                <a:lnTo>
                  <a:pt x="0" y="1233"/>
                </a:lnTo>
                <a:lnTo>
                  <a:pt x="17482" y="44622"/>
                </a:lnTo>
                <a:lnTo>
                  <a:pt x="16285" y="45608"/>
                </a:lnTo>
                <a:close/>
              </a:path>
            </a:pathLst>
          </a:custGeom>
          <a:solidFill>
            <a:srgbClr val="ded5c5"/>
          </a:solidFill>
          <a:ln w="6191">
            <a:solidFill>
              <a:srgbClr val="b5a68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4" name="หมู่2 สื่อสันติ"/>
          <p:cNvSpPr/>
          <p:nvPr/>
        </p:nvSpPr>
        <p:spPr>
          <a:xfrm>
            <a:off x="8683560" y="4033080"/>
            <a:ext cx="16200" cy="70920"/>
          </a:xfrm>
          <a:custGeom>
            <a:avLst/>
            <a:gdLst/>
            <a:ahLst/>
            <a:rect l="l" t="t" r="r" b="b"/>
            <a:pathLst>
              <a:path w="16644" h="71247">
                <a:moveTo>
                  <a:pt x="718" y="740"/>
                </a:moveTo>
                <a:lnTo>
                  <a:pt x="1078" y="7273"/>
                </a:lnTo>
                <a:lnTo>
                  <a:pt x="0" y="7766"/>
                </a:lnTo>
                <a:lnTo>
                  <a:pt x="4790" y="53004"/>
                </a:lnTo>
                <a:lnTo>
                  <a:pt x="10058" y="61016"/>
                </a:lnTo>
                <a:lnTo>
                  <a:pt x="6586" y="61756"/>
                </a:lnTo>
                <a:lnTo>
                  <a:pt x="4071" y="71247"/>
                </a:lnTo>
                <a:lnTo>
                  <a:pt x="16644" y="71124"/>
                </a:lnTo>
                <a:lnTo>
                  <a:pt x="11735" y="13682"/>
                </a:lnTo>
                <a:lnTo>
                  <a:pt x="9220" y="0"/>
                </a:lnTo>
                <a:lnTo>
                  <a:pt x="718" y="740"/>
                </a:lnTo>
                <a:close/>
              </a:path>
            </a:pathLst>
          </a:custGeom>
          <a:solidFill>
            <a:srgbClr val="ded5c5"/>
          </a:solidFill>
          <a:ln w="6191">
            <a:solidFill>
              <a:srgbClr val="b5a68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5" name="แผ่นดินทองดารุ้ลนาอีม (แบนชะโด)"/>
          <p:cNvSpPr/>
          <p:nvPr/>
        </p:nvSpPr>
        <p:spPr>
          <a:xfrm>
            <a:off x="8348760" y="3592800"/>
            <a:ext cx="126000" cy="287280"/>
          </a:xfrm>
          <a:custGeom>
            <a:avLst/>
            <a:gdLst/>
            <a:ahLst/>
            <a:rect l="l" t="t" r="r" b="b"/>
            <a:pathLst>
              <a:path w="126326" h="287577">
                <a:moveTo>
                  <a:pt x="97109" y="110199"/>
                </a:moveTo>
                <a:lnTo>
                  <a:pt x="113034" y="92202"/>
                </a:lnTo>
                <a:lnTo>
                  <a:pt x="114591" y="92079"/>
                </a:lnTo>
                <a:lnTo>
                  <a:pt x="120219" y="84190"/>
                </a:lnTo>
                <a:lnTo>
                  <a:pt x="126326" y="38828"/>
                </a:lnTo>
                <a:lnTo>
                  <a:pt x="109083" y="17134"/>
                </a:lnTo>
                <a:lnTo>
                  <a:pt x="104054" y="8135"/>
                </a:lnTo>
                <a:lnTo>
                  <a:pt x="65498" y="0"/>
                </a:lnTo>
                <a:lnTo>
                  <a:pt x="66695" y="22434"/>
                </a:lnTo>
                <a:lnTo>
                  <a:pt x="101180" y="47087"/>
                </a:lnTo>
                <a:lnTo>
                  <a:pt x="104293" y="76424"/>
                </a:lnTo>
                <a:lnTo>
                  <a:pt x="73760" y="112787"/>
                </a:lnTo>
                <a:lnTo>
                  <a:pt x="73161" y="118581"/>
                </a:lnTo>
                <a:lnTo>
                  <a:pt x="59870" y="144220"/>
                </a:lnTo>
                <a:lnTo>
                  <a:pt x="43825" y="167270"/>
                </a:lnTo>
                <a:lnTo>
                  <a:pt x="36401" y="174420"/>
                </a:lnTo>
                <a:lnTo>
                  <a:pt x="21314" y="180953"/>
                </a:lnTo>
                <a:lnTo>
                  <a:pt x="17243" y="185760"/>
                </a:lnTo>
                <a:lnTo>
                  <a:pt x="0" y="193156"/>
                </a:lnTo>
                <a:lnTo>
                  <a:pt x="9579" y="221260"/>
                </a:lnTo>
                <a:lnTo>
                  <a:pt x="13531" y="221507"/>
                </a:lnTo>
                <a:lnTo>
                  <a:pt x="17961" y="218179"/>
                </a:lnTo>
                <a:lnTo>
                  <a:pt x="16644" y="237161"/>
                </a:lnTo>
                <a:lnTo>
                  <a:pt x="33647" y="287577"/>
                </a:lnTo>
                <a:lnTo>
                  <a:pt x="45860" y="282646"/>
                </a:lnTo>
                <a:lnTo>
                  <a:pt x="38436" y="269210"/>
                </a:lnTo>
                <a:lnTo>
                  <a:pt x="37359" y="239503"/>
                </a:lnTo>
                <a:lnTo>
                  <a:pt x="31851" y="240859"/>
                </a:lnTo>
                <a:lnTo>
                  <a:pt x="18919" y="201045"/>
                </a:lnTo>
                <a:lnTo>
                  <a:pt x="18440" y="193526"/>
                </a:lnTo>
                <a:lnTo>
                  <a:pt x="20835" y="192663"/>
                </a:lnTo>
                <a:lnTo>
                  <a:pt x="22152" y="187116"/>
                </a:lnTo>
                <a:lnTo>
                  <a:pt x="43825" y="177255"/>
                </a:lnTo>
                <a:lnTo>
                  <a:pt x="62863" y="162709"/>
                </a:lnTo>
                <a:lnTo>
                  <a:pt x="62504" y="148287"/>
                </a:lnTo>
                <a:lnTo>
                  <a:pt x="87051" y="121292"/>
                </a:lnTo>
                <a:lnTo>
                  <a:pt x="89206" y="120799"/>
                </a:lnTo>
                <a:lnTo>
                  <a:pt x="88727" y="119443"/>
                </a:lnTo>
                <a:lnTo>
                  <a:pt x="97109" y="11019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6" name="แผ่นดินทองบาหยัน 2"/>
          <p:cNvSpPr/>
          <p:nvPr/>
        </p:nvSpPr>
        <p:spPr>
          <a:xfrm>
            <a:off x="8776800" y="3984120"/>
            <a:ext cx="49680" cy="110880"/>
          </a:xfrm>
          <a:custGeom>
            <a:avLst/>
            <a:gdLst/>
            <a:ahLst/>
            <a:rect l="l" t="t" r="r" b="b"/>
            <a:pathLst>
              <a:path w="50051" h="111061">
                <a:moveTo>
                  <a:pt x="25864" y="81478"/>
                </a:moveTo>
                <a:lnTo>
                  <a:pt x="25864" y="91093"/>
                </a:lnTo>
                <a:lnTo>
                  <a:pt x="13291" y="96023"/>
                </a:lnTo>
                <a:lnTo>
                  <a:pt x="0" y="98612"/>
                </a:lnTo>
                <a:lnTo>
                  <a:pt x="1078" y="111061"/>
                </a:lnTo>
                <a:lnTo>
                  <a:pt x="44184" y="106131"/>
                </a:lnTo>
                <a:lnTo>
                  <a:pt x="47297" y="88751"/>
                </a:lnTo>
                <a:lnTo>
                  <a:pt x="30414" y="91462"/>
                </a:lnTo>
                <a:lnTo>
                  <a:pt x="32330" y="73836"/>
                </a:lnTo>
                <a:lnTo>
                  <a:pt x="34365" y="16024"/>
                </a:lnTo>
                <a:lnTo>
                  <a:pt x="37359" y="13066"/>
                </a:lnTo>
                <a:lnTo>
                  <a:pt x="38676" y="34268"/>
                </a:lnTo>
                <a:lnTo>
                  <a:pt x="36880" y="62742"/>
                </a:lnTo>
                <a:lnTo>
                  <a:pt x="33527" y="71494"/>
                </a:lnTo>
                <a:lnTo>
                  <a:pt x="32450" y="79999"/>
                </a:lnTo>
                <a:lnTo>
                  <a:pt x="32809" y="90353"/>
                </a:lnTo>
                <a:lnTo>
                  <a:pt x="41191" y="88258"/>
                </a:lnTo>
                <a:lnTo>
                  <a:pt x="42867" y="77657"/>
                </a:lnTo>
                <a:lnTo>
                  <a:pt x="42029" y="64221"/>
                </a:lnTo>
                <a:lnTo>
                  <a:pt x="45142" y="49183"/>
                </a:lnTo>
                <a:lnTo>
                  <a:pt x="47656" y="12696"/>
                </a:lnTo>
                <a:lnTo>
                  <a:pt x="50051" y="1233"/>
                </a:lnTo>
                <a:lnTo>
                  <a:pt x="44423" y="0"/>
                </a:lnTo>
                <a:lnTo>
                  <a:pt x="38197" y="11217"/>
                </a:lnTo>
                <a:lnTo>
                  <a:pt x="27540" y="20092"/>
                </a:lnTo>
                <a:lnTo>
                  <a:pt x="25385" y="48936"/>
                </a:lnTo>
                <a:lnTo>
                  <a:pt x="25864" y="8147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7" name="แผ่นดินทองคู้บนพัฒนา"/>
          <p:cNvSpPr/>
          <p:nvPr/>
        </p:nvSpPr>
        <p:spPr>
          <a:xfrm>
            <a:off x="8682840" y="3917520"/>
            <a:ext cx="32040" cy="185760"/>
          </a:xfrm>
          <a:custGeom>
            <a:avLst/>
            <a:gdLst/>
            <a:ahLst/>
            <a:rect l="l" t="t" r="r" b="b"/>
            <a:pathLst>
              <a:path w="32450" h="186253">
                <a:moveTo>
                  <a:pt x="0" y="7642"/>
                </a:moveTo>
                <a:lnTo>
                  <a:pt x="18440" y="186253"/>
                </a:lnTo>
                <a:lnTo>
                  <a:pt x="32450" y="185267"/>
                </a:lnTo>
                <a:lnTo>
                  <a:pt x="17362" y="0"/>
                </a:lnTo>
                <a:lnTo>
                  <a:pt x="6346" y="1233"/>
                </a:lnTo>
                <a:lnTo>
                  <a:pt x="0" y="764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8" name="หมู่บ้านกิตติชัยวิลล่า 3"/>
          <p:cNvSpPr/>
          <p:nvPr/>
        </p:nvSpPr>
        <p:spPr>
          <a:xfrm>
            <a:off x="8619480" y="3703320"/>
            <a:ext cx="61200" cy="14760"/>
          </a:xfrm>
          <a:custGeom>
            <a:avLst/>
            <a:gdLst/>
            <a:ahLst/>
            <a:rect l="l" t="t" r="r" b="b"/>
            <a:pathLst>
              <a:path w="61546" h="15162">
                <a:moveTo>
                  <a:pt x="120" y="3451"/>
                </a:moveTo>
                <a:lnTo>
                  <a:pt x="0" y="15162"/>
                </a:lnTo>
                <a:lnTo>
                  <a:pt x="61546" y="14052"/>
                </a:lnTo>
                <a:lnTo>
                  <a:pt x="59511" y="0"/>
                </a:lnTo>
                <a:lnTo>
                  <a:pt x="120" y="3451"/>
                </a:lnTo>
                <a:close/>
              </a:path>
            </a:pathLst>
          </a:custGeom>
          <a:solidFill>
            <a:srgbClr val="ded5c5"/>
          </a:solidFill>
          <a:ln w="6191">
            <a:solidFill>
              <a:srgbClr val="b5a68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9" name="แผ่นดินทองดารุ้ลนาซีฮะห์"/>
          <p:cNvSpPr/>
          <p:nvPr/>
        </p:nvSpPr>
        <p:spPr>
          <a:xfrm>
            <a:off x="9061920" y="4699440"/>
            <a:ext cx="286920" cy="93240"/>
          </a:xfrm>
          <a:custGeom>
            <a:avLst/>
            <a:gdLst/>
            <a:ahLst/>
            <a:rect l="l" t="t" r="r" b="b"/>
            <a:pathLst>
              <a:path w="287256" h="93558">
                <a:moveTo>
                  <a:pt x="12094" y="34144"/>
                </a:moveTo>
                <a:lnTo>
                  <a:pt x="79268" y="47334"/>
                </a:lnTo>
                <a:lnTo>
                  <a:pt x="71245" y="93558"/>
                </a:lnTo>
                <a:lnTo>
                  <a:pt x="154824" y="90353"/>
                </a:lnTo>
                <a:lnTo>
                  <a:pt x="165361" y="63235"/>
                </a:lnTo>
                <a:lnTo>
                  <a:pt x="168713" y="62988"/>
                </a:lnTo>
                <a:lnTo>
                  <a:pt x="174940" y="67796"/>
                </a:lnTo>
                <a:lnTo>
                  <a:pt x="188830" y="70507"/>
                </a:lnTo>
                <a:lnTo>
                  <a:pt x="205474" y="86532"/>
                </a:lnTo>
                <a:lnTo>
                  <a:pt x="219842" y="77657"/>
                </a:lnTo>
                <a:lnTo>
                  <a:pt x="280670" y="90230"/>
                </a:lnTo>
                <a:lnTo>
                  <a:pt x="287256" y="61879"/>
                </a:lnTo>
                <a:lnTo>
                  <a:pt x="256722" y="55592"/>
                </a:lnTo>
                <a:lnTo>
                  <a:pt x="222357" y="56209"/>
                </a:lnTo>
                <a:lnTo>
                  <a:pt x="226907" y="21695"/>
                </a:lnTo>
                <a:lnTo>
                  <a:pt x="11974" y="0"/>
                </a:lnTo>
                <a:lnTo>
                  <a:pt x="0" y="28597"/>
                </a:lnTo>
                <a:lnTo>
                  <a:pt x="12094" y="3414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0" name="สื่อสารสะพานแดง"/>
          <p:cNvSpPr/>
          <p:nvPr/>
        </p:nvSpPr>
        <p:spPr>
          <a:xfrm>
            <a:off x="5200200" y="4831560"/>
            <a:ext cx="48600" cy="63000"/>
          </a:xfrm>
          <a:custGeom>
            <a:avLst/>
            <a:gdLst/>
            <a:ahLst/>
            <a:rect l="l" t="t" r="r" b="b"/>
            <a:pathLst>
              <a:path w="49093" h="63235">
                <a:moveTo>
                  <a:pt x="26822" y="0"/>
                </a:moveTo>
                <a:lnTo>
                  <a:pt x="0" y="56085"/>
                </a:lnTo>
                <a:lnTo>
                  <a:pt x="15806" y="63235"/>
                </a:lnTo>
                <a:lnTo>
                  <a:pt x="23828" y="61386"/>
                </a:lnTo>
                <a:lnTo>
                  <a:pt x="49093" y="11710"/>
                </a:lnTo>
                <a:lnTo>
                  <a:pt x="26822" y="0"/>
                </a:lnTo>
                <a:close/>
              </a:path>
            </a:pathLst>
          </a:custGeom>
          <a:solidFill>
            <a:srgbClr val="ded5c5"/>
          </a:solidFill>
          <a:ln w="6191">
            <a:solidFill>
              <a:srgbClr val="b5a68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1" name="ม.พัน 4 รอ."/>
          <p:cNvSpPr/>
          <p:nvPr/>
        </p:nvSpPr>
        <p:spPr>
          <a:xfrm>
            <a:off x="5143320" y="4848480"/>
            <a:ext cx="17280" cy="19080"/>
          </a:xfrm>
          <a:custGeom>
            <a:avLst/>
            <a:gdLst/>
            <a:ahLst/>
            <a:rect l="l" t="t" r="r" b="b"/>
            <a:pathLst>
              <a:path w="17721" h="19476">
                <a:moveTo>
                  <a:pt x="13531" y="0"/>
                </a:moveTo>
                <a:lnTo>
                  <a:pt x="0" y="16517"/>
                </a:lnTo>
                <a:lnTo>
                  <a:pt x="4430" y="19476"/>
                </a:lnTo>
                <a:lnTo>
                  <a:pt x="17721" y="3205"/>
                </a:lnTo>
                <a:lnTo>
                  <a:pt x="13531" y="0"/>
                </a:lnTo>
                <a:close/>
              </a:path>
            </a:pathLst>
          </a:custGeom>
          <a:solidFill>
            <a:srgbClr val="ded5c5"/>
          </a:solidFill>
          <a:ln w="6191">
            <a:solidFill>
              <a:srgbClr val="b5a68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2" name="แฟลตสิริสาสน์ เคหะศรีย่าน"/>
          <p:cNvSpPr/>
          <p:nvPr/>
        </p:nvSpPr>
        <p:spPr>
          <a:xfrm>
            <a:off x="5065560" y="4947480"/>
            <a:ext cx="9000" cy="8280"/>
          </a:xfrm>
          <a:custGeom>
            <a:avLst/>
            <a:gdLst/>
            <a:ahLst/>
            <a:rect l="l" t="t" r="r" b="b"/>
            <a:pathLst>
              <a:path w="9340" h="8629">
                <a:moveTo>
                  <a:pt x="2874" y="0"/>
                </a:moveTo>
                <a:lnTo>
                  <a:pt x="0" y="4931"/>
                </a:lnTo>
                <a:lnTo>
                  <a:pt x="6586" y="8629"/>
                </a:lnTo>
                <a:lnTo>
                  <a:pt x="9340" y="3451"/>
                </a:lnTo>
                <a:lnTo>
                  <a:pt x="2874" y="0"/>
                </a:lnTo>
                <a:close/>
              </a:path>
            </a:pathLst>
          </a:custGeom>
          <a:solidFill>
            <a:srgbClr val="ded5c5"/>
          </a:solidFill>
          <a:ln w="6191">
            <a:solidFill>
              <a:srgbClr val="b5a68d"/>
            </a:solidFill>
            <a:round/>
          </a:ln>
        </p:spPr>
        <p:style>
          <a:lnRef idx="0"/>
          <a:fillRef idx="0"/>
          <a:effectRef idx="0"/>
          <a:fontRef idx="minor"/>
        </p:style>
        <p:txBody>
          <a:bodyPr lIns="90000" rIns="90000" tIns="-36720" bIns="-36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3" name="แผ่นดินทองอัลฮาดีย์ หมู่ที่6"/>
          <p:cNvSpPr/>
          <p:nvPr/>
        </p:nvSpPr>
        <p:spPr>
          <a:xfrm>
            <a:off x="9513360" y="4131000"/>
            <a:ext cx="111960" cy="89280"/>
          </a:xfrm>
          <a:custGeom>
            <a:avLst/>
            <a:gdLst/>
            <a:ahLst/>
            <a:rect l="l" t="t" r="r" b="b"/>
            <a:pathLst>
              <a:path w="112436" h="89490">
                <a:moveTo>
                  <a:pt x="68371" y="10847"/>
                </a:moveTo>
                <a:lnTo>
                  <a:pt x="6825" y="0"/>
                </a:lnTo>
                <a:lnTo>
                  <a:pt x="0" y="22311"/>
                </a:lnTo>
                <a:lnTo>
                  <a:pt x="36760" y="31186"/>
                </a:lnTo>
                <a:lnTo>
                  <a:pt x="34725" y="68165"/>
                </a:lnTo>
                <a:lnTo>
                  <a:pt x="40472" y="68782"/>
                </a:lnTo>
                <a:lnTo>
                  <a:pt x="48016" y="36486"/>
                </a:lnTo>
                <a:lnTo>
                  <a:pt x="59870" y="38459"/>
                </a:lnTo>
                <a:lnTo>
                  <a:pt x="88368" y="85422"/>
                </a:lnTo>
                <a:lnTo>
                  <a:pt x="94475" y="89490"/>
                </a:lnTo>
                <a:lnTo>
                  <a:pt x="112436" y="40184"/>
                </a:lnTo>
                <a:lnTo>
                  <a:pt x="85494" y="18613"/>
                </a:lnTo>
                <a:lnTo>
                  <a:pt x="68371" y="10847"/>
                </a:lnTo>
                <a:close/>
              </a:path>
            </a:pathLst>
          </a:custGeom>
          <a:solidFill>
            <a:srgbClr val="ded5c5"/>
          </a:solidFill>
          <a:ln w="6191">
            <a:solidFill>
              <a:srgbClr val="b5a68d"/>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4" name="แผ่นดินทองอินดารุ้ลมีนา"/>
          <p:cNvSpPr/>
          <p:nvPr/>
        </p:nvSpPr>
        <p:spPr>
          <a:xfrm>
            <a:off x="9287640" y="4079520"/>
            <a:ext cx="51480" cy="192960"/>
          </a:xfrm>
          <a:custGeom>
            <a:avLst/>
            <a:gdLst/>
            <a:ahLst/>
            <a:rect l="l" t="t" r="r" b="b"/>
            <a:pathLst>
              <a:path w="51728" h="193156">
                <a:moveTo>
                  <a:pt x="51728" y="3944"/>
                </a:moveTo>
                <a:lnTo>
                  <a:pt x="37479" y="0"/>
                </a:lnTo>
                <a:lnTo>
                  <a:pt x="34605" y="11464"/>
                </a:lnTo>
                <a:lnTo>
                  <a:pt x="34485" y="24899"/>
                </a:lnTo>
                <a:lnTo>
                  <a:pt x="30414" y="46841"/>
                </a:lnTo>
                <a:lnTo>
                  <a:pt x="25624" y="51278"/>
                </a:lnTo>
                <a:lnTo>
                  <a:pt x="16404" y="95160"/>
                </a:lnTo>
                <a:lnTo>
                  <a:pt x="838" y="129798"/>
                </a:lnTo>
                <a:lnTo>
                  <a:pt x="0" y="136084"/>
                </a:lnTo>
                <a:lnTo>
                  <a:pt x="599" y="143110"/>
                </a:lnTo>
                <a:lnTo>
                  <a:pt x="6586" y="158518"/>
                </a:lnTo>
                <a:lnTo>
                  <a:pt x="10058" y="163572"/>
                </a:lnTo>
                <a:lnTo>
                  <a:pt x="21194" y="169982"/>
                </a:lnTo>
                <a:lnTo>
                  <a:pt x="28498" y="176392"/>
                </a:lnTo>
                <a:lnTo>
                  <a:pt x="30653" y="181076"/>
                </a:lnTo>
                <a:lnTo>
                  <a:pt x="42867" y="193156"/>
                </a:lnTo>
                <a:lnTo>
                  <a:pt x="33767" y="47703"/>
                </a:lnTo>
                <a:lnTo>
                  <a:pt x="37838" y="24899"/>
                </a:lnTo>
                <a:lnTo>
                  <a:pt x="47656" y="26872"/>
                </a:lnTo>
                <a:lnTo>
                  <a:pt x="51728" y="394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5" name="แผ่นดินทองหมู่ 5 กระทุ่มราย"/>
          <p:cNvSpPr/>
          <p:nvPr/>
        </p:nvSpPr>
        <p:spPr>
          <a:xfrm>
            <a:off x="9410040" y="4110480"/>
            <a:ext cx="108720" cy="167760"/>
          </a:xfrm>
          <a:custGeom>
            <a:avLst/>
            <a:gdLst/>
            <a:ahLst/>
            <a:rect l="l" t="t" r="r" b="b"/>
            <a:pathLst>
              <a:path w="109083" h="168133">
                <a:moveTo>
                  <a:pt x="109083" y="20462"/>
                </a:moveTo>
                <a:lnTo>
                  <a:pt x="69569" y="12203"/>
                </a:lnTo>
                <a:lnTo>
                  <a:pt x="29336" y="0"/>
                </a:lnTo>
                <a:lnTo>
                  <a:pt x="0" y="167517"/>
                </a:lnTo>
                <a:lnTo>
                  <a:pt x="2993" y="168133"/>
                </a:lnTo>
                <a:lnTo>
                  <a:pt x="29217" y="24160"/>
                </a:lnTo>
                <a:lnTo>
                  <a:pt x="102617" y="42773"/>
                </a:lnTo>
                <a:lnTo>
                  <a:pt x="109083" y="2046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6" name="แผ่นดินทองดารุ้ลฆอนี หมู่ที่ 10"/>
          <p:cNvSpPr/>
          <p:nvPr/>
        </p:nvSpPr>
        <p:spPr>
          <a:xfrm>
            <a:off x="9765000" y="4301280"/>
            <a:ext cx="175320" cy="167400"/>
          </a:xfrm>
          <a:custGeom>
            <a:avLst/>
            <a:gdLst/>
            <a:ahLst/>
            <a:rect l="l" t="t" r="r" b="b"/>
            <a:pathLst>
              <a:path w="175778" h="167763">
                <a:moveTo>
                  <a:pt x="22870" y="0"/>
                </a:moveTo>
                <a:lnTo>
                  <a:pt x="20236" y="7889"/>
                </a:lnTo>
                <a:lnTo>
                  <a:pt x="26822" y="13313"/>
                </a:lnTo>
                <a:lnTo>
                  <a:pt x="11615" y="20955"/>
                </a:lnTo>
                <a:lnTo>
                  <a:pt x="28738" y="34637"/>
                </a:lnTo>
                <a:lnTo>
                  <a:pt x="22870" y="42403"/>
                </a:lnTo>
                <a:lnTo>
                  <a:pt x="29815" y="51278"/>
                </a:lnTo>
                <a:lnTo>
                  <a:pt x="21074" y="65454"/>
                </a:lnTo>
                <a:lnTo>
                  <a:pt x="599" y="89737"/>
                </a:lnTo>
                <a:lnTo>
                  <a:pt x="0" y="93065"/>
                </a:lnTo>
                <a:lnTo>
                  <a:pt x="5508" y="111555"/>
                </a:lnTo>
                <a:lnTo>
                  <a:pt x="18081" y="128688"/>
                </a:lnTo>
                <a:lnTo>
                  <a:pt x="43585" y="149643"/>
                </a:lnTo>
                <a:lnTo>
                  <a:pt x="71485" y="166900"/>
                </a:lnTo>
                <a:lnTo>
                  <a:pt x="101420" y="113404"/>
                </a:lnTo>
                <a:lnTo>
                  <a:pt x="110879" y="121046"/>
                </a:lnTo>
                <a:lnTo>
                  <a:pt x="143209" y="167763"/>
                </a:lnTo>
                <a:lnTo>
                  <a:pt x="175778" y="121046"/>
                </a:lnTo>
                <a:lnTo>
                  <a:pt x="22870"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7" name="แผ่นดินทองนูรุ้ลยากีน"/>
          <p:cNvSpPr/>
          <p:nvPr/>
        </p:nvSpPr>
        <p:spPr>
          <a:xfrm>
            <a:off x="9579960" y="4179240"/>
            <a:ext cx="98280" cy="181800"/>
          </a:xfrm>
          <a:custGeom>
            <a:avLst/>
            <a:gdLst/>
            <a:ahLst/>
            <a:rect l="l" t="t" r="r" b="b"/>
            <a:pathLst>
              <a:path w="98546" h="182185">
                <a:moveTo>
                  <a:pt x="98546" y="32172"/>
                </a:moveTo>
                <a:lnTo>
                  <a:pt x="55559" y="0"/>
                </a:lnTo>
                <a:lnTo>
                  <a:pt x="46339" y="20832"/>
                </a:lnTo>
                <a:lnTo>
                  <a:pt x="38436" y="15778"/>
                </a:lnTo>
                <a:lnTo>
                  <a:pt x="30773" y="34514"/>
                </a:lnTo>
                <a:lnTo>
                  <a:pt x="27420" y="53250"/>
                </a:lnTo>
                <a:lnTo>
                  <a:pt x="14489" y="68782"/>
                </a:lnTo>
                <a:lnTo>
                  <a:pt x="6705" y="84067"/>
                </a:lnTo>
                <a:lnTo>
                  <a:pt x="0" y="102186"/>
                </a:lnTo>
                <a:lnTo>
                  <a:pt x="19039" y="151246"/>
                </a:lnTo>
                <a:lnTo>
                  <a:pt x="32330" y="176762"/>
                </a:lnTo>
                <a:lnTo>
                  <a:pt x="39275" y="182185"/>
                </a:lnTo>
                <a:lnTo>
                  <a:pt x="98546" y="3217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8" name="แผ่นดินทองออมสินพัฒนา"/>
          <p:cNvSpPr/>
          <p:nvPr/>
        </p:nvSpPr>
        <p:spPr>
          <a:xfrm>
            <a:off x="9134640" y="4083840"/>
            <a:ext cx="17280" cy="88560"/>
          </a:xfrm>
          <a:custGeom>
            <a:avLst/>
            <a:gdLst/>
            <a:ahLst/>
            <a:rect l="l" t="t" r="r" b="b"/>
            <a:pathLst>
              <a:path w="17721" h="88997">
                <a:moveTo>
                  <a:pt x="8980" y="247"/>
                </a:moveTo>
                <a:lnTo>
                  <a:pt x="9459" y="63235"/>
                </a:lnTo>
                <a:lnTo>
                  <a:pt x="5628" y="69398"/>
                </a:lnTo>
                <a:lnTo>
                  <a:pt x="0" y="88997"/>
                </a:lnTo>
                <a:lnTo>
                  <a:pt x="4670" y="88751"/>
                </a:lnTo>
                <a:lnTo>
                  <a:pt x="16165" y="71987"/>
                </a:lnTo>
                <a:lnTo>
                  <a:pt x="17721" y="0"/>
                </a:lnTo>
                <a:lnTo>
                  <a:pt x="8980" y="247"/>
                </a:lnTo>
                <a:close/>
              </a:path>
            </a:pathLst>
          </a:custGeom>
          <a:solidFill>
            <a:srgbClr val="ded5c5"/>
          </a:solidFill>
          <a:ln w="6191">
            <a:solidFill>
              <a:srgbClr val="b5a68d"/>
            </a:solidFill>
            <a:round/>
          </a:ln>
        </p:spPr>
        <p:style>
          <a:lnRef idx="0"/>
          <a:fillRef idx="0"/>
          <a:effectRef idx="0"/>
          <a:fontRef idx="minor"/>
        </p:style>
        <p:txBody>
          <a:bodyPr lIns="90000" rIns="90000" tIns="43560" bIns="43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9" name="แผ่นดินทองบ้านกระทุ่มราย"/>
          <p:cNvSpPr/>
          <p:nvPr/>
        </p:nvSpPr>
        <p:spPr>
          <a:xfrm>
            <a:off x="9104040" y="4085280"/>
            <a:ext cx="22680" cy="187920"/>
          </a:xfrm>
          <a:custGeom>
            <a:avLst/>
            <a:gdLst/>
            <a:ahLst/>
            <a:rect l="l" t="t" r="r" b="b"/>
            <a:pathLst>
              <a:path w="23110" h="188225">
                <a:moveTo>
                  <a:pt x="13171" y="0"/>
                </a:moveTo>
                <a:lnTo>
                  <a:pt x="0" y="616"/>
                </a:lnTo>
                <a:lnTo>
                  <a:pt x="4670" y="174543"/>
                </a:lnTo>
                <a:lnTo>
                  <a:pt x="23110" y="188225"/>
                </a:lnTo>
                <a:lnTo>
                  <a:pt x="15446" y="69398"/>
                </a:lnTo>
                <a:lnTo>
                  <a:pt x="13171" y="59044"/>
                </a:lnTo>
                <a:lnTo>
                  <a:pt x="13052" y="48196"/>
                </a:lnTo>
                <a:lnTo>
                  <a:pt x="14489" y="46964"/>
                </a:lnTo>
                <a:lnTo>
                  <a:pt x="14249" y="43882"/>
                </a:lnTo>
                <a:lnTo>
                  <a:pt x="12812" y="43636"/>
                </a:lnTo>
                <a:lnTo>
                  <a:pt x="13171"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0" name="หมู่บ้านเลียบวารี"/>
          <p:cNvSpPr/>
          <p:nvPr/>
        </p:nvSpPr>
        <p:spPr>
          <a:xfrm>
            <a:off x="9057240" y="4061880"/>
            <a:ext cx="46440" cy="43560"/>
          </a:xfrm>
          <a:custGeom>
            <a:avLst/>
            <a:gdLst/>
            <a:ahLst/>
            <a:rect l="l" t="t" r="r" b="b"/>
            <a:pathLst>
              <a:path w="46699" h="43882">
                <a:moveTo>
                  <a:pt x="43106" y="42896"/>
                </a:moveTo>
                <a:lnTo>
                  <a:pt x="46699" y="43882"/>
                </a:lnTo>
                <a:lnTo>
                  <a:pt x="42987" y="15408"/>
                </a:lnTo>
                <a:lnTo>
                  <a:pt x="42987" y="10847"/>
                </a:lnTo>
                <a:lnTo>
                  <a:pt x="44902" y="10724"/>
                </a:lnTo>
                <a:lnTo>
                  <a:pt x="43705" y="8382"/>
                </a:lnTo>
                <a:lnTo>
                  <a:pt x="44902" y="0"/>
                </a:lnTo>
                <a:lnTo>
                  <a:pt x="0" y="3451"/>
                </a:lnTo>
                <a:lnTo>
                  <a:pt x="1437" y="22927"/>
                </a:lnTo>
                <a:lnTo>
                  <a:pt x="4550" y="24160"/>
                </a:lnTo>
                <a:lnTo>
                  <a:pt x="17243" y="23174"/>
                </a:lnTo>
                <a:lnTo>
                  <a:pt x="21793" y="33405"/>
                </a:lnTo>
                <a:lnTo>
                  <a:pt x="30055" y="38459"/>
                </a:lnTo>
                <a:lnTo>
                  <a:pt x="43106" y="42896"/>
                </a:lnTo>
                <a:close/>
              </a:path>
            </a:pathLst>
          </a:custGeom>
          <a:solidFill>
            <a:srgbClr val="ded5c5"/>
          </a:solidFill>
          <a:ln w="6191">
            <a:solidFill>
              <a:srgbClr val="b5a68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1" name="แผ่นดินทองเจริญดำริ"/>
          <p:cNvSpPr/>
          <p:nvPr/>
        </p:nvSpPr>
        <p:spPr>
          <a:xfrm>
            <a:off x="9181440" y="4227480"/>
            <a:ext cx="72360" cy="59400"/>
          </a:xfrm>
          <a:custGeom>
            <a:avLst/>
            <a:gdLst/>
            <a:ahLst/>
            <a:rect l="l" t="t" r="r" b="b"/>
            <a:pathLst>
              <a:path w="72562" h="59783">
                <a:moveTo>
                  <a:pt x="18919" y="47087"/>
                </a:moveTo>
                <a:lnTo>
                  <a:pt x="62744" y="11957"/>
                </a:lnTo>
                <a:lnTo>
                  <a:pt x="69210" y="9245"/>
                </a:lnTo>
                <a:lnTo>
                  <a:pt x="72562" y="3698"/>
                </a:lnTo>
                <a:lnTo>
                  <a:pt x="71245" y="0"/>
                </a:lnTo>
                <a:lnTo>
                  <a:pt x="59032" y="6656"/>
                </a:lnTo>
                <a:lnTo>
                  <a:pt x="47656" y="9861"/>
                </a:lnTo>
                <a:lnTo>
                  <a:pt x="41430" y="22188"/>
                </a:lnTo>
                <a:lnTo>
                  <a:pt x="30294" y="30323"/>
                </a:lnTo>
                <a:lnTo>
                  <a:pt x="16285" y="32788"/>
                </a:lnTo>
                <a:lnTo>
                  <a:pt x="15087" y="43512"/>
                </a:lnTo>
                <a:lnTo>
                  <a:pt x="0" y="54606"/>
                </a:lnTo>
                <a:lnTo>
                  <a:pt x="3113" y="59783"/>
                </a:lnTo>
                <a:lnTo>
                  <a:pt x="18919" y="47087"/>
                </a:lnTo>
                <a:close/>
              </a:path>
            </a:pathLst>
          </a:custGeom>
          <a:solidFill>
            <a:srgbClr val="ded5c5"/>
          </a:solidFill>
          <a:ln w="6191">
            <a:solidFill>
              <a:srgbClr val="b5a68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2" name="ซอยศาสนา"/>
          <p:cNvSpPr/>
          <p:nvPr/>
        </p:nvSpPr>
        <p:spPr>
          <a:xfrm>
            <a:off x="9214920" y="4149360"/>
            <a:ext cx="10080" cy="47520"/>
          </a:xfrm>
          <a:custGeom>
            <a:avLst/>
            <a:gdLst/>
            <a:ahLst/>
            <a:rect l="l" t="t" r="r" b="b"/>
            <a:pathLst>
              <a:path w="10537" h="47827">
                <a:moveTo>
                  <a:pt x="7065" y="0"/>
                </a:moveTo>
                <a:lnTo>
                  <a:pt x="3233" y="9861"/>
                </a:lnTo>
                <a:lnTo>
                  <a:pt x="0" y="47827"/>
                </a:lnTo>
                <a:lnTo>
                  <a:pt x="6945" y="42526"/>
                </a:lnTo>
                <a:lnTo>
                  <a:pt x="10537" y="247"/>
                </a:lnTo>
                <a:lnTo>
                  <a:pt x="7065" y="0"/>
                </a:lnTo>
                <a:close/>
              </a:path>
            </a:pathLst>
          </a:custGeom>
          <a:solidFill>
            <a:srgbClr val="ded5c5"/>
          </a:solidFill>
          <a:ln w="6191">
            <a:solidFill>
              <a:srgbClr val="b5a68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3" name="รุ่งเรือง"/>
          <p:cNvSpPr/>
          <p:nvPr/>
        </p:nvSpPr>
        <p:spPr>
          <a:xfrm>
            <a:off x="9628920" y="4212360"/>
            <a:ext cx="158400" cy="128880"/>
          </a:xfrm>
          <a:custGeom>
            <a:avLst/>
            <a:gdLst/>
            <a:ahLst/>
            <a:rect l="l" t="t" r="r" b="b"/>
            <a:pathLst>
              <a:path w="158775" h="129305">
                <a:moveTo>
                  <a:pt x="85375" y="29214"/>
                </a:moveTo>
                <a:lnTo>
                  <a:pt x="77831" y="21818"/>
                </a:lnTo>
                <a:lnTo>
                  <a:pt x="49333" y="0"/>
                </a:lnTo>
                <a:lnTo>
                  <a:pt x="32928" y="46224"/>
                </a:lnTo>
                <a:lnTo>
                  <a:pt x="0" y="127579"/>
                </a:lnTo>
                <a:lnTo>
                  <a:pt x="12932" y="129305"/>
                </a:lnTo>
                <a:lnTo>
                  <a:pt x="77232" y="116732"/>
                </a:lnTo>
                <a:lnTo>
                  <a:pt x="114471" y="107610"/>
                </a:lnTo>
                <a:lnTo>
                  <a:pt x="153507" y="105268"/>
                </a:lnTo>
                <a:lnTo>
                  <a:pt x="158775" y="88997"/>
                </a:lnTo>
                <a:lnTo>
                  <a:pt x="121895" y="57565"/>
                </a:lnTo>
                <a:lnTo>
                  <a:pt x="85375" y="2921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4" name="ชุมชนเกาะกลางพัฒนา"/>
          <p:cNvSpPr/>
          <p:nvPr/>
        </p:nvSpPr>
        <p:spPr>
          <a:xfrm>
            <a:off x="9597960" y="4146120"/>
            <a:ext cx="249840" cy="153000"/>
          </a:xfrm>
          <a:custGeom>
            <a:avLst/>
            <a:gdLst/>
            <a:ahLst/>
            <a:rect l="l" t="t" r="r" b="b"/>
            <a:pathLst>
              <a:path w="250137" h="153218">
                <a:moveTo>
                  <a:pt x="0" y="0"/>
                </a:moveTo>
                <a:lnTo>
                  <a:pt x="14489" y="12943"/>
                </a:lnTo>
                <a:lnTo>
                  <a:pt x="190147" y="153218"/>
                </a:lnTo>
                <a:lnTo>
                  <a:pt x="237923" y="74945"/>
                </a:lnTo>
                <a:lnTo>
                  <a:pt x="250137" y="48813"/>
                </a:lnTo>
                <a:lnTo>
                  <a:pt x="125727" y="23297"/>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5" name="หมู่บ้านจามจุรี"/>
          <p:cNvSpPr/>
          <p:nvPr/>
        </p:nvSpPr>
        <p:spPr>
          <a:xfrm>
            <a:off x="9490680" y="4150440"/>
            <a:ext cx="10440" cy="35640"/>
          </a:xfrm>
          <a:custGeom>
            <a:avLst/>
            <a:gdLst/>
            <a:ahLst/>
            <a:rect l="l" t="t" r="r" b="b"/>
            <a:pathLst>
              <a:path w="10657" h="35870">
                <a:moveTo>
                  <a:pt x="5508" y="493"/>
                </a:moveTo>
                <a:lnTo>
                  <a:pt x="4550" y="0"/>
                </a:lnTo>
                <a:lnTo>
                  <a:pt x="0" y="33158"/>
                </a:lnTo>
                <a:lnTo>
                  <a:pt x="4550" y="35870"/>
                </a:lnTo>
                <a:lnTo>
                  <a:pt x="10657" y="1602"/>
                </a:lnTo>
                <a:lnTo>
                  <a:pt x="5508" y="493"/>
                </a:lnTo>
                <a:close/>
              </a:path>
            </a:pathLst>
          </a:custGeom>
          <a:solidFill>
            <a:srgbClr val="ded5c5"/>
          </a:solidFill>
          <a:ln w="6191">
            <a:solidFill>
              <a:srgbClr val="b5a68d"/>
            </a:solidFill>
            <a:round/>
          </a:ln>
        </p:spPr>
        <p:style>
          <a:lnRef idx="0"/>
          <a:fillRef idx="0"/>
          <a:effectRef idx="0"/>
          <a:fontRef idx="minor"/>
        </p:style>
        <p:txBody>
          <a:bodyPr lIns="90000" rIns="90000" tIns="-9360" bIns="-9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6" name="ป.เจริญมิตรพัฒนา"/>
          <p:cNvSpPr/>
          <p:nvPr/>
        </p:nvSpPr>
        <p:spPr>
          <a:xfrm>
            <a:off x="9892440" y="4421880"/>
            <a:ext cx="200880" cy="144720"/>
          </a:xfrm>
          <a:custGeom>
            <a:avLst/>
            <a:gdLst/>
            <a:ahLst/>
            <a:rect l="l" t="t" r="r" b="b"/>
            <a:pathLst>
              <a:path w="201283" h="145206">
                <a:moveTo>
                  <a:pt x="92439" y="95777"/>
                </a:moveTo>
                <a:lnTo>
                  <a:pt x="167756" y="145206"/>
                </a:lnTo>
                <a:lnTo>
                  <a:pt x="201283" y="123018"/>
                </a:lnTo>
                <a:lnTo>
                  <a:pt x="49692" y="0"/>
                </a:lnTo>
                <a:lnTo>
                  <a:pt x="0" y="71863"/>
                </a:lnTo>
                <a:lnTo>
                  <a:pt x="92439" y="9577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7" name="ลำสลิดทองพัฒนา"/>
          <p:cNvSpPr/>
          <p:nvPr/>
        </p:nvSpPr>
        <p:spPr>
          <a:xfrm>
            <a:off x="9288360" y="4244760"/>
            <a:ext cx="189000" cy="97560"/>
          </a:xfrm>
          <a:custGeom>
            <a:avLst/>
            <a:gdLst/>
            <a:ahLst/>
            <a:rect l="l" t="t" r="r" b="b"/>
            <a:pathLst>
              <a:path w="189428" h="97749">
                <a:moveTo>
                  <a:pt x="189428" y="60523"/>
                </a:moveTo>
                <a:lnTo>
                  <a:pt x="175060" y="52881"/>
                </a:lnTo>
                <a:lnTo>
                  <a:pt x="176257" y="44375"/>
                </a:lnTo>
                <a:lnTo>
                  <a:pt x="173144" y="44252"/>
                </a:lnTo>
                <a:lnTo>
                  <a:pt x="170869" y="52141"/>
                </a:lnTo>
                <a:lnTo>
                  <a:pt x="168354" y="51401"/>
                </a:lnTo>
                <a:lnTo>
                  <a:pt x="169671" y="47087"/>
                </a:lnTo>
                <a:lnTo>
                  <a:pt x="156021" y="40924"/>
                </a:lnTo>
                <a:lnTo>
                  <a:pt x="146801" y="17997"/>
                </a:lnTo>
                <a:lnTo>
                  <a:pt x="135665" y="16024"/>
                </a:lnTo>
                <a:lnTo>
                  <a:pt x="131594" y="38335"/>
                </a:lnTo>
                <a:lnTo>
                  <a:pt x="124170" y="37596"/>
                </a:lnTo>
                <a:lnTo>
                  <a:pt x="124889" y="35500"/>
                </a:lnTo>
                <a:lnTo>
                  <a:pt x="119261" y="33405"/>
                </a:lnTo>
                <a:lnTo>
                  <a:pt x="99983" y="35747"/>
                </a:lnTo>
                <a:lnTo>
                  <a:pt x="97708" y="30570"/>
                </a:lnTo>
                <a:lnTo>
                  <a:pt x="81782" y="23420"/>
                </a:lnTo>
                <a:lnTo>
                  <a:pt x="79507" y="33405"/>
                </a:lnTo>
                <a:lnTo>
                  <a:pt x="69449" y="32912"/>
                </a:lnTo>
                <a:lnTo>
                  <a:pt x="56637" y="23420"/>
                </a:lnTo>
                <a:lnTo>
                  <a:pt x="51967" y="23420"/>
                </a:lnTo>
                <a:lnTo>
                  <a:pt x="41191" y="29337"/>
                </a:lnTo>
                <a:lnTo>
                  <a:pt x="22631" y="8752"/>
                </a:lnTo>
                <a:lnTo>
                  <a:pt x="9340" y="0"/>
                </a:lnTo>
                <a:lnTo>
                  <a:pt x="3353" y="22557"/>
                </a:lnTo>
                <a:lnTo>
                  <a:pt x="0" y="51771"/>
                </a:lnTo>
                <a:lnTo>
                  <a:pt x="42508" y="94421"/>
                </a:lnTo>
                <a:lnTo>
                  <a:pt x="184280" y="97749"/>
                </a:lnTo>
                <a:lnTo>
                  <a:pt x="189428" y="6052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8" name="นันทวันเซ็นต์1"/>
          <p:cNvSpPr/>
          <p:nvPr/>
        </p:nvSpPr>
        <p:spPr>
          <a:xfrm>
            <a:off x="9473040" y="4151880"/>
            <a:ext cx="34920" cy="152280"/>
          </a:xfrm>
          <a:custGeom>
            <a:avLst/>
            <a:gdLst/>
            <a:ahLst/>
            <a:rect l="l" t="t" r="r" b="b"/>
            <a:pathLst>
              <a:path w="35323" h="152602">
                <a:moveTo>
                  <a:pt x="28259" y="0"/>
                </a:moveTo>
                <a:lnTo>
                  <a:pt x="0" y="150999"/>
                </a:lnTo>
                <a:lnTo>
                  <a:pt x="4550" y="152602"/>
                </a:lnTo>
                <a:lnTo>
                  <a:pt x="35323" y="2342"/>
                </a:lnTo>
                <a:lnTo>
                  <a:pt x="28259"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9" name="แผ่นดินทองดารุสซุนนี"/>
          <p:cNvSpPr/>
          <p:nvPr/>
        </p:nvSpPr>
        <p:spPr>
          <a:xfrm>
            <a:off x="9051480" y="4024080"/>
            <a:ext cx="84240" cy="38880"/>
          </a:xfrm>
          <a:custGeom>
            <a:avLst/>
            <a:gdLst/>
            <a:ahLst/>
            <a:rect l="l" t="t" r="r" b="b"/>
            <a:pathLst>
              <a:path w="84776" h="39321">
                <a:moveTo>
                  <a:pt x="1437" y="39321"/>
                </a:moveTo>
                <a:lnTo>
                  <a:pt x="29217" y="36240"/>
                </a:lnTo>
                <a:lnTo>
                  <a:pt x="84776" y="33528"/>
                </a:lnTo>
                <a:lnTo>
                  <a:pt x="84536" y="0"/>
                </a:lnTo>
                <a:lnTo>
                  <a:pt x="79627" y="123"/>
                </a:lnTo>
                <a:lnTo>
                  <a:pt x="79268" y="13929"/>
                </a:lnTo>
                <a:lnTo>
                  <a:pt x="52925" y="16024"/>
                </a:lnTo>
                <a:lnTo>
                  <a:pt x="52925" y="11710"/>
                </a:lnTo>
                <a:lnTo>
                  <a:pt x="48614" y="2712"/>
                </a:lnTo>
                <a:lnTo>
                  <a:pt x="38796" y="2219"/>
                </a:lnTo>
                <a:lnTo>
                  <a:pt x="40472" y="17011"/>
                </a:lnTo>
                <a:lnTo>
                  <a:pt x="0" y="22064"/>
                </a:lnTo>
                <a:lnTo>
                  <a:pt x="1437" y="39321"/>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0" name="แผ่นดินทองอัรเราะห์มาน"/>
          <p:cNvSpPr/>
          <p:nvPr/>
        </p:nvSpPr>
        <p:spPr>
          <a:xfrm>
            <a:off x="9014400" y="3748320"/>
            <a:ext cx="148680" cy="199800"/>
          </a:xfrm>
          <a:custGeom>
            <a:avLst/>
            <a:gdLst/>
            <a:ahLst/>
            <a:rect l="l" t="t" r="r" b="b"/>
            <a:pathLst>
              <a:path w="149076" h="200059">
                <a:moveTo>
                  <a:pt x="138659" y="43389"/>
                </a:moveTo>
                <a:lnTo>
                  <a:pt x="136743" y="29830"/>
                </a:lnTo>
                <a:lnTo>
                  <a:pt x="139257" y="18243"/>
                </a:lnTo>
                <a:lnTo>
                  <a:pt x="138060" y="2589"/>
                </a:lnTo>
                <a:lnTo>
                  <a:pt x="61187" y="0"/>
                </a:lnTo>
                <a:lnTo>
                  <a:pt x="4191" y="9491"/>
                </a:lnTo>
                <a:lnTo>
                  <a:pt x="2754" y="42650"/>
                </a:lnTo>
                <a:lnTo>
                  <a:pt x="1078" y="43019"/>
                </a:lnTo>
                <a:lnTo>
                  <a:pt x="2634" y="45238"/>
                </a:lnTo>
                <a:lnTo>
                  <a:pt x="0" y="105761"/>
                </a:lnTo>
                <a:lnTo>
                  <a:pt x="14010" y="153465"/>
                </a:lnTo>
                <a:lnTo>
                  <a:pt x="34246" y="200059"/>
                </a:lnTo>
                <a:lnTo>
                  <a:pt x="149076" y="143727"/>
                </a:lnTo>
                <a:lnTo>
                  <a:pt x="140814" y="63851"/>
                </a:lnTo>
                <a:lnTo>
                  <a:pt x="145963" y="63358"/>
                </a:lnTo>
                <a:lnTo>
                  <a:pt x="145963" y="60893"/>
                </a:lnTo>
                <a:lnTo>
                  <a:pt x="140575" y="61386"/>
                </a:lnTo>
                <a:lnTo>
                  <a:pt x="138659" y="4338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1" name="แผ่นดินทองอัลฮุดา"/>
          <p:cNvSpPr/>
          <p:nvPr/>
        </p:nvSpPr>
        <p:spPr>
          <a:xfrm>
            <a:off x="9135720" y="3898800"/>
            <a:ext cx="126000" cy="164520"/>
          </a:xfrm>
          <a:custGeom>
            <a:avLst/>
            <a:gdLst/>
            <a:ahLst/>
            <a:rect l="l" t="t" r="r" b="b"/>
            <a:pathLst>
              <a:path w="126445" h="164805">
                <a:moveTo>
                  <a:pt x="70407" y="50785"/>
                </a:moveTo>
                <a:lnTo>
                  <a:pt x="72323" y="127209"/>
                </a:lnTo>
                <a:lnTo>
                  <a:pt x="71365" y="134482"/>
                </a:lnTo>
                <a:lnTo>
                  <a:pt x="63223" y="137810"/>
                </a:lnTo>
                <a:lnTo>
                  <a:pt x="66216" y="119320"/>
                </a:lnTo>
                <a:lnTo>
                  <a:pt x="67414" y="93928"/>
                </a:lnTo>
                <a:lnTo>
                  <a:pt x="65019" y="94667"/>
                </a:lnTo>
                <a:lnTo>
                  <a:pt x="58553" y="139782"/>
                </a:lnTo>
                <a:lnTo>
                  <a:pt x="39634" y="138303"/>
                </a:lnTo>
                <a:lnTo>
                  <a:pt x="33288" y="62002"/>
                </a:lnTo>
                <a:lnTo>
                  <a:pt x="56996" y="56209"/>
                </a:lnTo>
                <a:lnTo>
                  <a:pt x="64420" y="57195"/>
                </a:lnTo>
                <a:lnTo>
                  <a:pt x="59870" y="48073"/>
                </a:lnTo>
                <a:lnTo>
                  <a:pt x="47178" y="30200"/>
                </a:lnTo>
                <a:lnTo>
                  <a:pt x="21912" y="0"/>
                </a:lnTo>
                <a:lnTo>
                  <a:pt x="718" y="8505"/>
                </a:lnTo>
                <a:lnTo>
                  <a:pt x="1078" y="79752"/>
                </a:lnTo>
                <a:lnTo>
                  <a:pt x="0" y="79876"/>
                </a:lnTo>
                <a:lnTo>
                  <a:pt x="0" y="89613"/>
                </a:lnTo>
                <a:lnTo>
                  <a:pt x="1078" y="90476"/>
                </a:lnTo>
                <a:lnTo>
                  <a:pt x="1078" y="99721"/>
                </a:lnTo>
                <a:lnTo>
                  <a:pt x="120" y="99844"/>
                </a:lnTo>
                <a:lnTo>
                  <a:pt x="1437" y="145206"/>
                </a:lnTo>
                <a:lnTo>
                  <a:pt x="120" y="152232"/>
                </a:lnTo>
                <a:lnTo>
                  <a:pt x="1557" y="152478"/>
                </a:lnTo>
                <a:lnTo>
                  <a:pt x="1197" y="159011"/>
                </a:lnTo>
                <a:lnTo>
                  <a:pt x="66216" y="158149"/>
                </a:lnTo>
                <a:lnTo>
                  <a:pt x="90404" y="159505"/>
                </a:lnTo>
                <a:lnTo>
                  <a:pt x="123572" y="164805"/>
                </a:lnTo>
                <a:lnTo>
                  <a:pt x="126445" y="157409"/>
                </a:lnTo>
                <a:lnTo>
                  <a:pt x="111598" y="142617"/>
                </a:lnTo>
                <a:lnTo>
                  <a:pt x="120099" y="127949"/>
                </a:lnTo>
                <a:lnTo>
                  <a:pt x="97468" y="120553"/>
                </a:lnTo>
                <a:lnTo>
                  <a:pt x="91362" y="107733"/>
                </a:lnTo>
                <a:lnTo>
                  <a:pt x="89565" y="99475"/>
                </a:lnTo>
                <a:lnTo>
                  <a:pt x="94834" y="70384"/>
                </a:lnTo>
                <a:lnTo>
                  <a:pt x="93397" y="66193"/>
                </a:lnTo>
                <a:lnTo>
                  <a:pt x="94954" y="61016"/>
                </a:lnTo>
                <a:lnTo>
                  <a:pt x="91601" y="60400"/>
                </a:lnTo>
                <a:lnTo>
                  <a:pt x="89565" y="54360"/>
                </a:lnTo>
                <a:lnTo>
                  <a:pt x="70407" y="5078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2" name="แผ่นดินทองฮาซานุดดีน"/>
          <p:cNvSpPr/>
          <p:nvPr/>
        </p:nvSpPr>
        <p:spPr>
          <a:xfrm>
            <a:off x="9643320" y="4132800"/>
            <a:ext cx="83880" cy="34560"/>
          </a:xfrm>
          <a:custGeom>
            <a:avLst/>
            <a:gdLst/>
            <a:ahLst/>
            <a:rect l="l" t="t" r="r" b="b"/>
            <a:pathLst>
              <a:path w="84177" h="35007">
                <a:moveTo>
                  <a:pt x="84177" y="17257"/>
                </a:moveTo>
                <a:lnTo>
                  <a:pt x="5149" y="0"/>
                </a:lnTo>
                <a:lnTo>
                  <a:pt x="0" y="21695"/>
                </a:lnTo>
                <a:lnTo>
                  <a:pt x="69090" y="31802"/>
                </a:lnTo>
                <a:lnTo>
                  <a:pt x="80705" y="35007"/>
                </a:lnTo>
                <a:lnTo>
                  <a:pt x="84177" y="17257"/>
                </a:lnTo>
                <a:close/>
              </a:path>
            </a:pathLst>
          </a:custGeom>
          <a:solidFill>
            <a:srgbClr val="ded5c5"/>
          </a:solidFill>
          <a:ln w="6191">
            <a:solidFill>
              <a:srgbClr val="b5a68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3" name="มิตรไมตรีสัมพันธ์"/>
          <p:cNvSpPr/>
          <p:nvPr/>
        </p:nvSpPr>
        <p:spPr>
          <a:xfrm>
            <a:off x="8947440" y="3979080"/>
            <a:ext cx="104760" cy="94680"/>
          </a:xfrm>
          <a:custGeom>
            <a:avLst/>
            <a:gdLst/>
            <a:ahLst/>
            <a:rect l="l" t="t" r="r" b="b"/>
            <a:pathLst>
              <a:path w="105251" h="94914">
                <a:moveTo>
                  <a:pt x="0" y="78520"/>
                </a:moveTo>
                <a:lnTo>
                  <a:pt x="2395" y="94914"/>
                </a:lnTo>
                <a:lnTo>
                  <a:pt x="74119" y="88874"/>
                </a:lnTo>
                <a:lnTo>
                  <a:pt x="85973" y="86162"/>
                </a:lnTo>
                <a:lnTo>
                  <a:pt x="105251" y="84436"/>
                </a:lnTo>
                <a:lnTo>
                  <a:pt x="102018" y="56948"/>
                </a:lnTo>
                <a:lnTo>
                  <a:pt x="97947" y="57441"/>
                </a:lnTo>
                <a:lnTo>
                  <a:pt x="95313" y="67672"/>
                </a:lnTo>
                <a:lnTo>
                  <a:pt x="80226" y="68658"/>
                </a:lnTo>
                <a:lnTo>
                  <a:pt x="77831" y="36240"/>
                </a:lnTo>
                <a:lnTo>
                  <a:pt x="72562" y="0"/>
                </a:lnTo>
                <a:lnTo>
                  <a:pt x="67174" y="1109"/>
                </a:lnTo>
                <a:lnTo>
                  <a:pt x="75197" y="68535"/>
                </a:lnTo>
                <a:lnTo>
                  <a:pt x="60828" y="71617"/>
                </a:lnTo>
                <a:lnTo>
                  <a:pt x="58194" y="57318"/>
                </a:lnTo>
                <a:lnTo>
                  <a:pt x="55559" y="57688"/>
                </a:lnTo>
                <a:lnTo>
                  <a:pt x="56996" y="72110"/>
                </a:lnTo>
                <a:lnTo>
                  <a:pt x="34246" y="74205"/>
                </a:lnTo>
                <a:lnTo>
                  <a:pt x="29935" y="58674"/>
                </a:lnTo>
                <a:lnTo>
                  <a:pt x="24068" y="58674"/>
                </a:lnTo>
                <a:lnTo>
                  <a:pt x="25624" y="75438"/>
                </a:lnTo>
                <a:lnTo>
                  <a:pt x="0" y="7852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4" name="เลียบคลองสิบสาม"/>
          <p:cNvSpPr/>
          <p:nvPr/>
        </p:nvSpPr>
        <p:spPr>
          <a:xfrm>
            <a:off x="9302400" y="3908520"/>
            <a:ext cx="117360" cy="133200"/>
          </a:xfrm>
          <a:custGeom>
            <a:avLst/>
            <a:gdLst/>
            <a:ahLst/>
            <a:rect l="l" t="t" r="r" b="b"/>
            <a:pathLst>
              <a:path w="117704" h="133496">
                <a:moveTo>
                  <a:pt x="18679" y="106254"/>
                </a:moveTo>
                <a:lnTo>
                  <a:pt x="18200" y="117718"/>
                </a:lnTo>
                <a:lnTo>
                  <a:pt x="9819" y="120799"/>
                </a:lnTo>
                <a:lnTo>
                  <a:pt x="3592" y="119937"/>
                </a:lnTo>
                <a:lnTo>
                  <a:pt x="0" y="132263"/>
                </a:lnTo>
                <a:lnTo>
                  <a:pt x="6107" y="133496"/>
                </a:lnTo>
                <a:lnTo>
                  <a:pt x="32809" y="110692"/>
                </a:lnTo>
                <a:lnTo>
                  <a:pt x="55679" y="101447"/>
                </a:lnTo>
                <a:lnTo>
                  <a:pt x="117704" y="8259"/>
                </a:lnTo>
                <a:lnTo>
                  <a:pt x="95433" y="0"/>
                </a:lnTo>
                <a:lnTo>
                  <a:pt x="60469" y="5054"/>
                </a:lnTo>
                <a:lnTo>
                  <a:pt x="33168" y="61756"/>
                </a:lnTo>
                <a:lnTo>
                  <a:pt x="26103" y="83573"/>
                </a:lnTo>
                <a:lnTo>
                  <a:pt x="24906" y="83450"/>
                </a:lnTo>
                <a:lnTo>
                  <a:pt x="18679" y="10625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5" name="กิติชัย 2"/>
          <p:cNvSpPr/>
          <p:nvPr/>
        </p:nvSpPr>
        <p:spPr>
          <a:xfrm>
            <a:off x="8915400" y="4008960"/>
            <a:ext cx="11880" cy="48960"/>
          </a:xfrm>
          <a:custGeom>
            <a:avLst/>
            <a:gdLst/>
            <a:ahLst/>
            <a:rect l="l" t="t" r="r" b="b"/>
            <a:pathLst>
              <a:path w="12333" h="49306">
                <a:moveTo>
                  <a:pt x="0" y="247"/>
                </a:moveTo>
                <a:lnTo>
                  <a:pt x="3951" y="49183"/>
                </a:lnTo>
                <a:lnTo>
                  <a:pt x="12333" y="49306"/>
                </a:lnTo>
                <a:lnTo>
                  <a:pt x="5748" y="0"/>
                </a:lnTo>
                <a:lnTo>
                  <a:pt x="0" y="247"/>
                </a:lnTo>
                <a:close/>
              </a:path>
            </a:pathLst>
          </a:custGeom>
          <a:solidFill>
            <a:srgbClr val="ded5c5"/>
          </a:solidFill>
          <a:ln w="6191">
            <a:solidFill>
              <a:srgbClr val="b5a68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6" name="ผดุงพันธ์พัฒนา"/>
          <p:cNvSpPr/>
          <p:nvPr/>
        </p:nvSpPr>
        <p:spPr>
          <a:xfrm>
            <a:off x="9327600" y="3916800"/>
            <a:ext cx="118800" cy="185400"/>
          </a:xfrm>
          <a:custGeom>
            <a:avLst/>
            <a:gdLst/>
            <a:ahLst/>
            <a:rect l="l" t="t" r="r" b="b"/>
            <a:pathLst>
              <a:path w="119141" h="185637">
                <a:moveTo>
                  <a:pt x="102258" y="155683"/>
                </a:moveTo>
                <a:lnTo>
                  <a:pt x="64061" y="142741"/>
                </a:lnTo>
                <a:lnTo>
                  <a:pt x="56278" y="159505"/>
                </a:lnTo>
                <a:lnTo>
                  <a:pt x="27780" y="154204"/>
                </a:lnTo>
                <a:lnTo>
                  <a:pt x="41789" y="103049"/>
                </a:lnTo>
                <a:lnTo>
                  <a:pt x="48854" y="104775"/>
                </a:lnTo>
                <a:lnTo>
                  <a:pt x="55440" y="81231"/>
                </a:lnTo>
                <a:lnTo>
                  <a:pt x="68970" y="78520"/>
                </a:lnTo>
                <a:lnTo>
                  <a:pt x="105611" y="49183"/>
                </a:lnTo>
                <a:lnTo>
                  <a:pt x="109682" y="12943"/>
                </a:lnTo>
                <a:lnTo>
                  <a:pt x="116866" y="13066"/>
                </a:lnTo>
                <a:lnTo>
                  <a:pt x="119141" y="0"/>
                </a:lnTo>
                <a:lnTo>
                  <a:pt x="97947" y="6287"/>
                </a:lnTo>
                <a:lnTo>
                  <a:pt x="81064" y="27611"/>
                </a:lnTo>
                <a:lnTo>
                  <a:pt x="65977" y="57195"/>
                </a:lnTo>
                <a:lnTo>
                  <a:pt x="44184" y="78150"/>
                </a:lnTo>
                <a:lnTo>
                  <a:pt x="34844" y="97872"/>
                </a:lnTo>
                <a:lnTo>
                  <a:pt x="31252" y="101570"/>
                </a:lnTo>
                <a:lnTo>
                  <a:pt x="14129" y="106501"/>
                </a:lnTo>
                <a:lnTo>
                  <a:pt x="0" y="118334"/>
                </a:lnTo>
                <a:lnTo>
                  <a:pt x="2275" y="149890"/>
                </a:lnTo>
                <a:lnTo>
                  <a:pt x="359" y="161230"/>
                </a:lnTo>
                <a:lnTo>
                  <a:pt x="28618" y="167517"/>
                </a:lnTo>
                <a:lnTo>
                  <a:pt x="93637" y="185637"/>
                </a:lnTo>
                <a:lnTo>
                  <a:pt x="102258" y="15568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7" name="แผ่นดินทองนูรุดดีน"/>
          <p:cNvSpPr/>
          <p:nvPr/>
        </p:nvSpPr>
        <p:spPr>
          <a:xfrm>
            <a:off x="9470520" y="3732120"/>
            <a:ext cx="168120" cy="194400"/>
          </a:xfrm>
          <a:custGeom>
            <a:avLst/>
            <a:gdLst/>
            <a:ahLst/>
            <a:rect l="l" t="t" r="r" b="b"/>
            <a:pathLst>
              <a:path w="168594" h="194758">
                <a:moveTo>
                  <a:pt x="26822" y="119937"/>
                </a:moveTo>
                <a:lnTo>
                  <a:pt x="0" y="145576"/>
                </a:lnTo>
                <a:lnTo>
                  <a:pt x="1557" y="188102"/>
                </a:lnTo>
                <a:lnTo>
                  <a:pt x="35682" y="194758"/>
                </a:lnTo>
                <a:lnTo>
                  <a:pt x="77951" y="130044"/>
                </a:lnTo>
                <a:lnTo>
                  <a:pt x="79507" y="130044"/>
                </a:lnTo>
                <a:lnTo>
                  <a:pt x="79507" y="127579"/>
                </a:lnTo>
                <a:lnTo>
                  <a:pt x="113873" y="74822"/>
                </a:lnTo>
                <a:lnTo>
                  <a:pt x="124889" y="45485"/>
                </a:lnTo>
                <a:lnTo>
                  <a:pt x="158536" y="87148"/>
                </a:lnTo>
                <a:lnTo>
                  <a:pt x="161769" y="67796"/>
                </a:lnTo>
                <a:lnTo>
                  <a:pt x="165121" y="67056"/>
                </a:lnTo>
                <a:lnTo>
                  <a:pt x="164403" y="54730"/>
                </a:lnTo>
                <a:lnTo>
                  <a:pt x="163086" y="54360"/>
                </a:lnTo>
                <a:lnTo>
                  <a:pt x="166199" y="23790"/>
                </a:lnTo>
                <a:lnTo>
                  <a:pt x="167516" y="21571"/>
                </a:lnTo>
                <a:lnTo>
                  <a:pt x="166438" y="21078"/>
                </a:lnTo>
                <a:lnTo>
                  <a:pt x="168594" y="1849"/>
                </a:lnTo>
                <a:lnTo>
                  <a:pt x="157338" y="0"/>
                </a:lnTo>
                <a:lnTo>
                  <a:pt x="142850" y="3082"/>
                </a:lnTo>
                <a:lnTo>
                  <a:pt x="112915" y="17134"/>
                </a:lnTo>
                <a:lnTo>
                  <a:pt x="93996" y="28721"/>
                </a:lnTo>
                <a:lnTo>
                  <a:pt x="75316" y="42773"/>
                </a:lnTo>
                <a:lnTo>
                  <a:pt x="49093" y="67549"/>
                </a:lnTo>
                <a:lnTo>
                  <a:pt x="40712" y="93188"/>
                </a:lnTo>
                <a:lnTo>
                  <a:pt x="26822" y="11993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8" name="แผ่นดินทองบ้านเกาะพัฒนา"/>
          <p:cNvSpPr/>
          <p:nvPr/>
        </p:nvSpPr>
        <p:spPr>
          <a:xfrm>
            <a:off x="9422640" y="3803400"/>
            <a:ext cx="85680" cy="103680"/>
          </a:xfrm>
          <a:custGeom>
            <a:avLst/>
            <a:gdLst/>
            <a:ahLst/>
            <a:rect l="l" t="t" r="r" b="b"/>
            <a:pathLst>
              <a:path w="86093" h="104159">
                <a:moveTo>
                  <a:pt x="8741" y="72603"/>
                </a:moveTo>
                <a:lnTo>
                  <a:pt x="0" y="88997"/>
                </a:lnTo>
                <a:lnTo>
                  <a:pt x="1796" y="104159"/>
                </a:lnTo>
                <a:lnTo>
                  <a:pt x="26103" y="99844"/>
                </a:lnTo>
                <a:lnTo>
                  <a:pt x="30534" y="83943"/>
                </a:lnTo>
                <a:lnTo>
                  <a:pt x="72922" y="43882"/>
                </a:lnTo>
                <a:lnTo>
                  <a:pt x="86093" y="9122"/>
                </a:lnTo>
                <a:lnTo>
                  <a:pt x="66216" y="0"/>
                </a:lnTo>
                <a:lnTo>
                  <a:pt x="31013" y="28844"/>
                </a:lnTo>
                <a:lnTo>
                  <a:pt x="8741" y="7260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9" name="หมู่บ้านธันยพฤกษ์"/>
          <p:cNvSpPr/>
          <p:nvPr/>
        </p:nvSpPr>
        <p:spPr>
          <a:xfrm>
            <a:off x="9366120" y="3998880"/>
            <a:ext cx="30600" cy="75240"/>
          </a:xfrm>
          <a:custGeom>
            <a:avLst/>
            <a:gdLst/>
            <a:ahLst/>
            <a:rect l="l" t="t" r="r" b="b"/>
            <a:pathLst>
              <a:path w="31013" h="75685">
                <a:moveTo>
                  <a:pt x="20476" y="0"/>
                </a:moveTo>
                <a:lnTo>
                  <a:pt x="0" y="72726"/>
                </a:lnTo>
                <a:lnTo>
                  <a:pt x="11974" y="75685"/>
                </a:lnTo>
                <a:lnTo>
                  <a:pt x="31013" y="3575"/>
                </a:lnTo>
                <a:lnTo>
                  <a:pt x="20476" y="0"/>
                </a:lnTo>
                <a:close/>
              </a:path>
            </a:pathLst>
          </a:custGeom>
          <a:solidFill>
            <a:srgbClr val="ded5c5"/>
          </a:solidFill>
          <a:ln w="6191">
            <a:solidFill>
              <a:srgbClr val="b5a68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0" name="หมู่ที่ 8 หนองจอกกงลิบฮัวเคียว"/>
          <p:cNvSpPr/>
          <p:nvPr/>
        </p:nvSpPr>
        <p:spPr>
          <a:xfrm>
            <a:off x="9277920" y="4057200"/>
            <a:ext cx="36000" cy="17280"/>
          </a:xfrm>
          <a:custGeom>
            <a:avLst/>
            <a:gdLst/>
            <a:ahLst/>
            <a:rect l="l" t="t" r="r" b="b"/>
            <a:pathLst>
              <a:path w="36521" h="17504">
                <a:moveTo>
                  <a:pt x="0" y="9368"/>
                </a:moveTo>
                <a:lnTo>
                  <a:pt x="35084" y="17504"/>
                </a:lnTo>
                <a:lnTo>
                  <a:pt x="36521" y="9615"/>
                </a:lnTo>
                <a:lnTo>
                  <a:pt x="26702" y="7642"/>
                </a:lnTo>
                <a:lnTo>
                  <a:pt x="27780" y="0"/>
                </a:lnTo>
                <a:lnTo>
                  <a:pt x="1557" y="1972"/>
                </a:lnTo>
                <a:lnTo>
                  <a:pt x="0" y="9368"/>
                </a:lnTo>
                <a:close/>
              </a:path>
            </a:pathLst>
          </a:custGeom>
          <a:solidFill>
            <a:srgbClr val="ded5c5"/>
          </a:solidFill>
          <a:ln w="6191">
            <a:solidFill>
              <a:srgbClr val="b5a68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1" name="หมู่ 4 ร่วมพัฒนา"/>
          <p:cNvSpPr/>
          <p:nvPr/>
        </p:nvSpPr>
        <p:spPr>
          <a:xfrm>
            <a:off x="9657720" y="3732840"/>
            <a:ext cx="119160" cy="269280"/>
          </a:xfrm>
          <a:custGeom>
            <a:avLst/>
            <a:gdLst/>
            <a:ahLst/>
            <a:rect l="l" t="t" r="r" b="b"/>
            <a:pathLst>
              <a:path w="119500" h="269580">
                <a:moveTo>
                  <a:pt x="114591" y="174913"/>
                </a:moveTo>
                <a:lnTo>
                  <a:pt x="114591" y="108473"/>
                </a:lnTo>
                <a:lnTo>
                  <a:pt x="119500" y="4314"/>
                </a:lnTo>
                <a:lnTo>
                  <a:pt x="102018" y="0"/>
                </a:lnTo>
                <a:lnTo>
                  <a:pt x="97708" y="68905"/>
                </a:lnTo>
                <a:lnTo>
                  <a:pt x="2754" y="70261"/>
                </a:lnTo>
                <a:lnTo>
                  <a:pt x="0" y="86162"/>
                </a:lnTo>
                <a:lnTo>
                  <a:pt x="94355" y="92449"/>
                </a:lnTo>
                <a:lnTo>
                  <a:pt x="96031" y="169982"/>
                </a:lnTo>
                <a:lnTo>
                  <a:pt x="94954" y="243941"/>
                </a:lnTo>
                <a:lnTo>
                  <a:pt x="85375" y="266991"/>
                </a:lnTo>
                <a:lnTo>
                  <a:pt x="115669" y="269580"/>
                </a:lnTo>
                <a:lnTo>
                  <a:pt x="114591" y="17491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2" name="บึงฝรั่งพัฒนา"/>
          <p:cNvSpPr/>
          <p:nvPr/>
        </p:nvSpPr>
        <p:spPr>
          <a:xfrm>
            <a:off x="9421200" y="4020120"/>
            <a:ext cx="74160" cy="100440"/>
          </a:xfrm>
          <a:custGeom>
            <a:avLst/>
            <a:gdLst/>
            <a:ahLst/>
            <a:rect l="l" t="t" r="r" b="b"/>
            <a:pathLst>
              <a:path w="74478" h="100954">
                <a:moveTo>
                  <a:pt x="10537" y="85299"/>
                </a:moveTo>
                <a:lnTo>
                  <a:pt x="15207" y="86655"/>
                </a:lnTo>
                <a:lnTo>
                  <a:pt x="15566" y="88134"/>
                </a:lnTo>
                <a:lnTo>
                  <a:pt x="17123" y="87148"/>
                </a:lnTo>
                <a:lnTo>
                  <a:pt x="66456" y="100954"/>
                </a:lnTo>
                <a:lnTo>
                  <a:pt x="71485" y="78889"/>
                </a:lnTo>
                <a:lnTo>
                  <a:pt x="65019" y="43759"/>
                </a:lnTo>
                <a:lnTo>
                  <a:pt x="74478" y="1233"/>
                </a:lnTo>
                <a:lnTo>
                  <a:pt x="69210" y="0"/>
                </a:lnTo>
                <a:lnTo>
                  <a:pt x="54961" y="73096"/>
                </a:lnTo>
                <a:lnTo>
                  <a:pt x="36640" y="69152"/>
                </a:lnTo>
                <a:lnTo>
                  <a:pt x="21673" y="53127"/>
                </a:lnTo>
                <a:lnTo>
                  <a:pt x="20476" y="37966"/>
                </a:lnTo>
                <a:lnTo>
                  <a:pt x="12932" y="37103"/>
                </a:lnTo>
                <a:lnTo>
                  <a:pt x="0" y="81971"/>
                </a:lnTo>
                <a:lnTo>
                  <a:pt x="10537" y="8529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3" name="อัลฮุสนา"/>
          <p:cNvSpPr/>
          <p:nvPr/>
        </p:nvSpPr>
        <p:spPr>
          <a:xfrm>
            <a:off x="8874720" y="4010400"/>
            <a:ext cx="60120" cy="70920"/>
          </a:xfrm>
          <a:custGeom>
            <a:avLst/>
            <a:gdLst/>
            <a:ahLst/>
            <a:rect l="l" t="t" r="r" b="b"/>
            <a:pathLst>
              <a:path w="60588" h="71247">
                <a:moveTo>
                  <a:pt x="14129" y="7149"/>
                </a:moveTo>
                <a:lnTo>
                  <a:pt x="20595" y="51278"/>
                </a:lnTo>
                <a:lnTo>
                  <a:pt x="9938" y="52757"/>
                </a:lnTo>
                <a:lnTo>
                  <a:pt x="7424" y="34021"/>
                </a:lnTo>
                <a:lnTo>
                  <a:pt x="0" y="33651"/>
                </a:lnTo>
                <a:lnTo>
                  <a:pt x="7424" y="71247"/>
                </a:lnTo>
                <a:lnTo>
                  <a:pt x="60588" y="64837"/>
                </a:lnTo>
                <a:lnTo>
                  <a:pt x="58074" y="49306"/>
                </a:lnTo>
                <a:lnTo>
                  <a:pt x="38915" y="49306"/>
                </a:lnTo>
                <a:lnTo>
                  <a:pt x="32809" y="0"/>
                </a:lnTo>
                <a:lnTo>
                  <a:pt x="14129" y="7149"/>
                </a:lnTo>
                <a:close/>
              </a:path>
            </a:pathLst>
          </a:custGeom>
          <a:solidFill>
            <a:srgbClr val="ded5c5"/>
          </a:solidFill>
          <a:ln w="6191">
            <a:solidFill>
              <a:srgbClr val="b5a68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4" name="บ้านบึงเตย"/>
          <p:cNvSpPr/>
          <p:nvPr/>
        </p:nvSpPr>
        <p:spPr>
          <a:xfrm>
            <a:off x="9189360" y="3838680"/>
            <a:ext cx="69840" cy="113760"/>
          </a:xfrm>
          <a:custGeom>
            <a:avLst/>
            <a:gdLst/>
            <a:ahLst/>
            <a:rect l="l" t="t" r="r" b="b"/>
            <a:pathLst>
              <a:path w="70048" h="114020">
                <a:moveTo>
                  <a:pt x="0" y="97626"/>
                </a:moveTo>
                <a:lnTo>
                  <a:pt x="10657" y="110075"/>
                </a:lnTo>
                <a:lnTo>
                  <a:pt x="45142" y="114020"/>
                </a:lnTo>
                <a:lnTo>
                  <a:pt x="60109" y="77780"/>
                </a:lnTo>
                <a:lnTo>
                  <a:pt x="70048" y="14175"/>
                </a:lnTo>
                <a:lnTo>
                  <a:pt x="65617" y="9122"/>
                </a:lnTo>
                <a:lnTo>
                  <a:pt x="42747" y="0"/>
                </a:lnTo>
                <a:lnTo>
                  <a:pt x="32450" y="10354"/>
                </a:lnTo>
                <a:lnTo>
                  <a:pt x="27301" y="19722"/>
                </a:lnTo>
                <a:lnTo>
                  <a:pt x="20715" y="41787"/>
                </a:lnTo>
                <a:lnTo>
                  <a:pt x="18679" y="41787"/>
                </a:lnTo>
                <a:lnTo>
                  <a:pt x="19158" y="45978"/>
                </a:lnTo>
                <a:lnTo>
                  <a:pt x="0" y="9762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5" name="แผ่นดินทองดารุ้ลฮาซ่านัย"/>
          <p:cNvSpPr/>
          <p:nvPr/>
        </p:nvSpPr>
        <p:spPr>
          <a:xfrm>
            <a:off x="8826840" y="3357720"/>
            <a:ext cx="279720" cy="259560"/>
          </a:xfrm>
          <a:custGeom>
            <a:avLst/>
            <a:gdLst/>
            <a:ahLst/>
            <a:rect l="l" t="t" r="r" b="b"/>
            <a:pathLst>
              <a:path w="280191" h="260089">
                <a:moveTo>
                  <a:pt x="21553" y="260089"/>
                </a:moveTo>
                <a:lnTo>
                  <a:pt x="78549" y="254665"/>
                </a:lnTo>
                <a:lnTo>
                  <a:pt x="102018" y="158395"/>
                </a:lnTo>
                <a:lnTo>
                  <a:pt x="130277" y="145576"/>
                </a:lnTo>
                <a:lnTo>
                  <a:pt x="204516" y="127579"/>
                </a:lnTo>
                <a:lnTo>
                  <a:pt x="280191" y="117101"/>
                </a:lnTo>
                <a:lnTo>
                  <a:pt x="279233" y="77040"/>
                </a:lnTo>
                <a:lnTo>
                  <a:pt x="226189" y="50785"/>
                </a:lnTo>
                <a:lnTo>
                  <a:pt x="202480" y="3205"/>
                </a:lnTo>
                <a:lnTo>
                  <a:pt x="129798" y="4191"/>
                </a:lnTo>
                <a:lnTo>
                  <a:pt x="130037" y="1726"/>
                </a:lnTo>
                <a:lnTo>
                  <a:pt x="123212" y="0"/>
                </a:lnTo>
                <a:lnTo>
                  <a:pt x="123332" y="4314"/>
                </a:lnTo>
                <a:lnTo>
                  <a:pt x="76035" y="5054"/>
                </a:lnTo>
                <a:lnTo>
                  <a:pt x="0" y="232847"/>
                </a:lnTo>
                <a:lnTo>
                  <a:pt x="28977" y="234819"/>
                </a:lnTo>
                <a:lnTo>
                  <a:pt x="21553" y="26008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6" name="แผ่นดินทองสะฟีรุสซาลาม"/>
          <p:cNvSpPr/>
          <p:nvPr/>
        </p:nvSpPr>
        <p:spPr>
          <a:xfrm>
            <a:off x="8630280" y="3344040"/>
            <a:ext cx="61560" cy="225720"/>
          </a:xfrm>
          <a:custGeom>
            <a:avLst/>
            <a:gdLst/>
            <a:ahLst/>
            <a:rect l="l" t="t" r="r" b="b"/>
            <a:pathLst>
              <a:path w="61786" h="226191">
                <a:moveTo>
                  <a:pt x="0" y="216206"/>
                </a:moveTo>
                <a:lnTo>
                  <a:pt x="35443" y="226067"/>
                </a:lnTo>
                <a:lnTo>
                  <a:pt x="45022" y="226191"/>
                </a:lnTo>
                <a:lnTo>
                  <a:pt x="61786" y="0"/>
                </a:lnTo>
                <a:lnTo>
                  <a:pt x="30534" y="3451"/>
                </a:lnTo>
                <a:lnTo>
                  <a:pt x="24906" y="82464"/>
                </a:lnTo>
                <a:lnTo>
                  <a:pt x="10777" y="83450"/>
                </a:lnTo>
                <a:lnTo>
                  <a:pt x="2515" y="144220"/>
                </a:lnTo>
                <a:lnTo>
                  <a:pt x="3472" y="186006"/>
                </a:lnTo>
                <a:lnTo>
                  <a:pt x="0" y="21620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7" name="แผ่นดินทองอัลฮิดายะห์"/>
          <p:cNvSpPr/>
          <p:nvPr/>
        </p:nvSpPr>
        <p:spPr>
          <a:xfrm>
            <a:off x="8915400" y="3567960"/>
            <a:ext cx="236880" cy="181440"/>
          </a:xfrm>
          <a:custGeom>
            <a:avLst/>
            <a:gdLst/>
            <a:ahLst/>
            <a:rect l="l" t="t" r="r" b="b"/>
            <a:pathLst>
              <a:path w="237324" h="181939">
                <a:moveTo>
                  <a:pt x="39993" y="122279"/>
                </a:moveTo>
                <a:lnTo>
                  <a:pt x="103575" y="141261"/>
                </a:lnTo>
                <a:lnTo>
                  <a:pt x="154225" y="142494"/>
                </a:lnTo>
                <a:lnTo>
                  <a:pt x="159493" y="180336"/>
                </a:lnTo>
                <a:lnTo>
                  <a:pt x="237324" y="181939"/>
                </a:lnTo>
                <a:lnTo>
                  <a:pt x="228344" y="162586"/>
                </a:lnTo>
                <a:lnTo>
                  <a:pt x="204875" y="157163"/>
                </a:lnTo>
                <a:lnTo>
                  <a:pt x="186794" y="370"/>
                </a:lnTo>
                <a:lnTo>
                  <a:pt x="145604" y="0"/>
                </a:lnTo>
                <a:lnTo>
                  <a:pt x="147520" y="31679"/>
                </a:lnTo>
                <a:lnTo>
                  <a:pt x="144047" y="133865"/>
                </a:lnTo>
                <a:lnTo>
                  <a:pt x="62504" y="116239"/>
                </a:lnTo>
                <a:lnTo>
                  <a:pt x="65737" y="101324"/>
                </a:lnTo>
                <a:lnTo>
                  <a:pt x="56637" y="99968"/>
                </a:lnTo>
                <a:lnTo>
                  <a:pt x="53643" y="109952"/>
                </a:lnTo>
                <a:lnTo>
                  <a:pt x="12453" y="99105"/>
                </a:lnTo>
                <a:lnTo>
                  <a:pt x="26582" y="21695"/>
                </a:lnTo>
                <a:lnTo>
                  <a:pt x="15806" y="21078"/>
                </a:lnTo>
                <a:lnTo>
                  <a:pt x="0" y="107240"/>
                </a:lnTo>
                <a:lnTo>
                  <a:pt x="39993" y="12227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8" name="หมู่บ้านพัฒนาหมู่ 12-13"/>
          <p:cNvSpPr/>
          <p:nvPr/>
        </p:nvSpPr>
        <p:spPr>
          <a:xfrm>
            <a:off x="8933040" y="3085200"/>
            <a:ext cx="69480" cy="276120"/>
          </a:xfrm>
          <a:custGeom>
            <a:avLst/>
            <a:gdLst/>
            <a:ahLst/>
            <a:rect l="l" t="t" r="r" b="b"/>
            <a:pathLst>
              <a:path w="69928" h="276606">
                <a:moveTo>
                  <a:pt x="61427" y="250227"/>
                </a:moveTo>
                <a:lnTo>
                  <a:pt x="66456" y="231738"/>
                </a:lnTo>
                <a:lnTo>
                  <a:pt x="64420" y="125483"/>
                </a:lnTo>
                <a:lnTo>
                  <a:pt x="65857" y="95160"/>
                </a:lnTo>
                <a:lnTo>
                  <a:pt x="69928" y="68042"/>
                </a:lnTo>
                <a:lnTo>
                  <a:pt x="66815" y="52141"/>
                </a:lnTo>
                <a:lnTo>
                  <a:pt x="68012" y="0"/>
                </a:lnTo>
                <a:lnTo>
                  <a:pt x="29097" y="4191"/>
                </a:lnTo>
                <a:lnTo>
                  <a:pt x="21314" y="77410"/>
                </a:lnTo>
                <a:lnTo>
                  <a:pt x="26343" y="131154"/>
                </a:lnTo>
                <a:lnTo>
                  <a:pt x="11615" y="131154"/>
                </a:lnTo>
                <a:lnTo>
                  <a:pt x="11495" y="142987"/>
                </a:lnTo>
                <a:lnTo>
                  <a:pt x="22272" y="142124"/>
                </a:lnTo>
                <a:lnTo>
                  <a:pt x="21074" y="171461"/>
                </a:lnTo>
                <a:lnTo>
                  <a:pt x="14369" y="178980"/>
                </a:lnTo>
                <a:lnTo>
                  <a:pt x="10537" y="201784"/>
                </a:lnTo>
                <a:lnTo>
                  <a:pt x="6945" y="203510"/>
                </a:lnTo>
                <a:lnTo>
                  <a:pt x="6945" y="209303"/>
                </a:lnTo>
                <a:lnTo>
                  <a:pt x="21912" y="209550"/>
                </a:lnTo>
                <a:lnTo>
                  <a:pt x="22870" y="238887"/>
                </a:lnTo>
                <a:lnTo>
                  <a:pt x="12333" y="239873"/>
                </a:lnTo>
                <a:lnTo>
                  <a:pt x="12094" y="259226"/>
                </a:lnTo>
                <a:lnTo>
                  <a:pt x="0" y="259965"/>
                </a:lnTo>
                <a:lnTo>
                  <a:pt x="359" y="269703"/>
                </a:lnTo>
                <a:lnTo>
                  <a:pt x="26702" y="267731"/>
                </a:lnTo>
                <a:lnTo>
                  <a:pt x="26582" y="276606"/>
                </a:lnTo>
                <a:lnTo>
                  <a:pt x="55320" y="276236"/>
                </a:lnTo>
                <a:lnTo>
                  <a:pt x="64300" y="256884"/>
                </a:lnTo>
                <a:lnTo>
                  <a:pt x="66575" y="256884"/>
                </a:lnTo>
                <a:lnTo>
                  <a:pt x="66096" y="253186"/>
                </a:lnTo>
                <a:lnTo>
                  <a:pt x="62863" y="253555"/>
                </a:lnTo>
                <a:lnTo>
                  <a:pt x="61427" y="25022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9" name="สหกรณ์ 93 คลองสิบ"/>
          <p:cNvSpPr/>
          <p:nvPr/>
        </p:nvSpPr>
        <p:spPr>
          <a:xfrm>
            <a:off x="8534880" y="3309840"/>
            <a:ext cx="113040" cy="7560"/>
          </a:xfrm>
          <a:custGeom>
            <a:avLst/>
            <a:gdLst/>
            <a:ahLst/>
            <a:rect l="l" t="t" r="r" b="b"/>
            <a:pathLst>
              <a:path w="113274" h="7766">
                <a:moveTo>
                  <a:pt x="239" y="0"/>
                </a:moveTo>
                <a:lnTo>
                  <a:pt x="0" y="7149"/>
                </a:lnTo>
                <a:lnTo>
                  <a:pt x="113034" y="7766"/>
                </a:lnTo>
                <a:lnTo>
                  <a:pt x="113274" y="3575"/>
                </a:lnTo>
                <a:lnTo>
                  <a:pt x="239" y="0"/>
                </a:lnTo>
                <a:close/>
              </a:path>
            </a:pathLst>
          </a:custGeom>
          <a:solidFill>
            <a:srgbClr val="ded5c5"/>
          </a:solidFill>
          <a:ln w="6191">
            <a:solidFill>
              <a:srgbClr val="b5a68d"/>
            </a:solidFill>
            <a:round/>
          </a:ln>
        </p:spPr>
        <p:style>
          <a:lnRef idx="0"/>
          <a:fillRef idx="0"/>
          <a:effectRef idx="0"/>
          <a:fontRef idx="minor"/>
        </p:style>
        <p:txBody>
          <a:bodyPr lIns="90000" rIns="90000" tIns="-37440" bIns="-37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0" name="พัฒนาลำต้นไทร"/>
          <p:cNvSpPr/>
          <p:nvPr/>
        </p:nvSpPr>
        <p:spPr>
          <a:xfrm>
            <a:off x="8498880" y="4555800"/>
            <a:ext cx="42480" cy="105840"/>
          </a:xfrm>
          <a:custGeom>
            <a:avLst/>
            <a:gdLst/>
            <a:ahLst/>
            <a:rect l="l" t="t" r="r" b="b"/>
            <a:pathLst>
              <a:path w="42987" h="106377">
                <a:moveTo>
                  <a:pt x="12573" y="3698"/>
                </a:moveTo>
                <a:lnTo>
                  <a:pt x="9340" y="1356"/>
                </a:lnTo>
                <a:lnTo>
                  <a:pt x="4909" y="740"/>
                </a:lnTo>
                <a:lnTo>
                  <a:pt x="0" y="7149"/>
                </a:lnTo>
                <a:lnTo>
                  <a:pt x="4311" y="13066"/>
                </a:lnTo>
                <a:lnTo>
                  <a:pt x="16165" y="8998"/>
                </a:lnTo>
                <a:lnTo>
                  <a:pt x="19637" y="14175"/>
                </a:lnTo>
                <a:lnTo>
                  <a:pt x="17721" y="25516"/>
                </a:lnTo>
                <a:lnTo>
                  <a:pt x="21074" y="94421"/>
                </a:lnTo>
                <a:lnTo>
                  <a:pt x="28618" y="106377"/>
                </a:lnTo>
                <a:lnTo>
                  <a:pt x="30055" y="105638"/>
                </a:lnTo>
                <a:lnTo>
                  <a:pt x="27061" y="99721"/>
                </a:lnTo>
                <a:lnTo>
                  <a:pt x="38197" y="94174"/>
                </a:lnTo>
                <a:lnTo>
                  <a:pt x="38915" y="90600"/>
                </a:lnTo>
                <a:lnTo>
                  <a:pt x="21553" y="88134"/>
                </a:lnTo>
                <a:lnTo>
                  <a:pt x="22751" y="56702"/>
                </a:lnTo>
                <a:lnTo>
                  <a:pt x="20476" y="35254"/>
                </a:lnTo>
                <a:lnTo>
                  <a:pt x="42987" y="31802"/>
                </a:lnTo>
                <a:lnTo>
                  <a:pt x="38796" y="19722"/>
                </a:lnTo>
                <a:lnTo>
                  <a:pt x="17003" y="0"/>
                </a:lnTo>
                <a:lnTo>
                  <a:pt x="13052" y="0"/>
                </a:lnTo>
                <a:lnTo>
                  <a:pt x="12573" y="369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1" name="ร่วมพัฒนาสินอนันต์"/>
          <p:cNvSpPr/>
          <p:nvPr/>
        </p:nvSpPr>
        <p:spPr>
          <a:xfrm>
            <a:off x="8760600" y="4116960"/>
            <a:ext cx="27720" cy="199080"/>
          </a:xfrm>
          <a:custGeom>
            <a:avLst/>
            <a:gdLst/>
            <a:ahLst/>
            <a:rect l="l" t="t" r="r" b="b"/>
            <a:pathLst>
              <a:path w="28139" h="199566">
                <a:moveTo>
                  <a:pt x="0" y="123"/>
                </a:moveTo>
                <a:lnTo>
                  <a:pt x="9699" y="118334"/>
                </a:lnTo>
                <a:lnTo>
                  <a:pt x="16764" y="174913"/>
                </a:lnTo>
                <a:lnTo>
                  <a:pt x="17961" y="198456"/>
                </a:lnTo>
                <a:lnTo>
                  <a:pt x="18679" y="199566"/>
                </a:lnTo>
                <a:lnTo>
                  <a:pt x="28139" y="199566"/>
                </a:lnTo>
                <a:lnTo>
                  <a:pt x="8621" y="0"/>
                </a:lnTo>
                <a:lnTo>
                  <a:pt x="0" y="12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2" name="นาตับสร้างสรรค์"/>
          <p:cNvSpPr/>
          <p:nvPr/>
        </p:nvSpPr>
        <p:spPr>
          <a:xfrm>
            <a:off x="8646840" y="4319640"/>
            <a:ext cx="145440" cy="141840"/>
          </a:xfrm>
          <a:custGeom>
            <a:avLst/>
            <a:gdLst/>
            <a:ahLst/>
            <a:rect l="l" t="t" r="r" b="b"/>
            <a:pathLst>
              <a:path w="145723" h="142371">
                <a:moveTo>
                  <a:pt x="145723" y="20708"/>
                </a:moveTo>
                <a:lnTo>
                  <a:pt x="116746" y="23667"/>
                </a:lnTo>
                <a:lnTo>
                  <a:pt x="112675" y="0"/>
                </a:lnTo>
                <a:lnTo>
                  <a:pt x="68252" y="3944"/>
                </a:lnTo>
                <a:lnTo>
                  <a:pt x="33767" y="33158"/>
                </a:lnTo>
                <a:lnTo>
                  <a:pt x="33048" y="114513"/>
                </a:lnTo>
                <a:lnTo>
                  <a:pt x="0" y="115992"/>
                </a:lnTo>
                <a:lnTo>
                  <a:pt x="2874" y="126223"/>
                </a:lnTo>
                <a:lnTo>
                  <a:pt x="34485" y="124990"/>
                </a:lnTo>
                <a:lnTo>
                  <a:pt x="35443" y="142371"/>
                </a:lnTo>
                <a:lnTo>
                  <a:pt x="67054" y="140399"/>
                </a:lnTo>
                <a:lnTo>
                  <a:pt x="74239" y="130537"/>
                </a:lnTo>
                <a:lnTo>
                  <a:pt x="132552" y="124004"/>
                </a:lnTo>
                <a:lnTo>
                  <a:pt x="136623" y="66933"/>
                </a:lnTo>
                <a:lnTo>
                  <a:pt x="145723" y="2070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3" name="ซอยสีคาม"/>
          <p:cNvSpPr/>
          <p:nvPr/>
        </p:nvSpPr>
        <p:spPr>
          <a:xfrm>
            <a:off x="4994640" y="4942440"/>
            <a:ext cx="41760" cy="25200"/>
          </a:xfrm>
          <a:custGeom>
            <a:avLst/>
            <a:gdLst/>
            <a:ahLst/>
            <a:rect l="l" t="t" r="r" b="b"/>
            <a:pathLst>
              <a:path w="42148" h="25639">
                <a:moveTo>
                  <a:pt x="0" y="0"/>
                </a:moveTo>
                <a:lnTo>
                  <a:pt x="13650" y="8505"/>
                </a:lnTo>
                <a:lnTo>
                  <a:pt x="11735" y="12696"/>
                </a:lnTo>
                <a:lnTo>
                  <a:pt x="14967" y="14792"/>
                </a:lnTo>
                <a:lnTo>
                  <a:pt x="16045" y="20708"/>
                </a:lnTo>
                <a:lnTo>
                  <a:pt x="22511" y="25639"/>
                </a:lnTo>
                <a:lnTo>
                  <a:pt x="27301" y="25146"/>
                </a:lnTo>
                <a:lnTo>
                  <a:pt x="31851" y="17380"/>
                </a:lnTo>
                <a:lnTo>
                  <a:pt x="36521" y="20092"/>
                </a:lnTo>
                <a:lnTo>
                  <a:pt x="38556" y="19106"/>
                </a:lnTo>
                <a:lnTo>
                  <a:pt x="42148" y="14175"/>
                </a:lnTo>
                <a:lnTo>
                  <a:pt x="18200" y="2096"/>
                </a:lnTo>
                <a:lnTo>
                  <a:pt x="15806" y="6287"/>
                </a:lnTo>
                <a:lnTo>
                  <a:pt x="14010" y="5547"/>
                </a:lnTo>
                <a:lnTo>
                  <a:pt x="12453" y="7273"/>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4" name="ซอยสีคาม"/>
          <p:cNvSpPr/>
          <p:nvPr/>
        </p:nvSpPr>
        <p:spPr>
          <a:xfrm>
            <a:off x="4991040" y="4942440"/>
            <a:ext cx="5400" cy="3960"/>
          </a:xfrm>
          <a:custGeom>
            <a:avLst/>
            <a:gdLst/>
            <a:ahLst/>
            <a:rect l="l" t="t" r="r" b="b"/>
            <a:pathLst>
              <a:path w="5628" h="4314">
                <a:moveTo>
                  <a:pt x="0" y="2589"/>
                </a:moveTo>
                <a:lnTo>
                  <a:pt x="1796" y="4314"/>
                </a:lnTo>
                <a:lnTo>
                  <a:pt x="2993" y="3328"/>
                </a:lnTo>
                <a:lnTo>
                  <a:pt x="4550" y="4314"/>
                </a:lnTo>
                <a:lnTo>
                  <a:pt x="5628" y="1849"/>
                </a:lnTo>
                <a:lnTo>
                  <a:pt x="3472" y="0"/>
                </a:lnTo>
                <a:lnTo>
                  <a:pt x="0" y="2589"/>
                </a:lnTo>
                <a:close/>
              </a:path>
            </a:pathLst>
          </a:custGeom>
          <a:solidFill>
            <a:srgbClr val="ded5c5"/>
          </a:solidFill>
          <a:ln w="6191">
            <a:solidFill>
              <a:srgbClr val="b5a68d"/>
            </a:solidFill>
            <a:round/>
          </a:ln>
        </p:spPr>
        <p:style>
          <a:lnRef idx="0"/>
          <a:fillRef idx="0"/>
          <a:effectRef idx="0"/>
          <a:fontRef idx="minor"/>
        </p:style>
        <p:txBody>
          <a:bodyPr lIns="90000" rIns="90000" tIns="-41040" bIns="-41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5" name="ซอยสีคาม"/>
          <p:cNvSpPr/>
          <p:nvPr/>
        </p:nvSpPr>
        <p:spPr>
          <a:xfrm>
            <a:off x="4989240" y="4945320"/>
            <a:ext cx="3240" cy="4320"/>
          </a:xfrm>
          <a:custGeom>
            <a:avLst/>
            <a:gdLst/>
            <a:ahLst/>
            <a:rect l="l" t="t" r="r" b="b"/>
            <a:pathLst>
              <a:path w="3712" h="4807">
                <a:moveTo>
                  <a:pt x="1916" y="0"/>
                </a:moveTo>
                <a:lnTo>
                  <a:pt x="0" y="2219"/>
                </a:lnTo>
                <a:lnTo>
                  <a:pt x="3353" y="4807"/>
                </a:lnTo>
                <a:lnTo>
                  <a:pt x="3712" y="1726"/>
                </a:lnTo>
                <a:lnTo>
                  <a:pt x="1916" y="0"/>
                </a:lnTo>
                <a:close/>
              </a:path>
            </a:pathLst>
          </a:custGeom>
          <a:solidFill>
            <a:srgbClr val="ded5c5"/>
          </a:solidFill>
          <a:ln w="6191">
            <a:solidFill>
              <a:srgbClr val="b5a68d"/>
            </a:solidFill>
            <a:round/>
          </a:ln>
        </p:spPr>
        <p:style>
          <a:lnRef idx="0"/>
          <a:fillRef idx="0"/>
          <a:effectRef idx="0"/>
          <a:fontRef idx="minor"/>
        </p:style>
        <p:txBody>
          <a:bodyPr lIns="90000" rIns="90000" tIns="-40680" bIns="-40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6" name="พัฒนาซอยสินทรัพย์"/>
          <p:cNvSpPr/>
          <p:nvPr/>
        </p:nvSpPr>
        <p:spPr>
          <a:xfrm>
            <a:off x="5222520" y="4928760"/>
            <a:ext cx="18720" cy="14760"/>
          </a:xfrm>
          <a:custGeom>
            <a:avLst/>
            <a:gdLst/>
            <a:ahLst/>
            <a:rect l="l" t="t" r="r" b="b"/>
            <a:pathLst>
              <a:path w="18919" h="15285">
                <a:moveTo>
                  <a:pt x="9100" y="2219"/>
                </a:moveTo>
                <a:lnTo>
                  <a:pt x="4191" y="0"/>
                </a:lnTo>
                <a:lnTo>
                  <a:pt x="0" y="7889"/>
                </a:lnTo>
                <a:lnTo>
                  <a:pt x="15925" y="15285"/>
                </a:lnTo>
                <a:lnTo>
                  <a:pt x="18919" y="8629"/>
                </a:lnTo>
                <a:lnTo>
                  <a:pt x="17602" y="7273"/>
                </a:lnTo>
                <a:lnTo>
                  <a:pt x="18560" y="5177"/>
                </a:lnTo>
                <a:lnTo>
                  <a:pt x="16285" y="4314"/>
                </a:lnTo>
                <a:lnTo>
                  <a:pt x="15806" y="5300"/>
                </a:lnTo>
                <a:lnTo>
                  <a:pt x="9100" y="2219"/>
                </a:lnTo>
                <a:close/>
              </a:path>
            </a:pathLst>
          </a:custGeom>
          <a:solidFill>
            <a:srgbClr val="ded5c5"/>
          </a:solidFill>
          <a:ln w="6191">
            <a:solidFill>
              <a:srgbClr val="b5a68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7" name="วัดสวัสดิ์วารีสีมาราม"/>
          <p:cNvSpPr/>
          <p:nvPr/>
        </p:nvSpPr>
        <p:spPr>
          <a:xfrm>
            <a:off x="5093640" y="4987800"/>
            <a:ext cx="27360" cy="23760"/>
          </a:xfrm>
          <a:custGeom>
            <a:avLst/>
            <a:gdLst/>
            <a:ahLst/>
            <a:rect l="l" t="t" r="r" b="b"/>
            <a:pathLst>
              <a:path w="27899" h="24283">
                <a:moveTo>
                  <a:pt x="9220" y="8135"/>
                </a:moveTo>
                <a:lnTo>
                  <a:pt x="8142" y="9984"/>
                </a:lnTo>
                <a:lnTo>
                  <a:pt x="10417" y="11587"/>
                </a:lnTo>
                <a:lnTo>
                  <a:pt x="9459" y="10971"/>
                </a:lnTo>
                <a:lnTo>
                  <a:pt x="4670" y="19229"/>
                </a:lnTo>
                <a:lnTo>
                  <a:pt x="1437" y="18366"/>
                </a:lnTo>
                <a:lnTo>
                  <a:pt x="0" y="20955"/>
                </a:lnTo>
                <a:lnTo>
                  <a:pt x="5628" y="22557"/>
                </a:lnTo>
                <a:lnTo>
                  <a:pt x="11256" y="21448"/>
                </a:lnTo>
                <a:lnTo>
                  <a:pt x="16764" y="24283"/>
                </a:lnTo>
                <a:lnTo>
                  <a:pt x="18200" y="21571"/>
                </a:lnTo>
                <a:lnTo>
                  <a:pt x="20236" y="22681"/>
                </a:lnTo>
                <a:lnTo>
                  <a:pt x="21314" y="20832"/>
                </a:lnTo>
                <a:lnTo>
                  <a:pt x="20236" y="19969"/>
                </a:lnTo>
                <a:lnTo>
                  <a:pt x="24187" y="14545"/>
                </a:lnTo>
                <a:lnTo>
                  <a:pt x="23708" y="12820"/>
                </a:lnTo>
                <a:lnTo>
                  <a:pt x="25624" y="13189"/>
                </a:lnTo>
                <a:lnTo>
                  <a:pt x="27899" y="8629"/>
                </a:lnTo>
                <a:lnTo>
                  <a:pt x="24666" y="8259"/>
                </a:lnTo>
                <a:lnTo>
                  <a:pt x="26582" y="4314"/>
                </a:lnTo>
                <a:lnTo>
                  <a:pt x="19158" y="0"/>
                </a:lnTo>
                <a:lnTo>
                  <a:pt x="13650" y="10478"/>
                </a:lnTo>
                <a:lnTo>
                  <a:pt x="9220" y="8135"/>
                </a:lnTo>
                <a:close/>
              </a:path>
            </a:pathLst>
          </a:custGeom>
          <a:solidFill>
            <a:srgbClr val="ded5c5"/>
          </a:solidFill>
          <a:ln w="6191">
            <a:solidFill>
              <a:srgbClr val="b5a68d"/>
            </a:solidFill>
            <a:round/>
          </a:ln>
        </p:spPr>
        <p:style>
          <a:lnRef idx="0"/>
          <a:fillRef idx="0"/>
          <a:effectRef idx="0"/>
          <a:fontRef idx="minor"/>
        </p:style>
        <p:txBody>
          <a:bodyPr lIns="90000" rIns="90000" tIns="-21240" bIns="-21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8" name="บ้านพักองค์การทอผ้า"/>
          <p:cNvSpPr/>
          <p:nvPr/>
        </p:nvSpPr>
        <p:spPr>
          <a:xfrm>
            <a:off x="5131080" y="4770000"/>
            <a:ext cx="16200" cy="20160"/>
          </a:xfrm>
          <a:custGeom>
            <a:avLst/>
            <a:gdLst/>
            <a:ahLst/>
            <a:rect l="l" t="t" r="r" b="b"/>
            <a:pathLst>
              <a:path w="16524" h="20585">
                <a:moveTo>
                  <a:pt x="0" y="20585"/>
                </a:moveTo>
                <a:lnTo>
                  <a:pt x="4670" y="14422"/>
                </a:lnTo>
                <a:lnTo>
                  <a:pt x="8142" y="5177"/>
                </a:lnTo>
                <a:lnTo>
                  <a:pt x="15446" y="6287"/>
                </a:lnTo>
                <a:lnTo>
                  <a:pt x="16524" y="1602"/>
                </a:lnTo>
                <a:lnTo>
                  <a:pt x="10657" y="0"/>
                </a:lnTo>
                <a:lnTo>
                  <a:pt x="8741" y="1356"/>
                </a:lnTo>
                <a:lnTo>
                  <a:pt x="4550" y="863"/>
                </a:lnTo>
                <a:lnTo>
                  <a:pt x="0" y="20585"/>
                </a:lnTo>
                <a:close/>
              </a:path>
            </a:pathLst>
          </a:custGeom>
          <a:solidFill>
            <a:srgbClr val="ded5c5"/>
          </a:solidFill>
          <a:ln w="6191">
            <a:solidFill>
              <a:srgbClr val="b5a68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9" name="ชุมชนวัดประชาระบือธรรม 1"/>
          <p:cNvSpPr/>
          <p:nvPr/>
        </p:nvSpPr>
        <p:spPr>
          <a:xfrm>
            <a:off x="5179320" y="4885920"/>
            <a:ext cx="42480" cy="19800"/>
          </a:xfrm>
          <a:custGeom>
            <a:avLst/>
            <a:gdLst/>
            <a:ahLst/>
            <a:rect l="l" t="t" r="r" b="b"/>
            <a:pathLst>
              <a:path w="42867" h="20092">
                <a:moveTo>
                  <a:pt x="1676" y="0"/>
                </a:moveTo>
                <a:lnTo>
                  <a:pt x="0" y="9122"/>
                </a:lnTo>
                <a:lnTo>
                  <a:pt x="25145" y="14422"/>
                </a:lnTo>
                <a:lnTo>
                  <a:pt x="41310" y="20092"/>
                </a:lnTo>
                <a:lnTo>
                  <a:pt x="42029" y="18490"/>
                </a:lnTo>
                <a:lnTo>
                  <a:pt x="42867" y="12943"/>
                </a:lnTo>
                <a:lnTo>
                  <a:pt x="22870" y="3328"/>
                </a:lnTo>
                <a:lnTo>
                  <a:pt x="18440" y="3698"/>
                </a:lnTo>
                <a:lnTo>
                  <a:pt x="1676" y="0"/>
                </a:lnTo>
                <a:close/>
              </a:path>
            </a:pathLst>
          </a:custGeom>
          <a:solidFill>
            <a:srgbClr val="ded5c5"/>
          </a:solidFill>
          <a:ln w="6191">
            <a:solidFill>
              <a:srgbClr val="b5a68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0" name="ชุมชนวัดประชาระบือธรรม 2"/>
          <p:cNvSpPr/>
          <p:nvPr/>
        </p:nvSpPr>
        <p:spPr>
          <a:xfrm>
            <a:off x="5147280" y="4866120"/>
            <a:ext cx="36360" cy="18360"/>
          </a:xfrm>
          <a:custGeom>
            <a:avLst/>
            <a:gdLst/>
            <a:ahLst/>
            <a:rect l="l" t="t" r="r" b="b"/>
            <a:pathLst>
              <a:path w="36640" h="18859">
                <a:moveTo>
                  <a:pt x="25026" y="16394"/>
                </a:moveTo>
                <a:lnTo>
                  <a:pt x="33886" y="18859"/>
                </a:lnTo>
                <a:lnTo>
                  <a:pt x="36640" y="3698"/>
                </a:lnTo>
                <a:lnTo>
                  <a:pt x="3472" y="0"/>
                </a:lnTo>
                <a:lnTo>
                  <a:pt x="0" y="6287"/>
                </a:lnTo>
                <a:lnTo>
                  <a:pt x="25026" y="16394"/>
                </a:lnTo>
                <a:close/>
              </a:path>
            </a:pathLst>
          </a:custGeom>
          <a:solidFill>
            <a:srgbClr val="ded5c5"/>
          </a:solidFill>
          <a:ln w="6191">
            <a:solidFill>
              <a:srgbClr val="b5a68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1" name="ซอยวัดม่วงแคมัสยิดฮารูณ"/>
          <p:cNvSpPr/>
          <p:nvPr/>
        </p:nvSpPr>
        <p:spPr>
          <a:xfrm>
            <a:off x="5071680" y="5676120"/>
            <a:ext cx="25200" cy="21600"/>
          </a:xfrm>
          <a:custGeom>
            <a:avLst/>
            <a:gdLst/>
            <a:ahLst/>
            <a:rect l="l" t="t" r="r" b="b"/>
            <a:pathLst>
              <a:path w="25505" h="22064">
                <a:moveTo>
                  <a:pt x="838" y="15285"/>
                </a:moveTo>
                <a:lnTo>
                  <a:pt x="1796" y="22064"/>
                </a:lnTo>
                <a:lnTo>
                  <a:pt x="25505" y="17873"/>
                </a:lnTo>
                <a:lnTo>
                  <a:pt x="24187" y="8012"/>
                </a:lnTo>
                <a:lnTo>
                  <a:pt x="21793" y="8012"/>
                </a:lnTo>
                <a:lnTo>
                  <a:pt x="21314" y="3205"/>
                </a:lnTo>
                <a:lnTo>
                  <a:pt x="24068" y="3082"/>
                </a:lnTo>
                <a:lnTo>
                  <a:pt x="23948" y="0"/>
                </a:lnTo>
                <a:lnTo>
                  <a:pt x="0" y="2712"/>
                </a:lnTo>
                <a:lnTo>
                  <a:pt x="838" y="15285"/>
                </a:lnTo>
                <a:close/>
              </a:path>
            </a:pathLst>
          </a:custGeom>
          <a:solidFill>
            <a:srgbClr val="ded5c5"/>
          </a:solidFill>
          <a:ln w="6191">
            <a:solidFill>
              <a:srgbClr val="b5a68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2" name="ซอยสันติภาพ"/>
          <p:cNvSpPr/>
          <p:nvPr/>
        </p:nvSpPr>
        <p:spPr>
          <a:xfrm>
            <a:off x="5203440" y="5625720"/>
            <a:ext cx="27000" cy="25200"/>
          </a:xfrm>
          <a:custGeom>
            <a:avLst/>
            <a:gdLst/>
            <a:ahLst/>
            <a:rect l="l" t="t" r="r" b="b"/>
            <a:pathLst>
              <a:path w="27420" h="25639">
                <a:moveTo>
                  <a:pt x="9459" y="25639"/>
                </a:moveTo>
                <a:lnTo>
                  <a:pt x="17123" y="22064"/>
                </a:lnTo>
                <a:lnTo>
                  <a:pt x="12812" y="15778"/>
                </a:lnTo>
                <a:lnTo>
                  <a:pt x="17602" y="13189"/>
                </a:lnTo>
                <a:lnTo>
                  <a:pt x="23828" y="20708"/>
                </a:lnTo>
                <a:lnTo>
                  <a:pt x="24786" y="20215"/>
                </a:lnTo>
                <a:lnTo>
                  <a:pt x="20356" y="12450"/>
                </a:lnTo>
                <a:lnTo>
                  <a:pt x="23469" y="10971"/>
                </a:lnTo>
                <a:lnTo>
                  <a:pt x="22511" y="8875"/>
                </a:lnTo>
                <a:lnTo>
                  <a:pt x="27420" y="6040"/>
                </a:lnTo>
                <a:lnTo>
                  <a:pt x="24547" y="0"/>
                </a:lnTo>
                <a:lnTo>
                  <a:pt x="18560" y="2958"/>
                </a:lnTo>
                <a:lnTo>
                  <a:pt x="17243" y="123"/>
                </a:lnTo>
                <a:lnTo>
                  <a:pt x="10657" y="3698"/>
                </a:lnTo>
                <a:lnTo>
                  <a:pt x="13650" y="8012"/>
                </a:lnTo>
                <a:lnTo>
                  <a:pt x="11495" y="9368"/>
                </a:lnTo>
                <a:lnTo>
                  <a:pt x="8980" y="5300"/>
                </a:lnTo>
                <a:lnTo>
                  <a:pt x="4670" y="7642"/>
                </a:lnTo>
                <a:lnTo>
                  <a:pt x="5867" y="9984"/>
                </a:lnTo>
                <a:lnTo>
                  <a:pt x="0" y="12943"/>
                </a:lnTo>
                <a:lnTo>
                  <a:pt x="2155" y="17750"/>
                </a:lnTo>
                <a:lnTo>
                  <a:pt x="5628" y="19229"/>
                </a:lnTo>
                <a:lnTo>
                  <a:pt x="9459" y="25639"/>
                </a:lnTo>
                <a:close/>
              </a:path>
            </a:pathLst>
          </a:custGeom>
          <a:solidFill>
            <a:srgbClr val="ded5c5"/>
          </a:solidFill>
          <a:ln w="6191">
            <a:solidFill>
              <a:srgbClr val="b5a68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3" name="ตลาดสดเพชรพลอย"/>
          <p:cNvSpPr/>
          <p:nvPr/>
        </p:nvSpPr>
        <p:spPr>
          <a:xfrm>
            <a:off x="5129280" y="5626440"/>
            <a:ext cx="38520" cy="24480"/>
          </a:xfrm>
          <a:custGeom>
            <a:avLst/>
            <a:gdLst/>
            <a:ahLst/>
            <a:rect l="l" t="t" r="r" b="b"/>
            <a:pathLst>
              <a:path w="38796" h="24899">
                <a:moveTo>
                  <a:pt x="11854" y="7889"/>
                </a:moveTo>
                <a:lnTo>
                  <a:pt x="15566" y="7273"/>
                </a:lnTo>
                <a:lnTo>
                  <a:pt x="16165" y="11587"/>
                </a:lnTo>
                <a:lnTo>
                  <a:pt x="0" y="14792"/>
                </a:lnTo>
                <a:lnTo>
                  <a:pt x="838" y="19599"/>
                </a:lnTo>
                <a:lnTo>
                  <a:pt x="13770" y="16887"/>
                </a:lnTo>
                <a:lnTo>
                  <a:pt x="13890" y="22681"/>
                </a:lnTo>
                <a:lnTo>
                  <a:pt x="17003" y="22311"/>
                </a:lnTo>
                <a:lnTo>
                  <a:pt x="17243" y="24899"/>
                </a:lnTo>
                <a:lnTo>
                  <a:pt x="20954" y="23790"/>
                </a:lnTo>
                <a:lnTo>
                  <a:pt x="20236" y="21571"/>
                </a:lnTo>
                <a:lnTo>
                  <a:pt x="25145" y="20955"/>
                </a:lnTo>
                <a:lnTo>
                  <a:pt x="23828" y="14545"/>
                </a:lnTo>
                <a:lnTo>
                  <a:pt x="28139" y="13682"/>
                </a:lnTo>
                <a:lnTo>
                  <a:pt x="27301" y="9861"/>
                </a:lnTo>
                <a:lnTo>
                  <a:pt x="29456" y="9368"/>
                </a:lnTo>
                <a:lnTo>
                  <a:pt x="29815" y="11957"/>
                </a:lnTo>
                <a:lnTo>
                  <a:pt x="33886" y="11587"/>
                </a:lnTo>
                <a:lnTo>
                  <a:pt x="37359" y="10601"/>
                </a:lnTo>
                <a:lnTo>
                  <a:pt x="36880" y="8012"/>
                </a:lnTo>
                <a:lnTo>
                  <a:pt x="38796" y="7519"/>
                </a:lnTo>
                <a:lnTo>
                  <a:pt x="37958" y="2835"/>
                </a:lnTo>
                <a:lnTo>
                  <a:pt x="25984" y="5054"/>
                </a:lnTo>
                <a:lnTo>
                  <a:pt x="24786" y="0"/>
                </a:lnTo>
                <a:lnTo>
                  <a:pt x="11256" y="2958"/>
                </a:lnTo>
                <a:lnTo>
                  <a:pt x="11854" y="7889"/>
                </a:lnTo>
                <a:close/>
              </a:path>
            </a:pathLst>
          </a:custGeom>
          <a:solidFill>
            <a:srgbClr val="ded5c5"/>
          </a:solidFill>
          <a:ln w="6191">
            <a:solidFill>
              <a:srgbClr val="b5a68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4" name="แฟลตครอบครัวสถานีตำรวจนครบาลบางรัก"/>
          <p:cNvSpPr/>
          <p:nvPr/>
        </p:nvSpPr>
        <p:spPr>
          <a:xfrm>
            <a:off x="5175720" y="5631840"/>
            <a:ext cx="9720" cy="8280"/>
          </a:xfrm>
          <a:custGeom>
            <a:avLst/>
            <a:gdLst/>
            <a:ahLst/>
            <a:rect l="l" t="t" r="r" b="b"/>
            <a:pathLst>
              <a:path w="10058" h="8629">
                <a:moveTo>
                  <a:pt x="1796" y="8629"/>
                </a:moveTo>
                <a:lnTo>
                  <a:pt x="10058" y="6163"/>
                </a:lnTo>
                <a:lnTo>
                  <a:pt x="8142" y="2465"/>
                </a:lnTo>
                <a:lnTo>
                  <a:pt x="9459" y="1849"/>
                </a:lnTo>
                <a:lnTo>
                  <a:pt x="8980" y="0"/>
                </a:lnTo>
                <a:lnTo>
                  <a:pt x="0" y="2835"/>
                </a:lnTo>
                <a:lnTo>
                  <a:pt x="1796" y="8629"/>
                </a:lnTo>
                <a:close/>
              </a:path>
            </a:pathLst>
          </a:custGeom>
          <a:solidFill>
            <a:srgbClr val="ded5c5"/>
          </a:solidFill>
          <a:ln w="6191">
            <a:solidFill>
              <a:srgbClr val="b5a68d"/>
            </a:solidFill>
            <a:round/>
          </a:ln>
        </p:spPr>
        <p:style>
          <a:lnRef idx="0"/>
          <a:fillRef idx="0"/>
          <a:effectRef idx="0"/>
          <a:fontRef idx="minor"/>
        </p:style>
        <p:txBody>
          <a:bodyPr lIns="90000" rIns="90000" tIns="-36720" bIns="-36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5" name="ซอยอุ่นจิตร"/>
          <p:cNvSpPr/>
          <p:nvPr/>
        </p:nvSpPr>
        <p:spPr>
          <a:xfrm>
            <a:off x="6415200" y="4028400"/>
            <a:ext cx="16560" cy="24840"/>
          </a:xfrm>
          <a:custGeom>
            <a:avLst/>
            <a:gdLst/>
            <a:ahLst/>
            <a:rect l="l" t="t" r="r" b="b"/>
            <a:pathLst>
              <a:path w="16883" h="25269">
                <a:moveTo>
                  <a:pt x="599" y="18366"/>
                </a:moveTo>
                <a:lnTo>
                  <a:pt x="0" y="20339"/>
                </a:lnTo>
                <a:lnTo>
                  <a:pt x="9579" y="25269"/>
                </a:lnTo>
                <a:lnTo>
                  <a:pt x="11974" y="24037"/>
                </a:lnTo>
                <a:lnTo>
                  <a:pt x="12213" y="20215"/>
                </a:lnTo>
                <a:lnTo>
                  <a:pt x="16883" y="18120"/>
                </a:lnTo>
                <a:lnTo>
                  <a:pt x="15327" y="12326"/>
                </a:lnTo>
                <a:lnTo>
                  <a:pt x="12094" y="12326"/>
                </a:lnTo>
                <a:lnTo>
                  <a:pt x="12573" y="4314"/>
                </a:lnTo>
                <a:lnTo>
                  <a:pt x="11136" y="370"/>
                </a:lnTo>
                <a:lnTo>
                  <a:pt x="120" y="0"/>
                </a:lnTo>
                <a:lnTo>
                  <a:pt x="599" y="18366"/>
                </a:lnTo>
                <a:close/>
              </a:path>
            </a:pathLst>
          </a:custGeom>
          <a:solidFill>
            <a:srgbClr val="ded5c5"/>
          </a:solidFill>
          <a:ln w="6191">
            <a:solidFill>
              <a:srgbClr val="b5a68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6" name="ทิมเรืองเวช"/>
          <p:cNvSpPr/>
          <p:nvPr/>
        </p:nvSpPr>
        <p:spPr>
          <a:xfrm>
            <a:off x="6174720" y="3790800"/>
            <a:ext cx="46080" cy="28800"/>
          </a:xfrm>
          <a:custGeom>
            <a:avLst/>
            <a:gdLst/>
            <a:ahLst/>
            <a:rect l="l" t="t" r="r" b="b"/>
            <a:pathLst>
              <a:path w="46579" h="29090">
                <a:moveTo>
                  <a:pt x="239" y="9368"/>
                </a:moveTo>
                <a:lnTo>
                  <a:pt x="2874" y="24037"/>
                </a:lnTo>
                <a:lnTo>
                  <a:pt x="0" y="29090"/>
                </a:lnTo>
                <a:lnTo>
                  <a:pt x="46579" y="28721"/>
                </a:lnTo>
                <a:lnTo>
                  <a:pt x="42029" y="2465"/>
                </a:lnTo>
                <a:lnTo>
                  <a:pt x="42867" y="0"/>
                </a:lnTo>
                <a:lnTo>
                  <a:pt x="838" y="2589"/>
                </a:lnTo>
                <a:lnTo>
                  <a:pt x="239" y="9368"/>
                </a:lnTo>
                <a:close/>
              </a:path>
            </a:pathLst>
          </a:custGeom>
          <a:solidFill>
            <a:srgbClr val="ded5c5"/>
          </a:solidFill>
          <a:ln w="6191">
            <a:solidFill>
              <a:srgbClr val="b5a68d"/>
            </a:solidFill>
            <a:round/>
          </a:ln>
        </p:spPr>
        <p:style>
          <a:lnRef idx="0"/>
          <a:fillRef idx="0"/>
          <a:effectRef idx="0"/>
          <a:fontRef idx="minor"/>
        </p:style>
        <p:txBody>
          <a:bodyPr lIns="90000" rIns="90000" tIns="-16200" bIns="-16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7" name="ชมรมหมู่บ้านพหลโยธิน48"/>
          <p:cNvSpPr/>
          <p:nvPr/>
        </p:nvSpPr>
        <p:spPr>
          <a:xfrm>
            <a:off x="6160320" y="3682800"/>
            <a:ext cx="53280" cy="53280"/>
          </a:xfrm>
          <a:custGeom>
            <a:avLst/>
            <a:gdLst/>
            <a:ahLst/>
            <a:rect l="l" t="t" r="r" b="b"/>
            <a:pathLst>
              <a:path w="53643" h="53620">
                <a:moveTo>
                  <a:pt x="0" y="35007"/>
                </a:moveTo>
                <a:lnTo>
                  <a:pt x="23589" y="45731"/>
                </a:lnTo>
                <a:lnTo>
                  <a:pt x="47058" y="53620"/>
                </a:lnTo>
                <a:lnTo>
                  <a:pt x="53643" y="32419"/>
                </a:lnTo>
                <a:lnTo>
                  <a:pt x="41310" y="27735"/>
                </a:lnTo>
                <a:lnTo>
                  <a:pt x="45381" y="12820"/>
                </a:lnTo>
                <a:lnTo>
                  <a:pt x="40113" y="9861"/>
                </a:lnTo>
                <a:lnTo>
                  <a:pt x="33647" y="2835"/>
                </a:lnTo>
                <a:lnTo>
                  <a:pt x="29336" y="5670"/>
                </a:lnTo>
                <a:lnTo>
                  <a:pt x="19278" y="0"/>
                </a:lnTo>
                <a:lnTo>
                  <a:pt x="0" y="35007"/>
                </a:lnTo>
                <a:close/>
              </a:path>
            </a:pathLst>
          </a:custGeom>
          <a:solidFill>
            <a:srgbClr val="ded5c5"/>
          </a:solidFill>
          <a:ln w="6191">
            <a:solidFill>
              <a:srgbClr val="b5a68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8" name="ร่วมพัฒนา 33"/>
          <p:cNvSpPr/>
          <p:nvPr/>
        </p:nvSpPr>
        <p:spPr>
          <a:xfrm>
            <a:off x="6262200" y="3712320"/>
            <a:ext cx="43200" cy="77760"/>
          </a:xfrm>
          <a:custGeom>
            <a:avLst/>
            <a:gdLst/>
            <a:ahLst/>
            <a:rect l="l" t="t" r="r" b="b"/>
            <a:pathLst>
              <a:path w="43705" h="78150">
                <a:moveTo>
                  <a:pt x="20954" y="54853"/>
                </a:moveTo>
                <a:lnTo>
                  <a:pt x="22631" y="51278"/>
                </a:lnTo>
                <a:lnTo>
                  <a:pt x="36640" y="52264"/>
                </a:lnTo>
                <a:lnTo>
                  <a:pt x="36401" y="36486"/>
                </a:lnTo>
                <a:lnTo>
                  <a:pt x="33048" y="26625"/>
                </a:lnTo>
                <a:lnTo>
                  <a:pt x="36042" y="15901"/>
                </a:lnTo>
                <a:lnTo>
                  <a:pt x="42867" y="10724"/>
                </a:lnTo>
                <a:lnTo>
                  <a:pt x="43705" y="8012"/>
                </a:lnTo>
                <a:lnTo>
                  <a:pt x="27660" y="2219"/>
                </a:lnTo>
                <a:lnTo>
                  <a:pt x="9340" y="0"/>
                </a:lnTo>
                <a:lnTo>
                  <a:pt x="7304" y="20092"/>
                </a:lnTo>
                <a:lnTo>
                  <a:pt x="2993" y="21941"/>
                </a:lnTo>
                <a:lnTo>
                  <a:pt x="359" y="27858"/>
                </a:lnTo>
                <a:lnTo>
                  <a:pt x="0" y="37103"/>
                </a:lnTo>
                <a:lnTo>
                  <a:pt x="1317" y="40554"/>
                </a:lnTo>
                <a:lnTo>
                  <a:pt x="7184" y="41294"/>
                </a:lnTo>
                <a:lnTo>
                  <a:pt x="4909" y="78150"/>
                </a:lnTo>
                <a:lnTo>
                  <a:pt x="18320" y="78027"/>
                </a:lnTo>
                <a:lnTo>
                  <a:pt x="20954" y="54853"/>
                </a:lnTo>
                <a:close/>
              </a:path>
            </a:pathLst>
          </a:custGeom>
          <a:solidFill>
            <a:srgbClr val="ded5c5"/>
          </a:solidFill>
          <a:ln w="6191">
            <a:solidFill>
              <a:srgbClr val="b5a68d"/>
            </a:solidFill>
            <a:round/>
          </a:ln>
        </p:spPr>
        <p:style>
          <a:lnRef idx="0"/>
          <a:fillRef idx="0"/>
          <a:effectRef idx="0"/>
          <a:fontRef idx="minor"/>
        </p:style>
        <p:txBody>
          <a:bodyPr lIns="90000" rIns="90000" tIns="32760" bIns="32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9" name="สุขสันต์พัฒนา"/>
          <p:cNvSpPr/>
          <p:nvPr/>
        </p:nvSpPr>
        <p:spPr>
          <a:xfrm>
            <a:off x="5955480" y="3854160"/>
            <a:ext cx="76320" cy="98640"/>
          </a:xfrm>
          <a:custGeom>
            <a:avLst/>
            <a:gdLst/>
            <a:ahLst/>
            <a:rect l="l" t="t" r="r" b="b"/>
            <a:pathLst>
              <a:path w="76753" h="98982">
                <a:moveTo>
                  <a:pt x="3113" y="33775"/>
                </a:moveTo>
                <a:lnTo>
                  <a:pt x="0" y="80122"/>
                </a:lnTo>
                <a:lnTo>
                  <a:pt x="17243" y="87888"/>
                </a:lnTo>
                <a:lnTo>
                  <a:pt x="22152" y="86902"/>
                </a:lnTo>
                <a:lnTo>
                  <a:pt x="23708" y="90230"/>
                </a:lnTo>
                <a:lnTo>
                  <a:pt x="26702" y="88874"/>
                </a:lnTo>
                <a:lnTo>
                  <a:pt x="29935" y="90106"/>
                </a:lnTo>
                <a:lnTo>
                  <a:pt x="32689" y="95653"/>
                </a:lnTo>
                <a:lnTo>
                  <a:pt x="43106" y="98982"/>
                </a:lnTo>
                <a:lnTo>
                  <a:pt x="76753" y="40431"/>
                </a:lnTo>
                <a:lnTo>
                  <a:pt x="29097" y="13066"/>
                </a:lnTo>
                <a:lnTo>
                  <a:pt x="29097" y="10724"/>
                </a:lnTo>
                <a:lnTo>
                  <a:pt x="26822" y="11340"/>
                </a:lnTo>
                <a:lnTo>
                  <a:pt x="21433" y="6780"/>
                </a:lnTo>
                <a:lnTo>
                  <a:pt x="18081" y="6533"/>
                </a:lnTo>
                <a:lnTo>
                  <a:pt x="6945" y="0"/>
                </a:lnTo>
                <a:lnTo>
                  <a:pt x="4311" y="5424"/>
                </a:lnTo>
                <a:lnTo>
                  <a:pt x="4790" y="8505"/>
                </a:lnTo>
                <a:lnTo>
                  <a:pt x="5987" y="8505"/>
                </a:lnTo>
                <a:lnTo>
                  <a:pt x="5508" y="17257"/>
                </a:lnTo>
                <a:lnTo>
                  <a:pt x="6945" y="23544"/>
                </a:lnTo>
                <a:lnTo>
                  <a:pt x="5508" y="24160"/>
                </a:lnTo>
                <a:lnTo>
                  <a:pt x="7184" y="32665"/>
                </a:lnTo>
                <a:lnTo>
                  <a:pt x="3113" y="3377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0" name="หมู่บ้านเฉลิมสุขนิเวศน์"/>
          <p:cNvSpPr/>
          <p:nvPr/>
        </p:nvSpPr>
        <p:spPr>
          <a:xfrm>
            <a:off x="6224040" y="3901320"/>
            <a:ext cx="90720" cy="26640"/>
          </a:xfrm>
          <a:custGeom>
            <a:avLst/>
            <a:gdLst/>
            <a:ahLst/>
            <a:rect l="l" t="t" r="r" b="b"/>
            <a:pathLst>
              <a:path w="91122" h="27118">
                <a:moveTo>
                  <a:pt x="16524" y="10847"/>
                </a:moveTo>
                <a:lnTo>
                  <a:pt x="0" y="13436"/>
                </a:lnTo>
                <a:lnTo>
                  <a:pt x="479" y="27118"/>
                </a:lnTo>
                <a:lnTo>
                  <a:pt x="88967" y="15038"/>
                </a:lnTo>
                <a:lnTo>
                  <a:pt x="91122" y="13189"/>
                </a:lnTo>
                <a:lnTo>
                  <a:pt x="90284" y="616"/>
                </a:lnTo>
                <a:lnTo>
                  <a:pt x="88847" y="0"/>
                </a:lnTo>
                <a:lnTo>
                  <a:pt x="16524" y="10847"/>
                </a:lnTo>
                <a:close/>
              </a:path>
            </a:pathLst>
          </a:custGeom>
          <a:solidFill>
            <a:srgbClr val="ded5c5"/>
          </a:solidFill>
          <a:ln w="6191">
            <a:solidFill>
              <a:srgbClr val="b5a68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1" name="หมู่บ้านซอยนำ้ใส"/>
          <p:cNvSpPr/>
          <p:nvPr/>
        </p:nvSpPr>
        <p:spPr>
          <a:xfrm>
            <a:off x="6049080" y="3717720"/>
            <a:ext cx="65520" cy="41400"/>
          </a:xfrm>
          <a:custGeom>
            <a:avLst/>
            <a:gdLst/>
            <a:ahLst/>
            <a:rect l="l" t="t" r="r" b="b"/>
            <a:pathLst>
              <a:path w="65737" h="41787">
                <a:moveTo>
                  <a:pt x="42627" y="21078"/>
                </a:moveTo>
                <a:lnTo>
                  <a:pt x="39634" y="17873"/>
                </a:lnTo>
                <a:lnTo>
                  <a:pt x="5867" y="740"/>
                </a:lnTo>
                <a:lnTo>
                  <a:pt x="3832" y="0"/>
                </a:lnTo>
                <a:lnTo>
                  <a:pt x="2634" y="1849"/>
                </a:lnTo>
                <a:lnTo>
                  <a:pt x="1437" y="4684"/>
                </a:lnTo>
                <a:lnTo>
                  <a:pt x="5269" y="6533"/>
                </a:lnTo>
                <a:lnTo>
                  <a:pt x="0" y="17997"/>
                </a:lnTo>
                <a:lnTo>
                  <a:pt x="8861" y="23297"/>
                </a:lnTo>
                <a:lnTo>
                  <a:pt x="8621" y="25393"/>
                </a:lnTo>
                <a:lnTo>
                  <a:pt x="29097" y="36240"/>
                </a:lnTo>
                <a:lnTo>
                  <a:pt x="47058" y="41787"/>
                </a:lnTo>
                <a:lnTo>
                  <a:pt x="61187" y="40677"/>
                </a:lnTo>
                <a:lnTo>
                  <a:pt x="65737" y="31926"/>
                </a:lnTo>
                <a:lnTo>
                  <a:pt x="43825" y="22927"/>
                </a:lnTo>
                <a:lnTo>
                  <a:pt x="42627" y="21078"/>
                </a:lnTo>
                <a:close/>
              </a:path>
            </a:pathLst>
          </a:custGeom>
          <a:solidFill>
            <a:srgbClr val="ded5c5"/>
          </a:solidFill>
          <a:ln w="6191">
            <a:solidFill>
              <a:srgbClr val="b5a68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2" name="หมู่บ้านไปรษณียนิเวศน์"/>
          <p:cNvSpPr/>
          <p:nvPr/>
        </p:nvSpPr>
        <p:spPr>
          <a:xfrm>
            <a:off x="6247440" y="3810240"/>
            <a:ext cx="68400" cy="17280"/>
          </a:xfrm>
          <a:custGeom>
            <a:avLst/>
            <a:gdLst/>
            <a:ahLst/>
            <a:rect l="l" t="t" r="r" b="b"/>
            <a:pathLst>
              <a:path w="68731" h="17627">
                <a:moveTo>
                  <a:pt x="55440" y="11833"/>
                </a:moveTo>
                <a:lnTo>
                  <a:pt x="68731" y="9491"/>
                </a:lnTo>
                <a:lnTo>
                  <a:pt x="68132" y="2835"/>
                </a:lnTo>
                <a:lnTo>
                  <a:pt x="55919" y="4561"/>
                </a:lnTo>
                <a:lnTo>
                  <a:pt x="55799" y="0"/>
                </a:lnTo>
                <a:lnTo>
                  <a:pt x="13052" y="5300"/>
                </a:lnTo>
                <a:lnTo>
                  <a:pt x="0" y="8505"/>
                </a:lnTo>
                <a:lnTo>
                  <a:pt x="5029" y="17627"/>
                </a:lnTo>
                <a:lnTo>
                  <a:pt x="52686" y="11587"/>
                </a:lnTo>
                <a:lnTo>
                  <a:pt x="52805" y="6163"/>
                </a:lnTo>
                <a:lnTo>
                  <a:pt x="55200" y="6780"/>
                </a:lnTo>
                <a:lnTo>
                  <a:pt x="55440" y="11833"/>
                </a:lnTo>
                <a:close/>
              </a:path>
            </a:pathLst>
          </a:custGeom>
          <a:solidFill>
            <a:srgbClr val="ded5c5"/>
          </a:solidFill>
          <a:ln w="6191">
            <a:solidFill>
              <a:srgbClr val="b5a68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3" name="หมู่บ้านฝนทองนิเวศน์"/>
          <p:cNvSpPr/>
          <p:nvPr/>
        </p:nvSpPr>
        <p:spPr>
          <a:xfrm>
            <a:off x="6119280" y="3740040"/>
            <a:ext cx="36720" cy="26280"/>
          </a:xfrm>
          <a:custGeom>
            <a:avLst/>
            <a:gdLst/>
            <a:ahLst/>
            <a:rect l="l" t="t" r="r" b="b"/>
            <a:pathLst>
              <a:path w="37119" h="26748">
                <a:moveTo>
                  <a:pt x="7783" y="0"/>
                </a:moveTo>
                <a:lnTo>
                  <a:pt x="0" y="15162"/>
                </a:lnTo>
                <a:lnTo>
                  <a:pt x="30174" y="26748"/>
                </a:lnTo>
                <a:lnTo>
                  <a:pt x="37119" y="11464"/>
                </a:lnTo>
                <a:lnTo>
                  <a:pt x="7783" y="0"/>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4" name="สื่อสารรวมใจสามัคคี"/>
          <p:cNvSpPr/>
          <p:nvPr/>
        </p:nvSpPr>
        <p:spPr>
          <a:xfrm>
            <a:off x="6149880" y="3747240"/>
            <a:ext cx="30240" cy="25560"/>
          </a:xfrm>
          <a:custGeom>
            <a:avLst/>
            <a:gdLst/>
            <a:ahLst/>
            <a:rect l="l" t="t" r="r" b="b"/>
            <a:pathLst>
              <a:path w="30534" h="25886">
                <a:moveTo>
                  <a:pt x="19158" y="0"/>
                </a:moveTo>
                <a:lnTo>
                  <a:pt x="15925" y="7766"/>
                </a:lnTo>
                <a:lnTo>
                  <a:pt x="7065" y="4438"/>
                </a:lnTo>
                <a:lnTo>
                  <a:pt x="0" y="19969"/>
                </a:lnTo>
                <a:lnTo>
                  <a:pt x="27420" y="25886"/>
                </a:lnTo>
                <a:lnTo>
                  <a:pt x="30534" y="1849"/>
                </a:lnTo>
                <a:lnTo>
                  <a:pt x="19158" y="0"/>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5" name="ทหารผ่านศึก"/>
          <p:cNvSpPr/>
          <p:nvPr/>
        </p:nvSpPr>
        <p:spPr>
          <a:xfrm>
            <a:off x="6375240" y="4000320"/>
            <a:ext cx="12600" cy="17640"/>
          </a:xfrm>
          <a:custGeom>
            <a:avLst/>
            <a:gdLst/>
            <a:ahLst/>
            <a:rect l="l" t="t" r="r" b="b"/>
            <a:pathLst>
              <a:path w="12932" h="17873">
                <a:moveTo>
                  <a:pt x="6346" y="12820"/>
                </a:moveTo>
                <a:lnTo>
                  <a:pt x="599" y="12450"/>
                </a:lnTo>
                <a:lnTo>
                  <a:pt x="0" y="17011"/>
                </a:lnTo>
                <a:lnTo>
                  <a:pt x="8980" y="17873"/>
                </a:lnTo>
                <a:lnTo>
                  <a:pt x="12932" y="0"/>
                </a:lnTo>
                <a:lnTo>
                  <a:pt x="7424" y="0"/>
                </a:lnTo>
                <a:lnTo>
                  <a:pt x="6346" y="12820"/>
                </a:lnTo>
                <a:close/>
              </a:path>
            </a:pathLst>
          </a:custGeom>
          <a:solidFill>
            <a:srgbClr val="ded5c5"/>
          </a:solidFill>
          <a:ln w="6191">
            <a:solidFill>
              <a:srgbClr val="b5a68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6" name="อยู่รวย"/>
          <p:cNvSpPr/>
          <p:nvPr/>
        </p:nvSpPr>
        <p:spPr>
          <a:xfrm>
            <a:off x="6168240" y="3723120"/>
            <a:ext cx="35280" cy="46080"/>
          </a:xfrm>
          <a:custGeom>
            <a:avLst/>
            <a:gdLst/>
            <a:ahLst/>
            <a:rect l="l" t="t" r="r" b="b"/>
            <a:pathLst>
              <a:path w="35682" h="46471">
                <a:moveTo>
                  <a:pt x="30055" y="10724"/>
                </a:moveTo>
                <a:lnTo>
                  <a:pt x="1796" y="0"/>
                </a:lnTo>
                <a:lnTo>
                  <a:pt x="0" y="8259"/>
                </a:lnTo>
                <a:lnTo>
                  <a:pt x="7424" y="10477"/>
                </a:lnTo>
                <a:lnTo>
                  <a:pt x="3951" y="23667"/>
                </a:lnTo>
                <a:lnTo>
                  <a:pt x="12573" y="25269"/>
                </a:lnTo>
                <a:lnTo>
                  <a:pt x="10178" y="46471"/>
                </a:lnTo>
                <a:lnTo>
                  <a:pt x="19637" y="45978"/>
                </a:lnTo>
                <a:lnTo>
                  <a:pt x="20954" y="37966"/>
                </a:lnTo>
                <a:lnTo>
                  <a:pt x="33647" y="38459"/>
                </a:lnTo>
                <a:lnTo>
                  <a:pt x="34246" y="18120"/>
                </a:lnTo>
                <a:lnTo>
                  <a:pt x="35682" y="12696"/>
                </a:lnTo>
                <a:lnTo>
                  <a:pt x="30055" y="10724"/>
                </a:lnTo>
                <a:close/>
              </a:path>
            </a:pathLst>
          </a:custGeom>
          <a:solidFill>
            <a:srgbClr val="ded5c5"/>
          </a:solidFill>
          <a:ln w="6191">
            <a:solidFill>
              <a:srgbClr val="b5a68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7" name="โสรัจ"/>
          <p:cNvSpPr/>
          <p:nvPr/>
        </p:nvSpPr>
        <p:spPr>
          <a:xfrm>
            <a:off x="6090480" y="3649320"/>
            <a:ext cx="58320" cy="36000"/>
          </a:xfrm>
          <a:custGeom>
            <a:avLst/>
            <a:gdLst/>
            <a:ahLst/>
            <a:rect l="l" t="t" r="r" b="b"/>
            <a:pathLst>
              <a:path w="58792" h="36486">
                <a:moveTo>
                  <a:pt x="54122" y="35130"/>
                </a:moveTo>
                <a:lnTo>
                  <a:pt x="58792" y="27981"/>
                </a:lnTo>
                <a:lnTo>
                  <a:pt x="56517" y="26748"/>
                </a:lnTo>
                <a:lnTo>
                  <a:pt x="53763" y="31186"/>
                </a:lnTo>
                <a:lnTo>
                  <a:pt x="51488" y="29707"/>
                </a:lnTo>
                <a:lnTo>
                  <a:pt x="52326" y="27365"/>
                </a:lnTo>
                <a:lnTo>
                  <a:pt x="39155" y="18366"/>
                </a:lnTo>
                <a:lnTo>
                  <a:pt x="8142" y="0"/>
                </a:lnTo>
                <a:lnTo>
                  <a:pt x="0" y="9368"/>
                </a:lnTo>
                <a:lnTo>
                  <a:pt x="29695" y="27981"/>
                </a:lnTo>
                <a:lnTo>
                  <a:pt x="46938" y="36486"/>
                </a:lnTo>
                <a:lnTo>
                  <a:pt x="49333" y="33158"/>
                </a:lnTo>
                <a:lnTo>
                  <a:pt x="54122" y="35130"/>
                </a:lnTo>
                <a:close/>
              </a:path>
            </a:pathLst>
          </a:custGeom>
          <a:solidFill>
            <a:srgbClr val="ded5c5"/>
          </a:solidFill>
          <a:ln w="6191">
            <a:solidFill>
              <a:srgbClr val="b5a68d"/>
            </a:solidFill>
            <a:round/>
          </a:ln>
        </p:spPr>
        <p:style>
          <a:lnRef idx="0"/>
          <a:fillRef idx="0"/>
          <a:effectRef idx="0"/>
          <a:fontRef idx="minor"/>
        </p:style>
        <p:txBody>
          <a:bodyPr lIns="90000" rIns="90000" tIns="-9000" bIns="-9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8" name="หมู่บ้านเธียรสวน"/>
          <p:cNvSpPr/>
          <p:nvPr/>
        </p:nvSpPr>
        <p:spPr>
          <a:xfrm>
            <a:off x="6160320" y="3836160"/>
            <a:ext cx="74520" cy="24480"/>
          </a:xfrm>
          <a:custGeom>
            <a:avLst/>
            <a:gdLst/>
            <a:ahLst/>
            <a:rect l="l" t="t" r="r" b="b"/>
            <a:pathLst>
              <a:path w="74718" h="24776">
                <a:moveTo>
                  <a:pt x="18679" y="23174"/>
                </a:moveTo>
                <a:lnTo>
                  <a:pt x="71245" y="17627"/>
                </a:lnTo>
                <a:lnTo>
                  <a:pt x="74718" y="0"/>
                </a:lnTo>
                <a:lnTo>
                  <a:pt x="17721" y="5054"/>
                </a:lnTo>
                <a:lnTo>
                  <a:pt x="16524" y="2589"/>
                </a:lnTo>
                <a:lnTo>
                  <a:pt x="3951" y="2958"/>
                </a:lnTo>
                <a:lnTo>
                  <a:pt x="359" y="13313"/>
                </a:lnTo>
                <a:lnTo>
                  <a:pt x="0" y="24776"/>
                </a:lnTo>
                <a:lnTo>
                  <a:pt x="18679" y="23174"/>
                </a:lnTo>
                <a:close/>
              </a:path>
            </a:pathLst>
          </a:custGeom>
          <a:solidFill>
            <a:srgbClr val="ded5c5"/>
          </a:solidFill>
          <a:ln w="6191">
            <a:solidFill>
              <a:srgbClr val="b5a68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9" name="กูบแดงร่วมใจพัฒนา"/>
          <p:cNvSpPr/>
          <p:nvPr/>
        </p:nvSpPr>
        <p:spPr>
          <a:xfrm>
            <a:off x="5950800" y="3963240"/>
            <a:ext cx="25560" cy="36000"/>
          </a:xfrm>
          <a:custGeom>
            <a:avLst/>
            <a:gdLst/>
            <a:ahLst/>
            <a:rect l="l" t="t" r="r" b="b"/>
            <a:pathLst>
              <a:path w="25744" h="36363">
                <a:moveTo>
                  <a:pt x="0" y="35624"/>
                </a:moveTo>
                <a:lnTo>
                  <a:pt x="5867" y="36363"/>
                </a:lnTo>
                <a:lnTo>
                  <a:pt x="8980" y="31679"/>
                </a:lnTo>
                <a:lnTo>
                  <a:pt x="7663" y="29830"/>
                </a:lnTo>
                <a:lnTo>
                  <a:pt x="10058" y="25023"/>
                </a:lnTo>
                <a:lnTo>
                  <a:pt x="16165" y="14175"/>
                </a:lnTo>
                <a:lnTo>
                  <a:pt x="18560" y="13066"/>
                </a:lnTo>
                <a:lnTo>
                  <a:pt x="19757" y="4191"/>
                </a:lnTo>
                <a:lnTo>
                  <a:pt x="25744" y="4314"/>
                </a:lnTo>
                <a:lnTo>
                  <a:pt x="25744" y="1479"/>
                </a:lnTo>
                <a:lnTo>
                  <a:pt x="4311" y="0"/>
                </a:lnTo>
                <a:lnTo>
                  <a:pt x="4550" y="15038"/>
                </a:lnTo>
                <a:lnTo>
                  <a:pt x="2515" y="15038"/>
                </a:lnTo>
                <a:lnTo>
                  <a:pt x="2275" y="18120"/>
                </a:lnTo>
                <a:lnTo>
                  <a:pt x="3472" y="19106"/>
                </a:lnTo>
                <a:lnTo>
                  <a:pt x="0" y="35624"/>
                </a:lnTo>
                <a:close/>
              </a:path>
            </a:pathLst>
          </a:custGeom>
          <a:solidFill>
            <a:srgbClr val="ded5c5"/>
          </a:solidFill>
          <a:ln w="6191">
            <a:solidFill>
              <a:srgbClr val="b5a68d"/>
            </a:solidFill>
            <a:round/>
          </a:ln>
        </p:spPr>
        <p:style>
          <a:lnRef idx="0"/>
          <a:fillRef idx="0"/>
          <a:effectRef idx="0"/>
          <a:fontRef idx="minor"/>
        </p:style>
        <p:txBody>
          <a:bodyPr lIns="90000" rIns="90000" tIns="-9000" bIns="-9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0" name="หมู่บ้านรุ่งสว่างวิลเลจ"/>
          <p:cNvSpPr/>
          <p:nvPr/>
        </p:nvSpPr>
        <p:spPr>
          <a:xfrm>
            <a:off x="6323400" y="4065840"/>
            <a:ext cx="27360" cy="35640"/>
          </a:xfrm>
          <a:custGeom>
            <a:avLst/>
            <a:gdLst/>
            <a:ahLst/>
            <a:rect l="l" t="t" r="r" b="b"/>
            <a:pathLst>
              <a:path w="27540" h="35870">
                <a:moveTo>
                  <a:pt x="0" y="9491"/>
                </a:moveTo>
                <a:lnTo>
                  <a:pt x="239" y="35870"/>
                </a:lnTo>
                <a:lnTo>
                  <a:pt x="14608" y="34514"/>
                </a:lnTo>
                <a:lnTo>
                  <a:pt x="13411" y="26872"/>
                </a:lnTo>
                <a:lnTo>
                  <a:pt x="27181" y="25023"/>
                </a:lnTo>
                <a:lnTo>
                  <a:pt x="27540" y="123"/>
                </a:lnTo>
                <a:lnTo>
                  <a:pt x="23948" y="0"/>
                </a:lnTo>
                <a:lnTo>
                  <a:pt x="0" y="9491"/>
                </a:lnTo>
                <a:close/>
              </a:path>
            </a:pathLst>
          </a:custGeom>
          <a:solidFill>
            <a:srgbClr val="ded5c5"/>
          </a:solidFill>
          <a:ln w="6191">
            <a:solidFill>
              <a:srgbClr val="b5a68d"/>
            </a:solidFill>
            <a:round/>
          </a:ln>
        </p:spPr>
        <p:style>
          <a:lnRef idx="0"/>
          <a:fillRef idx="0"/>
          <a:effectRef idx="0"/>
          <a:fontRef idx="minor"/>
        </p:style>
        <p:txBody>
          <a:bodyPr lIns="90000" rIns="90000" tIns="-9360" bIns="-9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1" name="หมู่บ้านสดใส"/>
          <p:cNvSpPr/>
          <p:nvPr/>
        </p:nvSpPr>
        <p:spPr>
          <a:xfrm>
            <a:off x="6014880" y="3720960"/>
            <a:ext cx="59760" cy="34920"/>
          </a:xfrm>
          <a:custGeom>
            <a:avLst/>
            <a:gdLst/>
            <a:ahLst/>
            <a:rect l="l" t="t" r="r" b="b"/>
            <a:pathLst>
              <a:path w="59990" h="35377">
                <a:moveTo>
                  <a:pt x="20835" y="7642"/>
                </a:moveTo>
                <a:lnTo>
                  <a:pt x="8023" y="0"/>
                </a:lnTo>
                <a:lnTo>
                  <a:pt x="0" y="11464"/>
                </a:lnTo>
                <a:lnTo>
                  <a:pt x="26223" y="26255"/>
                </a:lnTo>
                <a:lnTo>
                  <a:pt x="27540" y="24530"/>
                </a:lnTo>
                <a:lnTo>
                  <a:pt x="48016" y="34884"/>
                </a:lnTo>
                <a:lnTo>
                  <a:pt x="58074" y="35377"/>
                </a:lnTo>
                <a:lnTo>
                  <a:pt x="59990" y="31063"/>
                </a:lnTo>
                <a:lnTo>
                  <a:pt x="40712" y="20955"/>
                </a:lnTo>
                <a:lnTo>
                  <a:pt x="41430" y="19229"/>
                </a:lnTo>
                <a:lnTo>
                  <a:pt x="20835" y="7642"/>
                </a:lnTo>
                <a:close/>
              </a:path>
            </a:pathLst>
          </a:custGeom>
          <a:solidFill>
            <a:srgbClr val="ded5c5"/>
          </a:solidFill>
          <a:ln w="6191">
            <a:solidFill>
              <a:srgbClr val="b5a68d"/>
            </a:solidFill>
            <a:round/>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2" name="หมู่บ้านอนันต์สุขสันต์"/>
          <p:cNvSpPr/>
          <p:nvPr/>
        </p:nvSpPr>
        <p:spPr>
          <a:xfrm>
            <a:off x="6246360" y="3787920"/>
            <a:ext cx="55800" cy="30240"/>
          </a:xfrm>
          <a:custGeom>
            <a:avLst/>
            <a:gdLst/>
            <a:ahLst/>
            <a:rect l="l" t="t" r="r" b="b"/>
            <a:pathLst>
              <a:path w="56158" h="30693">
                <a:moveTo>
                  <a:pt x="838" y="9368"/>
                </a:moveTo>
                <a:lnTo>
                  <a:pt x="0" y="26255"/>
                </a:lnTo>
                <a:lnTo>
                  <a:pt x="1916" y="30693"/>
                </a:lnTo>
                <a:lnTo>
                  <a:pt x="11256" y="27981"/>
                </a:lnTo>
                <a:lnTo>
                  <a:pt x="12453" y="18859"/>
                </a:lnTo>
                <a:lnTo>
                  <a:pt x="56158" y="14299"/>
                </a:lnTo>
                <a:lnTo>
                  <a:pt x="55919" y="1972"/>
                </a:lnTo>
                <a:lnTo>
                  <a:pt x="54482" y="0"/>
                </a:lnTo>
                <a:lnTo>
                  <a:pt x="34844" y="616"/>
                </a:lnTo>
                <a:lnTo>
                  <a:pt x="34844" y="2342"/>
                </a:lnTo>
                <a:lnTo>
                  <a:pt x="16285" y="2465"/>
                </a:lnTo>
                <a:lnTo>
                  <a:pt x="1437" y="5917"/>
                </a:lnTo>
                <a:lnTo>
                  <a:pt x="838" y="9368"/>
                </a:lnTo>
                <a:close/>
              </a:path>
            </a:pathLst>
          </a:custGeom>
          <a:solidFill>
            <a:srgbClr val="ded5c5"/>
          </a:solidFill>
          <a:ln w="6191">
            <a:solidFill>
              <a:srgbClr val="b5a68d"/>
            </a:solidFill>
            <a:round/>
          </a:ln>
        </p:spPr>
        <p:style>
          <a:lnRef idx="0"/>
          <a:fillRef idx="0"/>
          <a:effectRef idx="0"/>
          <a:fontRef idx="minor"/>
        </p:style>
        <p:txBody>
          <a:bodyPr lIns="90000" rIns="90000" tIns="-14760" bIns="-14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3" name="หมู่บ้านอยู่เจริญ"/>
          <p:cNvSpPr/>
          <p:nvPr/>
        </p:nvSpPr>
        <p:spPr>
          <a:xfrm>
            <a:off x="6211440" y="3617280"/>
            <a:ext cx="28080" cy="45360"/>
          </a:xfrm>
          <a:custGeom>
            <a:avLst/>
            <a:gdLst/>
            <a:ahLst/>
            <a:rect l="l" t="t" r="r" b="b"/>
            <a:pathLst>
              <a:path w="28498" h="45608">
                <a:moveTo>
                  <a:pt x="28498" y="14545"/>
                </a:moveTo>
                <a:lnTo>
                  <a:pt x="18320" y="0"/>
                </a:lnTo>
                <a:lnTo>
                  <a:pt x="1197" y="10847"/>
                </a:lnTo>
                <a:lnTo>
                  <a:pt x="718" y="17504"/>
                </a:lnTo>
                <a:lnTo>
                  <a:pt x="5149" y="28597"/>
                </a:lnTo>
                <a:lnTo>
                  <a:pt x="0" y="34268"/>
                </a:lnTo>
                <a:lnTo>
                  <a:pt x="7424" y="39938"/>
                </a:lnTo>
                <a:lnTo>
                  <a:pt x="5269" y="44252"/>
                </a:lnTo>
                <a:lnTo>
                  <a:pt x="6586" y="45608"/>
                </a:lnTo>
                <a:lnTo>
                  <a:pt x="16045" y="29830"/>
                </a:lnTo>
                <a:lnTo>
                  <a:pt x="28498" y="14545"/>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4" name="วัดไตรรัตนาราม"/>
          <p:cNvSpPr/>
          <p:nvPr/>
        </p:nvSpPr>
        <p:spPr>
          <a:xfrm>
            <a:off x="6254280" y="4090680"/>
            <a:ext cx="70560" cy="66960"/>
          </a:xfrm>
          <a:custGeom>
            <a:avLst/>
            <a:gdLst/>
            <a:ahLst/>
            <a:rect l="l" t="t" r="r" b="b"/>
            <a:pathLst>
              <a:path w="71006" h="67179">
                <a:moveTo>
                  <a:pt x="58912" y="58427"/>
                </a:moveTo>
                <a:lnTo>
                  <a:pt x="67054" y="62002"/>
                </a:lnTo>
                <a:lnTo>
                  <a:pt x="71006" y="56209"/>
                </a:lnTo>
                <a:lnTo>
                  <a:pt x="50171" y="32172"/>
                </a:lnTo>
                <a:lnTo>
                  <a:pt x="44543" y="37966"/>
                </a:lnTo>
                <a:lnTo>
                  <a:pt x="45980" y="44375"/>
                </a:lnTo>
                <a:lnTo>
                  <a:pt x="43945" y="47580"/>
                </a:lnTo>
                <a:lnTo>
                  <a:pt x="38197" y="47950"/>
                </a:lnTo>
                <a:lnTo>
                  <a:pt x="38317" y="2712"/>
                </a:lnTo>
                <a:lnTo>
                  <a:pt x="4670" y="3821"/>
                </a:lnTo>
                <a:lnTo>
                  <a:pt x="1676" y="0"/>
                </a:lnTo>
                <a:lnTo>
                  <a:pt x="0" y="616"/>
                </a:lnTo>
                <a:lnTo>
                  <a:pt x="4311" y="67179"/>
                </a:lnTo>
                <a:lnTo>
                  <a:pt x="24786" y="66316"/>
                </a:lnTo>
                <a:lnTo>
                  <a:pt x="25744" y="48197"/>
                </a:lnTo>
                <a:lnTo>
                  <a:pt x="37119" y="49183"/>
                </a:lnTo>
                <a:lnTo>
                  <a:pt x="58912" y="58427"/>
                </a:lnTo>
                <a:close/>
              </a:path>
            </a:pathLst>
          </a:custGeom>
          <a:solidFill>
            <a:srgbClr val="ded5c5"/>
          </a:solidFill>
          <a:ln w="6191">
            <a:solidFill>
              <a:srgbClr val="b5a68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5" name="หมู่บ้านปั้นทอง3"/>
          <p:cNvSpPr/>
          <p:nvPr/>
        </p:nvSpPr>
        <p:spPr>
          <a:xfrm>
            <a:off x="6245640" y="4025160"/>
            <a:ext cx="48600" cy="47520"/>
          </a:xfrm>
          <a:custGeom>
            <a:avLst/>
            <a:gdLst/>
            <a:ahLst/>
            <a:rect l="l" t="t" r="r" b="b"/>
            <a:pathLst>
              <a:path w="48974" h="47827">
                <a:moveTo>
                  <a:pt x="7663" y="41663"/>
                </a:moveTo>
                <a:lnTo>
                  <a:pt x="8382" y="47827"/>
                </a:lnTo>
                <a:lnTo>
                  <a:pt x="37239" y="43266"/>
                </a:lnTo>
                <a:lnTo>
                  <a:pt x="48974" y="45238"/>
                </a:lnTo>
                <a:lnTo>
                  <a:pt x="44543" y="4684"/>
                </a:lnTo>
                <a:lnTo>
                  <a:pt x="41789" y="0"/>
                </a:lnTo>
                <a:lnTo>
                  <a:pt x="16764" y="2465"/>
                </a:lnTo>
                <a:lnTo>
                  <a:pt x="0" y="6163"/>
                </a:lnTo>
                <a:lnTo>
                  <a:pt x="7663" y="41663"/>
                </a:lnTo>
                <a:close/>
              </a:path>
            </a:pathLst>
          </a:custGeom>
          <a:solidFill>
            <a:srgbClr val="ded5c5"/>
          </a:solidFill>
          <a:ln w="6191">
            <a:solidFill>
              <a:srgbClr val="b5a68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6" name="บางบัว"/>
          <p:cNvSpPr/>
          <p:nvPr/>
        </p:nvSpPr>
        <p:spPr>
          <a:xfrm>
            <a:off x="5949000" y="3935520"/>
            <a:ext cx="7200" cy="42480"/>
          </a:xfrm>
          <a:custGeom>
            <a:avLst/>
            <a:gdLst/>
            <a:ahLst/>
            <a:rect l="l" t="t" r="r" b="b"/>
            <a:pathLst>
              <a:path w="7424" h="42773">
                <a:moveTo>
                  <a:pt x="5867" y="28597"/>
                </a:moveTo>
                <a:lnTo>
                  <a:pt x="7424" y="26132"/>
                </a:lnTo>
                <a:lnTo>
                  <a:pt x="7424" y="1109"/>
                </a:lnTo>
                <a:lnTo>
                  <a:pt x="2515" y="0"/>
                </a:lnTo>
                <a:lnTo>
                  <a:pt x="0" y="42280"/>
                </a:lnTo>
                <a:lnTo>
                  <a:pt x="6107" y="42773"/>
                </a:lnTo>
                <a:lnTo>
                  <a:pt x="5867" y="28597"/>
                </a:lnTo>
                <a:close/>
              </a:path>
            </a:pathLst>
          </a:custGeom>
          <a:solidFill>
            <a:srgbClr val="ded5c5"/>
          </a:solidFill>
          <a:ln w="6191">
            <a:solidFill>
              <a:srgbClr val="b5a68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7" name="รุ่นใหม่พัฒนา"/>
          <p:cNvSpPr/>
          <p:nvPr/>
        </p:nvSpPr>
        <p:spPr>
          <a:xfrm>
            <a:off x="5951520" y="3852360"/>
            <a:ext cx="10440" cy="81360"/>
          </a:xfrm>
          <a:custGeom>
            <a:avLst/>
            <a:gdLst/>
            <a:ahLst/>
            <a:rect l="l" t="t" r="r" b="b"/>
            <a:pathLst>
              <a:path w="10777" h="81725">
                <a:moveTo>
                  <a:pt x="0" y="81725"/>
                </a:moveTo>
                <a:lnTo>
                  <a:pt x="1796" y="81601"/>
                </a:lnTo>
                <a:lnTo>
                  <a:pt x="3592" y="77287"/>
                </a:lnTo>
                <a:lnTo>
                  <a:pt x="6825" y="35747"/>
                </a:lnTo>
                <a:lnTo>
                  <a:pt x="8741" y="28597"/>
                </a:lnTo>
                <a:lnTo>
                  <a:pt x="7424" y="27488"/>
                </a:lnTo>
                <a:lnTo>
                  <a:pt x="7903" y="7149"/>
                </a:lnTo>
                <a:lnTo>
                  <a:pt x="10777" y="1726"/>
                </a:lnTo>
                <a:lnTo>
                  <a:pt x="6945" y="0"/>
                </a:lnTo>
                <a:lnTo>
                  <a:pt x="0" y="81725"/>
                </a:lnTo>
                <a:close/>
              </a:path>
            </a:pathLst>
          </a:custGeom>
          <a:solidFill>
            <a:srgbClr val="ded5c5"/>
          </a:solidFill>
          <a:ln w="6191">
            <a:solidFill>
              <a:srgbClr val="b5a68d"/>
            </a:solidFill>
            <a:round/>
          </a:ln>
        </p:spPr>
        <p:style>
          <a:lnRef idx="0"/>
          <a:fillRef idx="0"/>
          <a:effectRef idx="0"/>
          <a:fontRef idx="minor"/>
        </p:style>
        <p:txBody>
          <a:bodyPr lIns="90000" rIns="90000" tIns="36360" bIns="36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8" name="สามัคคีร่วมใจ"/>
          <p:cNvSpPr/>
          <p:nvPr/>
        </p:nvSpPr>
        <p:spPr>
          <a:xfrm>
            <a:off x="5944320" y="3978000"/>
            <a:ext cx="10080" cy="66600"/>
          </a:xfrm>
          <a:custGeom>
            <a:avLst/>
            <a:gdLst/>
            <a:ahLst/>
            <a:rect l="l" t="t" r="r" b="b"/>
            <a:pathLst>
              <a:path w="10537" h="67056">
                <a:moveTo>
                  <a:pt x="0" y="59414"/>
                </a:moveTo>
                <a:lnTo>
                  <a:pt x="239" y="67056"/>
                </a:lnTo>
                <a:lnTo>
                  <a:pt x="7544" y="57072"/>
                </a:lnTo>
                <a:lnTo>
                  <a:pt x="5149" y="57072"/>
                </a:lnTo>
                <a:lnTo>
                  <a:pt x="5269" y="36363"/>
                </a:lnTo>
                <a:lnTo>
                  <a:pt x="7065" y="27858"/>
                </a:lnTo>
                <a:lnTo>
                  <a:pt x="10537" y="22311"/>
                </a:lnTo>
                <a:lnTo>
                  <a:pt x="6586" y="21325"/>
                </a:lnTo>
                <a:lnTo>
                  <a:pt x="6346" y="19846"/>
                </a:lnTo>
                <a:lnTo>
                  <a:pt x="8023" y="123"/>
                </a:lnTo>
                <a:lnTo>
                  <a:pt x="4790" y="0"/>
                </a:lnTo>
                <a:lnTo>
                  <a:pt x="0" y="59414"/>
                </a:lnTo>
                <a:close/>
              </a:path>
            </a:pathLst>
          </a:custGeom>
          <a:solidFill>
            <a:srgbClr val="ded5c5"/>
          </a:solidFill>
          <a:ln w="6191">
            <a:solidFill>
              <a:srgbClr val="b5a68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9" name="ยิ่งศิริ"/>
          <p:cNvSpPr/>
          <p:nvPr/>
        </p:nvSpPr>
        <p:spPr>
          <a:xfrm>
            <a:off x="6014880" y="3736080"/>
            <a:ext cx="32040" cy="25920"/>
          </a:xfrm>
          <a:custGeom>
            <a:avLst/>
            <a:gdLst/>
            <a:ahLst/>
            <a:rect l="l" t="t" r="r" b="b"/>
            <a:pathLst>
              <a:path w="32569" h="26255">
                <a:moveTo>
                  <a:pt x="32569" y="15778"/>
                </a:moveTo>
                <a:lnTo>
                  <a:pt x="18200" y="5793"/>
                </a:lnTo>
                <a:lnTo>
                  <a:pt x="6346" y="0"/>
                </a:lnTo>
                <a:lnTo>
                  <a:pt x="0" y="10847"/>
                </a:lnTo>
                <a:lnTo>
                  <a:pt x="4909" y="12203"/>
                </a:lnTo>
                <a:lnTo>
                  <a:pt x="5748" y="10477"/>
                </a:lnTo>
                <a:lnTo>
                  <a:pt x="25145" y="17504"/>
                </a:lnTo>
                <a:lnTo>
                  <a:pt x="22152" y="24160"/>
                </a:lnTo>
                <a:lnTo>
                  <a:pt x="27420" y="26255"/>
                </a:lnTo>
                <a:lnTo>
                  <a:pt x="32569" y="15778"/>
                </a:lnTo>
                <a:close/>
              </a:path>
            </a:pathLst>
          </a:custGeom>
          <a:solidFill>
            <a:srgbClr val="ded5c5"/>
          </a:solidFill>
          <a:ln w="6191">
            <a:solidFill>
              <a:srgbClr val="b5a68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0" name="หมู่บ้านเอี่ยมพานิช"/>
          <p:cNvSpPr/>
          <p:nvPr/>
        </p:nvSpPr>
        <p:spPr>
          <a:xfrm>
            <a:off x="6224400" y="3916440"/>
            <a:ext cx="92520" cy="23400"/>
          </a:xfrm>
          <a:custGeom>
            <a:avLst/>
            <a:gdLst/>
            <a:ahLst/>
            <a:rect l="l" t="t" r="r" b="b"/>
            <a:pathLst>
              <a:path w="92798" h="23913">
                <a:moveTo>
                  <a:pt x="1916" y="23913"/>
                </a:moveTo>
                <a:lnTo>
                  <a:pt x="49093" y="17873"/>
                </a:lnTo>
                <a:lnTo>
                  <a:pt x="79148" y="12326"/>
                </a:lnTo>
                <a:lnTo>
                  <a:pt x="92439" y="11587"/>
                </a:lnTo>
                <a:lnTo>
                  <a:pt x="92798" y="3082"/>
                </a:lnTo>
                <a:lnTo>
                  <a:pt x="89446" y="1479"/>
                </a:lnTo>
                <a:lnTo>
                  <a:pt x="89206" y="0"/>
                </a:lnTo>
                <a:lnTo>
                  <a:pt x="82501" y="370"/>
                </a:lnTo>
                <a:lnTo>
                  <a:pt x="0" y="11833"/>
                </a:lnTo>
                <a:lnTo>
                  <a:pt x="1916" y="23913"/>
                </a:lnTo>
                <a:close/>
              </a:path>
            </a:pathLst>
          </a:custGeom>
          <a:solidFill>
            <a:srgbClr val="ded5c5"/>
          </a:solidFill>
          <a:ln w="6191">
            <a:solidFill>
              <a:srgbClr val="b5a68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1" name="อุทิศอนุสรณ์"/>
          <p:cNvSpPr/>
          <p:nvPr/>
        </p:nvSpPr>
        <p:spPr>
          <a:xfrm>
            <a:off x="6053400" y="3885840"/>
            <a:ext cx="12240" cy="10440"/>
          </a:xfrm>
          <a:custGeom>
            <a:avLst/>
            <a:gdLst/>
            <a:ahLst/>
            <a:rect l="l" t="t" r="r" b="b"/>
            <a:pathLst>
              <a:path w="12692" h="10847">
                <a:moveTo>
                  <a:pt x="0" y="6040"/>
                </a:moveTo>
                <a:lnTo>
                  <a:pt x="8621" y="10847"/>
                </a:lnTo>
                <a:lnTo>
                  <a:pt x="12692" y="4561"/>
                </a:lnTo>
                <a:lnTo>
                  <a:pt x="4071" y="0"/>
                </a:lnTo>
                <a:lnTo>
                  <a:pt x="0" y="6040"/>
                </a:lnTo>
                <a:close/>
              </a:path>
            </a:pathLst>
          </a:custGeom>
          <a:solidFill>
            <a:srgbClr val="ded5c5"/>
          </a:solidFill>
          <a:ln w="6191">
            <a:solidFill>
              <a:srgbClr val="b5a68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2" name="หมู่บ้านสินทรัพย์นคร"/>
          <p:cNvSpPr/>
          <p:nvPr/>
        </p:nvSpPr>
        <p:spPr>
          <a:xfrm>
            <a:off x="6217920" y="3702240"/>
            <a:ext cx="47520" cy="74520"/>
          </a:xfrm>
          <a:custGeom>
            <a:avLst/>
            <a:gdLst/>
            <a:ahLst/>
            <a:rect l="l" t="t" r="r" b="b"/>
            <a:pathLst>
              <a:path w="47896" h="74822">
                <a:moveTo>
                  <a:pt x="37239" y="7889"/>
                </a:moveTo>
                <a:lnTo>
                  <a:pt x="30294" y="5177"/>
                </a:lnTo>
                <a:lnTo>
                  <a:pt x="27780" y="6533"/>
                </a:lnTo>
                <a:lnTo>
                  <a:pt x="8861" y="0"/>
                </a:lnTo>
                <a:lnTo>
                  <a:pt x="0" y="20708"/>
                </a:lnTo>
                <a:lnTo>
                  <a:pt x="8861" y="24283"/>
                </a:lnTo>
                <a:lnTo>
                  <a:pt x="7544" y="33405"/>
                </a:lnTo>
                <a:lnTo>
                  <a:pt x="24187" y="38952"/>
                </a:lnTo>
                <a:lnTo>
                  <a:pt x="26223" y="34268"/>
                </a:lnTo>
                <a:lnTo>
                  <a:pt x="32210" y="36733"/>
                </a:lnTo>
                <a:lnTo>
                  <a:pt x="31013" y="45238"/>
                </a:lnTo>
                <a:lnTo>
                  <a:pt x="35323" y="45978"/>
                </a:lnTo>
                <a:lnTo>
                  <a:pt x="34844" y="51525"/>
                </a:lnTo>
                <a:lnTo>
                  <a:pt x="43226" y="52141"/>
                </a:lnTo>
                <a:lnTo>
                  <a:pt x="40831" y="74822"/>
                </a:lnTo>
                <a:lnTo>
                  <a:pt x="45262" y="74575"/>
                </a:lnTo>
                <a:lnTo>
                  <a:pt x="46579" y="52018"/>
                </a:lnTo>
                <a:lnTo>
                  <a:pt x="44184" y="51771"/>
                </a:lnTo>
                <a:lnTo>
                  <a:pt x="44184" y="40308"/>
                </a:lnTo>
                <a:lnTo>
                  <a:pt x="45741" y="33405"/>
                </a:lnTo>
                <a:lnTo>
                  <a:pt x="40472" y="31186"/>
                </a:lnTo>
                <a:lnTo>
                  <a:pt x="41789" y="26255"/>
                </a:lnTo>
                <a:lnTo>
                  <a:pt x="46339" y="20462"/>
                </a:lnTo>
                <a:lnTo>
                  <a:pt x="47896" y="12080"/>
                </a:lnTo>
                <a:lnTo>
                  <a:pt x="37239" y="7889"/>
                </a:lnTo>
                <a:close/>
              </a:path>
            </a:pathLst>
          </a:custGeom>
          <a:solidFill>
            <a:srgbClr val="ded5c5"/>
          </a:solidFill>
          <a:ln w="6191">
            <a:solidFill>
              <a:srgbClr val="b5a68d"/>
            </a:solidFill>
            <a:round/>
          </a:ln>
        </p:spPr>
        <p:style>
          <a:lnRef idx="0"/>
          <a:fillRef idx="0"/>
          <a:effectRef idx="0"/>
          <a:fontRef idx="minor"/>
        </p:style>
        <p:txBody>
          <a:bodyPr lIns="90000" rIns="90000" tIns="29520" bIns="29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3" name="พลังสามัคคี"/>
          <p:cNvSpPr/>
          <p:nvPr/>
        </p:nvSpPr>
        <p:spPr>
          <a:xfrm>
            <a:off x="6026760" y="3711960"/>
            <a:ext cx="27360" cy="20520"/>
          </a:xfrm>
          <a:custGeom>
            <a:avLst/>
            <a:gdLst/>
            <a:ahLst/>
            <a:rect l="l" t="t" r="r" b="b"/>
            <a:pathLst>
              <a:path w="27660" h="20708">
                <a:moveTo>
                  <a:pt x="0" y="9861"/>
                </a:moveTo>
                <a:lnTo>
                  <a:pt x="15686" y="20708"/>
                </a:lnTo>
                <a:lnTo>
                  <a:pt x="17243" y="20585"/>
                </a:lnTo>
                <a:lnTo>
                  <a:pt x="19518" y="15285"/>
                </a:lnTo>
                <a:lnTo>
                  <a:pt x="24666" y="18243"/>
                </a:lnTo>
                <a:lnTo>
                  <a:pt x="27660" y="12450"/>
                </a:lnTo>
                <a:lnTo>
                  <a:pt x="5748" y="0"/>
                </a:lnTo>
                <a:lnTo>
                  <a:pt x="0" y="9861"/>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4" name="กองพันทหารช่างที่ 1 รักษาพระองค์"/>
          <p:cNvSpPr/>
          <p:nvPr/>
        </p:nvSpPr>
        <p:spPr>
          <a:xfrm>
            <a:off x="6094800" y="4141800"/>
            <a:ext cx="28800" cy="45720"/>
          </a:xfrm>
          <a:custGeom>
            <a:avLst/>
            <a:gdLst/>
            <a:ahLst/>
            <a:rect l="l" t="t" r="r" b="b"/>
            <a:pathLst>
              <a:path w="29336" h="45978">
                <a:moveTo>
                  <a:pt x="16404" y="45978"/>
                </a:moveTo>
                <a:lnTo>
                  <a:pt x="29336" y="44005"/>
                </a:lnTo>
                <a:lnTo>
                  <a:pt x="23828" y="0"/>
                </a:lnTo>
                <a:lnTo>
                  <a:pt x="9819" y="1233"/>
                </a:lnTo>
                <a:lnTo>
                  <a:pt x="0" y="17257"/>
                </a:lnTo>
                <a:lnTo>
                  <a:pt x="5388" y="20585"/>
                </a:lnTo>
                <a:lnTo>
                  <a:pt x="13411" y="19969"/>
                </a:lnTo>
                <a:lnTo>
                  <a:pt x="16404" y="45978"/>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5" name="พร้อมสุข"/>
          <p:cNvSpPr/>
          <p:nvPr/>
        </p:nvSpPr>
        <p:spPr>
          <a:xfrm>
            <a:off x="6350400" y="4073400"/>
            <a:ext cx="32400" cy="22320"/>
          </a:xfrm>
          <a:custGeom>
            <a:avLst/>
            <a:gdLst/>
            <a:ahLst/>
            <a:rect l="l" t="t" r="r" b="b"/>
            <a:pathLst>
              <a:path w="32689" h="22557">
                <a:moveTo>
                  <a:pt x="2155" y="18366"/>
                </a:moveTo>
                <a:lnTo>
                  <a:pt x="26702" y="22557"/>
                </a:lnTo>
                <a:lnTo>
                  <a:pt x="31731" y="12080"/>
                </a:lnTo>
                <a:lnTo>
                  <a:pt x="32689" y="4931"/>
                </a:lnTo>
                <a:lnTo>
                  <a:pt x="599" y="0"/>
                </a:lnTo>
                <a:lnTo>
                  <a:pt x="0" y="10724"/>
                </a:lnTo>
                <a:lnTo>
                  <a:pt x="2155" y="11464"/>
                </a:lnTo>
                <a:lnTo>
                  <a:pt x="2155" y="18366"/>
                </a:lnTo>
                <a:close/>
              </a:path>
            </a:pathLst>
          </a:custGeom>
          <a:solidFill>
            <a:srgbClr val="ded5c5"/>
          </a:solidFill>
          <a:ln w="6191">
            <a:solidFill>
              <a:srgbClr val="b5a68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6" name="แผ่นดินทองวัดลำผักชี หมุ่ที่ 6"/>
          <p:cNvSpPr/>
          <p:nvPr/>
        </p:nvSpPr>
        <p:spPr>
          <a:xfrm>
            <a:off x="8836560" y="4887000"/>
            <a:ext cx="99000" cy="137880"/>
          </a:xfrm>
          <a:custGeom>
            <a:avLst/>
            <a:gdLst/>
            <a:ahLst/>
            <a:rect l="l" t="t" r="r" b="b"/>
            <a:pathLst>
              <a:path w="99504" h="138180">
                <a:moveTo>
                  <a:pt x="95912" y="15285"/>
                </a:moveTo>
                <a:lnTo>
                  <a:pt x="66096" y="0"/>
                </a:lnTo>
                <a:lnTo>
                  <a:pt x="0" y="69645"/>
                </a:lnTo>
                <a:lnTo>
                  <a:pt x="34844" y="126223"/>
                </a:lnTo>
                <a:lnTo>
                  <a:pt x="44184" y="138180"/>
                </a:lnTo>
                <a:lnTo>
                  <a:pt x="73161" y="120430"/>
                </a:lnTo>
                <a:lnTo>
                  <a:pt x="63941" y="69152"/>
                </a:lnTo>
                <a:lnTo>
                  <a:pt x="99504" y="58797"/>
                </a:lnTo>
                <a:lnTo>
                  <a:pt x="95912" y="1528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7" name="แผ่นดินทองวัดลำพะอง"/>
          <p:cNvSpPr/>
          <p:nvPr/>
        </p:nvSpPr>
        <p:spPr>
          <a:xfrm>
            <a:off x="8916120" y="5123520"/>
            <a:ext cx="52560" cy="47160"/>
          </a:xfrm>
          <a:custGeom>
            <a:avLst/>
            <a:gdLst/>
            <a:ahLst/>
            <a:rect l="l" t="t" r="r" b="b"/>
            <a:pathLst>
              <a:path w="52805" h="47457">
                <a:moveTo>
                  <a:pt x="6586" y="23420"/>
                </a:moveTo>
                <a:lnTo>
                  <a:pt x="0" y="41787"/>
                </a:lnTo>
                <a:lnTo>
                  <a:pt x="31971" y="47457"/>
                </a:lnTo>
                <a:lnTo>
                  <a:pt x="37718" y="43019"/>
                </a:lnTo>
                <a:lnTo>
                  <a:pt x="52805" y="23790"/>
                </a:lnTo>
                <a:lnTo>
                  <a:pt x="33527" y="0"/>
                </a:lnTo>
                <a:lnTo>
                  <a:pt x="19877" y="10108"/>
                </a:lnTo>
                <a:lnTo>
                  <a:pt x="6586" y="23420"/>
                </a:lnTo>
                <a:close/>
              </a:path>
            </a:pathLst>
          </a:custGeom>
          <a:solidFill>
            <a:srgbClr val="ded5c5"/>
          </a:solidFill>
          <a:ln w="6191">
            <a:solidFill>
              <a:srgbClr val="b5a68d"/>
            </a:solidFill>
            <a:round/>
          </a:ln>
        </p:spPr>
        <p:style>
          <a:lnRef idx="0"/>
          <a:fillRef idx="0"/>
          <a:effectRef idx="0"/>
          <a:fontRef idx="minor"/>
        </p:style>
        <p:txBody>
          <a:bodyPr lIns="90000" rIns="90000" tIns="2160" bIns="2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8" name="แผ่นดินทองลำมดตะนอยสร้างสรรค์"/>
          <p:cNvSpPr/>
          <p:nvPr/>
        </p:nvSpPr>
        <p:spPr>
          <a:xfrm>
            <a:off x="9121320" y="4763160"/>
            <a:ext cx="282960" cy="304200"/>
          </a:xfrm>
          <a:custGeom>
            <a:avLst/>
            <a:gdLst/>
            <a:ahLst/>
            <a:rect l="l" t="t" r="r" b="b"/>
            <a:pathLst>
              <a:path w="283424" h="304464">
                <a:moveTo>
                  <a:pt x="227147" y="0"/>
                </a:moveTo>
                <a:lnTo>
                  <a:pt x="222716" y="41910"/>
                </a:lnTo>
                <a:lnTo>
                  <a:pt x="172066" y="57565"/>
                </a:lnTo>
                <a:lnTo>
                  <a:pt x="170989" y="66316"/>
                </a:lnTo>
                <a:lnTo>
                  <a:pt x="137940" y="78396"/>
                </a:lnTo>
                <a:lnTo>
                  <a:pt x="102497" y="128195"/>
                </a:lnTo>
                <a:lnTo>
                  <a:pt x="68491" y="125977"/>
                </a:lnTo>
                <a:lnTo>
                  <a:pt x="46699" y="182678"/>
                </a:lnTo>
                <a:lnTo>
                  <a:pt x="0" y="257623"/>
                </a:lnTo>
                <a:lnTo>
                  <a:pt x="17841" y="286097"/>
                </a:lnTo>
                <a:lnTo>
                  <a:pt x="83459" y="290535"/>
                </a:lnTo>
                <a:lnTo>
                  <a:pt x="103455" y="301012"/>
                </a:lnTo>
                <a:lnTo>
                  <a:pt x="123572" y="304464"/>
                </a:lnTo>
                <a:lnTo>
                  <a:pt x="92798" y="257746"/>
                </a:lnTo>
                <a:lnTo>
                  <a:pt x="144765" y="160121"/>
                </a:lnTo>
                <a:lnTo>
                  <a:pt x="153866" y="152232"/>
                </a:lnTo>
                <a:lnTo>
                  <a:pt x="146083" y="148164"/>
                </a:lnTo>
                <a:lnTo>
                  <a:pt x="152788" y="126223"/>
                </a:lnTo>
                <a:lnTo>
                  <a:pt x="199846" y="135961"/>
                </a:lnTo>
                <a:lnTo>
                  <a:pt x="235289" y="134112"/>
                </a:lnTo>
                <a:lnTo>
                  <a:pt x="237564" y="109213"/>
                </a:lnTo>
                <a:lnTo>
                  <a:pt x="242713" y="84067"/>
                </a:lnTo>
                <a:lnTo>
                  <a:pt x="276479" y="92942"/>
                </a:lnTo>
                <a:lnTo>
                  <a:pt x="283424" y="64221"/>
                </a:lnTo>
                <a:lnTo>
                  <a:pt x="250496" y="51648"/>
                </a:lnTo>
                <a:lnTo>
                  <a:pt x="267619" y="42033"/>
                </a:lnTo>
                <a:lnTo>
                  <a:pt x="262709" y="30323"/>
                </a:lnTo>
                <a:lnTo>
                  <a:pt x="251454" y="5670"/>
                </a:lnTo>
                <a:lnTo>
                  <a:pt x="227147"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9" name="แผ่นดินทองศิริวังพัฒนา"/>
          <p:cNvSpPr/>
          <p:nvPr/>
        </p:nvSpPr>
        <p:spPr>
          <a:xfrm>
            <a:off x="9021240" y="4714560"/>
            <a:ext cx="108360" cy="68040"/>
          </a:xfrm>
          <a:custGeom>
            <a:avLst/>
            <a:gdLst/>
            <a:ahLst/>
            <a:rect l="l" t="t" r="r" b="b"/>
            <a:pathLst>
              <a:path w="108604" h="68535">
                <a:moveTo>
                  <a:pt x="108604" y="32295"/>
                </a:moveTo>
                <a:lnTo>
                  <a:pt x="90883" y="26255"/>
                </a:lnTo>
                <a:lnTo>
                  <a:pt x="68132" y="23420"/>
                </a:lnTo>
                <a:lnTo>
                  <a:pt x="45262" y="17627"/>
                </a:lnTo>
                <a:lnTo>
                  <a:pt x="22272" y="0"/>
                </a:lnTo>
                <a:lnTo>
                  <a:pt x="0" y="22311"/>
                </a:lnTo>
                <a:lnTo>
                  <a:pt x="42388" y="53127"/>
                </a:lnTo>
                <a:lnTo>
                  <a:pt x="88368" y="66316"/>
                </a:lnTo>
                <a:lnTo>
                  <a:pt x="105491" y="68535"/>
                </a:lnTo>
                <a:lnTo>
                  <a:pt x="108604" y="32295"/>
                </a:lnTo>
                <a:close/>
              </a:path>
            </a:pathLst>
          </a:custGeom>
          <a:solidFill>
            <a:srgbClr val="ded5c5"/>
          </a:solidFill>
          <a:ln w="6191">
            <a:solidFill>
              <a:srgbClr val="b5a68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0" name="สุขใจวิลเลจ 2"/>
          <p:cNvSpPr/>
          <p:nvPr/>
        </p:nvSpPr>
        <p:spPr>
          <a:xfrm>
            <a:off x="9088920" y="4633200"/>
            <a:ext cx="38880" cy="64440"/>
          </a:xfrm>
          <a:custGeom>
            <a:avLst/>
            <a:gdLst/>
            <a:ahLst/>
            <a:rect l="l" t="t" r="r" b="b"/>
            <a:pathLst>
              <a:path w="39394" h="64960">
                <a:moveTo>
                  <a:pt x="26343" y="41540"/>
                </a:moveTo>
                <a:lnTo>
                  <a:pt x="39394" y="5054"/>
                </a:lnTo>
                <a:lnTo>
                  <a:pt x="28977" y="0"/>
                </a:lnTo>
                <a:lnTo>
                  <a:pt x="0" y="63974"/>
                </a:lnTo>
                <a:lnTo>
                  <a:pt x="14369" y="64960"/>
                </a:lnTo>
                <a:lnTo>
                  <a:pt x="26343" y="41540"/>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1" name="หมู่บ้านพิบูลย์ทรัพย์ 15"/>
          <p:cNvSpPr/>
          <p:nvPr/>
        </p:nvSpPr>
        <p:spPr>
          <a:xfrm>
            <a:off x="9025560" y="4773960"/>
            <a:ext cx="58320" cy="49680"/>
          </a:xfrm>
          <a:custGeom>
            <a:avLst/>
            <a:gdLst/>
            <a:ahLst/>
            <a:rect l="l" t="t" r="r" b="b"/>
            <a:pathLst>
              <a:path w="58792" h="50045">
                <a:moveTo>
                  <a:pt x="0" y="7396"/>
                </a:moveTo>
                <a:lnTo>
                  <a:pt x="56757" y="50045"/>
                </a:lnTo>
                <a:lnTo>
                  <a:pt x="58792" y="41663"/>
                </a:lnTo>
                <a:lnTo>
                  <a:pt x="5508" y="0"/>
                </a:lnTo>
                <a:lnTo>
                  <a:pt x="0" y="7396"/>
                </a:lnTo>
                <a:close/>
              </a:path>
            </a:pathLst>
          </a:custGeom>
          <a:solidFill>
            <a:srgbClr val="ded5c5"/>
          </a:solidFill>
          <a:ln w="6191">
            <a:solidFill>
              <a:srgbClr val="b5a68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2" name="เคหะชุมชนฉลองกรุงโซน 6"/>
          <p:cNvSpPr/>
          <p:nvPr/>
        </p:nvSpPr>
        <p:spPr>
          <a:xfrm>
            <a:off x="8996040" y="4957560"/>
            <a:ext cx="67680" cy="43560"/>
          </a:xfrm>
          <a:custGeom>
            <a:avLst/>
            <a:gdLst/>
            <a:ahLst/>
            <a:rect l="l" t="t" r="r" b="b"/>
            <a:pathLst>
              <a:path w="67893" h="44005">
                <a:moveTo>
                  <a:pt x="0" y="17504"/>
                </a:moveTo>
                <a:lnTo>
                  <a:pt x="2754" y="44005"/>
                </a:lnTo>
                <a:lnTo>
                  <a:pt x="35563" y="32665"/>
                </a:lnTo>
                <a:lnTo>
                  <a:pt x="55320" y="16148"/>
                </a:lnTo>
                <a:lnTo>
                  <a:pt x="67893" y="8135"/>
                </a:lnTo>
                <a:lnTo>
                  <a:pt x="65737" y="0"/>
                </a:lnTo>
                <a:lnTo>
                  <a:pt x="0" y="17504"/>
                </a:lnTo>
                <a:close/>
              </a:path>
            </a:pathLst>
          </a:custGeom>
          <a:solidFill>
            <a:srgbClr val="ded5c5"/>
          </a:solidFill>
          <a:ln w="6191">
            <a:solidFill>
              <a:srgbClr val="b5a68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3" name="ซอยหลังวัดแก้วแจ่มฟ้า (สี่พระยา)"/>
          <p:cNvSpPr/>
          <p:nvPr/>
        </p:nvSpPr>
        <p:spPr>
          <a:xfrm>
            <a:off x="5127480" y="5585400"/>
            <a:ext cx="30240" cy="37800"/>
          </a:xfrm>
          <a:custGeom>
            <a:avLst/>
            <a:gdLst/>
            <a:ahLst/>
            <a:rect l="l" t="t" r="r" b="b"/>
            <a:pathLst>
              <a:path w="30534" h="38335">
                <a:moveTo>
                  <a:pt x="15806" y="25269"/>
                </a:moveTo>
                <a:lnTo>
                  <a:pt x="17602" y="25762"/>
                </a:lnTo>
                <a:lnTo>
                  <a:pt x="17123" y="29337"/>
                </a:lnTo>
                <a:lnTo>
                  <a:pt x="22511" y="31309"/>
                </a:lnTo>
                <a:lnTo>
                  <a:pt x="23349" y="26132"/>
                </a:lnTo>
                <a:lnTo>
                  <a:pt x="26822" y="26872"/>
                </a:lnTo>
                <a:lnTo>
                  <a:pt x="27061" y="25146"/>
                </a:lnTo>
                <a:lnTo>
                  <a:pt x="30055" y="25516"/>
                </a:lnTo>
                <a:lnTo>
                  <a:pt x="30534" y="22064"/>
                </a:lnTo>
                <a:lnTo>
                  <a:pt x="26582" y="21695"/>
                </a:lnTo>
                <a:lnTo>
                  <a:pt x="26463" y="23174"/>
                </a:lnTo>
                <a:lnTo>
                  <a:pt x="24547" y="23051"/>
                </a:lnTo>
                <a:lnTo>
                  <a:pt x="27301" y="3451"/>
                </a:lnTo>
                <a:lnTo>
                  <a:pt x="20835" y="1602"/>
                </a:lnTo>
                <a:lnTo>
                  <a:pt x="20595" y="3944"/>
                </a:lnTo>
                <a:lnTo>
                  <a:pt x="15686" y="3328"/>
                </a:lnTo>
                <a:lnTo>
                  <a:pt x="15806" y="1726"/>
                </a:lnTo>
                <a:lnTo>
                  <a:pt x="10417" y="2712"/>
                </a:lnTo>
                <a:lnTo>
                  <a:pt x="10537" y="370"/>
                </a:lnTo>
                <a:lnTo>
                  <a:pt x="8023" y="0"/>
                </a:lnTo>
                <a:lnTo>
                  <a:pt x="7663" y="2219"/>
                </a:lnTo>
                <a:lnTo>
                  <a:pt x="2993" y="1972"/>
                </a:lnTo>
                <a:lnTo>
                  <a:pt x="0" y="17627"/>
                </a:lnTo>
                <a:lnTo>
                  <a:pt x="8741" y="19353"/>
                </a:lnTo>
                <a:lnTo>
                  <a:pt x="7304" y="38335"/>
                </a:lnTo>
                <a:lnTo>
                  <a:pt x="9819" y="38089"/>
                </a:lnTo>
                <a:lnTo>
                  <a:pt x="10777" y="24530"/>
                </a:lnTo>
                <a:lnTo>
                  <a:pt x="15806" y="25269"/>
                </a:lnTo>
                <a:close/>
              </a:path>
            </a:pathLst>
          </a:custGeom>
          <a:solidFill>
            <a:srgbClr val="ded5c5"/>
          </a:solidFill>
          <a:ln w="6191">
            <a:solidFill>
              <a:srgbClr val="b5a68d"/>
            </a:solidFill>
            <a:round/>
          </a:ln>
        </p:spPr>
        <p:style>
          <a:lnRef idx="0"/>
          <a:fillRef idx="0"/>
          <a:effectRef idx="0"/>
          <a:fontRef idx="minor"/>
        </p:style>
        <p:txBody>
          <a:bodyPr lIns="90000" rIns="90000" tIns="-7200" bIns="-7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4" name="ศรีเวียง (ชุมชนตรงข้ามโรงเรียนฝึกอาชีพ กทม.)"/>
          <p:cNvSpPr/>
          <p:nvPr/>
        </p:nvSpPr>
        <p:spPr>
          <a:xfrm>
            <a:off x="5094360" y="5750640"/>
            <a:ext cx="35280" cy="23760"/>
          </a:xfrm>
          <a:custGeom>
            <a:avLst/>
            <a:gdLst/>
            <a:ahLst/>
            <a:rect l="l" t="t" r="r" b="b"/>
            <a:pathLst>
              <a:path w="35802" h="24037">
                <a:moveTo>
                  <a:pt x="32928" y="1109"/>
                </a:moveTo>
                <a:lnTo>
                  <a:pt x="32928" y="0"/>
                </a:lnTo>
                <a:lnTo>
                  <a:pt x="23349" y="0"/>
                </a:lnTo>
                <a:lnTo>
                  <a:pt x="22152" y="4191"/>
                </a:lnTo>
                <a:lnTo>
                  <a:pt x="20116" y="3328"/>
                </a:lnTo>
                <a:lnTo>
                  <a:pt x="19398" y="6040"/>
                </a:lnTo>
                <a:lnTo>
                  <a:pt x="7783" y="2835"/>
                </a:lnTo>
                <a:lnTo>
                  <a:pt x="4430" y="11217"/>
                </a:lnTo>
                <a:lnTo>
                  <a:pt x="3233" y="10847"/>
                </a:lnTo>
                <a:lnTo>
                  <a:pt x="1078" y="14175"/>
                </a:lnTo>
                <a:lnTo>
                  <a:pt x="2634" y="14792"/>
                </a:lnTo>
                <a:lnTo>
                  <a:pt x="0" y="20339"/>
                </a:lnTo>
                <a:lnTo>
                  <a:pt x="1676" y="21202"/>
                </a:lnTo>
                <a:lnTo>
                  <a:pt x="1078" y="22927"/>
                </a:lnTo>
                <a:lnTo>
                  <a:pt x="3951" y="24037"/>
                </a:lnTo>
                <a:lnTo>
                  <a:pt x="4550" y="20708"/>
                </a:lnTo>
                <a:lnTo>
                  <a:pt x="7544" y="21571"/>
                </a:lnTo>
                <a:lnTo>
                  <a:pt x="10058" y="13682"/>
                </a:lnTo>
                <a:lnTo>
                  <a:pt x="16285" y="15408"/>
                </a:lnTo>
                <a:lnTo>
                  <a:pt x="15446" y="20955"/>
                </a:lnTo>
                <a:lnTo>
                  <a:pt x="22870" y="22188"/>
                </a:lnTo>
                <a:lnTo>
                  <a:pt x="23828" y="17380"/>
                </a:lnTo>
                <a:lnTo>
                  <a:pt x="27181" y="18243"/>
                </a:lnTo>
                <a:lnTo>
                  <a:pt x="26463" y="23667"/>
                </a:lnTo>
                <a:lnTo>
                  <a:pt x="31372" y="23174"/>
                </a:lnTo>
                <a:lnTo>
                  <a:pt x="31492" y="13066"/>
                </a:lnTo>
                <a:lnTo>
                  <a:pt x="35802" y="12573"/>
                </a:lnTo>
                <a:lnTo>
                  <a:pt x="32928" y="1109"/>
                </a:lnTo>
                <a:close/>
              </a:path>
            </a:pathLst>
          </a:custGeom>
          <a:solidFill>
            <a:srgbClr val="ded5c5"/>
          </a:solidFill>
          <a:ln w="6191">
            <a:solidFill>
              <a:srgbClr val="b5a68d"/>
            </a:solidFill>
            <a:round/>
          </a:ln>
        </p:spPr>
        <p:style>
          <a:lnRef idx="0"/>
          <a:fillRef idx="0"/>
          <a:effectRef idx="0"/>
          <a:fontRef idx="minor"/>
        </p:style>
        <p:txBody>
          <a:bodyPr lIns="90000" rIns="90000" tIns="-21240" bIns="-21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5" name="อาคารสงเคราะห์ทบ.(ส่วนกลาง)"/>
          <p:cNvSpPr/>
          <p:nvPr/>
        </p:nvSpPr>
        <p:spPr>
          <a:xfrm>
            <a:off x="5985720" y="4105440"/>
            <a:ext cx="118440" cy="96120"/>
          </a:xfrm>
          <a:custGeom>
            <a:avLst/>
            <a:gdLst/>
            <a:ahLst/>
            <a:rect l="l" t="t" r="r" b="b"/>
            <a:pathLst>
              <a:path w="118662" h="96516">
                <a:moveTo>
                  <a:pt x="20236" y="0"/>
                </a:moveTo>
                <a:lnTo>
                  <a:pt x="0" y="38335"/>
                </a:lnTo>
                <a:lnTo>
                  <a:pt x="16285" y="44622"/>
                </a:lnTo>
                <a:lnTo>
                  <a:pt x="6705" y="62002"/>
                </a:lnTo>
                <a:lnTo>
                  <a:pt x="22391" y="96516"/>
                </a:lnTo>
                <a:lnTo>
                  <a:pt x="50889" y="55839"/>
                </a:lnTo>
                <a:lnTo>
                  <a:pt x="89805" y="76794"/>
                </a:lnTo>
                <a:lnTo>
                  <a:pt x="118662" y="31063"/>
                </a:lnTo>
                <a:lnTo>
                  <a:pt x="79388" y="3082"/>
                </a:lnTo>
                <a:lnTo>
                  <a:pt x="67773" y="24899"/>
                </a:lnTo>
                <a:lnTo>
                  <a:pt x="20236"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6" name="อาคารสวัสดิการ นทพ."/>
          <p:cNvSpPr/>
          <p:nvPr/>
        </p:nvSpPr>
        <p:spPr>
          <a:xfrm>
            <a:off x="6091560" y="4183560"/>
            <a:ext cx="19800" cy="14040"/>
          </a:xfrm>
          <a:custGeom>
            <a:avLst/>
            <a:gdLst/>
            <a:ahLst/>
            <a:rect l="l" t="t" r="r" b="b"/>
            <a:pathLst>
              <a:path w="19997" h="14545">
                <a:moveTo>
                  <a:pt x="0" y="2342"/>
                </a:moveTo>
                <a:lnTo>
                  <a:pt x="1557" y="14545"/>
                </a:lnTo>
                <a:lnTo>
                  <a:pt x="19997" y="12450"/>
                </a:lnTo>
                <a:lnTo>
                  <a:pt x="18200" y="0"/>
                </a:lnTo>
                <a:lnTo>
                  <a:pt x="0" y="2342"/>
                </a:lnTo>
                <a:close/>
              </a:path>
            </a:pathLst>
          </a:custGeom>
          <a:solidFill>
            <a:srgbClr val="ded5c5"/>
          </a:solidFill>
          <a:ln w="6191">
            <a:solidFill>
              <a:srgbClr val="b5a68d"/>
            </a:solidFill>
            <a:round/>
          </a:ln>
        </p:spPr>
        <p:style>
          <a:lnRef idx="0"/>
          <a:fillRef idx="0"/>
          <a:effectRef idx="0"/>
          <a:fontRef idx="minor"/>
        </p:style>
        <p:txBody>
          <a:bodyPr lIns="90000" rIns="90000" tIns="-30960" bIns="-30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7" name="หมู่บ้านสวนทองวิลล่า1"/>
          <p:cNvSpPr/>
          <p:nvPr/>
        </p:nvSpPr>
        <p:spPr>
          <a:xfrm>
            <a:off x="6037200" y="3702960"/>
            <a:ext cx="48600" cy="30960"/>
          </a:xfrm>
          <a:custGeom>
            <a:avLst/>
            <a:gdLst/>
            <a:ahLst/>
            <a:rect l="l" t="t" r="r" b="b"/>
            <a:pathLst>
              <a:path w="49093" h="31186">
                <a:moveTo>
                  <a:pt x="3353" y="0"/>
                </a:moveTo>
                <a:lnTo>
                  <a:pt x="0" y="5793"/>
                </a:lnTo>
                <a:lnTo>
                  <a:pt x="47896" y="31186"/>
                </a:lnTo>
                <a:lnTo>
                  <a:pt x="49093" y="26379"/>
                </a:lnTo>
                <a:lnTo>
                  <a:pt x="16285" y="8875"/>
                </a:lnTo>
                <a:lnTo>
                  <a:pt x="3353" y="0"/>
                </a:lnTo>
                <a:close/>
              </a:path>
            </a:pathLst>
          </a:custGeom>
          <a:solidFill>
            <a:srgbClr val="ded5c5"/>
          </a:solidFill>
          <a:ln w="6191">
            <a:solidFill>
              <a:srgbClr val="b5a68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8" name="ชุมชนแฟลตสน.บางเขน"/>
          <p:cNvSpPr/>
          <p:nvPr/>
        </p:nvSpPr>
        <p:spPr>
          <a:xfrm>
            <a:off x="6086160" y="3846960"/>
            <a:ext cx="11160" cy="11520"/>
          </a:xfrm>
          <a:custGeom>
            <a:avLst/>
            <a:gdLst/>
            <a:ahLst/>
            <a:rect l="l" t="t" r="r" b="b"/>
            <a:pathLst>
              <a:path w="11615" h="11957">
                <a:moveTo>
                  <a:pt x="11615" y="4438"/>
                </a:moveTo>
                <a:lnTo>
                  <a:pt x="4430" y="0"/>
                </a:lnTo>
                <a:lnTo>
                  <a:pt x="0" y="7396"/>
                </a:lnTo>
                <a:lnTo>
                  <a:pt x="7903" y="11957"/>
                </a:lnTo>
                <a:lnTo>
                  <a:pt x="11615" y="4438"/>
                </a:lnTo>
                <a:close/>
              </a:path>
            </a:pathLst>
          </a:custGeom>
          <a:solidFill>
            <a:srgbClr val="ded5c5"/>
          </a:solidFill>
          <a:ln w="6191">
            <a:solidFill>
              <a:srgbClr val="b5a68d"/>
            </a:solidFill>
            <a:round/>
          </a:ln>
        </p:spPr>
        <p:style>
          <a:lnRef idx="0"/>
          <a:fillRef idx="0"/>
          <a:effectRef idx="0"/>
          <a:fontRef idx="minor"/>
        </p:style>
        <p:txBody>
          <a:bodyPr lIns="90000" rIns="90000" tIns="-33480" bIns="-33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9" name="ชุมชนหมู่บ้านศรัณจิต 1"/>
          <p:cNvSpPr/>
          <p:nvPr/>
        </p:nvSpPr>
        <p:spPr>
          <a:xfrm>
            <a:off x="6504120" y="6125040"/>
            <a:ext cx="22320" cy="17640"/>
          </a:xfrm>
          <a:custGeom>
            <a:avLst/>
            <a:gdLst/>
            <a:ahLst/>
            <a:rect l="l" t="t" r="r" b="b"/>
            <a:pathLst>
              <a:path w="22751" h="17873">
                <a:moveTo>
                  <a:pt x="3472" y="17873"/>
                </a:moveTo>
                <a:lnTo>
                  <a:pt x="22511" y="13682"/>
                </a:lnTo>
                <a:lnTo>
                  <a:pt x="22751" y="1849"/>
                </a:lnTo>
                <a:lnTo>
                  <a:pt x="20356" y="2096"/>
                </a:lnTo>
                <a:lnTo>
                  <a:pt x="20356" y="0"/>
                </a:lnTo>
                <a:lnTo>
                  <a:pt x="1078" y="2958"/>
                </a:lnTo>
                <a:lnTo>
                  <a:pt x="1437" y="5300"/>
                </a:lnTo>
                <a:lnTo>
                  <a:pt x="0" y="5670"/>
                </a:lnTo>
                <a:lnTo>
                  <a:pt x="3472" y="17873"/>
                </a:lnTo>
                <a:close/>
              </a:path>
            </a:pathLst>
          </a:custGeom>
          <a:solidFill>
            <a:srgbClr val="ded5c5"/>
          </a:solidFill>
          <a:ln w="6191">
            <a:solidFill>
              <a:srgbClr val="b5a68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0" name="หมู่บ้านยศศักดิ์นิเวศน์"/>
          <p:cNvSpPr/>
          <p:nvPr/>
        </p:nvSpPr>
        <p:spPr>
          <a:xfrm>
            <a:off x="6497280" y="6176520"/>
            <a:ext cx="17280" cy="30600"/>
          </a:xfrm>
          <a:custGeom>
            <a:avLst/>
            <a:gdLst/>
            <a:ahLst/>
            <a:rect l="l" t="t" r="r" b="b"/>
            <a:pathLst>
              <a:path w="17721" h="30816">
                <a:moveTo>
                  <a:pt x="13171" y="28721"/>
                </a:moveTo>
                <a:lnTo>
                  <a:pt x="14249" y="30816"/>
                </a:lnTo>
                <a:lnTo>
                  <a:pt x="17721" y="29460"/>
                </a:lnTo>
                <a:lnTo>
                  <a:pt x="12573" y="15038"/>
                </a:lnTo>
                <a:lnTo>
                  <a:pt x="14608" y="14545"/>
                </a:lnTo>
                <a:lnTo>
                  <a:pt x="10777" y="0"/>
                </a:lnTo>
                <a:lnTo>
                  <a:pt x="2275" y="1233"/>
                </a:lnTo>
                <a:lnTo>
                  <a:pt x="0" y="2342"/>
                </a:lnTo>
                <a:lnTo>
                  <a:pt x="13171" y="28721"/>
                </a:lnTo>
                <a:close/>
              </a:path>
            </a:pathLst>
          </a:custGeom>
          <a:solidFill>
            <a:srgbClr val="ded5c5"/>
          </a:solidFill>
          <a:ln w="6191">
            <a:solidFill>
              <a:srgbClr val="b5a68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1" name="ชุมชนหมู่บ้านการท่าเรือ"/>
          <p:cNvSpPr/>
          <p:nvPr/>
        </p:nvSpPr>
        <p:spPr>
          <a:xfrm>
            <a:off x="6485760" y="6060960"/>
            <a:ext cx="45360" cy="23400"/>
          </a:xfrm>
          <a:custGeom>
            <a:avLst/>
            <a:gdLst/>
            <a:ahLst/>
            <a:rect l="l" t="t" r="r" b="b"/>
            <a:pathLst>
              <a:path w="45741" h="23667">
                <a:moveTo>
                  <a:pt x="0" y="15655"/>
                </a:moveTo>
                <a:lnTo>
                  <a:pt x="2754" y="23667"/>
                </a:lnTo>
                <a:lnTo>
                  <a:pt x="45741" y="7889"/>
                </a:lnTo>
                <a:lnTo>
                  <a:pt x="43226" y="0"/>
                </a:lnTo>
                <a:lnTo>
                  <a:pt x="0" y="15655"/>
                </a:lnTo>
                <a:close/>
              </a:path>
            </a:pathLst>
          </a:custGeom>
          <a:solidFill>
            <a:srgbClr val="ded5c5"/>
          </a:solidFill>
          <a:ln w="6191">
            <a:solidFill>
              <a:srgbClr val="b5a68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2" name="หมู่บ้านไทยอาคาร"/>
          <p:cNvSpPr/>
          <p:nvPr/>
        </p:nvSpPr>
        <p:spPr>
          <a:xfrm>
            <a:off x="6478920" y="6133680"/>
            <a:ext cx="30600" cy="26640"/>
          </a:xfrm>
          <a:custGeom>
            <a:avLst/>
            <a:gdLst/>
            <a:ahLst/>
            <a:rect l="l" t="t" r="r" b="b"/>
            <a:pathLst>
              <a:path w="31132" h="26872">
                <a:moveTo>
                  <a:pt x="25145" y="0"/>
                </a:moveTo>
                <a:lnTo>
                  <a:pt x="0" y="7766"/>
                </a:lnTo>
                <a:lnTo>
                  <a:pt x="5987" y="26872"/>
                </a:lnTo>
                <a:lnTo>
                  <a:pt x="31132" y="20585"/>
                </a:lnTo>
                <a:lnTo>
                  <a:pt x="25145" y="0"/>
                </a:lnTo>
                <a:close/>
              </a:path>
            </a:pathLst>
          </a:custGeom>
          <a:solidFill>
            <a:srgbClr val="ded5c5"/>
          </a:solidFill>
          <a:ln w="6191">
            <a:solidFill>
              <a:srgbClr val="b5a68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3" name="หมู่บ้านสุขสุวรรณ"/>
          <p:cNvSpPr/>
          <p:nvPr/>
        </p:nvSpPr>
        <p:spPr>
          <a:xfrm>
            <a:off x="6491880" y="6071760"/>
            <a:ext cx="57960" cy="27360"/>
          </a:xfrm>
          <a:custGeom>
            <a:avLst/>
            <a:gdLst/>
            <a:ahLst/>
            <a:rect l="l" t="t" r="r" b="b"/>
            <a:pathLst>
              <a:path w="58433" h="27858">
                <a:moveTo>
                  <a:pt x="1796" y="27858"/>
                </a:moveTo>
                <a:lnTo>
                  <a:pt x="58433" y="4931"/>
                </a:lnTo>
                <a:lnTo>
                  <a:pt x="58074" y="0"/>
                </a:lnTo>
                <a:lnTo>
                  <a:pt x="38556" y="7766"/>
                </a:lnTo>
                <a:lnTo>
                  <a:pt x="37958" y="5917"/>
                </a:lnTo>
                <a:lnTo>
                  <a:pt x="30653" y="9245"/>
                </a:lnTo>
                <a:lnTo>
                  <a:pt x="31132" y="10601"/>
                </a:lnTo>
                <a:lnTo>
                  <a:pt x="0" y="23051"/>
                </a:lnTo>
                <a:lnTo>
                  <a:pt x="1796" y="27858"/>
                </a:lnTo>
                <a:close/>
              </a:path>
            </a:pathLst>
          </a:custGeom>
          <a:solidFill>
            <a:srgbClr val="ded5c5"/>
          </a:solidFill>
          <a:ln w="6191">
            <a:solidFill>
              <a:srgbClr val="b5a68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4" name="ชุมชนหมู่บ้านศรัณจิต 4"/>
          <p:cNvSpPr/>
          <p:nvPr/>
        </p:nvSpPr>
        <p:spPr>
          <a:xfrm>
            <a:off x="6453720" y="6069600"/>
            <a:ext cx="28800" cy="22680"/>
          </a:xfrm>
          <a:custGeom>
            <a:avLst/>
            <a:gdLst/>
            <a:ahLst/>
            <a:rect l="l" t="t" r="r" b="b"/>
            <a:pathLst>
              <a:path w="29097" h="22927">
                <a:moveTo>
                  <a:pt x="0" y="6780"/>
                </a:moveTo>
                <a:lnTo>
                  <a:pt x="5867" y="22927"/>
                </a:lnTo>
                <a:lnTo>
                  <a:pt x="29097" y="17134"/>
                </a:lnTo>
                <a:lnTo>
                  <a:pt x="23469" y="0"/>
                </a:lnTo>
                <a:lnTo>
                  <a:pt x="0" y="6780"/>
                </a:lnTo>
                <a:close/>
              </a:path>
            </a:pathLst>
          </a:custGeom>
          <a:solidFill>
            <a:srgbClr val="ded5c5"/>
          </a:solidFill>
          <a:ln w="6191">
            <a:solidFill>
              <a:srgbClr val="b5a68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5" name="ประวิทย์สามัคคี"/>
          <p:cNvSpPr/>
          <p:nvPr/>
        </p:nvSpPr>
        <p:spPr>
          <a:xfrm>
            <a:off x="6514200" y="6199560"/>
            <a:ext cx="21600" cy="11880"/>
          </a:xfrm>
          <a:custGeom>
            <a:avLst/>
            <a:gdLst/>
            <a:ahLst/>
            <a:rect l="l" t="t" r="r" b="b"/>
            <a:pathLst>
              <a:path w="21793" h="12326">
                <a:moveTo>
                  <a:pt x="2993" y="10354"/>
                </a:moveTo>
                <a:lnTo>
                  <a:pt x="3472" y="12326"/>
                </a:lnTo>
                <a:lnTo>
                  <a:pt x="21793" y="6903"/>
                </a:lnTo>
                <a:lnTo>
                  <a:pt x="19877" y="0"/>
                </a:lnTo>
                <a:lnTo>
                  <a:pt x="0" y="6903"/>
                </a:lnTo>
                <a:lnTo>
                  <a:pt x="3592" y="8629"/>
                </a:lnTo>
                <a:lnTo>
                  <a:pt x="2993" y="10354"/>
                </a:lnTo>
                <a:close/>
              </a:path>
            </a:pathLst>
          </a:custGeom>
          <a:solidFill>
            <a:srgbClr val="ded5c5"/>
          </a:solidFill>
          <a:ln w="6191">
            <a:solidFill>
              <a:srgbClr val="b5a68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6" name="ชุมชนหมู่บ้านสุขใจ"/>
          <p:cNvSpPr/>
          <p:nvPr/>
        </p:nvSpPr>
        <p:spPr>
          <a:xfrm>
            <a:off x="6424200" y="6100920"/>
            <a:ext cx="31320" cy="70920"/>
          </a:xfrm>
          <a:custGeom>
            <a:avLst/>
            <a:gdLst/>
            <a:ahLst/>
            <a:rect l="l" t="t" r="r" b="b"/>
            <a:pathLst>
              <a:path w="31731" h="71124">
                <a:moveTo>
                  <a:pt x="23349" y="71124"/>
                </a:moveTo>
                <a:lnTo>
                  <a:pt x="31731" y="68165"/>
                </a:lnTo>
                <a:lnTo>
                  <a:pt x="7783" y="0"/>
                </a:lnTo>
                <a:lnTo>
                  <a:pt x="0" y="3082"/>
                </a:lnTo>
                <a:lnTo>
                  <a:pt x="120" y="6040"/>
                </a:lnTo>
                <a:lnTo>
                  <a:pt x="18560" y="54113"/>
                </a:lnTo>
                <a:lnTo>
                  <a:pt x="23349" y="71124"/>
                </a:lnTo>
                <a:close/>
              </a:path>
            </a:pathLst>
          </a:custGeom>
          <a:solidFill>
            <a:srgbClr val="ded5c5"/>
          </a:solidFill>
          <a:ln w="6191">
            <a:solidFill>
              <a:srgbClr val="b5a68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7" name="บึงบัว 53"/>
          <p:cNvSpPr/>
          <p:nvPr/>
        </p:nvSpPr>
        <p:spPr>
          <a:xfrm>
            <a:off x="6438240" y="6094800"/>
            <a:ext cx="36000" cy="74160"/>
          </a:xfrm>
          <a:custGeom>
            <a:avLst/>
            <a:gdLst/>
            <a:ahLst/>
            <a:rect l="l" t="t" r="r" b="b"/>
            <a:pathLst>
              <a:path w="36521" h="74575">
                <a:moveTo>
                  <a:pt x="718" y="986"/>
                </a:moveTo>
                <a:lnTo>
                  <a:pt x="1437" y="2835"/>
                </a:lnTo>
                <a:lnTo>
                  <a:pt x="0" y="3205"/>
                </a:lnTo>
                <a:lnTo>
                  <a:pt x="6705" y="22311"/>
                </a:lnTo>
                <a:lnTo>
                  <a:pt x="26702" y="74575"/>
                </a:lnTo>
                <a:lnTo>
                  <a:pt x="36521" y="69768"/>
                </a:lnTo>
                <a:lnTo>
                  <a:pt x="34365" y="67796"/>
                </a:lnTo>
                <a:lnTo>
                  <a:pt x="24666" y="44868"/>
                </a:lnTo>
                <a:lnTo>
                  <a:pt x="22990" y="44252"/>
                </a:lnTo>
                <a:lnTo>
                  <a:pt x="23349" y="41910"/>
                </a:lnTo>
                <a:lnTo>
                  <a:pt x="10417" y="9368"/>
                </a:lnTo>
                <a:lnTo>
                  <a:pt x="8980" y="9615"/>
                </a:lnTo>
                <a:lnTo>
                  <a:pt x="5388" y="0"/>
                </a:lnTo>
                <a:lnTo>
                  <a:pt x="718" y="986"/>
                </a:lnTo>
                <a:close/>
                <a:moveTo>
                  <a:pt x="17123" y="30077"/>
                </a:moveTo>
                <a:lnTo>
                  <a:pt x="17003" y="29584"/>
                </a:lnTo>
                <a:lnTo>
                  <a:pt x="17362" y="30446"/>
                </a:lnTo>
                <a:lnTo>
                  <a:pt x="17123" y="30077"/>
                </a:lnTo>
                <a:close/>
              </a:path>
            </a:pathLst>
          </a:custGeom>
          <a:solidFill>
            <a:srgbClr val="ded5c5"/>
          </a:solidFill>
          <a:ln w="6191">
            <a:solidFill>
              <a:srgbClr val="b5a68d"/>
            </a:solidFill>
            <a:round/>
          </a:ln>
        </p:spPr>
        <p:style>
          <a:lnRef idx="0"/>
          <a:fillRef idx="0"/>
          <a:effectRef idx="0"/>
          <a:fontRef idx="minor"/>
        </p:style>
        <p:txBody>
          <a:bodyPr lIns="90000" rIns="90000" tIns="29160" bIns="29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8" name="ชุมชนหมู่บ้านศรัณจิต2"/>
          <p:cNvSpPr/>
          <p:nvPr/>
        </p:nvSpPr>
        <p:spPr>
          <a:xfrm>
            <a:off x="6475320" y="6125040"/>
            <a:ext cx="28440" cy="16200"/>
          </a:xfrm>
          <a:custGeom>
            <a:avLst/>
            <a:gdLst/>
            <a:ahLst/>
            <a:rect l="l" t="t" r="r" b="b"/>
            <a:pathLst>
              <a:path w="28738" h="16517">
                <a:moveTo>
                  <a:pt x="3592" y="16517"/>
                </a:moveTo>
                <a:lnTo>
                  <a:pt x="28738" y="8752"/>
                </a:lnTo>
                <a:lnTo>
                  <a:pt x="27660" y="4931"/>
                </a:lnTo>
                <a:lnTo>
                  <a:pt x="25984" y="5177"/>
                </a:lnTo>
                <a:lnTo>
                  <a:pt x="24187" y="0"/>
                </a:lnTo>
                <a:lnTo>
                  <a:pt x="0" y="7766"/>
                </a:lnTo>
                <a:lnTo>
                  <a:pt x="3592" y="16517"/>
                </a:lnTo>
                <a:close/>
              </a:path>
            </a:pathLst>
          </a:custGeom>
          <a:solidFill>
            <a:srgbClr val="ded5c5"/>
          </a:solidFill>
          <a:ln w="6191">
            <a:solidFill>
              <a:srgbClr val="b5a68d"/>
            </a:solidFill>
            <a:round/>
          </a:ln>
        </p:spPr>
        <p:style>
          <a:lnRef idx="0"/>
          <a:fillRef idx="0"/>
          <a:effectRef idx="0"/>
          <a:fontRef idx="minor"/>
        </p:style>
        <p:txBody>
          <a:bodyPr lIns="90000" rIns="90000" tIns="-28800" bIns="-28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9" name="กองซ่อมเครื่องสื่อสาร-อิเล็คทรอนิคส์"/>
          <p:cNvSpPr/>
          <p:nvPr/>
        </p:nvSpPr>
        <p:spPr>
          <a:xfrm>
            <a:off x="6126120" y="3728160"/>
            <a:ext cx="42120" cy="25920"/>
          </a:xfrm>
          <a:custGeom>
            <a:avLst/>
            <a:gdLst/>
            <a:ahLst/>
            <a:rect l="l" t="t" r="r" b="b"/>
            <a:pathLst>
              <a:path w="42627" h="26132">
                <a:moveTo>
                  <a:pt x="5987" y="0"/>
                </a:moveTo>
                <a:lnTo>
                  <a:pt x="0" y="10478"/>
                </a:lnTo>
                <a:lnTo>
                  <a:pt x="39035" y="26132"/>
                </a:lnTo>
                <a:lnTo>
                  <a:pt x="42627" y="18983"/>
                </a:lnTo>
                <a:lnTo>
                  <a:pt x="39275" y="17380"/>
                </a:lnTo>
                <a:lnTo>
                  <a:pt x="38915" y="14422"/>
                </a:lnTo>
                <a:lnTo>
                  <a:pt x="24187" y="6410"/>
                </a:lnTo>
                <a:lnTo>
                  <a:pt x="5987" y="0"/>
                </a:lnTo>
                <a:close/>
              </a:path>
            </a:pathLst>
          </a:custGeom>
          <a:solidFill>
            <a:srgbClr val="ded5c5"/>
          </a:solidFill>
          <a:ln w="6191">
            <a:solidFill>
              <a:srgbClr val="b5a68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0" name="ชุมชนกองการภาพ"/>
          <p:cNvSpPr/>
          <p:nvPr/>
        </p:nvSpPr>
        <p:spPr>
          <a:xfrm>
            <a:off x="5960160" y="3940920"/>
            <a:ext cx="28080" cy="23040"/>
          </a:xfrm>
          <a:custGeom>
            <a:avLst/>
            <a:gdLst/>
            <a:ahLst/>
            <a:rect l="l" t="t" r="r" b="b"/>
            <a:pathLst>
              <a:path w="28618" h="23544">
                <a:moveTo>
                  <a:pt x="8142" y="3205"/>
                </a:moveTo>
                <a:lnTo>
                  <a:pt x="9938" y="12080"/>
                </a:lnTo>
                <a:lnTo>
                  <a:pt x="958" y="11340"/>
                </a:lnTo>
                <a:lnTo>
                  <a:pt x="0" y="22434"/>
                </a:lnTo>
                <a:lnTo>
                  <a:pt x="19637" y="23544"/>
                </a:lnTo>
                <a:lnTo>
                  <a:pt x="28618" y="11094"/>
                </a:lnTo>
                <a:lnTo>
                  <a:pt x="24786" y="3821"/>
                </a:lnTo>
                <a:lnTo>
                  <a:pt x="18799" y="6040"/>
                </a:lnTo>
                <a:lnTo>
                  <a:pt x="16165" y="0"/>
                </a:lnTo>
                <a:lnTo>
                  <a:pt x="8142" y="3205"/>
                </a:lnTo>
                <a:close/>
              </a:path>
            </a:pathLst>
          </a:custGeom>
          <a:solidFill>
            <a:srgbClr val="ded5c5"/>
          </a:solidFill>
          <a:ln w="6191">
            <a:solidFill>
              <a:srgbClr val="b5a68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1" name="ซอยเสือเอก 1-2"/>
          <p:cNvSpPr/>
          <p:nvPr/>
        </p:nvSpPr>
        <p:spPr>
          <a:xfrm>
            <a:off x="6257520" y="3802680"/>
            <a:ext cx="45000" cy="12960"/>
          </a:xfrm>
          <a:custGeom>
            <a:avLst/>
            <a:gdLst/>
            <a:ahLst/>
            <a:rect l="l" t="t" r="r" b="b"/>
            <a:pathLst>
              <a:path w="45262" h="13189">
                <a:moveTo>
                  <a:pt x="38796" y="616"/>
                </a:moveTo>
                <a:lnTo>
                  <a:pt x="1197" y="4068"/>
                </a:lnTo>
                <a:lnTo>
                  <a:pt x="1796" y="10354"/>
                </a:lnTo>
                <a:lnTo>
                  <a:pt x="0" y="10601"/>
                </a:lnTo>
                <a:lnTo>
                  <a:pt x="359" y="13189"/>
                </a:lnTo>
                <a:lnTo>
                  <a:pt x="45262" y="7396"/>
                </a:lnTo>
                <a:lnTo>
                  <a:pt x="45262" y="0"/>
                </a:lnTo>
                <a:lnTo>
                  <a:pt x="38796" y="616"/>
                </a:lnTo>
                <a:close/>
              </a:path>
            </a:pathLst>
          </a:custGeom>
          <a:solidFill>
            <a:srgbClr val="ded5c5"/>
          </a:solidFill>
          <a:ln w="6191">
            <a:solidFill>
              <a:srgbClr val="b5a68d"/>
            </a:solidFill>
            <a:round/>
          </a:ln>
        </p:spPr>
        <p:style>
          <a:lnRef idx="0"/>
          <a:fillRef idx="0"/>
          <a:effectRef idx="0"/>
          <a:fontRef idx="minor"/>
        </p:style>
        <p:txBody>
          <a:bodyPr lIns="90000" rIns="90000" tIns="-32040" bIns="-32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2" name="ซอยแจ้งวัฒนะ 4"/>
          <p:cNvSpPr/>
          <p:nvPr/>
        </p:nvSpPr>
        <p:spPr>
          <a:xfrm>
            <a:off x="5998680" y="3750480"/>
            <a:ext cx="48960" cy="36720"/>
          </a:xfrm>
          <a:custGeom>
            <a:avLst/>
            <a:gdLst/>
            <a:ahLst/>
            <a:rect l="l" t="t" r="r" b="b"/>
            <a:pathLst>
              <a:path w="49333" h="36979">
                <a:moveTo>
                  <a:pt x="0" y="10354"/>
                </a:moveTo>
                <a:lnTo>
                  <a:pt x="33527" y="27611"/>
                </a:lnTo>
                <a:lnTo>
                  <a:pt x="30414" y="35130"/>
                </a:lnTo>
                <a:lnTo>
                  <a:pt x="36281" y="36979"/>
                </a:lnTo>
                <a:lnTo>
                  <a:pt x="37479" y="31556"/>
                </a:lnTo>
                <a:lnTo>
                  <a:pt x="46220" y="34391"/>
                </a:lnTo>
                <a:lnTo>
                  <a:pt x="49333" y="23174"/>
                </a:lnTo>
                <a:lnTo>
                  <a:pt x="46459" y="23297"/>
                </a:lnTo>
                <a:lnTo>
                  <a:pt x="47776" y="18860"/>
                </a:lnTo>
                <a:lnTo>
                  <a:pt x="43346" y="17134"/>
                </a:lnTo>
                <a:lnTo>
                  <a:pt x="44184" y="14915"/>
                </a:lnTo>
                <a:lnTo>
                  <a:pt x="27780" y="8012"/>
                </a:lnTo>
                <a:lnTo>
                  <a:pt x="26702" y="10108"/>
                </a:lnTo>
                <a:lnTo>
                  <a:pt x="4909" y="0"/>
                </a:lnTo>
                <a:lnTo>
                  <a:pt x="359" y="6163"/>
                </a:lnTo>
                <a:lnTo>
                  <a:pt x="1796" y="6780"/>
                </a:lnTo>
                <a:lnTo>
                  <a:pt x="0" y="10354"/>
                </a:lnTo>
                <a:close/>
              </a:path>
            </a:pathLst>
          </a:custGeom>
          <a:solidFill>
            <a:srgbClr val="ded5c5"/>
          </a:solidFill>
          <a:ln w="6191">
            <a:solidFill>
              <a:srgbClr val="b5a68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3" name="หมู่บ้านคงหิรัญ"/>
          <p:cNvSpPr/>
          <p:nvPr/>
        </p:nvSpPr>
        <p:spPr>
          <a:xfrm>
            <a:off x="6548040" y="4071600"/>
            <a:ext cx="12240" cy="41040"/>
          </a:xfrm>
          <a:custGeom>
            <a:avLst/>
            <a:gdLst/>
            <a:ahLst/>
            <a:rect l="l" t="t" r="r" b="b"/>
            <a:pathLst>
              <a:path w="12692" h="41540">
                <a:moveTo>
                  <a:pt x="838" y="4931"/>
                </a:moveTo>
                <a:lnTo>
                  <a:pt x="0" y="12943"/>
                </a:lnTo>
                <a:lnTo>
                  <a:pt x="1437" y="41540"/>
                </a:lnTo>
                <a:lnTo>
                  <a:pt x="11016" y="41294"/>
                </a:lnTo>
                <a:lnTo>
                  <a:pt x="8621" y="10847"/>
                </a:lnTo>
                <a:lnTo>
                  <a:pt x="12692" y="10231"/>
                </a:lnTo>
                <a:lnTo>
                  <a:pt x="11136" y="0"/>
                </a:lnTo>
                <a:lnTo>
                  <a:pt x="1078" y="1849"/>
                </a:lnTo>
                <a:lnTo>
                  <a:pt x="838" y="4931"/>
                </a:lnTo>
                <a:close/>
              </a:path>
            </a:pathLst>
          </a:custGeom>
          <a:solidFill>
            <a:srgbClr val="ded5c5"/>
          </a:solidFill>
          <a:ln w="6191">
            <a:solidFill>
              <a:srgbClr val="b5a68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4" name="หมู่บ้านเฉลิมสุข9"/>
          <p:cNvSpPr/>
          <p:nvPr/>
        </p:nvSpPr>
        <p:spPr>
          <a:xfrm>
            <a:off x="6398640" y="4101840"/>
            <a:ext cx="60840" cy="38520"/>
          </a:xfrm>
          <a:custGeom>
            <a:avLst/>
            <a:gdLst/>
            <a:ahLst/>
            <a:rect l="l" t="t" r="r" b="b"/>
            <a:pathLst>
              <a:path w="61067" h="38952">
                <a:moveTo>
                  <a:pt x="6825" y="0"/>
                </a:moveTo>
                <a:lnTo>
                  <a:pt x="0" y="7149"/>
                </a:lnTo>
                <a:lnTo>
                  <a:pt x="53883" y="38952"/>
                </a:lnTo>
                <a:lnTo>
                  <a:pt x="61067" y="27365"/>
                </a:lnTo>
                <a:lnTo>
                  <a:pt x="6825" y="0"/>
                </a:lnTo>
                <a:close/>
              </a:path>
            </a:pathLst>
          </a:custGeom>
          <a:solidFill>
            <a:srgbClr val="ded5c5"/>
          </a:solidFill>
          <a:ln w="6191">
            <a:solidFill>
              <a:srgbClr val="b5a68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5" name="หมู่บ้านในฝัน(เคหะธานี)"/>
          <p:cNvSpPr/>
          <p:nvPr/>
        </p:nvSpPr>
        <p:spPr>
          <a:xfrm>
            <a:off x="6420960" y="4146120"/>
            <a:ext cx="30960" cy="31680"/>
          </a:xfrm>
          <a:custGeom>
            <a:avLst/>
            <a:gdLst/>
            <a:ahLst/>
            <a:rect l="l" t="t" r="r" b="b"/>
            <a:pathLst>
              <a:path w="31492" h="31926">
                <a:moveTo>
                  <a:pt x="2634" y="2096"/>
                </a:moveTo>
                <a:lnTo>
                  <a:pt x="0" y="4438"/>
                </a:lnTo>
                <a:lnTo>
                  <a:pt x="11495" y="15038"/>
                </a:lnTo>
                <a:lnTo>
                  <a:pt x="3832" y="19846"/>
                </a:lnTo>
                <a:lnTo>
                  <a:pt x="12094" y="31926"/>
                </a:lnTo>
                <a:lnTo>
                  <a:pt x="31492" y="18983"/>
                </a:lnTo>
                <a:lnTo>
                  <a:pt x="18799" y="11957"/>
                </a:lnTo>
                <a:lnTo>
                  <a:pt x="21194" y="8629"/>
                </a:lnTo>
                <a:lnTo>
                  <a:pt x="18200" y="6163"/>
                </a:lnTo>
                <a:lnTo>
                  <a:pt x="19398" y="4931"/>
                </a:lnTo>
                <a:lnTo>
                  <a:pt x="12812" y="0"/>
                </a:lnTo>
                <a:lnTo>
                  <a:pt x="11375" y="1849"/>
                </a:lnTo>
                <a:lnTo>
                  <a:pt x="9579" y="1109"/>
                </a:lnTo>
                <a:lnTo>
                  <a:pt x="6466" y="4931"/>
                </a:lnTo>
                <a:lnTo>
                  <a:pt x="2634" y="2096"/>
                </a:lnTo>
                <a:close/>
              </a:path>
            </a:pathLst>
          </a:custGeom>
          <a:solidFill>
            <a:srgbClr val="ded5c5"/>
          </a:solidFill>
          <a:ln w="6191">
            <a:solidFill>
              <a:srgbClr val="b5a68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6" name="หมู่บ้านพัฒนาหมู่ 8"/>
          <p:cNvSpPr/>
          <p:nvPr/>
        </p:nvSpPr>
        <p:spPr>
          <a:xfrm>
            <a:off x="6355440" y="4705200"/>
            <a:ext cx="26280" cy="35280"/>
          </a:xfrm>
          <a:custGeom>
            <a:avLst/>
            <a:gdLst/>
            <a:ahLst/>
            <a:rect l="l" t="t" r="r" b="b"/>
            <a:pathLst>
              <a:path w="26463" h="35623">
                <a:moveTo>
                  <a:pt x="3233" y="35623"/>
                </a:moveTo>
                <a:lnTo>
                  <a:pt x="26463" y="29830"/>
                </a:lnTo>
                <a:lnTo>
                  <a:pt x="21194" y="0"/>
                </a:lnTo>
                <a:lnTo>
                  <a:pt x="0" y="4931"/>
                </a:lnTo>
                <a:lnTo>
                  <a:pt x="3233" y="35623"/>
                </a:lnTo>
                <a:close/>
              </a:path>
            </a:pathLst>
          </a:custGeom>
          <a:solidFill>
            <a:srgbClr val="ded5c5"/>
          </a:solidFill>
          <a:ln w="6191">
            <a:solidFill>
              <a:srgbClr val="b5a68d"/>
            </a:solidFill>
            <a:round/>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7" name="ชุมชนหมู่บ้านเทพทวี"/>
          <p:cNvSpPr/>
          <p:nvPr/>
        </p:nvSpPr>
        <p:spPr>
          <a:xfrm>
            <a:off x="6497640" y="4829040"/>
            <a:ext cx="88920" cy="112680"/>
          </a:xfrm>
          <a:custGeom>
            <a:avLst/>
            <a:gdLst/>
            <a:ahLst/>
            <a:rect l="l" t="t" r="r" b="b"/>
            <a:pathLst>
              <a:path w="89206" h="113157">
                <a:moveTo>
                  <a:pt x="33527" y="100461"/>
                </a:moveTo>
                <a:lnTo>
                  <a:pt x="56038" y="100831"/>
                </a:lnTo>
                <a:lnTo>
                  <a:pt x="58194" y="104159"/>
                </a:lnTo>
                <a:lnTo>
                  <a:pt x="78549" y="113157"/>
                </a:lnTo>
                <a:lnTo>
                  <a:pt x="84297" y="111924"/>
                </a:lnTo>
                <a:lnTo>
                  <a:pt x="89206" y="107857"/>
                </a:lnTo>
                <a:lnTo>
                  <a:pt x="84177" y="89983"/>
                </a:lnTo>
                <a:lnTo>
                  <a:pt x="80106" y="81231"/>
                </a:lnTo>
                <a:lnTo>
                  <a:pt x="78669" y="81355"/>
                </a:lnTo>
                <a:lnTo>
                  <a:pt x="73401" y="69891"/>
                </a:lnTo>
                <a:lnTo>
                  <a:pt x="71844" y="70261"/>
                </a:lnTo>
                <a:lnTo>
                  <a:pt x="69210" y="66440"/>
                </a:lnTo>
                <a:lnTo>
                  <a:pt x="54242" y="38089"/>
                </a:lnTo>
                <a:lnTo>
                  <a:pt x="52446" y="28597"/>
                </a:lnTo>
                <a:lnTo>
                  <a:pt x="46459" y="14668"/>
                </a:lnTo>
                <a:lnTo>
                  <a:pt x="47178" y="0"/>
                </a:lnTo>
                <a:lnTo>
                  <a:pt x="11735" y="8875"/>
                </a:lnTo>
                <a:lnTo>
                  <a:pt x="0" y="10477"/>
                </a:lnTo>
                <a:lnTo>
                  <a:pt x="1916" y="19969"/>
                </a:lnTo>
                <a:lnTo>
                  <a:pt x="13531" y="50908"/>
                </a:lnTo>
                <a:lnTo>
                  <a:pt x="18200" y="50169"/>
                </a:lnTo>
                <a:lnTo>
                  <a:pt x="27780" y="72233"/>
                </a:lnTo>
                <a:lnTo>
                  <a:pt x="32450" y="88504"/>
                </a:lnTo>
                <a:lnTo>
                  <a:pt x="33527" y="100461"/>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8" name="ชุมชนมหาดไทย2"/>
          <p:cNvSpPr/>
          <p:nvPr/>
        </p:nvSpPr>
        <p:spPr>
          <a:xfrm>
            <a:off x="6455880" y="5127480"/>
            <a:ext cx="55080" cy="96120"/>
          </a:xfrm>
          <a:custGeom>
            <a:avLst/>
            <a:gdLst/>
            <a:ahLst/>
            <a:rect l="l" t="t" r="r" b="b"/>
            <a:pathLst>
              <a:path w="55559" h="96393">
                <a:moveTo>
                  <a:pt x="15087" y="96393"/>
                </a:moveTo>
                <a:lnTo>
                  <a:pt x="55559" y="92818"/>
                </a:lnTo>
                <a:lnTo>
                  <a:pt x="40233" y="0"/>
                </a:lnTo>
                <a:lnTo>
                  <a:pt x="0" y="10108"/>
                </a:lnTo>
                <a:lnTo>
                  <a:pt x="15087" y="9639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9" name="ไขศรีปราโมชพัฒนา"/>
          <p:cNvSpPr/>
          <p:nvPr/>
        </p:nvSpPr>
        <p:spPr>
          <a:xfrm>
            <a:off x="6527520" y="5132520"/>
            <a:ext cx="24120" cy="83160"/>
          </a:xfrm>
          <a:custGeom>
            <a:avLst/>
            <a:gdLst/>
            <a:ahLst/>
            <a:rect l="l" t="t" r="r" b="b"/>
            <a:pathLst>
              <a:path w="24547" h="83573">
                <a:moveTo>
                  <a:pt x="20356" y="59783"/>
                </a:moveTo>
                <a:lnTo>
                  <a:pt x="10058" y="0"/>
                </a:lnTo>
                <a:lnTo>
                  <a:pt x="0" y="1849"/>
                </a:lnTo>
                <a:lnTo>
                  <a:pt x="13770" y="83573"/>
                </a:lnTo>
                <a:lnTo>
                  <a:pt x="24547" y="81848"/>
                </a:lnTo>
                <a:lnTo>
                  <a:pt x="20356" y="59783"/>
                </a:lnTo>
                <a:close/>
              </a:path>
            </a:pathLst>
          </a:custGeom>
          <a:solidFill>
            <a:srgbClr val="ded5c5"/>
          </a:solidFill>
          <a:ln w="6191">
            <a:solidFill>
              <a:srgbClr val="b5a68d"/>
            </a:solidFill>
            <a:round/>
          </a:ln>
        </p:spPr>
        <p:style>
          <a:lnRef idx="0"/>
          <a:fillRef idx="0"/>
          <a:effectRef idx="0"/>
          <a:fontRef idx="minor"/>
        </p:style>
        <p:txBody>
          <a:bodyPr lIns="90000" rIns="90000" tIns="38160" bIns="38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0" name="ชุมชนหมู่บ้านศูนย์เยาวชนคลองจั่น"/>
          <p:cNvSpPr/>
          <p:nvPr/>
        </p:nvSpPr>
        <p:spPr>
          <a:xfrm>
            <a:off x="6637320" y="4943520"/>
            <a:ext cx="40320" cy="60840"/>
          </a:xfrm>
          <a:custGeom>
            <a:avLst/>
            <a:gdLst/>
            <a:ahLst/>
            <a:rect l="l" t="t" r="r" b="b"/>
            <a:pathLst>
              <a:path w="40712" h="61139">
                <a:moveTo>
                  <a:pt x="0" y="1109"/>
                </a:moveTo>
                <a:lnTo>
                  <a:pt x="2275" y="26132"/>
                </a:lnTo>
                <a:lnTo>
                  <a:pt x="10537" y="61139"/>
                </a:lnTo>
                <a:lnTo>
                  <a:pt x="40712" y="16517"/>
                </a:lnTo>
                <a:lnTo>
                  <a:pt x="26343" y="8505"/>
                </a:lnTo>
                <a:lnTo>
                  <a:pt x="5867" y="1233"/>
                </a:lnTo>
                <a:lnTo>
                  <a:pt x="120" y="0"/>
                </a:lnTo>
                <a:lnTo>
                  <a:pt x="0" y="1109"/>
                </a:lnTo>
                <a:close/>
              </a:path>
            </a:pathLst>
          </a:custGeom>
          <a:solidFill>
            <a:srgbClr val="ded5c5"/>
          </a:solidFill>
          <a:ln w="6191">
            <a:solidFill>
              <a:srgbClr val="b5a68d"/>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1" name="ชุมชนหมู่บ้านรัชธานี"/>
          <p:cNvSpPr/>
          <p:nvPr/>
        </p:nvSpPr>
        <p:spPr>
          <a:xfrm>
            <a:off x="6391440" y="4777920"/>
            <a:ext cx="37080" cy="15840"/>
          </a:xfrm>
          <a:custGeom>
            <a:avLst/>
            <a:gdLst/>
            <a:ahLst/>
            <a:rect l="l" t="t" r="r" b="b"/>
            <a:pathLst>
              <a:path w="37598" h="16148">
                <a:moveTo>
                  <a:pt x="2036" y="16148"/>
                </a:moveTo>
                <a:lnTo>
                  <a:pt x="37598" y="12820"/>
                </a:lnTo>
                <a:lnTo>
                  <a:pt x="37119" y="0"/>
                </a:lnTo>
                <a:lnTo>
                  <a:pt x="15327" y="863"/>
                </a:lnTo>
                <a:lnTo>
                  <a:pt x="0" y="3944"/>
                </a:lnTo>
                <a:lnTo>
                  <a:pt x="2036" y="16148"/>
                </a:lnTo>
                <a:close/>
              </a:path>
            </a:pathLst>
          </a:custGeom>
          <a:solidFill>
            <a:srgbClr val="ded5c5"/>
          </a:solidFill>
          <a:ln w="6191">
            <a:solidFill>
              <a:srgbClr val="b5a68d"/>
            </a:solidFill>
            <a:round/>
          </a:ln>
        </p:spPr>
        <p:style>
          <a:lnRef idx="0"/>
          <a:fillRef idx="0"/>
          <a:effectRef idx="0"/>
          <a:fontRef idx="minor"/>
        </p:style>
        <p:txBody>
          <a:bodyPr lIns="90000" rIns="90000" tIns="-29160" bIns="-29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2" name="ชุมชนเยรูซาเล็ม"/>
          <p:cNvSpPr/>
          <p:nvPr/>
        </p:nvSpPr>
        <p:spPr>
          <a:xfrm>
            <a:off x="6175440" y="5377320"/>
            <a:ext cx="84600" cy="85320"/>
          </a:xfrm>
          <a:custGeom>
            <a:avLst/>
            <a:gdLst/>
            <a:ahLst/>
            <a:rect l="l" t="t" r="r" b="b"/>
            <a:pathLst>
              <a:path w="84896" h="85669">
                <a:moveTo>
                  <a:pt x="62265" y="81724"/>
                </a:moveTo>
                <a:lnTo>
                  <a:pt x="68611" y="85669"/>
                </a:lnTo>
                <a:lnTo>
                  <a:pt x="75197" y="83820"/>
                </a:lnTo>
                <a:lnTo>
                  <a:pt x="75915" y="81971"/>
                </a:lnTo>
                <a:lnTo>
                  <a:pt x="84896" y="17997"/>
                </a:lnTo>
                <a:lnTo>
                  <a:pt x="76873" y="7766"/>
                </a:lnTo>
                <a:lnTo>
                  <a:pt x="69210" y="26255"/>
                </a:lnTo>
                <a:lnTo>
                  <a:pt x="55559" y="22557"/>
                </a:lnTo>
                <a:lnTo>
                  <a:pt x="51249" y="19846"/>
                </a:lnTo>
                <a:lnTo>
                  <a:pt x="39035" y="0"/>
                </a:lnTo>
                <a:lnTo>
                  <a:pt x="0" y="40184"/>
                </a:lnTo>
                <a:lnTo>
                  <a:pt x="31731" y="57811"/>
                </a:lnTo>
                <a:lnTo>
                  <a:pt x="62265" y="81724"/>
                </a:lnTo>
                <a:close/>
              </a:path>
            </a:pathLst>
          </a:custGeom>
          <a:solidFill>
            <a:srgbClr val="ded5c5"/>
          </a:solidFill>
          <a:ln w="6191">
            <a:solidFill>
              <a:srgbClr val="b5a68d"/>
            </a:solidFill>
            <a:round/>
          </a:ln>
        </p:spPr>
        <p:style>
          <a:lnRef idx="0"/>
          <a:fillRef idx="0"/>
          <a:effectRef idx="0"/>
          <a:fontRef idx="minor"/>
        </p:style>
        <p:txBody>
          <a:bodyPr lIns="90000" rIns="90000" tIns="40320" bIns="40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3" name="ชุมชนเยรูซาเล็ม"/>
          <p:cNvSpPr/>
          <p:nvPr/>
        </p:nvSpPr>
        <p:spPr>
          <a:xfrm>
            <a:off x="6166440" y="5423040"/>
            <a:ext cx="59760" cy="37800"/>
          </a:xfrm>
          <a:custGeom>
            <a:avLst/>
            <a:gdLst/>
            <a:ahLst/>
            <a:rect l="l" t="t" r="r" b="b"/>
            <a:pathLst>
              <a:path w="60109" h="38212">
                <a:moveTo>
                  <a:pt x="0" y="3698"/>
                </a:moveTo>
                <a:lnTo>
                  <a:pt x="599" y="11217"/>
                </a:lnTo>
                <a:lnTo>
                  <a:pt x="59391" y="38212"/>
                </a:lnTo>
                <a:lnTo>
                  <a:pt x="60109" y="36363"/>
                </a:lnTo>
                <a:lnTo>
                  <a:pt x="51847" y="29090"/>
                </a:lnTo>
                <a:lnTo>
                  <a:pt x="20116" y="7273"/>
                </a:lnTo>
                <a:lnTo>
                  <a:pt x="5867" y="0"/>
                </a:lnTo>
                <a:lnTo>
                  <a:pt x="0" y="3698"/>
                </a:lnTo>
                <a:close/>
              </a:path>
            </a:pathLst>
          </a:custGeom>
          <a:solidFill>
            <a:srgbClr val="ded5c5"/>
          </a:solidFill>
          <a:ln w="6191">
            <a:solidFill>
              <a:srgbClr val="b5a68d"/>
            </a:solidFill>
            <a:round/>
          </a:ln>
        </p:spPr>
        <p:style>
          <a:lnRef idx="0"/>
          <a:fillRef idx="0"/>
          <a:effectRef idx="0"/>
          <a:fontRef idx="minor"/>
        </p:style>
        <p:txBody>
          <a:bodyPr lIns="90000" rIns="90000" tIns="-7200" bIns="-7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4" name="หมู่บ้านไปรษณีย์65"/>
          <p:cNvSpPr/>
          <p:nvPr/>
        </p:nvSpPr>
        <p:spPr>
          <a:xfrm>
            <a:off x="6712560" y="4071960"/>
            <a:ext cx="63360" cy="76320"/>
          </a:xfrm>
          <a:custGeom>
            <a:avLst/>
            <a:gdLst/>
            <a:ahLst/>
            <a:rect l="l" t="t" r="r" b="b"/>
            <a:pathLst>
              <a:path w="63582" h="76671">
                <a:moveTo>
                  <a:pt x="34365" y="3944"/>
                </a:moveTo>
                <a:lnTo>
                  <a:pt x="4191" y="11094"/>
                </a:lnTo>
                <a:lnTo>
                  <a:pt x="6825" y="30446"/>
                </a:lnTo>
                <a:lnTo>
                  <a:pt x="0" y="31926"/>
                </a:lnTo>
                <a:lnTo>
                  <a:pt x="2634" y="49183"/>
                </a:lnTo>
                <a:lnTo>
                  <a:pt x="5029" y="48813"/>
                </a:lnTo>
                <a:lnTo>
                  <a:pt x="5508" y="51401"/>
                </a:lnTo>
                <a:lnTo>
                  <a:pt x="2993" y="51648"/>
                </a:lnTo>
                <a:lnTo>
                  <a:pt x="5149" y="66440"/>
                </a:lnTo>
                <a:lnTo>
                  <a:pt x="6586" y="67549"/>
                </a:lnTo>
                <a:lnTo>
                  <a:pt x="5388" y="67672"/>
                </a:lnTo>
                <a:lnTo>
                  <a:pt x="8382" y="76671"/>
                </a:lnTo>
                <a:lnTo>
                  <a:pt x="63582" y="69398"/>
                </a:lnTo>
                <a:lnTo>
                  <a:pt x="58553" y="47580"/>
                </a:lnTo>
                <a:lnTo>
                  <a:pt x="57236" y="28228"/>
                </a:lnTo>
                <a:lnTo>
                  <a:pt x="55679" y="28228"/>
                </a:lnTo>
                <a:lnTo>
                  <a:pt x="57355" y="7273"/>
                </a:lnTo>
                <a:lnTo>
                  <a:pt x="61067" y="0"/>
                </a:lnTo>
                <a:lnTo>
                  <a:pt x="34365" y="3944"/>
                </a:lnTo>
                <a:close/>
              </a:path>
            </a:pathLst>
          </a:custGeom>
          <a:solidFill>
            <a:srgbClr val="ded5c5"/>
          </a:solidFill>
          <a:ln w="6191">
            <a:solidFill>
              <a:srgbClr val="b5a68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5" name="หมู่บ้านอยู่เย็นเป็นสุข"/>
          <p:cNvSpPr/>
          <p:nvPr/>
        </p:nvSpPr>
        <p:spPr>
          <a:xfrm>
            <a:off x="6506280" y="4127400"/>
            <a:ext cx="85320" cy="42120"/>
          </a:xfrm>
          <a:custGeom>
            <a:avLst/>
            <a:gdLst/>
            <a:ahLst/>
            <a:rect l="l" t="t" r="r" b="b"/>
            <a:pathLst>
              <a:path w="85853" h="42403">
                <a:moveTo>
                  <a:pt x="36760" y="0"/>
                </a:moveTo>
                <a:lnTo>
                  <a:pt x="29336" y="13313"/>
                </a:lnTo>
                <a:lnTo>
                  <a:pt x="24666" y="25393"/>
                </a:lnTo>
                <a:lnTo>
                  <a:pt x="7903" y="22927"/>
                </a:lnTo>
                <a:lnTo>
                  <a:pt x="0" y="39198"/>
                </a:lnTo>
                <a:lnTo>
                  <a:pt x="61666" y="38212"/>
                </a:lnTo>
                <a:lnTo>
                  <a:pt x="79866" y="39445"/>
                </a:lnTo>
                <a:lnTo>
                  <a:pt x="79747" y="42403"/>
                </a:lnTo>
                <a:lnTo>
                  <a:pt x="83339" y="42280"/>
                </a:lnTo>
                <a:lnTo>
                  <a:pt x="85853" y="38582"/>
                </a:lnTo>
                <a:lnTo>
                  <a:pt x="84417" y="27488"/>
                </a:lnTo>
                <a:lnTo>
                  <a:pt x="72443" y="16024"/>
                </a:lnTo>
                <a:lnTo>
                  <a:pt x="55679" y="7766"/>
                </a:lnTo>
                <a:lnTo>
                  <a:pt x="45501" y="740"/>
                </a:lnTo>
                <a:lnTo>
                  <a:pt x="36760" y="0"/>
                </a:lnTo>
                <a:close/>
              </a:path>
            </a:pathLst>
          </a:custGeom>
          <a:solidFill>
            <a:srgbClr val="ded5c5"/>
          </a:solidFill>
          <a:ln w="6191">
            <a:solidFill>
              <a:srgbClr val="b5a68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6" name="เพชรสยาม"/>
          <p:cNvSpPr/>
          <p:nvPr/>
        </p:nvSpPr>
        <p:spPr>
          <a:xfrm>
            <a:off x="6502680" y="3733200"/>
            <a:ext cx="21600" cy="21240"/>
          </a:xfrm>
          <a:custGeom>
            <a:avLst/>
            <a:gdLst/>
            <a:ahLst/>
            <a:rect l="l" t="t" r="r" b="b"/>
            <a:pathLst>
              <a:path w="22032" h="21695">
                <a:moveTo>
                  <a:pt x="20954" y="8012"/>
                </a:moveTo>
                <a:lnTo>
                  <a:pt x="18320" y="0"/>
                </a:lnTo>
                <a:lnTo>
                  <a:pt x="0" y="3944"/>
                </a:lnTo>
                <a:lnTo>
                  <a:pt x="838" y="21695"/>
                </a:lnTo>
                <a:lnTo>
                  <a:pt x="19757" y="20462"/>
                </a:lnTo>
                <a:lnTo>
                  <a:pt x="22032" y="18490"/>
                </a:lnTo>
                <a:lnTo>
                  <a:pt x="20954" y="8012"/>
                </a:lnTo>
                <a:close/>
              </a:path>
            </a:pathLst>
          </a:custGeom>
          <a:solidFill>
            <a:srgbClr val="ded5c5"/>
          </a:solidFill>
          <a:ln w="6191">
            <a:solidFill>
              <a:srgbClr val="b5a68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7" name="หมู่บ้านอนันต์สุขสันต์รุ่น 18-20"/>
          <p:cNvSpPr/>
          <p:nvPr/>
        </p:nvSpPr>
        <p:spPr>
          <a:xfrm>
            <a:off x="6431400" y="3702600"/>
            <a:ext cx="164520" cy="90720"/>
          </a:xfrm>
          <a:custGeom>
            <a:avLst/>
            <a:gdLst/>
            <a:ahLst/>
            <a:rect l="l" t="t" r="r" b="b"/>
            <a:pathLst>
              <a:path w="164882" h="91216">
                <a:moveTo>
                  <a:pt x="359" y="69275"/>
                </a:moveTo>
                <a:lnTo>
                  <a:pt x="0" y="77533"/>
                </a:lnTo>
                <a:lnTo>
                  <a:pt x="22152" y="87764"/>
                </a:lnTo>
                <a:lnTo>
                  <a:pt x="43226" y="83204"/>
                </a:lnTo>
                <a:lnTo>
                  <a:pt x="58194" y="91216"/>
                </a:lnTo>
                <a:lnTo>
                  <a:pt x="74478" y="89120"/>
                </a:lnTo>
                <a:lnTo>
                  <a:pt x="74598" y="81971"/>
                </a:lnTo>
                <a:lnTo>
                  <a:pt x="78070" y="79876"/>
                </a:lnTo>
                <a:lnTo>
                  <a:pt x="89685" y="78150"/>
                </a:lnTo>
                <a:lnTo>
                  <a:pt x="91481" y="85546"/>
                </a:lnTo>
                <a:lnTo>
                  <a:pt x="93517" y="86409"/>
                </a:lnTo>
                <a:lnTo>
                  <a:pt x="135186" y="80862"/>
                </a:lnTo>
                <a:lnTo>
                  <a:pt x="134588" y="68412"/>
                </a:lnTo>
                <a:lnTo>
                  <a:pt x="133270" y="66686"/>
                </a:lnTo>
                <a:lnTo>
                  <a:pt x="125128" y="67056"/>
                </a:lnTo>
                <a:lnTo>
                  <a:pt x="125128" y="60893"/>
                </a:lnTo>
                <a:lnTo>
                  <a:pt x="129678" y="61263"/>
                </a:lnTo>
                <a:lnTo>
                  <a:pt x="124649" y="38582"/>
                </a:lnTo>
                <a:lnTo>
                  <a:pt x="109203" y="41787"/>
                </a:lnTo>
                <a:lnTo>
                  <a:pt x="108125" y="34884"/>
                </a:lnTo>
                <a:lnTo>
                  <a:pt x="136264" y="29090"/>
                </a:lnTo>
                <a:lnTo>
                  <a:pt x="164882" y="27981"/>
                </a:lnTo>
                <a:lnTo>
                  <a:pt x="159613" y="12203"/>
                </a:lnTo>
                <a:lnTo>
                  <a:pt x="162487" y="3205"/>
                </a:lnTo>
                <a:lnTo>
                  <a:pt x="156739" y="0"/>
                </a:lnTo>
                <a:lnTo>
                  <a:pt x="150513" y="370"/>
                </a:lnTo>
                <a:lnTo>
                  <a:pt x="116507" y="14299"/>
                </a:lnTo>
                <a:lnTo>
                  <a:pt x="102617" y="15778"/>
                </a:lnTo>
                <a:lnTo>
                  <a:pt x="90523" y="32419"/>
                </a:lnTo>
                <a:lnTo>
                  <a:pt x="90763" y="36240"/>
                </a:lnTo>
                <a:lnTo>
                  <a:pt x="93038" y="39691"/>
                </a:lnTo>
                <a:lnTo>
                  <a:pt x="93876" y="49922"/>
                </a:lnTo>
                <a:lnTo>
                  <a:pt x="91362" y="51278"/>
                </a:lnTo>
                <a:lnTo>
                  <a:pt x="71964" y="53004"/>
                </a:lnTo>
                <a:lnTo>
                  <a:pt x="71245" y="48690"/>
                </a:lnTo>
                <a:lnTo>
                  <a:pt x="35922" y="50908"/>
                </a:lnTo>
                <a:lnTo>
                  <a:pt x="838" y="64098"/>
                </a:lnTo>
                <a:lnTo>
                  <a:pt x="359" y="6927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8" name="สุขใจวิลเลจ"/>
          <p:cNvSpPr/>
          <p:nvPr/>
        </p:nvSpPr>
        <p:spPr>
          <a:xfrm>
            <a:off x="6695280" y="4104360"/>
            <a:ext cx="23760" cy="47520"/>
          </a:xfrm>
          <a:custGeom>
            <a:avLst/>
            <a:gdLst/>
            <a:ahLst/>
            <a:rect l="l" t="t" r="r" b="b"/>
            <a:pathLst>
              <a:path w="23948" h="47950">
                <a:moveTo>
                  <a:pt x="19877" y="21202"/>
                </a:moveTo>
                <a:lnTo>
                  <a:pt x="20356" y="19229"/>
                </a:lnTo>
                <a:lnTo>
                  <a:pt x="22870" y="18983"/>
                </a:lnTo>
                <a:lnTo>
                  <a:pt x="22391" y="16394"/>
                </a:lnTo>
                <a:lnTo>
                  <a:pt x="19997" y="16764"/>
                </a:lnTo>
                <a:lnTo>
                  <a:pt x="16524" y="0"/>
                </a:lnTo>
                <a:lnTo>
                  <a:pt x="0" y="2465"/>
                </a:lnTo>
                <a:lnTo>
                  <a:pt x="8621" y="47950"/>
                </a:lnTo>
                <a:lnTo>
                  <a:pt x="15207" y="46348"/>
                </a:lnTo>
                <a:lnTo>
                  <a:pt x="14728" y="44005"/>
                </a:lnTo>
                <a:lnTo>
                  <a:pt x="23708" y="42280"/>
                </a:lnTo>
                <a:lnTo>
                  <a:pt x="22511" y="35500"/>
                </a:lnTo>
                <a:lnTo>
                  <a:pt x="23948" y="35130"/>
                </a:lnTo>
                <a:lnTo>
                  <a:pt x="22272" y="34144"/>
                </a:lnTo>
                <a:lnTo>
                  <a:pt x="19877" y="21202"/>
                </a:lnTo>
                <a:close/>
              </a:path>
            </a:pathLst>
          </a:custGeom>
          <a:solidFill>
            <a:srgbClr val="ded5c5"/>
          </a:solidFill>
          <a:ln w="6191">
            <a:solidFill>
              <a:srgbClr val="b5a68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9" name="แหลมทองพัฒนา"/>
          <p:cNvSpPr/>
          <p:nvPr/>
        </p:nvSpPr>
        <p:spPr>
          <a:xfrm>
            <a:off x="6566760" y="4068720"/>
            <a:ext cx="20520" cy="41040"/>
          </a:xfrm>
          <a:custGeom>
            <a:avLst/>
            <a:gdLst/>
            <a:ahLst/>
            <a:rect l="l" t="t" r="r" b="b"/>
            <a:pathLst>
              <a:path w="20715" h="41540">
                <a:moveTo>
                  <a:pt x="0" y="2096"/>
                </a:moveTo>
                <a:lnTo>
                  <a:pt x="8502" y="41540"/>
                </a:lnTo>
                <a:lnTo>
                  <a:pt x="20715" y="41294"/>
                </a:lnTo>
                <a:lnTo>
                  <a:pt x="19518" y="33651"/>
                </a:lnTo>
                <a:lnTo>
                  <a:pt x="13411" y="34884"/>
                </a:lnTo>
                <a:lnTo>
                  <a:pt x="11615" y="25393"/>
                </a:lnTo>
                <a:lnTo>
                  <a:pt x="14010" y="24899"/>
                </a:lnTo>
                <a:lnTo>
                  <a:pt x="12812" y="18983"/>
                </a:lnTo>
                <a:lnTo>
                  <a:pt x="10417" y="19476"/>
                </a:lnTo>
                <a:lnTo>
                  <a:pt x="9100" y="0"/>
                </a:lnTo>
                <a:lnTo>
                  <a:pt x="0" y="2096"/>
                </a:lnTo>
                <a:close/>
              </a:path>
            </a:pathLst>
          </a:custGeom>
          <a:solidFill>
            <a:srgbClr val="ded5c5"/>
          </a:solidFill>
          <a:ln w="6191">
            <a:solidFill>
              <a:srgbClr val="b5a68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0" name="หมู่บ้านศิริชัย"/>
          <p:cNvSpPr/>
          <p:nvPr/>
        </p:nvSpPr>
        <p:spPr>
          <a:xfrm>
            <a:off x="6377760" y="4119120"/>
            <a:ext cx="45000" cy="34560"/>
          </a:xfrm>
          <a:custGeom>
            <a:avLst/>
            <a:gdLst/>
            <a:ahLst/>
            <a:rect l="l" t="t" r="r" b="b"/>
            <a:pathLst>
              <a:path w="45501" h="35007">
                <a:moveTo>
                  <a:pt x="43226" y="25886"/>
                </a:moveTo>
                <a:lnTo>
                  <a:pt x="38077" y="24160"/>
                </a:lnTo>
                <a:lnTo>
                  <a:pt x="36640" y="25639"/>
                </a:lnTo>
                <a:lnTo>
                  <a:pt x="30294" y="21571"/>
                </a:lnTo>
                <a:lnTo>
                  <a:pt x="26941" y="18366"/>
                </a:lnTo>
                <a:lnTo>
                  <a:pt x="29217" y="16024"/>
                </a:lnTo>
                <a:lnTo>
                  <a:pt x="10777" y="0"/>
                </a:lnTo>
                <a:lnTo>
                  <a:pt x="0" y="9984"/>
                </a:lnTo>
                <a:lnTo>
                  <a:pt x="19039" y="29214"/>
                </a:lnTo>
                <a:lnTo>
                  <a:pt x="25505" y="24776"/>
                </a:lnTo>
                <a:lnTo>
                  <a:pt x="29815" y="29090"/>
                </a:lnTo>
                <a:lnTo>
                  <a:pt x="26463" y="31309"/>
                </a:lnTo>
                <a:lnTo>
                  <a:pt x="30174" y="35007"/>
                </a:lnTo>
                <a:lnTo>
                  <a:pt x="38676" y="28228"/>
                </a:lnTo>
                <a:lnTo>
                  <a:pt x="45501" y="28228"/>
                </a:lnTo>
                <a:lnTo>
                  <a:pt x="43226" y="25886"/>
                </a:lnTo>
                <a:close/>
              </a:path>
            </a:pathLst>
          </a:custGeom>
          <a:solidFill>
            <a:srgbClr val="ded5c5"/>
          </a:solidFill>
          <a:ln w="6191">
            <a:solidFill>
              <a:srgbClr val="b5a68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1" name="หมู่บ้านเก้าแสนสอง"/>
          <p:cNvSpPr/>
          <p:nvPr/>
        </p:nvSpPr>
        <p:spPr>
          <a:xfrm>
            <a:off x="6453720" y="4157280"/>
            <a:ext cx="46440" cy="40320"/>
          </a:xfrm>
          <a:custGeom>
            <a:avLst/>
            <a:gdLst/>
            <a:ahLst/>
            <a:rect l="l" t="t" r="r" b="b"/>
            <a:pathLst>
              <a:path w="46818" h="40801">
                <a:moveTo>
                  <a:pt x="6107" y="21571"/>
                </a:moveTo>
                <a:lnTo>
                  <a:pt x="7783" y="25516"/>
                </a:lnTo>
                <a:lnTo>
                  <a:pt x="0" y="26255"/>
                </a:lnTo>
                <a:lnTo>
                  <a:pt x="599" y="40801"/>
                </a:lnTo>
                <a:lnTo>
                  <a:pt x="12932" y="40184"/>
                </a:lnTo>
                <a:lnTo>
                  <a:pt x="12932" y="25393"/>
                </a:lnTo>
                <a:lnTo>
                  <a:pt x="25744" y="23667"/>
                </a:lnTo>
                <a:lnTo>
                  <a:pt x="25744" y="33898"/>
                </a:lnTo>
                <a:lnTo>
                  <a:pt x="34365" y="33158"/>
                </a:lnTo>
                <a:lnTo>
                  <a:pt x="34844" y="22927"/>
                </a:lnTo>
                <a:lnTo>
                  <a:pt x="46818" y="12326"/>
                </a:lnTo>
                <a:lnTo>
                  <a:pt x="28738" y="0"/>
                </a:lnTo>
                <a:lnTo>
                  <a:pt x="21433" y="8998"/>
                </a:lnTo>
                <a:lnTo>
                  <a:pt x="5388" y="19846"/>
                </a:lnTo>
                <a:lnTo>
                  <a:pt x="6107" y="21571"/>
                </a:lnTo>
                <a:close/>
              </a:path>
            </a:pathLst>
          </a:custGeom>
          <a:solidFill>
            <a:srgbClr val="ded5c5"/>
          </a:solidFill>
          <a:ln w="6191">
            <a:solidFill>
              <a:srgbClr val="b5a68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2" name="สุขฤดี"/>
          <p:cNvSpPr/>
          <p:nvPr/>
        </p:nvSpPr>
        <p:spPr>
          <a:xfrm>
            <a:off x="6395040" y="3716640"/>
            <a:ext cx="68400" cy="50760"/>
          </a:xfrm>
          <a:custGeom>
            <a:avLst/>
            <a:gdLst/>
            <a:ahLst/>
            <a:rect l="l" t="t" r="r" b="b"/>
            <a:pathLst>
              <a:path w="68611" h="51032">
                <a:moveTo>
                  <a:pt x="14608" y="27365"/>
                </a:moveTo>
                <a:lnTo>
                  <a:pt x="7304" y="26872"/>
                </a:lnTo>
                <a:lnTo>
                  <a:pt x="0" y="33898"/>
                </a:lnTo>
                <a:lnTo>
                  <a:pt x="1078" y="41540"/>
                </a:lnTo>
                <a:lnTo>
                  <a:pt x="15207" y="51032"/>
                </a:lnTo>
                <a:lnTo>
                  <a:pt x="16285" y="44129"/>
                </a:lnTo>
                <a:lnTo>
                  <a:pt x="39275" y="42650"/>
                </a:lnTo>
                <a:lnTo>
                  <a:pt x="45381" y="40061"/>
                </a:lnTo>
                <a:lnTo>
                  <a:pt x="45741" y="36117"/>
                </a:lnTo>
                <a:lnTo>
                  <a:pt x="68611" y="34884"/>
                </a:lnTo>
                <a:lnTo>
                  <a:pt x="67773" y="740"/>
                </a:lnTo>
                <a:lnTo>
                  <a:pt x="66695" y="0"/>
                </a:lnTo>
                <a:lnTo>
                  <a:pt x="30653" y="17380"/>
                </a:lnTo>
                <a:lnTo>
                  <a:pt x="15207" y="17750"/>
                </a:lnTo>
                <a:lnTo>
                  <a:pt x="14608" y="27365"/>
                </a:lnTo>
                <a:close/>
              </a:path>
            </a:pathLst>
          </a:custGeom>
          <a:solidFill>
            <a:srgbClr val="ded5c5"/>
          </a:solidFill>
          <a:ln w="6191">
            <a:solidFill>
              <a:srgbClr val="b5a68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3" name="หมู่บ้านเสนาวิลล่า"/>
          <p:cNvSpPr/>
          <p:nvPr/>
        </p:nvSpPr>
        <p:spPr>
          <a:xfrm>
            <a:off x="6922440" y="3900240"/>
            <a:ext cx="30960" cy="47520"/>
          </a:xfrm>
          <a:custGeom>
            <a:avLst/>
            <a:gdLst/>
            <a:ahLst/>
            <a:rect l="l" t="t" r="r" b="b"/>
            <a:pathLst>
              <a:path w="31492" h="47827">
                <a:moveTo>
                  <a:pt x="11495" y="47827"/>
                </a:moveTo>
                <a:lnTo>
                  <a:pt x="31492" y="44129"/>
                </a:lnTo>
                <a:lnTo>
                  <a:pt x="31492" y="29953"/>
                </a:lnTo>
                <a:lnTo>
                  <a:pt x="25265" y="0"/>
                </a:lnTo>
                <a:lnTo>
                  <a:pt x="0" y="7889"/>
                </a:lnTo>
                <a:lnTo>
                  <a:pt x="11495" y="47827"/>
                </a:lnTo>
                <a:close/>
              </a:path>
            </a:pathLst>
          </a:custGeom>
          <a:solidFill>
            <a:srgbClr val="ded5c5"/>
          </a:solidFill>
          <a:ln w="6191">
            <a:solidFill>
              <a:srgbClr val="b5a68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4" name="หมู่บ้านบางเขนวิลล่า"/>
          <p:cNvSpPr/>
          <p:nvPr/>
        </p:nvSpPr>
        <p:spPr>
          <a:xfrm>
            <a:off x="6510600" y="3849840"/>
            <a:ext cx="15840" cy="16920"/>
          </a:xfrm>
          <a:custGeom>
            <a:avLst/>
            <a:gdLst/>
            <a:ahLst/>
            <a:rect l="l" t="t" r="r" b="b"/>
            <a:pathLst>
              <a:path w="16165" h="17257">
                <a:moveTo>
                  <a:pt x="2036" y="16148"/>
                </a:moveTo>
                <a:lnTo>
                  <a:pt x="2874" y="17257"/>
                </a:lnTo>
                <a:lnTo>
                  <a:pt x="16165" y="16148"/>
                </a:lnTo>
                <a:lnTo>
                  <a:pt x="13770" y="0"/>
                </a:lnTo>
                <a:lnTo>
                  <a:pt x="599" y="1726"/>
                </a:lnTo>
                <a:lnTo>
                  <a:pt x="1197" y="8382"/>
                </a:lnTo>
                <a:lnTo>
                  <a:pt x="0" y="8505"/>
                </a:lnTo>
                <a:lnTo>
                  <a:pt x="2036" y="16148"/>
                </a:lnTo>
                <a:close/>
              </a:path>
            </a:pathLst>
          </a:custGeom>
          <a:solidFill>
            <a:srgbClr val="ded5c5"/>
          </a:solidFill>
          <a:ln w="6191">
            <a:solidFill>
              <a:srgbClr val="b5a68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5" name="หมู่บ้านรามอินทรา67"/>
          <p:cNvSpPr/>
          <p:nvPr/>
        </p:nvSpPr>
        <p:spPr>
          <a:xfrm>
            <a:off x="6719040" y="4188240"/>
            <a:ext cx="65520" cy="21240"/>
          </a:xfrm>
          <a:custGeom>
            <a:avLst/>
            <a:gdLst/>
            <a:ahLst/>
            <a:rect l="l" t="t" r="r" b="b"/>
            <a:pathLst>
              <a:path w="65977" h="21695">
                <a:moveTo>
                  <a:pt x="65977" y="11340"/>
                </a:moveTo>
                <a:lnTo>
                  <a:pt x="65258" y="6656"/>
                </a:lnTo>
                <a:lnTo>
                  <a:pt x="50410" y="9738"/>
                </a:lnTo>
                <a:lnTo>
                  <a:pt x="47297" y="0"/>
                </a:lnTo>
                <a:lnTo>
                  <a:pt x="22511" y="5300"/>
                </a:lnTo>
                <a:lnTo>
                  <a:pt x="10657" y="4068"/>
                </a:lnTo>
                <a:lnTo>
                  <a:pt x="0" y="7026"/>
                </a:lnTo>
                <a:lnTo>
                  <a:pt x="4071" y="21695"/>
                </a:lnTo>
                <a:lnTo>
                  <a:pt x="27420" y="16517"/>
                </a:lnTo>
                <a:lnTo>
                  <a:pt x="29097" y="21202"/>
                </a:lnTo>
                <a:lnTo>
                  <a:pt x="65977" y="11340"/>
                </a:lnTo>
                <a:close/>
              </a:path>
            </a:pathLst>
          </a:custGeom>
          <a:solidFill>
            <a:srgbClr val="ded5c5"/>
          </a:solidFill>
          <a:ln w="6191">
            <a:solidFill>
              <a:srgbClr val="b5a68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6" name="หมู่บ้านพัชรัฐ"/>
          <p:cNvSpPr/>
          <p:nvPr/>
        </p:nvSpPr>
        <p:spPr>
          <a:xfrm>
            <a:off x="6897240" y="3950280"/>
            <a:ext cx="27360" cy="41400"/>
          </a:xfrm>
          <a:custGeom>
            <a:avLst/>
            <a:gdLst/>
            <a:ahLst/>
            <a:rect l="l" t="t" r="r" b="b"/>
            <a:pathLst>
              <a:path w="27899" h="41910">
                <a:moveTo>
                  <a:pt x="18919" y="27365"/>
                </a:moveTo>
                <a:lnTo>
                  <a:pt x="24427" y="18120"/>
                </a:lnTo>
                <a:lnTo>
                  <a:pt x="20236" y="15531"/>
                </a:lnTo>
                <a:lnTo>
                  <a:pt x="27899" y="0"/>
                </a:lnTo>
                <a:lnTo>
                  <a:pt x="19637" y="0"/>
                </a:lnTo>
                <a:lnTo>
                  <a:pt x="12213" y="11217"/>
                </a:lnTo>
                <a:lnTo>
                  <a:pt x="0" y="23913"/>
                </a:lnTo>
                <a:lnTo>
                  <a:pt x="10777" y="41910"/>
                </a:lnTo>
                <a:lnTo>
                  <a:pt x="18919" y="27365"/>
                </a:lnTo>
                <a:close/>
              </a:path>
            </a:pathLst>
          </a:custGeom>
          <a:solidFill>
            <a:srgbClr val="ded5c5"/>
          </a:solidFill>
          <a:ln w="6191">
            <a:solidFill>
              <a:srgbClr val="b5a68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7" name="เกษตรก้าวหน้าลำรางหนองกง"/>
          <p:cNvSpPr/>
          <p:nvPr/>
        </p:nvSpPr>
        <p:spPr>
          <a:xfrm>
            <a:off x="6971400" y="3954960"/>
            <a:ext cx="57960" cy="70920"/>
          </a:xfrm>
          <a:custGeom>
            <a:avLst/>
            <a:gdLst/>
            <a:ahLst/>
            <a:rect l="l" t="t" r="r" b="b"/>
            <a:pathLst>
              <a:path w="58433" h="71124">
                <a:moveTo>
                  <a:pt x="17482" y="35747"/>
                </a:moveTo>
                <a:lnTo>
                  <a:pt x="18919" y="65084"/>
                </a:lnTo>
                <a:lnTo>
                  <a:pt x="14608" y="67303"/>
                </a:lnTo>
                <a:lnTo>
                  <a:pt x="5269" y="65330"/>
                </a:lnTo>
                <a:lnTo>
                  <a:pt x="838" y="67549"/>
                </a:lnTo>
                <a:lnTo>
                  <a:pt x="0" y="70138"/>
                </a:lnTo>
                <a:lnTo>
                  <a:pt x="19278" y="71124"/>
                </a:lnTo>
                <a:lnTo>
                  <a:pt x="42029" y="63112"/>
                </a:lnTo>
                <a:lnTo>
                  <a:pt x="43945" y="59414"/>
                </a:lnTo>
                <a:lnTo>
                  <a:pt x="38676" y="55962"/>
                </a:lnTo>
                <a:lnTo>
                  <a:pt x="28498" y="58921"/>
                </a:lnTo>
                <a:lnTo>
                  <a:pt x="23230" y="69768"/>
                </a:lnTo>
                <a:lnTo>
                  <a:pt x="19158" y="69891"/>
                </a:lnTo>
                <a:lnTo>
                  <a:pt x="18200" y="35993"/>
                </a:lnTo>
                <a:lnTo>
                  <a:pt x="23589" y="27611"/>
                </a:lnTo>
                <a:lnTo>
                  <a:pt x="53524" y="22557"/>
                </a:lnTo>
                <a:lnTo>
                  <a:pt x="58433" y="0"/>
                </a:lnTo>
                <a:lnTo>
                  <a:pt x="33767" y="5793"/>
                </a:lnTo>
                <a:lnTo>
                  <a:pt x="25744" y="12326"/>
                </a:lnTo>
                <a:lnTo>
                  <a:pt x="16045" y="13682"/>
                </a:lnTo>
                <a:lnTo>
                  <a:pt x="17482" y="35747"/>
                </a:lnTo>
                <a:close/>
              </a:path>
            </a:pathLst>
          </a:custGeom>
          <a:solidFill>
            <a:srgbClr val="ded5c5"/>
          </a:solidFill>
          <a:ln w="6191">
            <a:solidFill>
              <a:srgbClr val="b5a68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8" name="หมู่บ้านธันธวัช5"/>
          <p:cNvSpPr/>
          <p:nvPr/>
        </p:nvSpPr>
        <p:spPr>
          <a:xfrm>
            <a:off x="6544800" y="3793680"/>
            <a:ext cx="77400" cy="32760"/>
          </a:xfrm>
          <a:custGeom>
            <a:avLst/>
            <a:gdLst/>
            <a:ahLst/>
            <a:rect l="l" t="t" r="r" b="b"/>
            <a:pathLst>
              <a:path w="77711" h="33158">
                <a:moveTo>
                  <a:pt x="0" y="13189"/>
                </a:moveTo>
                <a:lnTo>
                  <a:pt x="1557" y="26255"/>
                </a:lnTo>
                <a:lnTo>
                  <a:pt x="30893" y="33158"/>
                </a:lnTo>
                <a:lnTo>
                  <a:pt x="77711" y="13189"/>
                </a:lnTo>
                <a:lnTo>
                  <a:pt x="76993" y="4931"/>
                </a:lnTo>
                <a:lnTo>
                  <a:pt x="62744" y="6163"/>
                </a:lnTo>
                <a:lnTo>
                  <a:pt x="49692" y="0"/>
                </a:lnTo>
                <a:lnTo>
                  <a:pt x="35563" y="1726"/>
                </a:lnTo>
                <a:lnTo>
                  <a:pt x="17482" y="8998"/>
                </a:lnTo>
                <a:lnTo>
                  <a:pt x="16524" y="10971"/>
                </a:lnTo>
                <a:lnTo>
                  <a:pt x="0" y="13189"/>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9" name="หมู่บ้านพุดซ้อน"/>
          <p:cNvSpPr/>
          <p:nvPr/>
        </p:nvSpPr>
        <p:spPr>
          <a:xfrm>
            <a:off x="6896160" y="4060800"/>
            <a:ext cx="29520" cy="20520"/>
          </a:xfrm>
          <a:custGeom>
            <a:avLst/>
            <a:gdLst/>
            <a:ahLst/>
            <a:rect l="l" t="t" r="r" b="b"/>
            <a:pathLst>
              <a:path w="30055" h="20955">
                <a:moveTo>
                  <a:pt x="15806" y="4068"/>
                </a:moveTo>
                <a:lnTo>
                  <a:pt x="0" y="13066"/>
                </a:lnTo>
                <a:lnTo>
                  <a:pt x="5029" y="20955"/>
                </a:lnTo>
                <a:lnTo>
                  <a:pt x="30055" y="11094"/>
                </a:lnTo>
                <a:lnTo>
                  <a:pt x="23948" y="0"/>
                </a:lnTo>
                <a:lnTo>
                  <a:pt x="15806" y="4068"/>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0" name="ชุมชนสุขเจริญพัฒนา"/>
          <p:cNvSpPr/>
          <p:nvPr/>
        </p:nvSpPr>
        <p:spPr>
          <a:xfrm>
            <a:off x="6408000" y="4699800"/>
            <a:ext cx="95400" cy="50760"/>
          </a:xfrm>
          <a:custGeom>
            <a:avLst/>
            <a:gdLst/>
            <a:ahLst/>
            <a:rect l="l" t="t" r="r" b="b"/>
            <a:pathLst>
              <a:path w="95672" h="51155">
                <a:moveTo>
                  <a:pt x="62025" y="31309"/>
                </a:moveTo>
                <a:lnTo>
                  <a:pt x="72922" y="29584"/>
                </a:lnTo>
                <a:lnTo>
                  <a:pt x="75556" y="36979"/>
                </a:lnTo>
                <a:lnTo>
                  <a:pt x="95672" y="33651"/>
                </a:lnTo>
                <a:lnTo>
                  <a:pt x="88607" y="12450"/>
                </a:lnTo>
                <a:lnTo>
                  <a:pt x="82501" y="0"/>
                </a:lnTo>
                <a:lnTo>
                  <a:pt x="0" y="19969"/>
                </a:lnTo>
                <a:lnTo>
                  <a:pt x="17003" y="51155"/>
                </a:lnTo>
                <a:lnTo>
                  <a:pt x="42508" y="45731"/>
                </a:lnTo>
                <a:lnTo>
                  <a:pt x="40113" y="35747"/>
                </a:lnTo>
                <a:lnTo>
                  <a:pt x="62025" y="31309"/>
                </a:lnTo>
                <a:close/>
              </a:path>
            </a:pathLst>
          </a:custGeom>
          <a:solidFill>
            <a:srgbClr val="ded5c5"/>
          </a:solidFill>
          <a:ln w="6191">
            <a:solidFill>
              <a:srgbClr val="b5a68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1" name="ชุมชนสุขสันต์26"/>
          <p:cNvSpPr/>
          <p:nvPr/>
        </p:nvSpPr>
        <p:spPr>
          <a:xfrm>
            <a:off x="6428880" y="4745160"/>
            <a:ext cx="84960" cy="36360"/>
          </a:xfrm>
          <a:custGeom>
            <a:avLst/>
            <a:gdLst/>
            <a:ahLst/>
            <a:rect l="l" t="t" r="r" b="b"/>
            <a:pathLst>
              <a:path w="85494" h="36610">
                <a:moveTo>
                  <a:pt x="1078" y="30570"/>
                </a:moveTo>
                <a:lnTo>
                  <a:pt x="2036" y="36610"/>
                </a:lnTo>
                <a:lnTo>
                  <a:pt x="28977" y="31186"/>
                </a:lnTo>
                <a:lnTo>
                  <a:pt x="78190" y="26255"/>
                </a:lnTo>
                <a:lnTo>
                  <a:pt x="78190" y="23667"/>
                </a:lnTo>
                <a:lnTo>
                  <a:pt x="85494" y="21818"/>
                </a:lnTo>
                <a:lnTo>
                  <a:pt x="78909" y="0"/>
                </a:lnTo>
                <a:lnTo>
                  <a:pt x="0" y="16024"/>
                </a:lnTo>
                <a:lnTo>
                  <a:pt x="1078" y="30570"/>
                </a:lnTo>
                <a:close/>
              </a:path>
            </a:pathLst>
          </a:custGeom>
          <a:solidFill>
            <a:srgbClr val="ded5c5"/>
          </a:solidFill>
          <a:ln w="6191">
            <a:solidFill>
              <a:srgbClr val="b5a68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2" name="ชุมชน 101 บึงทองหลาง"/>
          <p:cNvSpPr/>
          <p:nvPr/>
        </p:nvSpPr>
        <p:spPr>
          <a:xfrm>
            <a:off x="6433560" y="4795560"/>
            <a:ext cx="77760" cy="19080"/>
          </a:xfrm>
          <a:custGeom>
            <a:avLst/>
            <a:gdLst/>
            <a:ahLst/>
            <a:rect l="l" t="t" r="r" b="b"/>
            <a:pathLst>
              <a:path w="78190" h="19599">
                <a:moveTo>
                  <a:pt x="61666" y="8382"/>
                </a:moveTo>
                <a:lnTo>
                  <a:pt x="78190" y="5300"/>
                </a:lnTo>
                <a:lnTo>
                  <a:pt x="77472" y="0"/>
                </a:lnTo>
                <a:lnTo>
                  <a:pt x="0" y="13806"/>
                </a:lnTo>
                <a:lnTo>
                  <a:pt x="479" y="19599"/>
                </a:lnTo>
                <a:lnTo>
                  <a:pt x="61666" y="8382"/>
                </a:lnTo>
                <a:close/>
              </a:path>
            </a:pathLst>
          </a:custGeom>
          <a:solidFill>
            <a:srgbClr val="ded5c5"/>
          </a:solidFill>
          <a:ln w="6191">
            <a:solidFill>
              <a:srgbClr val="b5a68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3" name="ชุมชนโครงการร่วมกันสร้าง"/>
          <p:cNvSpPr/>
          <p:nvPr/>
        </p:nvSpPr>
        <p:spPr>
          <a:xfrm>
            <a:off x="6450480" y="4891680"/>
            <a:ext cx="20520" cy="17640"/>
          </a:xfrm>
          <a:custGeom>
            <a:avLst/>
            <a:gdLst/>
            <a:ahLst/>
            <a:rect l="l" t="t" r="r" b="b"/>
            <a:pathLst>
              <a:path w="20835" h="18120">
                <a:moveTo>
                  <a:pt x="2634" y="18120"/>
                </a:moveTo>
                <a:lnTo>
                  <a:pt x="20835" y="15162"/>
                </a:lnTo>
                <a:lnTo>
                  <a:pt x="20236" y="0"/>
                </a:lnTo>
                <a:lnTo>
                  <a:pt x="18560" y="0"/>
                </a:lnTo>
                <a:lnTo>
                  <a:pt x="18320" y="2589"/>
                </a:lnTo>
                <a:lnTo>
                  <a:pt x="0" y="6780"/>
                </a:lnTo>
                <a:lnTo>
                  <a:pt x="2634" y="18120"/>
                </a:lnTo>
                <a:close/>
              </a:path>
            </a:pathLst>
          </a:custGeom>
          <a:solidFill>
            <a:srgbClr val="ded5c5"/>
          </a:solidFill>
          <a:ln w="6191">
            <a:solidFill>
              <a:srgbClr val="b5a68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4" name="ชุมชนวัดกลาง"/>
          <p:cNvSpPr/>
          <p:nvPr/>
        </p:nvSpPr>
        <p:spPr>
          <a:xfrm>
            <a:off x="6497280" y="5121360"/>
            <a:ext cx="43200" cy="99000"/>
          </a:xfrm>
          <a:custGeom>
            <a:avLst/>
            <a:gdLst/>
            <a:ahLst/>
            <a:rect l="l" t="t" r="r" b="b"/>
            <a:pathLst>
              <a:path w="43466" h="99228">
                <a:moveTo>
                  <a:pt x="27899" y="986"/>
                </a:moveTo>
                <a:lnTo>
                  <a:pt x="27301" y="0"/>
                </a:lnTo>
                <a:lnTo>
                  <a:pt x="12692" y="3328"/>
                </a:lnTo>
                <a:lnTo>
                  <a:pt x="0" y="7642"/>
                </a:lnTo>
                <a:lnTo>
                  <a:pt x="13890" y="99228"/>
                </a:lnTo>
                <a:lnTo>
                  <a:pt x="43466" y="95407"/>
                </a:lnTo>
                <a:lnTo>
                  <a:pt x="27899" y="98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5" name="หมู่บ้านนิรันดร์วิลล่า"/>
          <p:cNvSpPr/>
          <p:nvPr/>
        </p:nvSpPr>
        <p:spPr>
          <a:xfrm>
            <a:off x="6422400" y="5974560"/>
            <a:ext cx="52560" cy="36720"/>
          </a:xfrm>
          <a:custGeom>
            <a:avLst/>
            <a:gdLst/>
            <a:ahLst/>
            <a:rect l="l" t="t" r="r" b="b"/>
            <a:pathLst>
              <a:path w="53045" h="37226">
                <a:moveTo>
                  <a:pt x="6107" y="17873"/>
                </a:moveTo>
                <a:lnTo>
                  <a:pt x="7065" y="22557"/>
                </a:lnTo>
                <a:lnTo>
                  <a:pt x="3592" y="23174"/>
                </a:lnTo>
                <a:lnTo>
                  <a:pt x="4670" y="27241"/>
                </a:lnTo>
                <a:lnTo>
                  <a:pt x="0" y="28228"/>
                </a:lnTo>
                <a:lnTo>
                  <a:pt x="239" y="36363"/>
                </a:lnTo>
                <a:lnTo>
                  <a:pt x="2515" y="37226"/>
                </a:lnTo>
                <a:lnTo>
                  <a:pt x="51608" y="26748"/>
                </a:lnTo>
                <a:lnTo>
                  <a:pt x="48854" y="12696"/>
                </a:lnTo>
                <a:lnTo>
                  <a:pt x="53045" y="11957"/>
                </a:lnTo>
                <a:lnTo>
                  <a:pt x="50650" y="0"/>
                </a:lnTo>
                <a:lnTo>
                  <a:pt x="4670" y="12450"/>
                </a:lnTo>
                <a:lnTo>
                  <a:pt x="6107" y="17873"/>
                </a:lnTo>
                <a:close/>
              </a:path>
            </a:pathLst>
          </a:custGeom>
          <a:solidFill>
            <a:srgbClr val="ded5c5"/>
          </a:solidFill>
          <a:ln w="6191">
            <a:solidFill>
              <a:srgbClr val="b5a68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6" name="ชุมชนหมู่บ้านทับแก้ว"/>
          <p:cNvSpPr/>
          <p:nvPr/>
        </p:nvSpPr>
        <p:spPr>
          <a:xfrm>
            <a:off x="6359040" y="6102000"/>
            <a:ext cx="31680" cy="92160"/>
          </a:xfrm>
          <a:custGeom>
            <a:avLst/>
            <a:gdLst/>
            <a:ahLst/>
            <a:rect l="l" t="t" r="r" b="b"/>
            <a:pathLst>
              <a:path w="32090" h="92572">
                <a:moveTo>
                  <a:pt x="16524" y="50785"/>
                </a:moveTo>
                <a:lnTo>
                  <a:pt x="26941" y="47210"/>
                </a:lnTo>
                <a:lnTo>
                  <a:pt x="13411" y="0"/>
                </a:lnTo>
                <a:lnTo>
                  <a:pt x="2515" y="2589"/>
                </a:lnTo>
                <a:lnTo>
                  <a:pt x="8861" y="23790"/>
                </a:lnTo>
                <a:lnTo>
                  <a:pt x="0" y="26872"/>
                </a:lnTo>
                <a:lnTo>
                  <a:pt x="8861" y="51401"/>
                </a:lnTo>
                <a:lnTo>
                  <a:pt x="4311" y="53497"/>
                </a:lnTo>
                <a:lnTo>
                  <a:pt x="21793" y="92572"/>
                </a:lnTo>
                <a:lnTo>
                  <a:pt x="32090" y="92572"/>
                </a:lnTo>
                <a:lnTo>
                  <a:pt x="19877" y="63358"/>
                </a:lnTo>
                <a:lnTo>
                  <a:pt x="16524" y="5078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7" name="วัดสามง่าม"/>
          <p:cNvSpPr/>
          <p:nvPr/>
        </p:nvSpPr>
        <p:spPr>
          <a:xfrm>
            <a:off x="5145120" y="5376240"/>
            <a:ext cx="20520" cy="34920"/>
          </a:xfrm>
          <a:custGeom>
            <a:avLst/>
            <a:gdLst/>
            <a:ahLst/>
            <a:rect l="l" t="t" r="r" b="b"/>
            <a:pathLst>
              <a:path w="20954" h="35254">
                <a:moveTo>
                  <a:pt x="18799" y="11340"/>
                </a:moveTo>
                <a:lnTo>
                  <a:pt x="20954" y="4191"/>
                </a:lnTo>
                <a:lnTo>
                  <a:pt x="2874" y="0"/>
                </a:lnTo>
                <a:lnTo>
                  <a:pt x="2155" y="3082"/>
                </a:lnTo>
                <a:lnTo>
                  <a:pt x="3712" y="3821"/>
                </a:lnTo>
                <a:lnTo>
                  <a:pt x="3712" y="7889"/>
                </a:lnTo>
                <a:lnTo>
                  <a:pt x="2275" y="14792"/>
                </a:lnTo>
                <a:lnTo>
                  <a:pt x="4790" y="15655"/>
                </a:lnTo>
                <a:lnTo>
                  <a:pt x="0" y="32912"/>
                </a:lnTo>
                <a:lnTo>
                  <a:pt x="10896" y="35254"/>
                </a:lnTo>
                <a:lnTo>
                  <a:pt x="15806" y="19722"/>
                </a:lnTo>
                <a:lnTo>
                  <a:pt x="12094" y="18859"/>
                </a:lnTo>
                <a:lnTo>
                  <a:pt x="11375" y="21325"/>
                </a:lnTo>
                <a:lnTo>
                  <a:pt x="4191" y="19846"/>
                </a:lnTo>
                <a:lnTo>
                  <a:pt x="5987" y="12943"/>
                </a:lnTo>
                <a:lnTo>
                  <a:pt x="17482" y="15655"/>
                </a:lnTo>
                <a:lnTo>
                  <a:pt x="18799" y="11340"/>
                </a:lnTo>
                <a:close/>
              </a:path>
            </a:pathLst>
          </a:custGeom>
          <a:solidFill>
            <a:srgbClr val="ded5c5"/>
          </a:solidFill>
          <a:ln w="6191">
            <a:solidFill>
              <a:srgbClr val="b5a68d"/>
            </a:solidFill>
            <a:round/>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8" name="วัดสามง่าม"/>
          <p:cNvSpPr/>
          <p:nvPr/>
        </p:nvSpPr>
        <p:spPr>
          <a:xfrm>
            <a:off x="5128920" y="5408280"/>
            <a:ext cx="15480" cy="10440"/>
          </a:xfrm>
          <a:custGeom>
            <a:avLst/>
            <a:gdLst/>
            <a:ahLst/>
            <a:rect l="l" t="t" r="r" b="b"/>
            <a:pathLst>
              <a:path w="15686" h="10847">
                <a:moveTo>
                  <a:pt x="15686" y="1602"/>
                </a:moveTo>
                <a:lnTo>
                  <a:pt x="7544" y="0"/>
                </a:lnTo>
                <a:lnTo>
                  <a:pt x="5508" y="4314"/>
                </a:lnTo>
                <a:lnTo>
                  <a:pt x="2754" y="3575"/>
                </a:lnTo>
                <a:lnTo>
                  <a:pt x="0" y="10108"/>
                </a:lnTo>
                <a:lnTo>
                  <a:pt x="2275" y="10847"/>
                </a:lnTo>
                <a:lnTo>
                  <a:pt x="4550" y="6163"/>
                </a:lnTo>
                <a:lnTo>
                  <a:pt x="11735" y="7766"/>
                </a:lnTo>
                <a:lnTo>
                  <a:pt x="12213" y="5054"/>
                </a:lnTo>
                <a:lnTo>
                  <a:pt x="14728" y="5547"/>
                </a:lnTo>
                <a:lnTo>
                  <a:pt x="15686" y="1602"/>
                </a:lnTo>
                <a:close/>
              </a:path>
            </a:pathLst>
          </a:custGeom>
          <a:solidFill>
            <a:srgbClr val="ded5c5"/>
          </a:solidFill>
          <a:ln w="6191">
            <a:solidFill>
              <a:srgbClr val="b5a68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9" name="แฟลตการรถไฟ (วัดดวงแข)"/>
          <p:cNvSpPr/>
          <p:nvPr/>
        </p:nvSpPr>
        <p:spPr>
          <a:xfrm>
            <a:off x="5127120" y="5472360"/>
            <a:ext cx="15120" cy="7200"/>
          </a:xfrm>
          <a:custGeom>
            <a:avLst/>
            <a:gdLst/>
            <a:ahLst/>
            <a:rect l="l" t="t" r="r" b="b"/>
            <a:pathLst>
              <a:path w="15446" h="7396">
                <a:moveTo>
                  <a:pt x="6945" y="0"/>
                </a:moveTo>
                <a:lnTo>
                  <a:pt x="0" y="6163"/>
                </a:lnTo>
                <a:lnTo>
                  <a:pt x="10058" y="7396"/>
                </a:lnTo>
                <a:lnTo>
                  <a:pt x="15446" y="1849"/>
                </a:lnTo>
                <a:lnTo>
                  <a:pt x="6945" y="0"/>
                </a:lnTo>
                <a:close/>
              </a:path>
            </a:pathLst>
          </a:custGeom>
          <a:solidFill>
            <a:srgbClr val="ded5c5"/>
          </a:solidFill>
          <a:ln w="6191">
            <a:solidFill>
              <a:srgbClr val="b5a68d"/>
            </a:solidFill>
            <a:round/>
          </a:ln>
        </p:spPr>
        <p:style>
          <a:lnRef idx="0"/>
          <a:fillRef idx="0"/>
          <a:effectRef idx="0"/>
          <a:fontRef idx="minor"/>
        </p:style>
        <p:txBody>
          <a:bodyPr lIns="90000" rIns="90000" tIns="-37800" bIns="-37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0" name="จรัสเมือง"/>
          <p:cNvSpPr/>
          <p:nvPr/>
        </p:nvSpPr>
        <p:spPr>
          <a:xfrm>
            <a:off x="5151240" y="5476680"/>
            <a:ext cx="7200" cy="10080"/>
          </a:xfrm>
          <a:custGeom>
            <a:avLst/>
            <a:gdLst/>
            <a:ahLst/>
            <a:rect l="l" t="t" r="r" b="b"/>
            <a:pathLst>
              <a:path w="7424" h="10354">
                <a:moveTo>
                  <a:pt x="599" y="0"/>
                </a:moveTo>
                <a:lnTo>
                  <a:pt x="0" y="5547"/>
                </a:lnTo>
                <a:lnTo>
                  <a:pt x="4909" y="10354"/>
                </a:lnTo>
                <a:lnTo>
                  <a:pt x="7424" y="1726"/>
                </a:lnTo>
                <a:lnTo>
                  <a:pt x="599" y="0"/>
                </a:lnTo>
                <a:close/>
              </a:path>
            </a:pathLst>
          </a:custGeom>
          <a:solidFill>
            <a:srgbClr val="ded5c5"/>
          </a:solidFill>
          <a:ln w="6191">
            <a:solidFill>
              <a:srgbClr val="b5a68d"/>
            </a:solidFill>
            <a:round/>
          </a:ln>
        </p:spPr>
        <p:style>
          <a:lnRef idx="0"/>
          <a:fillRef idx="0"/>
          <a:effectRef idx="0"/>
          <a:fontRef idx="minor"/>
        </p:style>
        <p:txBody>
          <a:bodyPr lIns="90000" rIns="90000" tIns="-34920" bIns="-34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1" name="แฟลตสถานีตำรวจนครบาลปทุมวัน"/>
          <p:cNvSpPr/>
          <p:nvPr/>
        </p:nvSpPr>
        <p:spPr>
          <a:xfrm>
            <a:off x="5171760" y="5546520"/>
            <a:ext cx="14400" cy="14400"/>
          </a:xfrm>
          <a:custGeom>
            <a:avLst/>
            <a:gdLst/>
            <a:ahLst/>
            <a:rect l="l" t="t" r="r" b="b"/>
            <a:pathLst>
              <a:path w="14728" h="14915">
                <a:moveTo>
                  <a:pt x="12812" y="14915"/>
                </a:moveTo>
                <a:lnTo>
                  <a:pt x="14728" y="1972"/>
                </a:lnTo>
                <a:lnTo>
                  <a:pt x="1197" y="0"/>
                </a:lnTo>
                <a:lnTo>
                  <a:pt x="0" y="9491"/>
                </a:lnTo>
                <a:lnTo>
                  <a:pt x="12812" y="14915"/>
                </a:lnTo>
                <a:close/>
              </a:path>
            </a:pathLst>
          </a:custGeom>
          <a:solidFill>
            <a:srgbClr val="ded5c5"/>
          </a:solidFill>
          <a:ln w="6191">
            <a:solidFill>
              <a:srgbClr val="b5a68d"/>
            </a:solidFill>
            <a:round/>
          </a:ln>
        </p:spPr>
        <p:style>
          <a:lnRef idx="0"/>
          <a:fillRef idx="0"/>
          <a:effectRef idx="0"/>
          <a:fontRef idx="minor"/>
        </p:style>
        <p:txBody>
          <a:bodyPr lIns="90000" rIns="90000" tIns="-30600" bIns="-30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2" name="เคหะชุมชนบ่อนไก่"/>
          <p:cNvSpPr/>
          <p:nvPr/>
        </p:nvSpPr>
        <p:spPr>
          <a:xfrm>
            <a:off x="5510520" y="5641560"/>
            <a:ext cx="23040" cy="46800"/>
          </a:xfrm>
          <a:custGeom>
            <a:avLst/>
            <a:gdLst/>
            <a:ahLst/>
            <a:rect l="l" t="t" r="r" b="b"/>
            <a:pathLst>
              <a:path w="23349" h="47087">
                <a:moveTo>
                  <a:pt x="838" y="37472"/>
                </a:moveTo>
                <a:lnTo>
                  <a:pt x="1197" y="45608"/>
                </a:lnTo>
                <a:lnTo>
                  <a:pt x="23349" y="47087"/>
                </a:lnTo>
                <a:lnTo>
                  <a:pt x="18919" y="740"/>
                </a:lnTo>
                <a:lnTo>
                  <a:pt x="0" y="0"/>
                </a:lnTo>
                <a:lnTo>
                  <a:pt x="239" y="18120"/>
                </a:lnTo>
                <a:lnTo>
                  <a:pt x="12213" y="18860"/>
                </a:lnTo>
                <a:lnTo>
                  <a:pt x="12333" y="37226"/>
                </a:lnTo>
                <a:lnTo>
                  <a:pt x="838" y="37472"/>
                </a:lnTo>
                <a:close/>
              </a:path>
            </a:pathLst>
          </a:custGeom>
          <a:solidFill>
            <a:srgbClr val="ded5c5"/>
          </a:solidFill>
          <a:ln w="6191">
            <a:solidFill>
              <a:srgbClr val="b5a68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3" name="ตรอกมะขาม"/>
          <p:cNvSpPr/>
          <p:nvPr/>
        </p:nvSpPr>
        <p:spPr>
          <a:xfrm>
            <a:off x="5046840" y="5480640"/>
            <a:ext cx="19440" cy="18360"/>
          </a:xfrm>
          <a:custGeom>
            <a:avLst/>
            <a:gdLst/>
            <a:ahLst/>
            <a:rect l="l" t="t" r="r" b="b"/>
            <a:pathLst>
              <a:path w="19637" h="18859">
                <a:moveTo>
                  <a:pt x="17123" y="2219"/>
                </a:moveTo>
                <a:lnTo>
                  <a:pt x="958" y="0"/>
                </a:lnTo>
                <a:lnTo>
                  <a:pt x="0" y="7519"/>
                </a:lnTo>
                <a:lnTo>
                  <a:pt x="1796" y="7519"/>
                </a:lnTo>
                <a:lnTo>
                  <a:pt x="958" y="15285"/>
                </a:lnTo>
                <a:lnTo>
                  <a:pt x="11615" y="18859"/>
                </a:lnTo>
                <a:lnTo>
                  <a:pt x="19637" y="7889"/>
                </a:lnTo>
                <a:lnTo>
                  <a:pt x="17123" y="2219"/>
                </a:lnTo>
                <a:close/>
              </a:path>
            </a:pathLst>
          </a:custGeom>
          <a:solidFill>
            <a:srgbClr val="ded5c5"/>
          </a:solidFill>
          <a:ln w="6191">
            <a:solidFill>
              <a:srgbClr val="b5a68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4" name="วังแดง"/>
          <p:cNvSpPr/>
          <p:nvPr/>
        </p:nvSpPr>
        <p:spPr>
          <a:xfrm>
            <a:off x="4962240" y="5401440"/>
            <a:ext cx="12960" cy="13680"/>
          </a:xfrm>
          <a:custGeom>
            <a:avLst/>
            <a:gdLst/>
            <a:ahLst/>
            <a:rect l="l" t="t" r="r" b="b"/>
            <a:pathLst>
              <a:path w="13171" h="13929">
                <a:moveTo>
                  <a:pt x="2275" y="0"/>
                </a:moveTo>
                <a:lnTo>
                  <a:pt x="0" y="9615"/>
                </a:lnTo>
                <a:lnTo>
                  <a:pt x="8382" y="13929"/>
                </a:lnTo>
                <a:lnTo>
                  <a:pt x="13171" y="3944"/>
                </a:lnTo>
                <a:lnTo>
                  <a:pt x="2275" y="0"/>
                </a:lnTo>
                <a:close/>
              </a:path>
            </a:pathLst>
          </a:custGeom>
          <a:solidFill>
            <a:srgbClr val="ded5c5"/>
          </a:solidFill>
          <a:ln w="6191">
            <a:solidFill>
              <a:srgbClr val="b5a68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5" name="หมู่บ้านบัวขาว"/>
          <p:cNvSpPr/>
          <p:nvPr/>
        </p:nvSpPr>
        <p:spPr>
          <a:xfrm>
            <a:off x="7448400" y="4838040"/>
            <a:ext cx="88560" cy="102240"/>
          </a:xfrm>
          <a:custGeom>
            <a:avLst/>
            <a:gdLst/>
            <a:ahLst/>
            <a:rect l="l" t="t" r="r" b="b"/>
            <a:pathLst>
              <a:path w="88967" h="102433">
                <a:moveTo>
                  <a:pt x="34605" y="4068"/>
                </a:moveTo>
                <a:lnTo>
                  <a:pt x="23469" y="15408"/>
                </a:lnTo>
                <a:lnTo>
                  <a:pt x="19997" y="21818"/>
                </a:lnTo>
                <a:lnTo>
                  <a:pt x="20236" y="30816"/>
                </a:lnTo>
                <a:lnTo>
                  <a:pt x="3113" y="44868"/>
                </a:lnTo>
                <a:lnTo>
                  <a:pt x="0" y="51155"/>
                </a:lnTo>
                <a:lnTo>
                  <a:pt x="5149" y="57318"/>
                </a:lnTo>
                <a:lnTo>
                  <a:pt x="24427" y="41294"/>
                </a:lnTo>
                <a:lnTo>
                  <a:pt x="33288" y="85915"/>
                </a:lnTo>
                <a:lnTo>
                  <a:pt x="41191" y="88011"/>
                </a:lnTo>
                <a:lnTo>
                  <a:pt x="47297" y="86039"/>
                </a:lnTo>
                <a:lnTo>
                  <a:pt x="46220" y="90353"/>
                </a:lnTo>
                <a:lnTo>
                  <a:pt x="50410" y="94791"/>
                </a:lnTo>
                <a:lnTo>
                  <a:pt x="51129" y="102433"/>
                </a:lnTo>
                <a:lnTo>
                  <a:pt x="63941" y="96640"/>
                </a:lnTo>
                <a:lnTo>
                  <a:pt x="62384" y="89120"/>
                </a:lnTo>
                <a:lnTo>
                  <a:pt x="65977" y="88627"/>
                </a:lnTo>
                <a:lnTo>
                  <a:pt x="65138" y="79876"/>
                </a:lnTo>
                <a:lnTo>
                  <a:pt x="68252" y="78150"/>
                </a:lnTo>
                <a:lnTo>
                  <a:pt x="66336" y="73589"/>
                </a:lnTo>
                <a:lnTo>
                  <a:pt x="85015" y="63605"/>
                </a:lnTo>
                <a:lnTo>
                  <a:pt x="78909" y="56209"/>
                </a:lnTo>
                <a:lnTo>
                  <a:pt x="88967" y="48073"/>
                </a:lnTo>
                <a:lnTo>
                  <a:pt x="87530" y="43759"/>
                </a:lnTo>
                <a:lnTo>
                  <a:pt x="71125" y="31802"/>
                </a:lnTo>
                <a:lnTo>
                  <a:pt x="69928" y="33528"/>
                </a:lnTo>
                <a:lnTo>
                  <a:pt x="41909" y="0"/>
                </a:lnTo>
                <a:lnTo>
                  <a:pt x="34605" y="406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6" name="พิเชษฐ์"/>
          <p:cNvSpPr/>
          <p:nvPr/>
        </p:nvSpPr>
        <p:spPr>
          <a:xfrm>
            <a:off x="7754040" y="4717800"/>
            <a:ext cx="43200" cy="30960"/>
          </a:xfrm>
          <a:custGeom>
            <a:avLst/>
            <a:gdLst/>
            <a:ahLst/>
            <a:rect l="l" t="t" r="r" b="b"/>
            <a:pathLst>
              <a:path w="43705" h="31432">
                <a:moveTo>
                  <a:pt x="0" y="21448"/>
                </a:moveTo>
                <a:lnTo>
                  <a:pt x="5149" y="31432"/>
                </a:lnTo>
                <a:lnTo>
                  <a:pt x="38197" y="12943"/>
                </a:lnTo>
                <a:lnTo>
                  <a:pt x="36401" y="8752"/>
                </a:lnTo>
                <a:lnTo>
                  <a:pt x="43705" y="4931"/>
                </a:lnTo>
                <a:lnTo>
                  <a:pt x="40951" y="0"/>
                </a:lnTo>
                <a:lnTo>
                  <a:pt x="0" y="21448"/>
                </a:lnTo>
                <a:close/>
              </a:path>
            </a:pathLst>
          </a:custGeom>
          <a:solidFill>
            <a:srgbClr val="ded5c5"/>
          </a:solidFill>
          <a:ln w="6191">
            <a:solidFill>
              <a:srgbClr val="b5a68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7" name="โรงช้อน"/>
          <p:cNvSpPr/>
          <p:nvPr/>
        </p:nvSpPr>
        <p:spPr>
          <a:xfrm>
            <a:off x="7477200" y="4458240"/>
            <a:ext cx="69840" cy="16920"/>
          </a:xfrm>
          <a:custGeom>
            <a:avLst/>
            <a:gdLst/>
            <a:ahLst/>
            <a:rect l="l" t="t" r="r" b="b"/>
            <a:pathLst>
              <a:path w="70287" h="17380">
                <a:moveTo>
                  <a:pt x="0" y="1356"/>
                </a:moveTo>
                <a:lnTo>
                  <a:pt x="4311" y="17380"/>
                </a:lnTo>
                <a:lnTo>
                  <a:pt x="70287" y="16764"/>
                </a:lnTo>
                <a:lnTo>
                  <a:pt x="69689" y="0"/>
                </a:lnTo>
                <a:lnTo>
                  <a:pt x="0" y="1356"/>
                </a:lnTo>
                <a:close/>
              </a:path>
            </a:pathLst>
          </a:custGeom>
          <a:solidFill>
            <a:srgbClr val="ded5c5"/>
          </a:solidFill>
          <a:ln w="6191">
            <a:solidFill>
              <a:srgbClr val="b5a68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8" name="รุ่งนภา 2"/>
          <p:cNvSpPr/>
          <p:nvPr/>
        </p:nvSpPr>
        <p:spPr>
          <a:xfrm>
            <a:off x="7707600" y="4633200"/>
            <a:ext cx="36720" cy="56520"/>
          </a:xfrm>
          <a:custGeom>
            <a:avLst/>
            <a:gdLst/>
            <a:ahLst/>
            <a:rect l="l" t="t" r="r" b="b"/>
            <a:pathLst>
              <a:path w="37239" h="56702">
                <a:moveTo>
                  <a:pt x="13171" y="0"/>
                </a:moveTo>
                <a:lnTo>
                  <a:pt x="0" y="6656"/>
                </a:lnTo>
                <a:lnTo>
                  <a:pt x="25744" y="56702"/>
                </a:lnTo>
                <a:lnTo>
                  <a:pt x="37239" y="49799"/>
                </a:lnTo>
                <a:lnTo>
                  <a:pt x="21553" y="20462"/>
                </a:lnTo>
                <a:lnTo>
                  <a:pt x="22631" y="19599"/>
                </a:lnTo>
                <a:lnTo>
                  <a:pt x="13171" y="0"/>
                </a:lnTo>
                <a:close/>
              </a:path>
            </a:pathLst>
          </a:custGeom>
          <a:solidFill>
            <a:srgbClr val="ded5c5"/>
          </a:solidFill>
          <a:ln w="6191">
            <a:solidFill>
              <a:srgbClr val="b5a68d"/>
            </a:solidFill>
            <a:round/>
          </a:ln>
        </p:spPr>
        <p:style>
          <a:lnRef idx="0"/>
          <a:fillRef idx="0"/>
          <a:effectRef idx="0"/>
          <a:fontRef idx="minor"/>
        </p:style>
        <p:txBody>
          <a:bodyPr lIns="90000" rIns="90000" tIns="11520" bIns="11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9" name="หมู่บ้านรินทร์ทอง"/>
          <p:cNvSpPr/>
          <p:nvPr/>
        </p:nvSpPr>
        <p:spPr>
          <a:xfrm>
            <a:off x="7604280" y="4705920"/>
            <a:ext cx="56160" cy="138960"/>
          </a:xfrm>
          <a:custGeom>
            <a:avLst/>
            <a:gdLst/>
            <a:ahLst/>
            <a:rect l="l" t="t" r="r" b="b"/>
            <a:pathLst>
              <a:path w="56517" h="139412">
                <a:moveTo>
                  <a:pt x="30773" y="60276"/>
                </a:moveTo>
                <a:lnTo>
                  <a:pt x="32210" y="59660"/>
                </a:lnTo>
                <a:lnTo>
                  <a:pt x="12094" y="0"/>
                </a:lnTo>
                <a:lnTo>
                  <a:pt x="0" y="11710"/>
                </a:lnTo>
                <a:lnTo>
                  <a:pt x="44663" y="139412"/>
                </a:lnTo>
                <a:lnTo>
                  <a:pt x="56517" y="131770"/>
                </a:lnTo>
                <a:lnTo>
                  <a:pt x="37239" y="75315"/>
                </a:lnTo>
                <a:lnTo>
                  <a:pt x="30773" y="6027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0" name="ประชาพัฒนา"/>
          <p:cNvSpPr/>
          <p:nvPr/>
        </p:nvSpPr>
        <p:spPr>
          <a:xfrm>
            <a:off x="7653240" y="4412880"/>
            <a:ext cx="113400" cy="94680"/>
          </a:xfrm>
          <a:custGeom>
            <a:avLst/>
            <a:gdLst/>
            <a:ahLst/>
            <a:rect l="l" t="t" r="r" b="b"/>
            <a:pathLst>
              <a:path w="113633" h="95037">
                <a:moveTo>
                  <a:pt x="5628" y="34884"/>
                </a:moveTo>
                <a:lnTo>
                  <a:pt x="5867" y="41787"/>
                </a:lnTo>
                <a:lnTo>
                  <a:pt x="239" y="56948"/>
                </a:lnTo>
                <a:lnTo>
                  <a:pt x="958" y="62865"/>
                </a:lnTo>
                <a:lnTo>
                  <a:pt x="3712" y="63481"/>
                </a:lnTo>
                <a:lnTo>
                  <a:pt x="3113" y="67303"/>
                </a:lnTo>
                <a:lnTo>
                  <a:pt x="1078" y="67796"/>
                </a:lnTo>
                <a:lnTo>
                  <a:pt x="0" y="78150"/>
                </a:lnTo>
                <a:lnTo>
                  <a:pt x="3712" y="95037"/>
                </a:lnTo>
                <a:lnTo>
                  <a:pt x="8382" y="94791"/>
                </a:lnTo>
                <a:lnTo>
                  <a:pt x="10896" y="82464"/>
                </a:lnTo>
                <a:lnTo>
                  <a:pt x="113633" y="42526"/>
                </a:lnTo>
                <a:lnTo>
                  <a:pt x="106209" y="24283"/>
                </a:lnTo>
                <a:lnTo>
                  <a:pt x="103934" y="0"/>
                </a:lnTo>
                <a:lnTo>
                  <a:pt x="5628" y="3488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1" name="นิมิตใหม่ซอย 1"/>
          <p:cNvSpPr/>
          <p:nvPr/>
        </p:nvSpPr>
        <p:spPr>
          <a:xfrm>
            <a:off x="7659000" y="4378320"/>
            <a:ext cx="94320" cy="47880"/>
          </a:xfrm>
          <a:custGeom>
            <a:avLst/>
            <a:gdLst/>
            <a:ahLst/>
            <a:rect l="l" t="t" r="r" b="b"/>
            <a:pathLst>
              <a:path w="94594" h="48197">
                <a:moveTo>
                  <a:pt x="0" y="33898"/>
                </a:moveTo>
                <a:lnTo>
                  <a:pt x="120" y="48197"/>
                </a:lnTo>
                <a:lnTo>
                  <a:pt x="90643" y="15038"/>
                </a:lnTo>
                <a:lnTo>
                  <a:pt x="90164" y="8382"/>
                </a:lnTo>
                <a:lnTo>
                  <a:pt x="94594" y="6656"/>
                </a:lnTo>
                <a:lnTo>
                  <a:pt x="92080" y="740"/>
                </a:lnTo>
                <a:lnTo>
                  <a:pt x="89565" y="1726"/>
                </a:lnTo>
                <a:lnTo>
                  <a:pt x="87769" y="0"/>
                </a:lnTo>
                <a:lnTo>
                  <a:pt x="88488" y="2219"/>
                </a:lnTo>
                <a:lnTo>
                  <a:pt x="82022" y="5177"/>
                </a:lnTo>
                <a:lnTo>
                  <a:pt x="5508" y="33158"/>
                </a:lnTo>
                <a:lnTo>
                  <a:pt x="0" y="33898"/>
                </a:lnTo>
                <a:close/>
              </a:path>
            </a:pathLst>
          </a:custGeom>
          <a:solidFill>
            <a:srgbClr val="ded5c5"/>
          </a:solidFill>
          <a:ln w="6191">
            <a:solidFill>
              <a:srgbClr val="b5a68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2" name="โซ๊ะมันร่วมพัฒนา"/>
          <p:cNvSpPr/>
          <p:nvPr/>
        </p:nvSpPr>
        <p:spPr>
          <a:xfrm>
            <a:off x="8167320" y="4282560"/>
            <a:ext cx="181800" cy="191520"/>
          </a:xfrm>
          <a:custGeom>
            <a:avLst/>
            <a:gdLst/>
            <a:ahLst/>
            <a:rect l="l" t="t" r="r" b="b"/>
            <a:pathLst>
              <a:path w="182005" h="191800">
                <a:moveTo>
                  <a:pt x="113873" y="0"/>
                </a:moveTo>
                <a:lnTo>
                  <a:pt x="0" y="64837"/>
                </a:lnTo>
                <a:lnTo>
                  <a:pt x="79268" y="113280"/>
                </a:lnTo>
                <a:lnTo>
                  <a:pt x="81782" y="116362"/>
                </a:lnTo>
                <a:lnTo>
                  <a:pt x="105012" y="179227"/>
                </a:lnTo>
                <a:lnTo>
                  <a:pt x="117345" y="191800"/>
                </a:lnTo>
                <a:lnTo>
                  <a:pt x="118303" y="183295"/>
                </a:lnTo>
                <a:lnTo>
                  <a:pt x="122853" y="178241"/>
                </a:lnTo>
                <a:lnTo>
                  <a:pt x="129080" y="173187"/>
                </a:lnTo>
                <a:lnTo>
                  <a:pt x="139138" y="168133"/>
                </a:lnTo>
                <a:lnTo>
                  <a:pt x="164882" y="172940"/>
                </a:lnTo>
                <a:lnTo>
                  <a:pt x="182005" y="172078"/>
                </a:lnTo>
                <a:lnTo>
                  <a:pt x="133510" y="77657"/>
                </a:lnTo>
                <a:lnTo>
                  <a:pt x="146921" y="72110"/>
                </a:lnTo>
                <a:lnTo>
                  <a:pt x="128481" y="29214"/>
                </a:lnTo>
                <a:lnTo>
                  <a:pt x="113873"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3" name="ทองสงวน"/>
          <p:cNvSpPr/>
          <p:nvPr/>
        </p:nvSpPr>
        <p:spPr>
          <a:xfrm>
            <a:off x="8338320" y="4318920"/>
            <a:ext cx="244440" cy="309240"/>
          </a:xfrm>
          <a:custGeom>
            <a:avLst/>
            <a:gdLst/>
            <a:ahLst/>
            <a:rect l="l" t="t" r="r" b="b"/>
            <a:pathLst>
              <a:path w="244748" h="309518">
                <a:moveTo>
                  <a:pt x="46818" y="262061"/>
                </a:moveTo>
                <a:lnTo>
                  <a:pt x="57116" y="295466"/>
                </a:lnTo>
                <a:lnTo>
                  <a:pt x="57475" y="308408"/>
                </a:lnTo>
                <a:lnTo>
                  <a:pt x="77591" y="309518"/>
                </a:lnTo>
                <a:lnTo>
                  <a:pt x="125368" y="281906"/>
                </a:lnTo>
                <a:lnTo>
                  <a:pt x="135426" y="234819"/>
                </a:lnTo>
                <a:lnTo>
                  <a:pt x="112077" y="224465"/>
                </a:lnTo>
                <a:lnTo>
                  <a:pt x="140096" y="115499"/>
                </a:lnTo>
                <a:lnTo>
                  <a:pt x="205354" y="141878"/>
                </a:lnTo>
                <a:lnTo>
                  <a:pt x="209904" y="131400"/>
                </a:lnTo>
                <a:lnTo>
                  <a:pt x="230739" y="130414"/>
                </a:lnTo>
                <a:lnTo>
                  <a:pt x="227745" y="113404"/>
                </a:lnTo>
                <a:lnTo>
                  <a:pt x="231337" y="100091"/>
                </a:lnTo>
                <a:lnTo>
                  <a:pt x="229541" y="88751"/>
                </a:lnTo>
                <a:lnTo>
                  <a:pt x="240198" y="54360"/>
                </a:lnTo>
                <a:lnTo>
                  <a:pt x="244748" y="28474"/>
                </a:lnTo>
                <a:lnTo>
                  <a:pt x="218286" y="30446"/>
                </a:lnTo>
                <a:lnTo>
                  <a:pt x="208347" y="37103"/>
                </a:lnTo>
                <a:lnTo>
                  <a:pt x="193021" y="40677"/>
                </a:lnTo>
                <a:lnTo>
                  <a:pt x="155422" y="0"/>
                </a:lnTo>
                <a:lnTo>
                  <a:pt x="132911" y="14299"/>
                </a:lnTo>
                <a:lnTo>
                  <a:pt x="123691" y="22804"/>
                </a:lnTo>
                <a:lnTo>
                  <a:pt x="102857" y="33528"/>
                </a:lnTo>
                <a:lnTo>
                  <a:pt x="102258" y="60276"/>
                </a:lnTo>
                <a:lnTo>
                  <a:pt x="78789" y="110199"/>
                </a:lnTo>
                <a:lnTo>
                  <a:pt x="67533" y="122279"/>
                </a:lnTo>
                <a:lnTo>
                  <a:pt x="22391" y="136331"/>
                </a:lnTo>
                <a:lnTo>
                  <a:pt x="0" y="137687"/>
                </a:lnTo>
                <a:lnTo>
                  <a:pt x="15207" y="166777"/>
                </a:lnTo>
                <a:lnTo>
                  <a:pt x="23349" y="185760"/>
                </a:lnTo>
                <a:lnTo>
                  <a:pt x="25265" y="191184"/>
                </a:lnTo>
                <a:lnTo>
                  <a:pt x="23828" y="191923"/>
                </a:lnTo>
                <a:lnTo>
                  <a:pt x="44543" y="242831"/>
                </a:lnTo>
                <a:lnTo>
                  <a:pt x="51488" y="240982"/>
                </a:lnTo>
                <a:lnTo>
                  <a:pt x="57236" y="258733"/>
                </a:lnTo>
                <a:lnTo>
                  <a:pt x="46818" y="262061"/>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4" name="อนันตสามัคคี"/>
          <p:cNvSpPr/>
          <p:nvPr/>
        </p:nvSpPr>
        <p:spPr>
          <a:xfrm>
            <a:off x="8199000" y="4611600"/>
            <a:ext cx="43200" cy="32760"/>
          </a:xfrm>
          <a:custGeom>
            <a:avLst/>
            <a:gdLst/>
            <a:ahLst/>
            <a:rect l="l" t="t" r="r" b="b"/>
            <a:pathLst>
              <a:path w="43466" h="33035">
                <a:moveTo>
                  <a:pt x="39155" y="27858"/>
                </a:moveTo>
                <a:lnTo>
                  <a:pt x="39873" y="11710"/>
                </a:lnTo>
                <a:lnTo>
                  <a:pt x="42388" y="10601"/>
                </a:lnTo>
                <a:lnTo>
                  <a:pt x="43466" y="4561"/>
                </a:lnTo>
                <a:lnTo>
                  <a:pt x="239" y="0"/>
                </a:lnTo>
                <a:lnTo>
                  <a:pt x="0" y="4314"/>
                </a:lnTo>
                <a:lnTo>
                  <a:pt x="4430" y="17011"/>
                </a:lnTo>
                <a:lnTo>
                  <a:pt x="12333" y="33035"/>
                </a:lnTo>
                <a:lnTo>
                  <a:pt x="39514" y="30200"/>
                </a:lnTo>
                <a:lnTo>
                  <a:pt x="39155" y="27858"/>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5" name="ลำผักชีก้าวหน้า"/>
          <p:cNvSpPr/>
          <p:nvPr/>
        </p:nvSpPr>
        <p:spPr>
          <a:xfrm>
            <a:off x="8886240" y="4725720"/>
            <a:ext cx="199080" cy="194400"/>
          </a:xfrm>
          <a:custGeom>
            <a:avLst/>
            <a:gdLst/>
            <a:ahLst/>
            <a:rect l="l" t="t" r="r" b="b"/>
            <a:pathLst>
              <a:path w="199487" h="194635">
                <a:moveTo>
                  <a:pt x="121775" y="21695"/>
                </a:moveTo>
                <a:lnTo>
                  <a:pt x="136264" y="4314"/>
                </a:lnTo>
                <a:lnTo>
                  <a:pt x="133151" y="0"/>
                </a:lnTo>
                <a:lnTo>
                  <a:pt x="104772" y="20585"/>
                </a:lnTo>
                <a:lnTo>
                  <a:pt x="76274" y="13929"/>
                </a:lnTo>
                <a:lnTo>
                  <a:pt x="73520" y="27241"/>
                </a:lnTo>
                <a:lnTo>
                  <a:pt x="0" y="108473"/>
                </a:lnTo>
                <a:lnTo>
                  <a:pt x="10417" y="120430"/>
                </a:lnTo>
                <a:lnTo>
                  <a:pt x="23230" y="145452"/>
                </a:lnTo>
                <a:lnTo>
                  <a:pt x="102138" y="194635"/>
                </a:lnTo>
                <a:lnTo>
                  <a:pt x="139377" y="150876"/>
                </a:lnTo>
                <a:lnTo>
                  <a:pt x="89086" y="106501"/>
                </a:lnTo>
                <a:lnTo>
                  <a:pt x="125607" y="69028"/>
                </a:lnTo>
                <a:lnTo>
                  <a:pt x="192063" y="122648"/>
                </a:lnTo>
                <a:lnTo>
                  <a:pt x="182005" y="148781"/>
                </a:lnTo>
                <a:lnTo>
                  <a:pt x="187513" y="151492"/>
                </a:lnTo>
                <a:lnTo>
                  <a:pt x="191464" y="150999"/>
                </a:lnTo>
                <a:lnTo>
                  <a:pt x="199487" y="119074"/>
                </a:lnTo>
                <a:lnTo>
                  <a:pt x="122853" y="43636"/>
                </a:lnTo>
                <a:lnTo>
                  <a:pt x="121296" y="34761"/>
                </a:lnTo>
                <a:lnTo>
                  <a:pt x="123572" y="32172"/>
                </a:lnTo>
                <a:lnTo>
                  <a:pt x="125008" y="26502"/>
                </a:lnTo>
                <a:lnTo>
                  <a:pt x="121775" y="2169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6" name="เคหะชุมชนฉลองกรุงโซน 4"/>
          <p:cNvSpPr/>
          <p:nvPr/>
        </p:nvSpPr>
        <p:spPr>
          <a:xfrm>
            <a:off x="9018000" y="5030640"/>
            <a:ext cx="41400" cy="34920"/>
          </a:xfrm>
          <a:custGeom>
            <a:avLst/>
            <a:gdLst/>
            <a:ahLst/>
            <a:rect l="l" t="t" r="r" b="b"/>
            <a:pathLst>
              <a:path w="41669" h="35130">
                <a:moveTo>
                  <a:pt x="8382" y="13682"/>
                </a:moveTo>
                <a:lnTo>
                  <a:pt x="0" y="21941"/>
                </a:lnTo>
                <a:lnTo>
                  <a:pt x="12932" y="35130"/>
                </a:lnTo>
                <a:lnTo>
                  <a:pt x="36281" y="20832"/>
                </a:lnTo>
                <a:lnTo>
                  <a:pt x="32569" y="13189"/>
                </a:lnTo>
                <a:lnTo>
                  <a:pt x="41669" y="2958"/>
                </a:lnTo>
                <a:lnTo>
                  <a:pt x="22272" y="0"/>
                </a:lnTo>
                <a:lnTo>
                  <a:pt x="8382" y="13682"/>
                </a:lnTo>
                <a:close/>
              </a:path>
            </a:pathLst>
          </a:custGeom>
          <a:solidFill>
            <a:srgbClr val="ded5c5"/>
          </a:solidFill>
          <a:ln w="6191">
            <a:solidFill>
              <a:srgbClr val="b5a68d"/>
            </a:solidFill>
            <a:round/>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7" name="แผ่นดินทองดารุ้ลอะมาน"/>
          <p:cNvSpPr/>
          <p:nvPr/>
        </p:nvSpPr>
        <p:spPr>
          <a:xfrm>
            <a:off x="9481320" y="4906080"/>
            <a:ext cx="318600" cy="403200"/>
          </a:xfrm>
          <a:custGeom>
            <a:avLst/>
            <a:gdLst/>
            <a:ahLst/>
            <a:rect l="l" t="t" r="r" b="b"/>
            <a:pathLst>
              <a:path w="319107" h="403692">
                <a:moveTo>
                  <a:pt x="4191" y="273401"/>
                </a:moveTo>
                <a:lnTo>
                  <a:pt x="18320" y="322214"/>
                </a:lnTo>
                <a:lnTo>
                  <a:pt x="0" y="317900"/>
                </a:lnTo>
                <a:lnTo>
                  <a:pt x="3233" y="336143"/>
                </a:lnTo>
                <a:lnTo>
                  <a:pt x="22032" y="346127"/>
                </a:lnTo>
                <a:lnTo>
                  <a:pt x="47896" y="354509"/>
                </a:lnTo>
                <a:lnTo>
                  <a:pt x="102617" y="403692"/>
                </a:lnTo>
                <a:lnTo>
                  <a:pt x="224871" y="185513"/>
                </a:lnTo>
                <a:lnTo>
                  <a:pt x="319107" y="6040"/>
                </a:lnTo>
                <a:lnTo>
                  <a:pt x="313838" y="0"/>
                </a:lnTo>
                <a:lnTo>
                  <a:pt x="287016" y="15285"/>
                </a:lnTo>
                <a:lnTo>
                  <a:pt x="269894" y="370"/>
                </a:lnTo>
                <a:lnTo>
                  <a:pt x="173383" y="103912"/>
                </a:lnTo>
                <a:lnTo>
                  <a:pt x="155063" y="136824"/>
                </a:lnTo>
                <a:lnTo>
                  <a:pt x="142371" y="126839"/>
                </a:lnTo>
                <a:lnTo>
                  <a:pt x="134228" y="137317"/>
                </a:lnTo>
                <a:lnTo>
                  <a:pt x="142969" y="147055"/>
                </a:lnTo>
                <a:lnTo>
                  <a:pt x="140335" y="145699"/>
                </a:lnTo>
                <a:lnTo>
                  <a:pt x="128361" y="151369"/>
                </a:lnTo>
                <a:lnTo>
                  <a:pt x="119021" y="165544"/>
                </a:lnTo>
                <a:lnTo>
                  <a:pt x="16524" y="232600"/>
                </a:lnTo>
                <a:lnTo>
                  <a:pt x="6226" y="243325"/>
                </a:lnTo>
                <a:lnTo>
                  <a:pt x="4191" y="273401"/>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8" name="แผ่นดินทองนูรุ้ลลอฮ์ (ลำโขล่)"/>
          <p:cNvSpPr/>
          <p:nvPr/>
        </p:nvSpPr>
        <p:spPr>
          <a:xfrm>
            <a:off x="9298440" y="4557240"/>
            <a:ext cx="157680" cy="173520"/>
          </a:xfrm>
          <a:custGeom>
            <a:avLst/>
            <a:gdLst/>
            <a:ahLst/>
            <a:rect l="l" t="t" r="r" b="b"/>
            <a:pathLst>
              <a:path w="157937" h="174050">
                <a:moveTo>
                  <a:pt x="59391" y="164435"/>
                </a:moveTo>
                <a:lnTo>
                  <a:pt x="150154" y="174050"/>
                </a:lnTo>
                <a:lnTo>
                  <a:pt x="156380" y="159874"/>
                </a:lnTo>
                <a:lnTo>
                  <a:pt x="157937" y="151985"/>
                </a:lnTo>
                <a:lnTo>
                  <a:pt x="144885" y="140522"/>
                </a:lnTo>
                <a:lnTo>
                  <a:pt x="154824" y="117718"/>
                </a:lnTo>
                <a:lnTo>
                  <a:pt x="137222" y="105391"/>
                </a:lnTo>
                <a:lnTo>
                  <a:pt x="120578" y="124990"/>
                </a:lnTo>
                <a:lnTo>
                  <a:pt x="103814" y="111924"/>
                </a:lnTo>
                <a:lnTo>
                  <a:pt x="84417" y="111185"/>
                </a:lnTo>
                <a:lnTo>
                  <a:pt x="81303" y="101570"/>
                </a:lnTo>
                <a:lnTo>
                  <a:pt x="97468" y="91709"/>
                </a:lnTo>
                <a:lnTo>
                  <a:pt x="73281" y="77040"/>
                </a:lnTo>
                <a:lnTo>
                  <a:pt x="62025" y="75931"/>
                </a:lnTo>
                <a:lnTo>
                  <a:pt x="57355" y="21695"/>
                </a:lnTo>
                <a:lnTo>
                  <a:pt x="59511" y="18490"/>
                </a:lnTo>
                <a:lnTo>
                  <a:pt x="56876" y="17257"/>
                </a:lnTo>
                <a:lnTo>
                  <a:pt x="55679" y="5917"/>
                </a:lnTo>
                <a:lnTo>
                  <a:pt x="37598" y="0"/>
                </a:lnTo>
                <a:lnTo>
                  <a:pt x="2993" y="34637"/>
                </a:lnTo>
                <a:lnTo>
                  <a:pt x="4430" y="88874"/>
                </a:lnTo>
                <a:lnTo>
                  <a:pt x="1796" y="115622"/>
                </a:lnTo>
                <a:lnTo>
                  <a:pt x="0" y="161970"/>
                </a:lnTo>
                <a:lnTo>
                  <a:pt x="10537" y="163079"/>
                </a:lnTo>
                <a:lnTo>
                  <a:pt x="15686" y="138919"/>
                </a:lnTo>
                <a:lnTo>
                  <a:pt x="26941" y="139166"/>
                </a:lnTo>
                <a:lnTo>
                  <a:pt x="28857" y="139905"/>
                </a:lnTo>
                <a:lnTo>
                  <a:pt x="28618" y="141754"/>
                </a:lnTo>
                <a:lnTo>
                  <a:pt x="31132" y="142247"/>
                </a:lnTo>
                <a:lnTo>
                  <a:pt x="31971" y="138673"/>
                </a:lnTo>
                <a:lnTo>
                  <a:pt x="38556" y="135098"/>
                </a:lnTo>
                <a:lnTo>
                  <a:pt x="46100" y="134605"/>
                </a:lnTo>
                <a:lnTo>
                  <a:pt x="63103" y="122525"/>
                </a:lnTo>
                <a:lnTo>
                  <a:pt x="60708" y="149150"/>
                </a:lnTo>
                <a:lnTo>
                  <a:pt x="58074" y="158888"/>
                </a:lnTo>
                <a:lnTo>
                  <a:pt x="59750" y="159874"/>
                </a:lnTo>
                <a:lnTo>
                  <a:pt x="59391" y="16443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9" name="แผ่นดินทองวัดราษฎร์บำรุง"/>
          <p:cNvSpPr/>
          <p:nvPr/>
        </p:nvSpPr>
        <p:spPr>
          <a:xfrm>
            <a:off x="9361440" y="4551840"/>
            <a:ext cx="287640" cy="262800"/>
          </a:xfrm>
          <a:custGeom>
            <a:avLst/>
            <a:gdLst/>
            <a:ahLst/>
            <a:rect l="l" t="t" r="r" b="b"/>
            <a:pathLst>
              <a:path w="287974" h="263047">
                <a:moveTo>
                  <a:pt x="0" y="24283"/>
                </a:moveTo>
                <a:lnTo>
                  <a:pt x="67054" y="63605"/>
                </a:lnTo>
                <a:lnTo>
                  <a:pt x="55679" y="75315"/>
                </a:lnTo>
                <a:lnTo>
                  <a:pt x="61786" y="79136"/>
                </a:lnTo>
                <a:lnTo>
                  <a:pt x="75676" y="93311"/>
                </a:lnTo>
                <a:lnTo>
                  <a:pt x="77112" y="95037"/>
                </a:lnTo>
                <a:lnTo>
                  <a:pt x="76274" y="96886"/>
                </a:lnTo>
                <a:lnTo>
                  <a:pt x="82022" y="101447"/>
                </a:lnTo>
                <a:lnTo>
                  <a:pt x="81663" y="109336"/>
                </a:lnTo>
                <a:lnTo>
                  <a:pt x="83339" y="110445"/>
                </a:lnTo>
                <a:lnTo>
                  <a:pt x="85015" y="109336"/>
                </a:lnTo>
                <a:lnTo>
                  <a:pt x="116028" y="133372"/>
                </a:lnTo>
                <a:lnTo>
                  <a:pt x="117704" y="132016"/>
                </a:lnTo>
                <a:lnTo>
                  <a:pt x="122494" y="133865"/>
                </a:lnTo>
                <a:lnTo>
                  <a:pt x="130397" y="124621"/>
                </a:lnTo>
                <a:lnTo>
                  <a:pt x="157338" y="149274"/>
                </a:lnTo>
                <a:lnTo>
                  <a:pt x="147400" y="166777"/>
                </a:lnTo>
                <a:lnTo>
                  <a:pt x="159972" y="182555"/>
                </a:lnTo>
                <a:lnTo>
                  <a:pt x="167277" y="204619"/>
                </a:lnTo>
                <a:lnTo>
                  <a:pt x="186555" y="223972"/>
                </a:lnTo>
                <a:lnTo>
                  <a:pt x="250017" y="263047"/>
                </a:lnTo>
                <a:lnTo>
                  <a:pt x="287016" y="246406"/>
                </a:lnTo>
                <a:lnTo>
                  <a:pt x="287974" y="223109"/>
                </a:lnTo>
                <a:lnTo>
                  <a:pt x="185717" y="140768"/>
                </a:lnTo>
                <a:lnTo>
                  <a:pt x="167875" y="121662"/>
                </a:lnTo>
                <a:lnTo>
                  <a:pt x="151830" y="110938"/>
                </a:lnTo>
                <a:lnTo>
                  <a:pt x="142011" y="116978"/>
                </a:lnTo>
                <a:lnTo>
                  <a:pt x="137821" y="114020"/>
                </a:lnTo>
                <a:lnTo>
                  <a:pt x="145005" y="104159"/>
                </a:lnTo>
                <a:lnTo>
                  <a:pt x="83818" y="50045"/>
                </a:lnTo>
                <a:lnTo>
                  <a:pt x="49453" y="26748"/>
                </a:lnTo>
                <a:lnTo>
                  <a:pt x="34006" y="0"/>
                </a:lnTo>
                <a:lnTo>
                  <a:pt x="11615" y="8875"/>
                </a:lnTo>
                <a:lnTo>
                  <a:pt x="0" y="2428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50" name="แผ่นดินทองวัดลำต้อยติ่ง"/>
          <p:cNvSpPr/>
          <p:nvPr/>
        </p:nvSpPr>
        <p:spPr>
          <a:xfrm>
            <a:off x="9286920" y="5221080"/>
            <a:ext cx="295920" cy="321120"/>
          </a:xfrm>
          <a:custGeom>
            <a:avLst/>
            <a:gdLst/>
            <a:ahLst/>
            <a:rect l="l" t="t" r="r" b="b"/>
            <a:pathLst>
              <a:path w="296236" h="321351">
                <a:moveTo>
                  <a:pt x="37598" y="180336"/>
                </a:moveTo>
                <a:lnTo>
                  <a:pt x="54482" y="209797"/>
                </a:lnTo>
                <a:lnTo>
                  <a:pt x="56278" y="210783"/>
                </a:lnTo>
                <a:lnTo>
                  <a:pt x="56637" y="213494"/>
                </a:lnTo>
                <a:lnTo>
                  <a:pt x="109921" y="306313"/>
                </a:lnTo>
                <a:lnTo>
                  <a:pt x="155662" y="321351"/>
                </a:lnTo>
                <a:lnTo>
                  <a:pt x="296236" y="89983"/>
                </a:lnTo>
                <a:lnTo>
                  <a:pt x="241036" y="39445"/>
                </a:lnTo>
                <a:lnTo>
                  <a:pt x="170629" y="15531"/>
                </a:lnTo>
                <a:lnTo>
                  <a:pt x="145843" y="40554"/>
                </a:lnTo>
                <a:lnTo>
                  <a:pt x="111358" y="85546"/>
                </a:lnTo>
                <a:lnTo>
                  <a:pt x="46459" y="41417"/>
                </a:lnTo>
                <a:lnTo>
                  <a:pt x="48375" y="0"/>
                </a:lnTo>
                <a:lnTo>
                  <a:pt x="0" y="10847"/>
                </a:lnTo>
                <a:lnTo>
                  <a:pt x="4191" y="43389"/>
                </a:lnTo>
                <a:lnTo>
                  <a:pt x="5628" y="42896"/>
                </a:lnTo>
                <a:lnTo>
                  <a:pt x="11256" y="74452"/>
                </a:lnTo>
                <a:lnTo>
                  <a:pt x="12573" y="136084"/>
                </a:lnTo>
                <a:lnTo>
                  <a:pt x="37598" y="18033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51" name="ลำตามีพัฒนา"/>
          <p:cNvSpPr/>
          <p:nvPr/>
        </p:nvSpPr>
        <p:spPr>
          <a:xfrm>
            <a:off x="9448920" y="5148720"/>
            <a:ext cx="46080" cy="96120"/>
          </a:xfrm>
          <a:custGeom>
            <a:avLst/>
            <a:gdLst/>
            <a:ahLst/>
            <a:rect l="l" t="t" r="r" b="b"/>
            <a:pathLst>
              <a:path w="46579" h="96516">
                <a:moveTo>
                  <a:pt x="36161" y="17011"/>
                </a:moveTo>
                <a:lnTo>
                  <a:pt x="37000" y="9245"/>
                </a:lnTo>
                <a:lnTo>
                  <a:pt x="34844" y="0"/>
                </a:lnTo>
                <a:lnTo>
                  <a:pt x="13052" y="370"/>
                </a:lnTo>
                <a:lnTo>
                  <a:pt x="0" y="50045"/>
                </a:lnTo>
                <a:lnTo>
                  <a:pt x="16404" y="58304"/>
                </a:lnTo>
                <a:lnTo>
                  <a:pt x="8023" y="88627"/>
                </a:lnTo>
                <a:lnTo>
                  <a:pt x="28378" y="96516"/>
                </a:lnTo>
                <a:lnTo>
                  <a:pt x="31731" y="73342"/>
                </a:lnTo>
                <a:lnTo>
                  <a:pt x="46579" y="74575"/>
                </a:lnTo>
                <a:lnTo>
                  <a:pt x="44902" y="70261"/>
                </a:lnTo>
                <a:lnTo>
                  <a:pt x="38915" y="70014"/>
                </a:lnTo>
                <a:lnTo>
                  <a:pt x="40712" y="56455"/>
                </a:lnTo>
                <a:lnTo>
                  <a:pt x="35682" y="31556"/>
                </a:lnTo>
                <a:lnTo>
                  <a:pt x="36161" y="17011"/>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52" name="วัดใหม่กระทุ่มล้ม"/>
          <p:cNvSpPr/>
          <p:nvPr/>
        </p:nvSpPr>
        <p:spPr>
          <a:xfrm>
            <a:off x="9215640" y="4929120"/>
            <a:ext cx="264960" cy="216360"/>
          </a:xfrm>
          <a:custGeom>
            <a:avLst/>
            <a:gdLst/>
            <a:ahLst/>
            <a:rect l="l" t="t" r="r" b="b"/>
            <a:pathLst>
              <a:path w="265344" h="216699">
                <a:moveTo>
                  <a:pt x="0" y="91339"/>
                </a:moveTo>
                <a:lnTo>
                  <a:pt x="42867" y="160737"/>
                </a:lnTo>
                <a:lnTo>
                  <a:pt x="36640" y="179720"/>
                </a:lnTo>
                <a:lnTo>
                  <a:pt x="21314" y="197717"/>
                </a:lnTo>
                <a:lnTo>
                  <a:pt x="42268" y="216699"/>
                </a:lnTo>
                <a:lnTo>
                  <a:pt x="81902" y="199072"/>
                </a:lnTo>
                <a:lnTo>
                  <a:pt x="74598" y="171831"/>
                </a:lnTo>
                <a:lnTo>
                  <a:pt x="128241" y="134112"/>
                </a:lnTo>
                <a:lnTo>
                  <a:pt x="143927" y="116239"/>
                </a:lnTo>
                <a:lnTo>
                  <a:pt x="159015" y="107364"/>
                </a:lnTo>
                <a:lnTo>
                  <a:pt x="176137" y="89737"/>
                </a:lnTo>
                <a:lnTo>
                  <a:pt x="262829" y="51648"/>
                </a:lnTo>
                <a:lnTo>
                  <a:pt x="262230" y="47580"/>
                </a:lnTo>
                <a:lnTo>
                  <a:pt x="265344" y="27735"/>
                </a:lnTo>
                <a:lnTo>
                  <a:pt x="259117" y="16517"/>
                </a:lnTo>
                <a:lnTo>
                  <a:pt x="253250" y="15408"/>
                </a:lnTo>
                <a:lnTo>
                  <a:pt x="248101" y="12203"/>
                </a:lnTo>
                <a:lnTo>
                  <a:pt x="233732" y="0"/>
                </a:lnTo>
                <a:lnTo>
                  <a:pt x="182005" y="24406"/>
                </a:lnTo>
                <a:lnTo>
                  <a:pt x="172785" y="14052"/>
                </a:lnTo>
                <a:lnTo>
                  <a:pt x="155303" y="18983"/>
                </a:lnTo>
                <a:lnTo>
                  <a:pt x="177694" y="60523"/>
                </a:lnTo>
                <a:lnTo>
                  <a:pt x="161170" y="70877"/>
                </a:lnTo>
                <a:lnTo>
                  <a:pt x="138539" y="44622"/>
                </a:lnTo>
                <a:lnTo>
                  <a:pt x="110879" y="61016"/>
                </a:lnTo>
                <a:lnTo>
                  <a:pt x="74837" y="20215"/>
                </a:lnTo>
                <a:lnTo>
                  <a:pt x="36401" y="54483"/>
                </a:lnTo>
                <a:lnTo>
                  <a:pt x="0" y="9133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53" name="หมู่ 5 ลำต้อยติ่ง"/>
          <p:cNvSpPr/>
          <p:nvPr/>
        </p:nvSpPr>
        <p:spPr>
          <a:xfrm>
            <a:off x="9388800" y="4797000"/>
            <a:ext cx="125640" cy="135360"/>
          </a:xfrm>
          <a:custGeom>
            <a:avLst/>
            <a:gdLst/>
            <a:ahLst/>
            <a:rect l="l" t="t" r="r" b="b"/>
            <a:pathLst>
              <a:path w="126086" h="135838">
                <a:moveTo>
                  <a:pt x="89086" y="31186"/>
                </a:moveTo>
                <a:lnTo>
                  <a:pt x="97708" y="52264"/>
                </a:lnTo>
                <a:lnTo>
                  <a:pt x="96151" y="84560"/>
                </a:lnTo>
                <a:lnTo>
                  <a:pt x="109801" y="96640"/>
                </a:lnTo>
                <a:lnTo>
                  <a:pt x="99025" y="112787"/>
                </a:lnTo>
                <a:lnTo>
                  <a:pt x="92559" y="134975"/>
                </a:lnTo>
                <a:lnTo>
                  <a:pt x="94714" y="135838"/>
                </a:lnTo>
                <a:lnTo>
                  <a:pt x="115788" y="110692"/>
                </a:lnTo>
                <a:lnTo>
                  <a:pt x="117824" y="91462"/>
                </a:lnTo>
                <a:lnTo>
                  <a:pt x="107167" y="78150"/>
                </a:lnTo>
                <a:lnTo>
                  <a:pt x="107646" y="71000"/>
                </a:lnTo>
                <a:lnTo>
                  <a:pt x="113873" y="63605"/>
                </a:lnTo>
                <a:lnTo>
                  <a:pt x="120099" y="51032"/>
                </a:lnTo>
                <a:lnTo>
                  <a:pt x="126086" y="30570"/>
                </a:lnTo>
                <a:lnTo>
                  <a:pt x="77591" y="21202"/>
                </a:lnTo>
                <a:lnTo>
                  <a:pt x="60109" y="9615"/>
                </a:lnTo>
                <a:lnTo>
                  <a:pt x="0" y="0"/>
                </a:lnTo>
                <a:lnTo>
                  <a:pt x="958" y="11094"/>
                </a:lnTo>
                <a:lnTo>
                  <a:pt x="46699" y="14299"/>
                </a:lnTo>
                <a:lnTo>
                  <a:pt x="89086" y="3118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54" name="เคหะชุมชนฉลองกรุงโซน 5"/>
          <p:cNvSpPr/>
          <p:nvPr/>
        </p:nvSpPr>
        <p:spPr>
          <a:xfrm>
            <a:off x="9014400" y="5069880"/>
            <a:ext cx="34560" cy="61920"/>
          </a:xfrm>
          <a:custGeom>
            <a:avLst/>
            <a:gdLst/>
            <a:ahLst/>
            <a:rect l="l" t="t" r="r" b="b"/>
            <a:pathLst>
              <a:path w="35084" h="62372">
                <a:moveTo>
                  <a:pt x="22272" y="1849"/>
                </a:moveTo>
                <a:lnTo>
                  <a:pt x="11256" y="0"/>
                </a:lnTo>
                <a:lnTo>
                  <a:pt x="1916" y="11957"/>
                </a:lnTo>
                <a:lnTo>
                  <a:pt x="0" y="35747"/>
                </a:lnTo>
                <a:lnTo>
                  <a:pt x="838" y="59783"/>
                </a:lnTo>
                <a:lnTo>
                  <a:pt x="35084" y="62372"/>
                </a:lnTo>
                <a:lnTo>
                  <a:pt x="33048" y="6287"/>
                </a:lnTo>
                <a:lnTo>
                  <a:pt x="22272" y="1849"/>
                </a:lnTo>
                <a:close/>
              </a:path>
            </a:pathLst>
          </a:custGeom>
          <a:solidFill>
            <a:srgbClr val="ded5c5"/>
          </a:solidFill>
          <a:ln w="6191">
            <a:solidFill>
              <a:srgbClr val="b5a68d"/>
            </a:solidFill>
            <a:round/>
          </a:ln>
        </p:spPr>
        <p:style>
          <a:lnRef idx="0"/>
          <a:fillRef idx="0"/>
          <a:effectRef idx="0"/>
          <a:fontRef idx="minor"/>
        </p:style>
        <p:txBody>
          <a:bodyPr lIns="90000" rIns="90000" tIns="16920" bIns="16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55" name="ซอยวัดมหาพฤฒาราม (ชุมชนซอยแก้วฟ้า)"/>
          <p:cNvSpPr/>
          <p:nvPr/>
        </p:nvSpPr>
        <p:spPr>
          <a:xfrm>
            <a:off x="5099400" y="5585400"/>
            <a:ext cx="19800" cy="10440"/>
          </a:xfrm>
          <a:custGeom>
            <a:avLst/>
            <a:gdLst/>
            <a:ahLst/>
            <a:rect l="l" t="t" r="r" b="b"/>
            <a:pathLst>
              <a:path w="19997" h="10971">
                <a:moveTo>
                  <a:pt x="10058" y="8998"/>
                </a:moveTo>
                <a:lnTo>
                  <a:pt x="17961" y="10971"/>
                </a:lnTo>
                <a:lnTo>
                  <a:pt x="19997" y="2958"/>
                </a:lnTo>
                <a:lnTo>
                  <a:pt x="11974" y="0"/>
                </a:lnTo>
                <a:lnTo>
                  <a:pt x="10298" y="7519"/>
                </a:lnTo>
                <a:lnTo>
                  <a:pt x="120" y="5793"/>
                </a:lnTo>
                <a:lnTo>
                  <a:pt x="0" y="6903"/>
                </a:lnTo>
                <a:lnTo>
                  <a:pt x="10058" y="8998"/>
                </a:lnTo>
                <a:close/>
              </a:path>
            </a:pathLst>
          </a:custGeom>
          <a:solidFill>
            <a:srgbClr val="ded5c5"/>
          </a:solidFill>
          <a:ln w="6191">
            <a:solidFill>
              <a:srgbClr val="b5a68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56" name="ซอยสองพระ"/>
          <p:cNvSpPr/>
          <p:nvPr/>
        </p:nvSpPr>
        <p:spPr>
          <a:xfrm>
            <a:off x="5160600" y="5575320"/>
            <a:ext cx="36720" cy="39600"/>
          </a:xfrm>
          <a:custGeom>
            <a:avLst/>
            <a:gdLst/>
            <a:ahLst/>
            <a:rect l="l" t="t" r="r" b="b"/>
            <a:pathLst>
              <a:path w="37000" h="40061">
                <a:moveTo>
                  <a:pt x="599" y="30077"/>
                </a:moveTo>
                <a:lnTo>
                  <a:pt x="479" y="31556"/>
                </a:lnTo>
                <a:lnTo>
                  <a:pt x="7304" y="31679"/>
                </a:lnTo>
                <a:lnTo>
                  <a:pt x="8861" y="37226"/>
                </a:lnTo>
                <a:lnTo>
                  <a:pt x="11854" y="36610"/>
                </a:lnTo>
                <a:lnTo>
                  <a:pt x="12573" y="40061"/>
                </a:lnTo>
                <a:lnTo>
                  <a:pt x="14489" y="39815"/>
                </a:lnTo>
                <a:lnTo>
                  <a:pt x="13770" y="35870"/>
                </a:lnTo>
                <a:lnTo>
                  <a:pt x="19637" y="34884"/>
                </a:lnTo>
                <a:lnTo>
                  <a:pt x="18200" y="28474"/>
                </a:lnTo>
                <a:lnTo>
                  <a:pt x="13411" y="24776"/>
                </a:lnTo>
                <a:lnTo>
                  <a:pt x="37000" y="3451"/>
                </a:lnTo>
                <a:lnTo>
                  <a:pt x="29336" y="0"/>
                </a:lnTo>
                <a:lnTo>
                  <a:pt x="11615" y="14052"/>
                </a:lnTo>
                <a:lnTo>
                  <a:pt x="9220" y="11094"/>
                </a:lnTo>
                <a:lnTo>
                  <a:pt x="4790" y="15038"/>
                </a:lnTo>
                <a:lnTo>
                  <a:pt x="6346" y="17011"/>
                </a:lnTo>
                <a:lnTo>
                  <a:pt x="4430" y="18613"/>
                </a:lnTo>
                <a:lnTo>
                  <a:pt x="5628" y="21078"/>
                </a:lnTo>
                <a:lnTo>
                  <a:pt x="10178" y="21818"/>
                </a:lnTo>
                <a:lnTo>
                  <a:pt x="9819" y="28351"/>
                </a:lnTo>
                <a:lnTo>
                  <a:pt x="5029" y="28597"/>
                </a:lnTo>
                <a:lnTo>
                  <a:pt x="4909" y="23667"/>
                </a:lnTo>
                <a:lnTo>
                  <a:pt x="3472" y="23544"/>
                </a:lnTo>
                <a:lnTo>
                  <a:pt x="0" y="25886"/>
                </a:lnTo>
                <a:lnTo>
                  <a:pt x="599" y="30077"/>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57" name="ตรอกขุนนาวา"/>
          <p:cNvSpPr/>
          <p:nvPr/>
        </p:nvSpPr>
        <p:spPr>
          <a:xfrm>
            <a:off x="5189760" y="5582880"/>
            <a:ext cx="22680" cy="16920"/>
          </a:xfrm>
          <a:custGeom>
            <a:avLst/>
            <a:gdLst/>
            <a:ahLst/>
            <a:rect l="l" t="t" r="r" b="b"/>
            <a:pathLst>
              <a:path w="23110" h="17134">
                <a:moveTo>
                  <a:pt x="17721" y="0"/>
                </a:moveTo>
                <a:lnTo>
                  <a:pt x="0" y="13436"/>
                </a:lnTo>
                <a:lnTo>
                  <a:pt x="3592" y="17134"/>
                </a:lnTo>
                <a:lnTo>
                  <a:pt x="23110" y="2342"/>
                </a:lnTo>
                <a:lnTo>
                  <a:pt x="17721" y="0"/>
                </a:lnTo>
                <a:close/>
              </a:path>
            </a:pathLst>
          </a:custGeom>
          <a:solidFill>
            <a:srgbClr val="ded5c5"/>
          </a:solidFill>
          <a:ln w="6191">
            <a:solidFill>
              <a:srgbClr val="b5a68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58" name="ตรอกห้านาย"/>
          <p:cNvSpPr/>
          <p:nvPr/>
        </p:nvSpPr>
        <p:spPr>
          <a:xfrm>
            <a:off x="5114520" y="5550120"/>
            <a:ext cx="17640" cy="23400"/>
          </a:xfrm>
          <a:custGeom>
            <a:avLst/>
            <a:gdLst/>
            <a:ahLst/>
            <a:rect l="l" t="t" r="r" b="b"/>
            <a:pathLst>
              <a:path w="17961" h="23913">
                <a:moveTo>
                  <a:pt x="9699" y="23913"/>
                </a:moveTo>
                <a:lnTo>
                  <a:pt x="14129" y="16517"/>
                </a:lnTo>
                <a:lnTo>
                  <a:pt x="17961" y="1972"/>
                </a:lnTo>
                <a:lnTo>
                  <a:pt x="13890" y="0"/>
                </a:lnTo>
                <a:lnTo>
                  <a:pt x="4790" y="6533"/>
                </a:lnTo>
                <a:lnTo>
                  <a:pt x="5987" y="8505"/>
                </a:lnTo>
                <a:lnTo>
                  <a:pt x="2634" y="11217"/>
                </a:lnTo>
                <a:lnTo>
                  <a:pt x="1676" y="7026"/>
                </a:lnTo>
                <a:lnTo>
                  <a:pt x="0" y="7519"/>
                </a:lnTo>
                <a:lnTo>
                  <a:pt x="1437" y="15408"/>
                </a:lnTo>
                <a:lnTo>
                  <a:pt x="3353" y="18366"/>
                </a:lnTo>
                <a:lnTo>
                  <a:pt x="9699" y="21078"/>
                </a:lnTo>
                <a:lnTo>
                  <a:pt x="9699" y="23913"/>
                </a:lnTo>
                <a:close/>
              </a:path>
            </a:pathLst>
          </a:custGeom>
          <a:solidFill>
            <a:srgbClr val="ded5c5"/>
          </a:solidFill>
          <a:ln w="6191">
            <a:solidFill>
              <a:srgbClr val="b5a68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59" name="ซอยจอมสมบูรณ์"/>
          <p:cNvSpPr/>
          <p:nvPr/>
        </p:nvSpPr>
        <p:spPr>
          <a:xfrm>
            <a:off x="5174280" y="5578920"/>
            <a:ext cx="27720" cy="24120"/>
          </a:xfrm>
          <a:custGeom>
            <a:avLst/>
            <a:gdLst/>
            <a:ahLst/>
            <a:rect l="l" t="t" r="r" b="b"/>
            <a:pathLst>
              <a:path w="28139" h="24653">
                <a:moveTo>
                  <a:pt x="7544" y="19229"/>
                </a:moveTo>
                <a:lnTo>
                  <a:pt x="28139" y="2096"/>
                </a:lnTo>
                <a:lnTo>
                  <a:pt x="23349" y="0"/>
                </a:lnTo>
                <a:lnTo>
                  <a:pt x="23349" y="2219"/>
                </a:lnTo>
                <a:lnTo>
                  <a:pt x="0" y="21078"/>
                </a:lnTo>
                <a:lnTo>
                  <a:pt x="4071" y="24530"/>
                </a:lnTo>
                <a:lnTo>
                  <a:pt x="6705" y="23174"/>
                </a:lnTo>
                <a:lnTo>
                  <a:pt x="8023" y="24653"/>
                </a:lnTo>
                <a:lnTo>
                  <a:pt x="10298" y="22557"/>
                </a:lnTo>
                <a:lnTo>
                  <a:pt x="7544" y="19229"/>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60" name="ซอยพระนคเรศ"/>
          <p:cNvSpPr/>
          <p:nvPr/>
        </p:nvSpPr>
        <p:spPr>
          <a:xfrm>
            <a:off x="5154480" y="5569920"/>
            <a:ext cx="26280" cy="19080"/>
          </a:xfrm>
          <a:custGeom>
            <a:avLst/>
            <a:gdLst/>
            <a:ahLst/>
            <a:rect l="l" t="t" r="r" b="b"/>
            <a:pathLst>
              <a:path w="26582" h="19353">
                <a:moveTo>
                  <a:pt x="22272" y="0"/>
                </a:moveTo>
                <a:lnTo>
                  <a:pt x="10896" y="8382"/>
                </a:lnTo>
                <a:lnTo>
                  <a:pt x="8262" y="5547"/>
                </a:lnTo>
                <a:lnTo>
                  <a:pt x="5508" y="7519"/>
                </a:lnTo>
                <a:lnTo>
                  <a:pt x="1916" y="10971"/>
                </a:lnTo>
                <a:lnTo>
                  <a:pt x="3113" y="12326"/>
                </a:lnTo>
                <a:lnTo>
                  <a:pt x="0" y="14668"/>
                </a:lnTo>
                <a:lnTo>
                  <a:pt x="958" y="17997"/>
                </a:lnTo>
                <a:lnTo>
                  <a:pt x="2993" y="19353"/>
                </a:lnTo>
                <a:lnTo>
                  <a:pt x="8621" y="13066"/>
                </a:lnTo>
                <a:lnTo>
                  <a:pt x="10298" y="15162"/>
                </a:lnTo>
                <a:lnTo>
                  <a:pt x="25744" y="3575"/>
                </a:lnTo>
                <a:lnTo>
                  <a:pt x="26582" y="1726"/>
                </a:lnTo>
                <a:lnTo>
                  <a:pt x="22272" y="0"/>
                </a:lnTo>
                <a:close/>
              </a:path>
            </a:pathLst>
          </a:custGeom>
          <a:solidFill>
            <a:srgbClr val="ded5c5"/>
          </a:solidFill>
          <a:ln w="6191">
            <a:solidFill>
              <a:srgbClr val="b5a68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61" name="หมู่บ้านร่วมสุข 2"/>
          <p:cNvSpPr/>
          <p:nvPr/>
        </p:nvSpPr>
        <p:spPr>
          <a:xfrm>
            <a:off x="7566840" y="4485960"/>
            <a:ext cx="44640" cy="7200"/>
          </a:xfrm>
          <a:custGeom>
            <a:avLst/>
            <a:gdLst/>
            <a:ahLst/>
            <a:rect l="l" t="t" r="r" b="b"/>
            <a:pathLst>
              <a:path w="45142" h="7396">
                <a:moveTo>
                  <a:pt x="0" y="986"/>
                </a:moveTo>
                <a:lnTo>
                  <a:pt x="239" y="7396"/>
                </a:lnTo>
                <a:lnTo>
                  <a:pt x="45142" y="7273"/>
                </a:lnTo>
                <a:lnTo>
                  <a:pt x="44902" y="0"/>
                </a:lnTo>
                <a:lnTo>
                  <a:pt x="0" y="986"/>
                </a:lnTo>
                <a:close/>
              </a:path>
            </a:pathLst>
          </a:custGeom>
          <a:solidFill>
            <a:srgbClr val="ded5c5"/>
          </a:solidFill>
          <a:ln w="6191">
            <a:solidFill>
              <a:srgbClr val="b5a68d"/>
            </a:solidFill>
            <a:round/>
          </a:ln>
        </p:spPr>
        <p:style>
          <a:lnRef idx="0"/>
          <a:fillRef idx="0"/>
          <a:effectRef idx="0"/>
          <a:fontRef idx="minor"/>
        </p:style>
        <p:txBody>
          <a:bodyPr lIns="90000" rIns="90000" tIns="-37800" bIns="-37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62" name="สามัคคีธรรม"/>
          <p:cNvSpPr/>
          <p:nvPr/>
        </p:nvSpPr>
        <p:spPr>
          <a:xfrm>
            <a:off x="7589160" y="4723200"/>
            <a:ext cx="55440" cy="136080"/>
          </a:xfrm>
          <a:custGeom>
            <a:avLst/>
            <a:gdLst/>
            <a:ahLst/>
            <a:rect l="l" t="t" r="r" b="b"/>
            <a:pathLst>
              <a:path w="55799" h="136577">
                <a:moveTo>
                  <a:pt x="7544" y="0"/>
                </a:moveTo>
                <a:lnTo>
                  <a:pt x="0" y="3575"/>
                </a:lnTo>
                <a:lnTo>
                  <a:pt x="31013" y="86902"/>
                </a:lnTo>
                <a:lnTo>
                  <a:pt x="47776" y="136577"/>
                </a:lnTo>
                <a:lnTo>
                  <a:pt x="55799" y="129058"/>
                </a:lnTo>
                <a:lnTo>
                  <a:pt x="7544"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63" name="หมู่บ้าน เค.ซี ร่มเกล้า"/>
          <p:cNvSpPr/>
          <p:nvPr/>
        </p:nvSpPr>
        <p:spPr>
          <a:xfrm>
            <a:off x="7769160" y="5042160"/>
            <a:ext cx="87840" cy="10080"/>
          </a:xfrm>
          <a:custGeom>
            <a:avLst/>
            <a:gdLst/>
            <a:ahLst/>
            <a:rect l="l" t="t" r="r" b="b"/>
            <a:pathLst>
              <a:path w="88248" h="10477">
                <a:moveTo>
                  <a:pt x="88248" y="5917"/>
                </a:moveTo>
                <a:lnTo>
                  <a:pt x="88248" y="0"/>
                </a:lnTo>
                <a:lnTo>
                  <a:pt x="120" y="3575"/>
                </a:lnTo>
                <a:lnTo>
                  <a:pt x="0" y="10477"/>
                </a:lnTo>
                <a:lnTo>
                  <a:pt x="88248" y="5917"/>
                </a:lnTo>
                <a:close/>
              </a:path>
            </a:pathLst>
          </a:custGeom>
          <a:solidFill>
            <a:srgbClr val="ded5c5"/>
          </a:solidFill>
          <a:ln w="6191">
            <a:solidFill>
              <a:srgbClr val="b5a68d"/>
            </a:solidFill>
            <a:round/>
          </a:ln>
        </p:spPr>
        <p:style>
          <a:lnRef idx="0"/>
          <a:fillRef idx="0"/>
          <a:effectRef idx="0"/>
          <a:fontRef idx="minor"/>
        </p:style>
        <p:txBody>
          <a:bodyPr lIns="90000" rIns="90000" tIns="-34920" bIns="-34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64" name="หมู่บ้านรุ่งนภาเพลส"/>
          <p:cNvSpPr/>
          <p:nvPr/>
        </p:nvSpPr>
        <p:spPr>
          <a:xfrm>
            <a:off x="7778520" y="5027760"/>
            <a:ext cx="78480" cy="11160"/>
          </a:xfrm>
          <a:custGeom>
            <a:avLst/>
            <a:gdLst/>
            <a:ahLst/>
            <a:rect l="l" t="t" r="r" b="b"/>
            <a:pathLst>
              <a:path w="78669" h="11340">
                <a:moveTo>
                  <a:pt x="78669" y="0"/>
                </a:moveTo>
                <a:lnTo>
                  <a:pt x="9819" y="2712"/>
                </a:lnTo>
                <a:lnTo>
                  <a:pt x="0" y="11340"/>
                </a:lnTo>
                <a:lnTo>
                  <a:pt x="78669" y="6780"/>
                </a:lnTo>
                <a:lnTo>
                  <a:pt x="78669" y="0"/>
                </a:lnTo>
                <a:close/>
              </a:path>
            </a:pathLst>
          </a:custGeom>
          <a:solidFill>
            <a:srgbClr val="ded5c5"/>
          </a:solidFill>
          <a:ln w="6191">
            <a:solidFill>
              <a:srgbClr val="b5a68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65" name="เคหะชุมชนบางชัน"/>
          <p:cNvSpPr/>
          <p:nvPr/>
        </p:nvSpPr>
        <p:spPr>
          <a:xfrm>
            <a:off x="7391520" y="4695840"/>
            <a:ext cx="39240" cy="36360"/>
          </a:xfrm>
          <a:custGeom>
            <a:avLst/>
            <a:gdLst/>
            <a:ahLst/>
            <a:rect l="l" t="t" r="r" b="b"/>
            <a:pathLst>
              <a:path w="39514" h="36856">
                <a:moveTo>
                  <a:pt x="20954" y="0"/>
                </a:moveTo>
                <a:lnTo>
                  <a:pt x="0" y="11094"/>
                </a:lnTo>
                <a:lnTo>
                  <a:pt x="9459" y="25762"/>
                </a:lnTo>
                <a:lnTo>
                  <a:pt x="20116" y="36856"/>
                </a:lnTo>
                <a:lnTo>
                  <a:pt x="39514" y="21818"/>
                </a:lnTo>
                <a:lnTo>
                  <a:pt x="30534" y="3205"/>
                </a:lnTo>
                <a:lnTo>
                  <a:pt x="20954" y="0"/>
                </a:lnTo>
                <a:close/>
              </a:path>
            </a:pathLst>
          </a:custGeom>
          <a:solidFill>
            <a:srgbClr val="ded5c5"/>
          </a:solidFill>
          <a:ln w="6191">
            <a:solidFill>
              <a:srgbClr val="b5a68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66" name="บัวขาวฝั่งใน"/>
          <p:cNvSpPr/>
          <p:nvPr/>
        </p:nvSpPr>
        <p:spPr>
          <a:xfrm>
            <a:off x="7541640" y="4938840"/>
            <a:ext cx="81000" cy="68400"/>
          </a:xfrm>
          <a:custGeom>
            <a:avLst/>
            <a:gdLst/>
            <a:ahLst/>
            <a:rect l="l" t="t" r="r" b="b"/>
            <a:pathLst>
              <a:path w="81184" h="68905">
                <a:moveTo>
                  <a:pt x="53883" y="5054"/>
                </a:moveTo>
                <a:lnTo>
                  <a:pt x="48135" y="0"/>
                </a:lnTo>
                <a:lnTo>
                  <a:pt x="0" y="34144"/>
                </a:lnTo>
                <a:lnTo>
                  <a:pt x="25265" y="68905"/>
                </a:lnTo>
                <a:lnTo>
                  <a:pt x="39275" y="66809"/>
                </a:lnTo>
                <a:lnTo>
                  <a:pt x="49213" y="60153"/>
                </a:lnTo>
                <a:lnTo>
                  <a:pt x="67893" y="68042"/>
                </a:lnTo>
                <a:lnTo>
                  <a:pt x="81184" y="58551"/>
                </a:lnTo>
                <a:lnTo>
                  <a:pt x="40352" y="16764"/>
                </a:lnTo>
                <a:lnTo>
                  <a:pt x="53883" y="5054"/>
                </a:lnTo>
                <a:close/>
              </a:path>
            </a:pathLst>
          </a:custGeom>
          <a:solidFill>
            <a:srgbClr val="ded5c5"/>
          </a:solidFill>
          <a:ln w="6191">
            <a:solidFill>
              <a:srgbClr val="b5a68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67" name="แสนสุขพัฒนา"/>
          <p:cNvSpPr/>
          <p:nvPr/>
        </p:nvSpPr>
        <p:spPr>
          <a:xfrm>
            <a:off x="7676280" y="4513320"/>
            <a:ext cx="34920" cy="61560"/>
          </a:xfrm>
          <a:custGeom>
            <a:avLst/>
            <a:gdLst/>
            <a:ahLst/>
            <a:rect l="l" t="t" r="r" b="b"/>
            <a:pathLst>
              <a:path w="35443" h="61879">
                <a:moveTo>
                  <a:pt x="18200" y="34884"/>
                </a:moveTo>
                <a:lnTo>
                  <a:pt x="29456" y="61879"/>
                </a:lnTo>
                <a:lnTo>
                  <a:pt x="35443" y="58674"/>
                </a:lnTo>
                <a:lnTo>
                  <a:pt x="9340" y="0"/>
                </a:lnTo>
                <a:lnTo>
                  <a:pt x="0" y="4561"/>
                </a:lnTo>
                <a:lnTo>
                  <a:pt x="6586" y="21818"/>
                </a:lnTo>
                <a:lnTo>
                  <a:pt x="13171" y="21818"/>
                </a:lnTo>
                <a:lnTo>
                  <a:pt x="18200" y="34884"/>
                </a:lnTo>
                <a:close/>
              </a:path>
            </a:pathLst>
          </a:custGeom>
          <a:solidFill>
            <a:srgbClr val="ded5c5"/>
          </a:solidFill>
          <a:ln w="6191">
            <a:solidFill>
              <a:srgbClr val="b5a68d"/>
            </a:solidFill>
            <a:round/>
          </a:ln>
        </p:spPr>
        <p:style>
          <a:lnRef idx="0"/>
          <a:fillRef idx="0"/>
          <a:effectRef idx="0"/>
          <a:fontRef idx="minor"/>
        </p:style>
        <p:txBody>
          <a:bodyPr lIns="90000" rIns="90000" tIns="16560" bIns="16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68" name="ชุมชนหมู่บ้านกิตตินิเวศน์"/>
          <p:cNvSpPr/>
          <p:nvPr/>
        </p:nvSpPr>
        <p:spPr>
          <a:xfrm>
            <a:off x="6859080" y="5220720"/>
            <a:ext cx="78840" cy="70200"/>
          </a:xfrm>
          <a:custGeom>
            <a:avLst/>
            <a:gdLst/>
            <a:ahLst/>
            <a:rect l="l" t="t" r="r" b="b"/>
            <a:pathLst>
              <a:path w="79028" h="70384">
                <a:moveTo>
                  <a:pt x="77591" y="36610"/>
                </a:moveTo>
                <a:lnTo>
                  <a:pt x="76394" y="17257"/>
                </a:lnTo>
                <a:lnTo>
                  <a:pt x="68970" y="15162"/>
                </a:lnTo>
                <a:lnTo>
                  <a:pt x="69569" y="13559"/>
                </a:lnTo>
                <a:lnTo>
                  <a:pt x="66096" y="12080"/>
                </a:lnTo>
                <a:lnTo>
                  <a:pt x="30294" y="0"/>
                </a:lnTo>
                <a:lnTo>
                  <a:pt x="23708" y="18983"/>
                </a:lnTo>
                <a:lnTo>
                  <a:pt x="22152" y="19106"/>
                </a:lnTo>
                <a:lnTo>
                  <a:pt x="23469" y="20215"/>
                </a:lnTo>
                <a:lnTo>
                  <a:pt x="16883" y="36486"/>
                </a:lnTo>
                <a:lnTo>
                  <a:pt x="6586" y="32542"/>
                </a:lnTo>
                <a:lnTo>
                  <a:pt x="0" y="50539"/>
                </a:lnTo>
                <a:lnTo>
                  <a:pt x="51368" y="62618"/>
                </a:lnTo>
                <a:lnTo>
                  <a:pt x="51608" y="64837"/>
                </a:lnTo>
                <a:lnTo>
                  <a:pt x="79028" y="70384"/>
                </a:lnTo>
                <a:lnTo>
                  <a:pt x="77591" y="36610"/>
                </a:lnTo>
                <a:close/>
              </a:path>
            </a:pathLst>
          </a:custGeom>
          <a:solidFill>
            <a:srgbClr val="ded5c5"/>
          </a:solidFill>
          <a:ln w="6191">
            <a:solidFill>
              <a:srgbClr val="b5a68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69" name="ชุมชนหมู่บ้านสวนสน"/>
          <p:cNvSpPr/>
          <p:nvPr/>
        </p:nvSpPr>
        <p:spPr>
          <a:xfrm>
            <a:off x="6680160" y="5262480"/>
            <a:ext cx="81360" cy="84960"/>
          </a:xfrm>
          <a:custGeom>
            <a:avLst/>
            <a:gdLst/>
            <a:ahLst/>
            <a:rect l="l" t="t" r="r" b="b"/>
            <a:pathLst>
              <a:path w="81663" h="85422">
                <a:moveTo>
                  <a:pt x="65378" y="36733"/>
                </a:moveTo>
                <a:lnTo>
                  <a:pt x="79747" y="27365"/>
                </a:lnTo>
                <a:lnTo>
                  <a:pt x="81663" y="23174"/>
                </a:lnTo>
                <a:lnTo>
                  <a:pt x="66815" y="0"/>
                </a:lnTo>
                <a:lnTo>
                  <a:pt x="49812" y="7149"/>
                </a:lnTo>
                <a:lnTo>
                  <a:pt x="51129" y="10108"/>
                </a:lnTo>
                <a:lnTo>
                  <a:pt x="28738" y="24283"/>
                </a:lnTo>
                <a:lnTo>
                  <a:pt x="31372" y="29337"/>
                </a:lnTo>
                <a:lnTo>
                  <a:pt x="30414" y="30200"/>
                </a:lnTo>
                <a:lnTo>
                  <a:pt x="24786" y="33281"/>
                </a:lnTo>
                <a:lnTo>
                  <a:pt x="23948" y="30939"/>
                </a:lnTo>
                <a:lnTo>
                  <a:pt x="22272" y="31556"/>
                </a:lnTo>
                <a:lnTo>
                  <a:pt x="2275" y="44622"/>
                </a:lnTo>
                <a:lnTo>
                  <a:pt x="3712" y="47334"/>
                </a:lnTo>
                <a:lnTo>
                  <a:pt x="0" y="49799"/>
                </a:lnTo>
                <a:lnTo>
                  <a:pt x="3592" y="85422"/>
                </a:lnTo>
                <a:lnTo>
                  <a:pt x="43825" y="61139"/>
                </a:lnTo>
                <a:lnTo>
                  <a:pt x="49692" y="52511"/>
                </a:lnTo>
                <a:lnTo>
                  <a:pt x="65378" y="36733"/>
                </a:lnTo>
                <a:close/>
              </a:path>
            </a:pathLst>
          </a:custGeom>
          <a:solidFill>
            <a:srgbClr val="ded5c5"/>
          </a:solidFill>
          <a:ln w="6191">
            <a:solidFill>
              <a:srgbClr val="b5a68d"/>
            </a:solidFill>
            <a:round/>
          </a:ln>
        </p:spPr>
        <p:style>
          <a:lnRef idx="0"/>
          <a:fillRef idx="0"/>
          <a:effectRef idx="0"/>
          <a:fontRef idx="minor"/>
        </p:style>
        <p:txBody>
          <a:bodyPr lIns="90000" rIns="90000" tIns="39960" bIns="39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70" name="สุเหร่าบ้านเกาะ"/>
          <p:cNvSpPr/>
          <p:nvPr/>
        </p:nvSpPr>
        <p:spPr>
          <a:xfrm>
            <a:off x="8209080" y="4375080"/>
            <a:ext cx="118080" cy="155880"/>
          </a:xfrm>
          <a:custGeom>
            <a:avLst/>
            <a:gdLst/>
            <a:ahLst/>
            <a:rect l="l" t="t" r="r" b="b"/>
            <a:pathLst>
              <a:path w="118303" h="156176">
                <a:moveTo>
                  <a:pt x="63103" y="87888"/>
                </a:moveTo>
                <a:lnTo>
                  <a:pt x="38077" y="24530"/>
                </a:lnTo>
                <a:lnTo>
                  <a:pt x="0" y="0"/>
                </a:lnTo>
                <a:lnTo>
                  <a:pt x="14608" y="29953"/>
                </a:lnTo>
                <a:lnTo>
                  <a:pt x="8502" y="34514"/>
                </a:lnTo>
                <a:lnTo>
                  <a:pt x="26941" y="67796"/>
                </a:lnTo>
                <a:lnTo>
                  <a:pt x="49093" y="113650"/>
                </a:lnTo>
                <a:lnTo>
                  <a:pt x="57475" y="147178"/>
                </a:lnTo>
                <a:lnTo>
                  <a:pt x="118303" y="156176"/>
                </a:lnTo>
                <a:lnTo>
                  <a:pt x="111119" y="124374"/>
                </a:lnTo>
                <a:lnTo>
                  <a:pt x="91840" y="81848"/>
                </a:lnTo>
                <a:lnTo>
                  <a:pt x="84536" y="84683"/>
                </a:lnTo>
                <a:lnTo>
                  <a:pt x="77232" y="92079"/>
                </a:lnTo>
                <a:lnTo>
                  <a:pt x="76394" y="102063"/>
                </a:lnTo>
                <a:lnTo>
                  <a:pt x="63103" y="8788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71" name="คลองตะโหนด หมู่ 4"/>
          <p:cNvSpPr/>
          <p:nvPr/>
        </p:nvSpPr>
        <p:spPr>
          <a:xfrm>
            <a:off x="8001360" y="4628880"/>
            <a:ext cx="54000" cy="88200"/>
          </a:xfrm>
          <a:custGeom>
            <a:avLst/>
            <a:gdLst/>
            <a:ahLst/>
            <a:rect l="l" t="t" r="r" b="b"/>
            <a:pathLst>
              <a:path w="54482" h="88627">
                <a:moveTo>
                  <a:pt x="599" y="17504"/>
                </a:moveTo>
                <a:lnTo>
                  <a:pt x="0" y="18736"/>
                </a:lnTo>
                <a:lnTo>
                  <a:pt x="17721" y="51771"/>
                </a:lnTo>
                <a:lnTo>
                  <a:pt x="34246" y="88627"/>
                </a:lnTo>
                <a:lnTo>
                  <a:pt x="54482" y="84067"/>
                </a:lnTo>
                <a:lnTo>
                  <a:pt x="4191" y="0"/>
                </a:lnTo>
                <a:lnTo>
                  <a:pt x="599" y="17504"/>
                </a:lnTo>
                <a:close/>
              </a:path>
            </a:pathLst>
          </a:custGeom>
          <a:solidFill>
            <a:srgbClr val="ded5c5"/>
          </a:solidFill>
          <a:ln w="6191">
            <a:solidFill>
              <a:srgbClr val="b5a68d"/>
            </a:solidFill>
            <a:round/>
          </a:ln>
        </p:spPr>
        <p:style>
          <a:lnRef idx="0"/>
          <a:fillRef idx="0"/>
          <a:effectRef idx="0"/>
          <a:fontRef idx="minor"/>
        </p:style>
        <p:txBody>
          <a:bodyPr lIns="90000" rIns="90000" tIns="43200" bIns="43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72" name="แสงวิมาน"/>
          <p:cNvSpPr/>
          <p:nvPr/>
        </p:nvSpPr>
        <p:spPr>
          <a:xfrm>
            <a:off x="8125200" y="4394520"/>
            <a:ext cx="59400" cy="86760"/>
          </a:xfrm>
          <a:custGeom>
            <a:avLst/>
            <a:gdLst/>
            <a:ahLst/>
            <a:rect l="l" t="t" r="r" b="b"/>
            <a:pathLst>
              <a:path w="59750" h="87148">
                <a:moveTo>
                  <a:pt x="0" y="12573"/>
                </a:moveTo>
                <a:lnTo>
                  <a:pt x="39634" y="87148"/>
                </a:lnTo>
                <a:lnTo>
                  <a:pt x="52566" y="81971"/>
                </a:lnTo>
                <a:lnTo>
                  <a:pt x="59750" y="72110"/>
                </a:lnTo>
                <a:lnTo>
                  <a:pt x="19997" y="0"/>
                </a:lnTo>
                <a:lnTo>
                  <a:pt x="0" y="12573"/>
                </a:lnTo>
                <a:close/>
              </a:path>
            </a:pathLst>
          </a:custGeom>
          <a:solidFill>
            <a:srgbClr val="ded5c5"/>
          </a:solidFill>
          <a:ln w="6191">
            <a:solidFill>
              <a:srgbClr val="b5a68d"/>
            </a:solidFill>
            <a:round/>
          </a:ln>
        </p:spPr>
        <p:style>
          <a:lnRef idx="0"/>
          <a:fillRef idx="0"/>
          <a:effectRef idx="0"/>
          <a:fontRef idx="minor"/>
        </p:style>
        <p:txBody>
          <a:bodyPr lIns="90000" rIns="90000" tIns="41760" bIns="41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73" name="อิดซ์ฮาร์ดพัฒนา"/>
          <p:cNvSpPr/>
          <p:nvPr/>
        </p:nvSpPr>
        <p:spPr>
          <a:xfrm>
            <a:off x="7996320" y="4392360"/>
            <a:ext cx="125640" cy="158400"/>
          </a:xfrm>
          <a:custGeom>
            <a:avLst/>
            <a:gdLst/>
            <a:ahLst/>
            <a:rect l="l" t="t" r="r" b="b"/>
            <a:pathLst>
              <a:path w="125966" h="158642">
                <a:moveTo>
                  <a:pt x="102138" y="31186"/>
                </a:moveTo>
                <a:lnTo>
                  <a:pt x="122733" y="69891"/>
                </a:lnTo>
                <a:lnTo>
                  <a:pt x="125966" y="68782"/>
                </a:lnTo>
                <a:lnTo>
                  <a:pt x="112436" y="43759"/>
                </a:lnTo>
                <a:lnTo>
                  <a:pt x="114232" y="43143"/>
                </a:lnTo>
                <a:lnTo>
                  <a:pt x="90763" y="0"/>
                </a:lnTo>
                <a:lnTo>
                  <a:pt x="0" y="51648"/>
                </a:lnTo>
                <a:lnTo>
                  <a:pt x="58313" y="158395"/>
                </a:lnTo>
                <a:lnTo>
                  <a:pt x="64181" y="158642"/>
                </a:lnTo>
                <a:lnTo>
                  <a:pt x="40831" y="102310"/>
                </a:lnTo>
                <a:lnTo>
                  <a:pt x="49692" y="96763"/>
                </a:lnTo>
                <a:lnTo>
                  <a:pt x="33288" y="67303"/>
                </a:lnTo>
                <a:lnTo>
                  <a:pt x="102138" y="3118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74" name="ออมทรัพย์"/>
          <p:cNvSpPr/>
          <p:nvPr/>
        </p:nvSpPr>
        <p:spPr>
          <a:xfrm>
            <a:off x="7856280" y="4830480"/>
            <a:ext cx="90720" cy="32040"/>
          </a:xfrm>
          <a:custGeom>
            <a:avLst/>
            <a:gdLst/>
            <a:ahLst/>
            <a:rect l="l" t="t" r="r" b="b"/>
            <a:pathLst>
              <a:path w="91122" h="32419">
                <a:moveTo>
                  <a:pt x="35682" y="31063"/>
                </a:moveTo>
                <a:lnTo>
                  <a:pt x="53404" y="32419"/>
                </a:lnTo>
                <a:lnTo>
                  <a:pt x="54362" y="25639"/>
                </a:lnTo>
                <a:lnTo>
                  <a:pt x="90044" y="25762"/>
                </a:lnTo>
                <a:lnTo>
                  <a:pt x="91122" y="2712"/>
                </a:lnTo>
                <a:lnTo>
                  <a:pt x="63342" y="0"/>
                </a:lnTo>
                <a:lnTo>
                  <a:pt x="62504" y="9245"/>
                </a:lnTo>
                <a:lnTo>
                  <a:pt x="0" y="3698"/>
                </a:lnTo>
                <a:lnTo>
                  <a:pt x="239" y="12696"/>
                </a:lnTo>
                <a:lnTo>
                  <a:pt x="2754" y="12450"/>
                </a:lnTo>
                <a:lnTo>
                  <a:pt x="2874" y="10601"/>
                </a:lnTo>
                <a:lnTo>
                  <a:pt x="31731" y="13189"/>
                </a:lnTo>
                <a:lnTo>
                  <a:pt x="31492" y="15655"/>
                </a:lnTo>
                <a:lnTo>
                  <a:pt x="40712" y="15408"/>
                </a:lnTo>
                <a:lnTo>
                  <a:pt x="41191" y="22557"/>
                </a:lnTo>
                <a:lnTo>
                  <a:pt x="37119" y="22064"/>
                </a:lnTo>
                <a:lnTo>
                  <a:pt x="35682" y="31063"/>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75" name="อันนูรอยน์ (บึงขวาง)"/>
          <p:cNvSpPr/>
          <p:nvPr/>
        </p:nvSpPr>
        <p:spPr>
          <a:xfrm>
            <a:off x="7905960" y="4622040"/>
            <a:ext cx="130320" cy="160920"/>
          </a:xfrm>
          <a:custGeom>
            <a:avLst/>
            <a:gdLst/>
            <a:ahLst/>
            <a:rect l="l" t="t" r="r" b="b"/>
            <a:pathLst>
              <a:path w="130756" h="161230">
                <a:moveTo>
                  <a:pt x="82261" y="0"/>
                </a:moveTo>
                <a:lnTo>
                  <a:pt x="32928" y="7642"/>
                </a:lnTo>
                <a:lnTo>
                  <a:pt x="12932" y="79259"/>
                </a:lnTo>
                <a:lnTo>
                  <a:pt x="0" y="114390"/>
                </a:lnTo>
                <a:lnTo>
                  <a:pt x="15327" y="136824"/>
                </a:lnTo>
                <a:lnTo>
                  <a:pt x="10896" y="147301"/>
                </a:lnTo>
                <a:lnTo>
                  <a:pt x="13890" y="154820"/>
                </a:lnTo>
                <a:lnTo>
                  <a:pt x="51368" y="139782"/>
                </a:lnTo>
                <a:lnTo>
                  <a:pt x="51847" y="147918"/>
                </a:lnTo>
                <a:lnTo>
                  <a:pt x="69928" y="144466"/>
                </a:lnTo>
                <a:lnTo>
                  <a:pt x="67414" y="159998"/>
                </a:lnTo>
                <a:lnTo>
                  <a:pt x="95672" y="161230"/>
                </a:lnTo>
                <a:lnTo>
                  <a:pt x="100342" y="130907"/>
                </a:lnTo>
                <a:lnTo>
                  <a:pt x="114831" y="129921"/>
                </a:lnTo>
                <a:lnTo>
                  <a:pt x="114471" y="111185"/>
                </a:lnTo>
                <a:lnTo>
                  <a:pt x="130756" y="108843"/>
                </a:lnTo>
                <a:lnTo>
                  <a:pt x="129798" y="95407"/>
                </a:lnTo>
                <a:lnTo>
                  <a:pt x="113992" y="63728"/>
                </a:lnTo>
                <a:lnTo>
                  <a:pt x="109921" y="59044"/>
                </a:lnTo>
                <a:lnTo>
                  <a:pt x="111478" y="58551"/>
                </a:lnTo>
                <a:lnTo>
                  <a:pt x="82261"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76" name="อับดุลรอมาน"/>
          <p:cNvSpPr/>
          <p:nvPr/>
        </p:nvSpPr>
        <p:spPr>
          <a:xfrm>
            <a:off x="8215200" y="4498560"/>
            <a:ext cx="47160" cy="93240"/>
          </a:xfrm>
          <a:custGeom>
            <a:avLst/>
            <a:gdLst/>
            <a:ahLst/>
            <a:rect l="l" t="t" r="r" b="b"/>
            <a:pathLst>
              <a:path w="47417" h="93558">
                <a:moveTo>
                  <a:pt x="11016" y="62988"/>
                </a:moveTo>
                <a:lnTo>
                  <a:pt x="19158" y="93558"/>
                </a:lnTo>
                <a:lnTo>
                  <a:pt x="47417" y="77410"/>
                </a:lnTo>
                <a:lnTo>
                  <a:pt x="38556" y="42650"/>
                </a:lnTo>
                <a:lnTo>
                  <a:pt x="24187" y="0"/>
                </a:lnTo>
                <a:lnTo>
                  <a:pt x="0" y="11340"/>
                </a:lnTo>
                <a:lnTo>
                  <a:pt x="11016" y="6298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77" name="ฉัตรหลวง"/>
          <p:cNvSpPr/>
          <p:nvPr/>
        </p:nvSpPr>
        <p:spPr>
          <a:xfrm>
            <a:off x="8333640" y="4275000"/>
            <a:ext cx="78840" cy="162360"/>
          </a:xfrm>
          <a:custGeom>
            <a:avLst/>
            <a:gdLst/>
            <a:ahLst/>
            <a:rect l="l" t="t" r="r" b="b"/>
            <a:pathLst>
              <a:path w="79148" h="162833">
                <a:moveTo>
                  <a:pt x="5149" y="0"/>
                </a:moveTo>
                <a:lnTo>
                  <a:pt x="0" y="3328"/>
                </a:lnTo>
                <a:lnTo>
                  <a:pt x="72323" y="162833"/>
                </a:lnTo>
                <a:lnTo>
                  <a:pt x="79148" y="157163"/>
                </a:lnTo>
                <a:lnTo>
                  <a:pt x="5149"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78" name="อับดุลเลาะ"/>
          <p:cNvSpPr/>
          <p:nvPr/>
        </p:nvSpPr>
        <p:spPr>
          <a:xfrm>
            <a:off x="7856640" y="4877640"/>
            <a:ext cx="180000" cy="103320"/>
          </a:xfrm>
          <a:custGeom>
            <a:avLst/>
            <a:gdLst/>
            <a:ahLst/>
            <a:rect l="l" t="t" r="r" b="b"/>
            <a:pathLst>
              <a:path w="180448" h="103789">
                <a:moveTo>
                  <a:pt x="479" y="3451"/>
                </a:moveTo>
                <a:lnTo>
                  <a:pt x="0" y="43143"/>
                </a:lnTo>
                <a:lnTo>
                  <a:pt x="1796" y="76547"/>
                </a:lnTo>
                <a:lnTo>
                  <a:pt x="91481" y="73959"/>
                </a:lnTo>
                <a:lnTo>
                  <a:pt x="92319" y="100091"/>
                </a:lnTo>
                <a:lnTo>
                  <a:pt x="180448" y="103789"/>
                </a:lnTo>
                <a:lnTo>
                  <a:pt x="178772" y="4561"/>
                </a:lnTo>
                <a:lnTo>
                  <a:pt x="93038" y="0"/>
                </a:lnTo>
                <a:lnTo>
                  <a:pt x="92679" y="11710"/>
                </a:lnTo>
                <a:lnTo>
                  <a:pt x="479" y="3451"/>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79" name="อิดซ์ฮาดร์"/>
          <p:cNvSpPr/>
          <p:nvPr/>
        </p:nvSpPr>
        <p:spPr>
          <a:xfrm>
            <a:off x="8087400" y="4385880"/>
            <a:ext cx="67320" cy="110520"/>
          </a:xfrm>
          <a:custGeom>
            <a:avLst/>
            <a:gdLst/>
            <a:ahLst/>
            <a:rect l="l" t="t" r="r" b="b"/>
            <a:pathLst>
              <a:path w="67773" h="110938">
                <a:moveTo>
                  <a:pt x="0" y="6533"/>
                </a:moveTo>
                <a:lnTo>
                  <a:pt x="23469" y="49552"/>
                </a:lnTo>
                <a:lnTo>
                  <a:pt x="21673" y="50169"/>
                </a:lnTo>
                <a:lnTo>
                  <a:pt x="25984" y="58921"/>
                </a:lnTo>
                <a:lnTo>
                  <a:pt x="55559" y="110938"/>
                </a:lnTo>
                <a:lnTo>
                  <a:pt x="67773" y="101940"/>
                </a:lnTo>
                <a:lnTo>
                  <a:pt x="12453" y="0"/>
                </a:lnTo>
                <a:lnTo>
                  <a:pt x="0" y="653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80" name="มิตรปรีดา"/>
          <p:cNvSpPr/>
          <p:nvPr/>
        </p:nvSpPr>
        <p:spPr>
          <a:xfrm>
            <a:off x="8372160" y="4220640"/>
            <a:ext cx="122040" cy="132840"/>
          </a:xfrm>
          <a:custGeom>
            <a:avLst/>
            <a:gdLst/>
            <a:ahLst/>
            <a:rect l="l" t="t" r="r" b="b"/>
            <a:pathLst>
              <a:path w="122374" h="133126">
                <a:moveTo>
                  <a:pt x="1078" y="34884"/>
                </a:moveTo>
                <a:lnTo>
                  <a:pt x="0" y="35500"/>
                </a:lnTo>
                <a:lnTo>
                  <a:pt x="21912" y="78766"/>
                </a:lnTo>
                <a:lnTo>
                  <a:pt x="36880" y="87025"/>
                </a:lnTo>
                <a:lnTo>
                  <a:pt x="56397" y="89737"/>
                </a:lnTo>
                <a:lnTo>
                  <a:pt x="63702" y="100214"/>
                </a:lnTo>
                <a:lnTo>
                  <a:pt x="74119" y="80369"/>
                </a:lnTo>
                <a:lnTo>
                  <a:pt x="76274" y="82218"/>
                </a:lnTo>
                <a:lnTo>
                  <a:pt x="64899" y="101447"/>
                </a:lnTo>
                <a:lnTo>
                  <a:pt x="66935" y="133126"/>
                </a:lnTo>
                <a:lnTo>
                  <a:pt x="89206" y="120923"/>
                </a:lnTo>
                <a:lnTo>
                  <a:pt x="96271" y="114266"/>
                </a:lnTo>
                <a:lnTo>
                  <a:pt x="122374" y="97502"/>
                </a:lnTo>
                <a:lnTo>
                  <a:pt x="106568" y="60153"/>
                </a:lnTo>
                <a:lnTo>
                  <a:pt x="76993" y="80985"/>
                </a:lnTo>
                <a:lnTo>
                  <a:pt x="76514" y="79506"/>
                </a:lnTo>
                <a:lnTo>
                  <a:pt x="85494" y="70507"/>
                </a:lnTo>
                <a:lnTo>
                  <a:pt x="57116" y="0"/>
                </a:lnTo>
                <a:lnTo>
                  <a:pt x="1078" y="3488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81" name="สุกกาทอง โครงการ 2"/>
          <p:cNvSpPr/>
          <p:nvPr/>
        </p:nvSpPr>
        <p:spPr>
          <a:xfrm>
            <a:off x="8524080" y="4231800"/>
            <a:ext cx="69840" cy="118800"/>
          </a:xfrm>
          <a:custGeom>
            <a:avLst/>
            <a:gdLst/>
            <a:ahLst/>
            <a:rect l="l" t="t" r="r" b="b"/>
            <a:pathLst>
              <a:path w="70168" h="119197">
                <a:moveTo>
                  <a:pt x="20476" y="0"/>
                </a:moveTo>
                <a:lnTo>
                  <a:pt x="15686" y="1109"/>
                </a:lnTo>
                <a:lnTo>
                  <a:pt x="0" y="15408"/>
                </a:lnTo>
                <a:lnTo>
                  <a:pt x="26463" y="119197"/>
                </a:lnTo>
                <a:lnTo>
                  <a:pt x="38197" y="115869"/>
                </a:lnTo>
                <a:lnTo>
                  <a:pt x="59870" y="115622"/>
                </a:lnTo>
                <a:lnTo>
                  <a:pt x="70168" y="80122"/>
                </a:lnTo>
                <a:lnTo>
                  <a:pt x="65498" y="47334"/>
                </a:lnTo>
                <a:lnTo>
                  <a:pt x="33647" y="52634"/>
                </a:lnTo>
                <a:lnTo>
                  <a:pt x="20476"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82" name="สุกกาทอง โครงการ 2"/>
          <p:cNvSpPr/>
          <p:nvPr/>
        </p:nvSpPr>
        <p:spPr>
          <a:xfrm>
            <a:off x="8474400" y="4165920"/>
            <a:ext cx="46800" cy="91440"/>
          </a:xfrm>
          <a:custGeom>
            <a:avLst/>
            <a:gdLst/>
            <a:ahLst/>
            <a:rect l="l" t="t" r="r" b="b"/>
            <a:pathLst>
              <a:path w="47178" h="91832">
                <a:moveTo>
                  <a:pt x="47178" y="79876"/>
                </a:moveTo>
                <a:lnTo>
                  <a:pt x="22152" y="21695"/>
                </a:lnTo>
                <a:lnTo>
                  <a:pt x="19398" y="8135"/>
                </a:lnTo>
                <a:lnTo>
                  <a:pt x="14848" y="0"/>
                </a:lnTo>
                <a:lnTo>
                  <a:pt x="0" y="8382"/>
                </a:lnTo>
                <a:lnTo>
                  <a:pt x="11016" y="31063"/>
                </a:lnTo>
                <a:lnTo>
                  <a:pt x="36161" y="91832"/>
                </a:lnTo>
                <a:lnTo>
                  <a:pt x="47178" y="7987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83" name="หมู่ 6 พัฒนา"/>
          <p:cNvSpPr/>
          <p:nvPr/>
        </p:nvSpPr>
        <p:spPr>
          <a:xfrm>
            <a:off x="8380800" y="4192920"/>
            <a:ext cx="100440" cy="97560"/>
          </a:xfrm>
          <a:custGeom>
            <a:avLst/>
            <a:gdLst/>
            <a:ahLst/>
            <a:rect l="l" t="t" r="r" b="b"/>
            <a:pathLst>
              <a:path w="100941" h="97872">
                <a:moveTo>
                  <a:pt x="59750" y="0"/>
                </a:moveTo>
                <a:lnTo>
                  <a:pt x="0" y="34021"/>
                </a:lnTo>
                <a:lnTo>
                  <a:pt x="8861" y="50908"/>
                </a:lnTo>
                <a:lnTo>
                  <a:pt x="48375" y="27735"/>
                </a:lnTo>
                <a:lnTo>
                  <a:pt x="76873" y="97872"/>
                </a:lnTo>
                <a:lnTo>
                  <a:pt x="100941" y="82464"/>
                </a:lnTo>
                <a:lnTo>
                  <a:pt x="59750"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84" name="เคหะสุวินทวงศ์"/>
          <p:cNvSpPr/>
          <p:nvPr/>
        </p:nvSpPr>
        <p:spPr>
          <a:xfrm>
            <a:off x="8319240" y="4454640"/>
            <a:ext cx="66960" cy="130320"/>
          </a:xfrm>
          <a:custGeom>
            <a:avLst/>
            <a:gdLst/>
            <a:ahLst/>
            <a:rect l="l" t="t" r="r" b="b"/>
            <a:pathLst>
              <a:path w="67174" h="130661">
                <a:moveTo>
                  <a:pt x="0" y="0"/>
                </a:moveTo>
                <a:lnTo>
                  <a:pt x="3233" y="11217"/>
                </a:lnTo>
                <a:lnTo>
                  <a:pt x="13052" y="32542"/>
                </a:lnTo>
                <a:lnTo>
                  <a:pt x="51728" y="130661"/>
                </a:lnTo>
                <a:lnTo>
                  <a:pt x="67174" y="124621"/>
                </a:lnTo>
                <a:lnTo>
                  <a:pt x="48135" y="76301"/>
                </a:lnTo>
                <a:lnTo>
                  <a:pt x="49692" y="76054"/>
                </a:lnTo>
                <a:lnTo>
                  <a:pt x="48495" y="73219"/>
                </a:lnTo>
                <a:lnTo>
                  <a:pt x="47178" y="73836"/>
                </a:lnTo>
                <a:lnTo>
                  <a:pt x="36880" y="50292"/>
                </a:lnTo>
                <a:lnTo>
                  <a:pt x="36640" y="46594"/>
                </a:lnTo>
                <a:lnTo>
                  <a:pt x="18799" y="2712"/>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85" name="บ้านเจียระไน"/>
          <p:cNvSpPr/>
          <p:nvPr/>
        </p:nvSpPr>
        <p:spPr>
          <a:xfrm>
            <a:off x="8334720" y="4346640"/>
            <a:ext cx="38160" cy="73080"/>
          </a:xfrm>
          <a:custGeom>
            <a:avLst/>
            <a:gdLst/>
            <a:ahLst/>
            <a:rect l="l" t="t" r="r" b="b"/>
            <a:pathLst>
              <a:path w="38556" h="73342">
                <a:moveTo>
                  <a:pt x="0" y="1726"/>
                </a:moveTo>
                <a:lnTo>
                  <a:pt x="3353" y="9122"/>
                </a:lnTo>
                <a:lnTo>
                  <a:pt x="2155" y="9491"/>
                </a:lnTo>
                <a:lnTo>
                  <a:pt x="3233" y="11710"/>
                </a:lnTo>
                <a:lnTo>
                  <a:pt x="4430" y="11464"/>
                </a:lnTo>
                <a:lnTo>
                  <a:pt x="17243" y="39075"/>
                </a:lnTo>
                <a:lnTo>
                  <a:pt x="15087" y="40184"/>
                </a:lnTo>
                <a:lnTo>
                  <a:pt x="17961" y="44992"/>
                </a:lnTo>
                <a:lnTo>
                  <a:pt x="20715" y="44005"/>
                </a:lnTo>
                <a:lnTo>
                  <a:pt x="33168" y="73342"/>
                </a:lnTo>
                <a:lnTo>
                  <a:pt x="38556" y="70631"/>
                </a:lnTo>
                <a:lnTo>
                  <a:pt x="18081" y="25762"/>
                </a:lnTo>
                <a:lnTo>
                  <a:pt x="16883" y="25762"/>
                </a:lnTo>
                <a:lnTo>
                  <a:pt x="4071" y="0"/>
                </a:lnTo>
                <a:lnTo>
                  <a:pt x="0" y="1726"/>
                </a:lnTo>
                <a:close/>
              </a:path>
            </a:pathLst>
          </a:custGeom>
          <a:solidFill>
            <a:srgbClr val="ded5c5"/>
          </a:solidFill>
          <a:ln w="6191">
            <a:solidFill>
              <a:srgbClr val="b5a68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86" name="เกาะใหญ่พัฒนา"/>
          <p:cNvSpPr/>
          <p:nvPr/>
        </p:nvSpPr>
        <p:spPr>
          <a:xfrm>
            <a:off x="8115480" y="4353120"/>
            <a:ext cx="92880" cy="114840"/>
          </a:xfrm>
          <a:custGeom>
            <a:avLst/>
            <a:gdLst/>
            <a:ahLst/>
            <a:rect l="l" t="t" r="r" b="b"/>
            <a:pathLst>
              <a:path w="93277" h="115376">
                <a:moveTo>
                  <a:pt x="0" y="23790"/>
                </a:moveTo>
                <a:lnTo>
                  <a:pt x="13890" y="49429"/>
                </a:lnTo>
                <a:lnTo>
                  <a:pt x="28857" y="39445"/>
                </a:lnTo>
                <a:lnTo>
                  <a:pt x="71125" y="115376"/>
                </a:lnTo>
                <a:lnTo>
                  <a:pt x="93277" y="90723"/>
                </a:lnTo>
                <a:lnTo>
                  <a:pt x="40831" y="0"/>
                </a:lnTo>
                <a:lnTo>
                  <a:pt x="0" y="2379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87" name="วัดทองสัมฤทธิ์"/>
          <p:cNvSpPr/>
          <p:nvPr/>
        </p:nvSpPr>
        <p:spPr>
          <a:xfrm>
            <a:off x="8193600" y="4619880"/>
            <a:ext cx="257760" cy="361440"/>
          </a:xfrm>
          <a:custGeom>
            <a:avLst/>
            <a:gdLst/>
            <a:ahLst/>
            <a:rect l="l" t="t" r="r" b="b"/>
            <a:pathLst>
              <a:path w="258039" h="361659">
                <a:moveTo>
                  <a:pt x="179251" y="59907"/>
                </a:moveTo>
                <a:lnTo>
                  <a:pt x="170390" y="7889"/>
                </a:lnTo>
                <a:lnTo>
                  <a:pt x="88248" y="0"/>
                </a:lnTo>
                <a:lnTo>
                  <a:pt x="88967" y="17011"/>
                </a:lnTo>
                <a:lnTo>
                  <a:pt x="45262" y="19599"/>
                </a:lnTo>
                <a:lnTo>
                  <a:pt x="45621" y="22064"/>
                </a:lnTo>
                <a:lnTo>
                  <a:pt x="31611" y="23050"/>
                </a:lnTo>
                <a:lnTo>
                  <a:pt x="31611" y="30570"/>
                </a:lnTo>
                <a:lnTo>
                  <a:pt x="101539" y="29460"/>
                </a:lnTo>
                <a:lnTo>
                  <a:pt x="113633" y="108966"/>
                </a:lnTo>
                <a:lnTo>
                  <a:pt x="62624" y="114143"/>
                </a:lnTo>
                <a:lnTo>
                  <a:pt x="58313" y="122648"/>
                </a:lnTo>
                <a:lnTo>
                  <a:pt x="68012" y="137070"/>
                </a:lnTo>
                <a:lnTo>
                  <a:pt x="84656" y="150629"/>
                </a:lnTo>
                <a:lnTo>
                  <a:pt x="119979" y="146808"/>
                </a:lnTo>
                <a:lnTo>
                  <a:pt x="82142" y="261814"/>
                </a:lnTo>
                <a:lnTo>
                  <a:pt x="0" y="257377"/>
                </a:lnTo>
                <a:lnTo>
                  <a:pt x="5388" y="302245"/>
                </a:lnTo>
                <a:lnTo>
                  <a:pt x="10417" y="313216"/>
                </a:lnTo>
                <a:lnTo>
                  <a:pt x="67414" y="314941"/>
                </a:lnTo>
                <a:lnTo>
                  <a:pt x="61307" y="337622"/>
                </a:lnTo>
                <a:lnTo>
                  <a:pt x="21553" y="335773"/>
                </a:lnTo>
                <a:lnTo>
                  <a:pt x="17482" y="337622"/>
                </a:lnTo>
                <a:lnTo>
                  <a:pt x="27061" y="352414"/>
                </a:lnTo>
                <a:lnTo>
                  <a:pt x="42747" y="353893"/>
                </a:lnTo>
                <a:lnTo>
                  <a:pt x="43226" y="360303"/>
                </a:lnTo>
                <a:lnTo>
                  <a:pt x="57355" y="361659"/>
                </a:lnTo>
                <a:lnTo>
                  <a:pt x="78190" y="279564"/>
                </a:lnTo>
                <a:lnTo>
                  <a:pt x="116627" y="161600"/>
                </a:lnTo>
                <a:lnTo>
                  <a:pt x="161409" y="150013"/>
                </a:lnTo>
                <a:lnTo>
                  <a:pt x="165959" y="169612"/>
                </a:lnTo>
                <a:lnTo>
                  <a:pt x="184040" y="175899"/>
                </a:lnTo>
                <a:lnTo>
                  <a:pt x="190865" y="173926"/>
                </a:lnTo>
                <a:lnTo>
                  <a:pt x="207629" y="200798"/>
                </a:lnTo>
                <a:lnTo>
                  <a:pt x="246664" y="225944"/>
                </a:lnTo>
                <a:lnTo>
                  <a:pt x="258039" y="204003"/>
                </a:lnTo>
                <a:lnTo>
                  <a:pt x="210622" y="155683"/>
                </a:lnTo>
                <a:lnTo>
                  <a:pt x="200923" y="143234"/>
                </a:lnTo>
                <a:lnTo>
                  <a:pt x="216729" y="141385"/>
                </a:lnTo>
                <a:lnTo>
                  <a:pt x="215651" y="132140"/>
                </a:lnTo>
                <a:lnTo>
                  <a:pt x="184399" y="136577"/>
                </a:lnTo>
                <a:lnTo>
                  <a:pt x="173982" y="134605"/>
                </a:lnTo>
                <a:lnTo>
                  <a:pt x="167516" y="135345"/>
                </a:lnTo>
                <a:lnTo>
                  <a:pt x="163205" y="119690"/>
                </a:lnTo>
                <a:lnTo>
                  <a:pt x="132073" y="90476"/>
                </a:lnTo>
                <a:lnTo>
                  <a:pt x="123691" y="65084"/>
                </a:lnTo>
                <a:lnTo>
                  <a:pt x="217927" y="56702"/>
                </a:lnTo>
                <a:lnTo>
                  <a:pt x="179251" y="5990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88" name="วัดทองสัมฤทธิ์"/>
          <p:cNvSpPr/>
          <p:nvPr/>
        </p:nvSpPr>
        <p:spPr>
          <a:xfrm>
            <a:off x="8381520" y="4630680"/>
            <a:ext cx="198000" cy="144720"/>
          </a:xfrm>
          <a:custGeom>
            <a:avLst/>
            <a:gdLst/>
            <a:ahLst/>
            <a:rect l="l" t="t" r="r" b="b"/>
            <a:pathLst>
              <a:path w="198289" h="145083">
                <a:moveTo>
                  <a:pt x="37598" y="45608"/>
                </a:moveTo>
                <a:lnTo>
                  <a:pt x="45142" y="45115"/>
                </a:lnTo>
                <a:lnTo>
                  <a:pt x="65138" y="78766"/>
                </a:lnTo>
                <a:lnTo>
                  <a:pt x="59271" y="81971"/>
                </a:lnTo>
                <a:lnTo>
                  <a:pt x="101539" y="145083"/>
                </a:lnTo>
                <a:lnTo>
                  <a:pt x="114711" y="132140"/>
                </a:lnTo>
                <a:lnTo>
                  <a:pt x="131235" y="123265"/>
                </a:lnTo>
                <a:lnTo>
                  <a:pt x="58553" y="64960"/>
                </a:lnTo>
                <a:lnTo>
                  <a:pt x="100581" y="36610"/>
                </a:lnTo>
                <a:lnTo>
                  <a:pt x="160332" y="83450"/>
                </a:lnTo>
                <a:lnTo>
                  <a:pt x="172904" y="85053"/>
                </a:lnTo>
                <a:lnTo>
                  <a:pt x="198289" y="56825"/>
                </a:lnTo>
                <a:lnTo>
                  <a:pt x="174461" y="43512"/>
                </a:lnTo>
                <a:lnTo>
                  <a:pt x="157338" y="43266"/>
                </a:lnTo>
                <a:lnTo>
                  <a:pt x="138060" y="26009"/>
                </a:lnTo>
                <a:lnTo>
                  <a:pt x="135785" y="12943"/>
                </a:lnTo>
                <a:lnTo>
                  <a:pt x="108125" y="10231"/>
                </a:lnTo>
                <a:lnTo>
                  <a:pt x="108005" y="24160"/>
                </a:lnTo>
                <a:lnTo>
                  <a:pt x="100103" y="30446"/>
                </a:lnTo>
                <a:lnTo>
                  <a:pt x="93996" y="29584"/>
                </a:lnTo>
                <a:lnTo>
                  <a:pt x="82142" y="33775"/>
                </a:lnTo>
                <a:lnTo>
                  <a:pt x="84776" y="44129"/>
                </a:lnTo>
                <a:lnTo>
                  <a:pt x="80705" y="47703"/>
                </a:lnTo>
                <a:lnTo>
                  <a:pt x="77951" y="35130"/>
                </a:lnTo>
                <a:lnTo>
                  <a:pt x="57236" y="41787"/>
                </a:lnTo>
                <a:lnTo>
                  <a:pt x="41550" y="3451"/>
                </a:lnTo>
                <a:lnTo>
                  <a:pt x="0" y="0"/>
                </a:lnTo>
                <a:lnTo>
                  <a:pt x="3592" y="12943"/>
                </a:lnTo>
                <a:lnTo>
                  <a:pt x="25505" y="8135"/>
                </a:lnTo>
                <a:lnTo>
                  <a:pt x="40472" y="40184"/>
                </a:lnTo>
                <a:lnTo>
                  <a:pt x="45142" y="44992"/>
                </a:lnTo>
                <a:lnTo>
                  <a:pt x="37598" y="4560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89" name="หมู่บ้านปัญฐิญา"/>
          <p:cNvSpPr/>
          <p:nvPr/>
        </p:nvSpPr>
        <p:spPr>
          <a:xfrm>
            <a:off x="8301960" y="4452840"/>
            <a:ext cx="71640" cy="142200"/>
          </a:xfrm>
          <a:custGeom>
            <a:avLst/>
            <a:gdLst/>
            <a:ahLst/>
            <a:rect l="l" t="t" r="r" b="b"/>
            <a:pathLst>
              <a:path w="71964" h="142617">
                <a:moveTo>
                  <a:pt x="0" y="3821"/>
                </a:moveTo>
                <a:lnTo>
                  <a:pt x="19039" y="46717"/>
                </a:lnTo>
                <a:lnTo>
                  <a:pt x="31132" y="97379"/>
                </a:lnTo>
                <a:lnTo>
                  <a:pt x="41310" y="95530"/>
                </a:lnTo>
                <a:lnTo>
                  <a:pt x="56038" y="142617"/>
                </a:lnTo>
                <a:lnTo>
                  <a:pt x="71964" y="139166"/>
                </a:lnTo>
                <a:lnTo>
                  <a:pt x="16165" y="1849"/>
                </a:lnTo>
                <a:lnTo>
                  <a:pt x="6466" y="0"/>
                </a:lnTo>
                <a:lnTo>
                  <a:pt x="0" y="3821"/>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90" name="ซอยธรรมนูญ"/>
          <p:cNvSpPr/>
          <p:nvPr/>
        </p:nvSpPr>
        <p:spPr>
          <a:xfrm>
            <a:off x="7413480" y="5732640"/>
            <a:ext cx="34200" cy="44640"/>
          </a:xfrm>
          <a:custGeom>
            <a:avLst/>
            <a:gdLst/>
            <a:ahLst/>
            <a:rect l="l" t="t" r="r" b="b"/>
            <a:pathLst>
              <a:path w="34725" h="45115">
                <a:moveTo>
                  <a:pt x="4909" y="39075"/>
                </a:moveTo>
                <a:lnTo>
                  <a:pt x="5748" y="45115"/>
                </a:lnTo>
                <a:lnTo>
                  <a:pt x="34725" y="44622"/>
                </a:lnTo>
                <a:lnTo>
                  <a:pt x="28378" y="0"/>
                </a:lnTo>
                <a:lnTo>
                  <a:pt x="0" y="863"/>
                </a:lnTo>
                <a:lnTo>
                  <a:pt x="4909" y="39075"/>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91" name="ประชาร่วมใจ"/>
          <p:cNvSpPr/>
          <p:nvPr/>
        </p:nvSpPr>
        <p:spPr>
          <a:xfrm>
            <a:off x="7901640" y="5662800"/>
            <a:ext cx="48240" cy="41760"/>
          </a:xfrm>
          <a:custGeom>
            <a:avLst/>
            <a:gdLst/>
            <a:ahLst/>
            <a:rect l="l" t="t" r="r" b="b"/>
            <a:pathLst>
              <a:path w="48495" h="42280">
                <a:moveTo>
                  <a:pt x="47656" y="0"/>
                </a:moveTo>
                <a:lnTo>
                  <a:pt x="1916" y="1109"/>
                </a:lnTo>
                <a:lnTo>
                  <a:pt x="2036" y="20832"/>
                </a:lnTo>
                <a:lnTo>
                  <a:pt x="120" y="20955"/>
                </a:lnTo>
                <a:lnTo>
                  <a:pt x="0" y="40801"/>
                </a:lnTo>
                <a:lnTo>
                  <a:pt x="48495" y="42280"/>
                </a:lnTo>
                <a:lnTo>
                  <a:pt x="47656" y="0"/>
                </a:lnTo>
                <a:close/>
              </a:path>
            </a:pathLst>
          </a:custGeom>
          <a:solidFill>
            <a:srgbClr val="ded5c5"/>
          </a:solidFill>
          <a:ln w="6191">
            <a:solidFill>
              <a:srgbClr val="b5a68d"/>
            </a:solidFill>
            <a:round/>
          </a:ln>
        </p:spPr>
        <p:style>
          <a:lnRef idx="0"/>
          <a:fillRef idx="0"/>
          <a:effectRef idx="0"/>
          <a:fontRef idx="minor"/>
        </p:style>
        <p:txBody>
          <a:bodyPr lIns="90000" rIns="90000" tIns="-3240" bIns="-3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92" name="ร่วมใจพัฒนา"/>
          <p:cNvSpPr/>
          <p:nvPr/>
        </p:nvSpPr>
        <p:spPr>
          <a:xfrm>
            <a:off x="7951320" y="5661720"/>
            <a:ext cx="47160" cy="43560"/>
          </a:xfrm>
          <a:custGeom>
            <a:avLst/>
            <a:gdLst/>
            <a:ahLst/>
            <a:rect l="l" t="t" r="r" b="b"/>
            <a:pathLst>
              <a:path w="47656" h="43882">
                <a:moveTo>
                  <a:pt x="1197" y="1602"/>
                </a:moveTo>
                <a:lnTo>
                  <a:pt x="0" y="43882"/>
                </a:lnTo>
                <a:lnTo>
                  <a:pt x="46699" y="43266"/>
                </a:lnTo>
                <a:lnTo>
                  <a:pt x="47656" y="0"/>
                </a:lnTo>
                <a:lnTo>
                  <a:pt x="1197" y="1602"/>
                </a:lnTo>
                <a:close/>
              </a:path>
            </a:pathLst>
          </a:custGeom>
          <a:solidFill>
            <a:srgbClr val="ded5c5"/>
          </a:solidFill>
          <a:ln w="6191">
            <a:solidFill>
              <a:srgbClr val="b5a68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93" name="วัดสังฆราชา"/>
          <p:cNvSpPr/>
          <p:nvPr/>
        </p:nvSpPr>
        <p:spPr>
          <a:xfrm>
            <a:off x="7689960" y="5658120"/>
            <a:ext cx="97920" cy="64080"/>
          </a:xfrm>
          <a:custGeom>
            <a:avLst/>
            <a:gdLst/>
            <a:ahLst/>
            <a:rect l="l" t="t" r="r" b="b"/>
            <a:pathLst>
              <a:path w="98426" h="64591">
                <a:moveTo>
                  <a:pt x="0" y="48443"/>
                </a:moveTo>
                <a:lnTo>
                  <a:pt x="69210" y="48566"/>
                </a:lnTo>
                <a:lnTo>
                  <a:pt x="69329" y="51648"/>
                </a:lnTo>
                <a:lnTo>
                  <a:pt x="67773" y="51032"/>
                </a:lnTo>
                <a:lnTo>
                  <a:pt x="69689" y="64591"/>
                </a:lnTo>
                <a:lnTo>
                  <a:pt x="75795" y="64221"/>
                </a:lnTo>
                <a:lnTo>
                  <a:pt x="74957" y="48690"/>
                </a:lnTo>
                <a:lnTo>
                  <a:pt x="98426" y="47210"/>
                </a:lnTo>
                <a:lnTo>
                  <a:pt x="98067" y="33528"/>
                </a:lnTo>
                <a:lnTo>
                  <a:pt x="84896" y="33158"/>
                </a:lnTo>
                <a:lnTo>
                  <a:pt x="85015" y="9368"/>
                </a:lnTo>
                <a:lnTo>
                  <a:pt x="1676" y="0"/>
                </a:lnTo>
                <a:lnTo>
                  <a:pt x="0" y="48443"/>
                </a:lnTo>
                <a:close/>
              </a:path>
            </a:pathLst>
          </a:custGeom>
          <a:solidFill>
            <a:srgbClr val="ded5c5"/>
          </a:solidFill>
          <a:ln w="6191">
            <a:solidFill>
              <a:srgbClr val="b5a68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94" name="หมู่บ้านลานบุญ"/>
          <p:cNvSpPr/>
          <p:nvPr/>
        </p:nvSpPr>
        <p:spPr>
          <a:xfrm>
            <a:off x="7537680" y="5679360"/>
            <a:ext cx="50760" cy="25920"/>
          </a:xfrm>
          <a:custGeom>
            <a:avLst/>
            <a:gdLst/>
            <a:ahLst/>
            <a:rect l="l" t="t" r="r" b="b"/>
            <a:pathLst>
              <a:path w="51129" h="26132">
                <a:moveTo>
                  <a:pt x="0" y="3451"/>
                </a:moveTo>
                <a:lnTo>
                  <a:pt x="0" y="5670"/>
                </a:lnTo>
                <a:lnTo>
                  <a:pt x="9938" y="6040"/>
                </a:lnTo>
                <a:lnTo>
                  <a:pt x="11495" y="7766"/>
                </a:lnTo>
                <a:lnTo>
                  <a:pt x="11735" y="13806"/>
                </a:lnTo>
                <a:lnTo>
                  <a:pt x="29935" y="14175"/>
                </a:lnTo>
                <a:lnTo>
                  <a:pt x="30055" y="16641"/>
                </a:lnTo>
                <a:lnTo>
                  <a:pt x="32809" y="16887"/>
                </a:lnTo>
                <a:lnTo>
                  <a:pt x="32569" y="14175"/>
                </a:lnTo>
                <a:lnTo>
                  <a:pt x="42867" y="14545"/>
                </a:lnTo>
                <a:lnTo>
                  <a:pt x="42627" y="19106"/>
                </a:lnTo>
                <a:lnTo>
                  <a:pt x="37838" y="19106"/>
                </a:lnTo>
                <a:lnTo>
                  <a:pt x="38197" y="25762"/>
                </a:lnTo>
                <a:lnTo>
                  <a:pt x="50770" y="26132"/>
                </a:lnTo>
                <a:lnTo>
                  <a:pt x="51129" y="2589"/>
                </a:lnTo>
                <a:lnTo>
                  <a:pt x="2874" y="0"/>
                </a:lnTo>
                <a:lnTo>
                  <a:pt x="2874" y="3575"/>
                </a:lnTo>
                <a:lnTo>
                  <a:pt x="0" y="3451"/>
                </a:lnTo>
                <a:close/>
              </a:path>
            </a:pathLst>
          </a:custGeom>
          <a:solidFill>
            <a:srgbClr val="ded5c5"/>
          </a:solidFill>
          <a:ln w="6191">
            <a:solidFill>
              <a:srgbClr val="b5a68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95" name="หลังวัดลานบุญ"/>
          <p:cNvSpPr/>
          <p:nvPr/>
        </p:nvSpPr>
        <p:spPr>
          <a:xfrm>
            <a:off x="7517520" y="5639760"/>
            <a:ext cx="26280" cy="65520"/>
          </a:xfrm>
          <a:custGeom>
            <a:avLst/>
            <a:gdLst/>
            <a:ahLst/>
            <a:rect l="l" t="t" r="r" b="b"/>
            <a:pathLst>
              <a:path w="26702" h="65823">
                <a:moveTo>
                  <a:pt x="23469" y="27241"/>
                </a:moveTo>
                <a:lnTo>
                  <a:pt x="26702" y="27735"/>
                </a:lnTo>
                <a:lnTo>
                  <a:pt x="26582" y="1602"/>
                </a:lnTo>
                <a:lnTo>
                  <a:pt x="11016" y="0"/>
                </a:lnTo>
                <a:lnTo>
                  <a:pt x="6705" y="47457"/>
                </a:lnTo>
                <a:lnTo>
                  <a:pt x="838" y="47334"/>
                </a:lnTo>
                <a:lnTo>
                  <a:pt x="0" y="65577"/>
                </a:lnTo>
                <a:lnTo>
                  <a:pt x="9579" y="65823"/>
                </a:lnTo>
                <a:lnTo>
                  <a:pt x="11974" y="45115"/>
                </a:lnTo>
                <a:lnTo>
                  <a:pt x="19278" y="45361"/>
                </a:lnTo>
                <a:lnTo>
                  <a:pt x="19278" y="42773"/>
                </a:lnTo>
                <a:lnTo>
                  <a:pt x="21912" y="42896"/>
                </a:lnTo>
                <a:lnTo>
                  <a:pt x="23469" y="27241"/>
                </a:lnTo>
                <a:close/>
              </a:path>
            </a:pathLst>
          </a:custGeom>
          <a:solidFill>
            <a:srgbClr val="ded5c5"/>
          </a:solidFill>
          <a:ln w="6191">
            <a:solidFill>
              <a:srgbClr val="b5a68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96" name="เทอดศาสนา"/>
          <p:cNvSpPr/>
          <p:nvPr/>
        </p:nvSpPr>
        <p:spPr>
          <a:xfrm>
            <a:off x="7725960" y="5728680"/>
            <a:ext cx="22680" cy="68040"/>
          </a:xfrm>
          <a:custGeom>
            <a:avLst/>
            <a:gdLst/>
            <a:ahLst/>
            <a:rect l="l" t="t" r="r" b="b"/>
            <a:pathLst>
              <a:path w="23110" h="68412">
                <a:moveTo>
                  <a:pt x="10417" y="0"/>
                </a:moveTo>
                <a:lnTo>
                  <a:pt x="0" y="493"/>
                </a:lnTo>
                <a:lnTo>
                  <a:pt x="11615" y="68412"/>
                </a:lnTo>
                <a:lnTo>
                  <a:pt x="23110" y="68042"/>
                </a:lnTo>
                <a:lnTo>
                  <a:pt x="10417" y="0"/>
                </a:lnTo>
                <a:close/>
              </a:path>
            </a:pathLst>
          </a:custGeom>
          <a:solidFill>
            <a:srgbClr val="ded5c5"/>
          </a:solidFill>
          <a:ln w="6191">
            <a:solidFill>
              <a:srgbClr val="b5a68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97" name="รุ่งเรืองพัฒนา"/>
          <p:cNvSpPr/>
          <p:nvPr/>
        </p:nvSpPr>
        <p:spPr>
          <a:xfrm>
            <a:off x="7448400" y="5709240"/>
            <a:ext cx="15480" cy="19800"/>
          </a:xfrm>
          <a:custGeom>
            <a:avLst/>
            <a:gdLst/>
            <a:ahLst/>
            <a:rect l="l" t="t" r="r" b="b"/>
            <a:pathLst>
              <a:path w="15925" h="20092">
                <a:moveTo>
                  <a:pt x="0" y="0"/>
                </a:moveTo>
                <a:lnTo>
                  <a:pt x="1437" y="18120"/>
                </a:lnTo>
                <a:lnTo>
                  <a:pt x="4071" y="17750"/>
                </a:lnTo>
                <a:lnTo>
                  <a:pt x="4191" y="20092"/>
                </a:lnTo>
                <a:lnTo>
                  <a:pt x="15925" y="19969"/>
                </a:lnTo>
                <a:lnTo>
                  <a:pt x="14848" y="247"/>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98" name="เคหะชุมชนร่มเกล้าโซน 1"/>
          <p:cNvSpPr/>
          <p:nvPr/>
        </p:nvSpPr>
        <p:spPr>
          <a:xfrm>
            <a:off x="7691760" y="5100840"/>
            <a:ext cx="25200" cy="65160"/>
          </a:xfrm>
          <a:custGeom>
            <a:avLst/>
            <a:gdLst/>
            <a:ahLst/>
            <a:rect l="l" t="t" r="r" b="b"/>
            <a:pathLst>
              <a:path w="25385" h="65577">
                <a:moveTo>
                  <a:pt x="25385" y="61263"/>
                </a:moveTo>
                <a:lnTo>
                  <a:pt x="10537" y="62249"/>
                </a:lnTo>
                <a:lnTo>
                  <a:pt x="11735" y="45485"/>
                </a:lnTo>
                <a:lnTo>
                  <a:pt x="18081" y="44499"/>
                </a:lnTo>
                <a:lnTo>
                  <a:pt x="17123" y="17257"/>
                </a:lnTo>
                <a:lnTo>
                  <a:pt x="24307" y="16271"/>
                </a:lnTo>
                <a:lnTo>
                  <a:pt x="24068" y="0"/>
                </a:lnTo>
                <a:lnTo>
                  <a:pt x="239" y="616"/>
                </a:lnTo>
                <a:lnTo>
                  <a:pt x="0" y="61139"/>
                </a:lnTo>
                <a:lnTo>
                  <a:pt x="2275" y="61139"/>
                </a:lnTo>
                <a:lnTo>
                  <a:pt x="2275" y="63605"/>
                </a:lnTo>
                <a:lnTo>
                  <a:pt x="10058" y="63481"/>
                </a:lnTo>
                <a:lnTo>
                  <a:pt x="10058" y="65577"/>
                </a:lnTo>
                <a:lnTo>
                  <a:pt x="14249" y="65577"/>
                </a:lnTo>
                <a:lnTo>
                  <a:pt x="14249" y="62002"/>
                </a:lnTo>
                <a:lnTo>
                  <a:pt x="18799" y="61756"/>
                </a:lnTo>
                <a:lnTo>
                  <a:pt x="18799" y="65577"/>
                </a:lnTo>
                <a:lnTo>
                  <a:pt x="25385" y="65454"/>
                </a:lnTo>
                <a:lnTo>
                  <a:pt x="25385" y="61263"/>
                </a:lnTo>
                <a:close/>
              </a:path>
            </a:pathLst>
          </a:custGeom>
          <a:solidFill>
            <a:srgbClr val="ded5c5"/>
          </a:solidFill>
          <a:ln w="6191">
            <a:solidFill>
              <a:srgbClr val="b5a68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99" name="เคหะชุมชนร่มเกล้า โซน 2"/>
          <p:cNvSpPr/>
          <p:nvPr/>
        </p:nvSpPr>
        <p:spPr>
          <a:xfrm>
            <a:off x="7665480" y="5081040"/>
            <a:ext cx="35640" cy="65520"/>
          </a:xfrm>
          <a:custGeom>
            <a:avLst/>
            <a:gdLst/>
            <a:ahLst/>
            <a:rect l="l" t="t" r="r" b="b"/>
            <a:pathLst>
              <a:path w="36042" h="65823">
                <a:moveTo>
                  <a:pt x="35802" y="3944"/>
                </a:moveTo>
                <a:lnTo>
                  <a:pt x="12094" y="0"/>
                </a:lnTo>
                <a:lnTo>
                  <a:pt x="359" y="55716"/>
                </a:lnTo>
                <a:lnTo>
                  <a:pt x="0" y="65330"/>
                </a:lnTo>
                <a:lnTo>
                  <a:pt x="25026" y="65823"/>
                </a:lnTo>
                <a:lnTo>
                  <a:pt x="24906" y="19229"/>
                </a:lnTo>
                <a:lnTo>
                  <a:pt x="36042" y="18983"/>
                </a:lnTo>
                <a:lnTo>
                  <a:pt x="35802" y="3944"/>
                </a:lnTo>
                <a:close/>
              </a:path>
            </a:pathLst>
          </a:custGeom>
          <a:solidFill>
            <a:srgbClr val="ded5c5"/>
          </a:solidFill>
          <a:ln w="6191">
            <a:solidFill>
              <a:srgbClr val="b5a68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00" name="เคหะชุมชนร่มเกล้า โซน 3"/>
          <p:cNvSpPr/>
          <p:nvPr/>
        </p:nvSpPr>
        <p:spPr>
          <a:xfrm>
            <a:off x="7661520" y="5146920"/>
            <a:ext cx="28440" cy="39600"/>
          </a:xfrm>
          <a:custGeom>
            <a:avLst/>
            <a:gdLst/>
            <a:ahLst/>
            <a:rect l="l" t="t" r="r" b="b"/>
            <a:pathLst>
              <a:path w="28977" h="40061">
                <a:moveTo>
                  <a:pt x="4071" y="0"/>
                </a:moveTo>
                <a:lnTo>
                  <a:pt x="3951" y="15408"/>
                </a:lnTo>
                <a:lnTo>
                  <a:pt x="0" y="40061"/>
                </a:lnTo>
                <a:lnTo>
                  <a:pt x="28738" y="39815"/>
                </a:lnTo>
                <a:lnTo>
                  <a:pt x="28977" y="493"/>
                </a:lnTo>
                <a:lnTo>
                  <a:pt x="4071" y="0"/>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01" name="เคหะชุมชนร่มเกล้า โซน 4"/>
          <p:cNvSpPr/>
          <p:nvPr/>
        </p:nvSpPr>
        <p:spPr>
          <a:xfrm>
            <a:off x="7633800" y="5190840"/>
            <a:ext cx="48960" cy="43200"/>
          </a:xfrm>
          <a:custGeom>
            <a:avLst/>
            <a:gdLst/>
            <a:ahLst/>
            <a:rect l="l" t="t" r="r" b="b"/>
            <a:pathLst>
              <a:path w="49453" h="43636">
                <a:moveTo>
                  <a:pt x="21194" y="6903"/>
                </a:moveTo>
                <a:lnTo>
                  <a:pt x="0" y="28228"/>
                </a:lnTo>
                <a:lnTo>
                  <a:pt x="20715" y="43636"/>
                </a:lnTo>
                <a:lnTo>
                  <a:pt x="49453" y="5917"/>
                </a:lnTo>
                <a:lnTo>
                  <a:pt x="41430" y="0"/>
                </a:lnTo>
                <a:lnTo>
                  <a:pt x="32928" y="11833"/>
                </a:lnTo>
                <a:lnTo>
                  <a:pt x="26463" y="7396"/>
                </a:lnTo>
                <a:lnTo>
                  <a:pt x="24786" y="9615"/>
                </a:lnTo>
                <a:lnTo>
                  <a:pt x="21194" y="6903"/>
                </a:lnTo>
                <a:close/>
              </a:path>
            </a:pathLst>
          </a:custGeom>
          <a:solidFill>
            <a:srgbClr val="ded5c5"/>
          </a:solidFill>
          <a:ln w="6191">
            <a:solidFill>
              <a:srgbClr val="b5a68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02" name="เคหะชุมชนร่มเกล้าโซน 6"/>
          <p:cNvSpPr/>
          <p:nvPr/>
        </p:nvSpPr>
        <p:spPr>
          <a:xfrm>
            <a:off x="7661520" y="5217120"/>
            <a:ext cx="70560" cy="42120"/>
          </a:xfrm>
          <a:custGeom>
            <a:avLst/>
            <a:gdLst/>
            <a:ahLst/>
            <a:rect l="l" t="t" r="r" b="b"/>
            <a:pathLst>
              <a:path w="70886" h="42403">
                <a:moveTo>
                  <a:pt x="0" y="25146"/>
                </a:moveTo>
                <a:lnTo>
                  <a:pt x="19518" y="39568"/>
                </a:lnTo>
                <a:lnTo>
                  <a:pt x="38436" y="39568"/>
                </a:lnTo>
                <a:lnTo>
                  <a:pt x="38317" y="42157"/>
                </a:lnTo>
                <a:lnTo>
                  <a:pt x="70766" y="42403"/>
                </a:lnTo>
                <a:lnTo>
                  <a:pt x="70886" y="247"/>
                </a:lnTo>
                <a:lnTo>
                  <a:pt x="52925" y="0"/>
                </a:lnTo>
                <a:lnTo>
                  <a:pt x="51728" y="13436"/>
                </a:lnTo>
                <a:lnTo>
                  <a:pt x="48135" y="15038"/>
                </a:lnTo>
                <a:lnTo>
                  <a:pt x="36281" y="15531"/>
                </a:lnTo>
                <a:lnTo>
                  <a:pt x="36161" y="23790"/>
                </a:lnTo>
                <a:lnTo>
                  <a:pt x="24187" y="23420"/>
                </a:lnTo>
                <a:lnTo>
                  <a:pt x="8142" y="11833"/>
                </a:lnTo>
                <a:lnTo>
                  <a:pt x="0" y="25146"/>
                </a:lnTo>
                <a:close/>
              </a:path>
            </a:pathLst>
          </a:custGeom>
          <a:solidFill>
            <a:srgbClr val="ded5c5"/>
          </a:solidFill>
          <a:ln w="6191">
            <a:solidFill>
              <a:srgbClr val="b5a68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03" name="เคหะชุมชนร่มเกล้าโซน 5"/>
          <p:cNvSpPr/>
          <p:nvPr/>
        </p:nvSpPr>
        <p:spPr>
          <a:xfrm>
            <a:off x="7696800" y="5185800"/>
            <a:ext cx="35280" cy="31320"/>
          </a:xfrm>
          <a:custGeom>
            <a:avLst/>
            <a:gdLst/>
            <a:ahLst/>
            <a:rect l="l" t="t" r="r" b="b"/>
            <a:pathLst>
              <a:path w="35802" h="31556">
                <a:moveTo>
                  <a:pt x="35682" y="23174"/>
                </a:moveTo>
                <a:lnTo>
                  <a:pt x="35443" y="1972"/>
                </a:lnTo>
                <a:lnTo>
                  <a:pt x="21074" y="0"/>
                </a:lnTo>
                <a:lnTo>
                  <a:pt x="239" y="2342"/>
                </a:lnTo>
                <a:lnTo>
                  <a:pt x="0" y="23174"/>
                </a:lnTo>
                <a:lnTo>
                  <a:pt x="19398" y="23174"/>
                </a:lnTo>
                <a:lnTo>
                  <a:pt x="19398" y="31556"/>
                </a:lnTo>
                <a:lnTo>
                  <a:pt x="35802" y="31556"/>
                </a:lnTo>
                <a:lnTo>
                  <a:pt x="35682" y="23174"/>
                </a:lnTo>
                <a:close/>
              </a:path>
            </a:pathLst>
          </a:custGeom>
          <a:solidFill>
            <a:srgbClr val="ded5c5"/>
          </a:solidFill>
          <a:ln w="6191">
            <a:solidFill>
              <a:srgbClr val="b5a68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04" name="เคหะชุมชนร่มเกล้า โซนหลังคาขาว"/>
          <p:cNvSpPr/>
          <p:nvPr/>
        </p:nvSpPr>
        <p:spPr>
          <a:xfrm>
            <a:off x="7699680" y="5259240"/>
            <a:ext cx="32400" cy="16200"/>
          </a:xfrm>
          <a:custGeom>
            <a:avLst/>
            <a:gdLst/>
            <a:ahLst/>
            <a:rect l="l" t="t" r="r" b="b"/>
            <a:pathLst>
              <a:path w="32809" h="16394">
                <a:moveTo>
                  <a:pt x="120" y="0"/>
                </a:moveTo>
                <a:lnTo>
                  <a:pt x="0" y="16394"/>
                </a:lnTo>
                <a:lnTo>
                  <a:pt x="32569" y="14299"/>
                </a:lnTo>
                <a:lnTo>
                  <a:pt x="32809" y="370"/>
                </a:lnTo>
                <a:lnTo>
                  <a:pt x="120" y="0"/>
                </a:lnTo>
                <a:close/>
              </a:path>
            </a:pathLst>
          </a:custGeom>
          <a:solidFill>
            <a:srgbClr val="ded5c5"/>
          </a:solidFill>
          <a:ln w="6191">
            <a:solidFill>
              <a:srgbClr val="b5a68d"/>
            </a:solidFill>
            <a:round/>
          </a:ln>
        </p:spPr>
        <p:style>
          <a:lnRef idx="0"/>
          <a:fillRef idx="0"/>
          <a:effectRef idx="0"/>
          <a:fontRef idx="minor"/>
        </p:style>
        <p:txBody>
          <a:bodyPr lIns="90000" rIns="90000" tIns="-28800" bIns="-28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05" name="เคหะชุมชนร่มเกล้า โซนหลังคาเขียว 202"/>
          <p:cNvSpPr/>
          <p:nvPr/>
        </p:nvSpPr>
        <p:spPr>
          <a:xfrm>
            <a:off x="7691400" y="5161320"/>
            <a:ext cx="33480" cy="25920"/>
          </a:xfrm>
          <a:custGeom>
            <a:avLst/>
            <a:gdLst/>
            <a:ahLst/>
            <a:rect l="l" t="t" r="r" b="b"/>
            <a:pathLst>
              <a:path w="34006" h="26379">
                <a:moveTo>
                  <a:pt x="0" y="26379"/>
                </a:moveTo>
                <a:lnTo>
                  <a:pt x="33886" y="23913"/>
                </a:lnTo>
                <a:lnTo>
                  <a:pt x="34006" y="0"/>
                </a:lnTo>
                <a:lnTo>
                  <a:pt x="26463" y="493"/>
                </a:lnTo>
                <a:lnTo>
                  <a:pt x="26343" y="4931"/>
                </a:lnTo>
                <a:lnTo>
                  <a:pt x="19278" y="5054"/>
                </a:lnTo>
                <a:lnTo>
                  <a:pt x="19398" y="1109"/>
                </a:lnTo>
                <a:lnTo>
                  <a:pt x="14848" y="1356"/>
                </a:lnTo>
                <a:lnTo>
                  <a:pt x="15327" y="5054"/>
                </a:lnTo>
                <a:lnTo>
                  <a:pt x="10537" y="4931"/>
                </a:lnTo>
                <a:lnTo>
                  <a:pt x="10657" y="2835"/>
                </a:lnTo>
                <a:lnTo>
                  <a:pt x="2874" y="2958"/>
                </a:lnTo>
                <a:lnTo>
                  <a:pt x="2993" y="740"/>
                </a:lnTo>
                <a:lnTo>
                  <a:pt x="359" y="863"/>
                </a:lnTo>
                <a:lnTo>
                  <a:pt x="0" y="26379"/>
                </a:lnTo>
                <a:close/>
              </a:path>
            </a:pathLst>
          </a:custGeom>
          <a:solidFill>
            <a:srgbClr val="ded5c5"/>
          </a:solidFill>
          <a:ln w="6191">
            <a:solidFill>
              <a:srgbClr val="b5a68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06" name="เคหะชุมชนร่มเกล้าแฟลตคลองสองต้นนุ่น (แฟลต 11 หลัง)"/>
          <p:cNvSpPr/>
          <p:nvPr/>
        </p:nvSpPr>
        <p:spPr>
          <a:xfrm>
            <a:off x="7718400" y="5095440"/>
            <a:ext cx="45360" cy="22680"/>
          </a:xfrm>
          <a:custGeom>
            <a:avLst/>
            <a:gdLst/>
            <a:ahLst/>
            <a:rect l="l" t="t" r="r" b="b"/>
            <a:pathLst>
              <a:path w="45860" h="23050">
                <a:moveTo>
                  <a:pt x="14010" y="3575"/>
                </a:moveTo>
                <a:lnTo>
                  <a:pt x="15327" y="10354"/>
                </a:lnTo>
                <a:lnTo>
                  <a:pt x="0" y="12080"/>
                </a:lnTo>
                <a:lnTo>
                  <a:pt x="1676" y="23050"/>
                </a:lnTo>
                <a:lnTo>
                  <a:pt x="45860" y="17873"/>
                </a:lnTo>
                <a:lnTo>
                  <a:pt x="43466" y="0"/>
                </a:lnTo>
                <a:lnTo>
                  <a:pt x="14010" y="3575"/>
                </a:lnTo>
                <a:close/>
              </a:path>
            </a:pathLst>
          </a:custGeom>
          <a:solidFill>
            <a:srgbClr val="ded5c5"/>
          </a:solidFill>
          <a:ln w="6191">
            <a:solidFill>
              <a:srgbClr val="b5a68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07" name="ศิลาภิรัตน์"/>
          <p:cNvSpPr/>
          <p:nvPr/>
        </p:nvSpPr>
        <p:spPr>
          <a:xfrm>
            <a:off x="7862760" y="5592600"/>
            <a:ext cx="98640" cy="67320"/>
          </a:xfrm>
          <a:custGeom>
            <a:avLst/>
            <a:gdLst/>
            <a:ahLst/>
            <a:rect l="l" t="t" r="r" b="b"/>
            <a:pathLst>
              <a:path w="98905" h="67549">
                <a:moveTo>
                  <a:pt x="82022" y="22681"/>
                </a:moveTo>
                <a:lnTo>
                  <a:pt x="0" y="22804"/>
                </a:lnTo>
                <a:lnTo>
                  <a:pt x="120" y="32419"/>
                </a:lnTo>
                <a:lnTo>
                  <a:pt x="5508" y="38335"/>
                </a:lnTo>
                <a:lnTo>
                  <a:pt x="56517" y="39815"/>
                </a:lnTo>
                <a:lnTo>
                  <a:pt x="57116" y="67549"/>
                </a:lnTo>
                <a:lnTo>
                  <a:pt x="87171" y="67426"/>
                </a:lnTo>
                <a:lnTo>
                  <a:pt x="86811" y="38459"/>
                </a:lnTo>
                <a:lnTo>
                  <a:pt x="96271" y="38828"/>
                </a:lnTo>
                <a:lnTo>
                  <a:pt x="98905" y="20215"/>
                </a:lnTo>
                <a:lnTo>
                  <a:pt x="98426" y="11833"/>
                </a:lnTo>
                <a:lnTo>
                  <a:pt x="94714" y="10971"/>
                </a:lnTo>
                <a:lnTo>
                  <a:pt x="94714" y="5177"/>
                </a:lnTo>
                <a:lnTo>
                  <a:pt x="97708" y="4931"/>
                </a:lnTo>
                <a:lnTo>
                  <a:pt x="96510" y="0"/>
                </a:lnTo>
                <a:lnTo>
                  <a:pt x="87410" y="1356"/>
                </a:lnTo>
                <a:lnTo>
                  <a:pt x="87171" y="10971"/>
                </a:lnTo>
                <a:lnTo>
                  <a:pt x="85375" y="15162"/>
                </a:lnTo>
                <a:lnTo>
                  <a:pt x="84297" y="14915"/>
                </a:lnTo>
                <a:lnTo>
                  <a:pt x="82022" y="22681"/>
                </a:lnTo>
                <a:close/>
              </a:path>
            </a:pathLst>
          </a:custGeom>
          <a:solidFill>
            <a:srgbClr val="ded5c5"/>
          </a:solidFill>
          <a:ln w="6191">
            <a:solidFill>
              <a:srgbClr val="b5a68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08" name="บำรุงรื่น"/>
          <p:cNvSpPr/>
          <p:nvPr/>
        </p:nvSpPr>
        <p:spPr>
          <a:xfrm>
            <a:off x="7860960" y="5387760"/>
            <a:ext cx="175320" cy="200880"/>
          </a:xfrm>
          <a:custGeom>
            <a:avLst/>
            <a:gdLst/>
            <a:ahLst/>
            <a:rect l="l" t="t" r="r" b="b"/>
            <a:pathLst>
              <a:path w="175539" h="201291">
                <a:moveTo>
                  <a:pt x="94355" y="98735"/>
                </a:moveTo>
                <a:lnTo>
                  <a:pt x="121775" y="99105"/>
                </a:lnTo>
                <a:lnTo>
                  <a:pt x="121895" y="82218"/>
                </a:lnTo>
                <a:lnTo>
                  <a:pt x="174341" y="81971"/>
                </a:lnTo>
                <a:lnTo>
                  <a:pt x="175539" y="51401"/>
                </a:lnTo>
                <a:lnTo>
                  <a:pt x="120099" y="52757"/>
                </a:lnTo>
                <a:lnTo>
                  <a:pt x="119141" y="33405"/>
                </a:lnTo>
                <a:lnTo>
                  <a:pt x="128720" y="33775"/>
                </a:lnTo>
                <a:lnTo>
                  <a:pt x="128840" y="11464"/>
                </a:lnTo>
                <a:lnTo>
                  <a:pt x="96151" y="9984"/>
                </a:lnTo>
                <a:lnTo>
                  <a:pt x="95792" y="123"/>
                </a:lnTo>
                <a:lnTo>
                  <a:pt x="83578" y="0"/>
                </a:lnTo>
                <a:lnTo>
                  <a:pt x="84297" y="33528"/>
                </a:lnTo>
                <a:lnTo>
                  <a:pt x="43705" y="33775"/>
                </a:lnTo>
                <a:lnTo>
                  <a:pt x="43705" y="34884"/>
                </a:lnTo>
                <a:lnTo>
                  <a:pt x="0" y="34268"/>
                </a:lnTo>
                <a:lnTo>
                  <a:pt x="599" y="94667"/>
                </a:lnTo>
                <a:lnTo>
                  <a:pt x="83938" y="93311"/>
                </a:lnTo>
                <a:lnTo>
                  <a:pt x="85614" y="192416"/>
                </a:lnTo>
                <a:lnTo>
                  <a:pt x="86811" y="192416"/>
                </a:lnTo>
                <a:lnTo>
                  <a:pt x="87889" y="201291"/>
                </a:lnTo>
                <a:lnTo>
                  <a:pt x="91481" y="201168"/>
                </a:lnTo>
                <a:lnTo>
                  <a:pt x="91362" y="191800"/>
                </a:lnTo>
                <a:lnTo>
                  <a:pt x="95193" y="191800"/>
                </a:lnTo>
                <a:lnTo>
                  <a:pt x="94355" y="9873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09" name="สองฝั่งคลอง"/>
          <p:cNvSpPr/>
          <p:nvPr/>
        </p:nvSpPr>
        <p:spPr>
          <a:xfrm>
            <a:off x="8098560" y="5075640"/>
            <a:ext cx="126360" cy="581760"/>
          </a:xfrm>
          <a:custGeom>
            <a:avLst/>
            <a:gdLst/>
            <a:ahLst/>
            <a:rect l="l" t="t" r="r" b="b"/>
            <a:pathLst>
              <a:path w="126565" h="582056">
                <a:moveTo>
                  <a:pt x="26103" y="582056"/>
                </a:moveTo>
                <a:lnTo>
                  <a:pt x="31611" y="581686"/>
                </a:lnTo>
                <a:lnTo>
                  <a:pt x="31372" y="540146"/>
                </a:lnTo>
                <a:lnTo>
                  <a:pt x="41310" y="539160"/>
                </a:lnTo>
                <a:lnTo>
                  <a:pt x="40831" y="529792"/>
                </a:lnTo>
                <a:lnTo>
                  <a:pt x="34365" y="529915"/>
                </a:lnTo>
                <a:lnTo>
                  <a:pt x="34485" y="521040"/>
                </a:lnTo>
                <a:lnTo>
                  <a:pt x="39514" y="521040"/>
                </a:lnTo>
                <a:lnTo>
                  <a:pt x="36760" y="477158"/>
                </a:lnTo>
                <a:lnTo>
                  <a:pt x="37239" y="469515"/>
                </a:lnTo>
                <a:lnTo>
                  <a:pt x="38556" y="469515"/>
                </a:lnTo>
                <a:lnTo>
                  <a:pt x="37479" y="465571"/>
                </a:lnTo>
                <a:lnTo>
                  <a:pt x="126565" y="465571"/>
                </a:lnTo>
                <a:lnTo>
                  <a:pt x="118064" y="430071"/>
                </a:lnTo>
                <a:lnTo>
                  <a:pt x="118064" y="424031"/>
                </a:lnTo>
                <a:lnTo>
                  <a:pt x="32330" y="425263"/>
                </a:lnTo>
                <a:lnTo>
                  <a:pt x="29456" y="142741"/>
                </a:lnTo>
                <a:lnTo>
                  <a:pt x="28378" y="142617"/>
                </a:lnTo>
                <a:lnTo>
                  <a:pt x="29217" y="26132"/>
                </a:lnTo>
                <a:lnTo>
                  <a:pt x="28139" y="123"/>
                </a:lnTo>
                <a:lnTo>
                  <a:pt x="21673" y="0"/>
                </a:lnTo>
                <a:lnTo>
                  <a:pt x="21433" y="3575"/>
                </a:lnTo>
                <a:lnTo>
                  <a:pt x="19997" y="3698"/>
                </a:lnTo>
                <a:lnTo>
                  <a:pt x="21673" y="64467"/>
                </a:lnTo>
                <a:lnTo>
                  <a:pt x="20356" y="65084"/>
                </a:lnTo>
                <a:lnTo>
                  <a:pt x="20236" y="75685"/>
                </a:lnTo>
                <a:lnTo>
                  <a:pt x="22032" y="75808"/>
                </a:lnTo>
                <a:lnTo>
                  <a:pt x="24187" y="120676"/>
                </a:lnTo>
                <a:lnTo>
                  <a:pt x="24068" y="133372"/>
                </a:lnTo>
                <a:lnTo>
                  <a:pt x="22272" y="133496"/>
                </a:lnTo>
                <a:lnTo>
                  <a:pt x="24068" y="135345"/>
                </a:lnTo>
                <a:lnTo>
                  <a:pt x="23589" y="245050"/>
                </a:lnTo>
                <a:lnTo>
                  <a:pt x="20476" y="246406"/>
                </a:lnTo>
                <a:lnTo>
                  <a:pt x="20476" y="247516"/>
                </a:lnTo>
                <a:lnTo>
                  <a:pt x="23589" y="247762"/>
                </a:lnTo>
                <a:lnTo>
                  <a:pt x="27301" y="270443"/>
                </a:lnTo>
                <a:lnTo>
                  <a:pt x="26582" y="302492"/>
                </a:lnTo>
                <a:lnTo>
                  <a:pt x="28977" y="302738"/>
                </a:lnTo>
                <a:lnTo>
                  <a:pt x="29217" y="318763"/>
                </a:lnTo>
                <a:lnTo>
                  <a:pt x="26343" y="318639"/>
                </a:lnTo>
                <a:lnTo>
                  <a:pt x="26463" y="334664"/>
                </a:lnTo>
                <a:lnTo>
                  <a:pt x="27780" y="334787"/>
                </a:lnTo>
                <a:lnTo>
                  <a:pt x="28977" y="358084"/>
                </a:lnTo>
                <a:lnTo>
                  <a:pt x="26702" y="358331"/>
                </a:lnTo>
                <a:lnTo>
                  <a:pt x="26702" y="363384"/>
                </a:lnTo>
                <a:lnTo>
                  <a:pt x="23708" y="363754"/>
                </a:lnTo>
                <a:lnTo>
                  <a:pt x="24068" y="366836"/>
                </a:lnTo>
                <a:lnTo>
                  <a:pt x="26822" y="366836"/>
                </a:lnTo>
                <a:lnTo>
                  <a:pt x="26702" y="373492"/>
                </a:lnTo>
                <a:lnTo>
                  <a:pt x="11974" y="373615"/>
                </a:lnTo>
                <a:lnTo>
                  <a:pt x="13770" y="531764"/>
                </a:lnTo>
                <a:lnTo>
                  <a:pt x="31013" y="530531"/>
                </a:lnTo>
                <a:lnTo>
                  <a:pt x="31013" y="538913"/>
                </a:lnTo>
                <a:lnTo>
                  <a:pt x="4670" y="539899"/>
                </a:lnTo>
                <a:lnTo>
                  <a:pt x="4550" y="542118"/>
                </a:lnTo>
                <a:lnTo>
                  <a:pt x="27061" y="541995"/>
                </a:lnTo>
                <a:lnTo>
                  <a:pt x="26702" y="554691"/>
                </a:lnTo>
                <a:lnTo>
                  <a:pt x="18679" y="555677"/>
                </a:lnTo>
                <a:lnTo>
                  <a:pt x="18919" y="559622"/>
                </a:lnTo>
                <a:lnTo>
                  <a:pt x="26582" y="559992"/>
                </a:lnTo>
                <a:lnTo>
                  <a:pt x="26343" y="570962"/>
                </a:lnTo>
                <a:lnTo>
                  <a:pt x="0" y="571332"/>
                </a:lnTo>
                <a:lnTo>
                  <a:pt x="0" y="576879"/>
                </a:lnTo>
                <a:lnTo>
                  <a:pt x="6705" y="579467"/>
                </a:lnTo>
                <a:lnTo>
                  <a:pt x="26223" y="579837"/>
                </a:lnTo>
                <a:lnTo>
                  <a:pt x="26103" y="58205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10" name="หมู่ 4 คลองสามประเวศ"/>
          <p:cNvSpPr/>
          <p:nvPr/>
        </p:nvSpPr>
        <p:spPr>
          <a:xfrm>
            <a:off x="7933320" y="5045760"/>
            <a:ext cx="104760" cy="394200"/>
          </a:xfrm>
          <a:custGeom>
            <a:avLst/>
            <a:gdLst/>
            <a:ahLst/>
            <a:rect l="l" t="t" r="r" b="b"/>
            <a:pathLst>
              <a:path w="105012" h="394694">
                <a:moveTo>
                  <a:pt x="100821" y="30200"/>
                </a:moveTo>
                <a:lnTo>
                  <a:pt x="100821" y="19969"/>
                </a:lnTo>
                <a:lnTo>
                  <a:pt x="52925" y="17627"/>
                </a:lnTo>
                <a:lnTo>
                  <a:pt x="31731" y="1109"/>
                </a:lnTo>
                <a:lnTo>
                  <a:pt x="6226" y="0"/>
                </a:lnTo>
                <a:lnTo>
                  <a:pt x="7663" y="68535"/>
                </a:lnTo>
                <a:lnTo>
                  <a:pt x="13531" y="68412"/>
                </a:lnTo>
                <a:lnTo>
                  <a:pt x="14489" y="84683"/>
                </a:lnTo>
                <a:lnTo>
                  <a:pt x="8023" y="85422"/>
                </a:lnTo>
                <a:lnTo>
                  <a:pt x="8861" y="133372"/>
                </a:lnTo>
                <a:lnTo>
                  <a:pt x="7424" y="135591"/>
                </a:lnTo>
                <a:lnTo>
                  <a:pt x="8861" y="135714"/>
                </a:lnTo>
                <a:lnTo>
                  <a:pt x="8980" y="174296"/>
                </a:lnTo>
                <a:lnTo>
                  <a:pt x="14369" y="173557"/>
                </a:lnTo>
                <a:lnTo>
                  <a:pt x="14728" y="194512"/>
                </a:lnTo>
                <a:lnTo>
                  <a:pt x="8980" y="195005"/>
                </a:lnTo>
                <a:lnTo>
                  <a:pt x="9100" y="223725"/>
                </a:lnTo>
                <a:lnTo>
                  <a:pt x="7663" y="223725"/>
                </a:lnTo>
                <a:lnTo>
                  <a:pt x="7424" y="227177"/>
                </a:lnTo>
                <a:lnTo>
                  <a:pt x="9100" y="227423"/>
                </a:lnTo>
                <a:lnTo>
                  <a:pt x="8502" y="330842"/>
                </a:lnTo>
                <a:lnTo>
                  <a:pt x="958" y="330842"/>
                </a:lnTo>
                <a:lnTo>
                  <a:pt x="0" y="337499"/>
                </a:lnTo>
                <a:lnTo>
                  <a:pt x="9459" y="338238"/>
                </a:lnTo>
                <a:lnTo>
                  <a:pt x="9699" y="341690"/>
                </a:lnTo>
                <a:lnTo>
                  <a:pt x="25744" y="341443"/>
                </a:lnTo>
                <a:lnTo>
                  <a:pt x="25505" y="350565"/>
                </a:lnTo>
                <a:lnTo>
                  <a:pt x="57954" y="352291"/>
                </a:lnTo>
                <a:lnTo>
                  <a:pt x="57715" y="375834"/>
                </a:lnTo>
                <a:lnTo>
                  <a:pt x="46579" y="375341"/>
                </a:lnTo>
                <a:lnTo>
                  <a:pt x="47537" y="394694"/>
                </a:lnTo>
                <a:lnTo>
                  <a:pt x="102976" y="393338"/>
                </a:lnTo>
                <a:lnTo>
                  <a:pt x="105012" y="255404"/>
                </a:lnTo>
                <a:lnTo>
                  <a:pt x="101300" y="56209"/>
                </a:lnTo>
                <a:lnTo>
                  <a:pt x="103096" y="55716"/>
                </a:lnTo>
                <a:lnTo>
                  <a:pt x="102497" y="44992"/>
                </a:lnTo>
                <a:lnTo>
                  <a:pt x="101060" y="44745"/>
                </a:lnTo>
                <a:lnTo>
                  <a:pt x="100821" y="3020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11" name="พุทธ-มุสลิม สามัคคี ร่มเกล้า 50"/>
          <p:cNvSpPr/>
          <p:nvPr/>
        </p:nvSpPr>
        <p:spPr>
          <a:xfrm>
            <a:off x="7768800" y="5147280"/>
            <a:ext cx="90000" cy="472680"/>
          </a:xfrm>
          <a:custGeom>
            <a:avLst/>
            <a:gdLst/>
            <a:ahLst/>
            <a:rect l="l" t="t" r="r" b="b"/>
            <a:pathLst>
              <a:path w="90284" h="473213">
                <a:moveTo>
                  <a:pt x="2395" y="452012"/>
                </a:moveTo>
                <a:lnTo>
                  <a:pt x="2155" y="434015"/>
                </a:lnTo>
                <a:lnTo>
                  <a:pt x="5388" y="432659"/>
                </a:lnTo>
                <a:lnTo>
                  <a:pt x="4191" y="394324"/>
                </a:lnTo>
                <a:lnTo>
                  <a:pt x="2275" y="394201"/>
                </a:lnTo>
                <a:lnTo>
                  <a:pt x="2275" y="379409"/>
                </a:lnTo>
                <a:lnTo>
                  <a:pt x="6346" y="378423"/>
                </a:lnTo>
                <a:lnTo>
                  <a:pt x="6466" y="366959"/>
                </a:lnTo>
                <a:lnTo>
                  <a:pt x="1676" y="366836"/>
                </a:lnTo>
                <a:lnTo>
                  <a:pt x="1557" y="349948"/>
                </a:lnTo>
                <a:lnTo>
                  <a:pt x="6586" y="349579"/>
                </a:lnTo>
                <a:lnTo>
                  <a:pt x="6586" y="345388"/>
                </a:lnTo>
                <a:lnTo>
                  <a:pt x="41550" y="343415"/>
                </a:lnTo>
                <a:lnTo>
                  <a:pt x="41789" y="336882"/>
                </a:lnTo>
                <a:lnTo>
                  <a:pt x="90284" y="336759"/>
                </a:lnTo>
                <a:lnTo>
                  <a:pt x="90284" y="327884"/>
                </a:lnTo>
                <a:lnTo>
                  <a:pt x="12453" y="329363"/>
                </a:lnTo>
                <a:lnTo>
                  <a:pt x="12692" y="316914"/>
                </a:lnTo>
                <a:lnTo>
                  <a:pt x="4071" y="316544"/>
                </a:lnTo>
                <a:lnTo>
                  <a:pt x="3712" y="250227"/>
                </a:lnTo>
                <a:lnTo>
                  <a:pt x="2275" y="250104"/>
                </a:lnTo>
                <a:lnTo>
                  <a:pt x="2395" y="248625"/>
                </a:lnTo>
                <a:lnTo>
                  <a:pt x="3712" y="248748"/>
                </a:lnTo>
                <a:lnTo>
                  <a:pt x="3712" y="244064"/>
                </a:lnTo>
                <a:lnTo>
                  <a:pt x="2275" y="243694"/>
                </a:lnTo>
                <a:lnTo>
                  <a:pt x="2395" y="241599"/>
                </a:lnTo>
                <a:lnTo>
                  <a:pt x="4430" y="241476"/>
                </a:lnTo>
                <a:lnTo>
                  <a:pt x="4191" y="230752"/>
                </a:lnTo>
                <a:lnTo>
                  <a:pt x="9819" y="230505"/>
                </a:lnTo>
                <a:lnTo>
                  <a:pt x="9459" y="221014"/>
                </a:lnTo>
                <a:lnTo>
                  <a:pt x="3233" y="220397"/>
                </a:lnTo>
                <a:lnTo>
                  <a:pt x="1676" y="209920"/>
                </a:lnTo>
                <a:lnTo>
                  <a:pt x="1557" y="197593"/>
                </a:lnTo>
                <a:lnTo>
                  <a:pt x="6346" y="195991"/>
                </a:lnTo>
                <a:lnTo>
                  <a:pt x="4909" y="163819"/>
                </a:lnTo>
                <a:lnTo>
                  <a:pt x="2515" y="149643"/>
                </a:lnTo>
                <a:lnTo>
                  <a:pt x="6466" y="148780"/>
                </a:lnTo>
                <a:lnTo>
                  <a:pt x="4071" y="138180"/>
                </a:lnTo>
                <a:lnTo>
                  <a:pt x="12213" y="136947"/>
                </a:lnTo>
                <a:lnTo>
                  <a:pt x="12453" y="125483"/>
                </a:lnTo>
                <a:lnTo>
                  <a:pt x="4071" y="125360"/>
                </a:lnTo>
                <a:lnTo>
                  <a:pt x="3353" y="115006"/>
                </a:lnTo>
                <a:lnTo>
                  <a:pt x="5987" y="105884"/>
                </a:lnTo>
                <a:lnTo>
                  <a:pt x="3472" y="91216"/>
                </a:lnTo>
                <a:lnTo>
                  <a:pt x="3113" y="71863"/>
                </a:lnTo>
                <a:lnTo>
                  <a:pt x="4790" y="71863"/>
                </a:lnTo>
                <a:lnTo>
                  <a:pt x="4790" y="70014"/>
                </a:lnTo>
                <a:lnTo>
                  <a:pt x="8980" y="69151"/>
                </a:lnTo>
                <a:lnTo>
                  <a:pt x="22152" y="69028"/>
                </a:lnTo>
                <a:lnTo>
                  <a:pt x="22272" y="59537"/>
                </a:lnTo>
                <a:lnTo>
                  <a:pt x="2874" y="59660"/>
                </a:lnTo>
                <a:lnTo>
                  <a:pt x="2874" y="38212"/>
                </a:lnTo>
                <a:lnTo>
                  <a:pt x="4071" y="37103"/>
                </a:lnTo>
                <a:lnTo>
                  <a:pt x="2754" y="36856"/>
                </a:lnTo>
                <a:lnTo>
                  <a:pt x="2754" y="32542"/>
                </a:lnTo>
                <a:lnTo>
                  <a:pt x="6107" y="32419"/>
                </a:lnTo>
                <a:lnTo>
                  <a:pt x="6226" y="30693"/>
                </a:lnTo>
                <a:lnTo>
                  <a:pt x="2754" y="30816"/>
                </a:lnTo>
                <a:lnTo>
                  <a:pt x="3592" y="22311"/>
                </a:lnTo>
                <a:lnTo>
                  <a:pt x="8861" y="22188"/>
                </a:lnTo>
                <a:lnTo>
                  <a:pt x="8861" y="20955"/>
                </a:lnTo>
                <a:lnTo>
                  <a:pt x="3712" y="20955"/>
                </a:lnTo>
                <a:lnTo>
                  <a:pt x="5867" y="0"/>
                </a:lnTo>
                <a:lnTo>
                  <a:pt x="479" y="247"/>
                </a:lnTo>
                <a:lnTo>
                  <a:pt x="0" y="22064"/>
                </a:lnTo>
                <a:lnTo>
                  <a:pt x="1437" y="383476"/>
                </a:lnTo>
                <a:lnTo>
                  <a:pt x="599" y="436850"/>
                </a:lnTo>
                <a:lnTo>
                  <a:pt x="838" y="472843"/>
                </a:lnTo>
                <a:lnTo>
                  <a:pt x="3113" y="473213"/>
                </a:lnTo>
                <a:lnTo>
                  <a:pt x="2395" y="45201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12" name="อนุรักษ์คลองแสนแสบ"/>
          <p:cNvSpPr/>
          <p:nvPr/>
        </p:nvSpPr>
        <p:spPr>
          <a:xfrm>
            <a:off x="8282160" y="4227120"/>
            <a:ext cx="108360" cy="80280"/>
          </a:xfrm>
          <a:custGeom>
            <a:avLst/>
            <a:gdLst/>
            <a:ahLst/>
            <a:rect l="l" t="t" r="r" b="b"/>
            <a:pathLst>
              <a:path w="108724" h="80615">
                <a:moveTo>
                  <a:pt x="98306" y="0"/>
                </a:moveTo>
                <a:lnTo>
                  <a:pt x="0" y="55223"/>
                </a:lnTo>
                <a:lnTo>
                  <a:pt x="7783" y="72603"/>
                </a:lnTo>
                <a:lnTo>
                  <a:pt x="59271" y="44129"/>
                </a:lnTo>
                <a:lnTo>
                  <a:pt x="74718" y="80615"/>
                </a:lnTo>
                <a:lnTo>
                  <a:pt x="85255" y="75685"/>
                </a:lnTo>
                <a:lnTo>
                  <a:pt x="69808" y="40431"/>
                </a:lnTo>
                <a:lnTo>
                  <a:pt x="87769" y="30323"/>
                </a:lnTo>
                <a:lnTo>
                  <a:pt x="106329" y="72973"/>
                </a:lnTo>
                <a:lnTo>
                  <a:pt x="108724" y="72356"/>
                </a:lnTo>
                <a:lnTo>
                  <a:pt x="88847" y="27735"/>
                </a:lnTo>
                <a:lnTo>
                  <a:pt x="107047" y="16641"/>
                </a:lnTo>
                <a:lnTo>
                  <a:pt x="98306" y="0"/>
                </a:lnTo>
                <a:close/>
              </a:path>
            </a:pathLst>
          </a:custGeom>
          <a:solidFill>
            <a:srgbClr val="ded5c5"/>
          </a:solidFill>
          <a:ln w="6191">
            <a:solidFill>
              <a:srgbClr val="b5a68d"/>
            </a:solidFill>
            <a:round/>
          </a:ln>
        </p:spPr>
        <p:style>
          <a:lnRef idx="0"/>
          <a:fillRef idx="0"/>
          <a:effectRef idx="0"/>
          <a:fontRef idx="minor"/>
        </p:style>
        <p:txBody>
          <a:bodyPr lIns="90000" rIns="90000" tIns="35280" bIns="35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13" name="อัลฮูดา"/>
          <p:cNvSpPr/>
          <p:nvPr/>
        </p:nvSpPr>
        <p:spPr>
          <a:xfrm>
            <a:off x="7878960" y="4752360"/>
            <a:ext cx="244440" cy="144360"/>
          </a:xfrm>
          <a:custGeom>
            <a:avLst/>
            <a:gdLst/>
            <a:ahLst/>
            <a:rect l="l" t="t" r="r" b="b"/>
            <a:pathLst>
              <a:path w="244868" h="144590">
                <a:moveTo>
                  <a:pt x="67414" y="104652"/>
                </a:moveTo>
                <a:lnTo>
                  <a:pt x="33527" y="104159"/>
                </a:lnTo>
                <a:lnTo>
                  <a:pt x="30773" y="110322"/>
                </a:lnTo>
                <a:lnTo>
                  <a:pt x="1916" y="108350"/>
                </a:lnTo>
                <a:lnTo>
                  <a:pt x="0" y="130044"/>
                </a:lnTo>
                <a:lnTo>
                  <a:pt x="69329" y="136577"/>
                </a:lnTo>
                <a:lnTo>
                  <a:pt x="69689" y="125114"/>
                </a:lnTo>
                <a:lnTo>
                  <a:pt x="156620" y="128935"/>
                </a:lnTo>
                <a:lnTo>
                  <a:pt x="156739" y="140892"/>
                </a:lnTo>
                <a:lnTo>
                  <a:pt x="242593" y="144590"/>
                </a:lnTo>
                <a:lnTo>
                  <a:pt x="244868" y="128565"/>
                </a:lnTo>
                <a:lnTo>
                  <a:pt x="243311" y="77410"/>
                </a:lnTo>
                <a:lnTo>
                  <a:pt x="244389" y="46348"/>
                </a:lnTo>
                <a:lnTo>
                  <a:pt x="242593" y="0"/>
                </a:lnTo>
                <a:lnTo>
                  <a:pt x="180089" y="20215"/>
                </a:lnTo>
                <a:lnTo>
                  <a:pt x="154584" y="34021"/>
                </a:lnTo>
                <a:lnTo>
                  <a:pt x="156021" y="45608"/>
                </a:lnTo>
                <a:lnTo>
                  <a:pt x="69210" y="44992"/>
                </a:lnTo>
                <a:lnTo>
                  <a:pt x="67414" y="10465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14" name="สามัคคีพัฒนา"/>
          <p:cNvSpPr/>
          <p:nvPr/>
        </p:nvSpPr>
        <p:spPr>
          <a:xfrm>
            <a:off x="8156520" y="4348080"/>
            <a:ext cx="67320" cy="92160"/>
          </a:xfrm>
          <a:custGeom>
            <a:avLst/>
            <a:gdLst/>
            <a:ahLst/>
            <a:rect l="l" t="t" r="r" b="b"/>
            <a:pathLst>
              <a:path w="67533" h="92449">
                <a:moveTo>
                  <a:pt x="9459" y="0"/>
                </a:moveTo>
                <a:lnTo>
                  <a:pt x="0" y="5424"/>
                </a:lnTo>
                <a:lnTo>
                  <a:pt x="49213" y="92449"/>
                </a:lnTo>
                <a:lnTo>
                  <a:pt x="55080" y="89367"/>
                </a:lnTo>
                <a:lnTo>
                  <a:pt x="52446" y="84929"/>
                </a:lnTo>
                <a:lnTo>
                  <a:pt x="67533" y="74698"/>
                </a:lnTo>
                <a:lnTo>
                  <a:pt x="59990" y="61016"/>
                </a:lnTo>
                <a:lnTo>
                  <a:pt x="67054" y="56702"/>
                </a:lnTo>
                <a:lnTo>
                  <a:pt x="51728" y="27118"/>
                </a:lnTo>
                <a:lnTo>
                  <a:pt x="18799" y="7396"/>
                </a:lnTo>
                <a:lnTo>
                  <a:pt x="9459"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15" name="หมู่บ้านมีนบุรีการ์เด้นท์โฮม"/>
          <p:cNvSpPr/>
          <p:nvPr/>
        </p:nvSpPr>
        <p:spPr>
          <a:xfrm>
            <a:off x="8303400" y="4344120"/>
            <a:ext cx="98280" cy="109080"/>
          </a:xfrm>
          <a:custGeom>
            <a:avLst/>
            <a:gdLst/>
            <a:ahLst/>
            <a:rect l="l" t="t" r="r" b="b"/>
            <a:pathLst>
              <a:path w="98785" h="109582">
                <a:moveTo>
                  <a:pt x="45501" y="37226"/>
                </a:moveTo>
                <a:lnTo>
                  <a:pt x="28738" y="4068"/>
                </a:lnTo>
                <a:lnTo>
                  <a:pt x="22391" y="6656"/>
                </a:lnTo>
                <a:lnTo>
                  <a:pt x="17243" y="0"/>
                </a:lnTo>
                <a:lnTo>
                  <a:pt x="15207" y="3082"/>
                </a:lnTo>
                <a:lnTo>
                  <a:pt x="18440" y="8382"/>
                </a:lnTo>
                <a:lnTo>
                  <a:pt x="0" y="15285"/>
                </a:lnTo>
                <a:lnTo>
                  <a:pt x="18440" y="50785"/>
                </a:lnTo>
                <a:lnTo>
                  <a:pt x="15925" y="51894"/>
                </a:lnTo>
                <a:lnTo>
                  <a:pt x="17123" y="54236"/>
                </a:lnTo>
                <a:lnTo>
                  <a:pt x="19877" y="53497"/>
                </a:lnTo>
                <a:lnTo>
                  <a:pt x="49093" y="109582"/>
                </a:lnTo>
                <a:lnTo>
                  <a:pt x="98785" y="95284"/>
                </a:lnTo>
                <a:lnTo>
                  <a:pt x="54601" y="14422"/>
                </a:lnTo>
                <a:lnTo>
                  <a:pt x="46579" y="18243"/>
                </a:lnTo>
                <a:lnTo>
                  <a:pt x="72323" y="72726"/>
                </a:lnTo>
                <a:lnTo>
                  <a:pt x="64540" y="75685"/>
                </a:lnTo>
                <a:lnTo>
                  <a:pt x="51967" y="47950"/>
                </a:lnTo>
                <a:lnTo>
                  <a:pt x="49333" y="49429"/>
                </a:lnTo>
                <a:lnTo>
                  <a:pt x="45980" y="42403"/>
                </a:lnTo>
                <a:lnTo>
                  <a:pt x="47776" y="40677"/>
                </a:lnTo>
                <a:lnTo>
                  <a:pt x="46699" y="37226"/>
                </a:lnTo>
                <a:lnTo>
                  <a:pt x="45501" y="3722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16" name="พัฒนาบึงขวาง"/>
          <p:cNvSpPr/>
          <p:nvPr/>
        </p:nvSpPr>
        <p:spPr>
          <a:xfrm>
            <a:off x="7819200" y="4750560"/>
            <a:ext cx="100080" cy="32760"/>
          </a:xfrm>
          <a:custGeom>
            <a:avLst/>
            <a:gdLst/>
            <a:ahLst/>
            <a:rect l="l" t="t" r="r" b="b"/>
            <a:pathLst>
              <a:path w="100342" h="33158">
                <a:moveTo>
                  <a:pt x="8741" y="22927"/>
                </a:moveTo>
                <a:lnTo>
                  <a:pt x="58673" y="33158"/>
                </a:lnTo>
                <a:lnTo>
                  <a:pt x="82142" y="32665"/>
                </a:lnTo>
                <a:lnTo>
                  <a:pt x="100342" y="25762"/>
                </a:lnTo>
                <a:lnTo>
                  <a:pt x="93637" y="6533"/>
                </a:lnTo>
                <a:lnTo>
                  <a:pt x="34246" y="0"/>
                </a:lnTo>
                <a:lnTo>
                  <a:pt x="0" y="8505"/>
                </a:lnTo>
                <a:lnTo>
                  <a:pt x="8741" y="22927"/>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17" name="นูรุ้ลอิสลาม (คลองสี่วังเล็ก)"/>
          <p:cNvSpPr/>
          <p:nvPr/>
        </p:nvSpPr>
        <p:spPr>
          <a:xfrm>
            <a:off x="8121240" y="4674240"/>
            <a:ext cx="87120" cy="203760"/>
          </a:xfrm>
          <a:custGeom>
            <a:avLst/>
            <a:gdLst/>
            <a:ahLst/>
            <a:rect l="l" t="t" r="r" b="b"/>
            <a:pathLst>
              <a:path w="87650" h="204250">
                <a:moveTo>
                  <a:pt x="69808" y="132263"/>
                </a:moveTo>
                <a:lnTo>
                  <a:pt x="68252" y="130661"/>
                </a:lnTo>
                <a:lnTo>
                  <a:pt x="69449" y="130291"/>
                </a:lnTo>
                <a:lnTo>
                  <a:pt x="65857" y="112541"/>
                </a:lnTo>
                <a:lnTo>
                  <a:pt x="59271" y="113280"/>
                </a:lnTo>
                <a:lnTo>
                  <a:pt x="56158" y="87518"/>
                </a:lnTo>
                <a:lnTo>
                  <a:pt x="73281" y="46841"/>
                </a:lnTo>
                <a:lnTo>
                  <a:pt x="87650" y="31556"/>
                </a:lnTo>
                <a:lnTo>
                  <a:pt x="85853" y="0"/>
                </a:lnTo>
                <a:lnTo>
                  <a:pt x="29935" y="24530"/>
                </a:lnTo>
                <a:lnTo>
                  <a:pt x="27301" y="7396"/>
                </a:lnTo>
                <a:lnTo>
                  <a:pt x="16644" y="13929"/>
                </a:lnTo>
                <a:lnTo>
                  <a:pt x="18919" y="29953"/>
                </a:lnTo>
                <a:lnTo>
                  <a:pt x="22870" y="39445"/>
                </a:lnTo>
                <a:lnTo>
                  <a:pt x="0" y="46471"/>
                </a:lnTo>
                <a:lnTo>
                  <a:pt x="2515" y="95777"/>
                </a:lnTo>
                <a:lnTo>
                  <a:pt x="1796" y="150136"/>
                </a:lnTo>
                <a:lnTo>
                  <a:pt x="43346" y="115622"/>
                </a:lnTo>
                <a:lnTo>
                  <a:pt x="45501" y="128072"/>
                </a:lnTo>
                <a:lnTo>
                  <a:pt x="2993" y="159135"/>
                </a:lnTo>
                <a:lnTo>
                  <a:pt x="3592" y="189581"/>
                </a:lnTo>
                <a:lnTo>
                  <a:pt x="62025" y="180953"/>
                </a:lnTo>
                <a:lnTo>
                  <a:pt x="63223" y="204250"/>
                </a:lnTo>
                <a:lnTo>
                  <a:pt x="79627" y="202401"/>
                </a:lnTo>
                <a:lnTo>
                  <a:pt x="80226" y="184404"/>
                </a:lnTo>
                <a:lnTo>
                  <a:pt x="72562" y="145822"/>
                </a:lnTo>
                <a:lnTo>
                  <a:pt x="69090" y="135961"/>
                </a:lnTo>
                <a:lnTo>
                  <a:pt x="70527" y="135714"/>
                </a:lnTo>
                <a:lnTo>
                  <a:pt x="69808" y="13226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18" name="บึงพระยา"/>
          <p:cNvSpPr/>
          <p:nvPr/>
        </p:nvSpPr>
        <p:spPr>
          <a:xfrm>
            <a:off x="7894800" y="4443840"/>
            <a:ext cx="158400" cy="106200"/>
          </a:xfrm>
          <a:custGeom>
            <a:avLst/>
            <a:gdLst/>
            <a:ahLst/>
            <a:rect l="l" t="t" r="r" b="b"/>
            <a:pathLst>
              <a:path w="158895" h="106624">
                <a:moveTo>
                  <a:pt x="26822" y="104405"/>
                </a:moveTo>
                <a:lnTo>
                  <a:pt x="27899" y="106624"/>
                </a:lnTo>
                <a:lnTo>
                  <a:pt x="58433" y="90846"/>
                </a:lnTo>
                <a:lnTo>
                  <a:pt x="64300" y="80369"/>
                </a:lnTo>
                <a:lnTo>
                  <a:pt x="84177" y="93188"/>
                </a:lnTo>
                <a:lnTo>
                  <a:pt x="106329" y="102310"/>
                </a:lnTo>
                <a:lnTo>
                  <a:pt x="158895" y="106377"/>
                </a:lnTo>
                <a:lnTo>
                  <a:pt x="100342" y="0"/>
                </a:lnTo>
                <a:lnTo>
                  <a:pt x="0" y="57318"/>
                </a:lnTo>
                <a:lnTo>
                  <a:pt x="26822" y="10440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19" name="คู้ล่างสร้างสรรค์"/>
          <p:cNvSpPr/>
          <p:nvPr/>
        </p:nvSpPr>
        <p:spPr>
          <a:xfrm>
            <a:off x="8440560" y="4174560"/>
            <a:ext cx="68400" cy="100080"/>
          </a:xfrm>
          <a:custGeom>
            <a:avLst/>
            <a:gdLst/>
            <a:ahLst/>
            <a:rect l="l" t="t" r="r" b="b"/>
            <a:pathLst>
              <a:path w="68731" h="100337">
                <a:moveTo>
                  <a:pt x="33288" y="0"/>
                </a:moveTo>
                <a:lnTo>
                  <a:pt x="0" y="18490"/>
                </a:lnTo>
                <a:lnTo>
                  <a:pt x="41310" y="100337"/>
                </a:lnTo>
                <a:lnTo>
                  <a:pt x="68731" y="83943"/>
                </a:lnTo>
                <a:lnTo>
                  <a:pt x="33288"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20" name="ภราดรพัฒนา"/>
          <p:cNvSpPr/>
          <p:nvPr/>
        </p:nvSpPr>
        <p:spPr>
          <a:xfrm>
            <a:off x="8502120" y="4246920"/>
            <a:ext cx="42480" cy="111240"/>
          </a:xfrm>
          <a:custGeom>
            <a:avLst/>
            <a:gdLst/>
            <a:ahLst/>
            <a:rect l="l" t="t" r="r" b="b"/>
            <a:pathLst>
              <a:path w="42747" h="111431">
                <a:moveTo>
                  <a:pt x="20595" y="0"/>
                </a:moveTo>
                <a:lnTo>
                  <a:pt x="6107" y="14052"/>
                </a:lnTo>
                <a:lnTo>
                  <a:pt x="0" y="17627"/>
                </a:lnTo>
                <a:lnTo>
                  <a:pt x="30174" y="111431"/>
                </a:lnTo>
                <a:lnTo>
                  <a:pt x="42747" y="108350"/>
                </a:lnTo>
                <a:lnTo>
                  <a:pt x="24906" y="43266"/>
                </a:lnTo>
                <a:lnTo>
                  <a:pt x="31013" y="39938"/>
                </a:lnTo>
                <a:lnTo>
                  <a:pt x="20595"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21" name="วัดคลองภูมิ"/>
          <p:cNvSpPr/>
          <p:nvPr/>
        </p:nvSpPr>
        <p:spPr>
          <a:xfrm>
            <a:off x="5443920" y="6234480"/>
            <a:ext cx="30960" cy="24840"/>
          </a:xfrm>
          <a:custGeom>
            <a:avLst/>
            <a:gdLst/>
            <a:ahLst/>
            <a:rect l="l" t="t" r="r" b="b"/>
            <a:pathLst>
              <a:path w="31492" h="25023">
                <a:moveTo>
                  <a:pt x="0" y="16394"/>
                </a:moveTo>
                <a:lnTo>
                  <a:pt x="26941" y="25023"/>
                </a:lnTo>
                <a:lnTo>
                  <a:pt x="31492" y="7519"/>
                </a:lnTo>
                <a:lnTo>
                  <a:pt x="5987" y="0"/>
                </a:lnTo>
                <a:lnTo>
                  <a:pt x="0" y="16394"/>
                </a:lnTo>
                <a:close/>
              </a:path>
            </a:pathLst>
          </a:custGeom>
          <a:solidFill>
            <a:srgbClr val="ded5c5"/>
          </a:solidFill>
          <a:ln w="6191">
            <a:solidFill>
              <a:srgbClr val="b5a68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22" name="ซอยพัฒนาการ 1"/>
          <p:cNvSpPr/>
          <p:nvPr/>
        </p:nvSpPr>
        <p:spPr>
          <a:xfrm>
            <a:off x="5257080" y="6202080"/>
            <a:ext cx="5040" cy="4680"/>
          </a:xfrm>
          <a:custGeom>
            <a:avLst/>
            <a:gdLst/>
            <a:ahLst/>
            <a:rect l="l" t="t" r="r" b="b"/>
            <a:pathLst>
              <a:path w="5388" h="5177">
                <a:moveTo>
                  <a:pt x="1916" y="0"/>
                </a:moveTo>
                <a:lnTo>
                  <a:pt x="0" y="2465"/>
                </a:lnTo>
                <a:lnTo>
                  <a:pt x="3353" y="5177"/>
                </a:lnTo>
                <a:lnTo>
                  <a:pt x="5388" y="2589"/>
                </a:lnTo>
                <a:lnTo>
                  <a:pt x="1916" y="0"/>
                </a:lnTo>
                <a:close/>
              </a:path>
            </a:pathLst>
          </a:custGeom>
          <a:solidFill>
            <a:srgbClr val="ded5c5"/>
          </a:solidFill>
          <a:ln w="6191">
            <a:solidFill>
              <a:srgbClr val="b5a68d"/>
            </a:solidFill>
            <a:round/>
          </a:ln>
        </p:spPr>
        <p:style>
          <a:lnRef idx="0"/>
          <a:fillRef idx="0"/>
          <a:effectRef idx="0"/>
          <a:fontRef idx="minor"/>
        </p:style>
        <p:txBody>
          <a:bodyPr lIns="90000" rIns="90000" tIns="-40320" bIns="-40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23" name="ปรีชา 1"/>
          <p:cNvSpPr/>
          <p:nvPr/>
        </p:nvSpPr>
        <p:spPr>
          <a:xfrm>
            <a:off x="5315760" y="6214680"/>
            <a:ext cx="7200" cy="7920"/>
          </a:xfrm>
          <a:custGeom>
            <a:avLst/>
            <a:gdLst/>
            <a:ahLst/>
            <a:rect l="l" t="t" r="r" b="b"/>
            <a:pathLst>
              <a:path w="7424" h="8135">
                <a:moveTo>
                  <a:pt x="5867" y="8135"/>
                </a:moveTo>
                <a:lnTo>
                  <a:pt x="7424" y="1849"/>
                </a:lnTo>
                <a:lnTo>
                  <a:pt x="2036" y="0"/>
                </a:lnTo>
                <a:lnTo>
                  <a:pt x="0" y="6533"/>
                </a:lnTo>
                <a:lnTo>
                  <a:pt x="5867" y="8135"/>
                </a:lnTo>
                <a:close/>
              </a:path>
            </a:pathLst>
          </a:custGeom>
          <a:solidFill>
            <a:srgbClr val="ded5c5"/>
          </a:solidFill>
          <a:ln w="6191">
            <a:solidFill>
              <a:srgbClr val="b5a68d"/>
            </a:solidFill>
            <a:round/>
          </a:ln>
        </p:spPr>
        <p:style>
          <a:lnRef idx="0"/>
          <a:fillRef idx="0"/>
          <a:effectRef idx="0"/>
          <a:fontRef idx="minor"/>
        </p:style>
        <p:txBody>
          <a:bodyPr lIns="90000" rIns="90000" tIns="-37080" bIns="-37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24" name="เศตะพราหมณ์"/>
          <p:cNvSpPr/>
          <p:nvPr/>
        </p:nvSpPr>
        <p:spPr>
          <a:xfrm>
            <a:off x="5329440" y="6196320"/>
            <a:ext cx="11520" cy="14400"/>
          </a:xfrm>
          <a:custGeom>
            <a:avLst/>
            <a:gdLst/>
            <a:ahLst/>
            <a:rect l="l" t="t" r="r" b="b"/>
            <a:pathLst>
              <a:path w="11974" h="14792">
                <a:moveTo>
                  <a:pt x="0" y="11340"/>
                </a:moveTo>
                <a:lnTo>
                  <a:pt x="8980" y="14792"/>
                </a:lnTo>
                <a:lnTo>
                  <a:pt x="11974" y="3575"/>
                </a:lnTo>
                <a:lnTo>
                  <a:pt x="5149" y="0"/>
                </a:lnTo>
                <a:lnTo>
                  <a:pt x="0" y="11340"/>
                </a:lnTo>
                <a:close/>
              </a:path>
            </a:pathLst>
          </a:custGeom>
          <a:solidFill>
            <a:srgbClr val="ded5c5"/>
          </a:solidFill>
          <a:ln w="6191">
            <a:solidFill>
              <a:srgbClr val="b5a68d"/>
            </a:solidFill>
            <a:round/>
          </a:ln>
        </p:spPr>
        <p:style>
          <a:lnRef idx="0"/>
          <a:fillRef idx="0"/>
          <a:effectRef idx="0"/>
          <a:fontRef idx="minor"/>
        </p:style>
        <p:txBody>
          <a:bodyPr lIns="90000" rIns="90000" tIns="-30600" bIns="-30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25" name="แฟลตตำรวจส่วนกลางเฉลิมลาภ"/>
          <p:cNvSpPr/>
          <p:nvPr/>
        </p:nvSpPr>
        <p:spPr>
          <a:xfrm>
            <a:off x="5463360" y="4991400"/>
            <a:ext cx="29520" cy="26280"/>
          </a:xfrm>
          <a:custGeom>
            <a:avLst/>
            <a:gdLst/>
            <a:ahLst/>
            <a:rect l="l" t="t" r="r" b="b"/>
            <a:pathLst>
              <a:path w="30055" h="26625">
                <a:moveTo>
                  <a:pt x="8023" y="10847"/>
                </a:moveTo>
                <a:lnTo>
                  <a:pt x="0" y="23544"/>
                </a:lnTo>
                <a:lnTo>
                  <a:pt x="6586" y="26625"/>
                </a:lnTo>
                <a:lnTo>
                  <a:pt x="13890" y="15778"/>
                </a:lnTo>
                <a:lnTo>
                  <a:pt x="21194" y="20585"/>
                </a:lnTo>
                <a:lnTo>
                  <a:pt x="30055" y="7273"/>
                </a:lnTo>
                <a:lnTo>
                  <a:pt x="22870" y="2589"/>
                </a:lnTo>
                <a:lnTo>
                  <a:pt x="21673" y="4314"/>
                </a:lnTo>
                <a:lnTo>
                  <a:pt x="7304" y="0"/>
                </a:lnTo>
                <a:lnTo>
                  <a:pt x="3951" y="8135"/>
                </a:lnTo>
                <a:lnTo>
                  <a:pt x="8023" y="10847"/>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26" name="แฟลต สน. บางซื่อ"/>
          <p:cNvSpPr/>
          <p:nvPr/>
        </p:nvSpPr>
        <p:spPr>
          <a:xfrm>
            <a:off x="5471280" y="4931640"/>
            <a:ext cx="11880" cy="13320"/>
          </a:xfrm>
          <a:custGeom>
            <a:avLst/>
            <a:gdLst/>
            <a:ahLst/>
            <a:rect l="l" t="t" r="r" b="b"/>
            <a:pathLst>
              <a:path w="12333" h="13682">
                <a:moveTo>
                  <a:pt x="4311" y="0"/>
                </a:moveTo>
                <a:lnTo>
                  <a:pt x="0" y="12203"/>
                </a:lnTo>
                <a:lnTo>
                  <a:pt x="6586" y="13682"/>
                </a:lnTo>
                <a:lnTo>
                  <a:pt x="8142" y="7396"/>
                </a:lnTo>
                <a:lnTo>
                  <a:pt x="11016" y="8012"/>
                </a:lnTo>
                <a:lnTo>
                  <a:pt x="12333" y="2342"/>
                </a:lnTo>
                <a:lnTo>
                  <a:pt x="4311" y="0"/>
                </a:lnTo>
                <a:close/>
              </a:path>
            </a:pathLst>
          </a:custGeom>
          <a:solidFill>
            <a:srgbClr val="ded5c5"/>
          </a:solidFill>
          <a:ln w="6191">
            <a:solidFill>
              <a:srgbClr val="b5a68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27" name="คลองด่าน"/>
          <p:cNvSpPr/>
          <p:nvPr/>
        </p:nvSpPr>
        <p:spPr>
          <a:xfrm>
            <a:off x="5374080" y="6269760"/>
            <a:ext cx="29520" cy="37080"/>
          </a:xfrm>
          <a:custGeom>
            <a:avLst/>
            <a:gdLst/>
            <a:ahLst/>
            <a:rect l="l" t="t" r="r" b="b"/>
            <a:pathLst>
              <a:path w="29815" h="37596">
                <a:moveTo>
                  <a:pt x="21793" y="2958"/>
                </a:moveTo>
                <a:lnTo>
                  <a:pt x="15806" y="5424"/>
                </a:lnTo>
                <a:lnTo>
                  <a:pt x="14010" y="740"/>
                </a:lnTo>
                <a:lnTo>
                  <a:pt x="1078" y="0"/>
                </a:lnTo>
                <a:lnTo>
                  <a:pt x="0" y="9861"/>
                </a:lnTo>
                <a:lnTo>
                  <a:pt x="1676" y="23667"/>
                </a:lnTo>
                <a:lnTo>
                  <a:pt x="8382" y="37596"/>
                </a:lnTo>
                <a:lnTo>
                  <a:pt x="29815" y="31802"/>
                </a:lnTo>
                <a:lnTo>
                  <a:pt x="21793" y="2958"/>
                </a:lnTo>
                <a:close/>
              </a:path>
            </a:pathLst>
          </a:custGeom>
          <a:solidFill>
            <a:srgbClr val="ded5c5"/>
          </a:solidFill>
          <a:ln w="6191">
            <a:solidFill>
              <a:srgbClr val="b5a68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28" name="ชุมชนมิตรชัยภูมิ"/>
          <p:cNvSpPr/>
          <p:nvPr/>
        </p:nvSpPr>
        <p:spPr>
          <a:xfrm>
            <a:off x="4993560" y="5513760"/>
            <a:ext cx="11520" cy="10800"/>
          </a:xfrm>
          <a:custGeom>
            <a:avLst/>
            <a:gdLst/>
            <a:ahLst/>
            <a:rect l="l" t="t" r="r" b="b"/>
            <a:pathLst>
              <a:path w="11854" h="11217">
                <a:moveTo>
                  <a:pt x="6466" y="2712"/>
                </a:moveTo>
                <a:lnTo>
                  <a:pt x="4191" y="4807"/>
                </a:lnTo>
                <a:lnTo>
                  <a:pt x="5149" y="6780"/>
                </a:lnTo>
                <a:lnTo>
                  <a:pt x="0" y="6163"/>
                </a:lnTo>
                <a:lnTo>
                  <a:pt x="2634" y="7396"/>
                </a:lnTo>
                <a:lnTo>
                  <a:pt x="1916" y="8259"/>
                </a:lnTo>
                <a:lnTo>
                  <a:pt x="4790" y="11217"/>
                </a:lnTo>
                <a:lnTo>
                  <a:pt x="8382" y="6040"/>
                </a:lnTo>
                <a:lnTo>
                  <a:pt x="9819" y="7026"/>
                </a:lnTo>
                <a:lnTo>
                  <a:pt x="11854" y="4314"/>
                </a:lnTo>
                <a:lnTo>
                  <a:pt x="10417" y="0"/>
                </a:lnTo>
                <a:lnTo>
                  <a:pt x="7783" y="4191"/>
                </a:lnTo>
                <a:lnTo>
                  <a:pt x="6466" y="2712"/>
                </a:lnTo>
                <a:close/>
              </a:path>
            </a:pathLst>
          </a:custGeom>
          <a:solidFill>
            <a:srgbClr val="ded5c5"/>
          </a:solidFill>
          <a:ln w="6191">
            <a:solidFill>
              <a:srgbClr val="b5a68d"/>
            </a:solidFill>
            <a:round/>
          </a:ln>
        </p:spPr>
        <p:style>
          <a:lnRef idx="0"/>
          <a:fillRef idx="0"/>
          <a:effectRef idx="0"/>
          <a:fontRef idx="minor"/>
        </p:style>
        <p:txBody>
          <a:bodyPr lIns="90000" rIns="90000" tIns="-34200" bIns="-34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29" name="ชุมชนสะพานหัน"/>
          <p:cNvSpPr/>
          <p:nvPr/>
        </p:nvSpPr>
        <p:spPr>
          <a:xfrm>
            <a:off x="4929120" y="5472360"/>
            <a:ext cx="12960" cy="8640"/>
          </a:xfrm>
          <a:custGeom>
            <a:avLst/>
            <a:gdLst/>
            <a:ahLst/>
            <a:rect l="l" t="t" r="r" b="b"/>
            <a:pathLst>
              <a:path w="13291" h="9122">
                <a:moveTo>
                  <a:pt x="1796" y="5917"/>
                </a:moveTo>
                <a:lnTo>
                  <a:pt x="8861" y="9122"/>
                </a:lnTo>
                <a:lnTo>
                  <a:pt x="13291" y="3328"/>
                </a:lnTo>
                <a:lnTo>
                  <a:pt x="7903" y="0"/>
                </a:lnTo>
                <a:lnTo>
                  <a:pt x="6945" y="1726"/>
                </a:lnTo>
                <a:lnTo>
                  <a:pt x="3113" y="123"/>
                </a:lnTo>
                <a:lnTo>
                  <a:pt x="0" y="5054"/>
                </a:lnTo>
                <a:lnTo>
                  <a:pt x="1796" y="5917"/>
                </a:lnTo>
                <a:close/>
              </a:path>
            </a:pathLst>
          </a:custGeom>
          <a:solidFill>
            <a:srgbClr val="ded5c5"/>
          </a:solidFill>
          <a:ln w="6191">
            <a:solidFill>
              <a:srgbClr val="b5a68d"/>
            </a:solidFill>
            <a:round/>
          </a:ln>
        </p:spPr>
        <p:style>
          <a:lnRef idx="0"/>
          <a:fillRef idx="0"/>
          <a:effectRef idx="0"/>
          <a:fontRef idx="minor"/>
        </p:style>
        <p:txBody>
          <a:bodyPr lIns="90000" rIns="90000" tIns="-36360" bIns="-36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30" name="ชุมชนอิสรานุภาพ"/>
          <p:cNvSpPr/>
          <p:nvPr/>
        </p:nvSpPr>
        <p:spPr>
          <a:xfrm>
            <a:off x="4984560" y="5508360"/>
            <a:ext cx="15840" cy="15480"/>
          </a:xfrm>
          <a:custGeom>
            <a:avLst/>
            <a:gdLst/>
            <a:ahLst/>
            <a:rect l="l" t="t" r="r" b="b"/>
            <a:pathLst>
              <a:path w="16165" h="15778">
                <a:moveTo>
                  <a:pt x="11136" y="7149"/>
                </a:moveTo>
                <a:lnTo>
                  <a:pt x="13291" y="9491"/>
                </a:lnTo>
                <a:lnTo>
                  <a:pt x="16165" y="6533"/>
                </a:lnTo>
                <a:lnTo>
                  <a:pt x="12453" y="0"/>
                </a:lnTo>
                <a:lnTo>
                  <a:pt x="9938" y="3082"/>
                </a:lnTo>
                <a:lnTo>
                  <a:pt x="7663" y="3082"/>
                </a:lnTo>
                <a:lnTo>
                  <a:pt x="7663" y="5054"/>
                </a:lnTo>
                <a:lnTo>
                  <a:pt x="1676" y="10354"/>
                </a:lnTo>
                <a:lnTo>
                  <a:pt x="2515" y="11217"/>
                </a:lnTo>
                <a:lnTo>
                  <a:pt x="0" y="14545"/>
                </a:lnTo>
                <a:lnTo>
                  <a:pt x="2036" y="15778"/>
                </a:lnTo>
                <a:lnTo>
                  <a:pt x="8861" y="7026"/>
                </a:lnTo>
                <a:lnTo>
                  <a:pt x="10178" y="8259"/>
                </a:lnTo>
                <a:lnTo>
                  <a:pt x="11136" y="7149"/>
                </a:lnTo>
                <a:close/>
              </a:path>
            </a:pathLst>
          </a:custGeom>
          <a:solidFill>
            <a:srgbClr val="ded5c5"/>
          </a:solidFill>
          <a:ln w="6191">
            <a:solidFill>
              <a:srgbClr val="b5a68d"/>
            </a:solidFill>
            <a:round/>
          </a:ln>
        </p:spPr>
        <p:style>
          <a:lnRef idx="0"/>
          <a:fillRef idx="0"/>
          <a:effectRef idx="0"/>
          <a:fontRef idx="minor"/>
        </p:style>
        <p:txBody>
          <a:bodyPr lIns="90000" rIns="90000" tIns="-29520" bIns="-29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31" name="ชุมชนริมคลองโอ่งอ่าง"/>
          <p:cNvSpPr/>
          <p:nvPr/>
        </p:nvSpPr>
        <p:spPr>
          <a:xfrm>
            <a:off x="4932720" y="5452560"/>
            <a:ext cx="17640" cy="21240"/>
          </a:xfrm>
          <a:custGeom>
            <a:avLst/>
            <a:gdLst/>
            <a:ahLst/>
            <a:rect l="l" t="t" r="r" b="b"/>
            <a:pathLst>
              <a:path w="17841" h="21448">
                <a:moveTo>
                  <a:pt x="0" y="19476"/>
                </a:moveTo>
                <a:lnTo>
                  <a:pt x="3353" y="21448"/>
                </a:lnTo>
                <a:lnTo>
                  <a:pt x="4909" y="16887"/>
                </a:lnTo>
                <a:lnTo>
                  <a:pt x="8142" y="18736"/>
                </a:lnTo>
                <a:lnTo>
                  <a:pt x="10298" y="15531"/>
                </a:lnTo>
                <a:lnTo>
                  <a:pt x="8741" y="14668"/>
                </a:lnTo>
                <a:lnTo>
                  <a:pt x="10058" y="12573"/>
                </a:lnTo>
                <a:lnTo>
                  <a:pt x="8023" y="11587"/>
                </a:lnTo>
                <a:lnTo>
                  <a:pt x="8741" y="10108"/>
                </a:lnTo>
                <a:lnTo>
                  <a:pt x="7424" y="9245"/>
                </a:lnTo>
                <a:lnTo>
                  <a:pt x="8861" y="8259"/>
                </a:lnTo>
                <a:lnTo>
                  <a:pt x="11854" y="10477"/>
                </a:lnTo>
                <a:lnTo>
                  <a:pt x="17841" y="2342"/>
                </a:lnTo>
                <a:lnTo>
                  <a:pt x="13650" y="0"/>
                </a:lnTo>
                <a:lnTo>
                  <a:pt x="6466" y="7766"/>
                </a:lnTo>
                <a:lnTo>
                  <a:pt x="7304" y="8505"/>
                </a:lnTo>
                <a:lnTo>
                  <a:pt x="0" y="19476"/>
                </a:lnTo>
                <a:close/>
              </a:path>
            </a:pathLst>
          </a:custGeom>
          <a:solidFill>
            <a:srgbClr val="ded5c5"/>
          </a:solidFill>
          <a:ln w="6191">
            <a:solidFill>
              <a:srgbClr val="b5a68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32" name="ชุมชนภิรมย์"/>
          <p:cNvSpPr/>
          <p:nvPr/>
        </p:nvSpPr>
        <p:spPr>
          <a:xfrm>
            <a:off x="4911840" y="5500800"/>
            <a:ext cx="16560" cy="18000"/>
          </a:xfrm>
          <a:custGeom>
            <a:avLst/>
            <a:gdLst/>
            <a:ahLst/>
            <a:rect l="l" t="t" r="r" b="b"/>
            <a:pathLst>
              <a:path w="16883" h="18490">
                <a:moveTo>
                  <a:pt x="0" y="12573"/>
                </a:moveTo>
                <a:lnTo>
                  <a:pt x="2275" y="13189"/>
                </a:lnTo>
                <a:lnTo>
                  <a:pt x="1557" y="15655"/>
                </a:lnTo>
                <a:lnTo>
                  <a:pt x="13890" y="18490"/>
                </a:lnTo>
                <a:lnTo>
                  <a:pt x="16883" y="6163"/>
                </a:lnTo>
                <a:lnTo>
                  <a:pt x="12812" y="5054"/>
                </a:lnTo>
                <a:lnTo>
                  <a:pt x="13770" y="2342"/>
                </a:lnTo>
                <a:lnTo>
                  <a:pt x="6346" y="0"/>
                </a:lnTo>
                <a:lnTo>
                  <a:pt x="3951" y="1233"/>
                </a:lnTo>
                <a:lnTo>
                  <a:pt x="0" y="12573"/>
                </a:lnTo>
                <a:close/>
              </a:path>
            </a:pathLst>
          </a:custGeom>
          <a:solidFill>
            <a:srgbClr val="ded5c5"/>
          </a:solidFill>
          <a:ln w="6191">
            <a:solidFill>
              <a:srgbClr val="b5a68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33" name="ชุมชนพาดสาย"/>
          <p:cNvSpPr/>
          <p:nvPr/>
        </p:nvSpPr>
        <p:spPr>
          <a:xfrm>
            <a:off x="5020920" y="5517000"/>
            <a:ext cx="13680" cy="7920"/>
          </a:xfrm>
          <a:custGeom>
            <a:avLst/>
            <a:gdLst/>
            <a:ahLst/>
            <a:rect l="l" t="t" r="r" b="b"/>
            <a:pathLst>
              <a:path w="14129" h="8135">
                <a:moveTo>
                  <a:pt x="8741" y="7273"/>
                </a:moveTo>
                <a:lnTo>
                  <a:pt x="13890" y="5547"/>
                </a:lnTo>
                <a:lnTo>
                  <a:pt x="14129" y="4191"/>
                </a:lnTo>
                <a:lnTo>
                  <a:pt x="4790" y="1726"/>
                </a:lnTo>
                <a:lnTo>
                  <a:pt x="3353" y="0"/>
                </a:lnTo>
                <a:lnTo>
                  <a:pt x="1676" y="1479"/>
                </a:lnTo>
                <a:lnTo>
                  <a:pt x="2874" y="2465"/>
                </a:lnTo>
                <a:lnTo>
                  <a:pt x="0" y="5300"/>
                </a:lnTo>
                <a:lnTo>
                  <a:pt x="2395" y="8135"/>
                </a:lnTo>
                <a:lnTo>
                  <a:pt x="3712" y="6780"/>
                </a:lnTo>
                <a:lnTo>
                  <a:pt x="8741" y="7273"/>
                </a:lnTo>
                <a:close/>
              </a:path>
            </a:pathLst>
          </a:custGeom>
          <a:solidFill>
            <a:srgbClr val="ded5c5"/>
          </a:solidFill>
          <a:ln w="6191">
            <a:solidFill>
              <a:srgbClr val="b5a68d"/>
            </a:solidFill>
            <a:round/>
          </a:ln>
        </p:spPr>
        <p:style>
          <a:lnRef idx="0"/>
          <a:fillRef idx="0"/>
          <a:effectRef idx="0"/>
          <a:fontRef idx="minor"/>
        </p:style>
        <p:txBody>
          <a:bodyPr lIns="90000" rIns="90000" tIns="-37080" bIns="-37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34" name="ชุมชนพิพากษา"/>
          <p:cNvSpPr/>
          <p:nvPr/>
        </p:nvSpPr>
        <p:spPr>
          <a:xfrm>
            <a:off x="5027760" y="5493240"/>
            <a:ext cx="14040" cy="11160"/>
          </a:xfrm>
          <a:custGeom>
            <a:avLst/>
            <a:gdLst/>
            <a:ahLst/>
            <a:rect l="l" t="t" r="r" b="b"/>
            <a:pathLst>
              <a:path w="14369" h="11587">
                <a:moveTo>
                  <a:pt x="12692" y="3205"/>
                </a:moveTo>
                <a:lnTo>
                  <a:pt x="9938" y="0"/>
                </a:lnTo>
                <a:lnTo>
                  <a:pt x="9340" y="1233"/>
                </a:lnTo>
                <a:lnTo>
                  <a:pt x="3113" y="740"/>
                </a:lnTo>
                <a:lnTo>
                  <a:pt x="0" y="6040"/>
                </a:lnTo>
                <a:lnTo>
                  <a:pt x="3113" y="7642"/>
                </a:lnTo>
                <a:lnTo>
                  <a:pt x="2155" y="9245"/>
                </a:lnTo>
                <a:lnTo>
                  <a:pt x="6825" y="11587"/>
                </a:lnTo>
                <a:lnTo>
                  <a:pt x="8502" y="8135"/>
                </a:lnTo>
                <a:lnTo>
                  <a:pt x="9699" y="8752"/>
                </a:lnTo>
                <a:lnTo>
                  <a:pt x="13052" y="4438"/>
                </a:lnTo>
                <a:lnTo>
                  <a:pt x="14369" y="4684"/>
                </a:lnTo>
                <a:lnTo>
                  <a:pt x="12692" y="3205"/>
                </a:lnTo>
                <a:close/>
              </a:path>
            </a:pathLst>
          </a:custGeom>
          <a:solidFill>
            <a:srgbClr val="ded5c5"/>
          </a:solidFill>
          <a:ln w="6191">
            <a:solidFill>
              <a:srgbClr val="b5a68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35" name="ชุมชนกุศลสามัคคี"/>
          <p:cNvSpPr/>
          <p:nvPr/>
        </p:nvSpPr>
        <p:spPr>
          <a:xfrm>
            <a:off x="4992840" y="5468040"/>
            <a:ext cx="17280" cy="20160"/>
          </a:xfrm>
          <a:custGeom>
            <a:avLst/>
            <a:gdLst/>
            <a:ahLst/>
            <a:rect l="l" t="t" r="r" b="b"/>
            <a:pathLst>
              <a:path w="17602" h="20585">
                <a:moveTo>
                  <a:pt x="3233" y="8382"/>
                </a:moveTo>
                <a:lnTo>
                  <a:pt x="0" y="13559"/>
                </a:lnTo>
                <a:lnTo>
                  <a:pt x="7304" y="20585"/>
                </a:lnTo>
                <a:lnTo>
                  <a:pt x="17602" y="3698"/>
                </a:lnTo>
                <a:lnTo>
                  <a:pt x="12692" y="0"/>
                </a:lnTo>
                <a:lnTo>
                  <a:pt x="5867" y="9368"/>
                </a:lnTo>
                <a:lnTo>
                  <a:pt x="3233" y="8382"/>
                </a:lnTo>
                <a:close/>
              </a:path>
            </a:pathLst>
          </a:custGeom>
          <a:solidFill>
            <a:srgbClr val="ded5c5"/>
          </a:solidFill>
          <a:ln w="6191">
            <a:solidFill>
              <a:srgbClr val="b5a68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36" name="ชุมชนเล่งบ๊วยเอี๊ยะ"/>
          <p:cNvSpPr/>
          <p:nvPr/>
        </p:nvSpPr>
        <p:spPr>
          <a:xfrm>
            <a:off x="5007960" y="5477040"/>
            <a:ext cx="14400" cy="20160"/>
          </a:xfrm>
          <a:custGeom>
            <a:avLst/>
            <a:gdLst/>
            <a:ahLst/>
            <a:rect l="l" t="t" r="r" b="b"/>
            <a:pathLst>
              <a:path w="14728" h="20585">
                <a:moveTo>
                  <a:pt x="10657" y="14668"/>
                </a:moveTo>
                <a:lnTo>
                  <a:pt x="14728" y="8998"/>
                </a:lnTo>
                <a:lnTo>
                  <a:pt x="12692" y="6410"/>
                </a:lnTo>
                <a:lnTo>
                  <a:pt x="14608" y="2589"/>
                </a:lnTo>
                <a:lnTo>
                  <a:pt x="12573" y="1233"/>
                </a:lnTo>
                <a:lnTo>
                  <a:pt x="9100" y="3575"/>
                </a:lnTo>
                <a:lnTo>
                  <a:pt x="4191" y="0"/>
                </a:lnTo>
                <a:lnTo>
                  <a:pt x="0" y="6780"/>
                </a:lnTo>
                <a:lnTo>
                  <a:pt x="5508" y="10231"/>
                </a:lnTo>
                <a:lnTo>
                  <a:pt x="1676" y="16394"/>
                </a:lnTo>
                <a:lnTo>
                  <a:pt x="2993" y="17257"/>
                </a:lnTo>
                <a:lnTo>
                  <a:pt x="1916" y="19106"/>
                </a:lnTo>
                <a:lnTo>
                  <a:pt x="4311" y="20585"/>
                </a:lnTo>
                <a:lnTo>
                  <a:pt x="7903" y="15162"/>
                </a:lnTo>
                <a:lnTo>
                  <a:pt x="10178" y="15901"/>
                </a:lnTo>
                <a:lnTo>
                  <a:pt x="10657" y="14668"/>
                </a:lnTo>
                <a:close/>
              </a:path>
            </a:pathLst>
          </a:custGeom>
          <a:solidFill>
            <a:srgbClr val="ded5c5"/>
          </a:solidFill>
          <a:ln w="6191">
            <a:solidFill>
              <a:srgbClr val="b5a68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37" name="ชุมชนโปลิศสภา"/>
          <p:cNvSpPr/>
          <p:nvPr/>
        </p:nvSpPr>
        <p:spPr>
          <a:xfrm>
            <a:off x="5071680" y="5549400"/>
            <a:ext cx="25560" cy="19080"/>
          </a:xfrm>
          <a:custGeom>
            <a:avLst/>
            <a:gdLst/>
            <a:ahLst/>
            <a:rect l="l" t="t" r="r" b="b"/>
            <a:pathLst>
              <a:path w="25744" h="19476">
                <a:moveTo>
                  <a:pt x="0" y="8012"/>
                </a:moveTo>
                <a:lnTo>
                  <a:pt x="3233" y="19476"/>
                </a:lnTo>
                <a:lnTo>
                  <a:pt x="10777" y="17750"/>
                </a:lnTo>
                <a:lnTo>
                  <a:pt x="25744" y="18860"/>
                </a:lnTo>
                <a:lnTo>
                  <a:pt x="24427" y="0"/>
                </a:lnTo>
                <a:lnTo>
                  <a:pt x="0" y="8012"/>
                </a:lnTo>
                <a:close/>
              </a:path>
            </a:pathLst>
          </a:custGeom>
          <a:solidFill>
            <a:srgbClr val="ded5c5"/>
          </a:solidFill>
          <a:ln w="6191">
            <a:solidFill>
              <a:srgbClr val="b5a68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38" name="ชุมชนตลาดน้อย"/>
          <p:cNvSpPr/>
          <p:nvPr/>
        </p:nvSpPr>
        <p:spPr>
          <a:xfrm>
            <a:off x="5039640" y="5566320"/>
            <a:ext cx="21600" cy="24840"/>
          </a:xfrm>
          <a:custGeom>
            <a:avLst/>
            <a:gdLst/>
            <a:ahLst/>
            <a:rect l="l" t="t" r="r" b="b"/>
            <a:pathLst>
              <a:path w="22032" h="25146">
                <a:moveTo>
                  <a:pt x="11016" y="0"/>
                </a:moveTo>
                <a:lnTo>
                  <a:pt x="5508" y="1233"/>
                </a:lnTo>
                <a:lnTo>
                  <a:pt x="4670" y="4561"/>
                </a:lnTo>
                <a:lnTo>
                  <a:pt x="0" y="7519"/>
                </a:lnTo>
                <a:lnTo>
                  <a:pt x="3712" y="17134"/>
                </a:lnTo>
                <a:lnTo>
                  <a:pt x="5388" y="17011"/>
                </a:lnTo>
                <a:lnTo>
                  <a:pt x="5269" y="15531"/>
                </a:lnTo>
                <a:lnTo>
                  <a:pt x="3951" y="15655"/>
                </a:lnTo>
                <a:lnTo>
                  <a:pt x="2395" y="12203"/>
                </a:lnTo>
                <a:lnTo>
                  <a:pt x="8741" y="9738"/>
                </a:lnTo>
                <a:lnTo>
                  <a:pt x="10417" y="10971"/>
                </a:lnTo>
                <a:lnTo>
                  <a:pt x="10298" y="16641"/>
                </a:lnTo>
                <a:lnTo>
                  <a:pt x="12573" y="17011"/>
                </a:lnTo>
                <a:lnTo>
                  <a:pt x="12094" y="25146"/>
                </a:lnTo>
                <a:lnTo>
                  <a:pt x="16165" y="24776"/>
                </a:lnTo>
                <a:lnTo>
                  <a:pt x="16045" y="20832"/>
                </a:lnTo>
                <a:lnTo>
                  <a:pt x="14848" y="20832"/>
                </a:lnTo>
                <a:lnTo>
                  <a:pt x="14848" y="18613"/>
                </a:lnTo>
                <a:lnTo>
                  <a:pt x="13171" y="18613"/>
                </a:lnTo>
                <a:lnTo>
                  <a:pt x="13531" y="16764"/>
                </a:lnTo>
                <a:lnTo>
                  <a:pt x="17123" y="17134"/>
                </a:lnTo>
                <a:lnTo>
                  <a:pt x="18081" y="18983"/>
                </a:lnTo>
                <a:lnTo>
                  <a:pt x="22032" y="18860"/>
                </a:lnTo>
                <a:lnTo>
                  <a:pt x="21553" y="16764"/>
                </a:lnTo>
                <a:lnTo>
                  <a:pt x="16883" y="16394"/>
                </a:lnTo>
                <a:lnTo>
                  <a:pt x="16883" y="14792"/>
                </a:lnTo>
                <a:lnTo>
                  <a:pt x="20595" y="14299"/>
                </a:lnTo>
                <a:lnTo>
                  <a:pt x="18679" y="10601"/>
                </a:lnTo>
                <a:lnTo>
                  <a:pt x="16404" y="12326"/>
                </a:lnTo>
                <a:lnTo>
                  <a:pt x="16285" y="14669"/>
                </a:lnTo>
                <a:lnTo>
                  <a:pt x="12932" y="15531"/>
                </a:lnTo>
                <a:lnTo>
                  <a:pt x="12692" y="10478"/>
                </a:lnTo>
                <a:lnTo>
                  <a:pt x="9340" y="9491"/>
                </a:lnTo>
                <a:lnTo>
                  <a:pt x="8741" y="5793"/>
                </a:lnTo>
                <a:lnTo>
                  <a:pt x="12333" y="5300"/>
                </a:lnTo>
                <a:lnTo>
                  <a:pt x="14728" y="8135"/>
                </a:lnTo>
                <a:lnTo>
                  <a:pt x="16045" y="7149"/>
                </a:lnTo>
                <a:lnTo>
                  <a:pt x="14369" y="5177"/>
                </a:lnTo>
                <a:lnTo>
                  <a:pt x="16524" y="3821"/>
                </a:lnTo>
                <a:lnTo>
                  <a:pt x="15327" y="2465"/>
                </a:lnTo>
                <a:lnTo>
                  <a:pt x="13890" y="3575"/>
                </a:lnTo>
                <a:lnTo>
                  <a:pt x="11016" y="0"/>
                </a:lnTo>
                <a:close/>
              </a:path>
            </a:pathLst>
          </a:custGeom>
          <a:solidFill>
            <a:srgbClr val="ded5c5"/>
          </a:solidFill>
          <a:ln w="6191">
            <a:solidFill>
              <a:srgbClr val="b5a68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39" name="ชุมชนจงสวัสดิ์"/>
          <p:cNvSpPr/>
          <p:nvPr/>
        </p:nvSpPr>
        <p:spPr>
          <a:xfrm>
            <a:off x="5080680" y="5585400"/>
            <a:ext cx="9720" cy="5400"/>
          </a:xfrm>
          <a:custGeom>
            <a:avLst/>
            <a:gdLst/>
            <a:ahLst/>
            <a:rect l="l" t="t" r="r" b="b"/>
            <a:pathLst>
              <a:path w="10058" h="5670">
                <a:moveTo>
                  <a:pt x="5508" y="4191"/>
                </a:moveTo>
                <a:lnTo>
                  <a:pt x="0" y="3082"/>
                </a:lnTo>
                <a:lnTo>
                  <a:pt x="718" y="4931"/>
                </a:lnTo>
                <a:lnTo>
                  <a:pt x="5508" y="5670"/>
                </a:lnTo>
                <a:lnTo>
                  <a:pt x="6107" y="3821"/>
                </a:lnTo>
                <a:lnTo>
                  <a:pt x="9459" y="4314"/>
                </a:lnTo>
                <a:lnTo>
                  <a:pt x="10058" y="616"/>
                </a:lnTo>
                <a:lnTo>
                  <a:pt x="6346" y="0"/>
                </a:lnTo>
                <a:lnTo>
                  <a:pt x="5508" y="4191"/>
                </a:lnTo>
                <a:close/>
              </a:path>
            </a:pathLst>
          </a:custGeom>
          <a:solidFill>
            <a:srgbClr val="ded5c5"/>
          </a:solidFill>
          <a:ln w="6191">
            <a:solidFill>
              <a:srgbClr val="b5a68d"/>
            </a:solidFill>
            <a:round/>
          </a:ln>
        </p:spPr>
        <p:style>
          <a:lnRef idx="0"/>
          <a:fillRef idx="0"/>
          <a:effectRef idx="0"/>
          <a:fontRef idx="minor"/>
        </p:style>
        <p:txBody>
          <a:bodyPr lIns="90000" rIns="90000" tIns="-39600" bIns="-39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40" name="ชุมชนวานิชสัมพันธ์"/>
          <p:cNvSpPr/>
          <p:nvPr/>
        </p:nvSpPr>
        <p:spPr>
          <a:xfrm>
            <a:off x="5064840" y="5591880"/>
            <a:ext cx="9360" cy="7200"/>
          </a:xfrm>
          <a:custGeom>
            <a:avLst/>
            <a:gdLst/>
            <a:ahLst/>
            <a:rect l="l" t="t" r="r" b="b"/>
            <a:pathLst>
              <a:path w="9819" h="7396">
                <a:moveTo>
                  <a:pt x="0" y="0"/>
                </a:moveTo>
                <a:lnTo>
                  <a:pt x="2155" y="7026"/>
                </a:lnTo>
                <a:lnTo>
                  <a:pt x="9340" y="7396"/>
                </a:lnTo>
                <a:lnTo>
                  <a:pt x="9819" y="863"/>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37800" bIns="-37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41" name="ชุมชนโชฎึก"/>
          <p:cNvSpPr/>
          <p:nvPr/>
        </p:nvSpPr>
        <p:spPr>
          <a:xfrm>
            <a:off x="5074920" y="5568120"/>
            <a:ext cx="21600" cy="22320"/>
          </a:xfrm>
          <a:custGeom>
            <a:avLst/>
            <a:gdLst/>
            <a:ahLst/>
            <a:rect l="l" t="t" r="r" b="b"/>
            <a:pathLst>
              <a:path w="22032" h="22557">
                <a:moveTo>
                  <a:pt x="15446" y="19722"/>
                </a:moveTo>
                <a:lnTo>
                  <a:pt x="15087" y="21448"/>
                </a:lnTo>
                <a:lnTo>
                  <a:pt x="20236" y="22557"/>
                </a:lnTo>
                <a:lnTo>
                  <a:pt x="22032" y="6410"/>
                </a:lnTo>
                <a:lnTo>
                  <a:pt x="7304" y="4561"/>
                </a:lnTo>
                <a:lnTo>
                  <a:pt x="4550" y="0"/>
                </a:lnTo>
                <a:lnTo>
                  <a:pt x="0" y="1233"/>
                </a:lnTo>
                <a:lnTo>
                  <a:pt x="4550" y="16271"/>
                </a:lnTo>
                <a:lnTo>
                  <a:pt x="6586" y="15655"/>
                </a:lnTo>
                <a:lnTo>
                  <a:pt x="5748" y="12203"/>
                </a:lnTo>
                <a:lnTo>
                  <a:pt x="12333" y="13682"/>
                </a:lnTo>
                <a:lnTo>
                  <a:pt x="11974" y="17134"/>
                </a:lnTo>
                <a:lnTo>
                  <a:pt x="15806" y="17750"/>
                </a:lnTo>
                <a:lnTo>
                  <a:pt x="15446" y="19722"/>
                </a:lnTo>
                <a:close/>
              </a:path>
            </a:pathLst>
          </a:custGeom>
          <a:solidFill>
            <a:srgbClr val="ded5c5"/>
          </a:solidFill>
          <a:ln w="6191">
            <a:solidFill>
              <a:srgbClr val="b5a68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42" name="สนามเป้า"/>
          <p:cNvSpPr/>
          <p:nvPr/>
        </p:nvSpPr>
        <p:spPr>
          <a:xfrm>
            <a:off x="5388120" y="5137200"/>
            <a:ext cx="49320" cy="69120"/>
          </a:xfrm>
          <a:custGeom>
            <a:avLst/>
            <a:gdLst/>
            <a:ahLst/>
            <a:rect l="l" t="t" r="r" b="b"/>
            <a:pathLst>
              <a:path w="49572" h="69645">
                <a:moveTo>
                  <a:pt x="35922" y="26625"/>
                </a:moveTo>
                <a:lnTo>
                  <a:pt x="27301" y="17257"/>
                </a:lnTo>
                <a:lnTo>
                  <a:pt x="36042" y="7766"/>
                </a:lnTo>
                <a:lnTo>
                  <a:pt x="28259" y="0"/>
                </a:lnTo>
                <a:lnTo>
                  <a:pt x="16883" y="9984"/>
                </a:lnTo>
                <a:lnTo>
                  <a:pt x="12094" y="8012"/>
                </a:lnTo>
                <a:lnTo>
                  <a:pt x="8980" y="13929"/>
                </a:lnTo>
                <a:lnTo>
                  <a:pt x="12932" y="16641"/>
                </a:lnTo>
                <a:lnTo>
                  <a:pt x="11615" y="22188"/>
                </a:lnTo>
                <a:lnTo>
                  <a:pt x="6107" y="19476"/>
                </a:lnTo>
                <a:lnTo>
                  <a:pt x="479" y="29337"/>
                </a:lnTo>
                <a:lnTo>
                  <a:pt x="2395" y="30077"/>
                </a:lnTo>
                <a:lnTo>
                  <a:pt x="0" y="35747"/>
                </a:lnTo>
                <a:lnTo>
                  <a:pt x="8861" y="47210"/>
                </a:lnTo>
                <a:lnTo>
                  <a:pt x="6586" y="52757"/>
                </a:lnTo>
                <a:lnTo>
                  <a:pt x="18799" y="60769"/>
                </a:lnTo>
                <a:lnTo>
                  <a:pt x="15087" y="67672"/>
                </a:lnTo>
                <a:lnTo>
                  <a:pt x="18560" y="69645"/>
                </a:lnTo>
                <a:lnTo>
                  <a:pt x="34006" y="42280"/>
                </a:lnTo>
                <a:lnTo>
                  <a:pt x="39394" y="35377"/>
                </a:lnTo>
                <a:lnTo>
                  <a:pt x="49453" y="27735"/>
                </a:lnTo>
                <a:lnTo>
                  <a:pt x="45741" y="22927"/>
                </a:lnTo>
                <a:lnTo>
                  <a:pt x="49572" y="20092"/>
                </a:lnTo>
                <a:lnTo>
                  <a:pt x="46699" y="17134"/>
                </a:lnTo>
                <a:lnTo>
                  <a:pt x="35922" y="26625"/>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43" name="สวนมิสกวัน"/>
          <p:cNvSpPr/>
          <p:nvPr/>
        </p:nvSpPr>
        <p:spPr>
          <a:xfrm>
            <a:off x="5454000" y="5062320"/>
            <a:ext cx="28080" cy="25560"/>
          </a:xfrm>
          <a:custGeom>
            <a:avLst/>
            <a:gdLst/>
            <a:ahLst/>
            <a:rect l="l" t="t" r="r" b="b"/>
            <a:pathLst>
              <a:path w="28618" h="25886">
                <a:moveTo>
                  <a:pt x="5628" y="10108"/>
                </a:moveTo>
                <a:lnTo>
                  <a:pt x="6705" y="12326"/>
                </a:lnTo>
                <a:lnTo>
                  <a:pt x="0" y="16517"/>
                </a:lnTo>
                <a:lnTo>
                  <a:pt x="5987" y="25886"/>
                </a:lnTo>
                <a:lnTo>
                  <a:pt x="14489" y="20462"/>
                </a:lnTo>
                <a:lnTo>
                  <a:pt x="12812" y="17627"/>
                </a:lnTo>
                <a:lnTo>
                  <a:pt x="28618" y="7889"/>
                </a:lnTo>
                <a:lnTo>
                  <a:pt x="23589" y="0"/>
                </a:lnTo>
                <a:lnTo>
                  <a:pt x="5628" y="10108"/>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44" name="บึงบัว"/>
          <p:cNvSpPr/>
          <p:nvPr/>
        </p:nvSpPr>
        <p:spPr>
          <a:xfrm>
            <a:off x="8127000" y="5072760"/>
            <a:ext cx="221760" cy="280440"/>
          </a:xfrm>
          <a:custGeom>
            <a:avLst/>
            <a:gdLst/>
            <a:ahLst/>
            <a:rect l="l" t="t" r="r" b="b"/>
            <a:pathLst>
              <a:path w="222237" h="280674">
                <a:moveTo>
                  <a:pt x="85255" y="1109"/>
                </a:moveTo>
                <a:lnTo>
                  <a:pt x="0" y="0"/>
                </a:lnTo>
                <a:lnTo>
                  <a:pt x="3353" y="268101"/>
                </a:lnTo>
                <a:lnTo>
                  <a:pt x="102258" y="280674"/>
                </a:lnTo>
                <a:lnTo>
                  <a:pt x="114591" y="253679"/>
                </a:lnTo>
                <a:lnTo>
                  <a:pt x="128720" y="236422"/>
                </a:lnTo>
                <a:lnTo>
                  <a:pt x="154824" y="209550"/>
                </a:lnTo>
                <a:lnTo>
                  <a:pt x="193260" y="232600"/>
                </a:lnTo>
                <a:lnTo>
                  <a:pt x="191225" y="247269"/>
                </a:lnTo>
                <a:lnTo>
                  <a:pt x="217088" y="256021"/>
                </a:lnTo>
                <a:lnTo>
                  <a:pt x="222237" y="241106"/>
                </a:lnTo>
                <a:lnTo>
                  <a:pt x="161529" y="204619"/>
                </a:lnTo>
                <a:lnTo>
                  <a:pt x="161050" y="197963"/>
                </a:lnTo>
                <a:lnTo>
                  <a:pt x="156500" y="192046"/>
                </a:lnTo>
                <a:lnTo>
                  <a:pt x="139976" y="184774"/>
                </a:lnTo>
                <a:lnTo>
                  <a:pt x="130995" y="160984"/>
                </a:lnTo>
                <a:lnTo>
                  <a:pt x="117106" y="138796"/>
                </a:lnTo>
                <a:lnTo>
                  <a:pt x="115908" y="122648"/>
                </a:lnTo>
                <a:lnTo>
                  <a:pt x="141772" y="59660"/>
                </a:lnTo>
                <a:lnTo>
                  <a:pt x="144646" y="42526"/>
                </a:lnTo>
                <a:lnTo>
                  <a:pt x="140814" y="21941"/>
                </a:lnTo>
                <a:lnTo>
                  <a:pt x="140814" y="4438"/>
                </a:lnTo>
                <a:lnTo>
                  <a:pt x="95912" y="370"/>
                </a:lnTo>
                <a:lnTo>
                  <a:pt x="95313" y="1972"/>
                </a:lnTo>
                <a:lnTo>
                  <a:pt x="85255" y="110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45" name="หมู่บ้านพัฒนาทิพพาวาส"/>
          <p:cNvSpPr/>
          <p:nvPr/>
        </p:nvSpPr>
        <p:spPr>
          <a:xfrm>
            <a:off x="8397360" y="4989960"/>
            <a:ext cx="253440" cy="159120"/>
          </a:xfrm>
          <a:custGeom>
            <a:avLst/>
            <a:gdLst/>
            <a:ahLst/>
            <a:rect l="l" t="t" r="r" b="b"/>
            <a:pathLst>
              <a:path w="253968" h="159381">
                <a:moveTo>
                  <a:pt x="197212" y="74822"/>
                </a:moveTo>
                <a:lnTo>
                  <a:pt x="200445" y="75068"/>
                </a:lnTo>
                <a:lnTo>
                  <a:pt x="218286" y="66809"/>
                </a:lnTo>
                <a:lnTo>
                  <a:pt x="229302" y="63974"/>
                </a:lnTo>
                <a:lnTo>
                  <a:pt x="240318" y="63358"/>
                </a:lnTo>
                <a:lnTo>
                  <a:pt x="253968" y="47580"/>
                </a:lnTo>
                <a:lnTo>
                  <a:pt x="252172" y="25269"/>
                </a:lnTo>
                <a:lnTo>
                  <a:pt x="253489" y="17011"/>
                </a:lnTo>
                <a:lnTo>
                  <a:pt x="252292" y="5054"/>
                </a:lnTo>
                <a:lnTo>
                  <a:pt x="249777" y="0"/>
                </a:lnTo>
                <a:lnTo>
                  <a:pt x="228464" y="6656"/>
                </a:lnTo>
                <a:lnTo>
                  <a:pt x="205953" y="9245"/>
                </a:lnTo>
                <a:lnTo>
                  <a:pt x="178053" y="7519"/>
                </a:lnTo>
                <a:lnTo>
                  <a:pt x="163325" y="8998"/>
                </a:lnTo>
                <a:lnTo>
                  <a:pt x="151231" y="6903"/>
                </a:lnTo>
                <a:lnTo>
                  <a:pt x="115070" y="9245"/>
                </a:lnTo>
                <a:lnTo>
                  <a:pt x="92559" y="5054"/>
                </a:lnTo>
                <a:lnTo>
                  <a:pt x="78310" y="9245"/>
                </a:lnTo>
                <a:lnTo>
                  <a:pt x="80106" y="13313"/>
                </a:lnTo>
                <a:lnTo>
                  <a:pt x="104054" y="31063"/>
                </a:lnTo>
                <a:lnTo>
                  <a:pt x="66575" y="43882"/>
                </a:lnTo>
                <a:lnTo>
                  <a:pt x="59391" y="31309"/>
                </a:lnTo>
                <a:lnTo>
                  <a:pt x="0" y="52141"/>
                </a:lnTo>
                <a:lnTo>
                  <a:pt x="13411" y="63851"/>
                </a:lnTo>
                <a:lnTo>
                  <a:pt x="17123" y="70261"/>
                </a:lnTo>
                <a:lnTo>
                  <a:pt x="68491" y="50539"/>
                </a:lnTo>
                <a:lnTo>
                  <a:pt x="82740" y="86162"/>
                </a:lnTo>
                <a:lnTo>
                  <a:pt x="101779" y="141015"/>
                </a:lnTo>
                <a:lnTo>
                  <a:pt x="118423" y="159381"/>
                </a:lnTo>
                <a:lnTo>
                  <a:pt x="133151" y="149643"/>
                </a:lnTo>
                <a:lnTo>
                  <a:pt x="132911" y="109829"/>
                </a:lnTo>
                <a:lnTo>
                  <a:pt x="159613" y="91339"/>
                </a:lnTo>
                <a:lnTo>
                  <a:pt x="191344" y="75561"/>
                </a:lnTo>
                <a:lnTo>
                  <a:pt x="197212" y="7482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46" name="หมู่บ้านพัฒนาหมู่ที่ 11 คลองเจ๊ก"/>
          <p:cNvSpPr/>
          <p:nvPr/>
        </p:nvSpPr>
        <p:spPr>
          <a:xfrm>
            <a:off x="8467200" y="5267880"/>
            <a:ext cx="450720" cy="217800"/>
          </a:xfrm>
          <a:custGeom>
            <a:avLst/>
            <a:gdLst/>
            <a:ahLst/>
            <a:rect l="l" t="t" r="r" b="b"/>
            <a:pathLst>
              <a:path w="451180" h="218302">
                <a:moveTo>
                  <a:pt x="59391" y="114266"/>
                </a:moveTo>
                <a:lnTo>
                  <a:pt x="82142" y="124621"/>
                </a:lnTo>
                <a:lnTo>
                  <a:pt x="124410" y="139782"/>
                </a:lnTo>
                <a:lnTo>
                  <a:pt x="123212" y="143480"/>
                </a:lnTo>
                <a:lnTo>
                  <a:pt x="165959" y="162956"/>
                </a:lnTo>
                <a:lnTo>
                  <a:pt x="229182" y="182062"/>
                </a:lnTo>
                <a:lnTo>
                  <a:pt x="235289" y="159135"/>
                </a:lnTo>
                <a:lnTo>
                  <a:pt x="364847" y="206715"/>
                </a:lnTo>
                <a:lnTo>
                  <a:pt x="419329" y="218302"/>
                </a:lnTo>
                <a:lnTo>
                  <a:pt x="418491" y="202647"/>
                </a:lnTo>
                <a:lnTo>
                  <a:pt x="421484" y="189581"/>
                </a:lnTo>
                <a:lnTo>
                  <a:pt x="432021" y="176515"/>
                </a:lnTo>
                <a:lnTo>
                  <a:pt x="451180" y="171954"/>
                </a:lnTo>
                <a:lnTo>
                  <a:pt x="426274" y="127579"/>
                </a:lnTo>
                <a:lnTo>
                  <a:pt x="421724" y="108350"/>
                </a:lnTo>
                <a:lnTo>
                  <a:pt x="415617" y="119690"/>
                </a:lnTo>
                <a:lnTo>
                  <a:pt x="403404" y="131030"/>
                </a:lnTo>
                <a:lnTo>
                  <a:pt x="386041" y="135714"/>
                </a:lnTo>
                <a:lnTo>
                  <a:pt x="355987" y="138303"/>
                </a:lnTo>
                <a:lnTo>
                  <a:pt x="346527" y="132879"/>
                </a:lnTo>
                <a:lnTo>
                  <a:pt x="334433" y="92572"/>
                </a:lnTo>
                <a:lnTo>
                  <a:pt x="308809" y="73096"/>
                </a:lnTo>
                <a:lnTo>
                  <a:pt x="284143" y="71000"/>
                </a:lnTo>
                <a:lnTo>
                  <a:pt x="262590" y="91586"/>
                </a:lnTo>
                <a:lnTo>
                  <a:pt x="251813" y="139905"/>
                </a:lnTo>
                <a:lnTo>
                  <a:pt x="143927" y="86902"/>
                </a:lnTo>
                <a:lnTo>
                  <a:pt x="176976" y="23174"/>
                </a:lnTo>
                <a:lnTo>
                  <a:pt x="97229" y="0"/>
                </a:lnTo>
                <a:lnTo>
                  <a:pt x="92559" y="14545"/>
                </a:lnTo>
                <a:lnTo>
                  <a:pt x="86332" y="11957"/>
                </a:lnTo>
                <a:lnTo>
                  <a:pt x="82261" y="19106"/>
                </a:lnTo>
                <a:lnTo>
                  <a:pt x="96630" y="32542"/>
                </a:lnTo>
                <a:lnTo>
                  <a:pt x="87889" y="38705"/>
                </a:lnTo>
                <a:lnTo>
                  <a:pt x="70407" y="31926"/>
                </a:lnTo>
                <a:lnTo>
                  <a:pt x="62744" y="42280"/>
                </a:lnTo>
                <a:lnTo>
                  <a:pt x="55559" y="48936"/>
                </a:lnTo>
                <a:lnTo>
                  <a:pt x="54482" y="55099"/>
                </a:lnTo>
                <a:lnTo>
                  <a:pt x="60109" y="59660"/>
                </a:lnTo>
                <a:lnTo>
                  <a:pt x="56996" y="63851"/>
                </a:lnTo>
                <a:lnTo>
                  <a:pt x="42148" y="71494"/>
                </a:lnTo>
                <a:lnTo>
                  <a:pt x="32330" y="64344"/>
                </a:lnTo>
                <a:lnTo>
                  <a:pt x="20595" y="80245"/>
                </a:lnTo>
                <a:lnTo>
                  <a:pt x="14848" y="77164"/>
                </a:lnTo>
                <a:lnTo>
                  <a:pt x="1437" y="89613"/>
                </a:lnTo>
                <a:lnTo>
                  <a:pt x="0" y="93558"/>
                </a:lnTo>
                <a:lnTo>
                  <a:pt x="59391" y="11426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47" name="มิตรสัมพันธ์หมู่ 9 ลำปลาทิว"/>
          <p:cNvSpPr/>
          <p:nvPr/>
        </p:nvSpPr>
        <p:spPr>
          <a:xfrm>
            <a:off x="8393760" y="5229000"/>
            <a:ext cx="173880" cy="123840"/>
          </a:xfrm>
          <a:custGeom>
            <a:avLst/>
            <a:gdLst/>
            <a:ahLst/>
            <a:rect l="l" t="t" r="r" b="b"/>
            <a:pathLst>
              <a:path w="174102" h="124374">
                <a:moveTo>
                  <a:pt x="125847" y="88874"/>
                </a:moveTo>
                <a:lnTo>
                  <a:pt x="129319" y="87641"/>
                </a:lnTo>
                <a:lnTo>
                  <a:pt x="141652" y="68165"/>
                </a:lnTo>
                <a:lnTo>
                  <a:pt x="162008" y="74822"/>
                </a:lnTo>
                <a:lnTo>
                  <a:pt x="165361" y="70014"/>
                </a:lnTo>
                <a:lnTo>
                  <a:pt x="150872" y="58427"/>
                </a:lnTo>
                <a:lnTo>
                  <a:pt x="160332" y="47457"/>
                </a:lnTo>
                <a:lnTo>
                  <a:pt x="165480" y="49676"/>
                </a:lnTo>
                <a:lnTo>
                  <a:pt x="167636" y="45978"/>
                </a:lnTo>
                <a:lnTo>
                  <a:pt x="164044" y="43759"/>
                </a:lnTo>
                <a:lnTo>
                  <a:pt x="174102" y="22927"/>
                </a:lnTo>
                <a:lnTo>
                  <a:pt x="137701" y="8382"/>
                </a:lnTo>
                <a:lnTo>
                  <a:pt x="125248" y="27118"/>
                </a:lnTo>
                <a:lnTo>
                  <a:pt x="57355" y="0"/>
                </a:lnTo>
                <a:lnTo>
                  <a:pt x="42029" y="12326"/>
                </a:lnTo>
                <a:lnTo>
                  <a:pt x="19039" y="19969"/>
                </a:lnTo>
                <a:lnTo>
                  <a:pt x="0" y="42896"/>
                </a:lnTo>
                <a:lnTo>
                  <a:pt x="40472" y="58427"/>
                </a:lnTo>
                <a:lnTo>
                  <a:pt x="91840" y="75685"/>
                </a:lnTo>
                <a:lnTo>
                  <a:pt x="63103" y="117841"/>
                </a:lnTo>
                <a:lnTo>
                  <a:pt x="75077" y="124374"/>
                </a:lnTo>
                <a:lnTo>
                  <a:pt x="87769" y="111678"/>
                </a:lnTo>
                <a:lnTo>
                  <a:pt x="92798" y="113897"/>
                </a:lnTo>
                <a:lnTo>
                  <a:pt x="105491" y="99105"/>
                </a:lnTo>
                <a:lnTo>
                  <a:pt x="116387" y="104775"/>
                </a:lnTo>
                <a:lnTo>
                  <a:pt x="121057" y="98612"/>
                </a:lnTo>
                <a:lnTo>
                  <a:pt x="127164" y="100337"/>
                </a:lnTo>
                <a:lnTo>
                  <a:pt x="128241" y="97502"/>
                </a:lnTo>
                <a:lnTo>
                  <a:pt x="124529" y="95653"/>
                </a:lnTo>
                <a:lnTo>
                  <a:pt x="125847" y="8887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48" name="หมู่บ้านทิวไผ่พัฒนา หมู่ 9"/>
          <p:cNvSpPr/>
          <p:nvPr/>
        </p:nvSpPr>
        <p:spPr>
          <a:xfrm>
            <a:off x="8441280" y="5132520"/>
            <a:ext cx="168840" cy="122040"/>
          </a:xfrm>
          <a:custGeom>
            <a:avLst/>
            <a:gdLst/>
            <a:ahLst/>
            <a:rect l="l" t="t" r="r" b="b"/>
            <a:pathLst>
              <a:path w="169192" h="122279">
                <a:moveTo>
                  <a:pt x="57475" y="0"/>
                </a:moveTo>
                <a:lnTo>
                  <a:pt x="0" y="21695"/>
                </a:lnTo>
                <a:lnTo>
                  <a:pt x="24307" y="84560"/>
                </a:lnTo>
                <a:lnTo>
                  <a:pt x="11495" y="95653"/>
                </a:lnTo>
                <a:lnTo>
                  <a:pt x="75676" y="122279"/>
                </a:lnTo>
                <a:lnTo>
                  <a:pt x="89326" y="104035"/>
                </a:lnTo>
                <a:lnTo>
                  <a:pt x="126445" y="119197"/>
                </a:lnTo>
                <a:lnTo>
                  <a:pt x="130756" y="106131"/>
                </a:lnTo>
                <a:lnTo>
                  <a:pt x="133630" y="106008"/>
                </a:lnTo>
                <a:lnTo>
                  <a:pt x="145484" y="67796"/>
                </a:lnTo>
                <a:lnTo>
                  <a:pt x="158176" y="55962"/>
                </a:lnTo>
                <a:lnTo>
                  <a:pt x="169192" y="48196"/>
                </a:lnTo>
                <a:lnTo>
                  <a:pt x="152549" y="31556"/>
                </a:lnTo>
                <a:lnTo>
                  <a:pt x="121775" y="58674"/>
                </a:lnTo>
                <a:lnTo>
                  <a:pt x="92200" y="18983"/>
                </a:lnTo>
                <a:lnTo>
                  <a:pt x="87889" y="7273"/>
                </a:lnTo>
                <a:lnTo>
                  <a:pt x="73161" y="17504"/>
                </a:lnTo>
                <a:lnTo>
                  <a:pt x="57475"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49" name="ริมคลองลำปลาทิว"/>
          <p:cNvSpPr/>
          <p:nvPr/>
        </p:nvSpPr>
        <p:spPr>
          <a:xfrm>
            <a:off x="8594280" y="5067720"/>
            <a:ext cx="152280" cy="111600"/>
          </a:xfrm>
          <a:custGeom>
            <a:avLst/>
            <a:gdLst/>
            <a:ahLst/>
            <a:rect l="l" t="t" r="r" b="b"/>
            <a:pathLst>
              <a:path w="152668" h="111924">
                <a:moveTo>
                  <a:pt x="59151" y="102433"/>
                </a:moveTo>
                <a:lnTo>
                  <a:pt x="72562" y="93311"/>
                </a:lnTo>
                <a:lnTo>
                  <a:pt x="74119" y="94667"/>
                </a:lnTo>
                <a:lnTo>
                  <a:pt x="77112" y="92818"/>
                </a:lnTo>
                <a:lnTo>
                  <a:pt x="90763" y="110199"/>
                </a:lnTo>
                <a:lnTo>
                  <a:pt x="103695" y="98858"/>
                </a:lnTo>
                <a:lnTo>
                  <a:pt x="84177" y="77780"/>
                </a:lnTo>
                <a:lnTo>
                  <a:pt x="118303" y="52141"/>
                </a:lnTo>
                <a:lnTo>
                  <a:pt x="128840" y="59783"/>
                </a:lnTo>
                <a:lnTo>
                  <a:pt x="149795" y="41540"/>
                </a:lnTo>
                <a:lnTo>
                  <a:pt x="131115" y="27488"/>
                </a:lnTo>
                <a:lnTo>
                  <a:pt x="138898" y="20215"/>
                </a:lnTo>
                <a:lnTo>
                  <a:pt x="142730" y="23050"/>
                </a:lnTo>
                <a:lnTo>
                  <a:pt x="152668" y="14915"/>
                </a:lnTo>
                <a:lnTo>
                  <a:pt x="139856" y="0"/>
                </a:lnTo>
                <a:lnTo>
                  <a:pt x="127523" y="12080"/>
                </a:lnTo>
                <a:lnTo>
                  <a:pt x="125368" y="18366"/>
                </a:lnTo>
                <a:lnTo>
                  <a:pt x="122973" y="18120"/>
                </a:lnTo>
                <a:lnTo>
                  <a:pt x="120099" y="22927"/>
                </a:lnTo>
                <a:lnTo>
                  <a:pt x="122374" y="26379"/>
                </a:lnTo>
                <a:lnTo>
                  <a:pt x="117345" y="33651"/>
                </a:lnTo>
                <a:lnTo>
                  <a:pt x="108125" y="42896"/>
                </a:lnTo>
                <a:lnTo>
                  <a:pt x="105730" y="41787"/>
                </a:lnTo>
                <a:lnTo>
                  <a:pt x="83938" y="61016"/>
                </a:lnTo>
                <a:lnTo>
                  <a:pt x="60349" y="40431"/>
                </a:lnTo>
                <a:lnTo>
                  <a:pt x="0" y="95900"/>
                </a:lnTo>
                <a:lnTo>
                  <a:pt x="18081" y="111924"/>
                </a:lnTo>
                <a:lnTo>
                  <a:pt x="54362" y="97872"/>
                </a:lnTo>
                <a:lnTo>
                  <a:pt x="59151" y="10243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50" name="บ้านทับยาว"/>
          <p:cNvSpPr/>
          <p:nvPr/>
        </p:nvSpPr>
        <p:spPr>
          <a:xfrm>
            <a:off x="8849160" y="5341680"/>
            <a:ext cx="160920" cy="376200"/>
          </a:xfrm>
          <a:custGeom>
            <a:avLst/>
            <a:gdLst/>
            <a:ahLst/>
            <a:rect l="l" t="t" r="r" b="b"/>
            <a:pathLst>
              <a:path w="161290" h="376697">
                <a:moveTo>
                  <a:pt x="116148" y="376697"/>
                </a:moveTo>
                <a:lnTo>
                  <a:pt x="114591" y="277222"/>
                </a:lnTo>
                <a:lnTo>
                  <a:pt x="105251" y="248502"/>
                </a:lnTo>
                <a:lnTo>
                  <a:pt x="110400" y="218918"/>
                </a:lnTo>
                <a:lnTo>
                  <a:pt x="118662" y="195991"/>
                </a:lnTo>
                <a:lnTo>
                  <a:pt x="135665" y="165421"/>
                </a:lnTo>
                <a:lnTo>
                  <a:pt x="143329" y="147794"/>
                </a:lnTo>
                <a:lnTo>
                  <a:pt x="144646" y="132879"/>
                </a:lnTo>
                <a:lnTo>
                  <a:pt x="155422" y="72726"/>
                </a:lnTo>
                <a:lnTo>
                  <a:pt x="160571" y="23420"/>
                </a:lnTo>
                <a:lnTo>
                  <a:pt x="161290" y="4684"/>
                </a:lnTo>
                <a:lnTo>
                  <a:pt x="153387" y="0"/>
                </a:lnTo>
                <a:lnTo>
                  <a:pt x="148717" y="2589"/>
                </a:lnTo>
                <a:lnTo>
                  <a:pt x="123572" y="6163"/>
                </a:lnTo>
                <a:lnTo>
                  <a:pt x="63702" y="31309"/>
                </a:lnTo>
                <a:lnTo>
                  <a:pt x="44423" y="32912"/>
                </a:lnTo>
                <a:lnTo>
                  <a:pt x="77591" y="97133"/>
                </a:lnTo>
                <a:lnTo>
                  <a:pt x="53643" y="104528"/>
                </a:lnTo>
                <a:lnTo>
                  <a:pt x="40352" y="129798"/>
                </a:lnTo>
                <a:lnTo>
                  <a:pt x="43346" y="149767"/>
                </a:lnTo>
                <a:lnTo>
                  <a:pt x="40352" y="149890"/>
                </a:lnTo>
                <a:lnTo>
                  <a:pt x="0" y="313955"/>
                </a:lnTo>
                <a:lnTo>
                  <a:pt x="42148" y="329856"/>
                </a:lnTo>
                <a:lnTo>
                  <a:pt x="43346" y="366343"/>
                </a:lnTo>
                <a:lnTo>
                  <a:pt x="116148" y="37669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51" name="วัดราชโกษา"/>
          <p:cNvSpPr/>
          <p:nvPr/>
        </p:nvSpPr>
        <p:spPr>
          <a:xfrm>
            <a:off x="8990640" y="5955840"/>
            <a:ext cx="137520" cy="124560"/>
          </a:xfrm>
          <a:custGeom>
            <a:avLst/>
            <a:gdLst/>
            <a:ahLst/>
            <a:rect l="l" t="t" r="r" b="b"/>
            <a:pathLst>
              <a:path w="137940" h="124744">
                <a:moveTo>
                  <a:pt x="100941" y="124744"/>
                </a:moveTo>
                <a:lnTo>
                  <a:pt x="118782" y="84560"/>
                </a:lnTo>
                <a:lnTo>
                  <a:pt x="117106" y="83327"/>
                </a:lnTo>
                <a:lnTo>
                  <a:pt x="126445" y="67303"/>
                </a:lnTo>
                <a:lnTo>
                  <a:pt x="137940" y="41294"/>
                </a:lnTo>
                <a:lnTo>
                  <a:pt x="31971" y="0"/>
                </a:lnTo>
                <a:lnTo>
                  <a:pt x="0" y="85176"/>
                </a:lnTo>
                <a:lnTo>
                  <a:pt x="100941" y="12474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52" name="ดารุลมุกีมอุปถัมภ์"/>
          <p:cNvSpPr/>
          <p:nvPr/>
        </p:nvSpPr>
        <p:spPr>
          <a:xfrm>
            <a:off x="8884800" y="5844240"/>
            <a:ext cx="190800" cy="123480"/>
          </a:xfrm>
          <a:custGeom>
            <a:avLst/>
            <a:gdLst/>
            <a:ahLst/>
            <a:rect l="l" t="t" r="r" b="b"/>
            <a:pathLst>
              <a:path w="191105" h="123881">
                <a:moveTo>
                  <a:pt x="32090" y="0"/>
                </a:moveTo>
                <a:lnTo>
                  <a:pt x="0" y="51771"/>
                </a:lnTo>
                <a:lnTo>
                  <a:pt x="178173" y="123881"/>
                </a:lnTo>
                <a:lnTo>
                  <a:pt x="185238" y="109706"/>
                </a:lnTo>
                <a:lnTo>
                  <a:pt x="162726" y="98242"/>
                </a:lnTo>
                <a:lnTo>
                  <a:pt x="191105" y="31432"/>
                </a:lnTo>
                <a:lnTo>
                  <a:pt x="143329" y="17627"/>
                </a:lnTo>
                <a:lnTo>
                  <a:pt x="122015" y="15778"/>
                </a:lnTo>
                <a:lnTo>
                  <a:pt x="32090"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53" name="ซิรอตุ้ลญันนะห์"/>
          <p:cNvSpPr/>
          <p:nvPr/>
        </p:nvSpPr>
        <p:spPr>
          <a:xfrm>
            <a:off x="9047520" y="5858640"/>
            <a:ext cx="104760" cy="135000"/>
          </a:xfrm>
          <a:custGeom>
            <a:avLst/>
            <a:gdLst/>
            <a:ahLst/>
            <a:rect l="l" t="t" r="r" b="b"/>
            <a:pathLst>
              <a:path w="105012" h="135468">
                <a:moveTo>
                  <a:pt x="15446" y="109336"/>
                </a:moveTo>
                <a:lnTo>
                  <a:pt x="82980" y="135468"/>
                </a:lnTo>
                <a:lnTo>
                  <a:pt x="96151" y="111801"/>
                </a:lnTo>
                <a:lnTo>
                  <a:pt x="105012" y="26009"/>
                </a:lnTo>
                <a:lnTo>
                  <a:pt x="78789" y="14299"/>
                </a:lnTo>
                <a:lnTo>
                  <a:pt x="72922" y="14175"/>
                </a:lnTo>
                <a:lnTo>
                  <a:pt x="37598" y="0"/>
                </a:lnTo>
                <a:lnTo>
                  <a:pt x="0" y="83697"/>
                </a:lnTo>
                <a:lnTo>
                  <a:pt x="22511" y="95160"/>
                </a:lnTo>
                <a:lnTo>
                  <a:pt x="15446" y="10933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54" name="คลองตาสอน"/>
          <p:cNvSpPr/>
          <p:nvPr/>
        </p:nvSpPr>
        <p:spPr>
          <a:xfrm>
            <a:off x="8917560" y="5720760"/>
            <a:ext cx="247320" cy="162360"/>
          </a:xfrm>
          <a:custGeom>
            <a:avLst/>
            <a:gdLst/>
            <a:ahLst/>
            <a:rect l="l" t="t" r="r" b="b"/>
            <a:pathLst>
              <a:path w="247502" h="162586">
                <a:moveTo>
                  <a:pt x="206791" y="19846"/>
                </a:moveTo>
                <a:lnTo>
                  <a:pt x="51009" y="0"/>
                </a:lnTo>
                <a:lnTo>
                  <a:pt x="52686" y="14052"/>
                </a:lnTo>
                <a:lnTo>
                  <a:pt x="51129" y="26379"/>
                </a:lnTo>
                <a:lnTo>
                  <a:pt x="43346" y="43266"/>
                </a:lnTo>
                <a:lnTo>
                  <a:pt x="22032" y="72726"/>
                </a:lnTo>
                <a:lnTo>
                  <a:pt x="11495" y="93311"/>
                </a:lnTo>
                <a:lnTo>
                  <a:pt x="0" y="123635"/>
                </a:lnTo>
                <a:lnTo>
                  <a:pt x="111238" y="141015"/>
                </a:lnTo>
                <a:lnTo>
                  <a:pt x="158416" y="153465"/>
                </a:lnTo>
                <a:lnTo>
                  <a:pt x="166199" y="136084"/>
                </a:lnTo>
                <a:lnTo>
                  <a:pt x="203917" y="150753"/>
                </a:lnTo>
                <a:lnTo>
                  <a:pt x="210982" y="151492"/>
                </a:lnTo>
                <a:lnTo>
                  <a:pt x="234930" y="162586"/>
                </a:lnTo>
                <a:lnTo>
                  <a:pt x="247502" y="26009"/>
                </a:lnTo>
                <a:lnTo>
                  <a:pt x="206791" y="1984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55" name="ม่านารุ้ลฮู่ดา"/>
          <p:cNvSpPr/>
          <p:nvPr/>
        </p:nvSpPr>
        <p:spPr>
          <a:xfrm>
            <a:off x="9074880" y="5400000"/>
            <a:ext cx="158760" cy="258120"/>
          </a:xfrm>
          <a:custGeom>
            <a:avLst/>
            <a:gdLst/>
            <a:ahLst/>
            <a:rect l="l" t="t" r="r" b="b"/>
            <a:pathLst>
              <a:path w="159015" h="258486">
                <a:moveTo>
                  <a:pt x="70407" y="239996"/>
                </a:moveTo>
                <a:lnTo>
                  <a:pt x="78549" y="240243"/>
                </a:lnTo>
                <a:lnTo>
                  <a:pt x="122494" y="258486"/>
                </a:lnTo>
                <a:lnTo>
                  <a:pt x="159015" y="180090"/>
                </a:lnTo>
                <a:lnTo>
                  <a:pt x="105012" y="155190"/>
                </a:lnTo>
                <a:lnTo>
                  <a:pt x="141533" y="12943"/>
                </a:lnTo>
                <a:lnTo>
                  <a:pt x="25984" y="4438"/>
                </a:lnTo>
                <a:lnTo>
                  <a:pt x="2036" y="0"/>
                </a:lnTo>
                <a:lnTo>
                  <a:pt x="0" y="80738"/>
                </a:lnTo>
                <a:lnTo>
                  <a:pt x="3353" y="138056"/>
                </a:lnTo>
                <a:lnTo>
                  <a:pt x="6346" y="246899"/>
                </a:lnTo>
                <a:lnTo>
                  <a:pt x="27780" y="247516"/>
                </a:lnTo>
                <a:lnTo>
                  <a:pt x="70407" y="23999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56" name="แฟลตลือชา"/>
          <p:cNvSpPr/>
          <p:nvPr/>
        </p:nvSpPr>
        <p:spPr>
          <a:xfrm>
            <a:off x="5348880" y="5089680"/>
            <a:ext cx="44280" cy="55080"/>
          </a:xfrm>
          <a:custGeom>
            <a:avLst/>
            <a:gdLst/>
            <a:ahLst/>
            <a:rect l="l" t="t" r="r" b="b"/>
            <a:pathLst>
              <a:path w="44663" h="55469">
                <a:moveTo>
                  <a:pt x="28618" y="0"/>
                </a:moveTo>
                <a:lnTo>
                  <a:pt x="0" y="48196"/>
                </a:lnTo>
                <a:lnTo>
                  <a:pt x="12692" y="55469"/>
                </a:lnTo>
                <a:lnTo>
                  <a:pt x="34365" y="20215"/>
                </a:lnTo>
                <a:lnTo>
                  <a:pt x="40592" y="22804"/>
                </a:lnTo>
                <a:lnTo>
                  <a:pt x="43466" y="16148"/>
                </a:lnTo>
                <a:lnTo>
                  <a:pt x="41550" y="15038"/>
                </a:lnTo>
                <a:lnTo>
                  <a:pt x="44663" y="9615"/>
                </a:lnTo>
                <a:lnTo>
                  <a:pt x="28618" y="0"/>
                </a:lnTo>
                <a:close/>
              </a:path>
            </a:pathLst>
          </a:custGeom>
          <a:solidFill>
            <a:srgbClr val="ded5c5"/>
          </a:solidFill>
          <a:ln w="6191">
            <a:solidFill>
              <a:srgbClr val="b5a68d"/>
            </a:solidFill>
            <a:round/>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57" name="แฟลต ทบ. สามเสน"/>
          <p:cNvSpPr/>
          <p:nvPr/>
        </p:nvSpPr>
        <p:spPr>
          <a:xfrm>
            <a:off x="5281560" y="4973040"/>
            <a:ext cx="34920" cy="32040"/>
          </a:xfrm>
          <a:custGeom>
            <a:avLst/>
            <a:gdLst/>
            <a:ahLst/>
            <a:rect l="l" t="t" r="r" b="b"/>
            <a:pathLst>
              <a:path w="35443" h="32419">
                <a:moveTo>
                  <a:pt x="8262" y="0"/>
                </a:moveTo>
                <a:lnTo>
                  <a:pt x="0" y="22188"/>
                </a:lnTo>
                <a:lnTo>
                  <a:pt x="27780" y="32419"/>
                </a:lnTo>
                <a:lnTo>
                  <a:pt x="35443" y="12820"/>
                </a:lnTo>
                <a:lnTo>
                  <a:pt x="8262" y="0"/>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58" name="มิตรพัฒนา-มาลีอนุสรณ์"/>
          <p:cNvSpPr/>
          <p:nvPr/>
        </p:nvSpPr>
        <p:spPr>
          <a:xfrm>
            <a:off x="6309000" y="6019920"/>
            <a:ext cx="38160" cy="89640"/>
          </a:xfrm>
          <a:custGeom>
            <a:avLst/>
            <a:gdLst/>
            <a:ahLst/>
            <a:rect l="l" t="t" r="r" b="b"/>
            <a:pathLst>
              <a:path w="38556" h="90107">
                <a:moveTo>
                  <a:pt x="0" y="7396"/>
                </a:moveTo>
                <a:lnTo>
                  <a:pt x="3712" y="25023"/>
                </a:lnTo>
                <a:lnTo>
                  <a:pt x="4790" y="24899"/>
                </a:lnTo>
                <a:lnTo>
                  <a:pt x="8262" y="35870"/>
                </a:lnTo>
                <a:lnTo>
                  <a:pt x="11256" y="54606"/>
                </a:lnTo>
                <a:lnTo>
                  <a:pt x="20476" y="90107"/>
                </a:lnTo>
                <a:lnTo>
                  <a:pt x="38556" y="86902"/>
                </a:lnTo>
                <a:lnTo>
                  <a:pt x="34006" y="65207"/>
                </a:lnTo>
                <a:lnTo>
                  <a:pt x="25744" y="38335"/>
                </a:lnTo>
                <a:lnTo>
                  <a:pt x="37119" y="35254"/>
                </a:lnTo>
                <a:lnTo>
                  <a:pt x="30055" y="0"/>
                </a:lnTo>
                <a:lnTo>
                  <a:pt x="0" y="7396"/>
                </a:lnTo>
                <a:close/>
              </a:path>
            </a:pathLst>
          </a:custGeom>
          <a:solidFill>
            <a:srgbClr val="ded5c5"/>
          </a:solidFill>
          <a:ln w="6191">
            <a:solidFill>
              <a:srgbClr val="b5a68d"/>
            </a:solidFill>
            <a:round/>
          </a:ln>
        </p:spPr>
        <p:style>
          <a:lnRef idx="0"/>
          <a:fillRef idx="0"/>
          <a:effectRef idx="0"/>
          <a:fontRef idx="minor"/>
        </p:style>
        <p:txBody>
          <a:bodyPr lIns="90000" rIns="90000" tIns="44640" bIns="44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59" name="หมู่บ้านรุ่งเจริญ 1"/>
          <p:cNvSpPr/>
          <p:nvPr/>
        </p:nvSpPr>
        <p:spPr>
          <a:xfrm>
            <a:off x="6549840" y="6233760"/>
            <a:ext cx="28080" cy="19440"/>
          </a:xfrm>
          <a:custGeom>
            <a:avLst/>
            <a:gdLst/>
            <a:ahLst/>
            <a:rect l="l" t="t" r="r" b="b"/>
            <a:pathLst>
              <a:path w="28618" h="19969">
                <a:moveTo>
                  <a:pt x="2993" y="19969"/>
                </a:moveTo>
                <a:lnTo>
                  <a:pt x="28618" y="8998"/>
                </a:lnTo>
                <a:lnTo>
                  <a:pt x="27660" y="0"/>
                </a:lnTo>
                <a:lnTo>
                  <a:pt x="0" y="11710"/>
                </a:lnTo>
                <a:lnTo>
                  <a:pt x="2993" y="19969"/>
                </a:lnTo>
                <a:close/>
              </a:path>
            </a:pathLst>
          </a:custGeom>
          <a:solidFill>
            <a:srgbClr val="ded5c5"/>
          </a:solidFill>
          <a:ln w="6191">
            <a:solidFill>
              <a:srgbClr val="b5a68d"/>
            </a:solidFill>
            <a:round/>
          </a:ln>
        </p:spPr>
        <p:style>
          <a:lnRef idx="0"/>
          <a:fillRef idx="0"/>
          <a:effectRef idx="0"/>
          <a:fontRef idx="minor"/>
        </p:style>
        <p:txBody>
          <a:bodyPr lIns="90000" rIns="90000" tIns="-25560" bIns="-25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60" name="รามอินทราเนรมิต"/>
          <p:cNvSpPr/>
          <p:nvPr/>
        </p:nvSpPr>
        <p:spPr>
          <a:xfrm>
            <a:off x="7386120" y="4636080"/>
            <a:ext cx="78120" cy="45720"/>
          </a:xfrm>
          <a:custGeom>
            <a:avLst/>
            <a:gdLst/>
            <a:ahLst/>
            <a:rect l="l" t="t" r="r" b="b"/>
            <a:pathLst>
              <a:path w="78310" h="45978">
                <a:moveTo>
                  <a:pt x="958" y="45978"/>
                </a:moveTo>
                <a:lnTo>
                  <a:pt x="50650" y="39691"/>
                </a:lnTo>
                <a:lnTo>
                  <a:pt x="78310" y="29337"/>
                </a:lnTo>
                <a:lnTo>
                  <a:pt x="60708" y="0"/>
                </a:lnTo>
                <a:lnTo>
                  <a:pt x="53045" y="986"/>
                </a:lnTo>
                <a:lnTo>
                  <a:pt x="31731" y="9615"/>
                </a:lnTo>
                <a:lnTo>
                  <a:pt x="10777" y="24653"/>
                </a:lnTo>
                <a:lnTo>
                  <a:pt x="0" y="34021"/>
                </a:lnTo>
                <a:lnTo>
                  <a:pt x="958" y="45978"/>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61" name="หมู่บ้านธรากร"/>
          <p:cNvSpPr/>
          <p:nvPr/>
        </p:nvSpPr>
        <p:spPr>
          <a:xfrm>
            <a:off x="7377480" y="4752360"/>
            <a:ext cx="145440" cy="141840"/>
          </a:xfrm>
          <a:custGeom>
            <a:avLst/>
            <a:gdLst/>
            <a:ahLst/>
            <a:rect l="l" t="t" r="r" b="b"/>
            <a:pathLst>
              <a:path w="145843" h="142247">
                <a:moveTo>
                  <a:pt x="55559" y="142247"/>
                </a:moveTo>
                <a:lnTo>
                  <a:pt x="61307" y="140275"/>
                </a:lnTo>
                <a:lnTo>
                  <a:pt x="72922" y="132386"/>
                </a:lnTo>
                <a:lnTo>
                  <a:pt x="72083" y="131400"/>
                </a:lnTo>
                <a:lnTo>
                  <a:pt x="90523" y="116485"/>
                </a:lnTo>
                <a:lnTo>
                  <a:pt x="90404" y="107364"/>
                </a:lnTo>
                <a:lnTo>
                  <a:pt x="97588" y="95407"/>
                </a:lnTo>
                <a:lnTo>
                  <a:pt x="112555" y="85792"/>
                </a:lnTo>
                <a:lnTo>
                  <a:pt x="121296" y="96146"/>
                </a:lnTo>
                <a:lnTo>
                  <a:pt x="145843" y="81108"/>
                </a:lnTo>
                <a:lnTo>
                  <a:pt x="143568" y="72726"/>
                </a:lnTo>
                <a:lnTo>
                  <a:pt x="128840" y="47580"/>
                </a:lnTo>
                <a:lnTo>
                  <a:pt x="106568" y="23667"/>
                </a:lnTo>
                <a:lnTo>
                  <a:pt x="90164" y="31679"/>
                </a:lnTo>
                <a:lnTo>
                  <a:pt x="73760" y="0"/>
                </a:lnTo>
                <a:lnTo>
                  <a:pt x="53284" y="11464"/>
                </a:lnTo>
                <a:lnTo>
                  <a:pt x="65138" y="34514"/>
                </a:lnTo>
                <a:lnTo>
                  <a:pt x="45980" y="45608"/>
                </a:lnTo>
                <a:lnTo>
                  <a:pt x="32928" y="22804"/>
                </a:lnTo>
                <a:lnTo>
                  <a:pt x="0" y="43266"/>
                </a:lnTo>
                <a:lnTo>
                  <a:pt x="55559" y="14224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62" name="หมู่บ้านปรีชา 10"/>
          <p:cNvSpPr/>
          <p:nvPr/>
        </p:nvSpPr>
        <p:spPr>
          <a:xfrm>
            <a:off x="7599960" y="4718880"/>
            <a:ext cx="48960" cy="133200"/>
          </a:xfrm>
          <a:custGeom>
            <a:avLst/>
            <a:gdLst/>
            <a:ahLst/>
            <a:rect l="l" t="t" r="r" b="b"/>
            <a:pathLst>
              <a:path w="49453" h="133619">
                <a:moveTo>
                  <a:pt x="0" y="2465"/>
                </a:moveTo>
                <a:lnTo>
                  <a:pt x="45022" y="133619"/>
                </a:lnTo>
                <a:lnTo>
                  <a:pt x="49453" y="130661"/>
                </a:lnTo>
                <a:lnTo>
                  <a:pt x="47656" y="123511"/>
                </a:lnTo>
                <a:lnTo>
                  <a:pt x="5987" y="4068"/>
                </a:lnTo>
                <a:lnTo>
                  <a:pt x="3712" y="0"/>
                </a:lnTo>
                <a:lnTo>
                  <a:pt x="0" y="246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63" name="วังทองพัฒนา"/>
          <p:cNvSpPr/>
          <p:nvPr/>
        </p:nvSpPr>
        <p:spPr>
          <a:xfrm>
            <a:off x="7513920" y="4809600"/>
            <a:ext cx="202680" cy="133920"/>
          </a:xfrm>
          <a:custGeom>
            <a:avLst/>
            <a:gdLst/>
            <a:ahLst/>
            <a:rect l="l" t="t" r="r" b="b"/>
            <a:pathLst>
              <a:path w="203199" h="134112">
                <a:moveTo>
                  <a:pt x="13770" y="124744"/>
                </a:moveTo>
                <a:lnTo>
                  <a:pt x="0" y="131030"/>
                </a:lnTo>
                <a:lnTo>
                  <a:pt x="1916" y="134112"/>
                </a:lnTo>
                <a:lnTo>
                  <a:pt x="7783" y="130907"/>
                </a:lnTo>
                <a:lnTo>
                  <a:pt x="21673" y="127332"/>
                </a:lnTo>
                <a:lnTo>
                  <a:pt x="39873" y="101940"/>
                </a:lnTo>
                <a:lnTo>
                  <a:pt x="55080" y="97379"/>
                </a:lnTo>
                <a:lnTo>
                  <a:pt x="60708" y="113404"/>
                </a:lnTo>
                <a:lnTo>
                  <a:pt x="66336" y="120430"/>
                </a:lnTo>
                <a:lnTo>
                  <a:pt x="65737" y="124621"/>
                </a:lnTo>
                <a:lnTo>
                  <a:pt x="69808" y="124867"/>
                </a:lnTo>
                <a:lnTo>
                  <a:pt x="73520" y="129305"/>
                </a:lnTo>
                <a:lnTo>
                  <a:pt x="76634" y="126839"/>
                </a:lnTo>
                <a:lnTo>
                  <a:pt x="65857" y="112910"/>
                </a:lnTo>
                <a:lnTo>
                  <a:pt x="65737" y="109706"/>
                </a:lnTo>
                <a:lnTo>
                  <a:pt x="60469" y="107364"/>
                </a:lnTo>
                <a:lnTo>
                  <a:pt x="65378" y="100954"/>
                </a:lnTo>
                <a:lnTo>
                  <a:pt x="62265" y="90107"/>
                </a:lnTo>
                <a:lnTo>
                  <a:pt x="71365" y="85669"/>
                </a:lnTo>
                <a:lnTo>
                  <a:pt x="74957" y="91832"/>
                </a:lnTo>
                <a:lnTo>
                  <a:pt x="97468" y="79382"/>
                </a:lnTo>
                <a:lnTo>
                  <a:pt x="96870" y="73343"/>
                </a:lnTo>
                <a:lnTo>
                  <a:pt x="115429" y="64837"/>
                </a:lnTo>
                <a:lnTo>
                  <a:pt x="122254" y="76301"/>
                </a:lnTo>
                <a:lnTo>
                  <a:pt x="135067" y="67056"/>
                </a:lnTo>
                <a:lnTo>
                  <a:pt x="123691" y="56948"/>
                </a:lnTo>
                <a:lnTo>
                  <a:pt x="130876" y="54483"/>
                </a:lnTo>
                <a:lnTo>
                  <a:pt x="137461" y="44499"/>
                </a:lnTo>
                <a:lnTo>
                  <a:pt x="164044" y="24653"/>
                </a:lnTo>
                <a:lnTo>
                  <a:pt x="195894" y="8135"/>
                </a:lnTo>
                <a:lnTo>
                  <a:pt x="198409" y="7766"/>
                </a:lnTo>
                <a:lnTo>
                  <a:pt x="199846" y="11217"/>
                </a:lnTo>
                <a:lnTo>
                  <a:pt x="203199" y="9738"/>
                </a:lnTo>
                <a:lnTo>
                  <a:pt x="201163" y="0"/>
                </a:lnTo>
                <a:lnTo>
                  <a:pt x="135905" y="41787"/>
                </a:lnTo>
                <a:lnTo>
                  <a:pt x="126206" y="51401"/>
                </a:lnTo>
                <a:lnTo>
                  <a:pt x="56038" y="91216"/>
                </a:lnTo>
                <a:lnTo>
                  <a:pt x="42867" y="96516"/>
                </a:lnTo>
                <a:lnTo>
                  <a:pt x="37239" y="101200"/>
                </a:lnTo>
                <a:lnTo>
                  <a:pt x="26463" y="115253"/>
                </a:lnTo>
                <a:lnTo>
                  <a:pt x="13770" y="12474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64" name="หมู่บ้านสุภาวัลย์-เทพารักษ์"/>
          <p:cNvSpPr/>
          <p:nvPr/>
        </p:nvSpPr>
        <p:spPr>
          <a:xfrm>
            <a:off x="7534080" y="4752000"/>
            <a:ext cx="55440" cy="132840"/>
          </a:xfrm>
          <a:custGeom>
            <a:avLst/>
            <a:gdLst/>
            <a:ahLst/>
            <a:rect l="l" t="t" r="r" b="b"/>
            <a:pathLst>
              <a:path w="55799" h="133249">
                <a:moveTo>
                  <a:pt x="55799" y="128812"/>
                </a:moveTo>
                <a:lnTo>
                  <a:pt x="43226" y="101077"/>
                </a:lnTo>
                <a:lnTo>
                  <a:pt x="6825" y="0"/>
                </a:lnTo>
                <a:lnTo>
                  <a:pt x="0" y="3205"/>
                </a:lnTo>
                <a:lnTo>
                  <a:pt x="14489" y="40431"/>
                </a:lnTo>
                <a:lnTo>
                  <a:pt x="12812" y="41047"/>
                </a:lnTo>
                <a:lnTo>
                  <a:pt x="13890" y="45361"/>
                </a:lnTo>
                <a:lnTo>
                  <a:pt x="15327" y="45238"/>
                </a:lnTo>
                <a:lnTo>
                  <a:pt x="16524" y="49059"/>
                </a:lnTo>
                <a:lnTo>
                  <a:pt x="17841" y="48936"/>
                </a:lnTo>
                <a:lnTo>
                  <a:pt x="21194" y="56332"/>
                </a:lnTo>
                <a:lnTo>
                  <a:pt x="48495" y="133249"/>
                </a:lnTo>
                <a:lnTo>
                  <a:pt x="55799" y="12881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65" name="หมู่บ้านปรีชา 11"/>
          <p:cNvSpPr/>
          <p:nvPr/>
        </p:nvSpPr>
        <p:spPr>
          <a:xfrm>
            <a:off x="7444080" y="4530240"/>
            <a:ext cx="20880" cy="81360"/>
          </a:xfrm>
          <a:custGeom>
            <a:avLst/>
            <a:gdLst/>
            <a:ahLst/>
            <a:rect l="l" t="t" r="r" b="b"/>
            <a:pathLst>
              <a:path w="21074" h="81848">
                <a:moveTo>
                  <a:pt x="7184" y="62125"/>
                </a:moveTo>
                <a:lnTo>
                  <a:pt x="14608" y="14422"/>
                </a:lnTo>
                <a:lnTo>
                  <a:pt x="14848" y="370"/>
                </a:lnTo>
                <a:lnTo>
                  <a:pt x="9220" y="0"/>
                </a:lnTo>
                <a:lnTo>
                  <a:pt x="0" y="65084"/>
                </a:lnTo>
                <a:lnTo>
                  <a:pt x="9220" y="81231"/>
                </a:lnTo>
                <a:lnTo>
                  <a:pt x="21074" y="81848"/>
                </a:lnTo>
                <a:lnTo>
                  <a:pt x="9938" y="61016"/>
                </a:lnTo>
                <a:lnTo>
                  <a:pt x="7184" y="62125"/>
                </a:lnTo>
                <a:close/>
              </a:path>
            </a:pathLst>
          </a:custGeom>
          <a:solidFill>
            <a:srgbClr val="ded5c5"/>
          </a:solidFill>
          <a:ln w="6191">
            <a:solidFill>
              <a:srgbClr val="b5a68d"/>
            </a:solidFill>
            <a:round/>
          </a:ln>
        </p:spPr>
        <p:style>
          <a:lnRef idx="0"/>
          <a:fillRef idx="0"/>
          <a:effectRef idx="0"/>
          <a:fontRef idx="minor"/>
        </p:style>
        <p:txBody>
          <a:bodyPr lIns="90000" rIns="90000" tIns="36360" bIns="36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66" name="หมู่บ้านสินธานี 2"/>
          <p:cNvSpPr/>
          <p:nvPr/>
        </p:nvSpPr>
        <p:spPr>
          <a:xfrm>
            <a:off x="7402320" y="4553280"/>
            <a:ext cx="21960" cy="56880"/>
          </a:xfrm>
          <a:custGeom>
            <a:avLst/>
            <a:gdLst/>
            <a:ahLst/>
            <a:rect l="l" t="t" r="r" b="b"/>
            <a:pathLst>
              <a:path w="22272" h="57195">
                <a:moveTo>
                  <a:pt x="4430" y="56702"/>
                </a:moveTo>
                <a:lnTo>
                  <a:pt x="7304" y="57195"/>
                </a:lnTo>
                <a:lnTo>
                  <a:pt x="10657" y="55469"/>
                </a:lnTo>
                <a:lnTo>
                  <a:pt x="6466" y="44375"/>
                </a:lnTo>
                <a:lnTo>
                  <a:pt x="15087" y="42896"/>
                </a:lnTo>
                <a:lnTo>
                  <a:pt x="22272" y="13436"/>
                </a:lnTo>
                <a:lnTo>
                  <a:pt x="21074" y="0"/>
                </a:lnTo>
                <a:lnTo>
                  <a:pt x="5748" y="17627"/>
                </a:lnTo>
                <a:lnTo>
                  <a:pt x="0" y="26502"/>
                </a:lnTo>
                <a:lnTo>
                  <a:pt x="958" y="42773"/>
                </a:lnTo>
                <a:lnTo>
                  <a:pt x="4430" y="56702"/>
                </a:lnTo>
                <a:close/>
              </a:path>
            </a:pathLst>
          </a:custGeom>
          <a:solidFill>
            <a:srgbClr val="ded5c5"/>
          </a:solidFill>
          <a:ln w="6191">
            <a:solidFill>
              <a:srgbClr val="b5a68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67" name="นูรุ้ลพัฒนา"/>
          <p:cNvSpPr/>
          <p:nvPr/>
        </p:nvSpPr>
        <p:spPr>
          <a:xfrm>
            <a:off x="7769160" y="4992480"/>
            <a:ext cx="27000" cy="23760"/>
          </a:xfrm>
          <a:custGeom>
            <a:avLst/>
            <a:gdLst/>
            <a:ahLst/>
            <a:rect l="l" t="t" r="r" b="b"/>
            <a:pathLst>
              <a:path w="27420" h="24160">
                <a:moveTo>
                  <a:pt x="27420" y="0"/>
                </a:moveTo>
                <a:lnTo>
                  <a:pt x="958" y="3575"/>
                </a:lnTo>
                <a:lnTo>
                  <a:pt x="0" y="24160"/>
                </a:lnTo>
                <a:lnTo>
                  <a:pt x="26941" y="22927"/>
                </a:lnTo>
                <a:lnTo>
                  <a:pt x="27420" y="0"/>
                </a:lnTo>
                <a:close/>
              </a:path>
            </a:pathLst>
          </a:custGeom>
          <a:solidFill>
            <a:srgbClr val="ded5c5"/>
          </a:solidFill>
          <a:ln w="6191">
            <a:solidFill>
              <a:srgbClr val="b5a68d"/>
            </a:solidFill>
            <a:round/>
          </a:ln>
        </p:spPr>
        <p:style>
          <a:lnRef idx="0"/>
          <a:fillRef idx="0"/>
          <a:effectRef idx="0"/>
          <a:fontRef idx="minor"/>
        </p:style>
        <p:txBody>
          <a:bodyPr lIns="90000" rIns="90000" tIns="-21240" bIns="-21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68" name="สามัคคีคลองสองต้นนุ่น"/>
          <p:cNvSpPr/>
          <p:nvPr/>
        </p:nvSpPr>
        <p:spPr>
          <a:xfrm>
            <a:off x="7648560" y="4663440"/>
            <a:ext cx="66240" cy="187200"/>
          </a:xfrm>
          <a:custGeom>
            <a:avLst/>
            <a:gdLst/>
            <a:ahLst/>
            <a:rect l="l" t="t" r="r" b="b"/>
            <a:pathLst>
              <a:path w="66575" h="187609">
                <a:moveTo>
                  <a:pt x="19877" y="0"/>
                </a:moveTo>
                <a:lnTo>
                  <a:pt x="14249" y="3698"/>
                </a:lnTo>
                <a:lnTo>
                  <a:pt x="61067" y="148781"/>
                </a:lnTo>
                <a:lnTo>
                  <a:pt x="21912" y="173557"/>
                </a:lnTo>
                <a:lnTo>
                  <a:pt x="19518" y="169736"/>
                </a:lnTo>
                <a:lnTo>
                  <a:pt x="0" y="182678"/>
                </a:lnTo>
                <a:lnTo>
                  <a:pt x="1916" y="187609"/>
                </a:lnTo>
                <a:lnTo>
                  <a:pt x="66575" y="146315"/>
                </a:lnTo>
                <a:lnTo>
                  <a:pt x="49932" y="96763"/>
                </a:lnTo>
                <a:lnTo>
                  <a:pt x="44902" y="76917"/>
                </a:lnTo>
                <a:lnTo>
                  <a:pt x="33886" y="47087"/>
                </a:lnTo>
                <a:lnTo>
                  <a:pt x="46459" y="44252"/>
                </a:lnTo>
                <a:lnTo>
                  <a:pt x="43466" y="31309"/>
                </a:lnTo>
                <a:lnTo>
                  <a:pt x="30294" y="35007"/>
                </a:lnTo>
                <a:lnTo>
                  <a:pt x="19877"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69" name="หมู่บ้านพนาสนธิ์วิลล่า 3"/>
          <p:cNvSpPr/>
          <p:nvPr/>
        </p:nvSpPr>
        <p:spPr>
          <a:xfrm>
            <a:off x="7658280" y="4343400"/>
            <a:ext cx="80280" cy="35280"/>
          </a:xfrm>
          <a:custGeom>
            <a:avLst/>
            <a:gdLst/>
            <a:ahLst/>
            <a:rect l="l" t="t" r="r" b="b"/>
            <a:pathLst>
              <a:path w="80585" h="35747">
                <a:moveTo>
                  <a:pt x="120" y="33651"/>
                </a:moveTo>
                <a:lnTo>
                  <a:pt x="0" y="35747"/>
                </a:lnTo>
                <a:lnTo>
                  <a:pt x="75915" y="7766"/>
                </a:lnTo>
                <a:lnTo>
                  <a:pt x="75795" y="6040"/>
                </a:lnTo>
                <a:lnTo>
                  <a:pt x="80585" y="4314"/>
                </a:lnTo>
                <a:lnTo>
                  <a:pt x="78909" y="0"/>
                </a:lnTo>
                <a:lnTo>
                  <a:pt x="239" y="29460"/>
                </a:lnTo>
                <a:lnTo>
                  <a:pt x="120" y="33651"/>
                </a:lnTo>
                <a:close/>
              </a:path>
            </a:pathLst>
          </a:custGeom>
          <a:solidFill>
            <a:srgbClr val="ded5c5"/>
          </a:solidFill>
          <a:ln w="6191">
            <a:solidFill>
              <a:srgbClr val="b5a68d"/>
            </a:solidFill>
            <a:round/>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70" name="บ้านคูคตพัฒนา"/>
          <p:cNvSpPr/>
          <p:nvPr/>
        </p:nvSpPr>
        <p:spPr>
          <a:xfrm>
            <a:off x="7361280" y="4504320"/>
            <a:ext cx="56880" cy="76320"/>
          </a:xfrm>
          <a:custGeom>
            <a:avLst/>
            <a:gdLst/>
            <a:ahLst/>
            <a:rect l="l" t="t" r="r" b="b"/>
            <a:pathLst>
              <a:path w="57355" h="76671">
                <a:moveTo>
                  <a:pt x="26223" y="74082"/>
                </a:moveTo>
                <a:lnTo>
                  <a:pt x="29815" y="71863"/>
                </a:lnTo>
                <a:lnTo>
                  <a:pt x="32689" y="76671"/>
                </a:lnTo>
                <a:lnTo>
                  <a:pt x="41789" y="72356"/>
                </a:lnTo>
                <a:lnTo>
                  <a:pt x="57355" y="52387"/>
                </a:lnTo>
                <a:lnTo>
                  <a:pt x="55919" y="49306"/>
                </a:lnTo>
                <a:lnTo>
                  <a:pt x="53763" y="50169"/>
                </a:lnTo>
                <a:lnTo>
                  <a:pt x="41191" y="18736"/>
                </a:lnTo>
                <a:lnTo>
                  <a:pt x="42388" y="16394"/>
                </a:lnTo>
                <a:lnTo>
                  <a:pt x="38796" y="10847"/>
                </a:lnTo>
                <a:lnTo>
                  <a:pt x="53404" y="9491"/>
                </a:lnTo>
                <a:lnTo>
                  <a:pt x="51129" y="0"/>
                </a:lnTo>
                <a:lnTo>
                  <a:pt x="11735" y="5670"/>
                </a:lnTo>
                <a:lnTo>
                  <a:pt x="9699" y="13682"/>
                </a:lnTo>
                <a:lnTo>
                  <a:pt x="4790" y="16764"/>
                </a:lnTo>
                <a:lnTo>
                  <a:pt x="0" y="25762"/>
                </a:lnTo>
                <a:lnTo>
                  <a:pt x="958" y="27118"/>
                </a:lnTo>
                <a:lnTo>
                  <a:pt x="5748" y="26255"/>
                </a:lnTo>
                <a:lnTo>
                  <a:pt x="12453" y="42033"/>
                </a:lnTo>
                <a:lnTo>
                  <a:pt x="11735" y="43512"/>
                </a:lnTo>
                <a:lnTo>
                  <a:pt x="26223" y="74082"/>
                </a:lnTo>
                <a:close/>
              </a:path>
            </a:pathLst>
          </a:custGeom>
          <a:solidFill>
            <a:srgbClr val="ded5c5"/>
          </a:solidFill>
          <a:ln w="6191">
            <a:solidFill>
              <a:srgbClr val="b5a68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71" name="มัสยิดอัตตั๊กวาพัฒนา"/>
          <p:cNvSpPr/>
          <p:nvPr/>
        </p:nvSpPr>
        <p:spPr>
          <a:xfrm>
            <a:off x="7714800" y="4784760"/>
            <a:ext cx="75960" cy="156600"/>
          </a:xfrm>
          <a:custGeom>
            <a:avLst/>
            <a:gdLst/>
            <a:ahLst/>
            <a:rect l="l" t="t" r="r" b="b"/>
            <a:pathLst>
              <a:path w="76394" h="156793">
                <a:moveTo>
                  <a:pt x="53284" y="141508"/>
                </a:moveTo>
                <a:lnTo>
                  <a:pt x="46938" y="125853"/>
                </a:lnTo>
                <a:lnTo>
                  <a:pt x="36042" y="128319"/>
                </a:lnTo>
                <a:lnTo>
                  <a:pt x="35922" y="127086"/>
                </a:lnTo>
                <a:lnTo>
                  <a:pt x="48974" y="123758"/>
                </a:lnTo>
                <a:lnTo>
                  <a:pt x="46818" y="120923"/>
                </a:lnTo>
                <a:lnTo>
                  <a:pt x="43585" y="121169"/>
                </a:lnTo>
                <a:lnTo>
                  <a:pt x="42747" y="115622"/>
                </a:lnTo>
                <a:lnTo>
                  <a:pt x="38436" y="110075"/>
                </a:lnTo>
                <a:lnTo>
                  <a:pt x="27780" y="87764"/>
                </a:lnTo>
                <a:lnTo>
                  <a:pt x="43226" y="84436"/>
                </a:lnTo>
                <a:lnTo>
                  <a:pt x="41071" y="74575"/>
                </a:lnTo>
                <a:lnTo>
                  <a:pt x="76394" y="67179"/>
                </a:lnTo>
                <a:lnTo>
                  <a:pt x="57475" y="14052"/>
                </a:lnTo>
                <a:lnTo>
                  <a:pt x="37598" y="0"/>
                </a:lnTo>
                <a:lnTo>
                  <a:pt x="0" y="24899"/>
                </a:lnTo>
                <a:lnTo>
                  <a:pt x="17482" y="82218"/>
                </a:lnTo>
                <a:lnTo>
                  <a:pt x="6346" y="87148"/>
                </a:lnTo>
                <a:lnTo>
                  <a:pt x="7544" y="90723"/>
                </a:lnTo>
                <a:lnTo>
                  <a:pt x="16404" y="88134"/>
                </a:lnTo>
                <a:lnTo>
                  <a:pt x="19997" y="97995"/>
                </a:lnTo>
                <a:lnTo>
                  <a:pt x="14129" y="98489"/>
                </a:lnTo>
                <a:lnTo>
                  <a:pt x="11615" y="103419"/>
                </a:lnTo>
                <a:lnTo>
                  <a:pt x="27780" y="154327"/>
                </a:lnTo>
                <a:lnTo>
                  <a:pt x="41909" y="153465"/>
                </a:lnTo>
                <a:lnTo>
                  <a:pt x="43585" y="156793"/>
                </a:lnTo>
                <a:lnTo>
                  <a:pt x="51488" y="155314"/>
                </a:lnTo>
                <a:lnTo>
                  <a:pt x="53524" y="150013"/>
                </a:lnTo>
                <a:lnTo>
                  <a:pt x="53284" y="14150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72" name="หมู่บ้านอัญชลี"/>
          <p:cNvSpPr/>
          <p:nvPr/>
        </p:nvSpPr>
        <p:spPr>
          <a:xfrm>
            <a:off x="7477560" y="4453560"/>
            <a:ext cx="69120" cy="5400"/>
          </a:xfrm>
          <a:custGeom>
            <a:avLst/>
            <a:gdLst/>
            <a:ahLst/>
            <a:rect l="l" t="t" r="r" b="b"/>
            <a:pathLst>
              <a:path w="69569" h="5917">
                <a:moveTo>
                  <a:pt x="69569" y="4561"/>
                </a:moveTo>
                <a:lnTo>
                  <a:pt x="68970" y="0"/>
                </a:lnTo>
                <a:lnTo>
                  <a:pt x="0" y="1726"/>
                </a:lnTo>
                <a:lnTo>
                  <a:pt x="359" y="5917"/>
                </a:lnTo>
                <a:lnTo>
                  <a:pt x="69569" y="4561"/>
                </a:lnTo>
                <a:close/>
              </a:path>
            </a:pathLst>
          </a:custGeom>
          <a:solidFill>
            <a:srgbClr val="ded5c5"/>
          </a:solidFill>
          <a:ln w="6191">
            <a:solidFill>
              <a:srgbClr val="b5a68d"/>
            </a:solidFill>
            <a:round/>
          </a:ln>
        </p:spPr>
        <p:style>
          <a:lnRef idx="0"/>
          <a:fillRef idx="0"/>
          <a:effectRef idx="0"/>
          <a:fontRef idx="minor"/>
        </p:style>
        <p:txBody>
          <a:bodyPr lIns="90000" rIns="90000" tIns="-39600" bIns="-39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73" name="หมู่บ้านรุ่งเจริญ 2"/>
          <p:cNvSpPr/>
          <p:nvPr/>
        </p:nvSpPr>
        <p:spPr>
          <a:xfrm>
            <a:off x="6523920" y="6246720"/>
            <a:ext cx="25560" cy="18000"/>
          </a:xfrm>
          <a:custGeom>
            <a:avLst/>
            <a:gdLst/>
            <a:ahLst/>
            <a:rect l="l" t="t" r="r" b="b"/>
            <a:pathLst>
              <a:path w="25864" h="18243">
                <a:moveTo>
                  <a:pt x="25864" y="9122"/>
                </a:moveTo>
                <a:lnTo>
                  <a:pt x="22990" y="0"/>
                </a:lnTo>
                <a:lnTo>
                  <a:pt x="0" y="9615"/>
                </a:lnTo>
                <a:lnTo>
                  <a:pt x="2874" y="18243"/>
                </a:lnTo>
                <a:lnTo>
                  <a:pt x="25864" y="9122"/>
                </a:lnTo>
                <a:close/>
              </a:path>
            </a:pathLst>
          </a:custGeom>
          <a:solidFill>
            <a:srgbClr val="ded5c5"/>
          </a:solidFill>
          <a:ln w="6191">
            <a:solidFill>
              <a:srgbClr val="b5a68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74" name="หมู่บ้านรุ่งอรุณ"/>
          <p:cNvSpPr/>
          <p:nvPr/>
        </p:nvSpPr>
        <p:spPr>
          <a:xfrm>
            <a:off x="6495120" y="6031800"/>
            <a:ext cx="39960" cy="17640"/>
          </a:xfrm>
          <a:custGeom>
            <a:avLst/>
            <a:gdLst/>
            <a:ahLst/>
            <a:rect l="l" t="t" r="r" b="b"/>
            <a:pathLst>
              <a:path w="40233" h="18120">
                <a:moveTo>
                  <a:pt x="1197" y="18120"/>
                </a:moveTo>
                <a:lnTo>
                  <a:pt x="40233" y="3698"/>
                </a:lnTo>
                <a:lnTo>
                  <a:pt x="38077" y="0"/>
                </a:lnTo>
                <a:lnTo>
                  <a:pt x="19518" y="7273"/>
                </a:lnTo>
                <a:lnTo>
                  <a:pt x="18560" y="5177"/>
                </a:lnTo>
                <a:lnTo>
                  <a:pt x="0" y="13313"/>
                </a:lnTo>
                <a:lnTo>
                  <a:pt x="1197" y="18120"/>
                </a:lnTo>
                <a:close/>
              </a:path>
            </a:pathLst>
          </a:custGeom>
          <a:solidFill>
            <a:srgbClr val="ded5c5"/>
          </a:solidFill>
          <a:ln w="6191">
            <a:solidFill>
              <a:srgbClr val="b5a68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75" name="หมู่บ้านไทยวันดี"/>
          <p:cNvSpPr/>
          <p:nvPr/>
        </p:nvSpPr>
        <p:spPr>
          <a:xfrm>
            <a:off x="6486840" y="6062760"/>
            <a:ext cx="62640" cy="27000"/>
          </a:xfrm>
          <a:custGeom>
            <a:avLst/>
            <a:gdLst/>
            <a:ahLst/>
            <a:rect l="l" t="t" r="r" b="b"/>
            <a:pathLst>
              <a:path w="63103" h="27488">
                <a:moveTo>
                  <a:pt x="0" y="22434"/>
                </a:moveTo>
                <a:lnTo>
                  <a:pt x="1796" y="27488"/>
                </a:lnTo>
                <a:lnTo>
                  <a:pt x="60229" y="5547"/>
                </a:lnTo>
                <a:lnTo>
                  <a:pt x="60708" y="7026"/>
                </a:lnTo>
                <a:lnTo>
                  <a:pt x="63103" y="6287"/>
                </a:lnTo>
                <a:lnTo>
                  <a:pt x="61546" y="0"/>
                </a:lnTo>
                <a:lnTo>
                  <a:pt x="0" y="22434"/>
                </a:lnTo>
                <a:close/>
              </a:path>
            </a:pathLst>
          </a:custGeom>
          <a:solidFill>
            <a:srgbClr val="ded5c5"/>
          </a:solidFill>
          <a:ln w="6191">
            <a:solidFill>
              <a:srgbClr val="b5a68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76" name="บาางชันพัฒนา"/>
          <p:cNvSpPr/>
          <p:nvPr/>
        </p:nvSpPr>
        <p:spPr>
          <a:xfrm>
            <a:off x="7308360" y="4685400"/>
            <a:ext cx="37800" cy="47520"/>
          </a:xfrm>
          <a:custGeom>
            <a:avLst/>
            <a:gdLst/>
            <a:ahLst/>
            <a:rect l="l" t="t" r="r" b="b"/>
            <a:pathLst>
              <a:path w="38317" h="47703">
                <a:moveTo>
                  <a:pt x="38317" y="16764"/>
                </a:moveTo>
                <a:lnTo>
                  <a:pt x="31013" y="1479"/>
                </a:lnTo>
                <a:lnTo>
                  <a:pt x="28259" y="0"/>
                </a:lnTo>
                <a:lnTo>
                  <a:pt x="19039" y="863"/>
                </a:lnTo>
                <a:lnTo>
                  <a:pt x="10657" y="16394"/>
                </a:lnTo>
                <a:lnTo>
                  <a:pt x="0" y="28967"/>
                </a:lnTo>
                <a:lnTo>
                  <a:pt x="8382" y="42773"/>
                </a:lnTo>
                <a:lnTo>
                  <a:pt x="14249" y="47703"/>
                </a:lnTo>
                <a:lnTo>
                  <a:pt x="27780" y="33651"/>
                </a:lnTo>
                <a:lnTo>
                  <a:pt x="25026" y="28104"/>
                </a:lnTo>
                <a:lnTo>
                  <a:pt x="38317" y="16764"/>
                </a:lnTo>
                <a:close/>
              </a:path>
            </a:pathLst>
          </a:custGeom>
          <a:solidFill>
            <a:srgbClr val="ded5c5"/>
          </a:solidFill>
          <a:ln w="6191">
            <a:solidFill>
              <a:srgbClr val="b5a68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77" name="ชุมชนหมู่บ้านประสิทธิ์"/>
          <p:cNvSpPr/>
          <p:nvPr/>
        </p:nvSpPr>
        <p:spPr>
          <a:xfrm>
            <a:off x="5949000" y="4743360"/>
            <a:ext cx="19080" cy="16560"/>
          </a:xfrm>
          <a:custGeom>
            <a:avLst/>
            <a:gdLst/>
            <a:ahLst/>
            <a:rect l="l" t="t" r="r" b="b"/>
            <a:pathLst>
              <a:path w="19278" h="16887">
                <a:moveTo>
                  <a:pt x="0" y="8135"/>
                </a:moveTo>
                <a:lnTo>
                  <a:pt x="2036" y="16887"/>
                </a:lnTo>
                <a:lnTo>
                  <a:pt x="19278" y="14668"/>
                </a:lnTo>
                <a:lnTo>
                  <a:pt x="15446" y="0"/>
                </a:lnTo>
                <a:lnTo>
                  <a:pt x="599" y="2589"/>
                </a:lnTo>
                <a:lnTo>
                  <a:pt x="1197" y="7519"/>
                </a:lnTo>
                <a:lnTo>
                  <a:pt x="0" y="8135"/>
                </a:lnTo>
                <a:close/>
              </a:path>
            </a:pathLst>
          </a:custGeom>
          <a:solidFill>
            <a:srgbClr val="ded5c5"/>
          </a:solidFill>
          <a:ln w="6191">
            <a:solidFill>
              <a:srgbClr val="b5a68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78" name="สวนสมเด็จย่า"/>
          <p:cNvSpPr/>
          <p:nvPr/>
        </p:nvSpPr>
        <p:spPr>
          <a:xfrm>
            <a:off x="4878720" y="5535720"/>
            <a:ext cx="52200" cy="44640"/>
          </a:xfrm>
          <a:custGeom>
            <a:avLst/>
            <a:gdLst/>
            <a:ahLst/>
            <a:rect l="l" t="t" r="r" b="b"/>
            <a:pathLst>
              <a:path w="52686" h="44992">
                <a:moveTo>
                  <a:pt x="21673" y="1356"/>
                </a:moveTo>
                <a:lnTo>
                  <a:pt x="15566" y="0"/>
                </a:lnTo>
                <a:lnTo>
                  <a:pt x="0" y="37719"/>
                </a:lnTo>
                <a:lnTo>
                  <a:pt x="2515" y="37349"/>
                </a:lnTo>
                <a:lnTo>
                  <a:pt x="14967" y="41540"/>
                </a:lnTo>
                <a:lnTo>
                  <a:pt x="19518" y="44992"/>
                </a:lnTo>
                <a:lnTo>
                  <a:pt x="28977" y="32172"/>
                </a:lnTo>
                <a:lnTo>
                  <a:pt x="52686" y="8259"/>
                </a:lnTo>
                <a:lnTo>
                  <a:pt x="44902" y="5670"/>
                </a:lnTo>
                <a:lnTo>
                  <a:pt x="23828" y="24899"/>
                </a:lnTo>
                <a:lnTo>
                  <a:pt x="21314" y="22804"/>
                </a:lnTo>
                <a:lnTo>
                  <a:pt x="23110" y="20585"/>
                </a:lnTo>
                <a:lnTo>
                  <a:pt x="16764" y="15408"/>
                </a:lnTo>
                <a:lnTo>
                  <a:pt x="23349" y="4191"/>
                </a:lnTo>
                <a:lnTo>
                  <a:pt x="23708" y="986"/>
                </a:lnTo>
                <a:lnTo>
                  <a:pt x="21673" y="1356"/>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79" name="ชาวประชาท่าดินแดง"/>
          <p:cNvSpPr/>
          <p:nvPr/>
        </p:nvSpPr>
        <p:spPr>
          <a:xfrm>
            <a:off x="4928760" y="5619960"/>
            <a:ext cx="17280" cy="13320"/>
          </a:xfrm>
          <a:custGeom>
            <a:avLst/>
            <a:gdLst/>
            <a:ahLst/>
            <a:rect l="l" t="t" r="r" b="b"/>
            <a:pathLst>
              <a:path w="17602" h="13559">
                <a:moveTo>
                  <a:pt x="6346" y="0"/>
                </a:moveTo>
                <a:lnTo>
                  <a:pt x="5748" y="1972"/>
                </a:lnTo>
                <a:lnTo>
                  <a:pt x="2275" y="986"/>
                </a:lnTo>
                <a:lnTo>
                  <a:pt x="0" y="7766"/>
                </a:lnTo>
                <a:lnTo>
                  <a:pt x="1916" y="8505"/>
                </a:lnTo>
                <a:lnTo>
                  <a:pt x="1317" y="10847"/>
                </a:lnTo>
                <a:lnTo>
                  <a:pt x="6466" y="13559"/>
                </a:lnTo>
                <a:lnTo>
                  <a:pt x="6945" y="12203"/>
                </a:lnTo>
                <a:lnTo>
                  <a:pt x="11375" y="13559"/>
                </a:lnTo>
                <a:lnTo>
                  <a:pt x="11854" y="11833"/>
                </a:lnTo>
                <a:lnTo>
                  <a:pt x="13650" y="12450"/>
                </a:lnTo>
                <a:lnTo>
                  <a:pt x="17602" y="4068"/>
                </a:lnTo>
                <a:lnTo>
                  <a:pt x="6346" y="0"/>
                </a:lnTo>
                <a:close/>
              </a:path>
            </a:pathLst>
          </a:custGeom>
          <a:solidFill>
            <a:srgbClr val="ded5c5"/>
          </a:solidFill>
          <a:ln w="6191">
            <a:solidFill>
              <a:srgbClr val="b5a68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80" name="ซอยท่าดินแดง 14 และ ท่าดินแดง 16"/>
          <p:cNvSpPr/>
          <p:nvPr/>
        </p:nvSpPr>
        <p:spPr>
          <a:xfrm>
            <a:off x="4949640" y="5566680"/>
            <a:ext cx="32040" cy="28440"/>
          </a:xfrm>
          <a:custGeom>
            <a:avLst/>
            <a:gdLst/>
            <a:ahLst/>
            <a:rect l="l" t="t" r="r" b="b"/>
            <a:pathLst>
              <a:path w="32450" h="28967">
                <a:moveTo>
                  <a:pt x="29097" y="7273"/>
                </a:moveTo>
                <a:lnTo>
                  <a:pt x="31132" y="5917"/>
                </a:lnTo>
                <a:lnTo>
                  <a:pt x="27660" y="0"/>
                </a:lnTo>
                <a:lnTo>
                  <a:pt x="0" y="19106"/>
                </a:lnTo>
                <a:lnTo>
                  <a:pt x="3353" y="28967"/>
                </a:lnTo>
                <a:lnTo>
                  <a:pt x="13531" y="23913"/>
                </a:lnTo>
                <a:lnTo>
                  <a:pt x="11854" y="20462"/>
                </a:lnTo>
                <a:lnTo>
                  <a:pt x="13890" y="19353"/>
                </a:lnTo>
                <a:lnTo>
                  <a:pt x="15446" y="22804"/>
                </a:lnTo>
                <a:lnTo>
                  <a:pt x="19158" y="20585"/>
                </a:lnTo>
                <a:lnTo>
                  <a:pt x="17003" y="16024"/>
                </a:lnTo>
                <a:lnTo>
                  <a:pt x="18679" y="15038"/>
                </a:lnTo>
                <a:lnTo>
                  <a:pt x="20954" y="19229"/>
                </a:lnTo>
                <a:lnTo>
                  <a:pt x="32450" y="12450"/>
                </a:lnTo>
                <a:lnTo>
                  <a:pt x="29097" y="7273"/>
                </a:lnTo>
                <a:close/>
              </a:path>
            </a:pathLst>
          </a:custGeom>
          <a:solidFill>
            <a:srgbClr val="ded5c5"/>
          </a:solidFill>
          <a:ln w="6191">
            <a:solidFill>
              <a:srgbClr val="b5a68d"/>
            </a:solidFill>
            <a:round/>
          </a:ln>
        </p:spPr>
        <p:style>
          <a:lnRef idx="0"/>
          <a:fillRef idx="0"/>
          <a:effectRef idx="0"/>
          <a:fontRef idx="minor"/>
        </p:style>
        <p:txBody>
          <a:bodyPr lIns="90000" rIns="90000" tIns="-16560" bIns="-16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81" name="วัดบัวผัน"/>
          <p:cNvSpPr/>
          <p:nvPr/>
        </p:nvSpPr>
        <p:spPr>
          <a:xfrm>
            <a:off x="4326840" y="6942240"/>
            <a:ext cx="359640" cy="245160"/>
          </a:xfrm>
          <a:custGeom>
            <a:avLst/>
            <a:gdLst/>
            <a:ahLst/>
            <a:rect l="l" t="t" r="r" b="b"/>
            <a:pathLst>
              <a:path w="359938" h="245667">
                <a:moveTo>
                  <a:pt x="323657" y="70014"/>
                </a:moveTo>
                <a:lnTo>
                  <a:pt x="324016" y="56209"/>
                </a:lnTo>
                <a:lnTo>
                  <a:pt x="321262" y="51401"/>
                </a:lnTo>
                <a:lnTo>
                  <a:pt x="312282" y="49552"/>
                </a:lnTo>
                <a:lnTo>
                  <a:pt x="295518" y="49676"/>
                </a:lnTo>
                <a:lnTo>
                  <a:pt x="284382" y="36856"/>
                </a:lnTo>
                <a:lnTo>
                  <a:pt x="272049" y="27118"/>
                </a:lnTo>
                <a:lnTo>
                  <a:pt x="269894" y="16764"/>
                </a:lnTo>
                <a:lnTo>
                  <a:pt x="246784" y="0"/>
                </a:lnTo>
                <a:lnTo>
                  <a:pt x="240198" y="2095"/>
                </a:lnTo>
                <a:lnTo>
                  <a:pt x="228464" y="12696"/>
                </a:lnTo>
                <a:lnTo>
                  <a:pt x="216729" y="19106"/>
                </a:lnTo>
                <a:lnTo>
                  <a:pt x="207150" y="49429"/>
                </a:lnTo>
                <a:lnTo>
                  <a:pt x="175898" y="72603"/>
                </a:lnTo>
                <a:lnTo>
                  <a:pt x="175778" y="75808"/>
                </a:lnTo>
                <a:lnTo>
                  <a:pt x="180568" y="89244"/>
                </a:lnTo>
                <a:lnTo>
                  <a:pt x="178652" y="94051"/>
                </a:lnTo>
                <a:lnTo>
                  <a:pt x="151112" y="97995"/>
                </a:lnTo>
                <a:lnTo>
                  <a:pt x="149675" y="102556"/>
                </a:lnTo>
                <a:lnTo>
                  <a:pt x="62983" y="110445"/>
                </a:lnTo>
                <a:lnTo>
                  <a:pt x="15446" y="116362"/>
                </a:lnTo>
                <a:lnTo>
                  <a:pt x="17123" y="132879"/>
                </a:lnTo>
                <a:lnTo>
                  <a:pt x="1916" y="150260"/>
                </a:lnTo>
                <a:lnTo>
                  <a:pt x="0" y="158395"/>
                </a:lnTo>
                <a:lnTo>
                  <a:pt x="4191" y="163819"/>
                </a:lnTo>
                <a:lnTo>
                  <a:pt x="3712" y="171461"/>
                </a:lnTo>
                <a:lnTo>
                  <a:pt x="11735" y="192293"/>
                </a:lnTo>
                <a:lnTo>
                  <a:pt x="12213" y="197963"/>
                </a:lnTo>
                <a:lnTo>
                  <a:pt x="20356" y="207948"/>
                </a:lnTo>
                <a:lnTo>
                  <a:pt x="22152" y="218302"/>
                </a:lnTo>
                <a:lnTo>
                  <a:pt x="32450" y="219658"/>
                </a:lnTo>
                <a:lnTo>
                  <a:pt x="31851" y="222493"/>
                </a:lnTo>
                <a:lnTo>
                  <a:pt x="33407" y="224835"/>
                </a:lnTo>
                <a:lnTo>
                  <a:pt x="34725" y="223356"/>
                </a:lnTo>
                <a:lnTo>
                  <a:pt x="37239" y="225574"/>
                </a:lnTo>
                <a:lnTo>
                  <a:pt x="37598" y="230752"/>
                </a:lnTo>
                <a:lnTo>
                  <a:pt x="40951" y="231738"/>
                </a:lnTo>
                <a:lnTo>
                  <a:pt x="50410" y="228656"/>
                </a:lnTo>
                <a:lnTo>
                  <a:pt x="54003" y="232847"/>
                </a:lnTo>
                <a:lnTo>
                  <a:pt x="68850" y="236422"/>
                </a:lnTo>
                <a:lnTo>
                  <a:pt x="72682" y="239503"/>
                </a:lnTo>
                <a:lnTo>
                  <a:pt x="79866" y="238517"/>
                </a:lnTo>
                <a:lnTo>
                  <a:pt x="85255" y="232847"/>
                </a:lnTo>
                <a:lnTo>
                  <a:pt x="95073" y="234080"/>
                </a:lnTo>
                <a:lnTo>
                  <a:pt x="103814" y="228163"/>
                </a:lnTo>
                <a:lnTo>
                  <a:pt x="119021" y="233094"/>
                </a:lnTo>
                <a:lnTo>
                  <a:pt x="129199" y="222739"/>
                </a:lnTo>
                <a:lnTo>
                  <a:pt x="140814" y="218425"/>
                </a:lnTo>
                <a:lnTo>
                  <a:pt x="147998" y="220767"/>
                </a:lnTo>
                <a:lnTo>
                  <a:pt x="152668" y="225574"/>
                </a:lnTo>
                <a:lnTo>
                  <a:pt x="153147" y="229765"/>
                </a:lnTo>
                <a:lnTo>
                  <a:pt x="161649" y="236422"/>
                </a:lnTo>
                <a:lnTo>
                  <a:pt x="165241" y="244927"/>
                </a:lnTo>
                <a:lnTo>
                  <a:pt x="168594" y="245667"/>
                </a:lnTo>
                <a:lnTo>
                  <a:pt x="178772" y="239010"/>
                </a:lnTo>
                <a:lnTo>
                  <a:pt x="182723" y="234080"/>
                </a:lnTo>
                <a:lnTo>
                  <a:pt x="185238" y="226191"/>
                </a:lnTo>
                <a:lnTo>
                  <a:pt x="216849" y="236422"/>
                </a:lnTo>
                <a:lnTo>
                  <a:pt x="222357" y="236915"/>
                </a:lnTo>
                <a:lnTo>
                  <a:pt x="229302" y="243448"/>
                </a:lnTo>
                <a:lnTo>
                  <a:pt x="231098" y="243448"/>
                </a:lnTo>
                <a:lnTo>
                  <a:pt x="243790" y="230752"/>
                </a:lnTo>
                <a:lnTo>
                  <a:pt x="243790" y="224095"/>
                </a:lnTo>
                <a:lnTo>
                  <a:pt x="239360" y="217562"/>
                </a:lnTo>
                <a:lnTo>
                  <a:pt x="237923" y="213125"/>
                </a:lnTo>
                <a:lnTo>
                  <a:pt x="239001" y="211522"/>
                </a:lnTo>
                <a:lnTo>
                  <a:pt x="242593" y="210290"/>
                </a:lnTo>
                <a:lnTo>
                  <a:pt x="264386" y="220397"/>
                </a:lnTo>
                <a:lnTo>
                  <a:pt x="271450" y="217932"/>
                </a:lnTo>
                <a:lnTo>
                  <a:pt x="278515" y="210290"/>
                </a:lnTo>
                <a:lnTo>
                  <a:pt x="296236" y="206838"/>
                </a:lnTo>
                <a:lnTo>
                  <a:pt x="302822" y="208071"/>
                </a:lnTo>
                <a:lnTo>
                  <a:pt x="321262" y="222123"/>
                </a:lnTo>
                <a:lnTo>
                  <a:pt x="330841" y="223109"/>
                </a:lnTo>
                <a:lnTo>
                  <a:pt x="333835" y="220274"/>
                </a:lnTo>
                <a:lnTo>
                  <a:pt x="336110" y="214850"/>
                </a:lnTo>
                <a:lnTo>
                  <a:pt x="333835" y="213125"/>
                </a:lnTo>
                <a:lnTo>
                  <a:pt x="333835" y="202894"/>
                </a:lnTo>
                <a:lnTo>
                  <a:pt x="347605" y="180213"/>
                </a:lnTo>
                <a:lnTo>
                  <a:pt x="352275" y="153341"/>
                </a:lnTo>
                <a:lnTo>
                  <a:pt x="359938" y="140522"/>
                </a:lnTo>
                <a:lnTo>
                  <a:pt x="357902" y="117595"/>
                </a:lnTo>
                <a:lnTo>
                  <a:pt x="359579" y="107117"/>
                </a:lnTo>
                <a:lnTo>
                  <a:pt x="354071" y="92449"/>
                </a:lnTo>
                <a:lnTo>
                  <a:pt x="339822" y="74329"/>
                </a:lnTo>
                <a:lnTo>
                  <a:pt x="326650" y="72849"/>
                </a:lnTo>
                <a:lnTo>
                  <a:pt x="323657" y="7001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82" name="หลังโรงภาพยนตร์ไทยราม่า"/>
          <p:cNvSpPr/>
          <p:nvPr/>
        </p:nvSpPr>
        <p:spPr>
          <a:xfrm>
            <a:off x="4817160" y="5697360"/>
            <a:ext cx="27360" cy="26280"/>
          </a:xfrm>
          <a:custGeom>
            <a:avLst/>
            <a:gdLst/>
            <a:ahLst/>
            <a:rect l="l" t="t" r="r" b="b"/>
            <a:pathLst>
              <a:path w="27899" h="26502">
                <a:moveTo>
                  <a:pt x="16644" y="11464"/>
                </a:moveTo>
                <a:lnTo>
                  <a:pt x="21314" y="8752"/>
                </a:lnTo>
                <a:lnTo>
                  <a:pt x="24068" y="13436"/>
                </a:lnTo>
                <a:lnTo>
                  <a:pt x="26941" y="11833"/>
                </a:lnTo>
                <a:lnTo>
                  <a:pt x="25984" y="9738"/>
                </a:lnTo>
                <a:lnTo>
                  <a:pt x="27899" y="8629"/>
                </a:lnTo>
                <a:lnTo>
                  <a:pt x="21433" y="0"/>
                </a:lnTo>
                <a:lnTo>
                  <a:pt x="10058" y="7026"/>
                </a:lnTo>
                <a:lnTo>
                  <a:pt x="12213" y="11464"/>
                </a:lnTo>
                <a:lnTo>
                  <a:pt x="8741" y="13559"/>
                </a:lnTo>
                <a:lnTo>
                  <a:pt x="5987" y="8998"/>
                </a:lnTo>
                <a:lnTo>
                  <a:pt x="359" y="12573"/>
                </a:lnTo>
                <a:lnTo>
                  <a:pt x="1437" y="15531"/>
                </a:lnTo>
                <a:lnTo>
                  <a:pt x="0" y="16271"/>
                </a:lnTo>
                <a:lnTo>
                  <a:pt x="2155" y="20832"/>
                </a:lnTo>
                <a:lnTo>
                  <a:pt x="5269" y="21571"/>
                </a:lnTo>
                <a:lnTo>
                  <a:pt x="7783" y="26502"/>
                </a:lnTo>
                <a:lnTo>
                  <a:pt x="12932" y="25146"/>
                </a:lnTo>
                <a:lnTo>
                  <a:pt x="19398" y="22434"/>
                </a:lnTo>
                <a:lnTo>
                  <a:pt x="17961" y="17257"/>
                </a:lnTo>
                <a:lnTo>
                  <a:pt x="19398" y="16641"/>
                </a:lnTo>
                <a:lnTo>
                  <a:pt x="16644" y="11464"/>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83" name="ริมคลองชักพระ"/>
          <p:cNvSpPr/>
          <p:nvPr/>
        </p:nvSpPr>
        <p:spPr>
          <a:xfrm>
            <a:off x="4491360" y="5012640"/>
            <a:ext cx="24480" cy="16560"/>
          </a:xfrm>
          <a:custGeom>
            <a:avLst/>
            <a:gdLst/>
            <a:ahLst/>
            <a:rect l="l" t="t" r="r" b="b"/>
            <a:pathLst>
              <a:path w="24906" h="16887">
                <a:moveTo>
                  <a:pt x="20236" y="1726"/>
                </a:moveTo>
                <a:lnTo>
                  <a:pt x="18679" y="0"/>
                </a:lnTo>
                <a:lnTo>
                  <a:pt x="0" y="4931"/>
                </a:lnTo>
                <a:lnTo>
                  <a:pt x="1078" y="16887"/>
                </a:lnTo>
                <a:lnTo>
                  <a:pt x="11495" y="16641"/>
                </a:lnTo>
                <a:lnTo>
                  <a:pt x="24906" y="9368"/>
                </a:lnTo>
                <a:lnTo>
                  <a:pt x="20236" y="1726"/>
                </a:lnTo>
                <a:close/>
              </a:path>
            </a:pathLst>
          </a:custGeom>
          <a:solidFill>
            <a:srgbClr val="ded5c5"/>
          </a:solidFill>
          <a:ln w="6191">
            <a:solidFill>
              <a:srgbClr val="b5a68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84" name="หมู่ 1, 3 แขวงบางหรม"/>
          <p:cNvSpPr/>
          <p:nvPr/>
        </p:nvSpPr>
        <p:spPr>
          <a:xfrm>
            <a:off x="4354920" y="5382000"/>
            <a:ext cx="80280" cy="87120"/>
          </a:xfrm>
          <a:custGeom>
            <a:avLst/>
            <a:gdLst/>
            <a:ahLst/>
            <a:rect l="l" t="t" r="r" b="b"/>
            <a:pathLst>
              <a:path w="80705" h="87518">
                <a:moveTo>
                  <a:pt x="71006" y="7519"/>
                </a:moveTo>
                <a:lnTo>
                  <a:pt x="55320" y="12573"/>
                </a:lnTo>
                <a:lnTo>
                  <a:pt x="52326" y="9738"/>
                </a:lnTo>
                <a:lnTo>
                  <a:pt x="49572" y="0"/>
                </a:lnTo>
                <a:lnTo>
                  <a:pt x="17482" y="10231"/>
                </a:lnTo>
                <a:lnTo>
                  <a:pt x="19039" y="29707"/>
                </a:lnTo>
                <a:lnTo>
                  <a:pt x="8980" y="34144"/>
                </a:lnTo>
                <a:lnTo>
                  <a:pt x="0" y="47334"/>
                </a:lnTo>
                <a:lnTo>
                  <a:pt x="5029" y="65330"/>
                </a:lnTo>
                <a:lnTo>
                  <a:pt x="7783" y="87148"/>
                </a:lnTo>
                <a:lnTo>
                  <a:pt x="28618" y="87518"/>
                </a:lnTo>
                <a:lnTo>
                  <a:pt x="35682" y="83327"/>
                </a:lnTo>
                <a:lnTo>
                  <a:pt x="39394" y="78150"/>
                </a:lnTo>
                <a:lnTo>
                  <a:pt x="45381" y="77657"/>
                </a:lnTo>
                <a:lnTo>
                  <a:pt x="56517" y="81231"/>
                </a:lnTo>
                <a:lnTo>
                  <a:pt x="54242" y="71863"/>
                </a:lnTo>
                <a:lnTo>
                  <a:pt x="60109" y="70138"/>
                </a:lnTo>
                <a:lnTo>
                  <a:pt x="59870" y="68412"/>
                </a:lnTo>
                <a:lnTo>
                  <a:pt x="59271" y="67056"/>
                </a:lnTo>
                <a:lnTo>
                  <a:pt x="52925" y="68905"/>
                </a:lnTo>
                <a:lnTo>
                  <a:pt x="52446" y="66686"/>
                </a:lnTo>
                <a:lnTo>
                  <a:pt x="80705" y="60400"/>
                </a:lnTo>
                <a:lnTo>
                  <a:pt x="76873" y="48073"/>
                </a:lnTo>
                <a:lnTo>
                  <a:pt x="78070" y="43019"/>
                </a:lnTo>
                <a:lnTo>
                  <a:pt x="80106" y="42157"/>
                </a:lnTo>
                <a:lnTo>
                  <a:pt x="79866" y="39815"/>
                </a:lnTo>
                <a:lnTo>
                  <a:pt x="78430" y="39938"/>
                </a:lnTo>
                <a:lnTo>
                  <a:pt x="76753" y="18120"/>
                </a:lnTo>
                <a:lnTo>
                  <a:pt x="71006" y="7519"/>
                </a:lnTo>
                <a:close/>
              </a:path>
            </a:pathLst>
          </a:custGeom>
          <a:solidFill>
            <a:srgbClr val="ded5c5"/>
          </a:solidFill>
          <a:ln w="6191">
            <a:solidFill>
              <a:srgbClr val="b5a68d"/>
            </a:solidFill>
            <a:round/>
          </a:ln>
        </p:spPr>
        <p:style>
          <a:lnRef idx="0"/>
          <a:fillRef idx="0"/>
          <a:effectRef idx="0"/>
          <a:fontRef idx="minor"/>
        </p:style>
        <p:txBody>
          <a:bodyPr lIns="90000" rIns="90000" tIns="42120" bIns="42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85" name="ซอยราษฎร์ร่วมเจริญ"/>
          <p:cNvSpPr/>
          <p:nvPr/>
        </p:nvSpPr>
        <p:spPr>
          <a:xfrm>
            <a:off x="4940280" y="5725080"/>
            <a:ext cx="37080" cy="16560"/>
          </a:xfrm>
          <a:custGeom>
            <a:avLst/>
            <a:gdLst/>
            <a:ahLst/>
            <a:rect l="l" t="t" r="r" b="b"/>
            <a:pathLst>
              <a:path w="37359" h="17011">
                <a:moveTo>
                  <a:pt x="22391" y="16271"/>
                </a:moveTo>
                <a:lnTo>
                  <a:pt x="32928" y="17011"/>
                </a:lnTo>
                <a:lnTo>
                  <a:pt x="36401" y="14545"/>
                </a:lnTo>
                <a:lnTo>
                  <a:pt x="37359" y="12326"/>
                </a:lnTo>
                <a:lnTo>
                  <a:pt x="23948" y="10354"/>
                </a:lnTo>
                <a:lnTo>
                  <a:pt x="24307" y="6780"/>
                </a:lnTo>
                <a:lnTo>
                  <a:pt x="31013" y="7396"/>
                </a:lnTo>
                <a:lnTo>
                  <a:pt x="31252" y="3698"/>
                </a:lnTo>
                <a:lnTo>
                  <a:pt x="33767" y="3821"/>
                </a:lnTo>
                <a:lnTo>
                  <a:pt x="34006" y="1726"/>
                </a:lnTo>
                <a:lnTo>
                  <a:pt x="21793" y="0"/>
                </a:lnTo>
                <a:lnTo>
                  <a:pt x="21314" y="6410"/>
                </a:lnTo>
                <a:lnTo>
                  <a:pt x="1197" y="3451"/>
                </a:lnTo>
                <a:lnTo>
                  <a:pt x="0" y="8505"/>
                </a:lnTo>
                <a:lnTo>
                  <a:pt x="2036" y="8998"/>
                </a:lnTo>
                <a:lnTo>
                  <a:pt x="4311" y="9122"/>
                </a:lnTo>
                <a:lnTo>
                  <a:pt x="4550" y="7766"/>
                </a:lnTo>
                <a:lnTo>
                  <a:pt x="16165" y="9984"/>
                </a:lnTo>
                <a:lnTo>
                  <a:pt x="16764" y="6656"/>
                </a:lnTo>
                <a:lnTo>
                  <a:pt x="23589" y="7519"/>
                </a:lnTo>
                <a:lnTo>
                  <a:pt x="22391" y="16271"/>
                </a:lnTo>
                <a:close/>
              </a:path>
            </a:pathLst>
          </a:custGeom>
          <a:solidFill>
            <a:srgbClr val="ded5c5"/>
          </a:solidFill>
          <a:ln w="6191">
            <a:solidFill>
              <a:srgbClr val="b5a68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86" name="ซอยบุบผาสวรรค์"/>
          <p:cNvSpPr/>
          <p:nvPr/>
        </p:nvSpPr>
        <p:spPr>
          <a:xfrm>
            <a:off x="4455720" y="5372280"/>
            <a:ext cx="90000" cy="36000"/>
          </a:xfrm>
          <a:custGeom>
            <a:avLst/>
            <a:gdLst/>
            <a:ahLst/>
            <a:rect l="l" t="t" r="r" b="b"/>
            <a:pathLst>
              <a:path w="90523" h="36363">
                <a:moveTo>
                  <a:pt x="10058" y="35377"/>
                </a:moveTo>
                <a:lnTo>
                  <a:pt x="29456" y="31802"/>
                </a:lnTo>
                <a:lnTo>
                  <a:pt x="34365" y="36363"/>
                </a:lnTo>
                <a:lnTo>
                  <a:pt x="68491" y="28597"/>
                </a:lnTo>
                <a:lnTo>
                  <a:pt x="90523" y="26132"/>
                </a:lnTo>
                <a:lnTo>
                  <a:pt x="89206" y="5547"/>
                </a:lnTo>
                <a:lnTo>
                  <a:pt x="78190" y="6287"/>
                </a:lnTo>
                <a:lnTo>
                  <a:pt x="64540" y="1972"/>
                </a:lnTo>
                <a:lnTo>
                  <a:pt x="62744" y="9368"/>
                </a:lnTo>
                <a:lnTo>
                  <a:pt x="63821" y="9738"/>
                </a:lnTo>
                <a:lnTo>
                  <a:pt x="63582" y="15655"/>
                </a:lnTo>
                <a:lnTo>
                  <a:pt x="56517" y="16271"/>
                </a:lnTo>
                <a:lnTo>
                  <a:pt x="46220" y="16764"/>
                </a:lnTo>
                <a:lnTo>
                  <a:pt x="43705" y="0"/>
                </a:lnTo>
                <a:lnTo>
                  <a:pt x="38077" y="1109"/>
                </a:lnTo>
                <a:lnTo>
                  <a:pt x="36042" y="4314"/>
                </a:lnTo>
                <a:lnTo>
                  <a:pt x="24547" y="7396"/>
                </a:lnTo>
                <a:lnTo>
                  <a:pt x="0" y="11340"/>
                </a:lnTo>
                <a:lnTo>
                  <a:pt x="2634" y="27611"/>
                </a:lnTo>
                <a:lnTo>
                  <a:pt x="2036" y="35500"/>
                </a:lnTo>
                <a:lnTo>
                  <a:pt x="10058" y="35377"/>
                </a:lnTo>
                <a:close/>
              </a:path>
            </a:pathLst>
          </a:custGeom>
          <a:solidFill>
            <a:srgbClr val="ded5c5"/>
          </a:solidFill>
          <a:ln w="6191">
            <a:solidFill>
              <a:srgbClr val="b5a68d"/>
            </a:solidFill>
            <a:round/>
          </a:ln>
        </p:spPr>
        <p:style>
          <a:lnRef idx="0"/>
          <a:fillRef idx="0"/>
          <a:effectRef idx="0"/>
          <a:fontRef idx="minor"/>
        </p:style>
        <p:txBody>
          <a:bodyPr lIns="90000" rIns="90000" tIns="-9000" bIns="-9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87" name="จรัญสามสิบเอ็ดรวมใจ"/>
          <p:cNvSpPr/>
          <p:nvPr/>
        </p:nvSpPr>
        <p:spPr>
          <a:xfrm>
            <a:off x="4440600" y="5331600"/>
            <a:ext cx="59400" cy="43200"/>
          </a:xfrm>
          <a:custGeom>
            <a:avLst/>
            <a:gdLst/>
            <a:ahLst/>
            <a:rect l="l" t="t" r="r" b="b"/>
            <a:pathLst>
              <a:path w="59630" h="43636">
                <a:moveTo>
                  <a:pt x="21074" y="35254"/>
                </a:moveTo>
                <a:lnTo>
                  <a:pt x="35084" y="34514"/>
                </a:lnTo>
                <a:lnTo>
                  <a:pt x="36880" y="41663"/>
                </a:lnTo>
                <a:lnTo>
                  <a:pt x="48135" y="39691"/>
                </a:lnTo>
                <a:lnTo>
                  <a:pt x="48854" y="42280"/>
                </a:lnTo>
                <a:lnTo>
                  <a:pt x="52087" y="41417"/>
                </a:lnTo>
                <a:lnTo>
                  <a:pt x="48734" y="25393"/>
                </a:lnTo>
                <a:lnTo>
                  <a:pt x="50291" y="25023"/>
                </a:lnTo>
                <a:lnTo>
                  <a:pt x="48974" y="20215"/>
                </a:lnTo>
                <a:lnTo>
                  <a:pt x="51967" y="19476"/>
                </a:lnTo>
                <a:lnTo>
                  <a:pt x="54961" y="28228"/>
                </a:lnTo>
                <a:lnTo>
                  <a:pt x="57355" y="27488"/>
                </a:lnTo>
                <a:lnTo>
                  <a:pt x="56517" y="25146"/>
                </a:lnTo>
                <a:lnTo>
                  <a:pt x="58912" y="24530"/>
                </a:lnTo>
                <a:lnTo>
                  <a:pt x="56517" y="15655"/>
                </a:lnTo>
                <a:lnTo>
                  <a:pt x="59630" y="14668"/>
                </a:lnTo>
                <a:lnTo>
                  <a:pt x="57954" y="9368"/>
                </a:lnTo>
                <a:lnTo>
                  <a:pt x="53643" y="10354"/>
                </a:lnTo>
                <a:lnTo>
                  <a:pt x="53164" y="8505"/>
                </a:lnTo>
                <a:lnTo>
                  <a:pt x="56038" y="7396"/>
                </a:lnTo>
                <a:lnTo>
                  <a:pt x="54003" y="0"/>
                </a:lnTo>
                <a:lnTo>
                  <a:pt x="25744" y="6903"/>
                </a:lnTo>
                <a:lnTo>
                  <a:pt x="20715" y="6533"/>
                </a:lnTo>
                <a:lnTo>
                  <a:pt x="18440" y="7149"/>
                </a:lnTo>
                <a:lnTo>
                  <a:pt x="18560" y="8505"/>
                </a:lnTo>
                <a:lnTo>
                  <a:pt x="0" y="12943"/>
                </a:lnTo>
                <a:lnTo>
                  <a:pt x="12573" y="36486"/>
                </a:lnTo>
                <a:lnTo>
                  <a:pt x="13890" y="43636"/>
                </a:lnTo>
                <a:lnTo>
                  <a:pt x="20954" y="43636"/>
                </a:lnTo>
                <a:lnTo>
                  <a:pt x="21074" y="35254"/>
                </a:lnTo>
                <a:close/>
              </a:path>
            </a:pathLst>
          </a:custGeom>
          <a:solidFill>
            <a:srgbClr val="ded5c5"/>
          </a:solidFill>
          <a:ln w="6191">
            <a:solidFill>
              <a:srgbClr val="b5a68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88" name="ซอยจรัญสนิทวงศ์ 41"/>
          <p:cNvSpPr/>
          <p:nvPr/>
        </p:nvSpPr>
        <p:spPr>
          <a:xfrm>
            <a:off x="4569840" y="5099760"/>
            <a:ext cx="56880" cy="90720"/>
          </a:xfrm>
          <a:custGeom>
            <a:avLst/>
            <a:gdLst/>
            <a:ahLst/>
            <a:rect l="l" t="t" r="r" b="b"/>
            <a:pathLst>
              <a:path w="57236" h="90969">
                <a:moveTo>
                  <a:pt x="9340" y="44622"/>
                </a:moveTo>
                <a:lnTo>
                  <a:pt x="15566" y="56948"/>
                </a:lnTo>
                <a:lnTo>
                  <a:pt x="19877" y="60523"/>
                </a:lnTo>
                <a:lnTo>
                  <a:pt x="30653" y="77287"/>
                </a:lnTo>
                <a:lnTo>
                  <a:pt x="43226" y="90969"/>
                </a:lnTo>
                <a:lnTo>
                  <a:pt x="57236" y="74822"/>
                </a:lnTo>
                <a:lnTo>
                  <a:pt x="47178" y="65084"/>
                </a:lnTo>
                <a:lnTo>
                  <a:pt x="52326" y="60523"/>
                </a:lnTo>
                <a:lnTo>
                  <a:pt x="48495" y="56085"/>
                </a:lnTo>
                <a:lnTo>
                  <a:pt x="51009" y="54113"/>
                </a:lnTo>
                <a:lnTo>
                  <a:pt x="45621" y="47580"/>
                </a:lnTo>
                <a:lnTo>
                  <a:pt x="43346" y="49183"/>
                </a:lnTo>
                <a:lnTo>
                  <a:pt x="37958" y="42526"/>
                </a:lnTo>
                <a:lnTo>
                  <a:pt x="49453" y="33775"/>
                </a:lnTo>
                <a:lnTo>
                  <a:pt x="45741" y="28967"/>
                </a:lnTo>
                <a:lnTo>
                  <a:pt x="35922" y="37226"/>
                </a:lnTo>
                <a:lnTo>
                  <a:pt x="30773" y="31802"/>
                </a:lnTo>
                <a:lnTo>
                  <a:pt x="25624" y="35624"/>
                </a:lnTo>
                <a:lnTo>
                  <a:pt x="23469" y="32542"/>
                </a:lnTo>
                <a:lnTo>
                  <a:pt x="29097" y="28597"/>
                </a:lnTo>
                <a:lnTo>
                  <a:pt x="28378" y="26995"/>
                </a:lnTo>
                <a:lnTo>
                  <a:pt x="50650" y="12203"/>
                </a:lnTo>
                <a:lnTo>
                  <a:pt x="51009" y="10231"/>
                </a:lnTo>
                <a:lnTo>
                  <a:pt x="46339" y="5177"/>
                </a:lnTo>
                <a:lnTo>
                  <a:pt x="35563" y="13806"/>
                </a:lnTo>
                <a:lnTo>
                  <a:pt x="15925" y="23051"/>
                </a:lnTo>
                <a:lnTo>
                  <a:pt x="13650" y="17997"/>
                </a:lnTo>
                <a:lnTo>
                  <a:pt x="26103" y="8629"/>
                </a:lnTo>
                <a:lnTo>
                  <a:pt x="17003" y="0"/>
                </a:lnTo>
                <a:lnTo>
                  <a:pt x="0" y="16517"/>
                </a:lnTo>
                <a:lnTo>
                  <a:pt x="3353" y="30570"/>
                </a:lnTo>
                <a:lnTo>
                  <a:pt x="9340" y="4462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89" name="หมู่บ้านวงแหวนทวีสุข"/>
          <p:cNvSpPr/>
          <p:nvPr/>
        </p:nvSpPr>
        <p:spPr>
          <a:xfrm>
            <a:off x="4072320" y="7087320"/>
            <a:ext cx="37800" cy="90000"/>
          </a:xfrm>
          <a:custGeom>
            <a:avLst/>
            <a:gdLst/>
            <a:ahLst/>
            <a:rect l="l" t="t" r="r" b="b"/>
            <a:pathLst>
              <a:path w="38077" h="90476">
                <a:moveTo>
                  <a:pt x="0" y="13313"/>
                </a:moveTo>
                <a:lnTo>
                  <a:pt x="11136" y="90476"/>
                </a:lnTo>
                <a:lnTo>
                  <a:pt x="38077" y="86409"/>
                </a:lnTo>
                <a:lnTo>
                  <a:pt x="27660" y="15162"/>
                </a:lnTo>
                <a:lnTo>
                  <a:pt x="24666" y="8998"/>
                </a:lnTo>
                <a:lnTo>
                  <a:pt x="19398" y="0"/>
                </a:lnTo>
                <a:lnTo>
                  <a:pt x="0" y="1331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90" name="ทรัพย์นุกูลพัฒนา"/>
          <p:cNvSpPr/>
          <p:nvPr/>
        </p:nvSpPr>
        <p:spPr>
          <a:xfrm>
            <a:off x="4402080" y="6813000"/>
            <a:ext cx="9720" cy="11880"/>
          </a:xfrm>
          <a:custGeom>
            <a:avLst/>
            <a:gdLst/>
            <a:ahLst/>
            <a:rect l="l" t="t" r="r" b="b"/>
            <a:pathLst>
              <a:path w="10058" h="12326">
                <a:moveTo>
                  <a:pt x="0" y="0"/>
                </a:moveTo>
                <a:lnTo>
                  <a:pt x="239" y="12326"/>
                </a:lnTo>
                <a:lnTo>
                  <a:pt x="9938" y="11464"/>
                </a:lnTo>
                <a:lnTo>
                  <a:pt x="10058" y="493"/>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91" name="วัดกก"/>
          <p:cNvSpPr/>
          <p:nvPr/>
        </p:nvSpPr>
        <p:spPr>
          <a:xfrm>
            <a:off x="4291920" y="6308640"/>
            <a:ext cx="28800" cy="34200"/>
          </a:xfrm>
          <a:custGeom>
            <a:avLst/>
            <a:gdLst/>
            <a:ahLst/>
            <a:rect l="l" t="t" r="r" b="b"/>
            <a:pathLst>
              <a:path w="29336" h="34514">
                <a:moveTo>
                  <a:pt x="0" y="20585"/>
                </a:moveTo>
                <a:lnTo>
                  <a:pt x="4071" y="34514"/>
                </a:lnTo>
                <a:lnTo>
                  <a:pt x="29336" y="32912"/>
                </a:lnTo>
                <a:lnTo>
                  <a:pt x="22870" y="370"/>
                </a:lnTo>
                <a:lnTo>
                  <a:pt x="2395" y="0"/>
                </a:lnTo>
                <a:lnTo>
                  <a:pt x="0" y="20585"/>
                </a:lnTo>
                <a:close/>
              </a:path>
            </a:pathLst>
          </a:custGeom>
          <a:solidFill>
            <a:srgbClr val="ded5c5"/>
          </a:solidFill>
          <a:ln w="6191">
            <a:solidFill>
              <a:srgbClr val="b5a68d"/>
            </a:solidFill>
            <a:round/>
          </a:ln>
        </p:spPr>
        <p:style>
          <a:lnRef idx="0"/>
          <a:fillRef idx="0"/>
          <a:effectRef idx="0"/>
          <a:fontRef idx="minor"/>
        </p:style>
        <p:txBody>
          <a:bodyPr lIns="90000" rIns="90000" tIns="-10800" bIns="-10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92" name="วัดปากน้ำฝั่งเหนือ"/>
          <p:cNvSpPr/>
          <p:nvPr/>
        </p:nvSpPr>
        <p:spPr>
          <a:xfrm>
            <a:off x="4409640" y="5431680"/>
            <a:ext cx="43920" cy="33120"/>
          </a:xfrm>
          <a:custGeom>
            <a:avLst/>
            <a:gdLst/>
            <a:ahLst/>
            <a:rect l="l" t="t" r="r" b="b"/>
            <a:pathLst>
              <a:path w="44423" h="33528">
                <a:moveTo>
                  <a:pt x="39634" y="25023"/>
                </a:moveTo>
                <a:lnTo>
                  <a:pt x="43346" y="23544"/>
                </a:lnTo>
                <a:lnTo>
                  <a:pt x="44423" y="0"/>
                </a:lnTo>
                <a:lnTo>
                  <a:pt x="24786" y="3698"/>
                </a:lnTo>
                <a:lnTo>
                  <a:pt x="26343" y="12203"/>
                </a:lnTo>
                <a:lnTo>
                  <a:pt x="17482" y="14545"/>
                </a:lnTo>
                <a:lnTo>
                  <a:pt x="18679" y="23913"/>
                </a:lnTo>
                <a:lnTo>
                  <a:pt x="5508" y="21571"/>
                </a:lnTo>
                <a:lnTo>
                  <a:pt x="0" y="22927"/>
                </a:lnTo>
                <a:lnTo>
                  <a:pt x="2395" y="32788"/>
                </a:lnTo>
                <a:lnTo>
                  <a:pt x="7424" y="33528"/>
                </a:lnTo>
                <a:lnTo>
                  <a:pt x="15446" y="33158"/>
                </a:lnTo>
                <a:lnTo>
                  <a:pt x="28977" y="26872"/>
                </a:lnTo>
                <a:lnTo>
                  <a:pt x="39634" y="25023"/>
                </a:lnTo>
                <a:close/>
              </a:path>
            </a:pathLst>
          </a:custGeom>
          <a:solidFill>
            <a:srgbClr val="ded5c5"/>
          </a:solidFill>
          <a:ln w="6191">
            <a:solidFill>
              <a:srgbClr val="b5a68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93" name="สองแขวง"/>
          <p:cNvSpPr/>
          <p:nvPr/>
        </p:nvSpPr>
        <p:spPr>
          <a:xfrm>
            <a:off x="4443840" y="4977360"/>
            <a:ext cx="36000" cy="50760"/>
          </a:xfrm>
          <a:custGeom>
            <a:avLst/>
            <a:gdLst/>
            <a:ahLst/>
            <a:rect l="l" t="t" r="r" b="b"/>
            <a:pathLst>
              <a:path w="36281" h="51032">
                <a:moveTo>
                  <a:pt x="5029" y="15408"/>
                </a:moveTo>
                <a:lnTo>
                  <a:pt x="13650" y="41910"/>
                </a:lnTo>
                <a:lnTo>
                  <a:pt x="16644" y="47087"/>
                </a:lnTo>
                <a:lnTo>
                  <a:pt x="35682" y="51032"/>
                </a:lnTo>
                <a:lnTo>
                  <a:pt x="36281" y="46224"/>
                </a:lnTo>
                <a:lnTo>
                  <a:pt x="33767" y="43266"/>
                </a:lnTo>
                <a:lnTo>
                  <a:pt x="25744" y="39321"/>
                </a:lnTo>
                <a:lnTo>
                  <a:pt x="10058" y="0"/>
                </a:lnTo>
                <a:lnTo>
                  <a:pt x="0" y="3698"/>
                </a:lnTo>
                <a:lnTo>
                  <a:pt x="5029" y="15408"/>
                </a:lnTo>
                <a:close/>
              </a:path>
            </a:pathLst>
          </a:custGeom>
          <a:solidFill>
            <a:srgbClr val="ded5c5"/>
          </a:solidFill>
          <a:ln w="6191">
            <a:solidFill>
              <a:srgbClr val="b5a68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94" name="บ้านคู่คลอง"/>
          <p:cNvSpPr/>
          <p:nvPr/>
        </p:nvSpPr>
        <p:spPr>
          <a:xfrm>
            <a:off x="4417200" y="5009040"/>
            <a:ext cx="38160" cy="23040"/>
          </a:xfrm>
          <a:custGeom>
            <a:avLst/>
            <a:gdLst/>
            <a:ahLst/>
            <a:rect l="l" t="t" r="r" b="b"/>
            <a:pathLst>
              <a:path w="38436" h="23297">
                <a:moveTo>
                  <a:pt x="19637" y="616"/>
                </a:moveTo>
                <a:lnTo>
                  <a:pt x="8741" y="3205"/>
                </a:lnTo>
                <a:lnTo>
                  <a:pt x="0" y="9491"/>
                </a:lnTo>
                <a:lnTo>
                  <a:pt x="10298" y="23297"/>
                </a:lnTo>
                <a:lnTo>
                  <a:pt x="31372" y="16024"/>
                </a:lnTo>
                <a:lnTo>
                  <a:pt x="38436" y="15285"/>
                </a:lnTo>
                <a:lnTo>
                  <a:pt x="32569" y="0"/>
                </a:lnTo>
                <a:lnTo>
                  <a:pt x="19637" y="616"/>
                </a:lnTo>
                <a:close/>
              </a:path>
            </a:pathLst>
          </a:custGeom>
          <a:solidFill>
            <a:srgbClr val="ded5c5"/>
          </a:solidFill>
          <a:ln w="6191">
            <a:solidFill>
              <a:srgbClr val="b5a68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95" name="ซอยพฤกษอุดม-วัดน้อยใน"/>
          <p:cNvSpPr/>
          <p:nvPr/>
        </p:nvSpPr>
        <p:spPr>
          <a:xfrm>
            <a:off x="4480920" y="4854960"/>
            <a:ext cx="40680" cy="44280"/>
          </a:xfrm>
          <a:custGeom>
            <a:avLst/>
            <a:gdLst/>
            <a:ahLst/>
            <a:rect l="l" t="t" r="r" b="b"/>
            <a:pathLst>
              <a:path w="40951" h="44622">
                <a:moveTo>
                  <a:pt x="12453" y="33158"/>
                </a:moveTo>
                <a:lnTo>
                  <a:pt x="9699" y="41417"/>
                </a:lnTo>
                <a:lnTo>
                  <a:pt x="22631" y="44622"/>
                </a:lnTo>
                <a:lnTo>
                  <a:pt x="31013" y="27981"/>
                </a:lnTo>
                <a:lnTo>
                  <a:pt x="40951" y="12820"/>
                </a:lnTo>
                <a:lnTo>
                  <a:pt x="3233" y="0"/>
                </a:lnTo>
                <a:lnTo>
                  <a:pt x="0" y="7026"/>
                </a:lnTo>
                <a:lnTo>
                  <a:pt x="22272" y="14175"/>
                </a:lnTo>
                <a:lnTo>
                  <a:pt x="17362" y="26009"/>
                </a:lnTo>
                <a:lnTo>
                  <a:pt x="15327" y="25516"/>
                </a:lnTo>
                <a:lnTo>
                  <a:pt x="12453" y="33158"/>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96" name="ศาลเจ้าพ่อจุ้ย"/>
          <p:cNvSpPr/>
          <p:nvPr/>
        </p:nvSpPr>
        <p:spPr>
          <a:xfrm>
            <a:off x="4343760" y="5005800"/>
            <a:ext cx="36360" cy="26640"/>
          </a:xfrm>
          <a:custGeom>
            <a:avLst/>
            <a:gdLst/>
            <a:ahLst/>
            <a:rect l="l" t="t" r="r" b="b"/>
            <a:pathLst>
              <a:path w="36880" h="27118">
                <a:moveTo>
                  <a:pt x="32689" y="24776"/>
                </a:moveTo>
                <a:lnTo>
                  <a:pt x="24906" y="11833"/>
                </a:lnTo>
                <a:lnTo>
                  <a:pt x="30534" y="6163"/>
                </a:lnTo>
                <a:lnTo>
                  <a:pt x="36880" y="3328"/>
                </a:lnTo>
                <a:lnTo>
                  <a:pt x="35802" y="0"/>
                </a:lnTo>
                <a:lnTo>
                  <a:pt x="24666" y="3698"/>
                </a:lnTo>
                <a:lnTo>
                  <a:pt x="17243" y="8505"/>
                </a:lnTo>
                <a:lnTo>
                  <a:pt x="16165" y="2958"/>
                </a:lnTo>
                <a:lnTo>
                  <a:pt x="11136" y="4314"/>
                </a:lnTo>
                <a:lnTo>
                  <a:pt x="0" y="3698"/>
                </a:lnTo>
                <a:lnTo>
                  <a:pt x="2155" y="10231"/>
                </a:lnTo>
                <a:lnTo>
                  <a:pt x="6346" y="11340"/>
                </a:lnTo>
                <a:lnTo>
                  <a:pt x="9100" y="9615"/>
                </a:lnTo>
                <a:lnTo>
                  <a:pt x="15087" y="15285"/>
                </a:lnTo>
                <a:lnTo>
                  <a:pt x="18081" y="15901"/>
                </a:lnTo>
                <a:lnTo>
                  <a:pt x="20476" y="14052"/>
                </a:lnTo>
                <a:lnTo>
                  <a:pt x="29217" y="27118"/>
                </a:lnTo>
                <a:lnTo>
                  <a:pt x="32689" y="24776"/>
                </a:lnTo>
                <a:close/>
              </a:path>
            </a:pathLst>
          </a:custGeom>
          <a:solidFill>
            <a:srgbClr val="ded5c5"/>
          </a:solidFill>
          <a:ln w="6191">
            <a:solidFill>
              <a:srgbClr val="b5a68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97" name="ริมทางรถไฟชัยพฤกษ์"/>
          <p:cNvSpPr/>
          <p:nvPr/>
        </p:nvSpPr>
        <p:spPr>
          <a:xfrm>
            <a:off x="4358880" y="4870440"/>
            <a:ext cx="66240" cy="64080"/>
          </a:xfrm>
          <a:custGeom>
            <a:avLst/>
            <a:gdLst/>
            <a:ahLst/>
            <a:rect l="l" t="t" r="r" b="b"/>
            <a:pathLst>
              <a:path w="66456" h="64344">
                <a:moveTo>
                  <a:pt x="16404" y="17011"/>
                </a:moveTo>
                <a:lnTo>
                  <a:pt x="8980" y="22681"/>
                </a:lnTo>
                <a:lnTo>
                  <a:pt x="0" y="26748"/>
                </a:lnTo>
                <a:lnTo>
                  <a:pt x="15686" y="64344"/>
                </a:lnTo>
                <a:lnTo>
                  <a:pt x="66456" y="52634"/>
                </a:lnTo>
                <a:lnTo>
                  <a:pt x="54362" y="28228"/>
                </a:lnTo>
                <a:lnTo>
                  <a:pt x="45501" y="16024"/>
                </a:lnTo>
                <a:lnTo>
                  <a:pt x="37000" y="10231"/>
                </a:lnTo>
                <a:lnTo>
                  <a:pt x="39035" y="7273"/>
                </a:lnTo>
                <a:lnTo>
                  <a:pt x="32210" y="0"/>
                </a:lnTo>
                <a:lnTo>
                  <a:pt x="16404" y="17011"/>
                </a:lnTo>
                <a:close/>
              </a:path>
            </a:pathLst>
          </a:custGeom>
          <a:solidFill>
            <a:srgbClr val="ded5c5"/>
          </a:solidFill>
          <a:ln w="6191">
            <a:solidFill>
              <a:srgbClr val="b5a68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98" name="วัดทองบางระมาด หมู่ที่ 10"/>
          <p:cNvSpPr/>
          <p:nvPr/>
        </p:nvSpPr>
        <p:spPr>
          <a:xfrm>
            <a:off x="4197240" y="5023080"/>
            <a:ext cx="34560" cy="76680"/>
          </a:xfrm>
          <a:custGeom>
            <a:avLst/>
            <a:gdLst/>
            <a:ahLst/>
            <a:rect l="l" t="t" r="r" b="b"/>
            <a:pathLst>
              <a:path w="34844" h="77164">
                <a:moveTo>
                  <a:pt x="21912" y="0"/>
                </a:moveTo>
                <a:lnTo>
                  <a:pt x="20116" y="986"/>
                </a:lnTo>
                <a:lnTo>
                  <a:pt x="19757" y="7642"/>
                </a:lnTo>
                <a:lnTo>
                  <a:pt x="9579" y="6903"/>
                </a:lnTo>
                <a:lnTo>
                  <a:pt x="4311" y="8259"/>
                </a:lnTo>
                <a:lnTo>
                  <a:pt x="4790" y="26502"/>
                </a:lnTo>
                <a:lnTo>
                  <a:pt x="3353" y="26379"/>
                </a:lnTo>
                <a:lnTo>
                  <a:pt x="5748" y="57565"/>
                </a:lnTo>
                <a:lnTo>
                  <a:pt x="479" y="58058"/>
                </a:lnTo>
                <a:lnTo>
                  <a:pt x="0" y="75438"/>
                </a:lnTo>
                <a:lnTo>
                  <a:pt x="22152" y="74082"/>
                </a:lnTo>
                <a:lnTo>
                  <a:pt x="27301" y="77164"/>
                </a:lnTo>
                <a:lnTo>
                  <a:pt x="34844" y="75438"/>
                </a:lnTo>
                <a:lnTo>
                  <a:pt x="31971" y="38335"/>
                </a:lnTo>
                <a:lnTo>
                  <a:pt x="28498" y="22434"/>
                </a:lnTo>
                <a:lnTo>
                  <a:pt x="25145" y="17257"/>
                </a:lnTo>
                <a:lnTo>
                  <a:pt x="21912" y="0"/>
                </a:lnTo>
                <a:close/>
              </a:path>
            </a:pathLst>
          </a:custGeom>
          <a:solidFill>
            <a:srgbClr val="ded5c5"/>
          </a:solidFill>
          <a:ln w="6191">
            <a:solidFill>
              <a:srgbClr val="b5a68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499" name="ศาลาหลังบ้าน"/>
          <p:cNvSpPr/>
          <p:nvPr/>
        </p:nvSpPr>
        <p:spPr>
          <a:xfrm>
            <a:off x="4320720" y="5268240"/>
            <a:ext cx="38160" cy="37080"/>
          </a:xfrm>
          <a:custGeom>
            <a:avLst/>
            <a:gdLst/>
            <a:ahLst/>
            <a:rect l="l" t="t" r="r" b="b"/>
            <a:pathLst>
              <a:path w="38556" h="37596">
                <a:moveTo>
                  <a:pt x="16045" y="1726"/>
                </a:moveTo>
                <a:lnTo>
                  <a:pt x="7184" y="4438"/>
                </a:lnTo>
                <a:lnTo>
                  <a:pt x="2036" y="1602"/>
                </a:lnTo>
                <a:lnTo>
                  <a:pt x="0" y="2835"/>
                </a:lnTo>
                <a:lnTo>
                  <a:pt x="718" y="10724"/>
                </a:lnTo>
                <a:lnTo>
                  <a:pt x="4071" y="11833"/>
                </a:lnTo>
                <a:lnTo>
                  <a:pt x="7663" y="20585"/>
                </a:lnTo>
                <a:lnTo>
                  <a:pt x="16045" y="19106"/>
                </a:lnTo>
                <a:lnTo>
                  <a:pt x="22032" y="37596"/>
                </a:lnTo>
                <a:lnTo>
                  <a:pt x="38556" y="32419"/>
                </a:lnTo>
                <a:lnTo>
                  <a:pt x="35323" y="20955"/>
                </a:lnTo>
                <a:lnTo>
                  <a:pt x="31013" y="19353"/>
                </a:lnTo>
                <a:lnTo>
                  <a:pt x="29336" y="15655"/>
                </a:lnTo>
                <a:lnTo>
                  <a:pt x="28378" y="1479"/>
                </a:lnTo>
                <a:lnTo>
                  <a:pt x="22870" y="0"/>
                </a:lnTo>
                <a:lnTo>
                  <a:pt x="16045" y="1726"/>
                </a:lnTo>
                <a:close/>
              </a:path>
            </a:pathLst>
          </a:custGeom>
          <a:solidFill>
            <a:srgbClr val="ded5c5"/>
          </a:solidFill>
          <a:ln w="6191">
            <a:solidFill>
              <a:srgbClr val="b5a68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00" name="วัดเพลงกลางสวน"/>
          <p:cNvSpPr/>
          <p:nvPr/>
        </p:nvSpPr>
        <p:spPr>
          <a:xfrm>
            <a:off x="4188960" y="5326920"/>
            <a:ext cx="12960" cy="33840"/>
          </a:xfrm>
          <a:custGeom>
            <a:avLst/>
            <a:gdLst/>
            <a:ahLst/>
            <a:rect l="l" t="t" r="r" b="b"/>
            <a:pathLst>
              <a:path w="13171" h="34021">
                <a:moveTo>
                  <a:pt x="0" y="32542"/>
                </a:moveTo>
                <a:lnTo>
                  <a:pt x="0" y="33775"/>
                </a:lnTo>
                <a:lnTo>
                  <a:pt x="11016" y="34021"/>
                </a:lnTo>
                <a:lnTo>
                  <a:pt x="13171" y="0"/>
                </a:lnTo>
                <a:lnTo>
                  <a:pt x="2275" y="123"/>
                </a:lnTo>
                <a:lnTo>
                  <a:pt x="838" y="5300"/>
                </a:lnTo>
                <a:lnTo>
                  <a:pt x="0" y="32542"/>
                </a:lnTo>
                <a:close/>
              </a:path>
            </a:pathLst>
          </a:custGeom>
          <a:solidFill>
            <a:srgbClr val="ded5c5"/>
          </a:solidFill>
          <a:ln w="6191">
            <a:solidFill>
              <a:srgbClr val="b5a68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01" name="โค้งเอส"/>
          <p:cNvSpPr/>
          <p:nvPr/>
        </p:nvSpPr>
        <p:spPr>
          <a:xfrm>
            <a:off x="4148280" y="5299920"/>
            <a:ext cx="52560" cy="60480"/>
          </a:xfrm>
          <a:custGeom>
            <a:avLst/>
            <a:gdLst/>
            <a:ahLst/>
            <a:rect l="l" t="t" r="r" b="b"/>
            <a:pathLst>
              <a:path w="53045" h="60769">
                <a:moveTo>
                  <a:pt x="53045" y="25762"/>
                </a:moveTo>
                <a:lnTo>
                  <a:pt x="51488" y="5054"/>
                </a:lnTo>
                <a:lnTo>
                  <a:pt x="49213" y="3575"/>
                </a:lnTo>
                <a:lnTo>
                  <a:pt x="37958" y="1972"/>
                </a:lnTo>
                <a:lnTo>
                  <a:pt x="22391" y="5793"/>
                </a:lnTo>
                <a:lnTo>
                  <a:pt x="18679" y="1849"/>
                </a:lnTo>
                <a:lnTo>
                  <a:pt x="11495" y="5177"/>
                </a:lnTo>
                <a:lnTo>
                  <a:pt x="5269" y="0"/>
                </a:lnTo>
                <a:lnTo>
                  <a:pt x="958" y="493"/>
                </a:lnTo>
                <a:lnTo>
                  <a:pt x="5269" y="26872"/>
                </a:lnTo>
                <a:lnTo>
                  <a:pt x="0" y="40308"/>
                </a:lnTo>
                <a:lnTo>
                  <a:pt x="1916" y="40431"/>
                </a:lnTo>
                <a:lnTo>
                  <a:pt x="838" y="55469"/>
                </a:lnTo>
                <a:lnTo>
                  <a:pt x="5388" y="56209"/>
                </a:lnTo>
                <a:lnTo>
                  <a:pt x="12453" y="43512"/>
                </a:lnTo>
                <a:lnTo>
                  <a:pt x="17961" y="27735"/>
                </a:lnTo>
                <a:lnTo>
                  <a:pt x="36161" y="27365"/>
                </a:lnTo>
                <a:lnTo>
                  <a:pt x="36880" y="60523"/>
                </a:lnTo>
                <a:lnTo>
                  <a:pt x="40352" y="60769"/>
                </a:lnTo>
                <a:lnTo>
                  <a:pt x="41430" y="26379"/>
                </a:lnTo>
                <a:lnTo>
                  <a:pt x="53045" y="25762"/>
                </a:lnTo>
                <a:close/>
              </a:path>
            </a:pathLst>
          </a:custGeom>
          <a:solidFill>
            <a:srgbClr val="ded5c5"/>
          </a:solidFill>
          <a:ln w="6191">
            <a:solidFill>
              <a:srgbClr val="b5a68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02" name="ราชพฤกษ์"/>
          <p:cNvSpPr/>
          <p:nvPr/>
        </p:nvSpPr>
        <p:spPr>
          <a:xfrm>
            <a:off x="4263480" y="5288040"/>
            <a:ext cx="29160" cy="65520"/>
          </a:xfrm>
          <a:custGeom>
            <a:avLst/>
            <a:gdLst/>
            <a:ahLst/>
            <a:rect l="l" t="t" r="r" b="b"/>
            <a:pathLst>
              <a:path w="29576" h="65823">
                <a:moveTo>
                  <a:pt x="2036" y="12203"/>
                </a:moveTo>
                <a:lnTo>
                  <a:pt x="3712" y="26502"/>
                </a:lnTo>
                <a:lnTo>
                  <a:pt x="2036" y="30323"/>
                </a:lnTo>
                <a:lnTo>
                  <a:pt x="2155" y="44129"/>
                </a:lnTo>
                <a:lnTo>
                  <a:pt x="0" y="46101"/>
                </a:lnTo>
                <a:lnTo>
                  <a:pt x="3113" y="65330"/>
                </a:lnTo>
                <a:lnTo>
                  <a:pt x="21673" y="65823"/>
                </a:lnTo>
                <a:lnTo>
                  <a:pt x="22272" y="49676"/>
                </a:lnTo>
                <a:lnTo>
                  <a:pt x="20954" y="50539"/>
                </a:lnTo>
                <a:lnTo>
                  <a:pt x="20476" y="40431"/>
                </a:lnTo>
                <a:lnTo>
                  <a:pt x="27061" y="39075"/>
                </a:lnTo>
                <a:lnTo>
                  <a:pt x="24307" y="15285"/>
                </a:lnTo>
                <a:lnTo>
                  <a:pt x="29576" y="10724"/>
                </a:lnTo>
                <a:lnTo>
                  <a:pt x="25984" y="0"/>
                </a:lnTo>
                <a:lnTo>
                  <a:pt x="24547" y="493"/>
                </a:lnTo>
                <a:lnTo>
                  <a:pt x="20954" y="11833"/>
                </a:lnTo>
                <a:lnTo>
                  <a:pt x="11016" y="15901"/>
                </a:lnTo>
                <a:lnTo>
                  <a:pt x="2036" y="12203"/>
                </a:lnTo>
                <a:close/>
              </a:path>
            </a:pathLst>
          </a:custGeom>
          <a:solidFill>
            <a:srgbClr val="ded5c5"/>
          </a:solidFill>
          <a:ln w="6191">
            <a:solidFill>
              <a:srgbClr val="b5a68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03" name="หมุ่ 12 บ้านสวนบางพรม"/>
          <p:cNvSpPr/>
          <p:nvPr/>
        </p:nvSpPr>
        <p:spPr>
          <a:xfrm>
            <a:off x="4200480" y="5302800"/>
            <a:ext cx="25920" cy="24480"/>
          </a:xfrm>
          <a:custGeom>
            <a:avLst/>
            <a:gdLst/>
            <a:ahLst/>
            <a:rect l="l" t="t" r="r" b="b"/>
            <a:pathLst>
              <a:path w="26103" h="24776">
                <a:moveTo>
                  <a:pt x="0" y="3944"/>
                </a:moveTo>
                <a:lnTo>
                  <a:pt x="1796" y="24037"/>
                </a:lnTo>
                <a:lnTo>
                  <a:pt x="26103" y="24776"/>
                </a:lnTo>
                <a:lnTo>
                  <a:pt x="23948" y="0"/>
                </a:lnTo>
                <a:lnTo>
                  <a:pt x="2515" y="1479"/>
                </a:lnTo>
                <a:lnTo>
                  <a:pt x="0" y="3944"/>
                </a:lnTo>
                <a:close/>
              </a:path>
            </a:pathLst>
          </a:custGeom>
          <a:solidFill>
            <a:srgbClr val="ded5c5"/>
          </a:solidFill>
          <a:ln w="6191">
            <a:solidFill>
              <a:srgbClr val="b5a68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04" name="หมู่ที่ 5 บางพรม"/>
          <p:cNvSpPr/>
          <p:nvPr/>
        </p:nvSpPr>
        <p:spPr>
          <a:xfrm>
            <a:off x="4243320" y="5388840"/>
            <a:ext cx="65160" cy="70200"/>
          </a:xfrm>
          <a:custGeom>
            <a:avLst/>
            <a:gdLst/>
            <a:ahLst/>
            <a:rect l="l" t="t" r="r" b="b"/>
            <a:pathLst>
              <a:path w="65378" h="70631">
                <a:moveTo>
                  <a:pt x="22511" y="0"/>
                </a:moveTo>
                <a:lnTo>
                  <a:pt x="8621" y="24160"/>
                </a:lnTo>
                <a:lnTo>
                  <a:pt x="599" y="22804"/>
                </a:lnTo>
                <a:lnTo>
                  <a:pt x="0" y="38828"/>
                </a:lnTo>
                <a:lnTo>
                  <a:pt x="8980" y="42773"/>
                </a:lnTo>
                <a:lnTo>
                  <a:pt x="11016" y="52757"/>
                </a:lnTo>
                <a:lnTo>
                  <a:pt x="17721" y="59907"/>
                </a:lnTo>
                <a:lnTo>
                  <a:pt x="20954" y="61139"/>
                </a:lnTo>
                <a:lnTo>
                  <a:pt x="31013" y="60523"/>
                </a:lnTo>
                <a:lnTo>
                  <a:pt x="42388" y="68165"/>
                </a:lnTo>
                <a:lnTo>
                  <a:pt x="50410" y="67426"/>
                </a:lnTo>
                <a:lnTo>
                  <a:pt x="56876" y="70631"/>
                </a:lnTo>
                <a:lnTo>
                  <a:pt x="64540" y="69891"/>
                </a:lnTo>
                <a:lnTo>
                  <a:pt x="58912" y="67919"/>
                </a:lnTo>
                <a:lnTo>
                  <a:pt x="62025" y="52388"/>
                </a:lnTo>
                <a:lnTo>
                  <a:pt x="59990" y="51525"/>
                </a:lnTo>
                <a:lnTo>
                  <a:pt x="60828" y="39568"/>
                </a:lnTo>
                <a:lnTo>
                  <a:pt x="62863" y="26625"/>
                </a:lnTo>
                <a:lnTo>
                  <a:pt x="64540" y="26379"/>
                </a:lnTo>
                <a:lnTo>
                  <a:pt x="65378" y="11094"/>
                </a:lnTo>
                <a:lnTo>
                  <a:pt x="57834" y="1602"/>
                </a:lnTo>
                <a:lnTo>
                  <a:pt x="22511" y="0"/>
                </a:lnTo>
                <a:close/>
              </a:path>
            </a:pathLst>
          </a:custGeom>
          <a:solidFill>
            <a:srgbClr val="ded5c5"/>
          </a:solidFill>
          <a:ln w="6191">
            <a:solidFill>
              <a:srgbClr val="b5a68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05" name="วัดจำปา"/>
          <p:cNvSpPr/>
          <p:nvPr/>
        </p:nvSpPr>
        <p:spPr>
          <a:xfrm>
            <a:off x="4093920" y="5078880"/>
            <a:ext cx="54000" cy="25920"/>
          </a:xfrm>
          <a:custGeom>
            <a:avLst/>
            <a:gdLst/>
            <a:ahLst/>
            <a:rect l="l" t="t" r="r" b="b"/>
            <a:pathLst>
              <a:path w="54482" h="26255">
                <a:moveTo>
                  <a:pt x="2634" y="14052"/>
                </a:moveTo>
                <a:lnTo>
                  <a:pt x="0" y="26255"/>
                </a:lnTo>
                <a:lnTo>
                  <a:pt x="6346" y="25886"/>
                </a:lnTo>
                <a:lnTo>
                  <a:pt x="8142" y="21941"/>
                </a:lnTo>
                <a:lnTo>
                  <a:pt x="12094" y="20339"/>
                </a:lnTo>
                <a:lnTo>
                  <a:pt x="19278" y="23913"/>
                </a:lnTo>
                <a:lnTo>
                  <a:pt x="26343" y="20955"/>
                </a:lnTo>
                <a:lnTo>
                  <a:pt x="29576" y="21695"/>
                </a:lnTo>
                <a:lnTo>
                  <a:pt x="33767" y="25516"/>
                </a:lnTo>
                <a:lnTo>
                  <a:pt x="41071" y="20215"/>
                </a:lnTo>
                <a:lnTo>
                  <a:pt x="48375" y="25886"/>
                </a:lnTo>
                <a:lnTo>
                  <a:pt x="52805" y="24530"/>
                </a:lnTo>
                <a:lnTo>
                  <a:pt x="54482" y="21325"/>
                </a:lnTo>
                <a:lnTo>
                  <a:pt x="50410" y="6903"/>
                </a:lnTo>
                <a:lnTo>
                  <a:pt x="37598" y="0"/>
                </a:lnTo>
                <a:lnTo>
                  <a:pt x="35443" y="9861"/>
                </a:lnTo>
                <a:lnTo>
                  <a:pt x="4670" y="9491"/>
                </a:lnTo>
                <a:lnTo>
                  <a:pt x="2634" y="14052"/>
                </a:lnTo>
                <a:close/>
              </a:path>
            </a:pathLst>
          </a:custGeom>
          <a:solidFill>
            <a:srgbClr val="ded5c5"/>
          </a:solidFill>
          <a:ln w="6191">
            <a:solidFill>
              <a:srgbClr val="b5a68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06" name="หมู่บ้านพัฒนาหมู่ 13 บางระมาด"/>
          <p:cNvSpPr/>
          <p:nvPr/>
        </p:nvSpPr>
        <p:spPr>
          <a:xfrm>
            <a:off x="4232520" y="5099760"/>
            <a:ext cx="31320" cy="31320"/>
          </a:xfrm>
          <a:custGeom>
            <a:avLst/>
            <a:gdLst/>
            <a:ahLst/>
            <a:rect l="l" t="t" r="r" b="b"/>
            <a:pathLst>
              <a:path w="31851" h="31556">
                <a:moveTo>
                  <a:pt x="718" y="9491"/>
                </a:moveTo>
                <a:lnTo>
                  <a:pt x="1197" y="10847"/>
                </a:lnTo>
                <a:lnTo>
                  <a:pt x="6466" y="11340"/>
                </a:lnTo>
                <a:lnTo>
                  <a:pt x="8980" y="31556"/>
                </a:lnTo>
                <a:lnTo>
                  <a:pt x="20835" y="30323"/>
                </a:lnTo>
                <a:lnTo>
                  <a:pt x="20715" y="14422"/>
                </a:lnTo>
                <a:lnTo>
                  <a:pt x="31851" y="14299"/>
                </a:lnTo>
                <a:lnTo>
                  <a:pt x="31492" y="5177"/>
                </a:lnTo>
                <a:lnTo>
                  <a:pt x="26941" y="6656"/>
                </a:lnTo>
                <a:lnTo>
                  <a:pt x="14489" y="6287"/>
                </a:lnTo>
                <a:lnTo>
                  <a:pt x="1796" y="0"/>
                </a:lnTo>
                <a:lnTo>
                  <a:pt x="0" y="493"/>
                </a:lnTo>
                <a:lnTo>
                  <a:pt x="718" y="9491"/>
                </a:lnTo>
                <a:close/>
              </a:path>
            </a:pathLst>
          </a:custGeom>
          <a:solidFill>
            <a:srgbClr val="ded5c5"/>
          </a:solidFill>
          <a:ln w="6191">
            <a:solidFill>
              <a:srgbClr val="b5a68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07" name="หมู่บ้านพัมนา หมู่ 4 บางระมาด"/>
          <p:cNvSpPr/>
          <p:nvPr/>
        </p:nvSpPr>
        <p:spPr>
          <a:xfrm>
            <a:off x="4024080" y="5121000"/>
            <a:ext cx="78480" cy="15120"/>
          </a:xfrm>
          <a:custGeom>
            <a:avLst/>
            <a:gdLst/>
            <a:ahLst/>
            <a:rect l="l" t="t" r="r" b="b"/>
            <a:pathLst>
              <a:path w="78909" h="15408">
                <a:moveTo>
                  <a:pt x="2993" y="15408"/>
                </a:moveTo>
                <a:lnTo>
                  <a:pt x="77352" y="15038"/>
                </a:lnTo>
                <a:lnTo>
                  <a:pt x="78909" y="1479"/>
                </a:lnTo>
                <a:lnTo>
                  <a:pt x="56637" y="863"/>
                </a:lnTo>
                <a:lnTo>
                  <a:pt x="53284" y="4438"/>
                </a:lnTo>
                <a:lnTo>
                  <a:pt x="26582" y="2712"/>
                </a:lnTo>
                <a:lnTo>
                  <a:pt x="27061" y="0"/>
                </a:lnTo>
                <a:lnTo>
                  <a:pt x="958" y="123"/>
                </a:lnTo>
                <a:lnTo>
                  <a:pt x="0" y="9984"/>
                </a:lnTo>
                <a:lnTo>
                  <a:pt x="2993" y="15408"/>
                </a:lnTo>
                <a:close/>
              </a:path>
            </a:pathLst>
          </a:custGeom>
          <a:solidFill>
            <a:srgbClr val="ded5c5"/>
          </a:solidFill>
          <a:ln w="6191">
            <a:solidFill>
              <a:srgbClr val="b5a68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08" name="หมู่บ้านพัฒนาวัดกาญจนสิงหาสน์(18,19)"/>
          <p:cNvSpPr/>
          <p:nvPr/>
        </p:nvSpPr>
        <p:spPr>
          <a:xfrm>
            <a:off x="4255920" y="5246640"/>
            <a:ext cx="102960" cy="55440"/>
          </a:xfrm>
          <a:custGeom>
            <a:avLst/>
            <a:gdLst/>
            <a:ahLst/>
            <a:rect l="l" t="t" r="r" b="b"/>
            <a:pathLst>
              <a:path w="103455" h="55716">
                <a:moveTo>
                  <a:pt x="92679" y="21571"/>
                </a:moveTo>
                <a:lnTo>
                  <a:pt x="94714" y="9738"/>
                </a:lnTo>
                <a:lnTo>
                  <a:pt x="103455" y="9615"/>
                </a:lnTo>
                <a:lnTo>
                  <a:pt x="102378" y="0"/>
                </a:lnTo>
                <a:lnTo>
                  <a:pt x="73520" y="5670"/>
                </a:lnTo>
                <a:lnTo>
                  <a:pt x="76993" y="15531"/>
                </a:lnTo>
                <a:lnTo>
                  <a:pt x="69090" y="18243"/>
                </a:lnTo>
                <a:lnTo>
                  <a:pt x="68371" y="16641"/>
                </a:lnTo>
                <a:lnTo>
                  <a:pt x="65019" y="17873"/>
                </a:lnTo>
                <a:lnTo>
                  <a:pt x="33527" y="32172"/>
                </a:lnTo>
                <a:lnTo>
                  <a:pt x="16285" y="41663"/>
                </a:lnTo>
                <a:lnTo>
                  <a:pt x="0" y="44375"/>
                </a:lnTo>
                <a:lnTo>
                  <a:pt x="1437" y="54853"/>
                </a:lnTo>
                <a:lnTo>
                  <a:pt x="9699" y="51648"/>
                </a:lnTo>
                <a:lnTo>
                  <a:pt x="17602" y="55716"/>
                </a:lnTo>
                <a:lnTo>
                  <a:pt x="28019" y="51894"/>
                </a:lnTo>
                <a:lnTo>
                  <a:pt x="29935" y="49306"/>
                </a:lnTo>
                <a:lnTo>
                  <a:pt x="30294" y="42773"/>
                </a:lnTo>
                <a:lnTo>
                  <a:pt x="34485" y="39075"/>
                </a:lnTo>
                <a:lnTo>
                  <a:pt x="63702" y="32665"/>
                </a:lnTo>
                <a:lnTo>
                  <a:pt x="63342" y="23051"/>
                </a:lnTo>
                <a:lnTo>
                  <a:pt x="65019" y="22188"/>
                </a:lnTo>
                <a:lnTo>
                  <a:pt x="75556" y="25146"/>
                </a:lnTo>
                <a:lnTo>
                  <a:pt x="84656" y="21325"/>
                </a:lnTo>
                <a:lnTo>
                  <a:pt x="92679" y="21571"/>
                </a:lnTo>
                <a:close/>
              </a:path>
            </a:pathLst>
          </a:custGeom>
          <a:solidFill>
            <a:srgbClr val="ded5c5"/>
          </a:solidFill>
          <a:ln w="6191">
            <a:solidFill>
              <a:srgbClr val="b5a68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09" name="หมู่ 6"/>
          <p:cNvSpPr/>
          <p:nvPr/>
        </p:nvSpPr>
        <p:spPr>
          <a:xfrm>
            <a:off x="4054320" y="5057280"/>
            <a:ext cx="61200" cy="30240"/>
          </a:xfrm>
          <a:custGeom>
            <a:avLst/>
            <a:gdLst/>
            <a:ahLst/>
            <a:rect l="l" t="t" r="r" b="b"/>
            <a:pathLst>
              <a:path w="61427" h="30570">
                <a:moveTo>
                  <a:pt x="0" y="16517"/>
                </a:moveTo>
                <a:lnTo>
                  <a:pt x="36880" y="30570"/>
                </a:lnTo>
                <a:lnTo>
                  <a:pt x="61427" y="29214"/>
                </a:lnTo>
                <a:lnTo>
                  <a:pt x="61067" y="21325"/>
                </a:lnTo>
                <a:lnTo>
                  <a:pt x="47297" y="16024"/>
                </a:lnTo>
                <a:lnTo>
                  <a:pt x="38676" y="7149"/>
                </a:lnTo>
                <a:lnTo>
                  <a:pt x="30055" y="7149"/>
                </a:lnTo>
                <a:lnTo>
                  <a:pt x="6226" y="0"/>
                </a:lnTo>
                <a:lnTo>
                  <a:pt x="0" y="16517"/>
                </a:lnTo>
                <a:close/>
              </a:path>
            </a:pathLst>
          </a:custGeom>
          <a:solidFill>
            <a:srgbClr val="ded5c5"/>
          </a:solidFill>
          <a:ln w="6191">
            <a:solidFill>
              <a:srgbClr val="b5a68d"/>
            </a:solidFill>
            <a:round/>
          </a:ln>
        </p:spPr>
        <p:style>
          <a:lnRef idx="0"/>
          <a:fillRef idx="0"/>
          <a:effectRef idx="0"/>
          <a:fontRef idx="minor"/>
        </p:style>
        <p:txBody>
          <a:bodyPr lIns="90000" rIns="90000" tIns="-14760" bIns="-14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10" name="บ้านไทร"/>
          <p:cNvSpPr/>
          <p:nvPr/>
        </p:nvSpPr>
        <p:spPr>
          <a:xfrm>
            <a:off x="3822840" y="5013000"/>
            <a:ext cx="205920" cy="64440"/>
          </a:xfrm>
          <a:custGeom>
            <a:avLst/>
            <a:gdLst/>
            <a:ahLst/>
            <a:rect l="l" t="t" r="r" b="b"/>
            <a:pathLst>
              <a:path w="206192" h="64960">
                <a:moveTo>
                  <a:pt x="105850" y="27488"/>
                </a:moveTo>
                <a:lnTo>
                  <a:pt x="104413" y="31433"/>
                </a:lnTo>
                <a:lnTo>
                  <a:pt x="111238" y="33405"/>
                </a:lnTo>
                <a:lnTo>
                  <a:pt x="108365" y="47457"/>
                </a:lnTo>
                <a:lnTo>
                  <a:pt x="112915" y="49429"/>
                </a:lnTo>
                <a:lnTo>
                  <a:pt x="116986" y="35500"/>
                </a:lnTo>
                <a:lnTo>
                  <a:pt x="122015" y="35747"/>
                </a:lnTo>
                <a:lnTo>
                  <a:pt x="158176" y="47334"/>
                </a:lnTo>
                <a:lnTo>
                  <a:pt x="204276" y="64960"/>
                </a:lnTo>
                <a:lnTo>
                  <a:pt x="206192" y="47580"/>
                </a:lnTo>
                <a:lnTo>
                  <a:pt x="205354" y="33281"/>
                </a:lnTo>
                <a:lnTo>
                  <a:pt x="192661" y="30693"/>
                </a:lnTo>
                <a:lnTo>
                  <a:pt x="164163" y="28721"/>
                </a:lnTo>
                <a:lnTo>
                  <a:pt x="135186" y="21202"/>
                </a:lnTo>
                <a:lnTo>
                  <a:pt x="120698" y="20832"/>
                </a:lnTo>
                <a:lnTo>
                  <a:pt x="70527" y="11710"/>
                </a:lnTo>
                <a:lnTo>
                  <a:pt x="67414" y="0"/>
                </a:lnTo>
                <a:lnTo>
                  <a:pt x="59151" y="616"/>
                </a:lnTo>
                <a:lnTo>
                  <a:pt x="58074" y="9245"/>
                </a:lnTo>
                <a:lnTo>
                  <a:pt x="958" y="0"/>
                </a:lnTo>
                <a:lnTo>
                  <a:pt x="0" y="4314"/>
                </a:lnTo>
                <a:lnTo>
                  <a:pt x="9220" y="6903"/>
                </a:lnTo>
                <a:lnTo>
                  <a:pt x="11854" y="6163"/>
                </a:lnTo>
                <a:lnTo>
                  <a:pt x="32210" y="9245"/>
                </a:lnTo>
                <a:lnTo>
                  <a:pt x="32809" y="8135"/>
                </a:lnTo>
                <a:lnTo>
                  <a:pt x="55559" y="12696"/>
                </a:lnTo>
                <a:lnTo>
                  <a:pt x="105970" y="26132"/>
                </a:lnTo>
                <a:lnTo>
                  <a:pt x="105132" y="30816"/>
                </a:lnTo>
                <a:lnTo>
                  <a:pt x="105850" y="27488"/>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11" name="เคหะสน. บางกอกน้อย"/>
          <p:cNvSpPr/>
          <p:nvPr/>
        </p:nvSpPr>
        <p:spPr>
          <a:xfrm>
            <a:off x="4552200" y="5264640"/>
            <a:ext cx="13680" cy="12240"/>
          </a:xfrm>
          <a:custGeom>
            <a:avLst/>
            <a:gdLst/>
            <a:ahLst/>
            <a:rect l="l" t="t" r="r" b="b"/>
            <a:pathLst>
              <a:path w="13890" h="12450">
                <a:moveTo>
                  <a:pt x="10417" y="0"/>
                </a:moveTo>
                <a:lnTo>
                  <a:pt x="0" y="9738"/>
                </a:lnTo>
                <a:lnTo>
                  <a:pt x="3113" y="12450"/>
                </a:lnTo>
                <a:lnTo>
                  <a:pt x="13890" y="2465"/>
                </a:lnTo>
                <a:lnTo>
                  <a:pt x="10417" y="0"/>
                </a:lnTo>
                <a:close/>
              </a:path>
            </a:pathLst>
          </a:custGeom>
          <a:solidFill>
            <a:srgbClr val="ded5c5"/>
          </a:solidFill>
          <a:ln w="6191">
            <a:solidFill>
              <a:srgbClr val="b5a68d"/>
            </a:solidFill>
            <a:round/>
          </a:ln>
        </p:spPr>
        <p:style>
          <a:lnRef idx="0"/>
          <a:fillRef idx="0"/>
          <a:effectRef idx="0"/>
          <a:fontRef idx="minor"/>
        </p:style>
        <p:txBody>
          <a:bodyPr lIns="90000" rIns="90000" tIns="-32760" bIns="-32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12" name="พรพิพัฒน์"/>
          <p:cNvSpPr/>
          <p:nvPr/>
        </p:nvSpPr>
        <p:spPr>
          <a:xfrm>
            <a:off x="4553280" y="5254200"/>
            <a:ext cx="42120" cy="66960"/>
          </a:xfrm>
          <a:custGeom>
            <a:avLst/>
            <a:gdLst/>
            <a:ahLst/>
            <a:rect l="l" t="t" r="r" b="b"/>
            <a:pathLst>
              <a:path w="42627" h="67179">
                <a:moveTo>
                  <a:pt x="10896" y="56332"/>
                </a:moveTo>
                <a:lnTo>
                  <a:pt x="10896" y="67056"/>
                </a:lnTo>
                <a:lnTo>
                  <a:pt x="12692" y="67179"/>
                </a:lnTo>
                <a:lnTo>
                  <a:pt x="13171" y="62988"/>
                </a:lnTo>
                <a:lnTo>
                  <a:pt x="17123" y="63358"/>
                </a:lnTo>
                <a:lnTo>
                  <a:pt x="17482" y="53250"/>
                </a:lnTo>
                <a:lnTo>
                  <a:pt x="18560" y="52511"/>
                </a:lnTo>
                <a:lnTo>
                  <a:pt x="13531" y="43759"/>
                </a:lnTo>
                <a:lnTo>
                  <a:pt x="20116" y="38705"/>
                </a:lnTo>
                <a:lnTo>
                  <a:pt x="38197" y="19229"/>
                </a:lnTo>
                <a:lnTo>
                  <a:pt x="35682" y="15531"/>
                </a:lnTo>
                <a:lnTo>
                  <a:pt x="41191" y="11710"/>
                </a:lnTo>
                <a:lnTo>
                  <a:pt x="37838" y="8135"/>
                </a:lnTo>
                <a:lnTo>
                  <a:pt x="42627" y="1233"/>
                </a:lnTo>
                <a:lnTo>
                  <a:pt x="40831" y="0"/>
                </a:lnTo>
                <a:lnTo>
                  <a:pt x="37958" y="2342"/>
                </a:lnTo>
                <a:lnTo>
                  <a:pt x="36401" y="1356"/>
                </a:lnTo>
                <a:lnTo>
                  <a:pt x="31252" y="9368"/>
                </a:lnTo>
                <a:lnTo>
                  <a:pt x="7304" y="33898"/>
                </a:lnTo>
                <a:lnTo>
                  <a:pt x="0" y="34391"/>
                </a:lnTo>
                <a:lnTo>
                  <a:pt x="1078" y="40554"/>
                </a:lnTo>
                <a:lnTo>
                  <a:pt x="7304" y="39938"/>
                </a:lnTo>
                <a:lnTo>
                  <a:pt x="8980" y="49922"/>
                </a:lnTo>
                <a:lnTo>
                  <a:pt x="6226" y="50292"/>
                </a:lnTo>
                <a:lnTo>
                  <a:pt x="6346" y="55962"/>
                </a:lnTo>
                <a:lnTo>
                  <a:pt x="10896" y="56332"/>
                </a:lnTo>
                <a:close/>
              </a:path>
            </a:pathLst>
          </a:custGeom>
          <a:solidFill>
            <a:srgbClr val="ded5c5"/>
          </a:solidFill>
          <a:ln w="6191">
            <a:solidFill>
              <a:srgbClr val="b5a68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13" name="หมู่บ้านพัฒนาวัดอินทราวาส 1"/>
          <p:cNvSpPr/>
          <p:nvPr/>
        </p:nvSpPr>
        <p:spPr>
          <a:xfrm>
            <a:off x="4035240" y="5216760"/>
            <a:ext cx="72000" cy="81000"/>
          </a:xfrm>
          <a:custGeom>
            <a:avLst/>
            <a:gdLst/>
            <a:ahLst/>
            <a:rect l="l" t="t" r="r" b="b"/>
            <a:pathLst>
              <a:path w="72323" h="81478">
                <a:moveTo>
                  <a:pt x="69928" y="27735"/>
                </a:moveTo>
                <a:lnTo>
                  <a:pt x="72323" y="2465"/>
                </a:lnTo>
                <a:lnTo>
                  <a:pt x="67533" y="1726"/>
                </a:lnTo>
                <a:lnTo>
                  <a:pt x="65498" y="17997"/>
                </a:lnTo>
                <a:lnTo>
                  <a:pt x="57236" y="17750"/>
                </a:lnTo>
                <a:lnTo>
                  <a:pt x="60229" y="1849"/>
                </a:lnTo>
                <a:lnTo>
                  <a:pt x="52566" y="0"/>
                </a:lnTo>
                <a:lnTo>
                  <a:pt x="46339" y="17011"/>
                </a:lnTo>
                <a:lnTo>
                  <a:pt x="0" y="15162"/>
                </a:lnTo>
                <a:lnTo>
                  <a:pt x="2036" y="76917"/>
                </a:lnTo>
                <a:lnTo>
                  <a:pt x="26582" y="79876"/>
                </a:lnTo>
                <a:lnTo>
                  <a:pt x="65498" y="81478"/>
                </a:lnTo>
                <a:lnTo>
                  <a:pt x="69928" y="57318"/>
                </a:lnTo>
                <a:lnTo>
                  <a:pt x="69928" y="27735"/>
                </a:lnTo>
                <a:close/>
              </a:path>
            </a:pathLst>
          </a:custGeom>
          <a:solidFill>
            <a:srgbClr val="ded5c5"/>
          </a:solidFill>
          <a:ln w="6191">
            <a:solidFill>
              <a:srgbClr val="b5a68d"/>
            </a:solidFill>
            <a:round/>
          </a:ln>
        </p:spPr>
        <p:style>
          <a:lnRef idx="0"/>
          <a:fillRef idx="0"/>
          <a:effectRef idx="0"/>
          <a:fontRef idx="minor"/>
        </p:style>
        <p:txBody>
          <a:bodyPr lIns="90000" rIns="90000" tIns="36000" bIns="36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14" name="หมู่บ้านพัฒนาวัดอินทราวาส 2"/>
          <p:cNvSpPr/>
          <p:nvPr/>
        </p:nvSpPr>
        <p:spPr>
          <a:xfrm>
            <a:off x="4113360" y="5248800"/>
            <a:ext cx="63720" cy="55440"/>
          </a:xfrm>
          <a:custGeom>
            <a:avLst/>
            <a:gdLst/>
            <a:ahLst/>
            <a:rect l="l" t="t" r="r" b="b"/>
            <a:pathLst>
              <a:path w="63941" h="55962">
                <a:moveTo>
                  <a:pt x="45741" y="11710"/>
                </a:moveTo>
                <a:lnTo>
                  <a:pt x="42029" y="9984"/>
                </a:lnTo>
                <a:lnTo>
                  <a:pt x="39634" y="2835"/>
                </a:lnTo>
                <a:lnTo>
                  <a:pt x="2036" y="0"/>
                </a:lnTo>
                <a:lnTo>
                  <a:pt x="0" y="51155"/>
                </a:lnTo>
                <a:lnTo>
                  <a:pt x="13291" y="49183"/>
                </a:lnTo>
                <a:lnTo>
                  <a:pt x="22870" y="53743"/>
                </a:lnTo>
                <a:lnTo>
                  <a:pt x="33048" y="50908"/>
                </a:lnTo>
                <a:lnTo>
                  <a:pt x="42867" y="50908"/>
                </a:lnTo>
                <a:lnTo>
                  <a:pt x="46579" y="54853"/>
                </a:lnTo>
                <a:lnTo>
                  <a:pt x="55440" y="51648"/>
                </a:lnTo>
                <a:lnTo>
                  <a:pt x="57715" y="55962"/>
                </a:lnTo>
                <a:lnTo>
                  <a:pt x="63821" y="55592"/>
                </a:lnTo>
                <a:lnTo>
                  <a:pt x="63941" y="51771"/>
                </a:lnTo>
                <a:lnTo>
                  <a:pt x="60349" y="50292"/>
                </a:lnTo>
                <a:lnTo>
                  <a:pt x="59391" y="39938"/>
                </a:lnTo>
                <a:lnTo>
                  <a:pt x="60828" y="24406"/>
                </a:lnTo>
                <a:lnTo>
                  <a:pt x="48734" y="25023"/>
                </a:lnTo>
                <a:lnTo>
                  <a:pt x="48255" y="14545"/>
                </a:lnTo>
                <a:lnTo>
                  <a:pt x="45741" y="11710"/>
                </a:lnTo>
                <a:close/>
              </a:path>
            </a:pathLst>
          </a:custGeom>
          <a:solidFill>
            <a:srgbClr val="ded5c5"/>
          </a:solidFill>
          <a:ln w="6191">
            <a:solidFill>
              <a:srgbClr val="b5a68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15" name="หมู่บ้านมหาดไทย 1"/>
          <p:cNvSpPr/>
          <p:nvPr/>
        </p:nvSpPr>
        <p:spPr>
          <a:xfrm>
            <a:off x="3952440" y="5175360"/>
            <a:ext cx="74160" cy="66240"/>
          </a:xfrm>
          <a:custGeom>
            <a:avLst/>
            <a:gdLst/>
            <a:ahLst/>
            <a:rect l="l" t="t" r="r" b="b"/>
            <a:pathLst>
              <a:path w="74598" h="66686">
                <a:moveTo>
                  <a:pt x="42029" y="41540"/>
                </a:moveTo>
                <a:lnTo>
                  <a:pt x="42508" y="34268"/>
                </a:lnTo>
                <a:lnTo>
                  <a:pt x="73760" y="35870"/>
                </a:lnTo>
                <a:lnTo>
                  <a:pt x="74598" y="30693"/>
                </a:lnTo>
                <a:lnTo>
                  <a:pt x="60588" y="29090"/>
                </a:lnTo>
                <a:lnTo>
                  <a:pt x="60229" y="25762"/>
                </a:lnTo>
                <a:lnTo>
                  <a:pt x="42747" y="23913"/>
                </a:lnTo>
                <a:lnTo>
                  <a:pt x="42388" y="12696"/>
                </a:lnTo>
                <a:lnTo>
                  <a:pt x="31611" y="10601"/>
                </a:lnTo>
                <a:lnTo>
                  <a:pt x="33407" y="2835"/>
                </a:lnTo>
                <a:lnTo>
                  <a:pt x="3712" y="0"/>
                </a:lnTo>
                <a:lnTo>
                  <a:pt x="0" y="63481"/>
                </a:lnTo>
                <a:lnTo>
                  <a:pt x="57116" y="66686"/>
                </a:lnTo>
                <a:lnTo>
                  <a:pt x="59870" y="43266"/>
                </a:lnTo>
                <a:lnTo>
                  <a:pt x="42029" y="41540"/>
                </a:lnTo>
                <a:close/>
              </a:path>
            </a:pathLst>
          </a:custGeom>
          <a:solidFill>
            <a:srgbClr val="ded5c5"/>
          </a:solidFill>
          <a:ln w="6191">
            <a:solidFill>
              <a:srgbClr val="b5a68d"/>
            </a:solidFill>
            <a:round/>
          </a:ln>
        </p:spPr>
        <p:style>
          <a:lnRef idx="0"/>
          <a:fillRef idx="0"/>
          <a:effectRef idx="0"/>
          <a:fontRef idx="minor"/>
        </p:style>
        <p:txBody>
          <a:bodyPr lIns="90000" rIns="90000" tIns="21240" bIns="21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16" name="วัดเกาะ"/>
          <p:cNvSpPr/>
          <p:nvPr/>
        </p:nvSpPr>
        <p:spPr>
          <a:xfrm>
            <a:off x="4332240" y="5464440"/>
            <a:ext cx="16560" cy="32040"/>
          </a:xfrm>
          <a:custGeom>
            <a:avLst/>
            <a:gdLst/>
            <a:ahLst/>
            <a:rect l="l" t="t" r="r" b="b"/>
            <a:pathLst>
              <a:path w="16764" h="32295">
                <a:moveTo>
                  <a:pt x="0" y="31679"/>
                </a:moveTo>
                <a:lnTo>
                  <a:pt x="3353" y="32295"/>
                </a:lnTo>
                <a:lnTo>
                  <a:pt x="14848" y="24406"/>
                </a:lnTo>
                <a:lnTo>
                  <a:pt x="16764" y="1849"/>
                </a:lnTo>
                <a:lnTo>
                  <a:pt x="12932" y="0"/>
                </a:lnTo>
                <a:lnTo>
                  <a:pt x="11735" y="1972"/>
                </a:lnTo>
                <a:lnTo>
                  <a:pt x="6945" y="1602"/>
                </a:lnTo>
                <a:lnTo>
                  <a:pt x="0" y="31679"/>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17" name="คลองบางน้อย"/>
          <p:cNvSpPr/>
          <p:nvPr/>
        </p:nvSpPr>
        <p:spPr>
          <a:xfrm>
            <a:off x="4291560" y="5457960"/>
            <a:ext cx="10440" cy="17640"/>
          </a:xfrm>
          <a:custGeom>
            <a:avLst/>
            <a:gdLst/>
            <a:ahLst/>
            <a:rect l="l" t="t" r="r" b="b"/>
            <a:pathLst>
              <a:path w="10657" h="17873">
                <a:moveTo>
                  <a:pt x="958" y="0"/>
                </a:moveTo>
                <a:lnTo>
                  <a:pt x="0" y="16641"/>
                </a:lnTo>
                <a:lnTo>
                  <a:pt x="3113" y="17873"/>
                </a:lnTo>
                <a:lnTo>
                  <a:pt x="10657" y="3205"/>
                </a:lnTo>
                <a:lnTo>
                  <a:pt x="958" y="0"/>
                </a:lnTo>
                <a:close/>
              </a:path>
            </a:pathLst>
          </a:custGeom>
          <a:solidFill>
            <a:srgbClr val="ded5c5"/>
          </a:solidFill>
          <a:ln w="6191">
            <a:solidFill>
              <a:srgbClr val="b5a68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18" name="หมู่ 8 วัดทองบางเชือกหนัง"/>
          <p:cNvSpPr/>
          <p:nvPr/>
        </p:nvSpPr>
        <p:spPr>
          <a:xfrm>
            <a:off x="4292280" y="5467680"/>
            <a:ext cx="18360" cy="25200"/>
          </a:xfrm>
          <a:custGeom>
            <a:avLst/>
            <a:gdLst/>
            <a:ahLst/>
            <a:rect l="l" t="t" r="r" b="b"/>
            <a:pathLst>
              <a:path w="18679" h="25516">
                <a:moveTo>
                  <a:pt x="7184" y="0"/>
                </a:moveTo>
                <a:lnTo>
                  <a:pt x="0" y="24653"/>
                </a:lnTo>
                <a:lnTo>
                  <a:pt x="9819" y="25516"/>
                </a:lnTo>
                <a:lnTo>
                  <a:pt x="18679" y="4561"/>
                </a:lnTo>
                <a:lnTo>
                  <a:pt x="7184" y="0"/>
                </a:lnTo>
                <a:close/>
              </a:path>
            </a:pathLst>
          </a:custGeom>
          <a:solidFill>
            <a:srgbClr val="ded5c5"/>
          </a:solidFill>
          <a:ln w="6191">
            <a:solidFill>
              <a:srgbClr val="b5a68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19" name="ทรัพย์สินพัฒนา"/>
          <p:cNvSpPr/>
          <p:nvPr/>
        </p:nvSpPr>
        <p:spPr>
          <a:xfrm>
            <a:off x="4279320" y="5458320"/>
            <a:ext cx="12240" cy="46800"/>
          </a:xfrm>
          <a:custGeom>
            <a:avLst/>
            <a:gdLst/>
            <a:ahLst/>
            <a:rect l="l" t="t" r="r" b="b"/>
            <a:pathLst>
              <a:path w="12692" h="47334">
                <a:moveTo>
                  <a:pt x="3712" y="12080"/>
                </a:moveTo>
                <a:lnTo>
                  <a:pt x="120" y="34761"/>
                </a:lnTo>
                <a:lnTo>
                  <a:pt x="0" y="46471"/>
                </a:lnTo>
                <a:lnTo>
                  <a:pt x="2275" y="47334"/>
                </a:lnTo>
                <a:lnTo>
                  <a:pt x="4550" y="47334"/>
                </a:lnTo>
                <a:lnTo>
                  <a:pt x="6226" y="33651"/>
                </a:lnTo>
                <a:lnTo>
                  <a:pt x="12333" y="14052"/>
                </a:lnTo>
                <a:lnTo>
                  <a:pt x="12692" y="0"/>
                </a:lnTo>
                <a:lnTo>
                  <a:pt x="6226" y="123"/>
                </a:lnTo>
                <a:lnTo>
                  <a:pt x="3712" y="12080"/>
                </a:lnTo>
                <a:close/>
              </a:path>
            </a:pathLst>
          </a:custGeom>
          <a:solidFill>
            <a:srgbClr val="ded5c5"/>
          </a:solidFill>
          <a:ln w="6191">
            <a:solidFill>
              <a:srgbClr val="b5a68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20" name="วัดวิเศษการ - วัดฉิมทายกาวาส"/>
          <p:cNvSpPr/>
          <p:nvPr/>
        </p:nvSpPr>
        <p:spPr>
          <a:xfrm>
            <a:off x="4665600" y="5267520"/>
            <a:ext cx="38880" cy="47160"/>
          </a:xfrm>
          <a:custGeom>
            <a:avLst/>
            <a:gdLst/>
            <a:ahLst/>
            <a:rect l="l" t="t" r="r" b="b"/>
            <a:pathLst>
              <a:path w="39155" h="47457">
                <a:moveTo>
                  <a:pt x="21074" y="2712"/>
                </a:moveTo>
                <a:lnTo>
                  <a:pt x="16764" y="2712"/>
                </a:lnTo>
                <a:lnTo>
                  <a:pt x="16644" y="4438"/>
                </a:lnTo>
                <a:lnTo>
                  <a:pt x="8262" y="8752"/>
                </a:lnTo>
                <a:lnTo>
                  <a:pt x="8382" y="11464"/>
                </a:lnTo>
                <a:lnTo>
                  <a:pt x="0" y="12450"/>
                </a:lnTo>
                <a:lnTo>
                  <a:pt x="1557" y="21695"/>
                </a:lnTo>
                <a:lnTo>
                  <a:pt x="10537" y="20832"/>
                </a:lnTo>
                <a:lnTo>
                  <a:pt x="14129" y="47457"/>
                </a:lnTo>
                <a:lnTo>
                  <a:pt x="39155" y="45115"/>
                </a:lnTo>
                <a:lnTo>
                  <a:pt x="32569" y="370"/>
                </a:lnTo>
                <a:lnTo>
                  <a:pt x="21314" y="0"/>
                </a:lnTo>
                <a:lnTo>
                  <a:pt x="21074" y="2712"/>
                </a:lnTo>
                <a:close/>
              </a:path>
            </a:pathLst>
          </a:custGeom>
          <a:solidFill>
            <a:srgbClr val="ded5c5"/>
          </a:solidFill>
          <a:ln w="6191">
            <a:solidFill>
              <a:srgbClr val="b5a68d"/>
            </a:solidFill>
            <a:round/>
          </a:ln>
        </p:spPr>
        <p:style>
          <a:lnRef idx="0"/>
          <a:fillRef idx="0"/>
          <a:effectRef idx="0"/>
          <a:fontRef idx="minor"/>
        </p:style>
        <p:txBody>
          <a:bodyPr lIns="90000" rIns="90000" tIns="2160" bIns="2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21" name="หลังวัดไก่เตี้ย"/>
          <p:cNvSpPr/>
          <p:nvPr/>
        </p:nvSpPr>
        <p:spPr>
          <a:xfrm>
            <a:off x="4467600" y="4937040"/>
            <a:ext cx="31320" cy="28080"/>
          </a:xfrm>
          <a:custGeom>
            <a:avLst/>
            <a:gdLst/>
            <a:ahLst/>
            <a:rect l="l" t="t" r="r" b="b"/>
            <a:pathLst>
              <a:path w="31611" h="28474">
                <a:moveTo>
                  <a:pt x="28738" y="0"/>
                </a:moveTo>
                <a:lnTo>
                  <a:pt x="18320" y="3082"/>
                </a:lnTo>
                <a:lnTo>
                  <a:pt x="0" y="15285"/>
                </a:lnTo>
                <a:lnTo>
                  <a:pt x="9819" y="28474"/>
                </a:lnTo>
                <a:lnTo>
                  <a:pt x="24666" y="23544"/>
                </a:lnTo>
                <a:lnTo>
                  <a:pt x="23349" y="13806"/>
                </a:lnTo>
                <a:lnTo>
                  <a:pt x="31611" y="12943"/>
                </a:lnTo>
                <a:lnTo>
                  <a:pt x="30534" y="2835"/>
                </a:lnTo>
                <a:lnTo>
                  <a:pt x="29217" y="2835"/>
                </a:lnTo>
                <a:lnTo>
                  <a:pt x="28738" y="0"/>
                </a:lnTo>
                <a:close/>
              </a:path>
            </a:pathLst>
          </a:custGeom>
          <a:solidFill>
            <a:srgbClr val="ded5c5"/>
          </a:solidFill>
          <a:ln w="6191">
            <a:solidFill>
              <a:srgbClr val="b5a68d"/>
            </a:solidFill>
            <a:round/>
          </a:ln>
        </p:spPr>
        <p:style>
          <a:lnRef idx="0"/>
          <a:fillRef idx="0"/>
          <a:effectRef idx="0"/>
          <a:fontRef idx="minor"/>
        </p:style>
        <p:txBody>
          <a:bodyPr lIns="90000" rIns="90000" tIns="-16920" bIns="-16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22" name="วัดกระจัง"/>
          <p:cNvSpPr/>
          <p:nvPr/>
        </p:nvSpPr>
        <p:spPr>
          <a:xfrm>
            <a:off x="4169160" y="5063760"/>
            <a:ext cx="29160" cy="34560"/>
          </a:xfrm>
          <a:custGeom>
            <a:avLst/>
            <a:gdLst/>
            <a:ahLst/>
            <a:rect l="l" t="t" r="r" b="b"/>
            <a:pathLst>
              <a:path w="29695" h="34884">
                <a:moveTo>
                  <a:pt x="3832" y="17257"/>
                </a:moveTo>
                <a:lnTo>
                  <a:pt x="0" y="17380"/>
                </a:lnTo>
                <a:lnTo>
                  <a:pt x="120" y="23790"/>
                </a:lnTo>
                <a:lnTo>
                  <a:pt x="21314" y="34268"/>
                </a:lnTo>
                <a:lnTo>
                  <a:pt x="25385" y="34884"/>
                </a:lnTo>
                <a:lnTo>
                  <a:pt x="22990" y="17627"/>
                </a:lnTo>
                <a:lnTo>
                  <a:pt x="21074" y="18120"/>
                </a:lnTo>
                <a:lnTo>
                  <a:pt x="20356" y="15285"/>
                </a:lnTo>
                <a:lnTo>
                  <a:pt x="23230" y="10231"/>
                </a:lnTo>
                <a:lnTo>
                  <a:pt x="29576" y="10108"/>
                </a:lnTo>
                <a:lnTo>
                  <a:pt x="29695" y="7396"/>
                </a:lnTo>
                <a:lnTo>
                  <a:pt x="16404" y="6533"/>
                </a:lnTo>
                <a:lnTo>
                  <a:pt x="15806" y="0"/>
                </a:lnTo>
                <a:lnTo>
                  <a:pt x="6586" y="123"/>
                </a:lnTo>
                <a:lnTo>
                  <a:pt x="6825" y="17134"/>
                </a:lnTo>
                <a:lnTo>
                  <a:pt x="3832" y="17257"/>
                </a:lnTo>
                <a:close/>
              </a:path>
            </a:pathLst>
          </a:custGeom>
          <a:solidFill>
            <a:srgbClr val="ded5c5"/>
          </a:solidFill>
          <a:ln w="6191">
            <a:solidFill>
              <a:srgbClr val="b5a68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23" name="มณฑป"/>
          <p:cNvSpPr/>
          <p:nvPr/>
        </p:nvSpPr>
        <p:spPr>
          <a:xfrm>
            <a:off x="4284000" y="5045760"/>
            <a:ext cx="43560" cy="70200"/>
          </a:xfrm>
          <a:custGeom>
            <a:avLst/>
            <a:gdLst/>
            <a:ahLst/>
            <a:rect l="l" t="t" r="r" b="b"/>
            <a:pathLst>
              <a:path w="43825" h="70631">
                <a:moveTo>
                  <a:pt x="33407" y="39568"/>
                </a:moveTo>
                <a:lnTo>
                  <a:pt x="8741" y="12820"/>
                </a:lnTo>
                <a:lnTo>
                  <a:pt x="4550" y="12820"/>
                </a:lnTo>
                <a:lnTo>
                  <a:pt x="5029" y="0"/>
                </a:lnTo>
                <a:lnTo>
                  <a:pt x="3113" y="0"/>
                </a:lnTo>
                <a:lnTo>
                  <a:pt x="120" y="29584"/>
                </a:lnTo>
                <a:lnTo>
                  <a:pt x="1557" y="30200"/>
                </a:lnTo>
                <a:lnTo>
                  <a:pt x="1197" y="35130"/>
                </a:lnTo>
                <a:lnTo>
                  <a:pt x="2515" y="35377"/>
                </a:lnTo>
                <a:lnTo>
                  <a:pt x="0" y="56702"/>
                </a:lnTo>
                <a:lnTo>
                  <a:pt x="17123" y="64960"/>
                </a:lnTo>
                <a:lnTo>
                  <a:pt x="23589" y="70631"/>
                </a:lnTo>
                <a:lnTo>
                  <a:pt x="38077" y="70261"/>
                </a:lnTo>
                <a:lnTo>
                  <a:pt x="41310" y="49799"/>
                </a:lnTo>
                <a:lnTo>
                  <a:pt x="43825" y="43636"/>
                </a:lnTo>
                <a:lnTo>
                  <a:pt x="33407" y="39568"/>
                </a:lnTo>
                <a:close/>
              </a:path>
            </a:pathLst>
          </a:custGeom>
          <a:solidFill>
            <a:srgbClr val="ded5c5"/>
          </a:solidFill>
          <a:ln w="6191">
            <a:solidFill>
              <a:srgbClr val="b5a68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24" name="หมู่บ้านพัฒนาหมู่ 7 ฉิมพลี"/>
          <p:cNvSpPr/>
          <p:nvPr/>
        </p:nvSpPr>
        <p:spPr>
          <a:xfrm>
            <a:off x="3845160" y="4820760"/>
            <a:ext cx="27720" cy="43920"/>
          </a:xfrm>
          <a:custGeom>
            <a:avLst/>
            <a:gdLst/>
            <a:ahLst/>
            <a:rect l="l" t="t" r="r" b="b"/>
            <a:pathLst>
              <a:path w="28139" h="44252">
                <a:moveTo>
                  <a:pt x="3712" y="19106"/>
                </a:moveTo>
                <a:lnTo>
                  <a:pt x="11615" y="44252"/>
                </a:lnTo>
                <a:lnTo>
                  <a:pt x="28139" y="38828"/>
                </a:lnTo>
                <a:lnTo>
                  <a:pt x="15686" y="0"/>
                </a:lnTo>
                <a:lnTo>
                  <a:pt x="8502" y="1109"/>
                </a:lnTo>
                <a:lnTo>
                  <a:pt x="6705" y="4314"/>
                </a:lnTo>
                <a:lnTo>
                  <a:pt x="0" y="6533"/>
                </a:lnTo>
                <a:lnTo>
                  <a:pt x="3712" y="19106"/>
                </a:lnTo>
                <a:close/>
              </a:path>
            </a:pathLst>
          </a:custGeom>
          <a:solidFill>
            <a:srgbClr val="ded5c5"/>
          </a:solidFill>
          <a:ln w="6191">
            <a:solidFill>
              <a:srgbClr val="b5a68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25" name="สมรโกฏิ-บางระจัน"/>
          <p:cNvSpPr/>
          <p:nvPr/>
        </p:nvSpPr>
        <p:spPr>
          <a:xfrm>
            <a:off x="4232160" y="5052600"/>
            <a:ext cx="50760" cy="52560"/>
          </a:xfrm>
          <a:custGeom>
            <a:avLst/>
            <a:gdLst/>
            <a:ahLst/>
            <a:rect l="l" t="t" r="r" b="b"/>
            <a:pathLst>
              <a:path w="51009" h="52757">
                <a:moveTo>
                  <a:pt x="10417" y="50169"/>
                </a:moveTo>
                <a:lnTo>
                  <a:pt x="13291" y="52264"/>
                </a:lnTo>
                <a:lnTo>
                  <a:pt x="18081" y="52757"/>
                </a:lnTo>
                <a:lnTo>
                  <a:pt x="29456" y="51894"/>
                </a:lnTo>
                <a:lnTo>
                  <a:pt x="42029" y="45854"/>
                </a:lnTo>
                <a:lnTo>
                  <a:pt x="49453" y="48566"/>
                </a:lnTo>
                <a:lnTo>
                  <a:pt x="51009" y="46841"/>
                </a:lnTo>
                <a:lnTo>
                  <a:pt x="46818" y="38828"/>
                </a:lnTo>
                <a:lnTo>
                  <a:pt x="47297" y="32049"/>
                </a:lnTo>
                <a:lnTo>
                  <a:pt x="42627" y="28228"/>
                </a:lnTo>
                <a:lnTo>
                  <a:pt x="40472" y="20832"/>
                </a:lnTo>
                <a:lnTo>
                  <a:pt x="36401" y="18366"/>
                </a:lnTo>
                <a:lnTo>
                  <a:pt x="34605" y="11340"/>
                </a:lnTo>
                <a:lnTo>
                  <a:pt x="25984" y="0"/>
                </a:lnTo>
                <a:lnTo>
                  <a:pt x="0" y="5300"/>
                </a:lnTo>
                <a:lnTo>
                  <a:pt x="3832" y="45978"/>
                </a:lnTo>
                <a:lnTo>
                  <a:pt x="10417" y="50169"/>
                </a:lnTo>
                <a:close/>
              </a:path>
            </a:pathLst>
          </a:custGeom>
          <a:solidFill>
            <a:srgbClr val="ded5c5"/>
          </a:solidFill>
          <a:ln w="6191">
            <a:solidFill>
              <a:srgbClr val="b5a68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26" name="หมู่บ้าน 2521"/>
          <p:cNvSpPr/>
          <p:nvPr/>
        </p:nvSpPr>
        <p:spPr>
          <a:xfrm>
            <a:off x="3958560" y="4813200"/>
            <a:ext cx="41760" cy="47520"/>
          </a:xfrm>
          <a:custGeom>
            <a:avLst/>
            <a:gdLst/>
            <a:ahLst/>
            <a:rect l="l" t="t" r="r" b="b"/>
            <a:pathLst>
              <a:path w="42268" h="47827">
                <a:moveTo>
                  <a:pt x="0" y="15038"/>
                </a:moveTo>
                <a:lnTo>
                  <a:pt x="14129" y="47827"/>
                </a:lnTo>
                <a:lnTo>
                  <a:pt x="36640" y="35747"/>
                </a:lnTo>
                <a:lnTo>
                  <a:pt x="34246" y="30446"/>
                </a:lnTo>
                <a:lnTo>
                  <a:pt x="42268" y="25269"/>
                </a:lnTo>
                <a:lnTo>
                  <a:pt x="30653" y="0"/>
                </a:lnTo>
                <a:lnTo>
                  <a:pt x="0" y="15038"/>
                </a:lnTo>
                <a:close/>
              </a:path>
            </a:pathLst>
          </a:custGeom>
          <a:solidFill>
            <a:srgbClr val="ded5c5"/>
          </a:solidFill>
          <a:ln w="6191">
            <a:solidFill>
              <a:srgbClr val="b5a68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27" name="ฉิมพลี"/>
          <p:cNvSpPr/>
          <p:nvPr/>
        </p:nvSpPr>
        <p:spPr>
          <a:xfrm>
            <a:off x="4160520" y="4920840"/>
            <a:ext cx="74880" cy="93600"/>
          </a:xfrm>
          <a:custGeom>
            <a:avLst/>
            <a:gdLst/>
            <a:ahLst/>
            <a:rect l="l" t="t" r="r" b="b"/>
            <a:pathLst>
              <a:path w="75197" h="94051">
                <a:moveTo>
                  <a:pt x="14967" y="19353"/>
                </a:moveTo>
                <a:lnTo>
                  <a:pt x="0" y="30816"/>
                </a:lnTo>
                <a:lnTo>
                  <a:pt x="3113" y="35747"/>
                </a:lnTo>
                <a:lnTo>
                  <a:pt x="4550" y="42650"/>
                </a:lnTo>
                <a:lnTo>
                  <a:pt x="15806" y="41417"/>
                </a:lnTo>
                <a:lnTo>
                  <a:pt x="17721" y="50785"/>
                </a:lnTo>
                <a:lnTo>
                  <a:pt x="16285" y="51032"/>
                </a:lnTo>
                <a:lnTo>
                  <a:pt x="16404" y="52634"/>
                </a:lnTo>
                <a:lnTo>
                  <a:pt x="17721" y="52511"/>
                </a:lnTo>
                <a:lnTo>
                  <a:pt x="18919" y="55592"/>
                </a:lnTo>
                <a:lnTo>
                  <a:pt x="20236" y="68905"/>
                </a:lnTo>
                <a:lnTo>
                  <a:pt x="21314" y="68905"/>
                </a:lnTo>
                <a:lnTo>
                  <a:pt x="23828" y="94051"/>
                </a:lnTo>
                <a:lnTo>
                  <a:pt x="54961" y="93558"/>
                </a:lnTo>
                <a:lnTo>
                  <a:pt x="59032" y="92325"/>
                </a:lnTo>
                <a:lnTo>
                  <a:pt x="60588" y="90723"/>
                </a:lnTo>
                <a:lnTo>
                  <a:pt x="61427" y="60030"/>
                </a:lnTo>
                <a:lnTo>
                  <a:pt x="63462" y="54853"/>
                </a:lnTo>
                <a:lnTo>
                  <a:pt x="65258" y="54483"/>
                </a:lnTo>
                <a:lnTo>
                  <a:pt x="64899" y="51278"/>
                </a:lnTo>
                <a:lnTo>
                  <a:pt x="75197" y="26009"/>
                </a:lnTo>
                <a:lnTo>
                  <a:pt x="63462" y="14668"/>
                </a:lnTo>
                <a:lnTo>
                  <a:pt x="42148" y="0"/>
                </a:lnTo>
                <a:lnTo>
                  <a:pt x="14967" y="1935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28" name="ชุมชนรวมพล"/>
          <p:cNvSpPr/>
          <p:nvPr/>
        </p:nvSpPr>
        <p:spPr>
          <a:xfrm>
            <a:off x="4622400" y="5681160"/>
            <a:ext cx="34200" cy="43200"/>
          </a:xfrm>
          <a:custGeom>
            <a:avLst/>
            <a:gdLst/>
            <a:ahLst/>
            <a:rect l="l" t="t" r="r" b="b"/>
            <a:pathLst>
              <a:path w="34725" h="43636">
                <a:moveTo>
                  <a:pt x="30534" y="3944"/>
                </a:moveTo>
                <a:lnTo>
                  <a:pt x="29935" y="2958"/>
                </a:lnTo>
                <a:lnTo>
                  <a:pt x="21314" y="6903"/>
                </a:lnTo>
                <a:lnTo>
                  <a:pt x="16883" y="0"/>
                </a:lnTo>
                <a:lnTo>
                  <a:pt x="0" y="4807"/>
                </a:lnTo>
                <a:lnTo>
                  <a:pt x="10178" y="43636"/>
                </a:lnTo>
                <a:lnTo>
                  <a:pt x="34725" y="39075"/>
                </a:lnTo>
                <a:lnTo>
                  <a:pt x="31372" y="19846"/>
                </a:lnTo>
                <a:lnTo>
                  <a:pt x="30534" y="3944"/>
                </a:lnTo>
                <a:close/>
              </a:path>
            </a:pathLst>
          </a:custGeom>
          <a:solidFill>
            <a:srgbClr val="ded5c5"/>
          </a:solidFill>
          <a:ln w="6191">
            <a:solidFill>
              <a:srgbClr val="b5a68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29" name="หมู่บ้านซอยสุนทรศิริ"/>
          <p:cNvSpPr/>
          <p:nvPr/>
        </p:nvSpPr>
        <p:spPr>
          <a:xfrm>
            <a:off x="5799600" y="5044680"/>
            <a:ext cx="32400" cy="25560"/>
          </a:xfrm>
          <a:custGeom>
            <a:avLst/>
            <a:gdLst/>
            <a:ahLst/>
            <a:rect l="l" t="t" r="r" b="b"/>
            <a:pathLst>
              <a:path w="32928" h="25886">
                <a:moveTo>
                  <a:pt x="3113" y="8135"/>
                </a:moveTo>
                <a:lnTo>
                  <a:pt x="0" y="25639"/>
                </a:lnTo>
                <a:lnTo>
                  <a:pt x="5388" y="25886"/>
                </a:lnTo>
                <a:lnTo>
                  <a:pt x="6346" y="21325"/>
                </a:lnTo>
                <a:lnTo>
                  <a:pt x="29336" y="25639"/>
                </a:lnTo>
                <a:lnTo>
                  <a:pt x="32928" y="6410"/>
                </a:lnTo>
                <a:lnTo>
                  <a:pt x="4311" y="0"/>
                </a:lnTo>
                <a:lnTo>
                  <a:pt x="3113" y="8135"/>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30" name="ชุมชนซอยประชาราษฎร์บำเพ็ญ 12"/>
          <p:cNvSpPr/>
          <p:nvPr/>
        </p:nvSpPr>
        <p:spPr>
          <a:xfrm>
            <a:off x="5818680" y="5051160"/>
            <a:ext cx="32760" cy="75960"/>
          </a:xfrm>
          <a:custGeom>
            <a:avLst/>
            <a:gdLst/>
            <a:ahLst/>
            <a:rect l="l" t="t" r="r" b="b"/>
            <a:pathLst>
              <a:path w="33288" h="76424">
                <a:moveTo>
                  <a:pt x="25505" y="8629"/>
                </a:moveTo>
                <a:lnTo>
                  <a:pt x="23230" y="7766"/>
                </a:lnTo>
                <a:lnTo>
                  <a:pt x="10657" y="44252"/>
                </a:lnTo>
                <a:lnTo>
                  <a:pt x="7184" y="43266"/>
                </a:lnTo>
                <a:lnTo>
                  <a:pt x="2515" y="54360"/>
                </a:lnTo>
                <a:lnTo>
                  <a:pt x="3832" y="54976"/>
                </a:lnTo>
                <a:lnTo>
                  <a:pt x="0" y="67303"/>
                </a:lnTo>
                <a:lnTo>
                  <a:pt x="4909" y="69275"/>
                </a:lnTo>
                <a:lnTo>
                  <a:pt x="2993" y="74822"/>
                </a:lnTo>
                <a:lnTo>
                  <a:pt x="7663" y="76424"/>
                </a:lnTo>
                <a:lnTo>
                  <a:pt x="33288" y="1972"/>
                </a:lnTo>
                <a:lnTo>
                  <a:pt x="28738" y="0"/>
                </a:lnTo>
                <a:lnTo>
                  <a:pt x="25505" y="8629"/>
                </a:lnTo>
                <a:close/>
              </a:path>
            </a:pathLst>
          </a:custGeom>
          <a:solidFill>
            <a:srgbClr val="ded5c5"/>
          </a:solidFill>
          <a:ln w="6191">
            <a:solidFill>
              <a:srgbClr val="b5a68d"/>
            </a:solidFill>
            <a:round/>
          </a:ln>
        </p:spPr>
        <p:style>
          <a:lnRef idx="0"/>
          <a:fillRef idx="0"/>
          <a:effectRef idx="0"/>
          <a:fontRef idx="minor"/>
        </p:style>
        <p:txBody>
          <a:bodyPr lIns="90000" rIns="90000" tIns="30960" bIns="30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31" name="หมู่บ้านศรีนคร"/>
          <p:cNvSpPr/>
          <p:nvPr/>
        </p:nvSpPr>
        <p:spPr>
          <a:xfrm>
            <a:off x="5968800" y="5370120"/>
            <a:ext cx="18720" cy="32760"/>
          </a:xfrm>
          <a:custGeom>
            <a:avLst/>
            <a:gdLst/>
            <a:ahLst/>
            <a:rect l="l" t="t" r="r" b="b"/>
            <a:pathLst>
              <a:path w="19039" h="33035">
                <a:moveTo>
                  <a:pt x="4670" y="31186"/>
                </a:moveTo>
                <a:lnTo>
                  <a:pt x="10657" y="33035"/>
                </a:lnTo>
                <a:lnTo>
                  <a:pt x="19039" y="6163"/>
                </a:lnTo>
                <a:lnTo>
                  <a:pt x="15566" y="4931"/>
                </a:lnTo>
                <a:lnTo>
                  <a:pt x="14249" y="1849"/>
                </a:lnTo>
                <a:lnTo>
                  <a:pt x="9100" y="0"/>
                </a:lnTo>
                <a:lnTo>
                  <a:pt x="0" y="31309"/>
                </a:lnTo>
                <a:lnTo>
                  <a:pt x="4071" y="32665"/>
                </a:lnTo>
                <a:lnTo>
                  <a:pt x="4670" y="31186"/>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32" name="มุ่งพัฒนา"/>
          <p:cNvSpPr/>
          <p:nvPr/>
        </p:nvSpPr>
        <p:spPr>
          <a:xfrm>
            <a:off x="4039560" y="6907320"/>
            <a:ext cx="92520" cy="66240"/>
          </a:xfrm>
          <a:custGeom>
            <a:avLst/>
            <a:gdLst/>
            <a:ahLst/>
            <a:rect l="l" t="t" r="r" b="b"/>
            <a:pathLst>
              <a:path w="93038" h="66440">
                <a:moveTo>
                  <a:pt x="39754" y="4314"/>
                </a:moveTo>
                <a:lnTo>
                  <a:pt x="36161" y="6163"/>
                </a:lnTo>
                <a:lnTo>
                  <a:pt x="45860" y="23174"/>
                </a:lnTo>
                <a:lnTo>
                  <a:pt x="45860" y="26872"/>
                </a:lnTo>
                <a:lnTo>
                  <a:pt x="39275" y="26009"/>
                </a:lnTo>
                <a:lnTo>
                  <a:pt x="29576" y="28597"/>
                </a:lnTo>
                <a:lnTo>
                  <a:pt x="0" y="41540"/>
                </a:lnTo>
                <a:lnTo>
                  <a:pt x="6825" y="66316"/>
                </a:lnTo>
                <a:lnTo>
                  <a:pt x="30773" y="57072"/>
                </a:lnTo>
                <a:lnTo>
                  <a:pt x="36880" y="66440"/>
                </a:lnTo>
                <a:lnTo>
                  <a:pt x="43466" y="64961"/>
                </a:lnTo>
                <a:lnTo>
                  <a:pt x="52566" y="58674"/>
                </a:lnTo>
                <a:lnTo>
                  <a:pt x="60109" y="56209"/>
                </a:lnTo>
                <a:lnTo>
                  <a:pt x="56517" y="49183"/>
                </a:lnTo>
                <a:lnTo>
                  <a:pt x="54482" y="50045"/>
                </a:lnTo>
                <a:lnTo>
                  <a:pt x="52326" y="45485"/>
                </a:lnTo>
                <a:lnTo>
                  <a:pt x="65258" y="40061"/>
                </a:lnTo>
                <a:lnTo>
                  <a:pt x="65019" y="36979"/>
                </a:lnTo>
                <a:lnTo>
                  <a:pt x="68012" y="36117"/>
                </a:lnTo>
                <a:lnTo>
                  <a:pt x="63702" y="25762"/>
                </a:lnTo>
                <a:lnTo>
                  <a:pt x="72083" y="22681"/>
                </a:lnTo>
                <a:lnTo>
                  <a:pt x="84177" y="38212"/>
                </a:lnTo>
                <a:lnTo>
                  <a:pt x="93038" y="32788"/>
                </a:lnTo>
                <a:lnTo>
                  <a:pt x="70168" y="986"/>
                </a:lnTo>
                <a:lnTo>
                  <a:pt x="45022" y="0"/>
                </a:lnTo>
                <a:lnTo>
                  <a:pt x="39754" y="4314"/>
                </a:lnTo>
                <a:close/>
              </a:path>
            </a:pathLst>
          </a:custGeom>
          <a:solidFill>
            <a:srgbClr val="ded5c5"/>
          </a:solidFill>
          <a:ln w="6191">
            <a:solidFill>
              <a:srgbClr val="b5a68d"/>
            </a:solidFill>
            <a:round/>
          </a:ln>
        </p:spPr>
        <p:style>
          <a:lnRef idx="0"/>
          <a:fillRef idx="0"/>
          <a:effectRef idx="0"/>
          <a:fontRef idx="minor"/>
        </p:style>
        <p:txBody>
          <a:bodyPr lIns="90000" rIns="90000" tIns="21240" bIns="21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33" name="หมู่บ้านสวัสดี"/>
          <p:cNvSpPr/>
          <p:nvPr/>
        </p:nvSpPr>
        <p:spPr>
          <a:xfrm>
            <a:off x="4224600" y="6736680"/>
            <a:ext cx="36360" cy="13680"/>
          </a:xfrm>
          <a:custGeom>
            <a:avLst/>
            <a:gdLst/>
            <a:ahLst/>
            <a:rect l="l" t="t" r="r" b="b"/>
            <a:pathLst>
              <a:path w="36760" h="13929">
                <a:moveTo>
                  <a:pt x="0" y="2589"/>
                </a:moveTo>
                <a:lnTo>
                  <a:pt x="13770" y="11587"/>
                </a:lnTo>
                <a:lnTo>
                  <a:pt x="13890" y="13929"/>
                </a:lnTo>
                <a:lnTo>
                  <a:pt x="36760" y="10971"/>
                </a:lnTo>
                <a:lnTo>
                  <a:pt x="36401" y="4931"/>
                </a:lnTo>
                <a:lnTo>
                  <a:pt x="32809" y="247"/>
                </a:lnTo>
                <a:lnTo>
                  <a:pt x="20835" y="1233"/>
                </a:lnTo>
                <a:lnTo>
                  <a:pt x="19637" y="0"/>
                </a:lnTo>
                <a:lnTo>
                  <a:pt x="0" y="2589"/>
                </a:lnTo>
                <a:close/>
              </a:path>
            </a:pathLst>
          </a:custGeom>
          <a:solidFill>
            <a:srgbClr val="ded5c5"/>
          </a:solidFill>
          <a:ln w="6191">
            <a:solidFill>
              <a:srgbClr val="b5a68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34" name="โฟรโมสต์"/>
          <p:cNvSpPr/>
          <p:nvPr/>
        </p:nvSpPr>
        <p:spPr>
          <a:xfrm>
            <a:off x="3595680" y="6864120"/>
            <a:ext cx="43200" cy="54360"/>
          </a:xfrm>
          <a:custGeom>
            <a:avLst/>
            <a:gdLst/>
            <a:ahLst/>
            <a:rect l="l" t="t" r="r" b="b"/>
            <a:pathLst>
              <a:path w="43585" h="54606">
                <a:moveTo>
                  <a:pt x="17721" y="44252"/>
                </a:moveTo>
                <a:lnTo>
                  <a:pt x="17482" y="54606"/>
                </a:lnTo>
                <a:lnTo>
                  <a:pt x="25744" y="54113"/>
                </a:lnTo>
                <a:lnTo>
                  <a:pt x="43585" y="36240"/>
                </a:lnTo>
                <a:lnTo>
                  <a:pt x="25624" y="0"/>
                </a:lnTo>
                <a:lnTo>
                  <a:pt x="0" y="9738"/>
                </a:lnTo>
                <a:lnTo>
                  <a:pt x="9579" y="26625"/>
                </a:lnTo>
                <a:lnTo>
                  <a:pt x="13291" y="29953"/>
                </a:lnTo>
                <a:lnTo>
                  <a:pt x="13770" y="31679"/>
                </a:lnTo>
                <a:lnTo>
                  <a:pt x="12692" y="31926"/>
                </a:lnTo>
                <a:lnTo>
                  <a:pt x="17721" y="44252"/>
                </a:lnTo>
                <a:close/>
              </a:path>
            </a:pathLst>
          </a:custGeom>
          <a:solidFill>
            <a:srgbClr val="ded5c5"/>
          </a:solidFill>
          <a:ln w="6191">
            <a:solidFill>
              <a:srgbClr val="b5a68d"/>
            </a:solidFill>
            <a:round/>
          </a:ln>
        </p:spPr>
        <p:style>
          <a:lnRef idx="0"/>
          <a:fillRef idx="0"/>
          <a:effectRef idx="0"/>
          <a:fontRef idx="minor"/>
        </p:style>
        <p:txBody>
          <a:bodyPr lIns="90000" rIns="90000" tIns="9360" bIns="9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35" name="เคหะชุมชนธนบุรี 1 ส่วน 5 โซน 1"/>
          <p:cNvSpPr/>
          <p:nvPr/>
        </p:nvSpPr>
        <p:spPr>
          <a:xfrm>
            <a:off x="3909960" y="6660360"/>
            <a:ext cx="33120" cy="39600"/>
          </a:xfrm>
          <a:custGeom>
            <a:avLst/>
            <a:gdLst/>
            <a:ahLst/>
            <a:rect l="l" t="t" r="r" b="b"/>
            <a:pathLst>
              <a:path w="33407" h="39815">
                <a:moveTo>
                  <a:pt x="23110" y="0"/>
                </a:moveTo>
                <a:lnTo>
                  <a:pt x="0" y="27735"/>
                </a:lnTo>
                <a:lnTo>
                  <a:pt x="10777" y="39815"/>
                </a:lnTo>
                <a:lnTo>
                  <a:pt x="33407" y="17873"/>
                </a:lnTo>
                <a:lnTo>
                  <a:pt x="30893" y="15038"/>
                </a:lnTo>
                <a:lnTo>
                  <a:pt x="33168" y="12203"/>
                </a:lnTo>
                <a:lnTo>
                  <a:pt x="23110" y="0"/>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36" name="เคหะชุมชนธนบุรี 1 ส่วน 5 โซน 2"/>
          <p:cNvSpPr/>
          <p:nvPr/>
        </p:nvSpPr>
        <p:spPr>
          <a:xfrm>
            <a:off x="3920760" y="6672600"/>
            <a:ext cx="48240" cy="41760"/>
          </a:xfrm>
          <a:custGeom>
            <a:avLst/>
            <a:gdLst/>
            <a:ahLst/>
            <a:rect l="l" t="t" r="r" b="b"/>
            <a:pathLst>
              <a:path w="48614" h="42157">
                <a:moveTo>
                  <a:pt x="22631" y="0"/>
                </a:moveTo>
                <a:lnTo>
                  <a:pt x="20356" y="2465"/>
                </a:lnTo>
                <a:lnTo>
                  <a:pt x="22990" y="5300"/>
                </a:lnTo>
                <a:lnTo>
                  <a:pt x="0" y="27488"/>
                </a:lnTo>
                <a:lnTo>
                  <a:pt x="8502" y="36486"/>
                </a:lnTo>
                <a:lnTo>
                  <a:pt x="12692" y="32912"/>
                </a:lnTo>
                <a:lnTo>
                  <a:pt x="25385" y="42157"/>
                </a:lnTo>
                <a:lnTo>
                  <a:pt x="42627" y="25146"/>
                </a:lnTo>
                <a:lnTo>
                  <a:pt x="41310" y="23790"/>
                </a:lnTo>
                <a:lnTo>
                  <a:pt x="48614" y="16024"/>
                </a:lnTo>
                <a:lnTo>
                  <a:pt x="40233" y="8629"/>
                </a:lnTo>
                <a:lnTo>
                  <a:pt x="34246" y="5670"/>
                </a:lnTo>
                <a:lnTo>
                  <a:pt x="31252" y="5793"/>
                </a:lnTo>
                <a:lnTo>
                  <a:pt x="22631" y="0"/>
                </a:lnTo>
                <a:close/>
              </a:path>
            </a:pathLst>
          </a:custGeom>
          <a:solidFill>
            <a:srgbClr val="ded5c5"/>
          </a:solidFill>
          <a:ln w="6191">
            <a:solidFill>
              <a:srgbClr val="b5a68d"/>
            </a:solidFill>
            <a:round/>
          </a:ln>
        </p:spPr>
        <p:style>
          <a:lnRef idx="0"/>
          <a:fillRef idx="0"/>
          <a:effectRef idx="0"/>
          <a:fontRef idx="minor"/>
        </p:style>
        <p:txBody>
          <a:bodyPr lIns="90000" rIns="90000" tIns="-3240" bIns="-3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37" name="เคหะธนบุรี 1 ส่วน 4"/>
          <p:cNvSpPr/>
          <p:nvPr/>
        </p:nvSpPr>
        <p:spPr>
          <a:xfrm>
            <a:off x="3946680" y="6688080"/>
            <a:ext cx="47880" cy="43920"/>
          </a:xfrm>
          <a:custGeom>
            <a:avLst/>
            <a:gdLst/>
            <a:ahLst/>
            <a:rect l="l" t="t" r="r" b="b"/>
            <a:pathLst>
              <a:path w="48135" h="44375">
                <a:moveTo>
                  <a:pt x="26223" y="0"/>
                </a:moveTo>
                <a:lnTo>
                  <a:pt x="0" y="26502"/>
                </a:lnTo>
                <a:lnTo>
                  <a:pt x="10777" y="33775"/>
                </a:lnTo>
                <a:lnTo>
                  <a:pt x="20715" y="44375"/>
                </a:lnTo>
                <a:lnTo>
                  <a:pt x="41789" y="23051"/>
                </a:lnTo>
                <a:lnTo>
                  <a:pt x="48135" y="9738"/>
                </a:lnTo>
                <a:lnTo>
                  <a:pt x="38796" y="1972"/>
                </a:lnTo>
                <a:lnTo>
                  <a:pt x="34126" y="7766"/>
                </a:lnTo>
                <a:lnTo>
                  <a:pt x="26223" y="0"/>
                </a:lnTo>
                <a:close/>
              </a:path>
            </a:pathLst>
          </a:custGeom>
          <a:solidFill>
            <a:srgbClr val="ded5c5"/>
          </a:solidFill>
          <a:ln w="6191">
            <a:solidFill>
              <a:srgbClr val="b5a68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38" name="คลองตาแป้น"/>
          <p:cNvSpPr/>
          <p:nvPr/>
        </p:nvSpPr>
        <p:spPr>
          <a:xfrm>
            <a:off x="4127760" y="5892480"/>
            <a:ext cx="48240" cy="51120"/>
          </a:xfrm>
          <a:custGeom>
            <a:avLst/>
            <a:gdLst/>
            <a:ahLst/>
            <a:rect l="l" t="t" r="r" b="b"/>
            <a:pathLst>
              <a:path w="48734" h="51525">
                <a:moveTo>
                  <a:pt x="48734" y="2589"/>
                </a:moveTo>
                <a:lnTo>
                  <a:pt x="39155" y="0"/>
                </a:lnTo>
                <a:lnTo>
                  <a:pt x="33886" y="11957"/>
                </a:lnTo>
                <a:lnTo>
                  <a:pt x="8142" y="7149"/>
                </a:lnTo>
                <a:lnTo>
                  <a:pt x="0" y="44868"/>
                </a:lnTo>
                <a:lnTo>
                  <a:pt x="28857" y="51525"/>
                </a:lnTo>
                <a:lnTo>
                  <a:pt x="48734" y="2589"/>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39" name="แฟลตมักกะสัน"/>
          <p:cNvSpPr/>
          <p:nvPr/>
        </p:nvSpPr>
        <p:spPr>
          <a:xfrm>
            <a:off x="5884560" y="5427000"/>
            <a:ext cx="15480" cy="9000"/>
          </a:xfrm>
          <a:custGeom>
            <a:avLst/>
            <a:gdLst/>
            <a:ahLst/>
            <a:rect l="l" t="t" r="r" b="b"/>
            <a:pathLst>
              <a:path w="15806" h="9491">
                <a:moveTo>
                  <a:pt x="0" y="3821"/>
                </a:moveTo>
                <a:lnTo>
                  <a:pt x="14848" y="9491"/>
                </a:lnTo>
                <a:lnTo>
                  <a:pt x="15806" y="7149"/>
                </a:lnTo>
                <a:lnTo>
                  <a:pt x="14129" y="6533"/>
                </a:lnTo>
                <a:lnTo>
                  <a:pt x="14489" y="5054"/>
                </a:lnTo>
                <a:lnTo>
                  <a:pt x="1796" y="0"/>
                </a:lnTo>
                <a:lnTo>
                  <a:pt x="0" y="3821"/>
                </a:lnTo>
                <a:close/>
              </a:path>
            </a:pathLst>
          </a:custGeom>
          <a:solidFill>
            <a:srgbClr val="ded5c5"/>
          </a:solidFill>
          <a:ln w="6191">
            <a:solidFill>
              <a:srgbClr val="b5a68d"/>
            </a:solidFill>
            <a:round/>
          </a:ln>
        </p:spPr>
        <p:style>
          <a:lnRef idx="0"/>
          <a:fillRef idx="0"/>
          <a:effectRef idx="0"/>
          <a:fontRef idx="minor"/>
        </p:style>
        <p:txBody>
          <a:bodyPr lIns="90000" rIns="90000" tIns="-36000" bIns="-36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40" name="เพชรทองคำ"/>
          <p:cNvSpPr/>
          <p:nvPr/>
        </p:nvSpPr>
        <p:spPr>
          <a:xfrm>
            <a:off x="3710880" y="6830640"/>
            <a:ext cx="124200" cy="32400"/>
          </a:xfrm>
          <a:custGeom>
            <a:avLst/>
            <a:gdLst/>
            <a:ahLst/>
            <a:rect l="l" t="t" r="r" b="b"/>
            <a:pathLst>
              <a:path w="124529" h="32912">
                <a:moveTo>
                  <a:pt x="55679" y="11094"/>
                </a:moveTo>
                <a:lnTo>
                  <a:pt x="0" y="22557"/>
                </a:lnTo>
                <a:lnTo>
                  <a:pt x="1197" y="32912"/>
                </a:lnTo>
                <a:lnTo>
                  <a:pt x="58074" y="21818"/>
                </a:lnTo>
                <a:lnTo>
                  <a:pt x="107167" y="17997"/>
                </a:lnTo>
                <a:lnTo>
                  <a:pt x="124529" y="18243"/>
                </a:lnTo>
                <a:lnTo>
                  <a:pt x="121656" y="0"/>
                </a:lnTo>
                <a:lnTo>
                  <a:pt x="99504" y="493"/>
                </a:lnTo>
                <a:lnTo>
                  <a:pt x="55679" y="11094"/>
                </a:lnTo>
                <a:close/>
              </a:path>
            </a:pathLst>
          </a:custGeom>
          <a:solidFill>
            <a:srgbClr val="ded5c5"/>
          </a:solidFill>
          <a:ln w="6191">
            <a:solidFill>
              <a:srgbClr val="b5a68d"/>
            </a:solidFill>
            <a:round/>
          </a:ln>
        </p:spPr>
        <p:style>
          <a:lnRef idx="0"/>
          <a:fillRef idx="0"/>
          <a:effectRef idx="0"/>
          <a:fontRef idx="minor"/>
        </p:style>
        <p:txBody>
          <a:bodyPr lIns="90000" rIns="90000" tIns="-12600" bIns="-12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41" name="วัดกำแพง"/>
          <p:cNvSpPr/>
          <p:nvPr/>
        </p:nvSpPr>
        <p:spPr>
          <a:xfrm>
            <a:off x="4255560" y="6229800"/>
            <a:ext cx="37440" cy="59040"/>
          </a:xfrm>
          <a:custGeom>
            <a:avLst/>
            <a:gdLst/>
            <a:ahLst/>
            <a:rect l="l" t="t" r="r" b="b"/>
            <a:pathLst>
              <a:path w="37718" h="59290">
                <a:moveTo>
                  <a:pt x="33407" y="17380"/>
                </a:moveTo>
                <a:lnTo>
                  <a:pt x="35563" y="0"/>
                </a:lnTo>
                <a:lnTo>
                  <a:pt x="26103" y="2589"/>
                </a:lnTo>
                <a:lnTo>
                  <a:pt x="27899" y="10108"/>
                </a:lnTo>
                <a:lnTo>
                  <a:pt x="25026" y="12943"/>
                </a:lnTo>
                <a:lnTo>
                  <a:pt x="16883" y="10601"/>
                </a:lnTo>
                <a:lnTo>
                  <a:pt x="12094" y="14175"/>
                </a:lnTo>
                <a:lnTo>
                  <a:pt x="6466" y="9738"/>
                </a:lnTo>
                <a:lnTo>
                  <a:pt x="2754" y="9861"/>
                </a:lnTo>
                <a:lnTo>
                  <a:pt x="0" y="21695"/>
                </a:lnTo>
                <a:lnTo>
                  <a:pt x="5029" y="40431"/>
                </a:lnTo>
                <a:lnTo>
                  <a:pt x="6705" y="59290"/>
                </a:lnTo>
                <a:lnTo>
                  <a:pt x="37718" y="47210"/>
                </a:lnTo>
                <a:lnTo>
                  <a:pt x="33647" y="29584"/>
                </a:lnTo>
                <a:lnTo>
                  <a:pt x="33407" y="17380"/>
                </a:lnTo>
                <a:close/>
              </a:path>
            </a:pathLst>
          </a:custGeom>
          <a:solidFill>
            <a:srgbClr val="ded5c5"/>
          </a:solidFill>
          <a:ln w="6191">
            <a:solidFill>
              <a:srgbClr val="b5a68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42" name="วัดสะแกงาม"/>
          <p:cNvSpPr/>
          <p:nvPr/>
        </p:nvSpPr>
        <p:spPr>
          <a:xfrm>
            <a:off x="3941640" y="6805080"/>
            <a:ext cx="32040" cy="49320"/>
          </a:xfrm>
          <a:custGeom>
            <a:avLst/>
            <a:gdLst/>
            <a:ahLst/>
            <a:rect l="l" t="t" r="r" b="b"/>
            <a:pathLst>
              <a:path w="32569" h="49676">
                <a:moveTo>
                  <a:pt x="8621" y="49676"/>
                </a:moveTo>
                <a:lnTo>
                  <a:pt x="17482" y="42157"/>
                </a:lnTo>
                <a:lnTo>
                  <a:pt x="19278" y="42526"/>
                </a:lnTo>
                <a:lnTo>
                  <a:pt x="22990" y="37103"/>
                </a:lnTo>
                <a:lnTo>
                  <a:pt x="32569" y="30200"/>
                </a:lnTo>
                <a:lnTo>
                  <a:pt x="25385" y="25639"/>
                </a:lnTo>
                <a:lnTo>
                  <a:pt x="30773" y="11710"/>
                </a:lnTo>
                <a:lnTo>
                  <a:pt x="21314" y="10477"/>
                </a:lnTo>
                <a:lnTo>
                  <a:pt x="17721" y="16271"/>
                </a:lnTo>
                <a:lnTo>
                  <a:pt x="12932" y="12943"/>
                </a:lnTo>
                <a:lnTo>
                  <a:pt x="16165" y="7273"/>
                </a:lnTo>
                <a:lnTo>
                  <a:pt x="6466" y="0"/>
                </a:lnTo>
                <a:lnTo>
                  <a:pt x="0" y="9615"/>
                </a:lnTo>
                <a:lnTo>
                  <a:pt x="10777" y="16394"/>
                </a:lnTo>
                <a:lnTo>
                  <a:pt x="12692" y="13189"/>
                </a:lnTo>
                <a:lnTo>
                  <a:pt x="20954" y="18490"/>
                </a:lnTo>
                <a:lnTo>
                  <a:pt x="21314" y="20215"/>
                </a:lnTo>
                <a:lnTo>
                  <a:pt x="13890" y="32295"/>
                </a:lnTo>
                <a:lnTo>
                  <a:pt x="12333" y="31063"/>
                </a:lnTo>
                <a:lnTo>
                  <a:pt x="2754" y="40801"/>
                </a:lnTo>
                <a:lnTo>
                  <a:pt x="8621" y="49676"/>
                </a:lnTo>
                <a:close/>
              </a:path>
            </a:pathLst>
          </a:custGeom>
          <a:solidFill>
            <a:srgbClr val="ded5c5"/>
          </a:solidFill>
          <a:ln w="6191">
            <a:solidFill>
              <a:srgbClr val="b5a68d"/>
            </a:solidFill>
            <a:round/>
          </a:ln>
        </p:spPr>
        <p:style>
          <a:lnRef idx="0"/>
          <a:fillRef idx="0"/>
          <a:effectRef idx="0"/>
          <a:fontRef idx="minor"/>
        </p:style>
        <p:txBody>
          <a:bodyPr lIns="90000" rIns="90000" tIns="4320" bIns="4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43" name="วัดแสมดำ"/>
          <p:cNvSpPr/>
          <p:nvPr/>
        </p:nvSpPr>
        <p:spPr>
          <a:xfrm>
            <a:off x="3483000" y="7234920"/>
            <a:ext cx="135000" cy="134640"/>
          </a:xfrm>
          <a:custGeom>
            <a:avLst/>
            <a:gdLst/>
            <a:ahLst/>
            <a:rect l="l" t="t" r="r" b="b"/>
            <a:pathLst>
              <a:path w="135426" h="135098">
                <a:moveTo>
                  <a:pt x="100342" y="44129"/>
                </a:moveTo>
                <a:lnTo>
                  <a:pt x="89086" y="45485"/>
                </a:lnTo>
                <a:lnTo>
                  <a:pt x="87171" y="37719"/>
                </a:lnTo>
                <a:lnTo>
                  <a:pt x="61546" y="0"/>
                </a:lnTo>
                <a:lnTo>
                  <a:pt x="41550" y="5917"/>
                </a:lnTo>
                <a:lnTo>
                  <a:pt x="39394" y="3328"/>
                </a:lnTo>
                <a:lnTo>
                  <a:pt x="1676" y="22311"/>
                </a:lnTo>
                <a:lnTo>
                  <a:pt x="0" y="26625"/>
                </a:lnTo>
                <a:lnTo>
                  <a:pt x="30055" y="83697"/>
                </a:lnTo>
                <a:lnTo>
                  <a:pt x="28738" y="82834"/>
                </a:lnTo>
                <a:lnTo>
                  <a:pt x="5269" y="93681"/>
                </a:lnTo>
                <a:lnTo>
                  <a:pt x="479" y="106624"/>
                </a:lnTo>
                <a:lnTo>
                  <a:pt x="14608" y="114266"/>
                </a:lnTo>
                <a:lnTo>
                  <a:pt x="17961" y="121416"/>
                </a:lnTo>
                <a:lnTo>
                  <a:pt x="23828" y="120923"/>
                </a:lnTo>
                <a:lnTo>
                  <a:pt x="27181" y="126346"/>
                </a:lnTo>
                <a:lnTo>
                  <a:pt x="32809" y="129181"/>
                </a:lnTo>
                <a:lnTo>
                  <a:pt x="40592" y="129428"/>
                </a:lnTo>
                <a:lnTo>
                  <a:pt x="42148" y="135098"/>
                </a:lnTo>
                <a:lnTo>
                  <a:pt x="71964" y="124744"/>
                </a:lnTo>
                <a:lnTo>
                  <a:pt x="135426" y="98858"/>
                </a:lnTo>
                <a:lnTo>
                  <a:pt x="116148" y="73096"/>
                </a:lnTo>
                <a:lnTo>
                  <a:pt x="123691" y="70261"/>
                </a:lnTo>
                <a:lnTo>
                  <a:pt x="100342" y="4412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44" name="สายสัมพันธ์"/>
          <p:cNvSpPr/>
          <p:nvPr/>
        </p:nvSpPr>
        <p:spPr>
          <a:xfrm>
            <a:off x="4217760" y="6503400"/>
            <a:ext cx="34920" cy="24480"/>
          </a:xfrm>
          <a:custGeom>
            <a:avLst/>
            <a:gdLst/>
            <a:ahLst/>
            <a:rect l="l" t="t" r="r" b="b"/>
            <a:pathLst>
              <a:path w="35204" h="24899">
                <a:moveTo>
                  <a:pt x="0" y="247"/>
                </a:moveTo>
                <a:lnTo>
                  <a:pt x="1078" y="24899"/>
                </a:lnTo>
                <a:lnTo>
                  <a:pt x="24068" y="23051"/>
                </a:lnTo>
                <a:lnTo>
                  <a:pt x="23589" y="19229"/>
                </a:lnTo>
                <a:lnTo>
                  <a:pt x="34725" y="18613"/>
                </a:lnTo>
                <a:lnTo>
                  <a:pt x="35204" y="11957"/>
                </a:lnTo>
                <a:lnTo>
                  <a:pt x="31492" y="4068"/>
                </a:lnTo>
                <a:lnTo>
                  <a:pt x="24786" y="5547"/>
                </a:lnTo>
                <a:lnTo>
                  <a:pt x="21673" y="3698"/>
                </a:lnTo>
                <a:lnTo>
                  <a:pt x="14728" y="3205"/>
                </a:lnTo>
                <a:lnTo>
                  <a:pt x="13890" y="0"/>
                </a:lnTo>
                <a:lnTo>
                  <a:pt x="0" y="247"/>
                </a:lnTo>
                <a:close/>
              </a:path>
            </a:pathLst>
          </a:custGeom>
          <a:solidFill>
            <a:srgbClr val="ded5c5"/>
          </a:solidFill>
          <a:ln w="6191">
            <a:solidFill>
              <a:srgbClr val="b5a68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45" name="สามัคคี"/>
          <p:cNvSpPr/>
          <p:nvPr/>
        </p:nvSpPr>
        <p:spPr>
          <a:xfrm>
            <a:off x="3727080" y="6858000"/>
            <a:ext cx="100440" cy="129960"/>
          </a:xfrm>
          <a:custGeom>
            <a:avLst/>
            <a:gdLst/>
            <a:ahLst/>
            <a:rect l="l" t="t" r="r" b="b"/>
            <a:pathLst>
              <a:path w="100821" h="130168">
                <a:moveTo>
                  <a:pt x="25385" y="122772"/>
                </a:moveTo>
                <a:lnTo>
                  <a:pt x="0" y="125730"/>
                </a:lnTo>
                <a:lnTo>
                  <a:pt x="958" y="130168"/>
                </a:lnTo>
                <a:lnTo>
                  <a:pt x="48854" y="123265"/>
                </a:lnTo>
                <a:lnTo>
                  <a:pt x="57116" y="118211"/>
                </a:lnTo>
                <a:lnTo>
                  <a:pt x="55559" y="116115"/>
                </a:lnTo>
                <a:lnTo>
                  <a:pt x="63702" y="105391"/>
                </a:lnTo>
                <a:lnTo>
                  <a:pt x="79268" y="101940"/>
                </a:lnTo>
                <a:lnTo>
                  <a:pt x="85973" y="85915"/>
                </a:lnTo>
                <a:lnTo>
                  <a:pt x="88607" y="86902"/>
                </a:lnTo>
                <a:lnTo>
                  <a:pt x="92319" y="75561"/>
                </a:lnTo>
                <a:lnTo>
                  <a:pt x="90044" y="74945"/>
                </a:lnTo>
                <a:lnTo>
                  <a:pt x="92080" y="67179"/>
                </a:lnTo>
                <a:lnTo>
                  <a:pt x="94355" y="67796"/>
                </a:lnTo>
                <a:lnTo>
                  <a:pt x="99863" y="58797"/>
                </a:lnTo>
                <a:lnTo>
                  <a:pt x="100821" y="52141"/>
                </a:lnTo>
                <a:lnTo>
                  <a:pt x="96391" y="51155"/>
                </a:lnTo>
                <a:lnTo>
                  <a:pt x="94594" y="15531"/>
                </a:lnTo>
                <a:lnTo>
                  <a:pt x="99504" y="15531"/>
                </a:lnTo>
                <a:lnTo>
                  <a:pt x="99384" y="11957"/>
                </a:lnTo>
                <a:lnTo>
                  <a:pt x="93277" y="11094"/>
                </a:lnTo>
                <a:lnTo>
                  <a:pt x="95073" y="3821"/>
                </a:lnTo>
                <a:lnTo>
                  <a:pt x="45142" y="0"/>
                </a:lnTo>
                <a:lnTo>
                  <a:pt x="43705" y="9122"/>
                </a:lnTo>
                <a:lnTo>
                  <a:pt x="80824" y="13189"/>
                </a:lnTo>
                <a:lnTo>
                  <a:pt x="82980" y="55839"/>
                </a:lnTo>
                <a:lnTo>
                  <a:pt x="81423" y="61263"/>
                </a:lnTo>
                <a:lnTo>
                  <a:pt x="77591" y="65577"/>
                </a:lnTo>
                <a:lnTo>
                  <a:pt x="57834" y="68412"/>
                </a:lnTo>
                <a:lnTo>
                  <a:pt x="60828" y="82587"/>
                </a:lnTo>
                <a:lnTo>
                  <a:pt x="49453" y="93188"/>
                </a:lnTo>
                <a:lnTo>
                  <a:pt x="52087" y="95407"/>
                </a:lnTo>
                <a:lnTo>
                  <a:pt x="50291" y="97379"/>
                </a:lnTo>
                <a:lnTo>
                  <a:pt x="56517" y="103173"/>
                </a:lnTo>
                <a:lnTo>
                  <a:pt x="53284" y="108350"/>
                </a:lnTo>
                <a:lnTo>
                  <a:pt x="49333" y="110568"/>
                </a:lnTo>
                <a:lnTo>
                  <a:pt x="38796" y="110568"/>
                </a:lnTo>
                <a:lnTo>
                  <a:pt x="39155" y="118457"/>
                </a:lnTo>
                <a:lnTo>
                  <a:pt x="27780" y="119197"/>
                </a:lnTo>
                <a:lnTo>
                  <a:pt x="27420" y="122402"/>
                </a:lnTo>
                <a:lnTo>
                  <a:pt x="25385" y="12277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46" name="หมู่บ้านเกาะโพธิ์ หมู่10"/>
          <p:cNvSpPr/>
          <p:nvPr/>
        </p:nvSpPr>
        <p:spPr>
          <a:xfrm>
            <a:off x="3521160" y="7322400"/>
            <a:ext cx="340200" cy="435240"/>
          </a:xfrm>
          <a:custGeom>
            <a:avLst/>
            <a:gdLst/>
            <a:ahLst/>
            <a:rect l="l" t="t" r="r" b="b"/>
            <a:pathLst>
              <a:path w="340540" h="435741">
                <a:moveTo>
                  <a:pt x="41669" y="35377"/>
                </a:moveTo>
                <a:lnTo>
                  <a:pt x="17003" y="48813"/>
                </a:lnTo>
                <a:lnTo>
                  <a:pt x="1916" y="53497"/>
                </a:lnTo>
                <a:lnTo>
                  <a:pt x="2993" y="58921"/>
                </a:lnTo>
                <a:lnTo>
                  <a:pt x="0" y="62495"/>
                </a:lnTo>
                <a:lnTo>
                  <a:pt x="479" y="64960"/>
                </a:lnTo>
                <a:lnTo>
                  <a:pt x="4430" y="68905"/>
                </a:lnTo>
                <a:lnTo>
                  <a:pt x="9938" y="66933"/>
                </a:lnTo>
                <a:lnTo>
                  <a:pt x="11136" y="67919"/>
                </a:lnTo>
                <a:lnTo>
                  <a:pt x="7424" y="72110"/>
                </a:lnTo>
                <a:lnTo>
                  <a:pt x="9819" y="76794"/>
                </a:lnTo>
                <a:lnTo>
                  <a:pt x="13770" y="79629"/>
                </a:lnTo>
                <a:lnTo>
                  <a:pt x="12333" y="81971"/>
                </a:lnTo>
                <a:lnTo>
                  <a:pt x="8502" y="82587"/>
                </a:lnTo>
                <a:lnTo>
                  <a:pt x="8741" y="84190"/>
                </a:lnTo>
                <a:lnTo>
                  <a:pt x="9459" y="85422"/>
                </a:lnTo>
                <a:lnTo>
                  <a:pt x="15686" y="85546"/>
                </a:lnTo>
                <a:lnTo>
                  <a:pt x="18560" y="87395"/>
                </a:lnTo>
                <a:lnTo>
                  <a:pt x="11974" y="91093"/>
                </a:lnTo>
                <a:lnTo>
                  <a:pt x="12213" y="93558"/>
                </a:lnTo>
                <a:lnTo>
                  <a:pt x="14249" y="94667"/>
                </a:lnTo>
                <a:lnTo>
                  <a:pt x="19278" y="91955"/>
                </a:lnTo>
                <a:lnTo>
                  <a:pt x="17841" y="96763"/>
                </a:lnTo>
                <a:lnTo>
                  <a:pt x="21793" y="98612"/>
                </a:lnTo>
                <a:lnTo>
                  <a:pt x="13291" y="113897"/>
                </a:lnTo>
                <a:lnTo>
                  <a:pt x="15207" y="122772"/>
                </a:lnTo>
                <a:lnTo>
                  <a:pt x="11735" y="127209"/>
                </a:lnTo>
                <a:lnTo>
                  <a:pt x="16883" y="130784"/>
                </a:lnTo>
                <a:lnTo>
                  <a:pt x="17961" y="133865"/>
                </a:lnTo>
                <a:lnTo>
                  <a:pt x="16644" y="136947"/>
                </a:lnTo>
                <a:lnTo>
                  <a:pt x="18320" y="140768"/>
                </a:lnTo>
                <a:lnTo>
                  <a:pt x="13171" y="147918"/>
                </a:lnTo>
                <a:lnTo>
                  <a:pt x="11016" y="148534"/>
                </a:lnTo>
                <a:lnTo>
                  <a:pt x="11495" y="155067"/>
                </a:lnTo>
                <a:lnTo>
                  <a:pt x="15925" y="157779"/>
                </a:lnTo>
                <a:lnTo>
                  <a:pt x="15925" y="159505"/>
                </a:lnTo>
                <a:lnTo>
                  <a:pt x="10058" y="170845"/>
                </a:lnTo>
                <a:lnTo>
                  <a:pt x="11016" y="173557"/>
                </a:lnTo>
                <a:lnTo>
                  <a:pt x="16764" y="178980"/>
                </a:lnTo>
                <a:lnTo>
                  <a:pt x="28139" y="183788"/>
                </a:lnTo>
                <a:lnTo>
                  <a:pt x="29815" y="187116"/>
                </a:lnTo>
                <a:lnTo>
                  <a:pt x="30174" y="193649"/>
                </a:lnTo>
                <a:lnTo>
                  <a:pt x="33407" y="201168"/>
                </a:lnTo>
                <a:lnTo>
                  <a:pt x="25385" y="204866"/>
                </a:lnTo>
                <a:lnTo>
                  <a:pt x="23828" y="207331"/>
                </a:lnTo>
                <a:lnTo>
                  <a:pt x="27420" y="214481"/>
                </a:lnTo>
                <a:lnTo>
                  <a:pt x="34365" y="215836"/>
                </a:lnTo>
                <a:lnTo>
                  <a:pt x="29576" y="225328"/>
                </a:lnTo>
                <a:lnTo>
                  <a:pt x="34006" y="232477"/>
                </a:lnTo>
                <a:lnTo>
                  <a:pt x="37598" y="230505"/>
                </a:lnTo>
                <a:lnTo>
                  <a:pt x="45142" y="230135"/>
                </a:lnTo>
                <a:lnTo>
                  <a:pt x="45741" y="231491"/>
                </a:lnTo>
                <a:lnTo>
                  <a:pt x="39993" y="237901"/>
                </a:lnTo>
                <a:lnTo>
                  <a:pt x="39873" y="240120"/>
                </a:lnTo>
                <a:lnTo>
                  <a:pt x="46220" y="253555"/>
                </a:lnTo>
                <a:lnTo>
                  <a:pt x="56278" y="251830"/>
                </a:lnTo>
                <a:lnTo>
                  <a:pt x="56517" y="263047"/>
                </a:lnTo>
                <a:lnTo>
                  <a:pt x="63103" y="269087"/>
                </a:lnTo>
                <a:lnTo>
                  <a:pt x="61546" y="279564"/>
                </a:lnTo>
                <a:lnTo>
                  <a:pt x="64181" y="286714"/>
                </a:lnTo>
                <a:lnTo>
                  <a:pt x="68012" y="289179"/>
                </a:lnTo>
                <a:lnTo>
                  <a:pt x="75077" y="289672"/>
                </a:lnTo>
                <a:lnTo>
                  <a:pt x="77711" y="296082"/>
                </a:lnTo>
                <a:lnTo>
                  <a:pt x="86332" y="295835"/>
                </a:lnTo>
                <a:lnTo>
                  <a:pt x="87769" y="297314"/>
                </a:lnTo>
                <a:lnTo>
                  <a:pt x="87290" y="307299"/>
                </a:lnTo>
                <a:lnTo>
                  <a:pt x="77112" y="313216"/>
                </a:lnTo>
                <a:lnTo>
                  <a:pt x="81663" y="328747"/>
                </a:lnTo>
                <a:lnTo>
                  <a:pt x="79507" y="337745"/>
                </a:lnTo>
                <a:lnTo>
                  <a:pt x="83339" y="341936"/>
                </a:lnTo>
                <a:lnTo>
                  <a:pt x="85614" y="348100"/>
                </a:lnTo>
                <a:lnTo>
                  <a:pt x="85135" y="365850"/>
                </a:lnTo>
                <a:lnTo>
                  <a:pt x="89685" y="368068"/>
                </a:lnTo>
                <a:lnTo>
                  <a:pt x="95073" y="367082"/>
                </a:lnTo>
                <a:lnTo>
                  <a:pt x="106449" y="388407"/>
                </a:lnTo>
                <a:lnTo>
                  <a:pt x="106449" y="391242"/>
                </a:lnTo>
                <a:lnTo>
                  <a:pt x="100701" y="395680"/>
                </a:lnTo>
                <a:lnTo>
                  <a:pt x="108245" y="420086"/>
                </a:lnTo>
                <a:lnTo>
                  <a:pt x="118542" y="428591"/>
                </a:lnTo>
                <a:lnTo>
                  <a:pt x="128481" y="431180"/>
                </a:lnTo>
                <a:lnTo>
                  <a:pt x="133390" y="430687"/>
                </a:lnTo>
                <a:lnTo>
                  <a:pt x="145963" y="435741"/>
                </a:lnTo>
                <a:lnTo>
                  <a:pt x="151950" y="435001"/>
                </a:lnTo>
                <a:lnTo>
                  <a:pt x="187393" y="419593"/>
                </a:lnTo>
                <a:lnTo>
                  <a:pt x="216849" y="411334"/>
                </a:lnTo>
                <a:lnTo>
                  <a:pt x="273725" y="402583"/>
                </a:lnTo>
                <a:lnTo>
                  <a:pt x="295997" y="407513"/>
                </a:lnTo>
                <a:lnTo>
                  <a:pt x="307612" y="406404"/>
                </a:lnTo>
                <a:lnTo>
                  <a:pt x="329404" y="397898"/>
                </a:lnTo>
                <a:lnTo>
                  <a:pt x="340540" y="390379"/>
                </a:lnTo>
                <a:lnTo>
                  <a:pt x="151591" y="0"/>
                </a:lnTo>
                <a:lnTo>
                  <a:pt x="87650" y="19229"/>
                </a:lnTo>
                <a:lnTo>
                  <a:pt x="41669" y="3537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47" name="ซอยดอกรัก"/>
          <p:cNvSpPr/>
          <p:nvPr/>
        </p:nvSpPr>
        <p:spPr>
          <a:xfrm>
            <a:off x="3866040" y="6908400"/>
            <a:ext cx="28080" cy="69120"/>
          </a:xfrm>
          <a:custGeom>
            <a:avLst/>
            <a:gdLst/>
            <a:ahLst/>
            <a:rect l="l" t="t" r="r" b="b"/>
            <a:pathLst>
              <a:path w="28498" h="69398">
                <a:moveTo>
                  <a:pt x="1676" y="18366"/>
                </a:moveTo>
                <a:lnTo>
                  <a:pt x="3832" y="29460"/>
                </a:lnTo>
                <a:lnTo>
                  <a:pt x="2515" y="31802"/>
                </a:lnTo>
                <a:lnTo>
                  <a:pt x="4790" y="31802"/>
                </a:lnTo>
                <a:lnTo>
                  <a:pt x="5388" y="35500"/>
                </a:lnTo>
                <a:lnTo>
                  <a:pt x="9220" y="35254"/>
                </a:lnTo>
                <a:lnTo>
                  <a:pt x="8023" y="62249"/>
                </a:lnTo>
                <a:lnTo>
                  <a:pt x="3951" y="62372"/>
                </a:lnTo>
                <a:lnTo>
                  <a:pt x="3951" y="67549"/>
                </a:lnTo>
                <a:lnTo>
                  <a:pt x="7783" y="66563"/>
                </a:lnTo>
                <a:lnTo>
                  <a:pt x="7903" y="69398"/>
                </a:lnTo>
                <a:lnTo>
                  <a:pt x="25744" y="65084"/>
                </a:lnTo>
                <a:lnTo>
                  <a:pt x="23828" y="41170"/>
                </a:lnTo>
                <a:lnTo>
                  <a:pt x="28498" y="40924"/>
                </a:lnTo>
                <a:lnTo>
                  <a:pt x="28498" y="34391"/>
                </a:lnTo>
                <a:lnTo>
                  <a:pt x="23589" y="14422"/>
                </a:lnTo>
                <a:lnTo>
                  <a:pt x="21194" y="14669"/>
                </a:lnTo>
                <a:lnTo>
                  <a:pt x="20954" y="10477"/>
                </a:lnTo>
                <a:lnTo>
                  <a:pt x="16883" y="0"/>
                </a:lnTo>
                <a:lnTo>
                  <a:pt x="0" y="740"/>
                </a:lnTo>
                <a:lnTo>
                  <a:pt x="1676" y="18366"/>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48" name="เคหะชุมชนธนบุรี 1 ส่วนที่ 1"/>
          <p:cNvSpPr/>
          <p:nvPr/>
        </p:nvSpPr>
        <p:spPr>
          <a:xfrm>
            <a:off x="3944160" y="6616800"/>
            <a:ext cx="50400" cy="58680"/>
          </a:xfrm>
          <a:custGeom>
            <a:avLst/>
            <a:gdLst/>
            <a:ahLst/>
            <a:rect l="l" t="t" r="r" b="b"/>
            <a:pathLst>
              <a:path w="50770" h="59167">
                <a:moveTo>
                  <a:pt x="0" y="19969"/>
                </a:moveTo>
                <a:lnTo>
                  <a:pt x="11495" y="37719"/>
                </a:lnTo>
                <a:lnTo>
                  <a:pt x="12932" y="36856"/>
                </a:lnTo>
                <a:lnTo>
                  <a:pt x="30893" y="59167"/>
                </a:lnTo>
                <a:lnTo>
                  <a:pt x="50770" y="43019"/>
                </a:lnTo>
                <a:lnTo>
                  <a:pt x="42029" y="29830"/>
                </a:lnTo>
                <a:lnTo>
                  <a:pt x="41071" y="23667"/>
                </a:lnTo>
                <a:lnTo>
                  <a:pt x="38317" y="20092"/>
                </a:lnTo>
                <a:lnTo>
                  <a:pt x="40951" y="17997"/>
                </a:lnTo>
                <a:lnTo>
                  <a:pt x="26343" y="0"/>
                </a:lnTo>
                <a:lnTo>
                  <a:pt x="0" y="19969"/>
                </a:lnTo>
                <a:close/>
              </a:path>
            </a:pathLst>
          </a:custGeom>
          <a:solidFill>
            <a:srgbClr val="ded5c5"/>
          </a:solidFill>
          <a:ln w="6191">
            <a:solidFill>
              <a:srgbClr val="b5a68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49" name="เชื่อมสัมพันธ์"/>
          <p:cNvSpPr/>
          <p:nvPr/>
        </p:nvSpPr>
        <p:spPr>
          <a:xfrm>
            <a:off x="3546360" y="6863760"/>
            <a:ext cx="27720" cy="56520"/>
          </a:xfrm>
          <a:custGeom>
            <a:avLst/>
            <a:gdLst/>
            <a:ahLst/>
            <a:rect l="l" t="t" r="r" b="b"/>
            <a:pathLst>
              <a:path w="28259" h="56948">
                <a:moveTo>
                  <a:pt x="28259" y="55346"/>
                </a:moveTo>
                <a:lnTo>
                  <a:pt x="26223" y="0"/>
                </a:lnTo>
                <a:lnTo>
                  <a:pt x="0" y="23174"/>
                </a:lnTo>
                <a:lnTo>
                  <a:pt x="3592" y="56948"/>
                </a:lnTo>
                <a:lnTo>
                  <a:pt x="28259" y="55346"/>
                </a:lnTo>
                <a:close/>
              </a:path>
            </a:pathLst>
          </a:custGeom>
          <a:solidFill>
            <a:srgbClr val="ded5c5"/>
          </a:solidFill>
          <a:ln w="6191">
            <a:solidFill>
              <a:srgbClr val="b5a68d"/>
            </a:solidFill>
            <a:round/>
          </a:ln>
        </p:spPr>
        <p:style>
          <a:lnRef idx="0"/>
          <a:fillRef idx="0"/>
          <a:effectRef idx="0"/>
          <a:fontRef idx="minor"/>
        </p:style>
        <p:txBody>
          <a:bodyPr lIns="90000" rIns="90000" tIns="11520" bIns="11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50" name="เคหะชุมชนธนบุรี 1 ส่วนที่ 2"/>
          <p:cNvSpPr/>
          <p:nvPr/>
        </p:nvSpPr>
        <p:spPr>
          <a:xfrm>
            <a:off x="4012200" y="6635520"/>
            <a:ext cx="48600" cy="34200"/>
          </a:xfrm>
          <a:custGeom>
            <a:avLst/>
            <a:gdLst/>
            <a:ahLst/>
            <a:rect l="l" t="t" r="r" b="b"/>
            <a:pathLst>
              <a:path w="48854" h="34514">
                <a:moveTo>
                  <a:pt x="1796" y="0"/>
                </a:moveTo>
                <a:lnTo>
                  <a:pt x="0" y="32172"/>
                </a:lnTo>
                <a:lnTo>
                  <a:pt x="44423" y="34514"/>
                </a:lnTo>
                <a:lnTo>
                  <a:pt x="44184" y="23667"/>
                </a:lnTo>
                <a:lnTo>
                  <a:pt x="48854" y="23667"/>
                </a:lnTo>
                <a:lnTo>
                  <a:pt x="33886" y="7026"/>
                </a:lnTo>
                <a:lnTo>
                  <a:pt x="25864" y="6533"/>
                </a:lnTo>
                <a:lnTo>
                  <a:pt x="25864" y="3328"/>
                </a:lnTo>
                <a:lnTo>
                  <a:pt x="23469" y="863"/>
                </a:lnTo>
                <a:lnTo>
                  <a:pt x="1796" y="0"/>
                </a:lnTo>
                <a:close/>
              </a:path>
            </a:pathLst>
          </a:custGeom>
          <a:solidFill>
            <a:srgbClr val="ded5c5"/>
          </a:solidFill>
          <a:ln w="6191">
            <a:solidFill>
              <a:srgbClr val="b5a68d"/>
            </a:solidFill>
            <a:round/>
          </a:ln>
        </p:spPr>
        <p:style>
          <a:lnRef idx="0"/>
          <a:fillRef idx="0"/>
          <a:effectRef idx="0"/>
          <a:fontRef idx="minor"/>
        </p:style>
        <p:txBody>
          <a:bodyPr lIns="90000" rIns="90000" tIns="-10800" bIns="-10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51" name="ซอยศักดิ์มงคลชัย"/>
          <p:cNvSpPr/>
          <p:nvPr/>
        </p:nvSpPr>
        <p:spPr>
          <a:xfrm>
            <a:off x="3863880" y="6850080"/>
            <a:ext cx="44640" cy="77040"/>
          </a:xfrm>
          <a:custGeom>
            <a:avLst/>
            <a:gdLst/>
            <a:ahLst/>
            <a:rect l="l" t="t" r="r" b="b"/>
            <a:pathLst>
              <a:path w="45142" h="77287">
                <a:moveTo>
                  <a:pt x="17602" y="370"/>
                </a:moveTo>
                <a:lnTo>
                  <a:pt x="9819" y="3698"/>
                </a:lnTo>
                <a:lnTo>
                  <a:pt x="9100" y="1602"/>
                </a:lnTo>
                <a:lnTo>
                  <a:pt x="0" y="4561"/>
                </a:lnTo>
                <a:lnTo>
                  <a:pt x="4670" y="13806"/>
                </a:lnTo>
                <a:lnTo>
                  <a:pt x="11016" y="19722"/>
                </a:lnTo>
                <a:lnTo>
                  <a:pt x="15207" y="26379"/>
                </a:lnTo>
                <a:lnTo>
                  <a:pt x="18200" y="26872"/>
                </a:lnTo>
                <a:lnTo>
                  <a:pt x="23589" y="42033"/>
                </a:lnTo>
                <a:lnTo>
                  <a:pt x="18919" y="44375"/>
                </a:lnTo>
                <a:lnTo>
                  <a:pt x="31611" y="77287"/>
                </a:lnTo>
                <a:lnTo>
                  <a:pt x="45142" y="72603"/>
                </a:lnTo>
                <a:lnTo>
                  <a:pt x="18919" y="0"/>
                </a:lnTo>
                <a:lnTo>
                  <a:pt x="17602" y="370"/>
                </a:lnTo>
                <a:close/>
              </a:path>
            </a:pathLst>
          </a:custGeom>
          <a:solidFill>
            <a:srgbClr val="ded5c5"/>
          </a:solidFill>
          <a:ln w="6191">
            <a:solidFill>
              <a:srgbClr val="b5a68d"/>
            </a:solidFill>
            <a:round/>
          </a:ln>
        </p:spPr>
        <p:style>
          <a:lnRef idx="0"/>
          <a:fillRef idx="0"/>
          <a:effectRef idx="0"/>
          <a:fontRef idx="minor"/>
        </p:style>
        <p:txBody>
          <a:bodyPr lIns="90000" rIns="90000" tIns="32040" bIns="32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52" name="เคหะชุมชนธนบุรี 1 ส่วน 3"/>
          <p:cNvSpPr/>
          <p:nvPr/>
        </p:nvSpPr>
        <p:spPr>
          <a:xfrm>
            <a:off x="4003560" y="6667560"/>
            <a:ext cx="65520" cy="40680"/>
          </a:xfrm>
          <a:custGeom>
            <a:avLst/>
            <a:gdLst/>
            <a:ahLst/>
            <a:rect l="l" t="t" r="r" b="b"/>
            <a:pathLst>
              <a:path w="65977" h="40924">
                <a:moveTo>
                  <a:pt x="0" y="0"/>
                </a:moveTo>
                <a:lnTo>
                  <a:pt x="718" y="7642"/>
                </a:lnTo>
                <a:lnTo>
                  <a:pt x="37000" y="39321"/>
                </a:lnTo>
                <a:lnTo>
                  <a:pt x="64061" y="40924"/>
                </a:lnTo>
                <a:lnTo>
                  <a:pt x="65977" y="37842"/>
                </a:lnTo>
                <a:lnTo>
                  <a:pt x="53164" y="18120"/>
                </a:lnTo>
                <a:lnTo>
                  <a:pt x="53404" y="2589"/>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4320" bIns="-4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53" name="เคหะชุมชนธนบุรี 3 โซน 1"/>
          <p:cNvSpPr/>
          <p:nvPr/>
        </p:nvSpPr>
        <p:spPr>
          <a:xfrm>
            <a:off x="3882240" y="6567480"/>
            <a:ext cx="37800" cy="56520"/>
          </a:xfrm>
          <a:custGeom>
            <a:avLst/>
            <a:gdLst/>
            <a:ahLst/>
            <a:rect l="l" t="t" r="r" b="b"/>
            <a:pathLst>
              <a:path w="38077" h="56948">
                <a:moveTo>
                  <a:pt x="38077" y="35377"/>
                </a:moveTo>
                <a:lnTo>
                  <a:pt x="23828" y="8505"/>
                </a:lnTo>
                <a:lnTo>
                  <a:pt x="26941" y="6163"/>
                </a:lnTo>
                <a:lnTo>
                  <a:pt x="22391" y="0"/>
                </a:lnTo>
                <a:lnTo>
                  <a:pt x="7544" y="10724"/>
                </a:lnTo>
                <a:lnTo>
                  <a:pt x="0" y="13436"/>
                </a:lnTo>
                <a:lnTo>
                  <a:pt x="5867" y="38705"/>
                </a:lnTo>
                <a:lnTo>
                  <a:pt x="15087" y="56948"/>
                </a:lnTo>
                <a:lnTo>
                  <a:pt x="36401" y="46101"/>
                </a:lnTo>
                <a:lnTo>
                  <a:pt x="32210" y="38089"/>
                </a:lnTo>
                <a:lnTo>
                  <a:pt x="38077" y="35377"/>
                </a:lnTo>
                <a:close/>
              </a:path>
            </a:pathLst>
          </a:custGeom>
          <a:solidFill>
            <a:srgbClr val="ded5c5"/>
          </a:solidFill>
          <a:ln w="6191">
            <a:solidFill>
              <a:srgbClr val="b5a68d"/>
            </a:solidFill>
            <a:round/>
          </a:ln>
        </p:spPr>
        <p:style>
          <a:lnRef idx="0"/>
          <a:fillRef idx="0"/>
          <a:effectRef idx="0"/>
          <a:fontRef idx="minor"/>
        </p:style>
        <p:txBody>
          <a:bodyPr lIns="90000" rIns="90000" tIns="11520" bIns="11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54" name="เคหะชุมชนธนบุรี 3 โซน 2"/>
          <p:cNvSpPr/>
          <p:nvPr/>
        </p:nvSpPr>
        <p:spPr>
          <a:xfrm>
            <a:off x="3904560" y="6545880"/>
            <a:ext cx="51480" cy="63360"/>
          </a:xfrm>
          <a:custGeom>
            <a:avLst/>
            <a:gdLst/>
            <a:ahLst/>
            <a:rect l="l" t="t" r="r" b="b"/>
            <a:pathLst>
              <a:path w="51967" h="63851">
                <a:moveTo>
                  <a:pt x="22511" y="53620"/>
                </a:moveTo>
                <a:lnTo>
                  <a:pt x="27660" y="51771"/>
                </a:lnTo>
                <a:lnTo>
                  <a:pt x="32450" y="63851"/>
                </a:lnTo>
                <a:lnTo>
                  <a:pt x="36640" y="62002"/>
                </a:lnTo>
                <a:lnTo>
                  <a:pt x="33407" y="53250"/>
                </a:lnTo>
                <a:lnTo>
                  <a:pt x="51608" y="47827"/>
                </a:lnTo>
                <a:lnTo>
                  <a:pt x="51967" y="45978"/>
                </a:lnTo>
                <a:lnTo>
                  <a:pt x="43585" y="21078"/>
                </a:lnTo>
                <a:lnTo>
                  <a:pt x="28378" y="0"/>
                </a:lnTo>
                <a:lnTo>
                  <a:pt x="0" y="21571"/>
                </a:lnTo>
                <a:lnTo>
                  <a:pt x="4311" y="27365"/>
                </a:lnTo>
                <a:lnTo>
                  <a:pt x="8861" y="24406"/>
                </a:lnTo>
                <a:lnTo>
                  <a:pt x="17482" y="38089"/>
                </a:lnTo>
                <a:lnTo>
                  <a:pt x="22511" y="53620"/>
                </a:lnTo>
                <a:close/>
              </a:path>
            </a:pathLst>
          </a:custGeom>
          <a:solidFill>
            <a:srgbClr val="ded5c5"/>
          </a:solidFill>
          <a:ln w="6191">
            <a:solidFill>
              <a:srgbClr val="b5a68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55" name="ข้างสถานีวิทยุเพื่อการศึกษา"/>
          <p:cNvSpPr/>
          <p:nvPr/>
        </p:nvSpPr>
        <p:spPr>
          <a:xfrm>
            <a:off x="3925080" y="6914520"/>
            <a:ext cx="71280" cy="54000"/>
          </a:xfrm>
          <a:custGeom>
            <a:avLst/>
            <a:gdLst/>
            <a:ahLst/>
            <a:rect l="l" t="t" r="r" b="b"/>
            <a:pathLst>
              <a:path w="71485" h="54236">
                <a:moveTo>
                  <a:pt x="0" y="2712"/>
                </a:moveTo>
                <a:lnTo>
                  <a:pt x="8382" y="24406"/>
                </a:lnTo>
                <a:lnTo>
                  <a:pt x="5987" y="25516"/>
                </a:lnTo>
                <a:lnTo>
                  <a:pt x="16883" y="54236"/>
                </a:lnTo>
                <a:lnTo>
                  <a:pt x="71485" y="33898"/>
                </a:lnTo>
                <a:lnTo>
                  <a:pt x="63582" y="14792"/>
                </a:lnTo>
                <a:lnTo>
                  <a:pt x="66575" y="13189"/>
                </a:lnTo>
                <a:lnTo>
                  <a:pt x="62504" y="4931"/>
                </a:lnTo>
                <a:lnTo>
                  <a:pt x="23948" y="18859"/>
                </a:lnTo>
                <a:lnTo>
                  <a:pt x="17961" y="2835"/>
                </a:lnTo>
                <a:lnTo>
                  <a:pt x="8980" y="6163"/>
                </a:lnTo>
                <a:lnTo>
                  <a:pt x="6586" y="0"/>
                </a:lnTo>
                <a:lnTo>
                  <a:pt x="0" y="2712"/>
                </a:lnTo>
                <a:close/>
              </a:path>
            </a:pathLst>
          </a:custGeom>
          <a:solidFill>
            <a:srgbClr val="ded5c5"/>
          </a:solidFill>
          <a:ln w="6191">
            <a:solidFill>
              <a:srgbClr val="b5a68d"/>
            </a:solidFill>
            <a:round/>
          </a:ln>
        </p:spPr>
        <p:style>
          <a:lnRef idx="0"/>
          <a:fillRef idx="0"/>
          <a:effectRef idx="0"/>
          <a:fontRef idx="minor"/>
        </p:style>
        <p:txBody>
          <a:bodyPr lIns="90000" rIns="90000" tIns="9000" bIns="9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56" name="คานเรือ"/>
          <p:cNvSpPr/>
          <p:nvPr/>
        </p:nvSpPr>
        <p:spPr>
          <a:xfrm>
            <a:off x="4050720" y="5857920"/>
            <a:ext cx="21960" cy="42120"/>
          </a:xfrm>
          <a:custGeom>
            <a:avLst/>
            <a:gdLst/>
            <a:ahLst/>
            <a:rect l="l" t="t" r="r" b="b"/>
            <a:pathLst>
              <a:path w="22272" h="42650">
                <a:moveTo>
                  <a:pt x="19278" y="34637"/>
                </a:moveTo>
                <a:lnTo>
                  <a:pt x="22272" y="4068"/>
                </a:lnTo>
                <a:lnTo>
                  <a:pt x="20116" y="1233"/>
                </a:lnTo>
                <a:lnTo>
                  <a:pt x="11256" y="0"/>
                </a:lnTo>
                <a:lnTo>
                  <a:pt x="10298" y="9984"/>
                </a:lnTo>
                <a:lnTo>
                  <a:pt x="4909" y="9984"/>
                </a:lnTo>
                <a:lnTo>
                  <a:pt x="4909" y="14052"/>
                </a:lnTo>
                <a:lnTo>
                  <a:pt x="10417" y="14299"/>
                </a:lnTo>
                <a:lnTo>
                  <a:pt x="8621" y="33405"/>
                </a:lnTo>
                <a:lnTo>
                  <a:pt x="0" y="33035"/>
                </a:lnTo>
                <a:lnTo>
                  <a:pt x="5029" y="42650"/>
                </a:lnTo>
                <a:lnTo>
                  <a:pt x="17123" y="38335"/>
                </a:lnTo>
                <a:lnTo>
                  <a:pt x="19278" y="34637"/>
                </a:lnTo>
                <a:close/>
              </a:path>
            </a:pathLst>
          </a:custGeom>
          <a:solidFill>
            <a:srgbClr val="ded5c5"/>
          </a:solidFill>
          <a:ln w="6191">
            <a:solidFill>
              <a:srgbClr val="b5a68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57" name="เพชรเกษม 42"/>
          <p:cNvSpPr/>
          <p:nvPr/>
        </p:nvSpPr>
        <p:spPr>
          <a:xfrm>
            <a:off x="4299840" y="5727960"/>
            <a:ext cx="19800" cy="61200"/>
          </a:xfrm>
          <a:custGeom>
            <a:avLst/>
            <a:gdLst/>
            <a:ahLst/>
            <a:rect l="l" t="t" r="r" b="b"/>
            <a:pathLst>
              <a:path w="20116" h="61632">
                <a:moveTo>
                  <a:pt x="12932" y="60769"/>
                </a:moveTo>
                <a:lnTo>
                  <a:pt x="17841" y="59167"/>
                </a:lnTo>
                <a:lnTo>
                  <a:pt x="17362" y="47210"/>
                </a:lnTo>
                <a:lnTo>
                  <a:pt x="18560" y="45485"/>
                </a:lnTo>
                <a:lnTo>
                  <a:pt x="18679" y="38459"/>
                </a:lnTo>
                <a:lnTo>
                  <a:pt x="16165" y="23420"/>
                </a:lnTo>
                <a:lnTo>
                  <a:pt x="20116" y="22311"/>
                </a:lnTo>
                <a:lnTo>
                  <a:pt x="16764" y="123"/>
                </a:lnTo>
                <a:lnTo>
                  <a:pt x="15327" y="0"/>
                </a:lnTo>
                <a:lnTo>
                  <a:pt x="7783" y="3575"/>
                </a:lnTo>
                <a:lnTo>
                  <a:pt x="4191" y="1726"/>
                </a:lnTo>
                <a:lnTo>
                  <a:pt x="0" y="2589"/>
                </a:lnTo>
                <a:lnTo>
                  <a:pt x="3712" y="27735"/>
                </a:lnTo>
                <a:lnTo>
                  <a:pt x="7424" y="27735"/>
                </a:lnTo>
                <a:lnTo>
                  <a:pt x="9819" y="61632"/>
                </a:lnTo>
                <a:lnTo>
                  <a:pt x="12932" y="60769"/>
                </a:lnTo>
                <a:close/>
              </a:path>
            </a:pathLst>
          </a:custGeom>
          <a:solidFill>
            <a:srgbClr val="ded5c5"/>
          </a:solidFill>
          <a:ln w="6191">
            <a:solidFill>
              <a:srgbClr val="b5a68d"/>
            </a:solidFill>
            <a:round/>
          </a:ln>
        </p:spPr>
        <p:style>
          <a:lnRef idx="0"/>
          <a:fillRef idx="0"/>
          <a:effectRef idx="0"/>
          <a:fontRef idx="minor"/>
        </p:style>
        <p:txBody>
          <a:bodyPr lIns="90000" rIns="90000" tIns="16200" bIns="16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58" name="เพชรเกษม 44"/>
          <p:cNvSpPr/>
          <p:nvPr/>
        </p:nvSpPr>
        <p:spPr>
          <a:xfrm>
            <a:off x="4293000" y="5756040"/>
            <a:ext cx="16560" cy="39600"/>
          </a:xfrm>
          <a:custGeom>
            <a:avLst/>
            <a:gdLst/>
            <a:ahLst/>
            <a:rect l="l" t="t" r="r" b="b"/>
            <a:pathLst>
              <a:path w="16764" h="40061">
                <a:moveTo>
                  <a:pt x="718" y="11217"/>
                </a:moveTo>
                <a:lnTo>
                  <a:pt x="1197" y="40061"/>
                </a:lnTo>
                <a:lnTo>
                  <a:pt x="14010" y="36610"/>
                </a:lnTo>
                <a:lnTo>
                  <a:pt x="16764" y="33651"/>
                </a:lnTo>
                <a:lnTo>
                  <a:pt x="14369" y="0"/>
                </a:lnTo>
                <a:lnTo>
                  <a:pt x="0" y="2712"/>
                </a:lnTo>
                <a:lnTo>
                  <a:pt x="718" y="11217"/>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59" name="หมู่บ้านพัฒนา หมู่ 7 บางหว้า"/>
          <p:cNvSpPr/>
          <p:nvPr/>
        </p:nvSpPr>
        <p:spPr>
          <a:xfrm>
            <a:off x="4245120" y="5839200"/>
            <a:ext cx="63000" cy="86760"/>
          </a:xfrm>
          <a:custGeom>
            <a:avLst/>
            <a:gdLst/>
            <a:ahLst/>
            <a:rect l="l" t="t" r="r" b="b"/>
            <a:pathLst>
              <a:path w="63462" h="87025">
                <a:moveTo>
                  <a:pt x="36281" y="28228"/>
                </a:moveTo>
                <a:lnTo>
                  <a:pt x="45980" y="12696"/>
                </a:lnTo>
                <a:lnTo>
                  <a:pt x="25744" y="0"/>
                </a:lnTo>
                <a:lnTo>
                  <a:pt x="18081" y="6163"/>
                </a:lnTo>
                <a:lnTo>
                  <a:pt x="0" y="36733"/>
                </a:lnTo>
                <a:lnTo>
                  <a:pt x="3113" y="38212"/>
                </a:lnTo>
                <a:lnTo>
                  <a:pt x="8861" y="47457"/>
                </a:lnTo>
                <a:lnTo>
                  <a:pt x="11615" y="49059"/>
                </a:lnTo>
                <a:lnTo>
                  <a:pt x="16764" y="40308"/>
                </a:lnTo>
                <a:lnTo>
                  <a:pt x="25265" y="43636"/>
                </a:lnTo>
                <a:lnTo>
                  <a:pt x="19637" y="58427"/>
                </a:lnTo>
                <a:lnTo>
                  <a:pt x="18320" y="78150"/>
                </a:lnTo>
                <a:lnTo>
                  <a:pt x="36760" y="87025"/>
                </a:lnTo>
                <a:lnTo>
                  <a:pt x="44543" y="73836"/>
                </a:lnTo>
                <a:lnTo>
                  <a:pt x="63462" y="49183"/>
                </a:lnTo>
                <a:lnTo>
                  <a:pt x="45262" y="38335"/>
                </a:lnTo>
                <a:lnTo>
                  <a:pt x="40233" y="47087"/>
                </a:lnTo>
                <a:lnTo>
                  <a:pt x="35084" y="44129"/>
                </a:lnTo>
                <a:lnTo>
                  <a:pt x="41191" y="31309"/>
                </a:lnTo>
                <a:lnTo>
                  <a:pt x="36281" y="28228"/>
                </a:lnTo>
                <a:close/>
              </a:path>
            </a:pathLst>
          </a:custGeom>
          <a:solidFill>
            <a:srgbClr val="ded5c5"/>
          </a:solidFill>
          <a:ln w="6191">
            <a:solidFill>
              <a:srgbClr val="b5a68d"/>
            </a:solidFill>
            <a:round/>
          </a:ln>
        </p:spPr>
        <p:style>
          <a:lnRef idx="0"/>
          <a:fillRef idx="0"/>
          <a:effectRef idx="0"/>
          <a:fontRef idx="minor"/>
        </p:style>
        <p:txBody>
          <a:bodyPr lIns="90000" rIns="90000" tIns="41760" bIns="41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60" name="หลังวัดรางบัว"/>
          <p:cNvSpPr/>
          <p:nvPr/>
        </p:nvSpPr>
        <p:spPr>
          <a:xfrm>
            <a:off x="4196520" y="5856480"/>
            <a:ext cx="15840" cy="18000"/>
          </a:xfrm>
          <a:custGeom>
            <a:avLst/>
            <a:gdLst/>
            <a:ahLst/>
            <a:rect l="l" t="t" r="r" b="b"/>
            <a:pathLst>
              <a:path w="16165" h="18490">
                <a:moveTo>
                  <a:pt x="0" y="13929"/>
                </a:moveTo>
                <a:lnTo>
                  <a:pt x="7663" y="18490"/>
                </a:lnTo>
                <a:lnTo>
                  <a:pt x="16165" y="2958"/>
                </a:lnTo>
                <a:lnTo>
                  <a:pt x="11375" y="0"/>
                </a:lnTo>
                <a:lnTo>
                  <a:pt x="6466" y="1972"/>
                </a:lnTo>
                <a:lnTo>
                  <a:pt x="0" y="13929"/>
                </a:lnTo>
                <a:close/>
              </a:path>
            </a:pathLst>
          </a:custGeom>
          <a:solidFill>
            <a:srgbClr val="ded5c5"/>
          </a:solidFill>
          <a:ln w="6191">
            <a:solidFill>
              <a:srgbClr val="b5a68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61" name="หมู่บ้านตวงทอง"/>
          <p:cNvSpPr/>
          <p:nvPr/>
        </p:nvSpPr>
        <p:spPr>
          <a:xfrm>
            <a:off x="4083840" y="6034320"/>
            <a:ext cx="54720" cy="55440"/>
          </a:xfrm>
          <a:custGeom>
            <a:avLst/>
            <a:gdLst/>
            <a:ahLst/>
            <a:rect l="l" t="t" r="r" b="b"/>
            <a:pathLst>
              <a:path w="54961" h="55716">
                <a:moveTo>
                  <a:pt x="54961" y="8505"/>
                </a:moveTo>
                <a:lnTo>
                  <a:pt x="50051" y="0"/>
                </a:lnTo>
                <a:lnTo>
                  <a:pt x="0" y="33528"/>
                </a:lnTo>
                <a:lnTo>
                  <a:pt x="9100" y="44868"/>
                </a:lnTo>
                <a:lnTo>
                  <a:pt x="11016" y="43759"/>
                </a:lnTo>
                <a:lnTo>
                  <a:pt x="20595" y="55716"/>
                </a:lnTo>
                <a:lnTo>
                  <a:pt x="29815" y="48813"/>
                </a:lnTo>
                <a:lnTo>
                  <a:pt x="34844" y="54606"/>
                </a:lnTo>
                <a:lnTo>
                  <a:pt x="38436" y="52387"/>
                </a:lnTo>
                <a:lnTo>
                  <a:pt x="34844" y="46841"/>
                </a:lnTo>
                <a:lnTo>
                  <a:pt x="40472" y="41540"/>
                </a:lnTo>
                <a:lnTo>
                  <a:pt x="36161" y="34514"/>
                </a:lnTo>
                <a:lnTo>
                  <a:pt x="39873" y="32419"/>
                </a:lnTo>
                <a:lnTo>
                  <a:pt x="33886" y="21941"/>
                </a:lnTo>
                <a:lnTo>
                  <a:pt x="54961" y="8505"/>
                </a:lnTo>
                <a:close/>
              </a:path>
            </a:pathLst>
          </a:custGeom>
          <a:solidFill>
            <a:srgbClr val="ded5c5"/>
          </a:solidFill>
          <a:ln w="6191">
            <a:solidFill>
              <a:srgbClr val="b5a68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62" name="ริมคลองราชมนตรี หมู่ 11"/>
          <p:cNvSpPr/>
          <p:nvPr/>
        </p:nvSpPr>
        <p:spPr>
          <a:xfrm>
            <a:off x="4020120" y="5816520"/>
            <a:ext cx="20880" cy="20520"/>
          </a:xfrm>
          <a:custGeom>
            <a:avLst/>
            <a:gdLst/>
            <a:ahLst/>
            <a:rect l="l" t="t" r="r" b="b"/>
            <a:pathLst>
              <a:path w="21314" h="20708">
                <a:moveTo>
                  <a:pt x="0" y="0"/>
                </a:moveTo>
                <a:lnTo>
                  <a:pt x="0" y="19229"/>
                </a:lnTo>
                <a:lnTo>
                  <a:pt x="6586" y="19846"/>
                </a:lnTo>
                <a:lnTo>
                  <a:pt x="7424" y="17873"/>
                </a:lnTo>
                <a:lnTo>
                  <a:pt x="10777" y="18243"/>
                </a:lnTo>
                <a:lnTo>
                  <a:pt x="10657" y="20339"/>
                </a:lnTo>
                <a:lnTo>
                  <a:pt x="13052" y="20708"/>
                </a:lnTo>
                <a:lnTo>
                  <a:pt x="13650" y="17380"/>
                </a:lnTo>
                <a:lnTo>
                  <a:pt x="18440" y="18983"/>
                </a:lnTo>
                <a:lnTo>
                  <a:pt x="21314" y="2095"/>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63" name="วัดจันทร์ประดิษฐาราม เขต 1 หมู่ 1 หมู่ 7"/>
          <p:cNvSpPr/>
          <p:nvPr/>
        </p:nvSpPr>
        <p:spPr>
          <a:xfrm>
            <a:off x="4134960" y="5737680"/>
            <a:ext cx="68040" cy="45360"/>
          </a:xfrm>
          <a:custGeom>
            <a:avLst/>
            <a:gdLst/>
            <a:ahLst/>
            <a:rect l="l" t="t" r="r" b="b"/>
            <a:pathLst>
              <a:path w="68252" h="45731">
                <a:moveTo>
                  <a:pt x="55320" y="17504"/>
                </a:moveTo>
                <a:lnTo>
                  <a:pt x="49213" y="6656"/>
                </a:lnTo>
                <a:lnTo>
                  <a:pt x="46100" y="4314"/>
                </a:lnTo>
                <a:lnTo>
                  <a:pt x="39873" y="4191"/>
                </a:lnTo>
                <a:lnTo>
                  <a:pt x="31372" y="0"/>
                </a:lnTo>
                <a:lnTo>
                  <a:pt x="0" y="18490"/>
                </a:lnTo>
                <a:lnTo>
                  <a:pt x="838" y="20092"/>
                </a:lnTo>
                <a:lnTo>
                  <a:pt x="7304" y="16394"/>
                </a:lnTo>
                <a:lnTo>
                  <a:pt x="8502" y="17873"/>
                </a:lnTo>
                <a:lnTo>
                  <a:pt x="21194" y="10847"/>
                </a:lnTo>
                <a:lnTo>
                  <a:pt x="27181" y="17504"/>
                </a:lnTo>
                <a:lnTo>
                  <a:pt x="30055" y="15901"/>
                </a:lnTo>
                <a:lnTo>
                  <a:pt x="33886" y="19969"/>
                </a:lnTo>
                <a:lnTo>
                  <a:pt x="39035" y="16148"/>
                </a:lnTo>
                <a:lnTo>
                  <a:pt x="47297" y="25023"/>
                </a:lnTo>
                <a:lnTo>
                  <a:pt x="48255" y="24160"/>
                </a:lnTo>
                <a:lnTo>
                  <a:pt x="52805" y="29584"/>
                </a:lnTo>
                <a:lnTo>
                  <a:pt x="51847" y="30446"/>
                </a:lnTo>
                <a:lnTo>
                  <a:pt x="66456" y="45731"/>
                </a:lnTo>
                <a:lnTo>
                  <a:pt x="68252" y="41170"/>
                </a:lnTo>
                <a:lnTo>
                  <a:pt x="58912" y="20585"/>
                </a:lnTo>
                <a:lnTo>
                  <a:pt x="55320" y="17504"/>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64" name="แสงศิริ"/>
          <p:cNvSpPr/>
          <p:nvPr/>
        </p:nvSpPr>
        <p:spPr>
          <a:xfrm>
            <a:off x="2933280" y="5743800"/>
            <a:ext cx="32040" cy="38520"/>
          </a:xfrm>
          <a:custGeom>
            <a:avLst/>
            <a:gdLst/>
            <a:ahLst/>
            <a:rect l="l" t="t" r="r" b="b"/>
            <a:pathLst>
              <a:path w="32569" h="38705">
                <a:moveTo>
                  <a:pt x="0" y="6533"/>
                </a:moveTo>
                <a:lnTo>
                  <a:pt x="7544" y="15408"/>
                </a:lnTo>
                <a:lnTo>
                  <a:pt x="8502" y="18490"/>
                </a:lnTo>
                <a:lnTo>
                  <a:pt x="9340" y="17750"/>
                </a:lnTo>
                <a:lnTo>
                  <a:pt x="14967" y="22804"/>
                </a:lnTo>
                <a:lnTo>
                  <a:pt x="28618" y="38705"/>
                </a:lnTo>
                <a:lnTo>
                  <a:pt x="32569" y="36363"/>
                </a:lnTo>
                <a:lnTo>
                  <a:pt x="10896" y="0"/>
                </a:lnTo>
                <a:lnTo>
                  <a:pt x="0" y="6533"/>
                </a:lnTo>
                <a:close/>
              </a:path>
            </a:pathLst>
          </a:custGeom>
          <a:solidFill>
            <a:srgbClr val="ded5c5"/>
          </a:solidFill>
          <a:ln w="6191">
            <a:solidFill>
              <a:srgbClr val="b5a68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65" name="สามัคคี 4-6"/>
          <p:cNvSpPr/>
          <p:nvPr/>
        </p:nvSpPr>
        <p:spPr>
          <a:xfrm>
            <a:off x="3060360" y="5706360"/>
            <a:ext cx="88920" cy="87480"/>
          </a:xfrm>
          <a:custGeom>
            <a:avLst/>
            <a:gdLst/>
            <a:ahLst/>
            <a:rect l="l" t="t" r="r" b="b"/>
            <a:pathLst>
              <a:path w="89206" h="87888">
                <a:moveTo>
                  <a:pt x="0" y="71124"/>
                </a:moveTo>
                <a:lnTo>
                  <a:pt x="3113" y="86778"/>
                </a:lnTo>
                <a:lnTo>
                  <a:pt x="23349" y="87888"/>
                </a:lnTo>
                <a:lnTo>
                  <a:pt x="41310" y="83327"/>
                </a:lnTo>
                <a:lnTo>
                  <a:pt x="41550" y="78150"/>
                </a:lnTo>
                <a:lnTo>
                  <a:pt x="49932" y="77287"/>
                </a:lnTo>
                <a:lnTo>
                  <a:pt x="81303" y="69275"/>
                </a:lnTo>
                <a:lnTo>
                  <a:pt x="81184" y="67796"/>
                </a:lnTo>
                <a:lnTo>
                  <a:pt x="89206" y="65577"/>
                </a:lnTo>
                <a:lnTo>
                  <a:pt x="83698" y="39075"/>
                </a:lnTo>
                <a:lnTo>
                  <a:pt x="72443" y="38335"/>
                </a:lnTo>
                <a:lnTo>
                  <a:pt x="68132" y="0"/>
                </a:lnTo>
                <a:lnTo>
                  <a:pt x="35323" y="7519"/>
                </a:lnTo>
                <a:lnTo>
                  <a:pt x="37718" y="41663"/>
                </a:lnTo>
                <a:lnTo>
                  <a:pt x="45741" y="41294"/>
                </a:lnTo>
                <a:lnTo>
                  <a:pt x="48135" y="54976"/>
                </a:lnTo>
                <a:lnTo>
                  <a:pt x="39993" y="56085"/>
                </a:lnTo>
                <a:lnTo>
                  <a:pt x="19757" y="66193"/>
                </a:lnTo>
                <a:lnTo>
                  <a:pt x="0" y="71124"/>
                </a:lnTo>
                <a:close/>
              </a:path>
            </a:pathLst>
          </a:custGeom>
          <a:solidFill>
            <a:srgbClr val="ded5c5"/>
          </a:solidFill>
          <a:ln w="6191">
            <a:solidFill>
              <a:srgbClr val="b5a68d"/>
            </a:solidFill>
            <a:round/>
          </a:ln>
        </p:spPr>
        <p:style>
          <a:lnRef idx="0"/>
          <a:fillRef idx="0"/>
          <a:effectRef idx="0"/>
          <a:fontRef idx="minor"/>
        </p:style>
        <p:txBody>
          <a:bodyPr lIns="90000" rIns="90000" tIns="42480" bIns="42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66" name="ดวงเดือน"/>
          <p:cNvSpPr/>
          <p:nvPr/>
        </p:nvSpPr>
        <p:spPr>
          <a:xfrm>
            <a:off x="3069720" y="5857920"/>
            <a:ext cx="10800" cy="13320"/>
          </a:xfrm>
          <a:custGeom>
            <a:avLst/>
            <a:gdLst/>
            <a:ahLst/>
            <a:rect l="l" t="t" r="r" b="b"/>
            <a:pathLst>
              <a:path w="11016" h="13682">
                <a:moveTo>
                  <a:pt x="0" y="5300"/>
                </a:moveTo>
                <a:lnTo>
                  <a:pt x="7065" y="7766"/>
                </a:lnTo>
                <a:lnTo>
                  <a:pt x="6107" y="12573"/>
                </a:lnTo>
                <a:lnTo>
                  <a:pt x="9100" y="13682"/>
                </a:lnTo>
                <a:lnTo>
                  <a:pt x="11016" y="3698"/>
                </a:lnTo>
                <a:lnTo>
                  <a:pt x="1317" y="0"/>
                </a:lnTo>
                <a:lnTo>
                  <a:pt x="0" y="5300"/>
                </a:lnTo>
                <a:close/>
              </a:path>
            </a:pathLst>
          </a:custGeom>
          <a:solidFill>
            <a:srgbClr val="ded5c5"/>
          </a:solidFill>
          <a:ln w="6191">
            <a:solidFill>
              <a:srgbClr val="b5a68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67" name="หมู่บ้านหรรษา 3 โครงการวีว่า (ซอยสนอง)"/>
          <p:cNvSpPr/>
          <p:nvPr/>
        </p:nvSpPr>
        <p:spPr>
          <a:xfrm>
            <a:off x="3026520" y="6019200"/>
            <a:ext cx="14760" cy="54000"/>
          </a:xfrm>
          <a:custGeom>
            <a:avLst/>
            <a:gdLst/>
            <a:ahLst/>
            <a:rect l="l" t="t" r="r" b="b"/>
            <a:pathLst>
              <a:path w="14967" h="54360">
                <a:moveTo>
                  <a:pt x="10058" y="54360"/>
                </a:moveTo>
                <a:lnTo>
                  <a:pt x="14967" y="53867"/>
                </a:lnTo>
                <a:lnTo>
                  <a:pt x="4790" y="0"/>
                </a:lnTo>
                <a:lnTo>
                  <a:pt x="0" y="986"/>
                </a:lnTo>
                <a:lnTo>
                  <a:pt x="10058" y="54360"/>
                </a:lnTo>
                <a:close/>
              </a:path>
            </a:pathLst>
          </a:custGeom>
          <a:solidFill>
            <a:srgbClr val="ded5c5"/>
          </a:solidFill>
          <a:ln w="6191">
            <a:solidFill>
              <a:srgbClr val="b5a68d"/>
            </a:solidFill>
            <a:round/>
          </a:ln>
        </p:spPr>
        <p:style>
          <a:lnRef idx="0"/>
          <a:fillRef idx="0"/>
          <a:effectRef idx="0"/>
          <a:fontRef idx="minor"/>
        </p:style>
        <p:txBody>
          <a:bodyPr lIns="90000" rIns="90000" tIns="9000" bIns="9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68" name="ริมคลองราษฎร์เจริญสุข"/>
          <p:cNvSpPr/>
          <p:nvPr/>
        </p:nvSpPr>
        <p:spPr>
          <a:xfrm>
            <a:off x="3093840" y="5801040"/>
            <a:ext cx="30600" cy="31320"/>
          </a:xfrm>
          <a:custGeom>
            <a:avLst/>
            <a:gdLst/>
            <a:ahLst/>
            <a:rect l="l" t="t" r="r" b="b"/>
            <a:pathLst>
              <a:path w="30893" h="31802">
                <a:moveTo>
                  <a:pt x="24786" y="0"/>
                </a:moveTo>
                <a:lnTo>
                  <a:pt x="20116" y="863"/>
                </a:lnTo>
                <a:lnTo>
                  <a:pt x="21433" y="17011"/>
                </a:lnTo>
                <a:lnTo>
                  <a:pt x="17482" y="18613"/>
                </a:lnTo>
                <a:lnTo>
                  <a:pt x="16644" y="10601"/>
                </a:lnTo>
                <a:lnTo>
                  <a:pt x="11256" y="8998"/>
                </a:lnTo>
                <a:lnTo>
                  <a:pt x="10657" y="4807"/>
                </a:lnTo>
                <a:lnTo>
                  <a:pt x="4191" y="3944"/>
                </a:lnTo>
                <a:lnTo>
                  <a:pt x="359" y="16641"/>
                </a:lnTo>
                <a:lnTo>
                  <a:pt x="0" y="26995"/>
                </a:lnTo>
                <a:lnTo>
                  <a:pt x="3472" y="26132"/>
                </a:lnTo>
                <a:lnTo>
                  <a:pt x="4670" y="31802"/>
                </a:lnTo>
                <a:lnTo>
                  <a:pt x="21314" y="29707"/>
                </a:lnTo>
                <a:lnTo>
                  <a:pt x="19278" y="18243"/>
                </a:lnTo>
                <a:lnTo>
                  <a:pt x="30653" y="13436"/>
                </a:lnTo>
                <a:lnTo>
                  <a:pt x="30893" y="11957"/>
                </a:lnTo>
                <a:lnTo>
                  <a:pt x="28738" y="123"/>
                </a:lnTo>
                <a:lnTo>
                  <a:pt x="24786" y="0"/>
                </a:lnTo>
                <a:close/>
              </a:path>
            </a:pathLst>
          </a:custGeom>
          <a:solidFill>
            <a:srgbClr val="ded5c5"/>
          </a:solidFill>
          <a:ln w="6191">
            <a:solidFill>
              <a:srgbClr val="b5a68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69" name="สร้อยมาลา"/>
          <p:cNvSpPr/>
          <p:nvPr/>
        </p:nvSpPr>
        <p:spPr>
          <a:xfrm>
            <a:off x="2907000" y="6010200"/>
            <a:ext cx="29880" cy="45360"/>
          </a:xfrm>
          <a:custGeom>
            <a:avLst/>
            <a:gdLst/>
            <a:ahLst/>
            <a:rect l="l" t="t" r="r" b="b"/>
            <a:pathLst>
              <a:path w="30414" h="45854">
                <a:moveTo>
                  <a:pt x="30055" y="0"/>
                </a:moveTo>
                <a:lnTo>
                  <a:pt x="0" y="2589"/>
                </a:lnTo>
                <a:lnTo>
                  <a:pt x="7783" y="45854"/>
                </a:lnTo>
                <a:lnTo>
                  <a:pt x="14848" y="43389"/>
                </a:lnTo>
                <a:lnTo>
                  <a:pt x="12453" y="33405"/>
                </a:lnTo>
                <a:lnTo>
                  <a:pt x="23589" y="29830"/>
                </a:lnTo>
                <a:lnTo>
                  <a:pt x="17961" y="9122"/>
                </a:lnTo>
                <a:lnTo>
                  <a:pt x="18679" y="5177"/>
                </a:lnTo>
                <a:lnTo>
                  <a:pt x="30414" y="3944"/>
                </a:lnTo>
                <a:lnTo>
                  <a:pt x="30055" y="0"/>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70" name="จันทร์ทรัพย์"/>
          <p:cNvSpPr/>
          <p:nvPr/>
        </p:nvSpPr>
        <p:spPr>
          <a:xfrm>
            <a:off x="2900880" y="5986800"/>
            <a:ext cx="36000" cy="24840"/>
          </a:xfrm>
          <a:custGeom>
            <a:avLst/>
            <a:gdLst/>
            <a:ahLst/>
            <a:rect l="l" t="t" r="r" b="b"/>
            <a:pathLst>
              <a:path w="36521" h="25269">
                <a:moveTo>
                  <a:pt x="0" y="5547"/>
                </a:moveTo>
                <a:lnTo>
                  <a:pt x="359" y="17627"/>
                </a:lnTo>
                <a:lnTo>
                  <a:pt x="3712" y="17380"/>
                </a:lnTo>
                <a:lnTo>
                  <a:pt x="5987" y="25269"/>
                </a:lnTo>
                <a:lnTo>
                  <a:pt x="36521" y="22681"/>
                </a:lnTo>
                <a:lnTo>
                  <a:pt x="35084" y="0"/>
                </a:lnTo>
                <a:lnTo>
                  <a:pt x="0" y="5547"/>
                </a:lnTo>
                <a:close/>
              </a:path>
            </a:pathLst>
          </a:custGeom>
          <a:solidFill>
            <a:srgbClr val="ded5c5"/>
          </a:solidFill>
          <a:ln w="6191">
            <a:solidFill>
              <a:srgbClr val="b5a68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71" name="ซอยสามัคคี"/>
          <p:cNvSpPr/>
          <p:nvPr/>
        </p:nvSpPr>
        <p:spPr>
          <a:xfrm>
            <a:off x="3256920" y="5814720"/>
            <a:ext cx="21600" cy="12960"/>
          </a:xfrm>
          <a:custGeom>
            <a:avLst/>
            <a:gdLst/>
            <a:ahLst/>
            <a:rect l="l" t="t" r="r" b="b"/>
            <a:pathLst>
              <a:path w="21793" h="13313">
                <a:moveTo>
                  <a:pt x="21673" y="0"/>
                </a:moveTo>
                <a:lnTo>
                  <a:pt x="0" y="3205"/>
                </a:lnTo>
                <a:lnTo>
                  <a:pt x="599" y="13313"/>
                </a:lnTo>
                <a:lnTo>
                  <a:pt x="21793" y="12696"/>
                </a:lnTo>
                <a:lnTo>
                  <a:pt x="21673" y="0"/>
                </a:lnTo>
                <a:close/>
              </a:path>
            </a:pathLst>
          </a:custGeom>
          <a:solidFill>
            <a:srgbClr val="ded5c5"/>
          </a:solidFill>
          <a:ln w="6191">
            <a:solidFill>
              <a:srgbClr val="b5a68d"/>
            </a:solidFill>
            <a:round/>
          </a:ln>
        </p:spPr>
        <p:style>
          <a:lnRef idx="0"/>
          <a:fillRef idx="0"/>
          <a:effectRef idx="0"/>
          <a:fontRef idx="minor"/>
        </p:style>
        <p:txBody>
          <a:bodyPr lIns="90000" rIns="90000" tIns="-32040" bIns="-32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72" name="หรรษากรมที่ดิน"/>
          <p:cNvSpPr/>
          <p:nvPr/>
        </p:nvSpPr>
        <p:spPr>
          <a:xfrm>
            <a:off x="2933280" y="5945400"/>
            <a:ext cx="15840" cy="30600"/>
          </a:xfrm>
          <a:custGeom>
            <a:avLst/>
            <a:gdLst/>
            <a:ahLst/>
            <a:rect l="l" t="t" r="r" b="b"/>
            <a:pathLst>
              <a:path w="16285" h="30939">
                <a:moveTo>
                  <a:pt x="0" y="1109"/>
                </a:moveTo>
                <a:lnTo>
                  <a:pt x="2275" y="30939"/>
                </a:lnTo>
                <a:lnTo>
                  <a:pt x="16285" y="30200"/>
                </a:lnTo>
                <a:lnTo>
                  <a:pt x="13770" y="0"/>
                </a:lnTo>
                <a:lnTo>
                  <a:pt x="0" y="1109"/>
                </a:lnTo>
                <a:close/>
              </a:path>
            </a:pathLst>
          </a:custGeom>
          <a:solidFill>
            <a:srgbClr val="ded5c5"/>
          </a:solidFill>
          <a:ln w="6191">
            <a:solidFill>
              <a:srgbClr val="b5a68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73" name="หรรษาชัยพัฒนา"/>
          <p:cNvSpPr/>
          <p:nvPr/>
        </p:nvSpPr>
        <p:spPr>
          <a:xfrm>
            <a:off x="2937600" y="5999400"/>
            <a:ext cx="20520" cy="14400"/>
          </a:xfrm>
          <a:custGeom>
            <a:avLst/>
            <a:gdLst/>
            <a:ahLst/>
            <a:rect l="l" t="t" r="r" b="b"/>
            <a:pathLst>
              <a:path w="20835" h="14669">
                <a:moveTo>
                  <a:pt x="0" y="1849"/>
                </a:moveTo>
                <a:lnTo>
                  <a:pt x="1078" y="14669"/>
                </a:lnTo>
                <a:lnTo>
                  <a:pt x="17841" y="13189"/>
                </a:lnTo>
                <a:lnTo>
                  <a:pt x="20835" y="0"/>
                </a:lnTo>
                <a:lnTo>
                  <a:pt x="0" y="1849"/>
                </a:lnTo>
                <a:close/>
              </a:path>
            </a:pathLst>
          </a:custGeom>
          <a:solidFill>
            <a:srgbClr val="ded5c5"/>
          </a:solidFill>
          <a:ln w="6191">
            <a:solidFill>
              <a:srgbClr val="b5a68d"/>
            </a:solidFill>
            <a:round/>
          </a:ln>
        </p:spPr>
        <p:style>
          <a:lnRef idx="0"/>
          <a:fillRef idx="0"/>
          <a:effectRef idx="0"/>
          <a:fontRef idx="minor"/>
        </p:style>
        <p:txBody>
          <a:bodyPr lIns="90000" rIns="90000" tIns="-30600" bIns="-30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74" name="หรรษาร่วมใจ"/>
          <p:cNvSpPr/>
          <p:nvPr/>
        </p:nvSpPr>
        <p:spPr>
          <a:xfrm>
            <a:off x="2918520" y="5946480"/>
            <a:ext cx="16200" cy="30600"/>
          </a:xfrm>
          <a:custGeom>
            <a:avLst/>
            <a:gdLst/>
            <a:ahLst/>
            <a:rect l="l" t="t" r="r" b="b"/>
            <a:pathLst>
              <a:path w="16404" h="30816">
                <a:moveTo>
                  <a:pt x="359" y="986"/>
                </a:moveTo>
                <a:lnTo>
                  <a:pt x="0" y="30816"/>
                </a:lnTo>
                <a:lnTo>
                  <a:pt x="16404" y="29953"/>
                </a:lnTo>
                <a:lnTo>
                  <a:pt x="14129" y="0"/>
                </a:lnTo>
                <a:lnTo>
                  <a:pt x="359" y="986"/>
                </a:lnTo>
                <a:close/>
              </a:path>
            </a:pathLst>
          </a:custGeom>
          <a:solidFill>
            <a:srgbClr val="ded5c5"/>
          </a:solidFill>
          <a:ln w="6191">
            <a:solidFill>
              <a:srgbClr val="b5a68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75" name="หรรษาสร้างสรรค์"/>
          <p:cNvSpPr/>
          <p:nvPr/>
        </p:nvSpPr>
        <p:spPr>
          <a:xfrm>
            <a:off x="2947320" y="5943960"/>
            <a:ext cx="18000" cy="31320"/>
          </a:xfrm>
          <a:custGeom>
            <a:avLst/>
            <a:gdLst/>
            <a:ahLst/>
            <a:rect l="l" t="t" r="r" b="b"/>
            <a:pathLst>
              <a:path w="18440" h="31802">
                <a:moveTo>
                  <a:pt x="0" y="1109"/>
                </a:moveTo>
                <a:lnTo>
                  <a:pt x="2515" y="31802"/>
                </a:lnTo>
                <a:lnTo>
                  <a:pt x="13650" y="31186"/>
                </a:lnTo>
                <a:lnTo>
                  <a:pt x="11495" y="7026"/>
                </a:lnTo>
                <a:lnTo>
                  <a:pt x="9938" y="3698"/>
                </a:lnTo>
                <a:lnTo>
                  <a:pt x="18440" y="2589"/>
                </a:lnTo>
                <a:lnTo>
                  <a:pt x="18081" y="0"/>
                </a:lnTo>
                <a:lnTo>
                  <a:pt x="0" y="1109"/>
                </a:lnTo>
                <a:close/>
              </a:path>
            </a:pathLst>
          </a:custGeom>
          <a:solidFill>
            <a:srgbClr val="ded5c5"/>
          </a:solidFill>
          <a:ln w="6191">
            <a:solidFill>
              <a:srgbClr val="b5a68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76" name="แยก 9 พัฒนา"/>
          <p:cNvSpPr/>
          <p:nvPr/>
        </p:nvSpPr>
        <p:spPr>
          <a:xfrm>
            <a:off x="2996640" y="5740560"/>
            <a:ext cx="55440" cy="33120"/>
          </a:xfrm>
          <a:custGeom>
            <a:avLst/>
            <a:gdLst/>
            <a:ahLst/>
            <a:rect l="l" t="t" r="r" b="b"/>
            <a:pathLst>
              <a:path w="55799" h="33405">
                <a:moveTo>
                  <a:pt x="53404" y="25639"/>
                </a:moveTo>
                <a:lnTo>
                  <a:pt x="40592" y="0"/>
                </a:lnTo>
                <a:lnTo>
                  <a:pt x="0" y="24776"/>
                </a:lnTo>
                <a:lnTo>
                  <a:pt x="1557" y="31802"/>
                </a:lnTo>
                <a:lnTo>
                  <a:pt x="7663" y="33405"/>
                </a:lnTo>
                <a:lnTo>
                  <a:pt x="55799" y="29953"/>
                </a:lnTo>
                <a:lnTo>
                  <a:pt x="53404" y="25639"/>
                </a:lnTo>
                <a:close/>
              </a:path>
            </a:pathLst>
          </a:custGeom>
          <a:solidFill>
            <a:srgbClr val="ded5c5"/>
          </a:solidFill>
          <a:ln w="6191">
            <a:solidFill>
              <a:srgbClr val="b5a68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77" name="การค้าหนองแขม หมู่ 2"/>
          <p:cNvSpPr/>
          <p:nvPr/>
        </p:nvSpPr>
        <p:spPr>
          <a:xfrm>
            <a:off x="3005640" y="5938560"/>
            <a:ext cx="21960" cy="24840"/>
          </a:xfrm>
          <a:custGeom>
            <a:avLst/>
            <a:gdLst/>
            <a:ahLst/>
            <a:rect l="l" t="t" r="r" b="b"/>
            <a:pathLst>
              <a:path w="22152" h="25269">
                <a:moveTo>
                  <a:pt x="1197" y="1849"/>
                </a:moveTo>
                <a:lnTo>
                  <a:pt x="2155" y="22311"/>
                </a:lnTo>
                <a:lnTo>
                  <a:pt x="0" y="23174"/>
                </a:lnTo>
                <a:lnTo>
                  <a:pt x="838" y="25269"/>
                </a:lnTo>
                <a:lnTo>
                  <a:pt x="19518" y="17134"/>
                </a:lnTo>
                <a:lnTo>
                  <a:pt x="20715" y="19353"/>
                </a:lnTo>
                <a:lnTo>
                  <a:pt x="22152" y="18490"/>
                </a:lnTo>
                <a:lnTo>
                  <a:pt x="16045" y="3205"/>
                </a:lnTo>
                <a:lnTo>
                  <a:pt x="21912" y="2342"/>
                </a:lnTo>
                <a:lnTo>
                  <a:pt x="21433" y="0"/>
                </a:lnTo>
                <a:lnTo>
                  <a:pt x="1197" y="1849"/>
                </a:lnTo>
                <a:close/>
              </a:path>
            </a:pathLst>
          </a:custGeom>
          <a:solidFill>
            <a:srgbClr val="ded5c5"/>
          </a:solidFill>
          <a:ln w="6191">
            <a:solidFill>
              <a:srgbClr val="b5a68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78" name="หลังตลาดศุนย์การค้าหนองแขม หมู่ 2"/>
          <p:cNvSpPr/>
          <p:nvPr/>
        </p:nvSpPr>
        <p:spPr>
          <a:xfrm>
            <a:off x="3007440" y="5958720"/>
            <a:ext cx="14760" cy="12600"/>
          </a:xfrm>
          <a:custGeom>
            <a:avLst/>
            <a:gdLst/>
            <a:ahLst/>
            <a:rect l="l" t="t" r="r" b="b"/>
            <a:pathLst>
              <a:path w="14967" h="13066">
                <a:moveTo>
                  <a:pt x="0" y="5054"/>
                </a:moveTo>
                <a:lnTo>
                  <a:pt x="3472" y="13066"/>
                </a:lnTo>
                <a:lnTo>
                  <a:pt x="14967" y="8505"/>
                </a:lnTo>
                <a:lnTo>
                  <a:pt x="11375" y="0"/>
                </a:lnTo>
                <a:lnTo>
                  <a:pt x="0" y="5054"/>
                </a:lnTo>
                <a:close/>
              </a:path>
            </a:pathLst>
          </a:custGeom>
          <a:solidFill>
            <a:srgbClr val="ded5c5"/>
          </a:solidFill>
          <a:ln w="6191">
            <a:solidFill>
              <a:srgbClr val="b5a68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79" name="คอนโดหนองแขม"/>
          <p:cNvSpPr/>
          <p:nvPr/>
        </p:nvSpPr>
        <p:spPr>
          <a:xfrm>
            <a:off x="2959920" y="5846760"/>
            <a:ext cx="20520" cy="13680"/>
          </a:xfrm>
          <a:custGeom>
            <a:avLst/>
            <a:gdLst/>
            <a:ahLst/>
            <a:rect l="l" t="t" r="r" b="b"/>
            <a:pathLst>
              <a:path w="20954" h="14175">
                <a:moveTo>
                  <a:pt x="1078" y="14175"/>
                </a:moveTo>
                <a:lnTo>
                  <a:pt x="20954" y="7396"/>
                </a:lnTo>
                <a:lnTo>
                  <a:pt x="17123" y="0"/>
                </a:lnTo>
                <a:lnTo>
                  <a:pt x="1197" y="9984"/>
                </a:lnTo>
                <a:lnTo>
                  <a:pt x="0" y="11094"/>
                </a:lnTo>
                <a:lnTo>
                  <a:pt x="1078" y="14175"/>
                </a:lnTo>
                <a:close/>
              </a:path>
            </a:pathLst>
          </a:custGeom>
          <a:solidFill>
            <a:srgbClr val="ded5c5"/>
          </a:solidFill>
          <a:ln w="6191">
            <a:solidFill>
              <a:srgbClr val="b5a68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80" name="ศิรินทร์และเพื่อน"/>
          <p:cNvSpPr/>
          <p:nvPr/>
        </p:nvSpPr>
        <p:spPr>
          <a:xfrm>
            <a:off x="4255200" y="5672160"/>
            <a:ext cx="15480" cy="16200"/>
          </a:xfrm>
          <a:custGeom>
            <a:avLst/>
            <a:gdLst/>
            <a:ahLst/>
            <a:rect l="l" t="t" r="r" b="b"/>
            <a:pathLst>
              <a:path w="15925" h="16394">
                <a:moveTo>
                  <a:pt x="0" y="4068"/>
                </a:moveTo>
                <a:lnTo>
                  <a:pt x="5388" y="16394"/>
                </a:lnTo>
                <a:lnTo>
                  <a:pt x="12213" y="12820"/>
                </a:lnTo>
                <a:lnTo>
                  <a:pt x="15925" y="8505"/>
                </a:lnTo>
                <a:lnTo>
                  <a:pt x="5748" y="0"/>
                </a:lnTo>
                <a:lnTo>
                  <a:pt x="0" y="4068"/>
                </a:lnTo>
                <a:close/>
              </a:path>
            </a:pathLst>
          </a:custGeom>
          <a:solidFill>
            <a:srgbClr val="ded5c5"/>
          </a:solidFill>
          <a:ln w="6191">
            <a:solidFill>
              <a:srgbClr val="b5a68d"/>
            </a:solidFill>
            <a:round/>
          </a:ln>
        </p:spPr>
        <p:style>
          <a:lnRef idx="0"/>
          <a:fillRef idx="0"/>
          <a:effectRef idx="0"/>
          <a:fontRef idx="minor"/>
        </p:style>
        <p:txBody>
          <a:bodyPr lIns="90000" rIns="90000" tIns="-28800" bIns="-28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81" name="พื้นที่สุขภาวะหลัง ม.สยาม รุ่งฟ้า 36"/>
          <p:cNvSpPr/>
          <p:nvPr/>
        </p:nvSpPr>
        <p:spPr>
          <a:xfrm>
            <a:off x="4349160" y="5714280"/>
            <a:ext cx="22320" cy="41760"/>
          </a:xfrm>
          <a:custGeom>
            <a:avLst/>
            <a:gdLst/>
            <a:ahLst/>
            <a:rect l="l" t="t" r="r" b="b"/>
            <a:pathLst>
              <a:path w="22751" h="42157">
                <a:moveTo>
                  <a:pt x="16045" y="7519"/>
                </a:moveTo>
                <a:lnTo>
                  <a:pt x="10058" y="0"/>
                </a:lnTo>
                <a:lnTo>
                  <a:pt x="6346" y="3082"/>
                </a:lnTo>
                <a:lnTo>
                  <a:pt x="3233" y="616"/>
                </a:lnTo>
                <a:lnTo>
                  <a:pt x="0" y="2589"/>
                </a:lnTo>
                <a:lnTo>
                  <a:pt x="5269" y="10231"/>
                </a:lnTo>
                <a:lnTo>
                  <a:pt x="5388" y="13559"/>
                </a:lnTo>
                <a:lnTo>
                  <a:pt x="1078" y="14545"/>
                </a:lnTo>
                <a:lnTo>
                  <a:pt x="1796" y="17873"/>
                </a:lnTo>
                <a:lnTo>
                  <a:pt x="5867" y="17504"/>
                </a:lnTo>
                <a:lnTo>
                  <a:pt x="8262" y="42157"/>
                </a:lnTo>
                <a:lnTo>
                  <a:pt x="22751" y="40924"/>
                </a:lnTo>
                <a:lnTo>
                  <a:pt x="22631" y="38705"/>
                </a:lnTo>
                <a:lnTo>
                  <a:pt x="18919" y="38952"/>
                </a:lnTo>
                <a:lnTo>
                  <a:pt x="16045" y="7519"/>
                </a:lnTo>
                <a:close/>
              </a:path>
            </a:pathLst>
          </a:custGeom>
          <a:solidFill>
            <a:srgbClr val="ded5c5"/>
          </a:solidFill>
          <a:ln w="6191">
            <a:solidFill>
              <a:srgbClr val="b5a68d"/>
            </a:solidFill>
            <a:round/>
          </a:ln>
        </p:spPr>
        <p:style>
          <a:lnRef idx="0"/>
          <a:fillRef idx="0"/>
          <a:effectRef idx="0"/>
          <a:fontRef idx="minor"/>
        </p:style>
        <p:txBody>
          <a:bodyPr lIns="90000" rIns="90000" tIns="-3240" bIns="-3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82" name="ข้างวัดโตนด"/>
          <p:cNvSpPr/>
          <p:nvPr/>
        </p:nvSpPr>
        <p:spPr>
          <a:xfrm>
            <a:off x="4315680" y="5555880"/>
            <a:ext cx="28800" cy="21240"/>
          </a:xfrm>
          <a:custGeom>
            <a:avLst/>
            <a:gdLst/>
            <a:ahLst/>
            <a:rect l="l" t="t" r="r" b="b"/>
            <a:pathLst>
              <a:path w="29336" h="21695">
                <a:moveTo>
                  <a:pt x="17602" y="0"/>
                </a:moveTo>
                <a:lnTo>
                  <a:pt x="9340" y="4438"/>
                </a:lnTo>
                <a:lnTo>
                  <a:pt x="0" y="7026"/>
                </a:lnTo>
                <a:lnTo>
                  <a:pt x="4191" y="21695"/>
                </a:lnTo>
                <a:lnTo>
                  <a:pt x="8980" y="20462"/>
                </a:lnTo>
                <a:lnTo>
                  <a:pt x="8262" y="16024"/>
                </a:lnTo>
                <a:lnTo>
                  <a:pt x="16165" y="13682"/>
                </a:lnTo>
                <a:lnTo>
                  <a:pt x="16883" y="15655"/>
                </a:lnTo>
                <a:lnTo>
                  <a:pt x="29336" y="12943"/>
                </a:lnTo>
                <a:lnTo>
                  <a:pt x="26941" y="7519"/>
                </a:lnTo>
                <a:lnTo>
                  <a:pt x="21194" y="10231"/>
                </a:lnTo>
                <a:lnTo>
                  <a:pt x="17602" y="0"/>
                </a:lnTo>
                <a:close/>
              </a:path>
            </a:pathLst>
          </a:custGeom>
          <a:solidFill>
            <a:srgbClr val="ded5c5"/>
          </a:solidFill>
          <a:ln w="6191">
            <a:solidFill>
              <a:srgbClr val="b5a68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83" name="หลังวัดปากน้ำฝั่งใต้"/>
          <p:cNvSpPr/>
          <p:nvPr/>
        </p:nvSpPr>
        <p:spPr>
          <a:xfrm>
            <a:off x="4391280" y="5462280"/>
            <a:ext cx="23040" cy="22320"/>
          </a:xfrm>
          <a:custGeom>
            <a:avLst/>
            <a:gdLst/>
            <a:ahLst/>
            <a:rect l="l" t="t" r="r" b="b"/>
            <a:pathLst>
              <a:path w="23469" h="22557">
                <a:moveTo>
                  <a:pt x="2275" y="19229"/>
                </a:moveTo>
                <a:lnTo>
                  <a:pt x="16764" y="22557"/>
                </a:lnTo>
                <a:lnTo>
                  <a:pt x="23469" y="18736"/>
                </a:lnTo>
                <a:lnTo>
                  <a:pt x="21553" y="10971"/>
                </a:lnTo>
                <a:lnTo>
                  <a:pt x="21912" y="4314"/>
                </a:lnTo>
                <a:lnTo>
                  <a:pt x="10298" y="0"/>
                </a:lnTo>
                <a:lnTo>
                  <a:pt x="2634" y="493"/>
                </a:lnTo>
                <a:lnTo>
                  <a:pt x="0" y="5300"/>
                </a:lnTo>
                <a:lnTo>
                  <a:pt x="2275" y="9122"/>
                </a:lnTo>
                <a:lnTo>
                  <a:pt x="359" y="16887"/>
                </a:lnTo>
                <a:lnTo>
                  <a:pt x="2515" y="17380"/>
                </a:lnTo>
                <a:lnTo>
                  <a:pt x="2275" y="19229"/>
                </a:lnTo>
                <a:close/>
              </a:path>
            </a:pathLst>
          </a:custGeom>
          <a:solidFill>
            <a:srgbClr val="ded5c5"/>
          </a:solidFill>
          <a:ln w="6191">
            <a:solidFill>
              <a:srgbClr val="b5a68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84" name="หมู่บ้านนวมประดิษฐ์"/>
          <p:cNvSpPr/>
          <p:nvPr/>
        </p:nvSpPr>
        <p:spPr>
          <a:xfrm>
            <a:off x="4129560" y="5546520"/>
            <a:ext cx="20880" cy="39600"/>
          </a:xfrm>
          <a:custGeom>
            <a:avLst/>
            <a:gdLst/>
            <a:ahLst/>
            <a:rect l="l" t="t" r="r" b="b"/>
            <a:pathLst>
              <a:path w="21314" h="40061">
                <a:moveTo>
                  <a:pt x="0" y="0"/>
                </a:moveTo>
                <a:lnTo>
                  <a:pt x="6346" y="40061"/>
                </a:lnTo>
                <a:lnTo>
                  <a:pt x="20954" y="38089"/>
                </a:lnTo>
                <a:lnTo>
                  <a:pt x="21314" y="27858"/>
                </a:lnTo>
                <a:lnTo>
                  <a:pt x="18200" y="6287"/>
                </a:lnTo>
                <a:lnTo>
                  <a:pt x="13650" y="5917"/>
                </a:lnTo>
                <a:lnTo>
                  <a:pt x="13770" y="3821"/>
                </a:lnTo>
                <a:lnTo>
                  <a:pt x="9699" y="3328"/>
                </a:lnTo>
                <a:lnTo>
                  <a:pt x="9459" y="1109"/>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85" name="หมู่ 4 ชาวบางแวก"/>
          <p:cNvSpPr/>
          <p:nvPr/>
        </p:nvSpPr>
        <p:spPr>
          <a:xfrm>
            <a:off x="4217040" y="5591160"/>
            <a:ext cx="47880" cy="48960"/>
          </a:xfrm>
          <a:custGeom>
            <a:avLst/>
            <a:gdLst/>
            <a:ahLst/>
            <a:rect l="l" t="t" r="r" b="b"/>
            <a:pathLst>
              <a:path w="48375" h="49306">
                <a:moveTo>
                  <a:pt x="46818" y="5177"/>
                </a:moveTo>
                <a:lnTo>
                  <a:pt x="34605" y="3451"/>
                </a:lnTo>
                <a:lnTo>
                  <a:pt x="34844" y="740"/>
                </a:lnTo>
                <a:lnTo>
                  <a:pt x="29097" y="0"/>
                </a:lnTo>
                <a:lnTo>
                  <a:pt x="28139" y="12203"/>
                </a:lnTo>
                <a:lnTo>
                  <a:pt x="25505" y="11464"/>
                </a:lnTo>
                <a:lnTo>
                  <a:pt x="23948" y="19846"/>
                </a:lnTo>
                <a:lnTo>
                  <a:pt x="18799" y="18983"/>
                </a:lnTo>
                <a:lnTo>
                  <a:pt x="18081" y="23174"/>
                </a:lnTo>
                <a:lnTo>
                  <a:pt x="13171" y="22064"/>
                </a:lnTo>
                <a:lnTo>
                  <a:pt x="11016" y="29953"/>
                </a:lnTo>
                <a:lnTo>
                  <a:pt x="5508" y="29337"/>
                </a:lnTo>
                <a:lnTo>
                  <a:pt x="0" y="49306"/>
                </a:lnTo>
                <a:lnTo>
                  <a:pt x="25265" y="41294"/>
                </a:lnTo>
                <a:lnTo>
                  <a:pt x="26941" y="30570"/>
                </a:lnTo>
                <a:lnTo>
                  <a:pt x="43585" y="34021"/>
                </a:lnTo>
                <a:lnTo>
                  <a:pt x="48375" y="12573"/>
                </a:lnTo>
                <a:lnTo>
                  <a:pt x="45262" y="12450"/>
                </a:lnTo>
                <a:lnTo>
                  <a:pt x="46818" y="5177"/>
                </a:lnTo>
                <a:close/>
              </a:path>
            </a:pathLst>
          </a:custGeom>
          <a:solidFill>
            <a:srgbClr val="ded5c5"/>
          </a:solidFill>
          <a:ln w="6191">
            <a:solidFill>
              <a:srgbClr val="b5a68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86" name="หมู่ 4 ชาวบางแวก"/>
          <p:cNvSpPr/>
          <p:nvPr/>
        </p:nvSpPr>
        <p:spPr>
          <a:xfrm>
            <a:off x="4172400" y="5581440"/>
            <a:ext cx="14400" cy="9000"/>
          </a:xfrm>
          <a:custGeom>
            <a:avLst/>
            <a:gdLst/>
            <a:ahLst/>
            <a:rect l="l" t="t" r="r" b="b"/>
            <a:pathLst>
              <a:path w="14728" h="9491">
                <a:moveTo>
                  <a:pt x="14489" y="8505"/>
                </a:moveTo>
                <a:lnTo>
                  <a:pt x="14728" y="0"/>
                </a:lnTo>
                <a:lnTo>
                  <a:pt x="120" y="2219"/>
                </a:lnTo>
                <a:lnTo>
                  <a:pt x="0" y="9491"/>
                </a:lnTo>
                <a:lnTo>
                  <a:pt x="14489" y="8505"/>
                </a:lnTo>
                <a:close/>
              </a:path>
            </a:pathLst>
          </a:custGeom>
          <a:solidFill>
            <a:srgbClr val="ded5c5"/>
          </a:solidFill>
          <a:ln w="6191">
            <a:solidFill>
              <a:srgbClr val="b5a68d"/>
            </a:solidFill>
            <a:round/>
          </a:ln>
        </p:spPr>
        <p:style>
          <a:lnRef idx="0"/>
          <a:fillRef idx="0"/>
          <a:effectRef idx="0"/>
          <a:fontRef idx="minor"/>
        </p:style>
        <p:txBody>
          <a:bodyPr lIns="90000" rIns="90000" tIns="-36000" bIns="-36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87" name="หมู่ 4 ชาวบางแวก"/>
          <p:cNvSpPr/>
          <p:nvPr/>
        </p:nvSpPr>
        <p:spPr>
          <a:xfrm>
            <a:off x="4194360" y="5579640"/>
            <a:ext cx="12960" cy="11880"/>
          </a:xfrm>
          <a:custGeom>
            <a:avLst/>
            <a:gdLst/>
            <a:ahLst/>
            <a:rect l="l" t="t" r="r" b="b"/>
            <a:pathLst>
              <a:path w="13291" h="12203">
                <a:moveTo>
                  <a:pt x="13291" y="0"/>
                </a:moveTo>
                <a:lnTo>
                  <a:pt x="599" y="1602"/>
                </a:lnTo>
                <a:lnTo>
                  <a:pt x="0" y="10231"/>
                </a:lnTo>
                <a:lnTo>
                  <a:pt x="7065" y="9984"/>
                </a:lnTo>
                <a:lnTo>
                  <a:pt x="6705" y="11464"/>
                </a:lnTo>
                <a:lnTo>
                  <a:pt x="12573" y="12203"/>
                </a:lnTo>
                <a:lnTo>
                  <a:pt x="13291" y="0"/>
                </a:lnTo>
                <a:close/>
              </a:path>
            </a:pathLst>
          </a:custGeom>
          <a:solidFill>
            <a:srgbClr val="ded5c5"/>
          </a:solidFill>
          <a:ln w="6191">
            <a:solidFill>
              <a:srgbClr val="b5a68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88" name="หมู่ 4 ชาวบางแวก"/>
          <p:cNvSpPr/>
          <p:nvPr/>
        </p:nvSpPr>
        <p:spPr>
          <a:xfrm>
            <a:off x="4213800" y="5577840"/>
            <a:ext cx="14040" cy="24840"/>
          </a:xfrm>
          <a:custGeom>
            <a:avLst/>
            <a:gdLst/>
            <a:ahLst/>
            <a:rect l="l" t="t" r="r" b="b"/>
            <a:pathLst>
              <a:path w="14489" h="25146">
                <a:moveTo>
                  <a:pt x="14489" y="0"/>
                </a:moveTo>
                <a:lnTo>
                  <a:pt x="4670" y="616"/>
                </a:lnTo>
                <a:lnTo>
                  <a:pt x="0" y="24899"/>
                </a:lnTo>
                <a:lnTo>
                  <a:pt x="9938" y="25146"/>
                </a:lnTo>
                <a:lnTo>
                  <a:pt x="14489" y="0"/>
                </a:lnTo>
                <a:close/>
              </a:path>
            </a:pathLst>
          </a:custGeom>
          <a:solidFill>
            <a:srgbClr val="ded5c5"/>
          </a:solidFill>
          <a:ln w="6191">
            <a:solidFill>
              <a:srgbClr val="b5a68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89" name="หมู่ 4 ชาวบางแวก"/>
          <p:cNvSpPr/>
          <p:nvPr/>
        </p:nvSpPr>
        <p:spPr>
          <a:xfrm>
            <a:off x="4228920" y="5575320"/>
            <a:ext cx="21960" cy="18720"/>
          </a:xfrm>
          <a:custGeom>
            <a:avLst/>
            <a:gdLst/>
            <a:ahLst/>
            <a:rect l="l" t="t" r="r" b="b"/>
            <a:pathLst>
              <a:path w="22152" h="19106">
                <a:moveTo>
                  <a:pt x="20236" y="0"/>
                </a:moveTo>
                <a:lnTo>
                  <a:pt x="1796" y="2219"/>
                </a:lnTo>
                <a:lnTo>
                  <a:pt x="1796" y="4684"/>
                </a:lnTo>
                <a:lnTo>
                  <a:pt x="2874" y="4931"/>
                </a:lnTo>
                <a:lnTo>
                  <a:pt x="0" y="19106"/>
                </a:lnTo>
                <a:lnTo>
                  <a:pt x="10657" y="19106"/>
                </a:lnTo>
                <a:lnTo>
                  <a:pt x="13411" y="8012"/>
                </a:lnTo>
                <a:lnTo>
                  <a:pt x="17482" y="8135"/>
                </a:lnTo>
                <a:lnTo>
                  <a:pt x="17123" y="12943"/>
                </a:lnTo>
                <a:lnTo>
                  <a:pt x="22152" y="13682"/>
                </a:lnTo>
                <a:lnTo>
                  <a:pt x="20236" y="0"/>
                </a:lnTo>
                <a:close/>
              </a:path>
            </a:pathLst>
          </a:custGeom>
          <a:solidFill>
            <a:srgbClr val="ded5c5"/>
          </a:solidFill>
          <a:ln w="6191">
            <a:solidFill>
              <a:srgbClr val="b5a68d"/>
            </a:solidFill>
            <a:round/>
          </a:ln>
        </p:spPr>
        <p:style>
          <a:lnRef idx="0"/>
          <a:fillRef idx="0"/>
          <a:effectRef idx="0"/>
          <a:fontRef idx="minor"/>
        </p:style>
        <p:txBody>
          <a:bodyPr lIns="90000" rIns="90000" tIns="-26280" bIns="-26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90" name="หมู่ 5 บางแวก"/>
          <p:cNvSpPr/>
          <p:nvPr/>
        </p:nvSpPr>
        <p:spPr>
          <a:xfrm>
            <a:off x="4119120" y="5586120"/>
            <a:ext cx="28440" cy="24120"/>
          </a:xfrm>
          <a:custGeom>
            <a:avLst/>
            <a:gdLst/>
            <a:ahLst/>
            <a:rect l="l" t="t" r="r" b="b"/>
            <a:pathLst>
              <a:path w="28857" h="24406">
                <a:moveTo>
                  <a:pt x="0" y="3082"/>
                </a:moveTo>
                <a:lnTo>
                  <a:pt x="2515" y="24406"/>
                </a:lnTo>
                <a:lnTo>
                  <a:pt x="28857" y="21818"/>
                </a:lnTo>
                <a:lnTo>
                  <a:pt x="28019" y="0"/>
                </a:lnTo>
                <a:lnTo>
                  <a:pt x="0" y="3082"/>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91" name="หรรษามาเจริญ"/>
          <p:cNvSpPr/>
          <p:nvPr/>
        </p:nvSpPr>
        <p:spPr>
          <a:xfrm>
            <a:off x="2995560" y="5981400"/>
            <a:ext cx="15480" cy="37080"/>
          </a:xfrm>
          <a:custGeom>
            <a:avLst/>
            <a:gdLst/>
            <a:ahLst/>
            <a:rect l="l" t="t" r="r" b="b"/>
            <a:pathLst>
              <a:path w="15806" h="37349">
                <a:moveTo>
                  <a:pt x="10058" y="0"/>
                </a:moveTo>
                <a:lnTo>
                  <a:pt x="1557" y="4068"/>
                </a:lnTo>
                <a:lnTo>
                  <a:pt x="0" y="6287"/>
                </a:lnTo>
                <a:lnTo>
                  <a:pt x="5508" y="37349"/>
                </a:lnTo>
                <a:lnTo>
                  <a:pt x="14848" y="34268"/>
                </a:lnTo>
                <a:lnTo>
                  <a:pt x="11016" y="14792"/>
                </a:lnTo>
                <a:lnTo>
                  <a:pt x="15806" y="13929"/>
                </a:lnTo>
                <a:lnTo>
                  <a:pt x="10058" y="0"/>
                </a:lnTo>
                <a:close/>
              </a:path>
            </a:pathLst>
          </a:custGeom>
          <a:solidFill>
            <a:srgbClr val="ded5c5"/>
          </a:solidFill>
          <a:ln w="6191">
            <a:solidFill>
              <a:srgbClr val="b5a68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92" name="จิตรณรงค์ 21"/>
          <p:cNvSpPr/>
          <p:nvPr/>
        </p:nvSpPr>
        <p:spPr>
          <a:xfrm>
            <a:off x="2944080" y="5720760"/>
            <a:ext cx="46080" cy="22320"/>
          </a:xfrm>
          <a:custGeom>
            <a:avLst/>
            <a:gdLst/>
            <a:ahLst/>
            <a:rect l="l" t="t" r="r" b="b"/>
            <a:pathLst>
              <a:path w="46459" h="22681">
                <a:moveTo>
                  <a:pt x="0" y="3821"/>
                </a:moveTo>
                <a:lnTo>
                  <a:pt x="479" y="11340"/>
                </a:lnTo>
                <a:lnTo>
                  <a:pt x="10298" y="10354"/>
                </a:lnTo>
                <a:lnTo>
                  <a:pt x="12094" y="15901"/>
                </a:lnTo>
                <a:lnTo>
                  <a:pt x="31252" y="22681"/>
                </a:lnTo>
                <a:lnTo>
                  <a:pt x="33767" y="22557"/>
                </a:lnTo>
                <a:lnTo>
                  <a:pt x="33407" y="20339"/>
                </a:lnTo>
                <a:lnTo>
                  <a:pt x="46459" y="20092"/>
                </a:lnTo>
                <a:lnTo>
                  <a:pt x="44423" y="6656"/>
                </a:lnTo>
                <a:lnTo>
                  <a:pt x="37958" y="6533"/>
                </a:lnTo>
                <a:lnTo>
                  <a:pt x="37479" y="0"/>
                </a:lnTo>
                <a:lnTo>
                  <a:pt x="0" y="3821"/>
                </a:lnTo>
                <a:close/>
              </a:path>
            </a:pathLst>
          </a:custGeom>
          <a:solidFill>
            <a:srgbClr val="ded5c5"/>
          </a:solidFill>
          <a:ln w="6191">
            <a:solidFill>
              <a:srgbClr val="b5a68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93" name="ชายคลอง"/>
          <p:cNvSpPr/>
          <p:nvPr/>
        </p:nvSpPr>
        <p:spPr>
          <a:xfrm>
            <a:off x="3281040" y="5778360"/>
            <a:ext cx="26280" cy="10440"/>
          </a:xfrm>
          <a:custGeom>
            <a:avLst/>
            <a:gdLst/>
            <a:ahLst/>
            <a:rect l="l" t="t" r="r" b="b"/>
            <a:pathLst>
              <a:path w="26582" h="10971">
                <a:moveTo>
                  <a:pt x="359" y="6287"/>
                </a:moveTo>
                <a:lnTo>
                  <a:pt x="0" y="10971"/>
                </a:lnTo>
                <a:lnTo>
                  <a:pt x="26582" y="5177"/>
                </a:lnTo>
                <a:lnTo>
                  <a:pt x="25505" y="0"/>
                </a:lnTo>
                <a:lnTo>
                  <a:pt x="359" y="6287"/>
                </a:lnTo>
                <a:close/>
              </a:path>
            </a:pathLst>
          </a:custGeom>
          <a:solidFill>
            <a:srgbClr val="ded5c5"/>
          </a:solidFill>
          <a:ln w="6191">
            <a:solidFill>
              <a:srgbClr val="b5a68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94" name="พงษ์ศิริชัย 2"/>
          <p:cNvSpPr/>
          <p:nvPr/>
        </p:nvSpPr>
        <p:spPr>
          <a:xfrm>
            <a:off x="2900160" y="5978520"/>
            <a:ext cx="23760" cy="12960"/>
          </a:xfrm>
          <a:custGeom>
            <a:avLst/>
            <a:gdLst/>
            <a:ahLst/>
            <a:rect l="l" t="t" r="r" b="b"/>
            <a:pathLst>
              <a:path w="24068" h="13189">
                <a:moveTo>
                  <a:pt x="0" y="5424"/>
                </a:moveTo>
                <a:lnTo>
                  <a:pt x="718" y="13189"/>
                </a:lnTo>
                <a:lnTo>
                  <a:pt x="23948" y="10477"/>
                </a:lnTo>
                <a:lnTo>
                  <a:pt x="24068" y="247"/>
                </a:lnTo>
                <a:lnTo>
                  <a:pt x="1676" y="0"/>
                </a:lnTo>
                <a:lnTo>
                  <a:pt x="0" y="5424"/>
                </a:lnTo>
                <a:close/>
              </a:path>
            </a:pathLst>
          </a:custGeom>
          <a:solidFill>
            <a:srgbClr val="ded5c5"/>
          </a:solidFill>
          <a:ln w="6191">
            <a:solidFill>
              <a:srgbClr val="b5a68d"/>
            </a:solidFill>
            <a:round/>
          </a:ln>
        </p:spPr>
        <p:style>
          <a:lnRef idx="0"/>
          <a:fillRef idx="0"/>
          <a:effectRef idx="0"/>
          <a:fontRef idx="minor"/>
        </p:style>
        <p:txBody>
          <a:bodyPr lIns="90000" rIns="90000" tIns="-32040" bIns="-32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95" name="นาคสามัคคี"/>
          <p:cNvSpPr/>
          <p:nvPr/>
        </p:nvSpPr>
        <p:spPr>
          <a:xfrm>
            <a:off x="3322080" y="5977440"/>
            <a:ext cx="58680" cy="43560"/>
          </a:xfrm>
          <a:custGeom>
            <a:avLst/>
            <a:gdLst/>
            <a:ahLst/>
            <a:rect l="l" t="t" r="r" b="b"/>
            <a:pathLst>
              <a:path w="59032" h="43882">
                <a:moveTo>
                  <a:pt x="838" y="39691"/>
                </a:moveTo>
                <a:lnTo>
                  <a:pt x="1197" y="43882"/>
                </a:lnTo>
                <a:lnTo>
                  <a:pt x="59032" y="31556"/>
                </a:lnTo>
                <a:lnTo>
                  <a:pt x="54721" y="0"/>
                </a:lnTo>
                <a:lnTo>
                  <a:pt x="35323" y="1972"/>
                </a:lnTo>
                <a:lnTo>
                  <a:pt x="21314" y="5670"/>
                </a:lnTo>
                <a:lnTo>
                  <a:pt x="17123" y="11833"/>
                </a:lnTo>
                <a:lnTo>
                  <a:pt x="16285" y="16024"/>
                </a:lnTo>
                <a:lnTo>
                  <a:pt x="8861" y="16641"/>
                </a:lnTo>
                <a:lnTo>
                  <a:pt x="10178" y="30446"/>
                </a:lnTo>
                <a:lnTo>
                  <a:pt x="9340" y="32665"/>
                </a:lnTo>
                <a:lnTo>
                  <a:pt x="0" y="33775"/>
                </a:lnTo>
                <a:lnTo>
                  <a:pt x="838" y="39691"/>
                </a:lnTo>
                <a:close/>
              </a:path>
            </a:pathLst>
          </a:custGeom>
          <a:solidFill>
            <a:srgbClr val="ded5c5"/>
          </a:solidFill>
          <a:ln w="6191">
            <a:solidFill>
              <a:srgbClr val="b5a68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96" name="หมู่บ้านสุขสันต์ 9"/>
          <p:cNvSpPr/>
          <p:nvPr/>
        </p:nvSpPr>
        <p:spPr>
          <a:xfrm>
            <a:off x="2987280" y="5682960"/>
            <a:ext cx="43560" cy="39240"/>
          </a:xfrm>
          <a:custGeom>
            <a:avLst/>
            <a:gdLst/>
            <a:ahLst/>
            <a:rect l="l" t="t" r="r" b="b"/>
            <a:pathLst>
              <a:path w="43945" h="39568">
                <a:moveTo>
                  <a:pt x="35323" y="20339"/>
                </a:moveTo>
                <a:lnTo>
                  <a:pt x="43945" y="15408"/>
                </a:lnTo>
                <a:lnTo>
                  <a:pt x="37479" y="0"/>
                </a:lnTo>
                <a:lnTo>
                  <a:pt x="0" y="26748"/>
                </a:lnTo>
                <a:lnTo>
                  <a:pt x="1916" y="39568"/>
                </a:lnTo>
                <a:lnTo>
                  <a:pt x="35323" y="20339"/>
                </a:lnTo>
                <a:close/>
              </a:path>
            </a:pathLst>
          </a:custGeom>
          <a:solidFill>
            <a:srgbClr val="ded5c5"/>
          </a:solidFill>
          <a:ln w="6191">
            <a:solidFill>
              <a:srgbClr val="b5a68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97" name="วัดจันทร์ประดิษฐาราม เขต 1 หมู่ 7"/>
          <p:cNvSpPr/>
          <p:nvPr/>
        </p:nvSpPr>
        <p:spPr>
          <a:xfrm>
            <a:off x="4162680" y="5753520"/>
            <a:ext cx="38160" cy="35640"/>
          </a:xfrm>
          <a:custGeom>
            <a:avLst/>
            <a:gdLst/>
            <a:ahLst/>
            <a:rect l="l" t="t" r="r" b="b"/>
            <a:pathLst>
              <a:path w="38436" h="35993">
                <a:moveTo>
                  <a:pt x="0" y="1479"/>
                </a:moveTo>
                <a:lnTo>
                  <a:pt x="8741" y="11340"/>
                </a:lnTo>
                <a:lnTo>
                  <a:pt x="7184" y="12820"/>
                </a:lnTo>
                <a:lnTo>
                  <a:pt x="8502" y="14175"/>
                </a:lnTo>
                <a:lnTo>
                  <a:pt x="10178" y="12696"/>
                </a:lnTo>
                <a:lnTo>
                  <a:pt x="16764" y="19599"/>
                </a:lnTo>
                <a:lnTo>
                  <a:pt x="13052" y="22804"/>
                </a:lnTo>
                <a:lnTo>
                  <a:pt x="25145" y="35993"/>
                </a:lnTo>
                <a:lnTo>
                  <a:pt x="38436" y="29707"/>
                </a:lnTo>
                <a:lnTo>
                  <a:pt x="24427" y="14299"/>
                </a:lnTo>
                <a:lnTo>
                  <a:pt x="25385" y="13436"/>
                </a:lnTo>
                <a:lnTo>
                  <a:pt x="20835" y="8382"/>
                </a:lnTo>
                <a:lnTo>
                  <a:pt x="19757" y="9245"/>
                </a:lnTo>
                <a:lnTo>
                  <a:pt x="12213" y="1233"/>
                </a:lnTo>
                <a:lnTo>
                  <a:pt x="6586" y="4068"/>
                </a:lnTo>
                <a:lnTo>
                  <a:pt x="2754" y="0"/>
                </a:lnTo>
                <a:lnTo>
                  <a:pt x="0" y="1479"/>
                </a:lnTo>
                <a:close/>
              </a:path>
            </a:pathLst>
          </a:custGeom>
          <a:solidFill>
            <a:srgbClr val="ded5c5"/>
          </a:solidFill>
          <a:ln w="6191">
            <a:solidFill>
              <a:srgbClr val="b5a68d"/>
            </a:solidFill>
            <a:round/>
          </a:ln>
        </p:spPr>
        <p:style>
          <a:lnRef idx="0"/>
          <a:fillRef idx="0"/>
          <a:effectRef idx="0"/>
          <a:fontRef idx="minor"/>
        </p:style>
        <p:txBody>
          <a:bodyPr lIns="90000" rIns="90000" tIns="-9360" bIns="-9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98" name="จันทร์รวมใจ"/>
          <p:cNvSpPr/>
          <p:nvPr/>
        </p:nvSpPr>
        <p:spPr>
          <a:xfrm>
            <a:off x="4160160" y="5685120"/>
            <a:ext cx="29160" cy="27360"/>
          </a:xfrm>
          <a:custGeom>
            <a:avLst/>
            <a:gdLst/>
            <a:ahLst/>
            <a:rect l="l" t="t" r="r" b="b"/>
            <a:pathLst>
              <a:path w="29576" h="27858">
                <a:moveTo>
                  <a:pt x="0" y="0"/>
                </a:moveTo>
                <a:lnTo>
                  <a:pt x="718" y="17134"/>
                </a:lnTo>
                <a:lnTo>
                  <a:pt x="24187" y="27858"/>
                </a:lnTo>
                <a:lnTo>
                  <a:pt x="29576" y="14175"/>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599" name="จันทรังษี"/>
          <p:cNvSpPr/>
          <p:nvPr/>
        </p:nvSpPr>
        <p:spPr>
          <a:xfrm>
            <a:off x="4174200" y="5709600"/>
            <a:ext cx="24840" cy="49320"/>
          </a:xfrm>
          <a:custGeom>
            <a:avLst/>
            <a:gdLst/>
            <a:ahLst/>
            <a:rect l="l" t="t" r="r" b="b"/>
            <a:pathLst>
              <a:path w="25265" h="49799">
                <a:moveTo>
                  <a:pt x="6107" y="14792"/>
                </a:moveTo>
                <a:lnTo>
                  <a:pt x="0" y="30693"/>
                </a:lnTo>
                <a:lnTo>
                  <a:pt x="5987" y="31432"/>
                </a:lnTo>
                <a:lnTo>
                  <a:pt x="11375" y="34268"/>
                </a:lnTo>
                <a:lnTo>
                  <a:pt x="14967" y="43143"/>
                </a:lnTo>
                <a:lnTo>
                  <a:pt x="21553" y="49799"/>
                </a:lnTo>
                <a:lnTo>
                  <a:pt x="23110" y="48320"/>
                </a:lnTo>
                <a:lnTo>
                  <a:pt x="12692" y="31063"/>
                </a:lnTo>
                <a:lnTo>
                  <a:pt x="17482" y="23174"/>
                </a:lnTo>
                <a:lnTo>
                  <a:pt x="24547" y="33035"/>
                </a:lnTo>
                <a:lnTo>
                  <a:pt x="25265" y="32295"/>
                </a:lnTo>
                <a:lnTo>
                  <a:pt x="15566" y="19229"/>
                </a:lnTo>
                <a:lnTo>
                  <a:pt x="24786" y="6533"/>
                </a:lnTo>
                <a:lnTo>
                  <a:pt x="11735" y="0"/>
                </a:lnTo>
                <a:lnTo>
                  <a:pt x="6107" y="14792"/>
                </a:lnTo>
                <a:close/>
              </a:path>
            </a:pathLst>
          </a:custGeom>
          <a:solidFill>
            <a:srgbClr val="ded5c5"/>
          </a:solidFill>
          <a:ln w="6191">
            <a:solidFill>
              <a:srgbClr val="b5a68d"/>
            </a:solidFill>
            <a:round/>
          </a:ln>
        </p:spPr>
        <p:style>
          <a:lnRef idx="0"/>
          <a:fillRef idx="0"/>
          <a:effectRef idx="0"/>
          <a:fontRef idx="minor"/>
        </p:style>
        <p:txBody>
          <a:bodyPr lIns="90000" rIns="90000" tIns="4320" bIns="4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00" name="เลิศสุขสม"/>
          <p:cNvSpPr/>
          <p:nvPr/>
        </p:nvSpPr>
        <p:spPr>
          <a:xfrm>
            <a:off x="4012920" y="5691960"/>
            <a:ext cx="67680" cy="42480"/>
          </a:xfrm>
          <a:custGeom>
            <a:avLst/>
            <a:gdLst/>
            <a:ahLst/>
            <a:rect l="l" t="t" r="r" b="b"/>
            <a:pathLst>
              <a:path w="68012" h="42773">
                <a:moveTo>
                  <a:pt x="36401" y="16641"/>
                </a:moveTo>
                <a:lnTo>
                  <a:pt x="0" y="0"/>
                </a:lnTo>
                <a:lnTo>
                  <a:pt x="1796" y="38459"/>
                </a:lnTo>
                <a:lnTo>
                  <a:pt x="8023" y="40061"/>
                </a:lnTo>
                <a:lnTo>
                  <a:pt x="21553" y="39814"/>
                </a:lnTo>
                <a:lnTo>
                  <a:pt x="28977" y="42773"/>
                </a:lnTo>
                <a:lnTo>
                  <a:pt x="40352" y="42773"/>
                </a:lnTo>
                <a:lnTo>
                  <a:pt x="50530" y="38582"/>
                </a:lnTo>
                <a:lnTo>
                  <a:pt x="56397" y="30446"/>
                </a:lnTo>
                <a:lnTo>
                  <a:pt x="53045" y="27981"/>
                </a:lnTo>
                <a:lnTo>
                  <a:pt x="68012" y="11587"/>
                </a:lnTo>
                <a:lnTo>
                  <a:pt x="48614" y="3944"/>
                </a:lnTo>
                <a:lnTo>
                  <a:pt x="36401" y="16641"/>
                </a:lnTo>
                <a:close/>
              </a:path>
            </a:pathLst>
          </a:custGeom>
          <a:solidFill>
            <a:srgbClr val="ded5c5"/>
          </a:solidFill>
          <a:ln w="6191">
            <a:solidFill>
              <a:srgbClr val="b5a68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01" name="คลองลัดภาชี"/>
          <p:cNvSpPr/>
          <p:nvPr/>
        </p:nvSpPr>
        <p:spPr>
          <a:xfrm>
            <a:off x="4213440" y="5716080"/>
            <a:ext cx="12240" cy="19440"/>
          </a:xfrm>
          <a:custGeom>
            <a:avLst/>
            <a:gdLst/>
            <a:ahLst/>
            <a:rect l="l" t="t" r="r" b="b"/>
            <a:pathLst>
              <a:path w="12573" h="19846">
                <a:moveTo>
                  <a:pt x="0" y="1602"/>
                </a:moveTo>
                <a:lnTo>
                  <a:pt x="8502" y="19846"/>
                </a:lnTo>
                <a:lnTo>
                  <a:pt x="12573" y="17997"/>
                </a:lnTo>
                <a:lnTo>
                  <a:pt x="5149" y="0"/>
                </a:lnTo>
                <a:lnTo>
                  <a:pt x="0" y="1602"/>
                </a:lnTo>
                <a:close/>
              </a:path>
            </a:pathLst>
          </a:custGeom>
          <a:solidFill>
            <a:srgbClr val="ded5c5"/>
          </a:solidFill>
          <a:ln w="6191">
            <a:solidFill>
              <a:srgbClr val="b5a68d"/>
            </a:solidFill>
            <a:round/>
          </a:ln>
        </p:spPr>
        <p:style>
          <a:lnRef idx="0"/>
          <a:fillRef idx="0"/>
          <a:effectRef idx="0"/>
          <a:fontRef idx="minor"/>
        </p:style>
        <p:txBody>
          <a:bodyPr lIns="90000" rIns="90000" tIns="-25560" bIns="-25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02" name="แป๊ะกงร่วมใจ"/>
          <p:cNvSpPr/>
          <p:nvPr/>
        </p:nvSpPr>
        <p:spPr>
          <a:xfrm>
            <a:off x="4073760" y="5731560"/>
            <a:ext cx="40680" cy="25920"/>
          </a:xfrm>
          <a:custGeom>
            <a:avLst/>
            <a:gdLst/>
            <a:ahLst/>
            <a:rect l="l" t="t" r="r" b="b"/>
            <a:pathLst>
              <a:path w="41071" h="26132">
                <a:moveTo>
                  <a:pt x="7544" y="6163"/>
                </a:moveTo>
                <a:lnTo>
                  <a:pt x="5508" y="11587"/>
                </a:lnTo>
                <a:lnTo>
                  <a:pt x="0" y="17997"/>
                </a:lnTo>
                <a:lnTo>
                  <a:pt x="1317" y="26132"/>
                </a:lnTo>
                <a:lnTo>
                  <a:pt x="20476" y="24160"/>
                </a:lnTo>
                <a:lnTo>
                  <a:pt x="20356" y="21818"/>
                </a:lnTo>
                <a:lnTo>
                  <a:pt x="30773" y="20092"/>
                </a:lnTo>
                <a:lnTo>
                  <a:pt x="41071" y="11710"/>
                </a:lnTo>
                <a:lnTo>
                  <a:pt x="35443" y="5917"/>
                </a:lnTo>
                <a:lnTo>
                  <a:pt x="27420" y="13189"/>
                </a:lnTo>
                <a:lnTo>
                  <a:pt x="23708" y="10724"/>
                </a:lnTo>
                <a:lnTo>
                  <a:pt x="26343" y="3821"/>
                </a:lnTo>
                <a:lnTo>
                  <a:pt x="17482" y="0"/>
                </a:lnTo>
                <a:lnTo>
                  <a:pt x="7544" y="6163"/>
                </a:lnTo>
                <a:close/>
              </a:path>
            </a:pathLst>
          </a:custGeom>
          <a:solidFill>
            <a:srgbClr val="ded5c5"/>
          </a:solidFill>
          <a:ln w="6191">
            <a:solidFill>
              <a:srgbClr val="b5a68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03" name="ศรีประดู่"/>
          <p:cNvSpPr/>
          <p:nvPr/>
        </p:nvSpPr>
        <p:spPr>
          <a:xfrm>
            <a:off x="4363200" y="5685840"/>
            <a:ext cx="21960" cy="29520"/>
          </a:xfrm>
          <a:custGeom>
            <a:avLst/>
            <a:gdLst/>
            <a:ahLst/>
            <a:rect l="l" t="t" r="r" b="b"/>
            <a:pathLst>
              <a:path w="22272" h="29953">
                <a:moveTo>
                  <a:pt x="22272" y="27488"/>
                </a:moveTo>
                <a:lnTo>
                  <a:pt x="14489" y="11957"/>
                </a:lnTo>
                <a:lnTo>
                  <a:pt x="6586" y="0"/>
                </a:lnTo>
                <a:lnTo>
                  <a:pt x="0" y="4561"/>
                </a:lnTo>
                <a:lnTo>
                  <a:pt x="7544" y="18243"/>
                </a:lnTo>
                <a:lnTo>
                  <a:pt x="6107" y="19353"/>
                </a:lnTo>
                <a:lnTo>
                  <a:pt x="10896" y="29953"/>
                </a:lnTo>
                <a:lnTo>
                  <a:pt x="22272" y="27488"/>
                </a:lnTo>
                <a:close/>
              </a:path>
            </a:pathLst>
          </a:custGeom>
          <a:solidFill>
            <a:srgbClr val="ded5c5"/>
          </a:solidFill>
          <a:ln w="6191">
            <a:solidFill>
              <a:srgbClr val="b5a68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04" name="หมู่บ้านอินทราวิลล่า"/>
          <p:cNvSpPr/>
          <p:nvPr/>
        </p:nvSpPr>
        <p:spPr>
          <a:xfrm>
            <a:off x="4076280" y="6077880"/>
            <a:ext cx="50400" cy="37080"/>
          </a:xfrm>
          <a:custGeom>
            <a:avLst/>
            <a:gdLst/>
            <a:ahLst/>
            <a:rect l="l" t="t" r="r" b="b"/>
            <a:pathLst>
              <a:path w="50770" h="37596">
                <a:moveTo>
                  <a:pt x="0" y="6040"/>
                </a:moveTo>
                <a:lnTo>
                  <a:pt x="9459" y="19476"/>
                </a:lnTo>
                <a:lnTo>
                  <a:pt x="2993" y="24283"/>
                </a:lnTo>
                <a:lnTo>
                  <a:pt x="11016" y="35500"/>
                </a:lnTo>
                <a:lnTo>
                  <a:pt x="24427" y="26132"/>
                </a:lnTo>
                <a:lnTo>
                  <a:pt x="32928" y="37596"/>
                </a:lnTo>
                <a:lnTo>
                  <a:pt x="50770" y="23051"/>
                </a:lnTo>
                <a:lnTo>
                  <a:pt x="37239" y="5547"/>
                </a:lnTo>
                <a:lnTo>
                  <a:pt x="27780" y="12326"/>
                </a:lnTo>
                <a:lnTo>
                  <a:pt x="18440" y="247"/>
                </a:lnTo>
                <a:lnTo>
                  <a:pt x="13052" y="4191"/>
                </a:lnTo>
                <a:lnTo>
                  <a:pt x="9819" y="0"/>
                </a:lnTo>
                <a:lnTo>
                  <a:pt x="0" y="6040"/>
                </a:lnTo>
                <a:close/>
              </a:path>
            </a:pathLst>
          </a:custGeom>
          <a:solidFill>
            <a:srgbClr val="ded5c5"/>
          </a:solidFill>
          <a:ln w="6191">
            <a:solidFill>
              <a:srgbClr val="b5a68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05" name="ริมคลองภาษีเจริญ บางหว้า หมู่ 15"/>
          <p:cNvSpPr/>
          <p:nvPr/>
        </p:nvSpPr>
        <p:spPr>
          <a:xfrm>
            <a:off x="4039920" y="5879520"/>
            <a:ext cx="15480" cy="27000"/>
          </a:xfrm>
          <a:custGeom>
            <a:avLst/>
            <a:gdLst/>
            <a:ahLst/>
            <a:rect l="l" t="t" r="r" b="b"/>
            <a:pathLst>
              <a:path w="15925" h="27365">
                <a:moveTo>
                  <a:pt x="12932" y="22188"/>
                </a:moveTo>
                <a:lnTo>
                  <a:pt x="15925" y="20955"/>
                </a:lnTo>
                <a:lnTo>
                  <a:pt x="4790" y="0"/>
                </a:lnTo>
                <a:lnTo>
                  <a:pt x="1676" y="986"/>
                </a:lnTo>
                <a:lnTo>
                  <a:pt x="5508" y="15285"/>
                </a:lnTo>
                <a:lnTo>
                  <a:pt x="0" y="21325"/>
                </a:lnTo>
                <a:lnTo>
                  <a:pt x="599" y="27365"/>
                </a:lnTo>
                <a:lnTo>
                  <a:pt x="12932" y="22188"/>
                </a:lnTo>
                <a:close/>
              </a:path>
            </a:pathLst>
          </a:custGeom>
          <a:solidFill>
            <a:srgbClr val="ded5c5"/>
          </a:solidFill>
          <a:ln w="6191">
            <a:solidFill>
              <a:srgbClr val="b5a68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06" name="กัลปพฤกษ์ หมู่ 4"/>
          <p:cNvSpPr/>
          <p:nvPr/>
        </p:nvSpPr>
        <p:spPr>
          <a:xfrm>
            <a:off x="4355640" y="5838120"/>
            <a:ext cx="16560" cy="21960"/>
          </a:xfrm>
          <a:custGeom>
            <a:avLst/>
            <a:gdLst/>
            <a:ahLst/>
            <a:rect l="l" t="t" r="r" b="b"/>
            <a:pathLst>
              <a:path w="16883" h="22311">
                <a:moveTo>
                  <a:pt x="0" y="370"/>
                </a:moveTo>
                <a:lnTo>
                  <a:pt x="479" y="17134"/>
                </a:lnTo>
                <a:lnTo>
                  <a:pt x="3832" y="17134"/>
                </a:lnTo>
                <a:lnTo>
                  <a:pt x="3832" y="22311"/>
                </a:lnTo>
                <a:lnTo>
                  <a:pt x="16883" y="19846"/>
                </a:lnTo>
                <a:lnTo>
                  <a:pt x="15806" y="9984"/>
                </a:lnTo>
                <a:lnTo>
                  <a:pt x="3951" y="11587"/>
                </a:lnTo>
                <a:lnTo>
                  <a:pt x="2754" y="0"/>
                </a:lnTo>
                <a:lnTo>
                  <a:pt x="0" y="370"/>
                </a:lnTo>
                <a:close/>
              </a:path>
            </a:pathLst>
          </a:custGeom>
          <a:solidFill>
            <a:srgbClr val="ded5c5"/>
          </a:solidFill>
          <a:ln w="6191">
            <a:solidFill>
              <a:srgbClr val="b5a68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07" name="หมู่ 6 ร่วมใจ"/>
          <p:cNvSpPr/>
          <p:nvPr/>
        </p:nvSpPr>
        <p:spPr>
          <a:xfrm>
            <a:off x="4233960" y="5830920"/>
            <a:ext cx="34200" cy="18360"/>
          </a:xfrm>
          <a:custGeom>
            <a:avLst/>
            <a:gdLst/>
            <a:ahLst/>
            <a:rect l="l" t="t" r="r" b="b"/>
            <a:pathLst>
              <a:path w="34485" h="18860">
                <a:moveTo>
                  <a:pt x="2155" y="10231"/>
                </a:moveTo>
                <a:lnTo>
                  <a:pt x="9579" y="12943"/>
                </a:lnTo>
                <a:lnTo>
                  <a:pt x="7544" y="18120"/>
                </a:lnTo>
                <a:lnTo>
                  <a:pt x="17841" y="18860"/>
                </a:lnTo>
                <a:lnTo>
                  <a:pt x="28019" y="14422"/>
                </a:lnTo>
                <a:lnTo>
                  <a:pt x="34485" y="8998"/>
                </a:lnTo>
                <a:lnTo>
                  <a:pt x="19757" y="0"/>
                </a:lnTo>
                <a:lnTo>
                  <a:pt x="0" y="7889"/>
                </a:lnTo>
                <a:lnTo>
                  <a:pt x="2155" y="10231"/>
                </a:lnTo>
                <a:close/>
              </a:path>
            </a:pathLst>
          </a:custGeom>
          <a:solidFill>
            <a:srgbClr val="ded5c5"/>
          </a:solidFill>
          <a:ln w="6191">
            <a:solidFill>
              <a:srgbClr val="b5a68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08" name="หมู่ 6 ร่วมใจ"/>
          <p:cNvSpPr/>
          <p:nvPr/>
        </p:nvSpPr>
        <p:spPr>
          <a:xfrm>
            <a:off x="4246200" y="5846760"/>
            <a:ext cx="15480" cy="14400"/>
          </a:xfrm>
          <a:custGeom>
            <a:avLst/>
            <a:gdLst/>
            <a:ahLst/>
            <a:rect l="l" t="t" r="r" b="b"/>
            <a:pathLst>
              <a:path w="15686" h="14915">
                <a:moveTo>
                  <a:pt x="8262" y="13189"/>
                </a:moveTo>
                <a:lnTo>
                  <a:pt x="15686" y="616"/>
                </a:lnTo>
                <a:lnTo>
                  <a:pt x="14728" y="0"/>
                </a:lnTo>
                <a:lnTo>
                  <a:pt x="3951" y="3575"/>
                </a:lnTo>
                <a:lnTo>
                  <a:pt x="0" y="10971"/>
                </a:lnTo>
                <a:lnTo>
                  <a:pt x="7184" y="14915"/>
                </a:lnTo>
                <a:lnTo>
                  <a:pt x="8262" y="13189"/>
                </a:lnTo>
                <a:close/>
              </a:path>
            </a:pathLst>
          </a:custGeom>
          <a:solidFill>
            <a:srgbClr val="ded5c5"/>
          </a:solidFill>
          <a:ln w="6191">
            <a:solidFill>
              <a:srgbClr val="b5a68d"/>
            </a:solidFill>
            <a:round/>
          </a:ln>
        </p:spPr>
        <p:style>
          <a:lnRef idx="0"/>
          <a:fillRef idx="0"/>
          <a:effectRef idx="0"/>
          <a:fontRef idx="minor"/>
        </p:style>
        <p:txBody>
          <a:bodyPr lIns="90000" rIns="90000" tIns="-30600" bIns="-30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09" name="หมู่ 6 ร่วมใจ"/>
          <p:cNvSpPr/>
          <p:nvPr/>
        </p:nvSpPr>
        <p:spPr>
          <a:xfrm>
            <a:off x="4255200" y="5825520"/>
            <a:ext cx="15120" cy="12600"/>
          </a:xfrm>
          <a:custGeom>
            <a:avLst/>
            <a:gdLst/>
            <a:ahLst/>
            <a:rect l="l" t="t" r="r" b="b"/>
            <a:pathLst>
              <a:path w="15566" h="13066">
                <a:moveTo>
                  <a:pt x="15566" y="0"/>
                </a:moveTo>
                <a:lnTo>
                  <a:pt x="0" y="5300"/>
                </a:lnTo>
                <a:lnTo>
                  <a:pt x="15327" y="13066"/>
                </a:lnTo>
                <a:lnTo>
                  <a:pt x="15566" y="0"/>
                </a:lnTo>
                <a:close/>
              </a:path>
            </a:pathLst>
          </a:custGeom>
          <a:solidFill>
            <a:srgbClr val="ded5c5"/>
          </a:solidFill>
          <a:ln w="6191">
            <a:solidFill>
              <a:srgbClr val="b5a68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10" name="เทพประทาน"/>
          <p:cNvSpPr/>
          <p:nvPr/>
        </p:nvSpPr>
        <p:spPr>
          <a:xfrm>
            <a:off x="4087440" y="5648760"/>
            <a:ext cx="18360" cy="15120"/>
          </a:xfrm>
          <a:custGeom>
            <a:avLst/>
            <a:gdLst/>
            <a:ahLst/>
            <a:rect l="l" t="t" r="r" b="b"/>
            <a:pathLst>
              <a:path w="18560" h="15408">
                <a:moveTo>
                  <a:pt x="18560" y="13066"/>
                </a:moveTo>
                <a:lnTo>
                  <a:pt x="16764" y="0"/>
                </a:lnTo>
                <a:lnTo>
                  <a:pt x="0" y="3082"/>
                </a:lnTo>
                <a:lnTo>
                  <a:pt x="2395" y="15408"/>
                </a:lnTo>
                <a:lnTo>
                  <a:pt x="18560" y="13066"/>
                </a:lnTo>
                <a:close/>
              </a:path>
            </a:pathLst>
          </a:custGeom>
          <a:solidFill>
            <a:srgbClr val="ded5c5"/>
          </a:solidFill>
          <a:ln w="6191">
            <a:solidFill>
              <a:srgbClr val="b5a68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11" name="ริมคลองราชมนตรี หมู่ 10"/>
          <p:cNvSpPr/>
          <p:nvPr/>
        </p:nvSpPr>
        <p:spPr>
          <a:xfrm>
            <a:off x="4015800" y="5753880"/>
            <a:ext cx="29160" cy="63720"/>
          </a:xfrm>
          <a:custGeom>
            <a:avLst/>
            <a:gdLst/>
            <a:ahLst/>
            <a:rect l="l" t="t" r="r" b="b"/>
            <a:pathLst>
              <a:path w="29576" h="64098">
                <a:moveTo>
                  <a:pt x="25624" y="15038"/>
                </a:moveTo>
                <a:lnTo>
                  <a:pt x="17003" y="15408"/>
                </a:lnTo>
                <a:lnTo>
                  <a:pt x="16524" y="10971"/>
                </a:lnTo>
                <a:lnTo>
                  <a:pt x="12453" y="10971"/>
                </a:lnTo>
                <a:lnTo>
                  <a:pt x="12094" y="4561"/>
                </a:lnTo>
                <a:lnTo>
                  <a:pt x="6825" y="5300"/>
                </a:lnTo>
                <a:lnTo>
                  <a:pt x="6586" y="0"/>
                </a:lnTo>
                <a:lnTo>
                  <a:pt x="0" y="247"/>
                </a:lnTo>
                <a:lnTo>
                  <a:pt x="3353" y="62002"/>
                </a:lnTo>
                <a:lnTo>
                  <a:pt x="14608" y="64098"/>
                </a:lnTo>
                <a:lnTo>
                  <a:pt x="29576" y="63728"/>
                </a:lnTo>
                <a:lnTo>
                  <a:pt x="26103" y="39568"/>
                </a:lnTo>
                <a:lnTo>
                  <a:pt x="25624" y="15038"/>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12" name="ริมคลองราชมนตรี หมู่ 10"/>
          <p:cNvSpPr/>
          <p:nvPr/>
        </p:nvSpPr>
        <p:spPr>
          <a:xfrm>
            <a:off x="4049280" y="5766120"/>
            <a:ext cx="11880" cy="50760"/>
          </a:xfrm>
          <a:custGeom>
            <a:avLst/>
            <a:gdLst/>
            <a:ahLst/>
            <a:rect l="l" t="t" r="r" b="b"/>
            <a:pathLst>
              <a:path w="12333" h="51155">
                <a:moveTo>
                  <a:pt x="10417" y="0"/>
                </a:moveTo>
                <a:lnTo>
                  <a:pt x="3472" y="740"/>
                </a:lnTo>
                <a:lnTo>
                  <a:pt x="3951" y="4931"/>
                </a:lnTo>
                <a:lnTo>
                  <a:pt x="0" y="6410"/>
                </a:lnTo>
                <a:lnTo>
                  <a:pt x="958" y="16394"/>
                </a:lnTo>
                <a:lnTo>
                  <a:pt x="4550" y="15901"/>
                </a:lnTo>
                <a:lnTo>
                  <a:pt x="5748" y="41170"/>
                </a:lnTo>
                <a:lnTo>
                  <a:pt x="2634" y="41787"/>
                </a:lnTo>
                <a:lnTo>
                  <a:pt x="3113" y="51155"/>
                </a:lnTo>
                <a:lnTo>
                  <a:pt x="12333" y="48813"/>
                </a:lnTo>
                <a:lnTo>
                  <a:pt x="10417" y="0"/>
                </a:lnTo>
                <a:close/>
              </a:path>
            </a:pathLst>
          </a:custGeom>
          <a:solidFill>
            <a:srgbClr val="ded5c5"/>
          </a:solidFill>
          <a:ln w="6191">
            <a:solidFill>
              <a:srgbClr val="b5a68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13" name="จัดสรร 2"/>
          <p:cNvSpPr/>
          <p:nvPr/>
        </p:nvSpPr>
        <p:spPr>
          <a:xfrm>
            <a:off x="3047760" y="6158880"/>
            <a:ext cx="37440" cy="21960"/>
          </a:xfrm>
          <a:custGeom>
            <a:avLst/>
            <a:gdLst/>
            <a:ahLst/>
            <a:rect l="l" t="t" r="r" b="b"/>
            <a:pathLst>
              <a:path w="37958" h="22311">
                <a:moveTo>
                  <a:pt x="19757" y="2958"/>
                </a:moveTo>
                <a:lnTo>
                  <a:pt x="18320" y="7026"/>
                </a:lnTo>
                <a:lnTo>
                  <a:pt x="10537" y="6656"/>
                </a:lnTo>
                <a:lnTo>
                  <a:pt x="10417" y="5177"/>
                </a:lnTo>
                <a:lnTo>
                  <a:pt x="0" y="6780"/>
                </a:lnTo>
                <a:lnTo>
                  <a:pt x="2155" y="22311"/>
                </a:lnTo>
                <a:lnTo>
                  <a:pt x="13770" y="20585"/>
                </a:lnTo>
                <a:lnTo>
                  <a:pt x="15087" y="21695"/>
                </a:lnTo>
                <a:lnTo>
                  <a:pt x="29935" y="18490"/>
                </a:lnTo>
                <a:lnTo>
                  <a:pt x="32569" y="19722"/>
                </a:lnTo>
                <a:lnTo>
                  <a:pt x="37958" y="5670"/>
                </a:lnTo>
                <a:lnTo>
                  <a:pt x="25026" y="123"/>
                </a:lnTo>
                <a:lnTo>
                  <a:pt x="20356" y="0"/>
                </a:lnTo>
                <a:lnTo>
                  <a:pt x="19757" y="2958"/>
                </a:lnTo>
                <a:close/>
              </a:path>
            </a:pathLst>
          </a:custGeom>
          <a:solidFill>
            <a:srgbClr val="ded5c5"/>
          </a:solidFill>
          <a:ln w="6191">
            <a:solidFill>
              <a:srgbClr val="b5a68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14" name="ซอยโรงงานยากันยุง"/>
          <p:cNvSpPr/>
          <p:nvPr/>
        </p:nvSpPr>
        <p:spPr>
          <a:xfrm>
            <a:off x="3072600" y="6034680"/>
            <a:ext cx="20880" cy="18000"/>
          </a:xfrm>
          <a:custGeom>
            <a:avLst/>
            <a:gdLst/>
            <a:ahLst/>
            <a:rect l="l" t="t" r="r" b="b"/>
            <a:pathLst>
              <a:path w="21074" h="18366">
                <a:moveTo>
                  <a:pt x="1796" y="18366"/>
                </a:moveTo>
                <a:lnTo>
                  <a:pt x="18679" y="11464"/>
                </a:lnTo>
                <a:lnTo>
                  <a:pt x="19039" y="12696"/>
                </a:lnTo>
                <a:lnTo>
                  <a:pt x="21074" y="11957"/>
                </a:lnTo>
                <a:lnTo>
                  <a:pt x="18081" y="2589"/>
                </a:lnTo>
                <a:lnTo>
                  <a:pt x="13890" y="3821"/>
                </a:lnTo>
                <a:lnTo>
                  <a:pt x="11375" y="0"/>
                </a:lnTo>
                <a:lnTo>
                  <a:pt x="0" y="2958"/>
                </a:lnTo>
                <a:lnTo>
                  <a:pt x="1796" y="18366"/>
                </a:lnTo>
                <a:close/>
              </a:path>
            </a:pathLst>
          </a:custGeom>
          <a:solidFill>
            <a:srgbClr val="ded5c5"/>
          </a:solidFill>
          <a:ln w="6191">
            <a:solidFill>
              <a:srgbClr val="b5a68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15" name="ประดิษฐ์เจริญ"/>
          <p:cNvSpPr/>
          <p:nvPr/>
        </p:nvSpPr>
        <p:spPr>
          <a:xfrm>
            <a:off x="3010320" y="6230520"/>
            <a:ext cx="17640" cy="10800"/>
          </a:xfrm>
          <a:custGeom>
            <a:avLst/>
            <a:gdLst/>
            <a:ahLst/>
            <a:rect l="l" t="t" r="r" b="b"/>
            <a:pathLst>
              <a:path w="18081" h="11217">
                <a:moveTo>
                  <a:pt x="718" y="9122"/>
                </a:moveTo>
                <a:lnTo>
                  <a:pt x="958" y="11217"/>
                </a:lnTo>
                <a:lnTo>
                  <a:pt x="10417" y="9615"/>
                </a:lnTo>
                <a:lnTo>
                  <a:pt x="9699" y="5424"/>
                </a:lnTo>
                <a:lnTo>
                  <a:pt x="18081" y="2712"/>
                </a:lnTo>
                <a:lnTo>
                  <a:pt x="17721" y="0"/>
                </a:lnTo>
                <a:lnTo>
                  <a:pt x="0" y="2589"/>
                </a:lnTo>
                <a:lnTo>
                  <a:pt x="718" y="9122"/>
                </a:lnTo>
                <a:close/>
              </a:path>
            </a:pathLst>
          </a:custGeom>
          <a:solidFill>
            <a:srgbClr val="ded5c5"/>
          </a:solidFill>
          <a:ln w="6191">
            <a:solidFill>
              <a:srgbClr val="b5a68d"/>
            </a:solidFill>
            <a:round/>
          </a:ln>
        </p:spPr>
        <p:style>
          <a:lnRef idx="0"/>
          <a:fillRef idx="0"/>
          <a:effectRef idx="0"/>
          <a:fontRef idx="minor"/>
        </p:style>
        <p:txBody>
          <a:bodyPr lIns="90000" rIns="90000" tIns="-34200" bIns="-34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16" name="เลียบคลองหมื่นแช่มหมู่ 6"/>
          <p:cNvSpPr/>
          <p:nvPr/>
        </p:nvSpPr>
        <p:spPr>
          <a:xfrm>
            <a:off x="3314160" y="6179400"/>
            <a:ext cx="36360" cy="48240"/>
          </a:xfrm>
          <a:custGeom>
            <a:avLst/>
            <a:gdLst/>
            <a:ahLst/>
            <a:rect l="l" t="t" r="r" b="b"/>
            <a:pathLst>
              <a:path w="36880" h="48443">
                <a:moveTo>
                  <a:pt x="0" y="1972"/>
                </a:moveTo>
                <a:lnTo>
                  <a:pt x="26343" y="44499"/>
                </a:lnTo>
                <a:lnTo>
                  <a:pt x="30294" y="48443"/>
                </a:lnTo>
                <a:lnTo>
                  <a:pt x="36880" y="44992"/>
                </a:lnTo>
                <a:lnTo>
                  <a:pt x="32928" y="40924"/>
                </a:lnTo>
                <a:lnTo>
                  <a:pt x="27540" y="27365"/>
                </a:lnTo>
                <a:lnTo>
                  <a:pt x="18919" y="15162"/>
                </a:lnTo>
                <a:lnTo>
                  <a:pt x="15446" y="16641"/>
                </a:lnTo>
                <a:lnTo>
                  <a:pt x="5748" y="0"/>
                </a:lnTo>
                <a:lnTo>
                  <a:pt x="0" y="1972"/>
                </a:lnTo>
                <a:close/>
              </a:path>
            </a:pathLst>
          </a:custGeom>
          <a:solidFill>
            <a:srgbClr val="ded5c5"/>
          </a:solidFill>
          <a:ln w="6191">
            <a:solidFill>
              <a:srgbClr val="b5a68d"/>
            </a:solidFill>
            <a:round/>
          </a:ln>
        </p:spPr>
        <p:style>
          <a:lnRef idx="0"/>
          <a:fillRef idx="0"/>
          <a:effectRef idx="0"/>
          <a:fontRef idx="minor"/>
        </p:style>
        <p:txBody>
          <a:bodyPr lIns="90000" rIns="90000" tIns="3240" bIns="3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17" name="สวัสดิการหนองแขม"/>
          <p:cNvSpPr/>
          <p:nvPr/>
        </p:nvSpPr>
        <p:spPr>
          <a:xfrm>
            <a:off x="3102480" y="6010560"/>
            <a:ext cx="175680" cy="106560"/>
          </a:xfrm>
          <a:custGeom>
            <a:avLst/>
            <a:gdLst/>
            <a:ahLst/>
            <a:rect l="l" t="t" r="r" b="b"/>
            <a:pathLst>
              <a:path w="176137" h="106747">
                <a:moveTo>
                  <a:pt x="176018" y="85669"/>
                </a:moveTo>
                <a:lnTo>
                  <a:pt x="176137" y="72110"/>
                </a:lnTo>
                <a:lnTo>
                  <a:pt x="163325" y="71740"/>
                </a:lnTo>
                <a:lnTo>
                  <a:pt x="167995" y="58797"/>
                </a:lnTo>
                <a:lnTo>
                  <a:pt x="160332" y="56332"/>
                </a:lnTo>
                <a:lnTo>
                  <a:pt x="154345" y="71000"/>
                </a:lnTo>
                <a:lnTo>
                  <a:pt x="148956" y="71740"/>
                </a:lnTo>
                <a:lnTo>
                  <a:pt x="143808" y="62002"/>
                </a:lnTo>
                <a:lnTo>
                  <a:pt x="140215" y="43882"/>
                </a:lnTo>
                <a:lnTo>
                  <a:pt x="113873" y="48073"/>
                </a:lnTo>
                <a:lnTo>
                  <a:pt x="115908" y="18613"/>
                </a:lnTo>
                <a:lnTo>
                  <a:pt x="95433" y="14792"/>
                </a:lnTo>
                <a:lnTo>
                  <a:pt x="96510" y="7149"/>
                </a:lnTo>
                <a:lnTo>
                  <a:pt x="66456" y="0"/>
                </a:lnTo>
                <a:lnTo>
                  <a:pt x="60828" y="13682"/>
                </a:lnTo>
                <a:lnTo>
                  <a:pt x="50889" y="27488"/>
                </a:lnTo>
                <a:lnTo>
                  <a:pt x="61786" y="32542"/>
                </a:lnTo>
                <a:lnTo>
                  <a:pt x="64899" y="36240"/>
                </a:lnTo>
                <a:lnTo>
                  <a:pt x="62025" y="47827"/>
                </a:lnTo>
                <a:lnTo>
                  <a:pt x="64300" y="48073"/>
                </a:lnTo>
                <a:lnTo>
                  <a:pt x="68970" y="68042"/>
                </a:lnTo>
                <a:lnTo>
                  <a:pt x="64660" y="69152"/>
                </a:lnTo>
                <a:lnTo>
                  <a:pt x="64779" y="70261"/>
                </a:lnTo>
                <a:lnTo>
                  <a:pt x="49453" y="77780"/>
                </a:lnTo>
                <a:lnTo>
                  <a:pt x="39035" y="20092"/>
                </a:lnTo>
                <a:lnTo>
                  <a:pt x="29695" y="20955"/>
                </a:lnTo>
                <a:lnTo>
                  <a:pt x="26822" y="27735"/>
                </a:lnTo>
                <a:lnTo>
                  <a:pt x="23708" y="27735"/>
                </a:lnTo>
                <a:lnTo>
                  <a:pt x="23230" y="29214"/>
                </a:lnTo>
                <a:lnTo>
                  <a:pt x="11854" y="28844"/>
                </a:lnTo>
                <a:lnTo>
                  <a:pt x="8023" y="26009"/>
                </a:lnTo>
                <a:lnTo>
                  <a:pt x="0" y="28721"/>
                </a:lnTo>
                <a:lnTo>
                  <a:pt x="10298" y="69152"/>
                </a:lnTo>
                <a:lnTo>
                  <a:pt x="27660" y="99475"/>
                </a:lnTo>
                <a:lnTo>
                  <a:pt x="92918" y="93928"/>
                </a:lnTo>
                <a:lnTo>
                  <a:pt x="94235" y="93435"/>
                </a:lnTo>
                <a:lnTo>
                  <a:pt x="89446" y="81478"/>
                </a:lnTo>
                <a:lnTo>
                  <a:pt x="105850" y="74205"/>
                </a:lnTo>
                <a:lnTo>
                  <a:pt x="117944" y="89613"/>
                </a:lnTo>
                <a:lnTo>
                  <a:pt x="121895" y="87395"/>
                </a:lnTo>
                <a:lnTo>
                  <a:pt x="132073" y="85422"/>
                </a:lnTo>
                <a:lnTo>
                  <a:pt x="131594" y="83573"/>
                </a:lnTo>
                <a:lnTo>
                  <a:pt x="135546" y="81848"/>
                </a:lnTo>
                <a:lnTo>
                  <a:pt x="142251" y="80369"/>
                </a:lnTo>
                <a:lnTo>
                  <a:pt x="148238" y="82094"/>
                </a:lnTo>
                <a:lnTo>
                  <a:pt x="148477" y="90969"/>
                </a:lnTo>
                <a:lnTo>
                  <a:pt x="152309" y="92449"/>
                </a:lnTo>
                <a:lnTo>
                  <a:pt x="152549" y="106747"/>
                </a:lnTo>
                <a:lnTo>
                  <a:pt x="172306" y="104898"/>
                </a:lnTo>
                <a:lnTo>
                  <a:pt x="173503" y="91462"/>
                </a:lnTo>
                <a:lnTo>
                  <a:pt x="176018" y="8566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18" name="สะพาน 1"/>
          <p:cNvSpPr/>
          <p:nvPr/>
        </p:nvSpPr>
        <p:spPr>
          <a:xfrm>
            <a:off x="3064680" y="6390360"/>
            <a:ext cx="33120" cy="30240"/>
          </a:xfrm>
          <a:custGeom>
            <a:avLst/>
            <a:gdLst/>
            <a:ahLst/>
            <a:rect l="l" t="t" r="r" b="b"/>
            <a:pathLst>
              <a:path w="33527" h="30693">
                <a:moveTo>
                  <a:pt x="33527" y="1109"/>
                </a:moveTo>
                <a:lnTo>
                  <a:pt x="1916" y="0"/>
                </a:lnTo>
                <a:lnTo>
                  <a:pt x="2036" y="5300"/>
                </a:lnTo>
                <a:lnTo>
                  <a:pt x="0" y="6040"/>
                </a:lnTo>
                <a:lnTo>
                  <a:pt x="0" y="8505"/>
                </a:lnTo>
                <a:lnTo>
                  <a:pt x="4071" y="16271"/>
                </a:lnTo>
                <a:lnTo>
                  <a:pt x="2515" y="18490"/>
                </a:lnTo>
                <a:lnTo>
                  <a:pt x="3951" y="21202"/>
                </a:lnTo>
                <a:lnTo>
                  <a:pt x="11974" y="21448"/>
                </a:lnTo>
                <a:lnTo>
                  <a:pt x="14967" y="29953"/>
                </a:lnTo>
                <a:lnTo>
                  <a:pt x="25624" y="30693"/>
                </a:lnTo>
                <a:lnTo>
                  <a:pt x="33527" y="1109"/>
                </a:lnTo>
                <a:close/>
              </a:path>
            </a:pathLst>
          </a:custGeom>
          <a:solidFill>
            <a:srgbClr val="ded5c5"/>
          </a:solidFill>
          <a:ln w="6191">
            <a:solidFill>
              <a:srgbClr val="b5a68d"/>
            </a:solidFill>
            <a:round/>
          </a:ln>
        </p:spPr>
        <p:style>
          <a:lnRef idx="0"/>
          <a:fillRef idx="0"/>
          <a:effectRef idx="0"/>
          <a:fontRef idx="minor"/>
        </p:style>
        <p:txBody>
          <a:bodyPr lIns="90000" rIns="90000" tIns="-14760" bIns="-14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19" name="สาครปานสินธุ์"/>
          <p:cNvSpPr/>
          <p:nvPr/>
        </p:nvSpPr>
        <p:spPr>
          <a:xfrm>
            <a:off x="3295800" y="6116040"/>
            <a:ext cx="6480" cy="16200"/>
          </a:xfrm>
          <a:custGeom>
            <a:avLst/>
            <a:gdLst/>
            <a:ahLst/>
            <a:rect l="l" t="t" r="r" b="b"/>
            <a:pathLst>
              <a:path w="6825" h="16517">
                <a:moveTo>
                  <a:pt x="2634" y="5424"/>
                </a:moveTo>
                <a:lnTo>
                  <a:pt x="1676" y="370"/>
                </a:lnTo>
                <a:lnTo>
                  <a:pt x="0" y="0"/>
                </a:lnTo>
                <a:lnTo>
                  <a:pt x="1557" y="16517"/>
                </a:lnTo>
                <a:lnTo>
                  <a:pt x="6825" y="15531"/>
                </a:lnTo>
                <a:lnTo>
                  <a:pt x="5987" y="8382"/>
                </a:lnTo>
                <a:lnTo>
                  <a:pt x="3472" y="8505"/>
                </a:lnTo>
                <a:lnTo>
                  <a:pt x="2634" y="5424"/>
                </a:lnTo>
                <a:close/>
              </a:path>
            </a:pathLst>
          </a:custGeom>
          <a:solidFill>
            <a:srgbClr val="ded5c5"/>
          </a:solidFill>
          <a:ln w="6191">
            <a:solidFill>
              <a:srgbClr val="b5a68d"/>
            </a:solidFill>
            <a:round/>
          </a:ln>
        </p:spPr>
        <p:style>
          <a:lnRef idx="0"/>
          <a:fillRef idx="0"/>
          <a:effectRef idx="0"/>
          <a:fontRef idx="minor"/>
        </p:style>
        <p:txBody>
          <a:bodyPr lIns="90000" rIns="90000" tIns="-28800" bIns="-28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20" name="หมู่ 1 หนองแขม"/>
          <p:cNvSpPr/>
          <p:nvPr/>
        </p:nvSpPr>
        <p:spPr>
          <a:xfrm>
            <a:off x="3279960" y="6053040"/>
            <a:ext cx="37080" cy="39600"/>
          </a:xfrm>
          <a:custGeom>
            <a:avLst/>
            <a:gdLst/>
            <a:ahLst/>
            <a:rect l="l" t="t" r="r" b="b"/>
            <a:pathLst>
              <a:path w="37479" h="39938">
                <a:moveTo>
                  <a:pt x="26822" y="25393"/>
                </a:moveTo>
                <a:lnTo>
                  <a:pt x="26463" y="23051"/>
                </a:lnTo>
                <a:lnTo>
                  <a:pt x="34126" y="22681"/>
                </a:lnTo>
                <a:lnTo>
                  <a:pt x="32450" y="6903"/>
                </a:lnTo>
                <a:lnTo>
                  <a:pt x="37479" y="0"/>
                </a:lnTo>
                <a:lnTo>
                  <a:pt x="6705" y="1233"/>
                </a:lnTo>
                <a:lnTo>
                  <a:pt x="8502" y="13313"/>
                </a:lnTo>
                <a:lnTo>
                  <a:pt x="0" y="14669"/>
                </a:lnTo>
                <a:lnTo>
                  <a:pt x="1317" y="39938"/>
                </a:lnTo>
                <a:lnTo>
                  <a:pt x="27061" y="38089"/>
                </a:lnTo>
                <a:lnTo>
                  <a:pt x="26822" y="25393"/>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21" name="หมู่ 11 แขวงหนองแขม"/>
          <p:cNvSpPr/>
          <p:nvPr/>
        </p:nvSpPr>
        <p:spPr>
          <a:xfrm>
            <a:off x="3152160" y="6455880"/>
            <a:ext cx="44280" cy="34920"/>
          </a:xfrm>
          <a:custGeom>
            <a:avLst/>
            <a:gdLst/>
            <a:ahLst/>
            <a:rect l="l" t="t" r="r" b="b"/>
            <a:pathLst>
              <a:path w="44543" h="35377">
                <a:moveTo>
                  <a:pt x="0" y="12696"/>
                </a:moveTo>
                <a:lnTo>
                  <a:pt x="0" y="17504"/>
                </a:lnTo>
                <a:lnTo>
                  <a:pt x="3113" y="27858"/>
                </a:lnTo>
                <a:lnTo>
                  <a:pt x="30893" y="16024"/>
                </a:lnTo>
                <a:lnTo>
                  <a:pt x="31372" y="21325"/>
                </a:lnTo>
                <a:lnTo>
                  <a:pt x="22870" y="35377"/>
                </a:lnTo>
                <a:lnTo>
                  <a:pt x="39394" y="35377"/>
                </a:lnTo>
                <a:lnTo>
                  <a:pt x="44543" y="21448"/>
                </a:lnTo>
                <a:lnTo>
                  <a:pt x="40233" y="20092"/>
                </a:lnTo>
                <a:lnTo>
                  <a:pt x="38676" y="0"/>
                </a:lnTo>
                <a:lnTo>
                  <a:pt x="26103" y="863"/>
                </a:lnTo>
                <a:lnTo>
                  <a:pt x="26702" y="7273"/>
                </a:lnTo>
                <a:lnTo>
                  <a:pt x="0" y="12696"/>
                </a:lnTo>
                <a:close/>
              </a:path>
            </a:pathLst>
          </a:custGeom>
          <a:solidFill>
            <a:srgbClr val="ded5c5"/>
          </a:solidFill>
          <a:ln w="6191">
            <a:solidFill>
              <a:srgbClr val="b5a68d"/>
            </a:solidFill>
            <a:round/>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22" name="หมู่บ้านกานดา"/>
          <p:cNvSpPr/>
          <p:nvPr/>
        </p:nvSpPr>
        <p:spPr>
          <a:xfrm>
            <a:off x="3044160" y="6333480"/>
            <a:ext cx="23760" cy="32400"/>
          </a:xfrm>
          <a:custGeom>
            <a:avLst/>
            <a:gdLst/>
            <a:ahLst/>
            <a:rect l="l" t="t" r="r" b="b"/>
            <a:pathLst>
              <a:path w="24068" h="32912">
                <a:moveTo>
                  <a:pt x="0" y="25023"/>
                </a:moveTo>
                <a:lnTo>
                  <a:pt x="0" y="30693"/>
                </a:lnTo>
                <a:lnTo>
                  <a:pt x="22032" y="32912"/>
                </a:lnTo>
                <a:lnTo>
                  <a:pt x="24068" y="15162"/>
                </a:lnTo>
                <a:lnTo>
                  <a:pt x="22391" y="740"/>
                </a:lnTo>
                <a:lnTo>
                  <a:pt x="6107" y="0"/>
                </a:lnTo>
                <a:lnTo>
                  <a:pt x="4071" y="5917"/>
                </a:lnTo>
                <a:lnTo>
                  <a:pt x="2874" y="5670"/>
                </a:lnTo>
                <a:lnTo>
                  <a:pt x="0" y="25023"/>
                </a:lnTo>
                <a:close/>
              </a:path>
            </a:pathLst>
          </a:custGeom>
          <a:solidFill>
            <a:srgbClr val="ded5c5"/>
          </a:solidFill>
          <a:ln w="6191">
            <a:solidFill>
              <a:srgbClr val="b5a68d"/>
            </a:solidFill>
            <a:round/>
          </a:ln>
        </p:spPr>
        <p:style>
          <a:lnRef idx="0"/>
          <a:fillRef idx="0"/>
          <a:effectRef idx="0"/>
          <a:fontRef idx="minor"/>
        </p:style>
        <p:txBody>
          <a:bodyPr lIns="90000" rIns="90000" tIns="-12600" bIns="-12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23" name="หมู่บ้านพุดตาน"/>
          <p:cNvSpPr/>
          <p:nvPr/>
        </p:nvSpPr>
        <p:spPr>
          <a:xfrm>
            <a:off x="2925360" y="6129360"/>
            <a:ext cx="81720" cy="68040"/>
          </a:xfrm>
          <a:custGeom>
            <a:avLst/>
            <a:gdLst/>
            <a:ahLst/>
            <a:rect l="l" t="t" r="r" b="b"/>
            <a:pathLst>
              <a:path w="82022" h="68535">
                <a:moveTo>
                  <a:pt x="61427" y="41787"/>
                </a:moveTo>
                <a:lnTo>
                  <a:pt x="61666" y="31433"/>
                </a:lnTo>
                <a:lnTo>
                  <a:pt x="58792" y="30446"/>
                </a:lnTo>
                <a:lnTo>
                  <a:pt x="59151" y="27242"/>
                </a:lnTo>
                <a:lnTo>
                  <a:pt x="63342" y="27611"/>
                </a:lnTo>
                <a:lnTo>
                  <a:pt x="64061" y="23913"/>
                </a:lnTo>
                <a:lnTo>
                  <a:pt x="69329" y="25269"/>
                </a:lnTo>
                <a:lnTo>
                  <a:pt x="77951" y="9984"/>
                </a:lnTo>
                <a:lnTo>
                  <a:pt x="81184" y="9615"/>
                </a:lnTo>
                <a:lnTo>
                  <a:pt x="82022" y="1972"/>
                </a:lnTo>
                <a:lnTo>
                  <a:pt x="63462" y="3205"/>
                </a:lnTo>
                <a:lnTo>
                  <a:pt x="63342" y="0"/>
                </a:lnTo>
                <a:lnTo>
                  <a:pt x="35563" y="370"/>
                </a:lnTo>
                <a:lnTo>
                  <a:pt x="34246" y="9491"/>
                </a:lnTo>
                <a:lnTo>
                  <a:pt x="18560" y="9491"/>
                </a:lnTo>
                <a:lnTo>
                  <a:pt x="18560" y="5917"/>
                </a:lnTo>
                <a:lnTo>
                  <a:pt x="9220" y="5793"/>
                </a:lnTo>
                <a:lnTo>
                  <a:pt x="8861" y="9738"/>
                </a:lnTo>
                <a:lnTo>
                  <a:pt x="2515" y="9984"/>
                </a:lnTo>
                <a:lnTo>
                  <a:pt x="1197" y="37966"/>
                </a:lnTo>
                <a:lnTo>
                  <a:pt x="2395" y="51401"/>
                </a:lnTo>
                <a:lnTo>
                  <a:pt x="0" y="51894"/>
                </a:lnTo>
                <a:lnTo>
                  <a:pt x="0" y="62618"/>
                </a:lnTo>
                <a:lnTo>
                  <a:pt x="44902" y="63974"/>
                </a:lnTo>
                <a:lnTo>
                  <a:pt x="44902" y="68042"/>
                </a:lnTo>
                <a:lnTo>
                  <a:pt x="59511" y="68535"/>
                </a:lnTo>
                <a:lnTo>
                  <a:pt x="62384" y="47950"/>
                </a:lnTo>
                <a:lnTo>
                  <a:pt x="61427" y="41787"/>
                </a:lnTo>
                <a:close/>
              </a:path>
            </a:pathLst>
          </a:custGeom>
          <a:solidFill>
            <a:srgbClr val="ded5c5"/>
          </a:solidFill>
          <a:ln w="6191">
            <a:solidFill>
              <a:srgbClr val="b5a68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24" name="หรรษา"/>
          <p:cNvSpPr/>
          <p:nvPr/>
        </p:nvSpPr>
        <p:spPr>
          <a:xfrm>
            <a:off x="3035160" y="6059160"/>
            <a:ext cx="50760" cy="104760"/>
          </a:xfrm>
          <a:custGeom>
            <a:avLst/>
            <a:gdLst/>
            <a:ahLst/>
            <a:rect l="l" t="t" r="r" b="b"/>
            <a:pathLst>
              <a:path w="51009" h="105268">
                <a:moveTo>
                  <a:pt x="45262" y="42157"/>
                </a:moveTo>
                <a:lnTo>
                  <a:pt x="46339" y="30200"/>
                </a:lnTo>
                <a:lnTo>
                  <a:pt x="45262" y="17380"/>
                </a:lnTo>
                <a:lnTo>
                  <a:pt x="38796" y="0"/>
                </a:lnTo>
                <a:lnTo>
                  <a:pt x="22511" y="7273"/>
                </a:lnTo>
                <a:lnTo>
                  <a:pt x="22870" y="38705"/>
                </a:lnTo>
                <a:lnTo>
                  <a:pt x="22391" y="53620"/>
                </a:lnTo>
                <a:lnTo>
                  <a:pt x="20954" y="57565"/>
                </a:lnTo>
                <a:lnTo>
                  <a:pt x="838" y="59044"/>
                </a:lnTo>
                <a:lnTo>
                  <a:pt x="0" y="64960"/>
                </a:lnTo>
                <a:lnTo>
                  <a:pt x="6226" y="63851"/>
                </a:lnTo>
                <a:lnTo>
                  <a:pt x="3353" y="87641"/>
                </a:lnTo>
                <a:lnTo>
                  <a:pt x="120" y="98488"/>
                </a:lnTo>
                <a:lnTo>
                  <a:pt x="2754" y="99844"/>
                </a:lnTo>
                <a:lnTo>
                  <a:pt x="2634" y="104652"/>
                </a:lnTo>
                <a:lnTo>
                  <a:pt x="6466" y="105268"/>
                </a:lnTo>
                <a:lnTo>
                  <a:pt x="9819" y="93311"/>
                </a:lnTo>
                <a:lnTo>
                  <a:pt x="12812" y="92942"/>
                </a:lnTo>
                <a:lnTo>
                  <a:pt x="18081" y="94421"/>
                </a:lnTo>
                <a:lnTo>
                  <a:pt x="18081" y="101200"/>
                </a:lnTo>
                <a:lnTo>
                  <a:pt x="27181" y="103666"/>
                </a:lnTo>
                <a:lnTo>
                  <a:pt x="31372" y="104035"/>
                </a:lnTo>
                <a:lnTo>
                  <a:pt x="34605" y="93188"/>
                </a:lnTo>
                <a:lnTo>
                  <a:pt x="51009" y="102186"/>
                </a:lnTo>
                <a:lnTo>
                  <a:pt x="48495" y="92818"/>
                </a:lnTo>
                <a:lnTo>
                  <a:pt x="48495" y="78889"/>
                </a:lnTo>
                <a:lnTo>
                  <a:pt x="43585" y="59783"/>
                </a:lnTo>
                <a:lnTo>
                  <a:pt x="45262" y="4215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25" name="เอี่ยมวุฒิ"/>
          <p:cNvSpPr/>
          <p:nvPr/>
        </p:nvSpPr>
        <p:spPr>
          <a:xfrm>
            <a:off x="3015000" y="6270480"/>
            <a:ext cx="46440" cy="41040"/>
          </a:xfrm>
          <a:custGeom>
            <a:avLst/>
            <a:gdLst/>
            <a:ahLst/>
            <a:rect l="l" t="t" r="r" b="b"/>
            <a:pathLst>
              <a:path w="46818" h="41540">
                <a:moveTo>
                  <a:pt x="17123" y="39198"/>
                </a:moveTo>
                <a:lnTo>
                  <a:pt x="18320" y="41540"/>
                </a:lnTo>
                <a:lnTo>
                  <a:pt x="40233" y="36733"/>
                </a:lnTo>
                <a:lnTo>
                  <a:pt x="46818" y="33528"/>
                </a:lnTo>
                <a:lnTo>
                  <a:pt x="45381" y="26872"/>
                </a:lnTo>
                <a:lnTo>
                  <a:pt x="36401" y="25886"/>
                </a:lnTo>
                <a:lnTo>
                  <a:pt x="26103" y="29584"/>
                </a:lnTo>
                <a:lnTo>
                  <a:pt x="24427" y="25516"/>
                </a:lnTo>
                <a:lnTo>
                  <a:pt x="22751" y="25886"/>
                </a:lnTo>
                <a:lnTo>
                  <a:pt x="18440" y="7642"/>
                </a:lnTo>
                <a:lnTo>
                  <a:pt x="15686" y="8135"/>
                </a:lnTo>
                <a:lnTo>
                  <a:pt x="14129" y="0"/>
                </a:lnTo>
                <a:lnTo>
                  <a:pt x="4909" y="2342"/>
                </a:lnTo>
                <a:lnTo>
                  <a:pt x="3951" y="6287"/>
                </a:lnTo>
                <a:lnTo>
                  <a:pt x="5269" y="12080"/>
                </a:lnTo>
                <a:lnTo>
                  <a:pt x="0" y="14299"/>
                </a:lnTo>
                <a:lnTo>
                  <a:pt x="1796" y="22311"/>
                </a:lnTo>
                <a:lnTo>
                  <a:pt x="4790" y="21695"/>
                </a:lnTo>
                <a:lnTo>
                  <a:pt x="6107" y="28104"/>
                </a:lnTo>
                <a:lnTo>
                  <a:pt x="12333" y="27488"/>
                </a:lnTo>
                <a:lnTo>
                  <a:pt x="12573" y="29584"/>
                </a:lnTo>
                <a:lnTo>
                  <a:pt x="15925" y="30570"/>
                </a:lnTo>
                <a:lnTo>
                  <a:pt x="17123" y="39198"/>
                </a:lnTo>
                <a:close/>
              </a:path>
            </a:pathLst>
          </a:custGeom>
          <a:solidFill>
            <a:srgbClr val="ded5c5"/>
          </a:solidFill>
          <a:ln w="6191">
            <a:solidFill>
              <a:srgbClr val="b5a68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26" name="ซอยประสิทธิ์ 4/3"/>
          <p:cNvSpPr/>
          <p:nvPr/>
        </p:nvSpPr>
        <p:spPr>
          <a:xfrm>
            <a:off x="3280680" y="6287400"/>
            <a:ext cx="44640" cy="27000"/>
          </a:xfrm>
          <a:custGeom>
            <a:avLst/>
            <a:gdLst/>
            <a:ahLst/>
            <a:rect l="l" t="t" r="r" b="b"/>
            <a:pathLst>
              <a:path w="44902" h="27242">
                <a:moveTo>
                  <a:pt x="42867" y="13436"/>
                </a:moveTo>
                <a:lnTo>
                  <a:pt x="22511" y="14299"/>
                </a:lnTo>
                <a:lnTo>
                  <a:pt x="18919" y="13066"/>
                </a:lnTo>
                <a:lnTo>
                  <a:pt x="13650" y="7396"/>
                </a:lnTo>
                <a:lnTo>
                  <a:pt x="13291" y="0"/>
                </a:lnTo>
                <a:lnTo>
                  <a:pt x="3472" y="4931"/>
                </a:lnTo>
                <a:lnTo>
                  <a:pt x="2515" y="3082"/>
                </a:lnTo>
                <a:lnTo>
                  <a:pt x="0" y="4314"/>
                </a:lnTo>
                <a:lnTo>
                  <a:pt x="12453" y="27242"/>
                </a:lnTo>
                <a:lnTo>
                  <a:pt x="19158" y="26009"/>
                </a:lnTo>
                <a:lnTo>
                  <a:pt x="29935" y="19476"/>
                </a:lnTo>
                <a:lnTo>
                  <a:pt x="41550" y="19969"/>
                </a:lnTo>
                <a:lnTo>
                  <a:pt x="44902" y="18860"/>
                </a:lnTo>
                <a:lnTo>
                  <a:pt x="42867" y="13436"/>
                </a:lnTo>
                <a:close/>
              </a:path>
            </a:pathLst>
          </a:custGeom>
          <a:solidFill>
            <a:srgbClr val="ded5c5"/>
          </a:solidFill>
          <a:ln w="6191">
            <a:solidFill>
              <a:srgbClr val="b5a68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27" name="ซอยสถิตย์"/>
          <p:cNvSpPr/>
          <p:nvPr/>
        </p:nvSpPr>
        <p:spPr>
          <a:xfrm>
            <a:off x="3021840" y="6329160"/>
            <a:ext cx="45360" cy="25560"/>
          </a:xfrm>
          <a:custGeom>
            <a:avLst/>
            <a:gdLst/>
            <a:ahLst/>
            <a:rect l="l" t="t" r="r" b="b"/>
            <a:pathLst>
              <a:path w="45860" h="25762">
                <a:moveTo>
                  <a:pt x="14129" y="25762"/>
                </a:moveTo>
                <a:lnTo>
                  <a:pt x="19398" y="5300"/>
                </a:lnTo>
                <a:lnTo>
                  <a:pt x="27899" y="6040"/>
                </a:lnTo>
                <a:lnTo>
                  <a:pt x="28019" y="3698"/>
                </a:lnTo>
                <a:lnTo>
                  <a:pt x="45860" y="3698"/>
                </a:lnTo>
                <a:lnTo>
                  <a:pt x="44783" y="370"/>
                </a:lnTo>
                <a:lnTo>
                  <a:pt x="11375" y="0"/>
                </a:lnTo>
                <a:lnTo>
                  <a:pt x="10896" y="5300"/>
                </a:lnTo>
                <a:lnTo>
                  <a:pt x="6107" y="5054"/>
                </a:lnTo>
                <a:lnTo>
                  <a:pt x="5388" y="10231"/>
                </a:lnTo>
                <a:lnTo>
                  <a:pt x="2515" y="10354"/>
                </a:lnTo>
                <a:lnTo>
                  <a:pt x="0" y="24530"/>
                </a:lnTo>
                <a:lnTo>
                  <a:pt x="14129" y="25762"/>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28" name="ตลาดหนองแขม"/>
          <p:cNvSpPr/>
          <p:nvPr/>
        </p:nvSpPr>
        <p:spPr>
          <a:xfrm>
            <a:off x="2987640" y="6268680"/>
            <a:ext cx="29520" cy="21960"/>
          </a:xfrm>
          <a:custGeom>
            <a:avLst/>
            <a:gdLst/>
            <a:ahLst/>
            <a:rect l="l" t="t" r="r" b="b"/>
            <a:pathLst>
              <a:path w="29935" h="22188">
                <a:moveTo>
                  <a:pt x="25744" y="0"/>
                </a:moveTo>
                <a:lnTo>
                  <a:pt x="0" y="8135"/>
                </a:lnTo>
                <a:lnTo>
                  <a:pt x="4071" y="22188"/>
                </a:lnTo>
                <a:lnTo>
                  <a:pt x="29935" y="14175"/>
                </a:lnTo>
                <a:lnTo>
                  <a:pt x="25744" y="0"/>
                </a:lnTo>
                <a:close/>
              </a:path>
            </a:pathLst>
          </a:custGeom>
          <a:solidFill>
            <a:srgbClr val="ded5c5"/>
          </a:solidFill>
          <a:ln w="6191">
            <a:solidFill>
              <a:srgbClr val="b5a68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29" name="หมู่ 4 หนองค้างพลู"/>
          <p:cNvSpPr/>
          <p:nvPr/>
        </p:nvSpPr>
        <p:spPr>
          <a:xfrm>
            <a:off x="2981160" y="5619600"/>
            <a:ext cx="129600" cy="104040"/>
          </a:xfrm>
          <a:custGeom>
            <a:avLst/>
            <a:gdLst/>
            <a:ahLst/>
            <a:rect l="l" t="t" r="r" b="b"/>
            <a:pathLst>
              <a:path w="130037" h="104405">
                <a:moveTo>
                  <a:pt x="68371" y="104405"/>
                </a:moveTo>
                <a:lnTo>
                  <a:pt x="130037" y="83943"/>
                </a:lnTo>
                <a:lnTo>
                  <a:pt x="127523" y="55469"/>
                </a:lnTo>
                <a:lnTo>
                  <a:pt x="123931" y="40677"/>
                </a:lnTo>
                <a:lnTo>
                  <a:pt x="112196" y="31186"/>
                </a:lnTo>
                <a:lnTo>
                  <a:pt x="112915" y="12820"/>
                </a:lnTo>
                <a:lnTo>
                  <a:pt x="111358" y="0"/>
                </a:lnTo>
                <a:lnTo>
                  <a:pt x="0" y="18490"/>
                </a:lnTo>
                <a:lnTo>
                  <a:pt x="3832" y="69521"/>
                </a:lnTo>
                <a:lnTo>
                  <a:pt x="36281" y="63851"/>
                </a:lnTo>
                <a:lnTo>
                  <a:pt x="57834" y="62249"/>
                </a:lnTo>
                <a:lnTo>
                  <a:pt x="68371" y="10440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30" name="หมู่บ้านชมเดือน 2"/>
          <p:cNvSpPr/>
          <p:nvPr/>
        </p:nvSpPr>
        <p:spPr>
          <a:xfrm>
            <a:off x="3132720" y="5844600"/>
            <a:ext cx="19800" cy="21240"/>
          </a:xfrm>
          <a:custGeom>
            <a:avLst/>
            <a:gdLst/>
            <a:ahLst/>
            <a:rect l="l" t="t" r="r" b="b"/>
            <a:pathLst>
              <a:path w="19997" h="21695">
                <a:moveTo>
                  <a:pt x="0" y="370"/>
                </a:moveTo>
                <a:lnTo>
                  <a:pt x="359" y="20832"/>
                </a:lnTo>
                <a:lnTo>
                  <a:pt x="19637" y="21695"/>
                </a:lnTo>
                <a:lnTo>
                  <a:pt x="19997" y="0"/>
                </a:lnTo>
                <a:lnTo>
                  <a:pt x="0" y="370"/>
                </a:lnTo>
                <a:close/>
              </a:path>
            </a:pathLst>
          </a:custGeom>
          <a:solidFill>
            <a:srgbClr val="ded5c5"/>
          </a:solidFill>
          <a:ln w="6191">
            <a:solidFill>
              <a:srgbClr val="b5a68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31" name="สงวนคำ"/>
          <p:cNvSpPr/>
          <p:nvPr/>
        </p:nvSpPr>
        <p:spPr>
          <a:xfrm>
            <a:off x="2963520" y="5949720"/>
            <a:ext cx="46800" cy="31680"/>
          </a:xfrm>
          <a:custGeom>
            <a:avLst/>
            <a:gdLst/>
            <a:ahLst/>
            <a:rect l="l" t="t" r="r" b="b"/>
            <a:pathLst>
              <a:path w="47058" h="32172">
                <a:moveTo>
                  <a:pt x="16883" y="1726"/>
                </a:moveTo>
                <a:lnTo>
                  <a:pt x="3712" y="7519"/>
                </a:lnTo>
                <a:lnTo>
                  <a:pt x="6107" y="11217"/>
                </a:lnTo>
                <a:lnTo>
                  <a:pt x="0" y="14175"/>
                </a:lnTo>
                <a:lnTo>
                  <a:pt x="4430" y="23544"/>
                </a:lnTo>
                <a:lnTo>
                  <a:pt x="15207" y="19599"/>
                </a:lnTo>
                <a:lnTo>
                  <a:pt x="27181" y="32172"/>
                </a:lnTo>
                <a:lnTo>
                  <a:pt x="47058" y="23297"/>
                </a:lnTo>
                <a:lnTo>
                  <a:pt x="43945" y="16394"/>
                </a:lnTo>
                <a:lnTo>
                  <a:pt x="41071" y="17504"/>
                </a:lnTo>
                <a:lnTo>
                  <a:pt x="39275" y="14299"/>
                </a:lnTo>
                <a:lnTo>
                  <a:pt x="37000" y="15285"/>
                </a:lnTo>
                <a:lnTo>
                  <a:pt x="39155" y="12696"/>
                </a:lnTo>
                <a:lnTo>
                  <a:pt x="31851" y="0"/>
                </a:lnTo>
                <a:lnTo>
                  <a:pt x="25505" y="3328"/>
                </a:lnTo>
                <a:lnTo>
                  <a:pt x="28259" y="8382"/>
                </a:lnTo>
                <a:lnTo>
                  <a:pt x="21553" y="10847"/>
                </a:lnTo>
                <a:lnTo>
                  <a:pt x="18081" y="1109"/>
                </a:lnTo>
                <a:lnTo>
                  <a:pt x="16883" y="1726"/>
                </a:lnTo>
                <a:close/>
              </a:path>
            </a:pathLst>
          </a:custGeom>
          <a:solidFill>
            <a:srgbClr val="ded5c5"/>
          </a:solidFill>
          <a:ln w="6191">
            <a:solidFill>
              <a:srgbClr val="b5a68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32" name="ชายแดน"/>
          <p:cNvSpPr/>
          <p:nvPr/>
        </p:nvSpPr>
        <p:spPr>
          <a:xfrm>
            <a:off x="2961000" y="5547240"/>
            <a:ext cx="129600" cy="52200"/>
          </a:xfrm>
          <a:custGeom>
            <a:avLst/>
            <a:gdLst/>
            <a:ahLst/>
            <a:rect l="l" t="t" r="r" b="b"/>
            <a:pathLst>
              <a:path w="129798" h="52634">
                <a:moveTo>
                  <a:pt x="0" y="20215"/>
                </a:moveTo>
                <a:lnTo>
                  <a:pt x="1557" y="52634"/>
                </a:lnTo>
                <a:lnTo>
                  <a:pt x="19039" y="50785"/>
                </a:lnTo>
                <a:lnTo>
                  <a:pt x="19757" y="28967"/>
                </a:lnTo>
                <a:lnTo>
                  <a:pt x="37359" y="26625"/>
                </a:lnTo>
                <a:lnTo>
                  <a:pt x="37838" y="30077"/>
                </a:lnTo>
                <a:lnTo>
                  <a:pt x="48375" y="29090"/>
                </a:lnTo>
                <a:lnTo>
                  <a:pt x="48614" y="30693"/>
                </a:lnTo>
                <a:lnTo>
                  <a:pt x="72562" y="25762"/>
                </a:lnTo>
                <a:lnTo>
                  <a:pt x="72083" y="23667"/>
                </a:lnTo>
                <a:lnTo>
                  <a:pt x="120219" y="19476"/>
                </a:lnTo>
                <a:lnTo>
                  <a:pt x="121057" y="24899"/>
                </a:lnTo>
                <a:lnTo>
                  <a:pt x="129798" y="24776"/>
                </a:lnTo>
                <a:lnTo>
                  <a:pt x="127882" y="0"/>
                </a:lnTo>
                <a:lnTo>
                  <a:pt x="28498" y="6287"/>
                </a:lnTo>
                <a:lnTo>
                  <a:pt x="1197" y="11587"/>
                </a:lnTo>
                <a:lnTo>
                  <a:pt x="0" y="20215"/>
                </a:lnTo>
                <a:close/>
              </a:path>
            </a:pathLst>
          </a:custGeom>
          <a:solidFill>
            <a:srgbClr val="ded5c5"/>
          </a:solidFill>
          <a:ln w="6191">
            <a:solidFill>
              <a:srgbClr val="b5a68d"/>
            </a:solidFill>
            <a:round/>
          </a:ln>
        </p:spPr>
        <p:style>
          <a:lnRef idx="0"/>
          <a:fillRef idx="0"/>
          <a:effectRef idx="0"/>
          <a:fontRef idx="minor"/>
        </p:style>
        <p:txBody>
          <a:bodyPr lIns="90000" rIns="90000" tIns="7200" bIns="7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33" name="วัดหัวกระบือ"/>
          <p:cNvSpPr/>
          <p:nvPr/>
        </p:nvSpPr>
        <p:spPr>
          <a:xfrm>
            <a:off x="4278960" y="6982920"/>
            <a:ext cx="47520" cy="115200"/>
          </a:xfrm>
          <a:custGeom>
            <a:avLst/>
            <a:gdLst/>
            <a:ahLst/>
            <a:rect l="l" t="t" r="r" b="b"/>
            <a:pathLst>
              <a:path w="47776" h="115622">
                <a:moveTo>
                  <a:pt x="25385" y="0"/>
                </a:moveTo>
                <a:lnTo>
                  <a:pt x="7424" y="9615"/>
                </a:lnTo>
                <a:lnTo>
                  <a:pt x="8382" y="16271"/>
                </a:lnTo>
                <a:lnTo>
                  <a:pt x="0" y="23790"/>
                </a:lnTo>
                <a:lnTo>
                  <a:pt x="5029" y="40554"/>
                </a:lnTo>
                <a:lnTo>
                  <a:pt x="8861" y="46224"/>
                </a:lnTo>
                <a:lnTo>
                  <a:pt x="11375" y="45978"/>
                </a:lnTo>
                <a:lnTo>
                  <a:pt x="11735" y="53620"/>
                </a:lnTo>
                <a:lnTo>
                  <a:pt x="3712" y="56948"/>
                </a:lnTo>
                <a:lnTo>
                  <a:pt x="3353" y="70384"/>
                </a:lnTo>
                <a:lnTo>
                  <a:pt x="23589" y="64714"/>
                </a:lnTo>
                <a:lnTo>
                  <a:pt x="24427" y="76424"/>
                </a:lnTo>
                <a:lnTo>
                  <a:pt x="11256" y="89120"/>
                </a:lnTo>
                <a:lnTo>
                  <a:pt x="13890" y="114883"/>
                </a:lnTo>
                <a:lnTo>
                  <a:pt x="16764" y="115622"/>
                </a:lnTo>
                <a:lnTo>
                  <a:pt x="34844" y="113280"/>
                </a:lnTo>
                <a:lnTo>
                  <a:pt x="45022" y="106871"/>
                </a:lnTo>
                <a:lnTo>
                  <a:pt x="44184" y="73836"/>
                </a:lnTo>
                <a:lnTo>
                  <a:pt x="47776" y="68165"/>
                </a:lnTo>
                <a:lnTo>
                  <a:pt x="44304" y="60153"/>
                </a:lnTo>
                <a:lnTo>
                  <a:pt x="42747" y="61386"/>
                </a:lnTo>
                <a:lnTo>
                  <a:pt x="38915" y="59907"/>
                </a:lnTo>
                <a:lnTo>
                  <a:pt x="33168" y="47210"/>
                </a:lnTo>
                <a:lnTo>
                  <a:pt x="34246" y="37226"/>
                </a:lnTo>
                <a:lnTo>
                  <a:pt x="31611" y="29460"/>
                </a:lnTo>
                <a:lnTo>
                  <a:pt x="31132" y="11464"/>
                </a:lnTo>
                <a:lnTo>
                  <a:pt x="29935" y="5547"/>
                </a:lnTo>
                <a:lnTo>
                  <a:pt x="26941" y="3575"/>
                </a:lnTo>
                <a:lnTo>
                  <a:pt x="25385"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34" name="ศาลเจ้าแม่ทับทิม หมู่ที่ 5"/>
          <p:cNvSpPr/>
          <p:nvPr/>
        </p:nvSpPr>
        <p:spPr>
          <a:xfrm>
            <a:off x="4439880" y="6509160"/>
            <a:ext cx="129960" cy="126000"/>
          </a:xfrm>
          <a:custGeom>
            <a:avLst/>
            <a:gdLst/>
            <a:ahLst/>
            <a:rect l="l" t="t" r="r" b="b"/>
            <a:pathLst>
              <a:path w="130157" h="126223">
                <a:moveTo>
                  <a:pt x="0" y="126223"/>
                </a:moveTo>
                <a:lnTo>
                  <a:pt x="130157" y="92572"/>
                </a:lnTo>
                <a:lnTo>
                  <a:pt x="112316" y="0"/>
                </a:lnTo>
                <a:lnTo>
                  <a:pt x="88727" y="6533"/>
                </a:lnTo>
                <a:lnTo>
                  <a:pt x="60828" y="25886"/>
                </a:lnTo>
                <a:lnTo>
                  <a:pt x="44902" y="40431"/>
                </a:lnTo>
                <a:lnTo>
                  <a:pt x="35443" y="58551"/>
                </a:lnTo>
                <a:lnTo>
                  <a:pt x="37119" y="59537"/>
                </a:lnTo>
                <a:lnTo>
                  <a:pt x="33527" y="62125"/>
                </a:lnTo>
                <a:lnTo>
                  <a:pt x="18679" y="90600"/>
                </a:lnTo>
                <a:lnTo>
                  <a:pt x="15566" y="92202"/>
                </a:lnTo>
                <a:lnTo>
                  <a:pt x="16165" y="95284"/>
                </a:lnTo>
                <a:lnTo>
                  <a:pt x="0" y="12622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35" name="หมู่บ้านพัฒนา หมู่ที่6"/>
          <p:cNvSpPr/>
          <p:nvPr/>
        </p:nvSpPr>
        <p:spPr>
          <a:xfrm>
            <a:off x="4433400" y="6602760"/>
            <a:ext cx="182880" cy="361440"/>
          </a:xfrm>
          <a:custGeom>
            <a:avLst/>
            <a:gdLst/>
            <a:ahLst/>
            <a:rect l="l" t="t" r="r" b="b"/>
            <a:pathLst>
              <a:path w="183082" h="361659">
                <a:moveTo>
                  <a:pt x="8142" y="247516"/>
                </a:moveTo>
                <a:lnTo>
                  <a:pt x="12692" y="274017"/>
                </a:lnTo>
                <a:lnTo>
                  <a:pt x="13650" y="295466"/>
                </a:lnTo>
                <a:lnTo>
                  <a:pt x="5748" y="295959"/>
                </a:lnTo>
                <a:lnTo>
                  <a:pt x="8980" y="358084"/>
                </a:lnTo>
                <a:lnTo>
                  <a:pt x="58313" y="361659"/>
                </a:lnTo>
                <a:lnTo>
                  <a:pt x="123093" y="349825"/>
                </a:lnTo>
                <a:lnTo>
                  <a:pt x="134109" y="340704"/>
                </a:lnTo>
                <a:lnTo>
                  <a:pt x="139617" y="338238"/>
                </a:lnTo>
                <a:lnTo>
                  <a:pt x="141413" y="327021"/>
                </a:lnTo>
                <a:lnTo>
                  <a:pt x="145364" y="319502"/>
                </a:lnTo>
                <a:lnTo>
                  <a:pt x="157937" y="303354"/>
                </a:lnTo>
                <a:lnTo>
                  <a:pt x="168713" y="294356"/>
                </a:lnTo>
                <a:lnTo>
                  <a:pt x="164283" y="280674"/>
                </a:lnTo>
                <a:lnTo>
                  <a:pt x="165121" y="275866"/>
                </a:lnTo>
                <a:lnTo>
                  <a:pt x="174581" y="271429"/>
                </a:lnTo>
                <a:lnTo>
                  <a:pt x="179969" y="267115"/>
                </a:lnTo>
                <a:lnTo>
                  <a:pt x="183082" y="261444"/>
                </a:lnTo>
                <a:lnTo>
                  <a:pt x="183082" y="251707"/>
                </a:lnTo>
                <a:lnTo>
                  <a:pt x="175898" y="230628"/>
                </a:lnTo>
                <a:lnTo>
                  <a:pt x="174820" y="205359"/>
                </a:lnTo>
                <a:lnTo>
                  <a:pt x="162726" y="165051"/>
                </a:lnTo>
                <a:lnTo>
                  <a:pt x="157338" y="140645"/>
                </a:lnTo>
                <a:lnTo>
                  <a:pt x="154584" y="107240"/>
                </a:lnTo>
                <a:lnTo>
                  <a:pt x="143329" y="28844"/>
                </a:lnTo>
                <a:lnTo>
                  <a:pt x="137342" y="0"/>
                </a:lnTo>
                <a:lnTo>
                  <a:pt x="5628" y="32912"/>
                </a:lnTo>
                <a:lnTo>
                  <a:pt x="6226" y="35007"/>
                </a:lnTo>
                <a:lnTo>
                  <a:pt x="1078" y="39938"/>
                </a:lnTo>
                <a:lnTo>
                  <a:pt x="1796" y="44745"/>
                </a:lnTo>
                <a:lnTo>
                  <a:pt x="0" y="45485"/>
                </a:lnTo>
                <a:lnTo>
                  <a:pt x="2275" y="58427"/>
                </a:lnTo>
                <a:lnTo>
                  <a:pt x="8023" y="224219"/>
                </a:lnTo>
                <a:lnTo>
                  <a:pt x="2036" y="224835"/>
                </a:lnTo>
                <a:lnTo>
                  <a:pt x="8142" y="24751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36" name="หลวงพ่อขาว"/>
          <p:cNvSpPr/>
          <p:nvPr/>
        </p:nvSpPr>
        <p:spPr>
          <a:xfrm>
            <a:off x="4290840" y="7095600"/>
            <a:ext cx="29160" cy="16560"/>
          </a:xfrm>
          <a:custGeom>
            <a:avLst/>
            <a:gdLst/>
            <a:ahLst/>
            <a:rect l="l" t="t" r="r" b="b"/>
            <a:pathLst>
              <a:path w="29576" h="16887">
                <a:moveTo>
                  <a:pt x="4790" y="3575"/>
                </a:moveTo>
                <a:lnTo>
                  <a:pt x="2155" y="2465"/>
                </a:lnTo>
                <a:lnTo>
                  <a:pt x="0" y="16764"/>
                </a:lnTo>
                <a:lnTo>
                  <a:pt x="29576" y="16887"/>
                </a:lnTo>
                <a:lnTo>
                  <a:pt x="27181" y="0"/>
                </a:lnTo>
                <a:lnTo>
                  <a:pt x="4790" y="3575"/>
                </a:lnTo>
                <a:close/>
              </a:path>
            </a:pathLst>
          </a:custGeom>
          <a:solidFill>
            <a:srgbClr val="ded5c5"/>
          </a:solidFill>
          <a:ln w="6191">
            <a:solidFill>
              <a:srgbClr val="b5a68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37" name="ศิริธร"/>
          <p:cNvSpPr/>
          <p:nvPr/>
        </p:nvSpPr>
        <p:spPr>
          <a:xfrm>
            <a:off x="3448080" y="6111720"/>
            <a:ext cx="29880" cy="39600"/>
          </a:xfrm>
          <a:custGeom>
            <a:avLst/>
            <a:gdLst/>
            <a:ahLst/>
            <a:rect l="l" t="t" r="r" b="b"/>
            <a:pathLst>
              <a:path w="30294" h="39815">
                <a:moveTo>
                  <a:pt x="28738" y="0"/>
                </a:moveTo>
                <a:lnTo>
                  <a:pt x="0" y="10108"/>
                </a:lnTo>
                <a:lnTo>
                  <a:pt x="5987" y="39815"/>
                </a:lnTo>
                <a:lnTo>
                  <a:pt x="24427" y="35377"/>
                </a:lnTo>
                <a:lnTo>
                  <a:pt x="20236" y="11710"/>
                </a:lnTo>
                <a:lnTo>
                  <a:pt x="30294" y="9738"/>
                </a:lnTo>
                <a:lnTo>
                  <a:pt x="28738" y="0"/>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38" name="หมู่บ้านวังทอง"/>
          <p:cNvSpPr/>
          <p:nvPr/>
        </p:nvSpPr>
        <p:spPr>
          <a:xfrm>
            <a:off x="3142080" y="6030000"/>
            <a:ext cx="28440" cy="57240"/>
          </a:xfrm>
          <a:custGeom>
            <a:avLst/>
            <a:gdLst/>
            <a:ahLst/>
            <a:rect l="l" t="t" r="r" b="b"/>
            <a:pathLst>
              <a:path w="28977" h="57688">
                <a:moveTo>
                  <a:pt x="21673" y="40308"/>
                </a:moveTo>
                <a:lnTo>
                  <a:pt x="17721" y="31802"/>
                </a:lnTo>
                <a:lnTo>
                  <a:pt x="23469" y="22681"/>
                </a:lnTo>
                <a:lnTo>
                  <a:pt x="22751" y="13436"/>
                </a:lnTo>
                <a:lnTo>
                  <a:pt x="10417" y="7766"/>
                </a:lnTo>
                <a:lnTo>
                  <a:pt x="0" y="0"/>
                </a:lnTo>
                <a:lnTo>
                  <a:pt x="10417" y="57688"/>
                </a:lnTo>
                <a:lnTo>
                  <a:pt x="28977" y="47950"/>
                </a:lnTo>
                <a:lnTo>
                  <a:pt x="21673" y="40308"/>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39" name="ดงรัก"/>
          <p:cNvSpPr/>
          <p:nvPr/>
        </p:nvSpPr>
        <p:spPr>
          <a:xfrm>
            <a:off x="3216960" y="6224760"/>
            <a:ext cx="29880" cy="65880"/>
          </a:xfrm>
          <a:custGeom>
            <a:avLst/>
            <a:gdLst/>
            <a:ahLst/>
            <a:rect l="l" t="t" r="r" b="b"/>
            <a:pathLst>
              <a:path w="30294" h="66070">
                <a:moveTo>
                  <a:pt x="0" y="2958"/>
                </a:moveTo>
                <a:lnTo>
                  <a:pt x="19997" y="66070"/>
                </a:lnTo>
                <a:lnTo>
                  <a:pt x="26343" y="64467"/>
                </a:lnTo>
                <a:lnTo>
                  <a:pt x="24666" y="59660"/>
                </a:lnTo>
                <a:lnTo>
                  <a:pt x="30294" y="57688"/>
                </a:lnTo>
                <a:lnTo>
                  <a:pt x="11974" y="0"/>
                </a:lnTo>
                <a:lnTo>
                  <a:pt x="0" y="2958"/>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40" name="เลียบคลองตาปลั่ง"/>
          <p:cNvSpPr/>
          <p:nvPr/>
        </p:nvSpPr>
        <p:spPr>
          <a:xfrm>
            <a:off x="3113640" y="6245280"/>
            <a:ext cx="43920" cy="82440"/>
          </a:xfrm>
          <a:custGeom>
            <a:avLst/>
            <a:gdLst/>
            <a:ahLst/>
            <a:rect l="l" t="t" r="r" b="b"/>
            <a:pathLst>
              <a:path w="44184" h="82711">
                <a:moveTo>
                  <a:pt x="21912" y="82711"/>
                </a:moveTo>
                <a:lnTo>
                  <a:pt x="21793" y="78766"/>
                </a:lnTo>
                <a:lnTo>
                  <a:pt x="27420" y="63358"/>
                </a:lnTo>
                <a:lnTo>
                  <a:pt x="36640" y="58058"/>
                </a:lnTo>
                <a:lnTo>
                  <a:pt x="44184" y="15038"/>
                </a:lnTo>
                <a:lnTo>
                  <a:pt x="44184" y="10724"/>
                </a:lnTo>
                <a:lnTo>
                  <a:pt x="40352" y="0"/>
                </a:lnTo>
                <a:lnTo>
                  <a:pt x="35084" y="863"/>
                </a:lnTo>
                <a:lnTo>
                  <a:pt x="36042" y="6040"/>
                </a:lnTo>
                <a:lnTo>
                  <a:pt x="30294" y="7026"/>
                </a:lnTo>
                <a:lnTo>
                  <a:pt x="30055" y="8382"/>
                </a:lnTo>
                <a:lnTo>
                  <a:pt x="32689" y="23051"/>
                </a:lnTo>
                <a:lnTo>
                  <a:pt x="41430" y="22188"/>
                </a:lnTo>
                <a:lnTo>
                  <a:pt x="39993" y="35254"/>
                </a:lnTo>
                <a:lnTo>
                  <a:pt x="34126" y="50292"/>
                </a:lnTo>
                <a:lnTo>
                  <a:pt x="28857" y="51032"/>
                </a:lnTo>
                <a:lnTo>
                  <a:pt x="28378" y="56209"/>
                </a:lnTo>
                <a:lnTo>
                  <a:pt x="26702" y="58058"/>
                </a:lnTo>
                <a:lnTo>
                  <a:pt x="26702" y="61879"/>
                </a:lnTo>
                <a:lnTo>
                  <a:pt x="24786" y="65947"/>
                </a:lnTo>
                <a:lnTo>
                  <a:pt x="18799" y="65577"/>
                </a:lnTo>
                <a:lnTo>
                  <a:pt x="17841" y="71370"/>
                </a:lnTo>
                <a:lnTo>
                  <a:pt x="1437" y="67426"/>
                </a:lnTo>
                <a:lnTo>
                  <a:pt x="599" y="69152"/>
                </a:lnTo>
                <a:lnTo>
                  <a:pt x="0" y="76917"/>
                </a:lnTo>
                <a:lnTo>
                  <a:pt x="21912" y="82711"/>
                </a:lnTo>
                <a:close/>
              </a:path>
            </a:pathLst>
          </a:custGeom>
          <a:solidFill>
            <a:srgbClr val="ded5c5"/>
          </a:solidFill>
          <a:ln w="6191">
            <a:solidFill>
              <a:srgbClr val="b5a68d"/>
            </a:solidFill>
            <a:round/>
          </a:ln>
        </p:spPr>
        <p:style>
          <a:lnRef idx="0"/>
          <a:fillRef idx="0"/>
          <a:effectRef idx="0"/>
          <a:fontRef idx="minor"/>
        </p:style>
        <p:txBody>
          <a:bodyPr lIns="90000" rIns="90000" tIns="37440" bIns="37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41" name="ศาลเจ้าแม่กวนอิม"/>
          <p:cNvSpPr/>
          <p:nvPr/>
        </p:nvSpPr>
        <p:spPr>
          <a:xfrm>
            <a:off x="3060000" y="6258240"/>
            <a:ext cx="60480" cy="73800"/>
          </a:xfrm>
          <a:custGeom>
            <a:avLst/>
            <a:gdLst/>
            <a:ahLst/>
            <a:rect l="l" t="t" r="r" b="b"/>
            <a:pathLst>
              <a:path w="60948" h="74082">
                <a:moveTo>
                  <a:pt x="7184" y="36117"/>
                </a:moveTo>
                <a:lnTo>
                  <a:pt x="7663" y="50539"/>
                </a:lnTo>
                <a:lnTo>
                  <a:pt x="11136" y="64098"/>
                </a:lnTo>
                <a:lnTo>
                  <a:pt x="19278" y="65330"/>
                </a:lnTo>
                <a:lnTo>
                  <a:pt x="37838" y="71247"/>
                </a:lnTo>
                <a:lnTo>
                  <a:pt x="41669" y="74082"/>
                </a:lnTo>
                <a:lnTo>
                  <a:pt x="45741" y="66933"/>
                </a:lnTo>
                <a:lnTo>
                  <a:pt x="46938" y="61386"/>
                </a:lnTo>
                <a:lnTo>
                  <a:pt x="54482" y="60893"/>
                </a:lnTo>
                <a:lnTo>
                  <a:pt x="55320" y="53990"/>
                </a:lnTo>
                <a:lnTo>
                  <a:pt x="53883" y="37226"/>
                </a:lnTo>
                <a:lnTo>
                  <a:pt x="60948" y="35130"/>
                </a:lnTo>
                <a:lnTo>
                  <a:pt x="60109" y="23420"/>
                </a:lnTo>
                <a:lnTo>
                  <a:pt x="57236" y="18120"/>
                </a:lnTo>
                <a:lnTo>
                  <a:pt x="46938" y="7273"/>
                </a:lnTo>
                <a:lnTo>
                  <a:pt x="41789" y="8135"/>
                </a:lnTo>
                <a:lnTo>
                  <a:pt x="39514" y="0"/>
                </a:lnTo>
                <a:lnTo>
                  <a:pt x="27660" y="2219"/>
                </a:lnTo>
                <a:lnTo>
                  <a:pt x="3951" y="10477"/>
                </a:lnTo>
                <a:lnTo>
                  <a:pt x="3832" y="15162"/>
                </a:lnTo>
                <a:lnTo>
                  <a:pt x="0" y="16394"/>
                </a:lnTo>
                <a:lnTo>
                  <a:pt x="3592" y="32049"/>
                </a:lnTo>
                <a:lnTo>
                  <a:pt x="5628" y="32172"/>
                </a:lnTo>
                <a:lnTo>
                  <a:pt x="7184" y="36117"/>
                </a:lnTo>
                <a:close/>
              </a:path>
            </a:pathLst>
          </a:custGeom>
          <a:solidFill>
            <a:srgbClr val="ded5c5"/>
          </a:solidFill>
          <a:ln w="6191">
            <a:solidFill>
              <a:srgbClr val="b5a68d"/>
            </a:solidFill>
            <a:round/>
          </a:ln>
        </p:spPr>
        <p:style>
          <a:lnRef idx="0"/>
          <a:fillRef idx="0"/>
          <a:effectRef idx="0"/>
          <a:fontRef idx="minor"/>
        </p:style>
        <p:txBody>
          <a:bodyPr lIns="90000" rIns="90000" tIns="28800" bIns="28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42" name="หรรษา 79"/>
          <p:cNvSpPr/>
          <p:nvPr/>
        </p:nvSpPr>
        <p:spPr>
          <a:xfrm>
            <a:off x="3080880" y="6083280"/>
            <a:ext cx="29160" cy="52200"/>
          </a:xfrm>
          <a:custGeom>
            <a:avLst/>
            <a:gdLst/>
            <a:ahLst/>
            <a:rect l="l" t="t" r="r" b="b"/>
            <a:pathLst>
              <a:path w="29456" h="52387">
                <a:moveTo>
                  <a:pt x="19877" y="0"/>
                </a:moveTo>
                <a:lnTo>
                  <a:pt x="1916" y="3944"/>
                </a:lnTo>
                <a:lnTo>
                  <a:pt x="0" y="40924"/>
                </a:lnTo>
                <a:lnTo>
                  <a:pt x="3951" y="52387"/>
                </a:lnTo>
                <a:lnTo>
                  <a:pt x="29456" y="47087"/>
                </a:lnTo>
                <a:lnTo>
                  <a:pt x="19877" y="0"/>
                </a:lnTo>
                <a:close/>
              </a:path>
            </a:pathLst>
          </a:custGeom>
          <a:solidFill>
            <a:srgbClr val="ded5c5"/>
          </a:solidFill>
          <a:ln w="6191">
            <a:solidFill>
              <a:srgbClr val="b5a68d"/>
            </a:solidFill>
            <a:round/>
          </a:ln>
        </p:spPr>
        <p:style>
          <a:lnRef idx="0"/>
          <a:fillRef idx="0"/>
          <a:effectRef idx="0"/>
          <a:fontRef idx="minor"/>
        </p:style>
        <p:txBody>
          <a:bodyPr lIns="90000" rIns="90000" tIns="7200" bIns="7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43" name="ธนวัฑฒ์"/>
          <p:cNvSpPr/>
          <p:nvPr/>
        </p:nvSpPr>
        <p:spPr>
          <a:xfrm>
            <a:off x="3436560" y="6031080"/>
            <a:ext cx="29520" cy="59760"/>
          </a:xfrm>
          <a:custGeom>
            <a:avLst/>
            <a:gdLst/>
            <a:ahLst/>
            <a:rect l="l" t="t" r="r" b="b"/>
            <a:pathLst>
              <a:path w="29935" h="60153">
                <a:moveTo>
                  <a:pt x="23828" y="60153"/>
                </a:moveTo>
                <a:lnTo>
                  <a:pt x="29935" y="57934"/>
                </a:lnTo>
                <a:lnTo>
                  <a:pt x="5269" y="0"/>
                </a:lnTo>
                <a:lnTo>
                  <a:pt x="0" y="2096"/>
                </a:lnTo>
                <a:lnTo>
                  <a:pt x="23828" y="60153"/>
                </a:lnTo>
                <a:close/>
              </a:path>
            </a:pathLst>
          </a:custGeom>
          <a:solidFill>
            <a:srgbClr val="ded5c5"/>
          </a:solidFill>
          <a:ln w="6191">
            <a:solidFill>
              <a:srgbClr val="b5a68d"/>
            </a:solidFill>
            <a:round/>
          </a:ln>
        </p:spPr>
        <p:style>
          <a:lnRef idx="0"/>
          <a:fillRef idx="0"/>
          <a:effectRef idx="0"/>
          <a:fontRef idx="minor"/>
        </p:style>
        <p:txBody>
          <a:bodyPr lIns="90000" rIns="90000" tIns="14760" bIns="14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44" name="หมู่บ้านพรทิพา 4"/>
          <p:cNvSpPr/>
          <p:nvPr/>
        </p:nvSpPr>
        <p:spPr>
          <a:xfrm>
            <a:off x="2990520" y="6370200"/>
            <a:ext cx="14400" cy="15120"/>
          </a:xfrm>
          <a:custGeom>
            <a:avLst/>
            <a:gdLst/>
            <a:ahLst/>
            <a:rect l="l" t="t" r="r" b="b"/>
            <a:pathLst>
              <a:path w="14728" h="15531">
                <a:moveTo>
                  <a:pt x="359" y="13559"/>
                </a:moveTo>
                <a:lnTo>
                  <a:pt x="14728" y="15531"/>
                </a:lnTo>
                <a:lnTo>
                  <a:pt x="11735" y="370"/>
                </a:lnTo>
                <a:lnTo>
                  <a:pt x="8621" y="0"/>
                </a:lnTo>
                <a:lnTo>
                  <a:pt x="9459" y="9861"/>
                </a:lnTo>
                <a:lnTo>
                  <a:pt x="0" y="8629"/>
                </a:lnTo>
                <a:lnTo>
                  <a:pt x="359" y="13559"/>
                </a:lnTo>
                <a:close/>
              </a:path>
            </a:pathLst>
          </a:custGeom>
          <a:solidFill>
            <a:srgbClr val="ded5c5"/>
          </a:solidFill>
          <a:ln w="6191">
            <a:solidFill>
              <a:srgbClr val="b5a68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45" name="หมู่ 4 วัดศรีนวล"/>
          <p:cNvSpPr/>
          <p:nvPr/>
        </p:nvSpPr>
        <p:spPr>
          <a:xfrm>
            <a:off x="2985480" y="6399360"/>
            <a:ext cx="68040" cy="139320"/>
          </a:xfrm>
          <a:custGeom>
            <a:avLst/>
            <a:gdLst/>
            <a:ahLst/>
            <a:rect l="l" t="t" r="r" b="b"/>
            <a:pathLst>
              <a:path w="68491" h="139659">
                <a:moveTo>
                  <a:pt x="45621" y="94174"/>
                </a:moveTo>
                <a:lnTo>
                  <a:pt x="68491" y="92449"/>
                </a:lnTo>
                <a:lnTo>
                  <a:pt x="67653" y="82711"/>
                </a:lnTo>
                <a:lnTo>
                  <a:pt x="49812" y="82464"/>
                </a:lnTo>
                <a:lnTo>
                  <a:pt x="49093" y="66440"/>
                </a:lnTo>
                <a:lnTo>
                  <a:pt x="44663" y="49059"/>
                </a:lnTo>
                <a:lnTo>
                  <a:pt x="38915" y="49676"/>
                </a:lnTo>
                <a:lnTo>
                  <a:pt x="28259" y="33651"/>
                </a:lnTo>
                <a:lnTo>
                  <a:pt x="29695" y="21325"/>
                </a:lnTo>
                <a:lnTo>
                  <a:pt x="26103" y="21325"/>
                </a:lnTo>
                <a:lnTo>
                  <a:pt x="26103" y="17873"/>
                </a:lnTo>
                <a:lnTo>
                  <a:pt x="43825" y="10601"/>
                </a:lnTo>
                <a:lnTo>
                  <a:pt x="43466" y="7766"/>
                </a:lnTo>
                <a:lnTo>
                  <a:pt x="25145" y="8259"/>
                </a:lnTo>
                <a:lnTo>
                  <a:pt x="22990" y="0"/>
                </a:lnTo>
                <a:lnTo>
                  <a:pt x="7184" y="2712"/>
                </a:lnTo>
                <a:lnTo>
                  <a:pt x="1317" y="123"/>
                </a:lnTo>
                <a:lnTo>
                  <a:pt x="0" y="3328"/>
                </a:lnTo>
                <a:lnTo>
                  <a:pt x="7663" y="12326"/>
                </a:lnTo>
                <a:lnTo>
                  <a:pt x="9459" y="17750"/>
                </a:lnTo>
                <a:lnTo>
                  <a:pt x="10298" y="36240"/>
                </a:lnTo>
                <a:lnTo>
                  <a:pt x="22990" y="82587"/>
                </a:lnTo>
                <a:lnTo>
                  <a:pt x="23349" y="87025"/>
                </a:lnTo>
                <a:lnTo>
                  <a:pt x="19637" y="96886"/>
                </a:lnTo>
                <a:lnTo>
                  <a:pt x="17721" y="111185"/>
                </a:lnTo>
                <a:lnTo>
                  <a:pt x="15446" y="115252"/>
                </a:lnTo>
                <a:lnTo>
                  <a:pt x="27899" y="116115"/>
                </a:lnTo>
                <a:lnTo>
                  <a:pt x="29217" y="117718"/>
                </a:lnTo>
                <a:lnTo>
                  <a:pt x="29336" y="139659"/>
                </a:lnTo>
                <a:lnTo>
                  <a:pt x="49572" y="138303"/>
                </a:lnTo>
                <a:lnTo>
                  <a:pt x="48614" y="106131"/>
                </a:lnTo>
                <a:lnTo>
                  <a:pt x="45621" y="9417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46" name="แย้มผกาสามัคคี หมู่ 13"/>
          <p:cNvSpPr/>
          <p:nvPr/>
        </p:nvSpPr>
        <p:spPr>
          <a:xfrm>
            <a:off x="3367800" y="6272280"/>
            <a:ext cx="56880" cy="45000"/>
          </a:xfrm>
          <a:custGeom>
            <a:avLst/>
            <a:gdLst/>
            <a:ahLst/>
            <a:rect l="l" t="t" r="r" b="b"/>
            <a:pathLst>
              <a:path w="57236" h="45485">
                <a:moveTo>
                  <a:pt x="50051" y="0"/>
                </a:moveTo>
                <a:lnTo>
                  <a:pt x="27420" y="4684"/>
                </a:lnTo>
                <a:lnTo>
                  <a:pt x="6705" y="11217"/>
                </a:lnTo>
                <a:lnTo>
                  <a:pt x="8262" y="26748"/>
                </a:lnTo>
                <a:lnTo>
                  <a:pt x="0" y="29090"/>
                </a:lnTo>
                <a:lnTo>
                  <a:pt x="4790" y="45485"/>
                </a:lnTo>
                <a:lnTo>
                  <a:pt x="57236" y="35993"/>
                </a:lnTo>
                <a:lnTo>
                  <a:pt x="50051" y="0"/>
                </a:lnTo>
                <a:close/>
              </a:path>
            </a:pathLst>
          </a:custGeom>
          <a:solidFill>
            <a:srgbClr val="ded5c5"/>
          </a:solidFill>
          <a:ln w="6191">
            <a:solidFill>
              <a:srgbClr val="b5a68d"/>
            </a:solidFill>
            <a:round/>
          </a:ln>
        </p:spPr>
        <p:style>
          <a:lnRef idx="0"/>
          <a:fillRef idx="0"/>
          <a:effectRef idx="0"/>
          <a:fontRef idx="minor"/>
        </p:style>
        <p:txBody>
          <a:bodyPr lIns="90000" rIns="90000" tIns="0" bIns="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47" name="เพิ่มดีพัฒนา"/>
          <p:cNvSpPr/>
          <p:nvPr/>
        </p:nvSpPr>
        <p:spPr>
          <a:xfrm>
            <a:off x="3325320" y="6018840"/>
            <a:ext cx="26280" cy="32400"/>
          </a:xfrm>
          <a:custGeom>
            <a:avLst/>
            <a:gdLst/>
            <a:ahLst/>
            <a:rect l="l" t="t" r="r" b="b"/>
            <a:pathLst>
              <a:path w="26463" h="32912">
                <a:moveTo>
                  <a:pt x="1916" y="15038"/>
                </a:moveTo>
                <a:lnTo>
                  <a:pt x="2155" y="16764"/>
                </a:lnTo>
                <a:lnTo>
                  <a:pt x="4191" y="16887"/>
                </a:lnTo>
                <a:lnTo>
                  <a:pt x="5269" y="25023"/>
                </a:lnTo>
                <a:lnTo>
                  <a:pt x="3472" y="25023"/>
                </a:lnTo>
                <a:lnTo>
                  <a:pt x="5987" y="32912"/>
                </a:lnTo>
                <a:lnTo>
                  <a:pt x="26463" y="29214"/>
                </a:lnTo>
                <a:lnTo>
                  <a:pt x="15806" y="0"/>
                </a:lnTo>
                <a:lnTo>
                  <a:pt x="0" y="3328"/>
                </a:lnTo>
                <a:lnTo>
                  <a:pt x="1078" y="9491"/>
                </a:lnTo>
                <a:lnTo>
                  <a:pt x="2036" y="9368"/>
                </a:lnTo>
                <a:lnTo>
                  <a:pt x="1916" y="15038"/>
                </a:lnTo>
                <a:close/>
              </a:path>
            </a:pathLst>
          </a:custGeom>
          <a:solidFill>
            <a:srgbClr val="ded5c5"/>
          </a:solidFill>
          <a:ln w="6191">
            <a:solidFill>
              <a:srgbClr val="b5a68d"/>
            </a:solidFill>
            <a:round/>
          </a:ln>
        </p:spPr>
        <p:style>
          <a:lnRef idx="0"/>
          <a:fillRef idx="0"/>
          <a:effectRef idx="0"/>
          <a:fontRef idx="minor"/>
        </p:style>
        <p:txBody>
          <a:bodyPr lIns="90000" rIns="90000" tIns="-12600" bIns="-12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48" name="ซอย 99"/>
          <p:cNvSpPr/>
          <p:nvPr/>
        </p:nvSpPr>
        <p:spPr>
          <a:xfrm>
            <a:off x="3103920" y="6379560"/>
            <a:ext cx="47520" cy="32040"/>
          </a:xfrm>
          <a:custGeom>
            <a:avLst/>
            <a:gdLst/>
            <a:ahLst/>
            <a:rect l="l" t="t" r="r" b="b"/>
            <a:pathLst>
              <a:path w="47776" h="32419">
                <a:moveTo>
                  <a:pt x="3712" y="19722"/>
                </a:moveTo>
                <a:lnTo>
                  <a:pt x="14249" y="22064"/>
                </a:lnTo>
                <a:lnTo>
                  <a:pt x="13890" y="32419"/>
                </a:lnTo>
                <a:lnTo>
                  <a:pt x="35922" y="31186"/>
                </a:lnTo>
                <a:lnTo>
                  <a:pt x="44663" y="32419"/>
                </a:lnTo>
                <a:lnTo>
                  <a:pt x="47776" y="29090"/>
                </a:lnTo>
                <a:lnTo>
                  <a:pt x="46579" y="0"/>
                </a:lnTo>
                <a:lnTo>
                  <a:pt x="28139" y="1602"/>
                </a:lnTo>
                <a:lnTo>
                  <a:pt x="29456" y="9245"/>
                </a:lnTo>
                <a:lnTo>
                  <a:pt x="18679" y="12326"/>
                </a:lnTo>
                <a:lnTo>
                  <a:pt x="0" y="10724"/>
                </a:lnTo>
                <a:lnTo>
                  <a:pt x="3712" y="19722"/>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49" name="เปรมปรีดิ์"/>
          <p:cNvSpPr/>
          <p:nvPr/>
        </p:nvSpPr>
        <p:spPr>
          <a:xfrm>
            <a:off x="3137400" y="6006600"/>
            <a:ext cx="29160" cy="30240"/>
          </a:xfrm>
          <a:custGeom>
            <a:avLst/>
            <a:gdLst/>
            <a:ahLst/>
            <a:rect l="l" t="t" r="r" b="b"/>
            <a:pathLst>
              <a:path w="29456" h="30446">
                <a:moveTo>
                  <a:pt x="29456" y="3328"/>
                </a:moveTo>
                <a:lnTo>
                  <a:pt x="16524" y="0"/>
                </a:lnTo>
                <a:lnTo>
                  <a:pt x="0" y="20092"/>
                </a:lnTo>
                <a:lnTo>
                  <a:pt x="14129" y="30446"/>
                </a:lnTo>
                <a:lnTo>
                  <a:pt x="29456" y="3328"/>
                </a:lnTo>
                <a:close/>
              </a:path>
            </a:pathLst>
          </a:custGeom>
          <a:solidFill>
            <a:srgbClr val="ded5c5"/>
          </a:solidFill>
          <a:ln w="6191">
            <a:solidFill>
              <a:srgbClr val="b5a68d"/>
            </a:solidFill>
            <a:round/>
          </a:ln>
        </p:spPr>
        <p:style>
          <a:lnRef idx="0"/>
          <a:fillRef idx="0"/>
          <a:effectRef idx="0"/>
          <a:fontRef idx="minor"/>
        </p:style>
        <p:txBody>
          <a:bodyPr lIns="90000" rIns="90000" tIns="-14760" bIns="-14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50" name="อรุณทอง 2"/>
          <p:cNvSpPr/>
          <p:nvPr/>
        </p:nvSpPr>
        <p:spPr>
          <a:xfrm>
            <a:off x="3319560" y="6022080"/>
            <a:ext cx="34560" cy="108360"/>
          </a:xfrm>
          <a:custGeom>
            <a:avLst/>
            <a:gdLst/>
            <a:ahLst/>
            <a:rect l="l" t="t" r="r" b="b"/>
            <a:pathLst>
              <a:path w="35084" h="108596">
                <a:moveTo>
                  <a:pt x="7663" y="13929"/>
                </a:moveTo>
                <a:lnTo>
                  <a:pt x="6586" y="7396"/>
                </a:lnTo>
                <a:lnTo>
                  <a:pt x="7663" y="6163"/>
                </a:lnTo>
                <a:lnTo>
                  <a:pt x="6346" y="6163"/>
                </a:lnTo>
                <a:lnTo>
                  <a:pt x="5388" y="0"/>
                </a:lnTo>
                <a:lnTo>
                  <a:pt x="0" y="1849"/>
                </a:lnTo>
                <a:lnTo>
                  <a:pt x="5867" y="40184"/>
                </a:lnTo>
                <a:lnTo>
                  <a:pt x="1078" y="40677"/>
                </a:lnTo>
                <a:lnTo>
                  <a:pt x="2634" y="63605"/>
                </a:lnTo>
                <a:lnTo>
                  <a:pt x="18081" y="58181"/>
                </a:lnTo>
                <a:lnTo>
                  <a:pt x="24547" y="108596"/>
                </a:lnTo>
                <a:lnTo>
                  <a:pt x="26822" y="108350"/>
                </a:lnTo>
                <a:lnTo>
                  <a:pt x="32450" y="106501"/>
                </a:lnTo>
                <a:lnTo>
                  <a:pt x="30294" y="87764"/>
                </a:lnTo>
                <a:lnTo>
                  <a:pt x="35084" y="87271"/>
                </a:lnTo>
                <a:lnTo>
                  <a:pt x="31611" y="58674"/>
                </a:lnTo>
                <a:lnTo>
                  <a:pt x="30414" y="53127"/>
                </a:lnTo>
                <a:lnTo>
                  <a:pt x="21433" y="57072"/>
                </a:lnTo>
                <a:lnTo>
                  <a:pt x="21194" y="55469"/>
                </a:lnTo>
                <a:lnTo>
                  <a:pt x="24427" y="54853"/>
                </a:lnTo>
                <a:lnTo>
                  <a:pt x="21194" y="36117"/>
                </a:lnTo>
                <a:lnTo>
                  <a:pt x="18440" y="36486"/>
                </a:lnTo>
                <a:lnTo>
                  <a:pt x="17362" y="29337"/>
                </a:lnTo>
                <a:lnTo>
                  <a:pt x="10298" y="30570"/>
                </a:lnTo>
                <a:lnTo>
                  <a:pt x="8741" y="21571"/>
                </a:lnTo>
                <a:lnTo>
                  <a:pt x="10777" y="21448"/>
                </a:lnTo>
                <a:lnTo>
                  <a:pt x="10417" y="18983"/>
                </a:lnTo>
                <a:lnTo>
                  <a:pt x="9699" y="14668"/>
                </a:lnTo>
                <a:lnTo>
                  <a:pt x="7663" y="1392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51" name="ซอยต้นสน"/>
          <p:cNvSpPr/>
          <p:nvPr/>
        </p:nvSpPr>
        <p:spPr>
          <a:xfrm>
            <a:off x="3332880" y="5913000"/>
            <a:ext cx="23760" cy="39240"/>
          </a:xfrm>
          <a:custGeom>
            <a:avLst/>
            <a:gdLst/>
            <a:ahLst/>
            <a:rect l="l" t="t" r="r" b="b"/>
            <a:pathLst>
              <a:path w="23948" h="39691">
                <a:moveTo>
                  <a:pt x="5508" y="0"/>
                </a:moveTo>
                <a:lnTo>
                  <a:pt x="7663" y="18736"/>
                </a:lnTo>
                <a:lnTo>
                  <a:pt x="6586" y="18859"/>
                </a:lnTo>
                <a:lnTo>
                  <a:pt x="6825" y="21941"/>
                </a:lnTo>
                <a:lnTo>
                  <a:pt x="0" y="22064"/>
                </a:lnTo>
                <a:lnTo>
                  <a:pt x="1676" y="39691"/>
                </a:lnTo>
                <a:lnTo>
                  <a:pt x="23948" y="37966"/>
                </a:lnTo>
                <a:lnTo>
                  <a:pt x="23469" y="21448"/>
                </a:lnTo>
                <a:lnTo>
                  <a:pt x="9100" y="21818"/>
                </a:lnTo>
                <a:lnTo>
                  <a:pt x="5508" y="0"/>
                </a:lnTo>
                <a:close/>
              </a:path>
            </a:pathLst>
          </a:custGeom>
          <a:solidFill>
            <a:srgbClr val="ded5c5"/>
          </a:solidFill>
          <a:ln w="6191">
            <a:solidFill>
              <a:srgbClr val="b5a68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52" name="ฉัตรชัยเสริมโชค"/>
          <p:cNvSpPr/>
          <p:nvPr/>
        </p:nvSpPr>
        <p:spPr>
          <a:xfrm>
            <a:off x="3150720" y="5551560"/>
            <a:ext cx="84960" cy="76320"/>
          </a:xfrm>
          <a:custGeom>
            <a:avLst/>
            <a:gdLst/>
            <a:ahLst/>
            <a:rect l="l" t="t" r="r" b="b"/>
            <a:pathLst>
              <a:path w="85494" h="76547">
                <a:moveTo>
                  <a:pt x="85494" y="20462"/>
                </a:moveTo>
                <a:lnTo>
                  <a:pt x="79028" y="7642"/>
                </a:lnTo>
                <a:lnTo>
                  <a:pt x="64899" y="10477"/>
                </a:lnTo>
                <a:lnTo>
                  <a:pt x="63223" y="6903"/>
                </a:lnTo>
                <a:lnTo>
                  <a:pt x="50291" y="7766"/>
                </a:lnTo>
                <a:lnTo>
                  <a:pt x="47656" y="0"/>
                </a:lnTo>
                <a:lnTo>
                  <a:pt x="36401" y="1233"/>
                </a:lnTo>
                <a:lnTo>
                  <a:pt x="0" y="11833"/>
                </a:lnTo>
                <a:lnTo>
                  <a:pt x="359" y="41910"/>
                </a:lnTo>
                <a:lnTo>
                  <a:pt x="2395" y="42896"/>
                </a:lnTo>
                <a:lnTo>
                  <a:pt x="17243" y="41417"/>
                </a:lnTo>
                <a:lnTo>
                  <a:pt x="20835" y="76547"/>
                </a:lnTo>
                <a:lnTo>
                  <a:pt x="43945" y="73343"/>
                </a:lnTo>
                <a:lnTo>
                  <a:pt x="42268" y="61632"/>
                </a:lnTo>
                <a:lnTo>
                  <a:pt x="68252" y="56825"/>
                </a:lnTo>
                <a:lnTo>
                  <a:pt x="65737" y="37349"/>
                </a:lnTo>
                <a:lnTo>
                  <a:pt x="62384" y="30323"/>
                </a:lnTo>
                <a:lnTo>
                  <a:pt x="85494" y="20462"/>
                </a:lnTo>
                <a:close/>
              </a:path>
            </a:pathLst>
          </a:custGeom>
          <a:solidFill>
            <a:srgbClr val="ded5c5"/>
          </a:solidFill>
          <a:ln w="6191">
            <a:solidFill>
              <a:srgbClr val="b5a68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53" name="ซอยกำนันวิจิตร"/>
          <p:cNvSpPr/>
          <p:nvPr/>
        </p:nvSpPr>
        <p:spPr>
          <a:xfrm>
            <a:off x="2915280" y="5748120"/>
            <a:ext cx="46440" cy="43560"/>
          </a:xfrm>
          <a:custGeom>
            <a:avLst/>
            <a:gdLst/>
            <a:ahLst/>
            <a:rect l="l" t="t" r="r" b="b"/>
            <a:pathLst>
              <a:path w="46699" h="43882">
                <a:moveTo>
                  <a:pt x="19757" y="4931"/>
                </a:moveTo>
                <a:lnTo>
                  <a:pt x="16404" y="0"/>
                </a:lnTo>
                <a:lnTo>
                  <a:pt x="0" y="9122"/>
                </a:lnTo>
                <a:lnTo>
                  <a:pt x="12932" y="28351"/>
                </a:lnTo>
                <a:lnTo>
                  <a:pt x="22631" y="33898"/>
                </a:lnTo>
                <a:lnTo>
                  <a:pt x="30534" y="43882"/>
                </a:lnTo>
                <a:lnTo>
                  <a:pt x="46699" y="34514"/>
                </a:lnTo>
                <a:lnTo>
                  <a:pt x="29097" y="14668"/>
                </a:lnTo>
                <a:lnTo>
                  <a:pt x="26582" y="14175"/>
                </a:lnTo>
                <a:lnTo>
                  <a:pt x="19757" y="4931"/>
                </a:lnTo>
                <a:close/>
              </a:path>
            </a:pathLst>
          </a:custGeom>
          <a:solidFill>
            <a:srgbClr val="ded5c5"/>
          </a:solidFill>
          <a:ln w="6191">
            <a:solidFill>
              <a:srgbClr val="b5a68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54" name="ซอยนาคสถาพร 1"/>
          <p:cNvSpPr/>
          <p:nvPr/>
        </p:nvSpPr>
        <p:spPr>
          <a:xfrm>
            <a:off x="3356280" y="5930280"/>
            <a:ext cx="53280" cy="43920"/>
          </a:xfrm>
          <a:custGeom>
            <a:avLst/>
            <a:gdLst/>
            <a:ahLst/>
            <a:rect l="l" t="t" r="r" b="b"/>
            <a:pathLst>
              <a:path w="53643" h="44375">
                <a:moveTo>
                  <a:pt x="0" y="6656"/>
                </a:moveTo>
                <a:lnTo>
                  <a:pt x="599" y="20462"/>
                </a:lnTo>
                <a:lnTo>
                  <a:pt x="1557" y="20462"/>
                </a:lnTo>
                <a:lnTo>
                  <a:pt x="1557" y="44375"/>
                </a:lnTo>
                <a:lnTo>
                  <a:pt x="20236" y="43636"/>
                </a:lnTo>
                <a:lnTo>
                  <a:pt x="25026" y="36486"/>
                </a:lnTo>
                <a:lnTo>
                  <a:pt x="32928" y="35500"/>
                </a:lnTo>
                <a:lnTo>
                  <a:pt x="37958" y="16148"/>
                </a:lnTo>
                <a:lnTo>
                  <a:pt x="53643" y="13189"/>
                </a:lnTo>
                <a:lnTo>
                  <a:pt x="48016" y="370"/>
                </a:lnTo>
                <a:lnTo>
                  <a:pt x="33048" y="0"/>
                </a:lnTo>
                <a:lnTo>
                  <a:pt x="0" y="6656"/>
                </a:lnTo>
                <a:close/>
              </a:path>
            </a:pathLst>
          </a:custGeom>
          <a:solidFill>
            <a:srgbClr val="ded5c5"/>
          </a:solidFill>
          <a:ln w="6191">
            <a:solidFill>
              <a:srgbClr val="b5a68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55" name="ซอยนาคสถาพร 2"/>
          <p:cNvSpPr/>
          <p:nvPr/>
        </p:nvSpPr>
        <p:spPr>
          <a:xfrm>
            <a:off x="3377160" y="5972760"/>
            <a:ext cx="52560" cy="20160"/>
          </a:xfrm>
          <a:custGeom>
            <a:avLst/>
            <a:gdLst/>
            <a:ahLst/>
            <a:rect l="l" t="t" r="r" b="b"/>
            <a:pathLst>
              <a:path w="52805" h="20462">
                <a:moveTo>
                  <a:pt x="0" y="1602"/>
                </a:moveTo>
                <a:lnTo>
                  <a:pt x="2275" y="20462"/>
                </a:lnTo>
                <a:lnTo>
                  <a:pt x="52805" y="13682"/>
                </a:lnTo>
                <a:lnTo>
                  <a:pt x="46579" y="0"/>
                </a:lnTo>
                <a:lnTo>
                  <a:pt x="0" y="1602"/>
                </a:lnTo>
                <a:close/>
              </a:path>
            </a:pathLst>
          </a:custGeom>
          <a:solidFill>
            <a:srgbClr val="ded5c5"/>
          </a:solidFill>
          <a:ln w="6191">
            <a:solidFill>
              <a:srgbClr val="b5a68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56" name="ซอยเพชรเกษม 108"/>
          <p:cNvSpPr/>
          <p:nvPr/>
        </p:nvSpPr>
        <p:spPr>
          <a:xfrm>
            <a:off x="3123360" y="5869440"/>
            <a:ext cx="25560" cy="8640"/>
          </a:xfrm>
          <a:custGeom>
            <a:avLst/>
            <a:gdLst/>
            <a:ahLst/>
            <a:rect l="l" t="t" r="r" b="b"/>
            <a:pathLst>
              <a:path w="25744" h="9122">
                <a:moveTo>
                  <a:pt x="0" y="1109"/>
                </a:moveTo>
                <a:lnTo>
                  <a:pt x="1197" y="7396"/>
                </a:lnTo>
                <a:lnTo>
                  <a:pt x="4191" y="6410"/>
                </a:lnTo>
                <a:lnTo>
                  <a:pt x="6466" y="6656"/>
                </a:lnTo>
                <a:lnTo>
                  <a:pt x="7903" y="8875"/>
                </a:lnTo>
                <a:lnTo>
                  <a:pt x="25744" y="9122"/>
                </a:lnTo>
                <a:lnTo>
                  <a:pt x="24547" y="3082"/>
                </a:lnTo>
                <a:lnTo>
                  <a:pt x="22511" y="986"/>
                </a:lnTo>
                <a:lnTo>
                  <a:pt x="16285" y="2095"/>
                </a:lnTo>
                <a:lnTo>
                  <a:pt x="7903" y="1602"/>
                </a:lnTo>
                <a:lnTo>
                  <a:pt x="4311" y="0"/>
                </a:lnTo>
                <a:lnTo>
                  <a:pt x="0" y="1109"/>
                </a:lnTo>
                <a:close/>
              </a:path>
            </a:pathLst>
          </a:custGeom>
          <a:solidFill>
            <a:srgbClr val="ded5c5"/>
          </a:solidFill>
          <a:ln w="6191">
            <a:solidFill>
              <a:srgbClr val="b5a68d"/>
            </a:solidFill>
            <a:round/>
          </a:ln>
        </p:spPr>
        <p:style>
          <a:lnRef idx="0"/>
          <a:fillRef idx="0"/>
          <a:effectRef idx="0"/>
          <a:fontRef idx="minor"/>
        </p:style>
        <p:txBody>
          <a:bodyPr lIns="90000" rIns="90000" tIns="-36360" bIns="-36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57" name="ซอยเพชรเกษม 112"/>
          <p:cNvSpPr/>
          <p:nvPr/>
        </p:nvSpPr>
        <p:spPr>
          <a:xfrm>
            <a:off x="3011400" y="5901480"/>
            <a:ext cx="20880" cy="23760"/>
          </a:xfrm>
          <a:custGeom>
            <a:avLst/>
            <a:gdLst/>
            <a:ahLst/>
            <a:rect l="l" t="t" r="r" b="b"/>
            <a:pathLst>
              <a:path w="21194" h="24283">
                <a:moveTo>
                  <a:pt x="12573" y="0"/>
                </a:moveTo>
                <a:lnTo>
                  <a:pt x="0" y="7149"/>
                </a:lnTo>
                <a:lnTo>
                  <a:pt x="10417" y="24283"/>
                </a:lnTo>
                <a:lnTo>
                  <a:pt x="21194" y="19229"/>
                </a:lnTo>
                <a:lnTo>
                  <a:pt x="12573" y="0"/>
                </a:lnTo>
                <a:close/>
              </a:path>
            </a:pathLst>
          </a:custGeom>
          <a:solidFill>
            <a:srgbClr val="ded5c5"/>
          </a:solidFill>
          <a:ln w="6191">
            <a:solidFill>
              <a:srgbClr val="b5a68d"/>
            </a:solidFill>
            <a:round/>
          </a:ln>
        </p:spPr>
        <p:style>
          <a:lnRef idx="0"/>
          <a:fillRef idx="0"/>
          <a:effectRef idx="0"/>
          <a:fontRef idx="minor"/>
        </p:style>
        <p:txBody>
          <a:bodyPr lIns="90000" rIns="90000" tIns="-21240" bIns="-21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58" name="ซอยหล่อพระ"/>
          <p:cNvSpPr/>
          <p:nvPr/>
        </p:nvSpPr>
        <p:spPr>
          <a:xfrm>
            <a:off x="3093480" y="5873400"/>
            <a:ext cx="5760" cy="35640"/>
          </a:xfrm>
          <a:custGeom>
            <a:avLst/>
            <a:gdLst/>
            <a:ahLst/>
            <a:rect l="l" t="t" r="r" b="b"/>
            <a:pathLst>
              <a:path w="5987" h="35993">
                <a:moveTo>
                  <a:pt x="838" y="15408"/>
                </a:moveTo>
                <a:lnTo>
                  <a:pt x="3472" y="35993"/>
                </a:lnTo>
                <a:lnTo>
                  <a:pt x="5628" y="35377"/>
                </a:lnTo>
                <a:lnTo>
                  <a:pt x="5987" y="29460"/>
                </a:lnTo>
                <a:lnTo>
                  <a:pt x="5029" y="0"/>
                </a:lnTo>
                <a:lnTo>
                  <a:pt x="0" y="1726"/>
                </a:lnTo>
                <a:lnTo>
                  <a:pt x="838" y="15408"/>
                </a:lnTo>
                <a:close/>
              </a:path>
            </a:pathLst>
          </a:custGeom>
          <a:solidFill>
            <a:srgbClr val="ded5c5"/>
          </a:solidFill>
          <a:ln w="6191">
            <a:solidFill>
              <a:srgbClr val="b5a68d"/>
            </a:solidFill>
            <a:round/>
          </a:ln>
        </p:spPr>
        <p:style>
          <a:lnRef idx="0"/>
          <a:fillRef idx="0"/>
          <a:effectRef idx="0"/>
          <a:fontRef idx="minor"/>
        </p:style>
        <p:txBody>
          <a:bodyPr lIns="90000" rIns="90000" tIns="-9360" bIns="-9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59" name="รักเจริญ"/>
          <p:cNvSpPr/>
          <p:nvPr/>
        </p:nvSpPr>
        <p:spPr>
          <a:xfrm>
            <a:off x="3156840" y="5793480"/>
            <a:ext cx="27360" cy="35280"/>
          </a:xfrm>
          <a:custGeom>
            <a:avLst/>
            <a:gdLst/>
            <a:ahLst/>
            <a:rect l="l" t="t" r="r" b="b"/>
            <a:pathLst>
              <a:path w="27780" h="35747">
                <a:moveTo>
                  <a:pt x="24547" y="35130"/>
                </a:moveTo>
                <a:lnTo>
                  <a:pt x="22631" y="13559"/>
                </a:lnTo>
                <a:lnTo>
                  <a:pt x="27780" y="12450"/>
                </a:lnTo>
                <a:lnTo>
                  <a:pt x="24547" y="0"/>
                </a:lnTo>
                <a:lnTo>
                  <a:pt x="8621" y="5177"/>
                </a:lnTo>
                <a:lnTo>
                  <a:pt x="10058" y="10847"/>
                </a:lnTo>
                <a:lnTo>
                  <a:pt x="239" y="12450"/>
                </a:lnTo>
                <a:lnTo>
                  <a:pt x="1676" y="19106"/>
                </a:lnTo>
                <a:lnTo>
                  <a:pt x="479" y="19229"/>
                </a:lnTo>
                <a:lnTo>
                  <a:pt x="0" y="22681"/>
                </a:lnTo>
                <a:lnTo>
                  <a:pt x="1916" y="22681"/>
                </a:lnTo>
                <a:lnTo>
                  <a:pt x="2036" y="33775"/>
                </a:lnTo>
                <a:lnTo>
                  <a:pt x="17482" y="35747"/>
                </a:lnTo>
                <a:lnTo>
                  <a:pt x="24547" y="35130"/>
                </a:lnTo>
                <a:close/>
              </a:path>
            </a:pathLst>
          </a:custGeom>
          <a:solidFill>
            <a:srgbClr val="ded5c5"/>
          </a:solidFill>
          <a:ln w="6191">
            <a:solidFill>
              <a:srgbClr val="b5a68d"/>
            </a:solidFill>
            <a:round/>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60" name="เลียบคลองมหาศร"/>
          <p:cNvSpPr/>
          <p:nvPr/>
        </p:nvSpPr>
        <p:spPr>
          <a:xfrm>
            <a:off x="3042000" y="5950080"/>
            <a:ext cx="42840" cy="32040"/>
          </a:xfrm>
          <a:custGeom>
            <a:avLst/>
            <a:gdLst/>
            <a:ahLst/>
            <a:rect l="l" t="t" r="r" b="b"/>
            <a:pathLst>
              <a:path w="43106" h="32419">
                <a:moveTo>
                  <a:pt x="40951" y="0"/>
                </a:moveTo>
                <a:lnTo>
                  <a:pt x="33886" y="1356"/>
                </a:lnTo>
                <a:lnTo>
                  <a:pt x="34246" y="4807"/>
                </a:lnTo>
                <a:lnTo>
                  <a:pt x="0" y="12203"/>
                </a:lnTo>
                <a:lnTo>
                  <a:pt x="1796" y="17997"/>
                </a:lnTo>
                <a:lnTo>
                  <a:pt x="14010" y="14915"/>
                </a:lnTo>
                <a:lnTo>
                  <a:pt x="10896" y="22927"/>
                </a:lnTo>
                <a:lnTo>
                  <a:pt x="13171" y="32419"/>
                </a:lnTo>
                <a:lnTo>
                  <a:pt x="23948" y="27735"/>
                </a:lnTo>
                <a:lnTo>
                  <a:pt x="20835" y="19476"/>
                </a:lnTo>
                <a:lnTo>
                  <a:pt x="22870" y="9368"/>
                </a:lnTo>
                <a:lnTo>
                  <a:pt x="43106" y="5177"/>
                </a:lnTo>
                <a:lnTo>
                  <a:pt x="42987" y="2342"/>
                </a:lnTo>
                <a:lnTo>
                  <a:pt x="40951" y="0"/>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61" name="วัดวงษ์ลาภาราม"/>
          <p:cNvSpPr/>
          <p:nvPr/>
        </p:nvSpPr>
        <p:spPr>
          <a:xfrm>
            <a:off x="3201840" y="5790960"/>
            <a:ext cx="30240" cy="21240"/>
          </a:xfrm>
          <a:custGeom>
            <a:avLst/>
            <a:gdLst/>
            <a:ahLst/>
            <a:rect l="l" t="t" r="r" b="b"/>
            <a:pathLst>
              <a:path w="30773" h="21571">
                <a:moveTo>
                  <a:pt x="27660" y="0"/>
                </a:moveTo>
                <a:lnTo>
                  <a:pt x="13650" y="1233"/>
                </a:lnTo>
                <a:lnTo>
                  <a:pt x="0" y="0"/>
                </a:lnTo>
                <a:lnTo>
                  <a:pt x="359" y="6780"/>
                </a:lnTo>
                <a:lnTo>
                  <a:pt x="18799" y="6040"/>
                </a:lnTo>
                <a:lnTo>
                  <a:pt x="21074" y="21571"/>
                </a:lnTo>
                <a:lnTo>
                  <a:pt x="30773" y="20092"/>
                </a:lnTo>
                <a:lnTo>
                  <a:pt x="27660" y="0"/>
                </a:lnTo>
                <a:close/>
              </a:path>
            </a:pathLst>
          </a:custGeom>
          <a:solidFill>
            <a:srgbClr val="ded5c5"/>
          </a:solidFill>
          <a:ln w="6191">
            <a:solidFill>
              <a:srgbClr val="b5a68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62" name="หมู่ 3 หนองค้างพลู"/>
          <p:cNvSpPr/>
          <p:nvPr/>
        </p:nvSpPr>
        <p:spPr>
          <a:xfrm>
            <a:off x="2989800" y="5717160"/>
            <a:ext cx="46440" cy="45360"/>
          </a:xfrm>
          <a:custGeom>
            <a:avLst/>
            <a:gdLst/>
            <a:ahLst/>
            <a:rect l="l" t="t" r="r" b="b"/>
            <a:pathLst>
              <a:path w="46818" h="45608">
                <a:moveTo>
                  <a:pt x="38436" y="0"/>
                </a:moveTo>
                <a:lnTo>
                  <a:pt x="12453" y="9984"/>
                </a:lnTo>
                <a:lnTo>
                  <a:pt x="12453" y="8629"/>
                </a:lnTo>
                <a:lnTo>
                  <a:pt x="0" y="11587"/>
                </a:lnTo>
                <a:lnTo>
                  <a:pt x="6226" y="45608"/>
                </a:lnTo>
                <a:lnTo>
                  <a:pt x="46818" y="21571"/>
                </a:lnTo>
                <a:lnTo>
                  <a:pt x="38436" y="0"/>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63" name="เจริญวิถี"/>
          <p:cNvSpPr/>
          <p:nvPr/>
        </p:nvSpPr>
        <p:spPr>
          <a:xfrm>
            <a:off x="3902400" y="5424120"/>
            <a:ext cx="21600" cy="53280"/>
          </a:xfrm>
          <a:custGeom>
            <a:avLst/>
            <a:gdLst/>
            <a:ahLst/>
            <a:rect l="l" t="t" r="r" b="b"/>
            <a:pathLst>
              <a:path w="21912" h="53620">
                <a:moveTo>
                  <a:pt x="8741" y="53620"/>
                </a:moveTo>
                <a:lnTo>
                  <a:pt x="11375" y="43512"/>
                </a:lnTo>
                <a:lnTo>
                  <a:pt x="15686" y="45115"/>
                </a:lnTo>
                <a:lnTo>
                  <a:pt x="18200" y="40801"/>
                </a:lnTo>
                <a:lnTo>
                  <a:pt x="21912" y="20708"/>
                </a:lnTo>
                <a:lnTo>
                  <a:pt x="21553" y="14915"/>
                </a:lnTo>
                <a:lnTo>
                  <a:pt x="19877" y="13929"/>
                </a:lnTo>
                <a:lnTo>
                  <a:pt x="20595" y="4438"/>
                </a:lnTo>
                <a:lnTo>
                  <a:pt x="12932" y="0"/>
                </a:lnTo>
                <a:lnTo>
                  <a:pt x="10537" y="1849"/>
                </a:lnTo>
                <a:lnTo>
                  <a:pt x="8382" y="9738"/>
                </a:lnTo>
                <a:lnTo>
                  <a:pt x="4430" y="8505"/>
                </a:lnTo>
                <a:lnTo>
                  <a:pt x="1437" y="22064"/>
                </a:lnTo>
                <a:lnTo>
                  <a:pt x="3113" y="22434"/>
                </a:lnTo>
                <a:lnTo>
                  <a:pt x="958" y="31063"/>
                </a:lnTo>
                <a:lnTo>
                  <a:pt x="3113" y="39568"/>
                </a:lnTo>
                <a:lnTo>
                  <a:pt x="0" y="51032"/>
                </a:lnTo>
                <a:lnTo>
                  <a:pt x="8741" y="53620"/>
                </a:lnTo>
                <a:close/>
              </a:path>
            </a:pathLst>
          </a:custGeom>
          <a:solidFill>
            <a:srgbClr val="ded5c5"/>
          </a:solidFill>
          <a:ln w="6191">
            <a:solidFill>
              <a:srgbClr val="b5a68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64" name="หมู่บ้านพัฒนาหมู่ 1 คลองขวาง"/>
          <p:cNvSpPr/>
          <p:nvPr/>
        </p:nvSpPr>
        <p:spPr>
          <a:xfrm>
            <a:off x="4002840" y="5507640"/>
            <a:ext cx="29880" cy="42120"/>
          </a:xfrm>
          <a:custGeom>
            <a:avLst/>
            <a:gdLst/>
            <a:ahLst/>
            <a:rect l="l" t="t" r="r" b="b"/>
            <a:pathLst>
              <a:path w="30174" h="42526">
                <a:moveTo>
                  <a:pt x="1197" y="17997"/>
                </a:moveTo>
                <a:lnTo>
                  <a:pt x="2515" y="42526"/>
                </a:lnTo>
                <a:lnTo>
                  <a:pt x="30174" y="40308"/>
                </a:lnTo>
                <a:lnTo>
                  <a:pt x="28977" y="0"/>
                </a:lnTo>
                <a:lnTo>
                  <a:pt x="16045" y="2219"/>
                </a:lnTo>
                <a:lnTo>
                  <a:pt x="0" y="2835"/>
                </a:lnTo>
                <a:lnTo>
                  <a:pt x="1197" y="17997"/>
                </a:lnTo>
                <a:close/>
              </a:path>
            </a:pathLst>
          </a:custGeom>
          <a:solidFill>
            <a:srgbClr val="ded5c5"/>
          </a:solidFill>
          <a:ln w="6191">
            <a:solidFill>
              <a:srgbClr val="b5a68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65" name="ซอยพูนบำเพ็ญ"/>
          <p:cNvSpPr/>
          <p:nvPr/>
        </p:nvSpPr>
        <p:spPr>
          <a:xfrm>
            <a:off x="3871080" y="5413680"/>
            <a:ext cx="32400" cy="57960"/>
          </a:xfrm>
          <a:custGeom>
            <a:avLst/>
            <a:gdLst/>
            <a:ahLst/>
            <a:rect l="l" t="t" r="r" b="b"/>
            <a:pathLst>
              <a:path w="32809" h="58427">
                <a:moveTo>
                  <a:pt x="22152" y="58427"/>
                </a:moveTo>
                <a:lnTo>
                  <a:pt x="29217" y="35377"/>
                </a:lnTo>
                <a:lnTo>
                  <a:pt x="26822" y="30816"/>
                </a:lnTo>
                <a:lnTo>
                  <a:pt x="32809" y="6410"/>
                </a:lnTo>
                <a:lnTo>
                  <a:pt x="0" y="0"/>
                </a:lnTo>
                <a:lnTo>
                  <a:pt x="3951" y="54113"/>
                </a:lnTo>
                <a:lnTo>
                  <a:pt x="22152" y="58427"/>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66" name="ราชมนตรีร่วมใจ"/>
          <p:cNvSpPr/>
          <p:nvPr/>
        </p:nvSpPr>
        <p:spPr>
          <a:xfrm>
            <a:off x="3980520" y="5545080"/>
            <a:ext cx="24120" cy="20160"/>
          </a:xfrm>
          <a:custGeom>
            <a:avLst/>
            <a:gdLst/>
            <a:ahLst/>
            <a:rect l="l" t="t" r="r" b="b"/>
            <a:pathLst>
              <a:path w="24547" h="20462">
                <a:moveTo>
                  <a:pt x="0" y="20462"/>
                </a:moveTo>
                <a:lnTo>
                  <a:pt x="24547" y="18613"/>
                </a:lnTo>
                <a:lnTo>
                  <a:pt x="23349" y="0"/>
                </a:lnTo>
                <a:lnTo>
                  <a:pt x="2515" y="2219"/>
                </a:lnTo>
                <a:lnTo>
                  <a:pt x="0" y="20462"/>
                </a:lnTo>
                <a:close/>
              </a:path>
            </a:pathLst>
          </a:custGeom>
          <a:solidFill>
            <a:srgbClr val="ded5c5"/>
          </a:solidFill>
          <a:ln w="6191">
            <a:solidFill>
              <a:srgbClr val="b5a68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67" name="กำแพงทองพัฒนา"/>
          <p:cNvSpPr/>
          <p:nvPr/>
        </p:nvSpPr>
        <p:spPr>
          <a:xfrm>
            <a:off x="4450320" y="5619600"/>
            <a:ext cx="36720" cy="44280"/>
          </a:xfrm>
          <a:custGeom>
            <a:avLst/>
            <a:gdLst/>
            <a:ahLst/>
            <a:rect l="l" t="t" r="r" b="b"/>
            <a:pathLst>
              <a:path w="37239" h="44622">
                <a:moveTo>
                  <a:pt x="22391" y="4314"/>
                </a:moveTo>
                <a:lnTo>
                  <a:pt x="19757" y="0"/>
                </a:lnTo>
                <a:lnTo>
                  <a:pt x="16524" y="1233"/>
                </a:lnTo>
                <a:lnTo>
                  <a:pt x="12932" y="10477"/>
                </a:lnTo>
                <a:lnTo>
                  <a:pt x="6466" y="13066"/>
                </a:lnTo>
                <a:lnTo>
                  <a:pt x="2395" y="20585"/>
                </a:lnTo>
                <a:lnTo>
                  <a:pt x="0" y="22064"/>
                </a:lnTo>
                <a:lnTo>
                  <a:pt x="9579" y="38582"/>
                </a:lnTo>
                <a:lnTo>
                  <a:pt x="12932" y="36486"/>
                </a:lnTo>
                <a:lnTo>
                  <a:pt x="18200" y="44622"/>
                </a:lnTo>
                <a:lnTo>
                  <a:pt x="22511" y="40554"/>
                </a:lnTo>
                <a:lnTo>
                  <a:pt x="35802" y="34144"/>
                </a:lnTo>
                <a:lnTo>
                  <a:pt x="37239" y="34637"/>
                </a:lnTo>
                <a:lnTo>
                  <a:pt x="22391" y="4314"/>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68" name="หลังวัดคูหาสวรรค์"/>
          <p:cNvSpPr/>
          <p:nvPr/>
        </p:nvSpPr>
        <p:spPr>
          <a:xfrm>
            <a:off x="4412160" y="5567400"/>
            <a:ext cx="57240" cy="77400"/>
          </a:xfrm>
          <a:custGeom>
            <a:avLst/>
            <a:gdLst/>
            <a:ahLst/>
            <a:rect l="l" t="t" r="r" b="b"/>
            <a:pathLst>
              <a:path w="57715" h="77657">
                <a:moveTo>
                  <a:pt x="0" y="15285"/>
                </a:moveTo>
                <a:lnTo>
                  <a:pt x="8023" y="37966"/>
                </a:lnTo>
                <a:lnTo>
                  <a:pt x="6586" y="40061"/>
                </a:lnTo>
                <a:lnTo>
                  <a:pt x="7184" y="43512"/>
                </a:lnTo>
                <a:lnTo>
                  <a:pt x="3592" y="45238"/>
                </a:lnTo>
                <a:lnTo>
                  <a:pt x="8621" y="61263"/>
                </a:lnTo>
                <a:lnTo>
                  <a:pt x="17721" y="77657"/>
                </a:lnTo>
                <a:lnTo>
                  <a:pt x="29815" y="76794"/>
                </a:lnTo>
                <a:lnTo>
                  <a:pt x="35922" y="74452"/>
                </a:lnTo>
                <a:lnTo>
                  <a:pt x="41071" y="69768"/>
                </a:lnTo>
                <a:lnTo>
                  <a:pt x="43466" y="64714"/>
                </a:lnTo>
                <a:lnTo>
                  <a:pt x="49333" y="61879"/>
                </a:lnTo>
                <a:lnTo>
                  <a:pt x="53643" y="53743"/>
                </a:lnTo>
                <a:lnTo>
                  <a:pt x="57715" y="51155"/>
                </a:lnTo>
                <a:lnTo>
                  <a:pt x="49932" y="37226"/>
                </a:lnTo>
                <a:lnTo>
                  <a:pt x="42148" y="0"/>
                </a:lnTo>
                <a:lnTo>
                  <a:pt x="30055" y="3205"/>
                </a:lnTo>
                <a:lnTo>
                  <a:pt x="0" y="15285"/>
                </a:lnTo>
                <a:close/>
              </a:path>
            </a:pathLst>
          </a:custGeom>
          <a:solidFill>
            <a:srgbClr val="ded5c5"/>
          </a:solidFill>
          <a:ln w="6191">
            <a:solidFill>
              <a:srgbClr val="b5a68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69" name="วิจิตรสัมพันธ์"/>
          <p:cNvSpPr/>
          <p:nvPr/>
        </p:nvSpPr>
        <p:spPr>
          <a:xfrm>
            <a:off x="4420440" y="5503320"/>
            <a:ext cx="16200" cy="25200"/>
          </a:xfrm>
          <a:custGeom>
            <a:avLst/>
            <a:gdLst/>
            <a:ahLst/>
            <a:rect l="l" t="t" r="r" b="b"/>
            <a:pathLst>
              <a:path w="16404" h="25639">
                <a:moveTo>
                  <a:pt x="13411" y="0"/>
                </a:moveTo>
                <a:lnTo>
                  <a:pt x="0" y="2712"/>
                </a:lnTo>
                <a:lnTo>
                  <a:pt x="2036" y="25639"/>
                </a:lnTo>
                <a:lnTo>
                  <a:pt x="16404" y="25023"/>
                </a:lnTo>
                <a:lnTo>
                  <a:pt x="13411" y="0"/>
                </a:lnTo>
                <a:close/>
              </a:path>
            </a:pathLst>
          </a:custGeom>
          <a:solidFill>
            <a:srgbClr val="ded5c5"/>
          </a:solidFill>
          <a:ln w="6191">
            <a:solidFill>
              <a:srgbClr val="b5a68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70" name="วิจิตรสามัคคี"/>
          <p:cNvSpPr/>
          <p:nvPr/>
        </p:nvSpPr>
        <p:spPr>
          <a:xfrm>
            <a:off x="4434480" y="5502240"/>
            <a:ext cx="14040" cy="30960"/>
          </a:xfrm>
          <a:custGeom>
            <a:avLst/>
            <a:gdLst/>
            <a:ahLst/>
            <a:rect l="l" t="t" r="r" b="b"/>
            <a:pathLst>
              <a:path w="14489" h="31309">
                <a:moveTo>
                  <a:pt x="0" y="863"/>
                </a:moveTo>
                <a:lnTo>
                  <a:pt x="2634" y="26009"/>
                </a:lnTo>
                <a:lnTo>
                  <a:pt x="8621" y="31309"/>
                </a:lnTo>
                <a:lnTo>
                  <a:pt x="14489" y="30693"/>
                </a:lnTo>
                <a:lnTo>
                  <a:pt x="12932" y="20462"/>
                </a:lnTo>
                <a:lnTo>
                  <a:pt x="13171" y="0"/>
                </a:lnTo>
                <a:lnTo>
                  <a:pt x="0" y="863"/>
                </a:lnTo>
                <a:close/>
              </a:path>
            </a:pathLst>
          </a:custGeom>
          <a:solidFill>
            <a:srgbClr val="ded5c5"/>
          </a:solidFill>
          <a:ln w="6191">
            <a:solidFill>
              <a:srgbClr val="b5a68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71" name="คลองพิทยาลงกรณ์"/>
          <p:cNvSpPr/>
          <p:nvPr/>
        </p:nvSpPr>
        <p:spPr>
          <a:xfrm>
            <a:off x="3787200" y="8008920"/>
            <a:ext cx="193680" cy="231840"/>
          </a:xfrm>
          <a:custGeom>
            <a:avLst/>
            <a:gdLst/>
            <a:ahLst/>
            <a:rect l="l" t="t" r="r" b="b"/>
            <a:pathLst>
              <a:path w="194218" h="232231">
                <a:moveTo>
                  <a:pt x="2036" y="228163"/>
                </a:moveTo>
                <a:lnTo>
                  <a:pt x="1078" y="226191"/>
                </a:lnTo>
                <a:lnTo>
                  <a:pt x="0" y="226807"/>
                </a:lnTo>
                <a:lnTo>
                  <a:pt x="1916" y="232231"/>
                </a:lnTo>
                <a:lnTo>
                  <a:pt x="182963" y="127579"/>
                </a:lnTo>
                <a:lnTo>
                  <a:pt x="179969" y="120183"/>
                </a:lnTo>
                <a:lnTo>
                  <a:pt x="194218" y="111431"/>
                </a:lnTo>
                <a:lnTo>
                  <a:pt x="192901" y="0"/>
                </a:lnTo>
                <a:lnTo>
                  <a:pt x="130876" y="19353"/>
                </a:lnTo>
                <a:lnTo>
                  <a:pt x="8023" y="18736"/>
                </a:lnTo>
                <a:lnTo>
                  <a:pt x="5867" y="92818"/>
                </a:lnTo>
                <a:lnTo>
                  <a:pt x="3951" y="94544"/>
                </a:lnTo>
                <a:lnTo>
                  <a:pt x="5867" y="94667"/>
                </a:lnTo>
                <a:lnTo>
                  <a:pt x="2036" y="22816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72" name="หัวป่า หมู่ที่8"/>
          <p:cNvSpPr/>
          <p:nvPr/>
        </p:nvSpPr>
        <p:spPr>
          <a:xfrm>
            <a:off x="4047840" y="7327800"/>
            <a:ext cx="252720" cy="180360"/>
          </a:xfrm>
          <a:custGeom>
            <a:avLst/>
            <a:gdLst/>
            <a:ahLst/>
            <a:rect l="l" t="t" r="r" b="b"/>
            <a:pathLst>
              <a:path w="253130" h="180583">
                <a:moveTo>
                  <a:pt x="253130" y="2096"/>
                </a:moveTo>
                <a:lnTo>
                  <a:pt x="249059" y="0"/>
                </a:lnTo>
                <a:lnTo>
                  <a:pt x="244509" y="4438"/>
                </a:lnTo>
                <a:lnTo>
                  <a:pt x="29695" y="1849"/>
                </a:lnTo>
                <a:lnTo>
                  <a:pt x="0" y="91339"/>
                </a:lnTo>
                <a:lnTo>
                  <a:pt x="30174" y="113897"/>
                </a:lnTo>
                <a:lnTo>
                  <a:pt x="36640" y="151739"/>
                </a:lnTo>
                <a:lnTo>
                  <a:pt x="43346" y="160244"/>
                </a:lnTo>
                <a:lnTo>
                  <a:pt x="58313" y="162833"/>
                </a:lnTo>
                <a:lnTo>
                  <a:pt x="73161" y="159505"/>
                </a:lnTo>
                <a:lnTo>
                  <a:pt x="76993" y="169242"/>
                </a:lnTo>
                <a:lnTo>
                  <a:pt x="94475" y="165421"/>
                </a:lnTo>
                <a:lnTo>
                  <a:pt x="110879" y="158765"/>
                </a:lnTo>
                <a:lnTo>
                  <a:pt x="129439" y="159258"/>
                </a:lnTo>
                <a:lnTo>
                  <a:pt x="131953" y="165668"/>
                </a:lnTo>
                <a:lnTo>
                  <a:pt x="159972" y="155067"/>
                </a:lnTo>
                <a:lnTo>
                  <a:pt x="192422" y="164065"/>
                </a:lnTo>
                <a:lnTo>
                  <a:pt x="189548" y="176392"/>
                </a:lnTo>
                <a:lnTo>
                  <a:pt x="191344" y="180583"/>
                </a:lnTo>
                <a:lnTo>
                  <a:pt x="213496" y="174666"/>
                </a:lnTo>
                <a:lnTo>
                  <a:pt x="217807" y="174913"/>
                </a:lnTo>
                <a:lnTo>
                  <a:pt x="222956" y="120430"/>
                </a:lnTo>
                <a:lnTo>
                  <a:pt x="217567" y="97502"/>
                </a:lnTo>
                <a:lnTo>
                  <a:pt x="218286" y="88751"/>
                </a:lnTo>
                <a:lnTo>
                  <a:pt x="222716" y="77780"/>
                </a:lnTo>
                <a:lnTo>
                  <a:pt x="220441" y="67919"/>
                </a:lnTo>
                <a:lnTo>
                  <a:pt x="230140" y="59783"/>
                </a:lnTo>
                <a:lnTo>
                  <a:pt x="233732" y="41787"/>
                </a:lnTo>
                <a:lnTo>
                  <a:pt x="239959" y="38335"/>
                </a:lnTo>
                <a:lnTo>
                  <a:pt x="251214" y="24776"/>
                </a:lnTo>
                <a:lnTo>
                  <a:pt x="253010" y="18366"/>
                </a:lnTo>
                <a:lnTo>
                  <a:pt x="252052" y="9861"/>
                </a:lnTo>
                <a:lnTo>
                  <a:pt x="253130" y="209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73" name="คลองรางยายเพียร"/>
          <p:cNvSpPr/>
          <p:nvPr/>
        </p:nvSpPr>
        <p:spPr>
          <a:xfrm>
            <a:off x="4093200" y="7632720"/>
            <a:ext cx="159120" cy="194400"/>
          </a:xfrm>
          <a:custGeom>
            <a:avLst/>
            <a:gdLst/>
            <a:ahLst/>
            <a:rect l="l" t="t" r="r" b="b"/>
            <a:pathLst>
              <a:path w="159613" h="194635">
                <a:moveTo>
                  <a:pt x="159613" y="11094"/>
                </a:moveTo>
                <a:lnTo>
                  <a:pt x="121177" y="0"/>
                </a:lnTo>
                <a:lnTo>
                  <a:pt x="90883" y="24899"/>
                </a:lnTo>
                <a:lnTo>
                  <a:pt x="42148" y="46594"/>
                </a:lnTo>
                <a:lnTo>
                  <a:pt x="39035" y="81478"/>
                </a:lnTo>
                <a:lnTo>
                  <a:pt x="16883" y="101077"/>
                </a:lnTo>
                <a:lnTo>
                  <a:pt x="0" y="110322"/>
                </a:lnTo>
                <a:lnTo>
                  <a:pt x="7663" y="124744"/>
                </a:lnTo>
                <a:lnTo>
                  <a:pt x="8741" y="134975"/>
                </a:lnTo>
                <a:lnTo>
                  <a:pt x="25145" y="149397"/>
                </a:lnTo>
                <a:lnTo>
                  <a:pt x="19039" y="179227"/>
                </a:lnTo>
                <a:lnTo>
                  <a:pt x="13890" y="194142"/>
                </a:lnTo>
                <a:lnTo>
                  <a:pt x="56038" y="194635"/>
                </a:lnTo>
                <a:lnTo>
                  <a:pt x="89925" y="175159"/>
                </a:lnTo>
                <a:lnTo>
                  <a:pt x="133630" y="155560"/>
                </a:lnTo>
                <a:lnTo>
                  <a:pt x="151591" y="153958"/>
                </a:lnTo>
                <a:lnTo>
                  <a:pt x="159613" y="1109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74" name="คลองยายเพียร"/>
          <p:cNvSpPr/>
          <p:nvPr/>
        </p:nvSpPr>
        <p:spPr>
          <a:xfrm>
            <a:off x="4059720" y="7261200"/>
            <a:ext cx="259560" cy="68040"/>
          </a:xfrm>
          <a:custGeom>
            <a:avLst/>
            <a:gdLst/>
            <a:ahLst/>
            <a:rect l="l" t="t" r="r" b="b"/>
            <a:pathLst>
              <a:path w="260075" h="68412">
                <a:moveTo>
                  <a:pt x="1078" y="26255"/>
                </a:moveTo>
                <a:lnTo>
                  <a:pt x="0" y="65454"/>
                </a:lnTo>
                <a:lnTo>
                  <a:pt x="159374" y="64098"/>
                </a:lnTo>
                <a:lnTo>
                  <a:pt x="241276" y="66440"/>
                </a:lnTo>
                <a:lnTo>
                  <a:pt x="244868" y="68412"/>
                </a:lnTo>
                <a:lnTo>
                  <a:pt x="250137" y="59907"/>
                </a:lnTo>
                <a:lnTo>
                  <a:pt x="257321" y="36117"/>
                </a:lnTo>
                <a:lnTo>
                  <a:pt x="260075" y="13313"/>
                </a:lnTo>
                <a:lnTo>
                  <a:pt x="161529" y="6533"/>
                </a:lnTo>
                <a:lnTo>
                  <a:pt x="133630" y="1109"/>
                </a:lnTo>
                <a:lnTo>
                  <a:pt x="65977" y="0"/>
                </a:lnTo>
                <a:lnTo>
                  <a:pt x="40472" y="1109"/>
                </a:lnTo>
                <a:lnTo>
                  <a:pt x="32809" y="18983"/>
                </a:lnTo>
                <a:lnTo>
                  <a:pt x="10777" y="15531"/>
                </a:lnTo>
                <a:lnTo>
                  <a:pt x="1078" y="26255"/>
                </a:lnTo>
                <a:close/>
              </a:path>
            </a:pathLst>
          </a:custGeom>
          <a:solidFill>
            <a:srgbClr val="ded5c5"/>
          </a:solidFill>
          <a:ln w="6191">
            <a:solidFill>
              <a:srgbClr val="b5a68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75" name="เชิงตาแพ (ศิษย์พ่อเสาธง)"/>
          <p:cNvSpPr/>
          <p:nvPr/>
        </p:nvSpPr>
        <p:spPr>
          <a:xfrm>
            <a:off x="3637800" y="7485120"/>
            <a:ext cx="529200" cy="334440"/>
          </a:xfrm>
          <a:custGeom>
            <a:avLst/>
            <a:gdLst/>
            <a:ahLst/>
            <a:rect l="l" t="t" r="r" b="b"/>
            <a:pathLst>
              <a:path w="529729" h="334910">
                <a:moveTo>
                  <a:pt x="438847" y="53743"/>
                </a:moveTo>
                <a:lnTo>
                  <a:pt x="423400" y="56579"/>
                </a:lnTo>
                <a:lnTo>
                  <a:pt x="394303" y="0"/>
                </a:lnTo>
                <a:lnTo>
                  <a:pt x="379336" y="8012"/>
                </a:lnTo>
                <a:lnTo>
                  <a:pt x="318508" y="26255"/>
                </a:lnTo>
                <a:lnTo>
                  <a:pt x="315515" y="41787"/>
                </a:lnTo>
                <a:lnTo>
                  <a:pt x="279473" y="44252"/>
                </a:lnTo>
                <a:lnTo>
                  <a:pt x="283903" y="55592"/>
                </a:lnTo>
                <a:lnTo>
                  <a:pt x="278994" y="57811"/>
                </a:lnTo>
                <a:lnTo>
                  <a:pt x="283903" y="67672"/>
                </a:lnTo>
                <a:lnTo>
                  <a:pt x="298511" y="79259"/>
                </a:lnTo>
                <a:lnTo>
                  <a:pt x="276360" y="89737"/>
                </a:lnTo>
                <a:lnTo>
                  <a:pt x="262829" y="67426"/>
                </a:lnTo>
                <a:lnTo>
                  <a:pt x="244509" y="62742"/>
                </a:lnTo>
                <a:lnTo>
                  <a:pt x="238761" y="54976"/>
                </a:lnTo>
                <a:lnTo>
                  <a:pt x="224273" y="53374"/>
                </a:lnTo>
                <a:lnTo>
                  <a:pt x="211940" y="54360"/>
                </a:lnTo>
                <a:lnTo>
                  <a:pt x="201881" y="57688"/>
                </a:lnTo>
                <a:lnTo>
                  <a:pt x="199846" y="66563"/>
                </a:lnTo>
                <a:lnTo>
                  <a:pt x="195535" y="67919"/>
                </a:lnTo>
                <a:lnTo>
                  <a:pt x="184998" y="66563"/>
                </a:lnTo>
                <a:lnTo>
                  <a:pt x="168713" y="69152"/>
                </a:lnTo>
                <a:lnTo>
                  <a:pt x="169791" y="75068"/>
                </a:lnTo>
                <a:lnTo>
                  <a:pt x="166678" y="81231"/>
                </a:lnTo>
                <a:lnTo>
                  <a:pt x="154584" y="83820"/>
                </a:lnTo>
                <a:lnTo>
                  <a:pt x="226668" y="227547"/>
                </a:lnTo>
                <a:lnTo>
                  <a:pt x="213616" y="237531"/>
                </a:lnTo>
                <a:lnTo>
                  <a:pt x="199846" y="242585"/>
                </a:lnTo>
                <a:lnTo>
                  <a:pt x="180927" y="246406"/>
                </a:lnTo>
                <a:lnTo>
                  <a:pt x="150992" y="241106"/>
                </a:lnTo>
                <a:lnTo>
                  <a:pt x="98785" y="250474"/>
                </a:lnTo>
                <a:lnTo>
                  <a:pt x="80226" y="256144"/>
                </a:lnTo>
                <a:lnTo>
                  <a:pt x="56278" y="265266"/>
                </a:lnTo>
                <a:lnTo>
                  <a:pt x="55320" y="267115"/>
                </a:lnTo>
                <a:lnTo>
                  <a:pt x="30534" y="275990"/>
                </a:lnTo>
                <a:lnTo>
                  <a:pt x="18440" y="270813"/>
                </a:lnTo>
                <a:lnTo>
                  <a:pt x="11495" y="270566"/>
                </a:lnTo>
                <a:lnTo>
                  <a:pt x="2036" y="267731"/>
                </a:lnTo>
                <a:lnTo>
                  <a:pt x="0" y="281413"/>
                </a:lnTo>
                <a:lnTo>
                  <a:pt x="2754" y="293493"/>
                </a:lnTo>
                <a:lnTo>
                  <a:pt x="6945" y="296821"/>
                </a:lnTo>
                <a:lnTo>
                  <a:pt x="9220" y="301136"/>
                </a:lnTo>
                <a:lnTo>
                  <a:pt x="9220" y="307915"/>
                </a:lnTo>
                <a:lnTo>
                  <a:pt x="13291" y="310381"/>
                </a:lnTo>
                <a:lnTo>
                  <a:pt x="18200" y="321721"/>
                </a:lnTo>
                <a:lnTo>
                  <a:pt x="21793" y="325912"/>
                </a:lnTo>
                <a:lnTo>
                  <a:pt x="34126" y="327638"/>
                </a:lnTo>
                <a:lnTo>
                  <a:pt x="38436" y="331212"/>
                </a:lnTo>
                <a:lnTo>
                  <a:pt x="50291" y="331212"/>
                </a:lnTo>
                <a:lnTo>
                  <a:pt x="54961" y="328747"/>
                </a:lnTo>
                <a:lnTo>
                  <a:pt x="59511" y="329240"/>
                </a:lnTo>
                <a:lnTo>
                  <a:pt x="62624" y="334910"/>
                </a:lnTo>
                <a:lnTo>
                  <a:pt x="69329" y="334664"/>
                </a:lnTo>
                <a:lnTo>
                  <a:pt x="75197" y="331212"/>
                </a:lnTo>
                <a:lnTo>
                  <a:pt x="83459" y="334294"/>
                </a:lnTo>
                <a:lnTo>
                  <a:pt x="87290" y="333554"/>
                </a:lnTo>
                <a:lnTo>
                  <a:pt x="91481" y="329733"/>
                </a:lnTo>
                <a:lnTo>
                  <a:pt x="104174" y="328870"/>
                </a:lnTo>
                <a:lnTo>
                  <a:pt x="117106" y="320488"/>
                </a:lnTo>
                <a:lnTo>
                  <a:pt x="123572" y="306559"/>
                </a:lnTo>
                <a:lnTo>
                  <a:pt x="125368" y="305573"/>
                </a:lnTo>
                <a:lnTo>
                  <a:pt x="133151" y="305943"/>
                </a:lnTo>
                <a:lnTo>
                  <a:pt x="135067" y="310134"/>
                </a:lnTo>
                <a:lnTo>
                  <a:pt x="141293" y="312723"/>
                </a:lnTo>
                <a:lnTo>
                  <a:pt x="158176" y="309641"/>
                </a:lnTo>
                <a:lnTo>
                  <a:pt x="173623" y="312723"/>
                </a:lnTo>
                <a:lnTo>
                  <a:pt x="188471" y="306313"/>
                </a:lnTo>
                <a:lnTo>
                  <a:pt x="198768" y="307052"/>
                </a:lnTo>
                <a:lnTo>
                  <a:pt x="208826" y="300519"/>
                </a:lnTo>
                <a:lnTo>
                  <a:pt x="215292" y="301136"/>
                </a:lnTo>
                <a:lnTo>
                  <a:pt x="219962" y="293123"/>
                </a:lnTo>
                <a:lnTo>
                  <a:pt x="217687" y="285851"/>
                </a:lnTo>
                <a:lnTo>
                  <a:pt x="223914" y="279195"/>
                </a:lnTo>
                <a:lnTo>
                  <a:pt x="227985" y="281783"/>
                </a:lnTo>
                <a:lnTo>
                  <a:pt x="236726" y="275866"/>
                </a:lnTo>
                <a:lnTo>
                  <a:pt x="242114" y="284125"/>
                </a:lnTo>
                <a:lnTo>
                  <a:pt x="246425" y="283879"/>
                </a:lnTo>
                <a:lnTo>
                  <a:pt x="253250" y="281413"/>
                </a:lnTo>
                <a:lnTo>
                  <a:pt x="270852" y="270443"/>
                </a:lnTo>
                <a:lnTo>
                  <a:pt x="282227" y="260705"/>
                </a:lnTo>
                <a:lnTo>
                  <a:pt x="325094" y="251583"/>
                </a:lnTo>
                <a:lnTo>
                  <a:pt x="352035" y="238887"/>
                </a:lnTo>
                <a:lnTo>
                  <a:pt x="380773" y="217192"/>
                </a:lnTo>
                <a:lnTo>
                  <a:pt x="394902" y="210166"/>
                </a:lnTo>
                <a:lnTo>
                  <a:pt x="428908" y="199689"/>
                </a:lnTo>
                <a:lnTo>
                  <a:pt x="466147" y="197224"/>
                </a:lnTo>
                <a:lnTo>
                  <a:pt x="472853" y="195375"/>
                </a:lnTo>
                <a:lnTo>
                  <a:pt x="497280" y="182432"/>
                </a:lnTo>
                <a:lnTo>
                  <a:pt x="516558" y="167640"/>
                </a:lnTo>
                <a:lnTo>
                  <a:pt x="519072" y="158395"/>
                </a:lnTo>
                <a:lnTo>
                  <a:pt x="529729" y="137440"/>
                </a:lnTo>
                <a:lnTo>
                  <a:pt x="521826" y="125607"/>
                </a:lnTo>
                <a:lnTo>
                  <a:pt x="509972" y="139659"/>
                </a:lnTo>
                <a:lnTo>
                  <a:pt x="504584" y="136084"/>
                </a:lnTo>
                <a:lnTo>
                  <a:pt x="470697" y="91339"/>
                </a:lnTo>
                <a:lnTo>
                  <a:pt x="456329" y="89367"/>
                </a:lnTo>
                <a:lnTo>
                  <a:pt x="448546" y="75191"/>
                </a:lnTo>
                <a:lnTo>
                  <a:pt x="448306" y="71124"/>
                </a:lnTo>
                <a:lnTo>
                  <a:pt x="443995" y="65207"/>
                </a:lnTo>
                <a:lnTo>
                  <a:pt x="444953" y="63974"/>
                </a:lnTo>
                <a:lnTo>
                  <a:pt x="443037" y="63112"/>
                </a:lnTo>
                <a:lnTo>
                  <a:pt x="438847" y="5374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76" name="ซอยนายเจียก"/>
          <p:cNvSpPr/>
          <p:nvPr/>
        </p:nvSpPr>
        <p:spPr>
          <a:xfrm>
            <a:off x="4231800" y="6434640"/>
            <a:ext cx="30600" cy="20520"/>
          </a:xfrm>
          <a:custGeom>
            <a:avLst/>
            <a:gdLst/>
            <a:ahLst/>
            <a:rect l="l" t="t" r="r" b="b"/>
            <a:pathLst>
              <a:path w="31013" h="20832">
                <a:moveTo>
                  <a:pt x="0" y="5177"/>
                </a:moveTo>
                <a:lnTo>
                  <a:pt x="17961" y="10724"/>
                </a:lnTo>
                <a:lnTo>
                  <a:pt x="16764" y="15038"/>
                </a:lnTo>
                <a:lnTo>
                  <a:pt x="25145" y="17873"/>
                </a:lnTo>
                <a:lnTo>
                  <a:pt x="24666" y="19599"/>
                </a:lnTo>
                <a:lnTo>
                  <a:pt x="28378" y="20832"/>
                </a:lnTo>
                <a:lnTo>
                  <a:pt x="31013" y="17380"/>
                </a:lnTo>
                <a:lnTo>
                  <a:pt x="29576" y="12080"/>
                </a:lnTo>
                <a:lnTo>
                  <a:pt x="22870" y="3205"/>
                </a:lnTo>
                <a:lnTo>
                  <a:pt x="8142" y="0"/>
                </a:lnTo>
                <a:lnTo>
                  <a:pt x="0" y="5177"/>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77" name="ทรัพย์สินพัฒนา"/>
          <p:cNvSpPr/>
          <p:nvPr/>
        </p:nvSpPr>
        <p:spPr>
          <a:xfrm>
            <a:off x="3573360" y="6874200"/>
            <a:ext cx="39960" cy="45360"/>
          </a:xfrm>
          <a:custGeom>
            <a:avLst/>
            <a:gdLst/>
            <a:ahLst/>
            <a:rect l="l" t="t" r="r" b="b"/>
            <a:pathLst>
              <a:path w="40352" h="45731">
                <a:moveTo>
                  <a:pt x="1317" y="44868"/>
                </a:moveTo>
                <a:lnTo>
                  <a:pt x="28019" y="45731"/>
                </a:lnTo>
                <a:lnTo>
                  <a:pt x="39873" y="44499"/>
                </a:lnTo>
                <a:lnTo>
                  <a:pt x="40352" y="35870"/>
                </a:lnTo>
                <a:lnTo>
                  <a:pt x="35084" y="21818"/>
                </a:lnTo>
                <a:lnTo>
                  <a:pt x="36161" y="21571"/>
                </a:lnTo>
                <a:lnTo>
                  <a:pt x="35682" y="19846"/>
                </a:lnTo>
                <a:lnTo>
                  <a:pt x="32090" y="16517"/>
                </a:lnTo>
                <a:lnTo>
                  <a:pt x="22870" y="0"/>
                </a:lnTo>
                <a:lnTo>
                  <a:pt x="0" y="7889"/>
                </a:lnTo>
                <a:lnTo>
                  <a:pt x="1317" y="44868"/>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78" name="บางกระดี่หมู่ 2"/>
          <p:cNvSpPr/>
          <p:nvPr/>
        </p:nvSpPr>
        <p:spPr>
          <a:xfrm>
            <a:off x="3691080" y="7081920"/>
            <a:ext cx="86040" cy="138960"/>
          </a:xfrm>
          <a:custGeom>
            <a:avLst/>
            <a:gdLst/>
            <a:ahLst/>
            <a:rect l="l" t="t" r="r" b="b"/>
            <a:pathLst>
              <a:path w="86572" h="139166">
                <a:moveTo>
                  <a:pt x="33288" y="139166"/>
                </a:moveTo>
                <a:lnTo>
                  <a:pt x="68012" y="130907"/>
                </a:lnTo>
                <a:lnTo>
                  <a:pt x="75197" y="125607"/>
                </a:lnTo>
                <a:lnTo>
                  <a:pt x="86572" y="120183"/>
                </a:lnTo>
                <a:lnTo>
                  <a:pt x="71006" y="91586"/>
                </a:lnTo>
                <a:lnTo>
                  <a:pt x="69210" y="85546"/>
                </a:lnTo>
                <a:lnTo>
                  <a:pt x="65138" y="81231"/>
                </a:lnTo>
                <a:lnTo>
                  <a:pt x="59630" y="65330"/>
                </a:lnTo>
                <a:lnTo>
                  <a:pt x="59032" y="58674"/>
                </a:lnTo>
                <a:lnTo>
                  <a:pt x="65138" y="15901"/>
                </a:lnTo>
                <a:lnTo>
                  <a:pt x="65737" y="7273"/>
                </a:lnTo>
                <a:lnTo>
                  <a:pt x="63821" y="0"/>
                </a:lnTo>
                <a:lnTo>
                  <a:pt x="42627" y="11217"/>
                </a:lnTo>
                <a:lnTo>
                  <a:pt x="33767" y="32295"/>
                </a:lnTo>
                <a:lnTo>
                  <a:pt x="13531" y="40801"/>
                </a:lnTo>
                <a:lnTo>
                  <a:pt x="10896" y="72726"/>
                </a:lnTo>
                <a:lnTo>
                  <a:pt x="4909" y="74575"/>
                </a:lnTo>
                <a:lnTo>
                  <a:pt x="0" y="78273"/>
                </a:lnTo>
                <a:lnTo>
                  <a:pt x="1078" y="97502"/>
                </a:lnTo>
                <a:lnTo>
                  <a:pt x="11495" y="99475"/>
                </a:lnTo>
                <a:lnTo>
                  <a:pt x="13650" y="104405"/>
                </a:lnTo>
                <a:lnTo>
                  <a:pt x="19398" y="105761"/>
                </a:lnTo>
                <a:lnTo>
                  <a:pt x="33288" y="13916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79" name="บางกระดี่หมู่ 8"/>
          <p:cNvSpPr/>
          <p:nvPr/>
        </p:nvSpPr>
        <p:spPr>
          <a:xfrm>
            <a:off x="3732120" y="7206840"/>
            <a:ext cx="120600" cy="101520"/>
          </a:xfrm>
          <a:custGeom>
            <a:avLst/>
            <a:gdLst/>
            <a:ahLst/>
            <a:rect l="l" t="t" r="r" b="b"/>
            <a:pathLst>
              <a:path w="120818" h="101817">
                <a:moveTo>
                  <a:pt x="61427" y="7642"/>
                </a:moveTo>
                <a:lnTo>
                  <a:pt x="0" y="54976"/>
                </a:lnTo>
                <a:lnTo>
                  <a:pt x="19757" y="85669"/>
                </a:lnTo>
                <a:lnTo>
                  <a:pt x="26343" y="101817"/>
                </a:lnTo>
                <a:lnTo>
                  <a:pt x="120818" y="52264"/>
                </a:lnTo>
                <a:lnTo>
                  <a:pt x="116746" y="41047"/>
                </a:lnTo>
                <a:lnTo>
                  <a:pt x="80824" y="0"/>
                </a:lnTo>
                <a:lnTo>
                  <a:pt x="68012" y="3821"/>
                </a:lnTo>
                <a:lnTo>
                  <a:pt x="61427" y="764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80" name="บางกระดี่หมู่ 9"/>
          <p:cNvSpPr/>
          <p:nvPr/>
        </p:nvSpPr>
        <p:spPr>
          <a:xfrm>
            <a:off x="3702240" y="7261560"/>
            <a:ext cx="55800" cy="46440"/>
          </a:xfrm>
          <a:custGeom>
            <a:avLst/>
            <a:gdLst/>
            <a:ahLst/>
            <a:rect l="l" t="t" r="r" b="b"/>
            <a:pathLst>
              <a:path w="56038" h="46964">
                <a:moveTo>
                  <a:pt x="29815" y="0"/>
                </a:moveTo>
                <a:lnTo>
                  <a:pt x="16644" y="17134"/>
                </a:lnTo>
                <a:lnTo>
                  <a:pt x="4550" y="18366"/>
                </a:lnTo>
                <a:lnTo>
                  <a:pt x="0" y="21941"/>
                </a:lnTo>
                <a:lnTo>
                  <a:pt x="10058" y="37719"/>
                </a:lnTo>
                <a:lnTo>
                  <a:pt x="10537" y="46101"/>
                </a:lnTo>
                <a:lnTo>
                  <a:pt x="56038" y="46964"/>
                </a:lnTo>
                <a:lnTo>
                  <a:pt x="47178" y="26995"/>
                </a:lnTo>
                <a:lnTo>
                  <a:pt x="29815" y="0"/>
                </a:lnTo>
                <a:close/>
              </a:path>
            </a:pathLst>
          </a:custGeom>
          <a:solidFill>
            <a:srgbClr val="ded5c5"/>
          </a:solidFill>
          <a:ln w="6191">
            <a:solidFill>
              <a:srgbClr val="b5a68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81" name="ราษฎร์บูรณะ39"/>
          <p:cNvSpPr/>
          <p:nvPr/>
        </p:nvSpPr>
        <p:spPr>
          <a:xfrm>
            <a:off x="5135400" y="6347160"/>
            <a:ext cx="25200" cy="50040"/>
          </a:xfrm>
          <a:custGeom>
            <a:avLst/>
            <a:gdLst/>
            <a:ahLst/>
            <a:rect l="l" t="t" r="r" b="b"/>
            <a:pathLst>
              <a:path w="25624" h="50292">
                <a:moveTo>
                  <a:pt x="0" y="0"/>
                </a:moveTo>
                <a:lnTo>
                  <a:pt x="958" y="15285"/>
                </a:lnTo>
                <a:lnTo>
                  <a:pt x="7304" y="50292"/>
                </a:lnTo>
                <a:lnTo>
                  <a:pt x="17721" y="45854"/>
                </a:lnTo>
                <a:lnTo>
                  <a:pt x="17961" y="43636"/>
                </a:lnTo>
                <a:lnTo>
                  <a:pt x="24068" y="36363"/>
                </a:lnTo>
                <a:lnTo>
                  <a:pt x="25624" y="36486"/>
                </a:lnTo>
                <a:lnTo>
                  <a:pt x="17721" y="11833"/>
                </a:lnTo>
                <a:lnTo>
                  <a:pt x="24187" y="7889"/>
                </a:lnTo>
                <a:lnTo>
                  <a:pt x="24427" y="5300"/>
                </a:lnTo>
                <a:lnTo>
                  <a:pt x="16764" y="123"/>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5040" bIns="5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82" name="ตึก60ปี"/>
          <p:cNvSpPr/>
          <p:nvPr/>
        </p:nvSpPr>
        <p:spPr>
          <a:xfrm>
            <a:off x="5066640" y="6343920"/>
            <a:ext cx="21240" cy="25560"/>
          </a:xfrm>
          <a:custGeom>
            <a:avLst/>
            <a:gdLst/>
            <a:ahLst/>
            <a:rect l="l" t="t" r="r" b="b"/>
            <a:pathLst>
              <a:path w="21673" h="25762">
                <a:moveTo>
                  <a:pt x="0" y="1972"/>
                </a:moveTo>
                <a:lnTo>
                  <a:pt x="5149" y="23667"/>
                </a:lnTo>
                <a:lnTo>
                  <a:pt x="13171" y="22681"/>
                </a:lnTo>
                <a:lnTo>
                  <a:pt x="14129" y="25762"/>
                </a:lnTo>
                <a:lnTo>
                  <a:pt x="21673" y="23790"/>
                </a:lnTo>
                <a:lnTo>
                  <a:pt x="18919" y="11587"/>
                </a:lnTo>
                <a:lnTo>
                  <a:pt x="11375" y="13682"/>
                </a:lnTo>
                <a:lnTo>
                  <a:pt x="8142" y="0"/>
                </a:lnTo>
                <a:lnTo>
                  <a:pt x="0" y="1972"/>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83" name="ซอยรถไฟวรพงษ์"/>
          <p:cNvSpPr/>
          <p:nvPr/>
        </p:nvSpPr>
        <p:spPr>
          <a:xfrm>
            <a:off x="4765680" y="5032800"/>
            <a:ext cx="60120" cy="28440"/>
          </a:xfrm>
          <a:custGeom>
            <a:avLst/>
            <a:gdLst/>
            <a:ahLst/>
            <a:rect l="l" t="t" r="r" b="b"/>
            <a:pathLst>
              <a:path w="60588" h="28844">
                <a:moveTo>
                  <a:pt x="56996" y="8875"/>
                </a:moveTo>
                <a:lnTo>
                  <a:pt x="40712" y="10108"/>
                </a:lnTo>
                <a:lnTo>
                  <a:pt x="21673" y="8998"/>
                </a:lnTo>
                <a:lnTo>
                  <a:pt x="838" y="0"/>
                </a:lnTo>
                <a:lnTo>
                  <a:pt x="0" y="1726"/>
                </a:lnTo>
                <a:lnTo>
                  <a:pt x="3472" y="3082"/>
                </a:lnTo>
                <a:lnTo>
                  <a:pt x="1557" y="7889"/>
                </a:lnTo>
                <a:lnTo>
                  <a:pt x="10058" y="11217"/>
                </a:lnTo>
                <a:lnTo>
                  <a:pt x="9340" y="12943"/>
                </a:lnTo>
                <a:lnTo>
                  <a:pt x="12692" y="14668"/>
                </a:lnTo>
                <a:lnTo>
                  <a:pt x="27061" y="19229"/>
                </a:lnTo>
                <a:lnTo>
                  <a:pt x="26702" y="21941"/>
                </a:lnTo>
                <a:lnTo>
                  <a:pt x="32090" y="25639"/>
                </a:lnTo>
                <a:lnTo>
                  <a:pt x="31252" y="27611"/>
                </a:lnTo>
                <a:lnTo>
                  <a:pt x="33168" y="28844"/>
                </a:lnTo>
                <a:lnTo>
                  <a:pt x="34725" y="23790"/>
                </a:lnTo>
                <a:lnTo>
                  <a:pt x="48255" y="27735"/>
                </a:lnTo>
                <a:lnTo>
                  <a:pt x="49692" y="24283"/>
                </a:lnTo>
                <a:lnTo>
                  <a:pt x="54003" y="25146"/>
                </a:lnTo>
                <a:lnTo>
                  <a:pt x="60588" y="10231"/>
                </a:lnTo>
                <a:lnTo>
                  <a:pt x="56996" y="8875"/>
                </a:lnTo>
                <a:close/>
              </a:path>
            </a:pathLst>
          </a:custGeom>
          <a:solidFill>
            <a:srgbClr val="ded5c5"/>
          </a:solidFill>
          <a:ln w="6191">
            <a:solidFill>
              <a:srgbClr val="b5a68d"/>
            </a:solidFill>
            <a:round/>
          </a:ln>
        </p:spPr>
        <p:style>
          <a:lnRef idx="0"/>
          <a:fillRef idx="0"/>
          <a:effectRef idx="0"/>
          <a:fontRef idx="minor"/>
        </p:style>
        <p:txBody>
          <a:bodyPr lIns="90000" rIns="90000" tIns="-16560" bIns="-16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84" name="ร่วมพัฒนาซอยจรัญฯ 65"/>
          <p:cNvSpPr/>
          <p:nvPr/>
        </p:nvSpPr>
        <p:spPr>
          <a:xfrm>
            <a:off x="4710960" y="4933080"/>
            <a:ext cx="53280" cy="31320"/>
          </a:xfrm>
          <a:custGeom>
            <a:avLst/>
            <a:gdLst/>
            <a:ahLst/>
            <a:rect l="l" t="t" r="r" b="b"/>
            <a:pathLst>
              <a:path w="53763" h="31679">
                <a:moveTo>
                  <a:pt x="32090" y="5300"/>
                </a:moveTo>
                <a:lnTo>
                  <a:pt x="32330" y="7273"/>
                </a:lnTo>
                <a:lnTo>
                  <a:pt x="34246" y="8135"/>
                </a:lnTo>
                <a:lnTo>
                  <a:pt x="33048" y="11587"/>
                </a:lnTo>
                <a:lnTo>
                  <a:pt x="3951" y="0"/>
                </a:lnTo>
                <a:lnTo>
                  <a:pt x="0" y="7396"/>
                </a:lnTo>
                <a:lnTo>
                  <a:pt x="27899" y="19476"/>
                </a:lnTo>
                <a:lnTo>
                  <a:pt x="26463" y="23297"/>
                </a:lnTo>
                <a:lnTo>
                  <a:pt x="29336" y="24406"/>
                </a:lnTo>
                <a:lnTo>
                  <a:pt x="28738" y="26255"/>
                </a:lnTo>
                <a:lnTo>
                  <a:pt x="48495" y="31679"/>
                </a:lnTo>
                <a:lnTo>
                  <a:pt x="53763" y="15285"/>
                </a:lnTo>
                <a:lnTo>
                  <a:pt x="39993" y="11340"/>
                </a:lnTo>
                <a:lnTo>
                  <a:pt x="41430" y="6040"/>
                </a:lnTo>
                <a:lnTo>
                  <a:pt x="36521" y="4684"/>
                </a:lnTo>
                <a:lnTo>
                  <a:pt x="37239" y="2465"/>
                </a:lnTo>
                <a:lnTo>
                  <a:pt x="32928" y="986"/>
                </a:lnTo>
                <a:lnTo>
                  <a:pt x="32090" y="5300"/>
                </a:lnTo>
                <a:close/>
              </a:path>
            </a:pathLst>
          </a:custGeom>
          <a:solidFill>
            <a:srgbClr val="ded5c5"/>
          </a:solidFill>
          <a:ln w="6191">
            <a:solidFill>
              <a:srgbClr val="b5a68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85" name="คลองสาม"/>
          <p:cNvSpPr/>
          <p:nvPr/>
        </p:nvSpPr>
        <p:spPr>
          <a:xfrm>
            <a:off x="3879720" y="7792200"/>
            <a:ext cx="368640" cy="234720"/>
          </a:xfrm>
          <a:custGeom>
            <a:avLst/>
            <a:gdLst/>
            <a:ahLst/>
            <a:rect l="l" t="t" r="r" b="b"/>
            <a:pathLst>
              <a:path w="369038" h="234943">
                <a:moveTo>
                  <a:pt x="0" y="233833"/>
                </a:moveTo>
                <a:lnTo>
                  <a:pt x="37239" y="234943"/>
                </a:lnTo>
                <a:lnTo>
                  <a:pt x="51608" y="224588"/>
                </a:lnTo>
                <a:lnTo>
                  <a:pt x="97947" y="215343"/>
                </a:lnTo>
                <a:lnTo>
                  <a:pt x="296715" y="104405"/>
                </a:lnTo>
                <a:lnTo>
                  <a:pt x="369038" y="61016"/>
                </a:lnTo>
                <a:lnTo>
                  <a:pt x="365087" y="0"/>
                </a:lnTo>
                <a:lnTo>
                  <a:pt x="349760" y="1972"/>
                </a:lnTo>
                <a:lnTo>
                  <a:pt x="305217" y="14422"/>
                </a:lnTo>
                <a:lnTo>
                  <a:pt x="246664" y="48443"/>
                </a:lnTo>
                <a:lnTo>
                  <a:pt x="187034" y="54606"/>
                </a:lnTo>
                <a:lnTo>
                  <a:pt x="76634" y="121662"/>
                </a:lnTo>
                <a:lnTo>
                  <a:pt x="66336" y="141878"/>
                </a:lnTo>
                <a:lnTo>
                  <a:pt x="64300" y="153218"/>
                </a:lnTo>
                <a:lnTo>
                  <a:pt x="53284" y="181446"/>
                </a:lnTo>
                <a:lnTo>
                  <a:pt x="42148" y="182308"/>
                </a:lnTo>
                <a:lnTo>
                  <a:pt x="6466" y="198826"/>
                </a:lnTo>
                <a:lnTo>
                  <a:pt x="0" y="23383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86" name="แสนตอ"/>
          <p:cNvSpPr/>
          <p:nvPr/>
        </p:nvSpPr>
        <p:spPr>
          <a:xfrm>
            <a:off x="4010400" y="7969680"/>
            <a:ext cx="303840" cy="314640"/>
          </a:xfrm>
          <a:custGeom>
            <a:avLst/>
            <a:gdLst/>
            <a:ahLst/>
            <a:rect l="l" t="t" r="r" b="b"/>
            <a:pathLst>
              <a:path w="304259" h="314941">
                <a:moveTo>
                  <a:pt x="0" y="151616"/>
                </a:moveTo>
                <a:lnTo>
                  <a:pt x="36281" y="314941"/>
                </a:lnTo>
                <a:lnTo>
                  <a:pt x="304259" y="281167"/>
                </a:lnTo>
                <a:lnTo>
                  <a:pt x="254088" y="0"/>
                </a:lnTo>
                <a:lnTo>
                  <a:pt x="207030" y="24406"/>
                </a:lnTo>
                <a:lnTo>
                  <a:pt x="68731" y="104652"/>
                </a:lnTo>
                <a:lnTo>
                  <a:pt x="2874" y="143973"/>
                </a:lnTo>
                <a:lnTo>
                  <a:pt x="2874" y="151369"/>
                </a:lnTo>
                <a:lnTo>
                  <a:pt x="0" y="15161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87" name="หลวงพ่อเต่า"/>
          <p:cNvSpPr/>
          <p:nvPr/>
        </p:nvSpPr>
        <p:spPr>
          <a:xfrm>
            <a:off x="3967200" y="7853760"/>
            <a:ext cx="300240" cy="281160"/>
          </a:xfrm>
          <a:custGeom>
            <a:avLst/>
            <a:gdLst/>
            <a:ahLst/>
            <a:rect l="l" t="t" r="r" b="b"/>
            <a:pathLst>
              <a:path w="300667" h="281537">
                <a:moveTo>
                  <a:pt x="13890" y="151616"/>
                </a:moveTo>
                <a:lnTo>
                  <a:pt x="14129" y="266375"/>
                </a:lnTo>
                <a:lnTo>
                  <a:pt x="0" y="275127"/>
                </a:lnTo>
                <a:lnTo>
                  <a:pt x="2515" y="281537"/>
                </a:lnTo>
                <a:lnTo>
                  <a:pt x="218645" y="157779"/>
                </a:lnTo>
                <a:lnTo>
                  <a:pt x="300667" y="107610"/>
                </a:lnTo>
                <a:lnTo>
                  <a:pt x="279353" y="0"/>
                </a:lnTo>
                <a:lnTo>
                  <a:pt x="242353" y="24037"/>
                </a:lnTo>
                <a:lnTo>
                  <a:pt x="13890" y="15161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88" name="ชายทะเลบางขุนเทียน หมู่ 9"/>
          <p:cNvSpPr/>
          <p:nvPr/>
        </p:nvSpPr>
        <p:spPr>
          <a:xfrm>
            <a:off x="3970800" y="8251560"/>
            <a:ext cx="378720" cy="251640"/>
          </a:xfrm>
          <a:custGeom>
            <a:avLst/>
            <a:gdLst/>
            <a:ahLst/>
            <a:rect l="l" t="t" r="r" b="b"/>
            <a:pathLst>
              <a:path w="378977" h="252076">
                <a:moveTo>
                  <a:pt x="341019" y="0"/>
                </a:moveTo>
                <a:lnTo>
                  <a:pt x="0" y="45361"/>
                </a:lnTo>
                <a:lnTo>
                  <a:pt x="21793" y="101940"/>
                </a:lnTo>
                <a:lnTo>
                  <a:pt x="35682" y="240120"/>
                </a:lnTo>
                <a:lnTo>
                  <a:pt x="125128" y="252076"/>
                </a:lnTo>
                <a:lnTo>
                  <a:pt x="378977" y="194512"/>
                </a:lnTo>
                <a:lnTo>
                  <a:pt x="360058" y="97872"/>
                </a:lnTo>
                <a:lnTo>
                  <a:pt x="357184" y="73219"/>
                </a:lnTo>
                <a:lnTo>
                  <a:pt x="347365" y="18983"/>
                </a:lnTo>
                <a:lnTo>
                  <a:pt x="341019"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89" name="เสาธง หมู่ที่ 10"/>
          <p:cNvSpPr/>
          <p:nvPr/>
        </p:nvSpPr>
        <p:spPr>
          <a:xfrm>
            <a:off x="3791880" y="8344800"/>
            <a:ext cx="216360" cy="207720"/>
          </a:xfrm>
          <a:custGeom>
            <a:avLst/>
            <a:gdLst/>
            <a:ahLst/>
            <a:rect l="l" t="t" r="r" b="b"/>
            <a:pathLst>
              <a:path w="216729" h="208194">
                <a:moveTo>
                  <a:pt x="197691" y="0"/>
                </a:moveTo>
                <a:lnTo>
                  <a:pt x="0" y="19599"/>
                </a:lnTo>
                <a:lnTo>
                  <a:pt x="2874" y="86778"/>
                </a:lnTo>
                <a:lnTo>
                  <a:pt x="30653" y="208194"/>
                </a:lnTo>
                <a:lnTo>
                  <a:pt x="216729" y="167024"/>
                </a:lnTo>
                <a:lnTo>
                  <a:pt x="200684" y="8629"/>
                </a:lnTo>
                <a:lnTo>
                  <a:pt x="197691"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90" name="วัดประชาบำรุง"/>
          <p:cNvSpPr/>
          <p:nvPr/>
        </p:nvSpPr>
        <p:spPr>
          <a:xfrm>
            <a:off x="4171680" y="7580160"/>
            <a:ext cx="87120" cy="62640"/>
          </a:xfrm>
          <a:custGeom>
            <a:avLst/>
            <a:gdLst/>
            <a:ahLst/>
            <a:rect l="l" t="t" r="r" b="b"/>
            <a:pathLst>
              <a:path w="87650" h="63112">
                <a:moveTo>
                  <a:pt x="0" y="24530"/>
                </a:moveTo>
                <a:lnTo>
                  <a:pt x="6825" y="44499"/>
                </a:lnTo>
                <a:lnTo>
                  <a:pt x="15686" y="49676"/>
                </a:lnTo>
                <a:lnTo>
                  <a:pt x="15566" y="55839"/>
                </a:lnTo>
                <a:lnTo>
                  <a:pt x="17602" y="60400"/>
                </a:lnTo>
                <a:lnTo>
                  <a:pt x="29695" y="58304"/>
                </a:lnTo>
                <a:lnTo>
                  <a:pt x="29935" y="52141"/>
                </a:lnTo>
                <a:lnTo>
                  <a:pt x="33407" y="50045"/>
                </a:lnTo>
                <a:lnTo>
                  <a:pt x="36161" y="44745"/>
                </a:lnTo>
                <a:lnTo>
                  <a:pt x="44184" y="47334"/>
                </a:lnTo>
                <a:lnTo>
                  <a:pt x="55559" y="55099"/>
                </a:lnTo>
                <a:lnTo>
                  <a:pt x="82980" y="63112"/>
                </a:lnTo>
                <a:lnTo>
                  <a:pt x="87650" y="0"/>
                </a:lnTo>
                <a:lnTo>
                  <a:pt x="71245" y="5424"/>
                </a:lnTo>
                <a:lnTo>
                  <a:pt x="68252" y="5547"/>
                </a:lnTo>
                <a:lnTo>
                  <a:pt x="59630" y="1849"/>
                </a:lnTo>
                <a:lnTo>
                  <a:pt x="54482" y="12696"/>
                </a:lnTo>
                <a:lnTo>
                  <a:pt x="44543" y="15408"/>
                </a:lnTo>
                <a:lnTo>
                  <a:pt x="30055" y="13189"/>
                </a:lnTo>
                <a:lnTo>
                  <a:pt x="24068" y="15162"/>
                </a:lnTo>
                <a:lnTo>
                  <a:pt x="22272" y="12450"/>
                </a:lnTo>
                <a:lnTo>
                  <a:pt x="0" y="24530"/>
                </a:lnTo>
                <a:close/>
              </a:path>
            </a:pathLst>
          </a:custGeom>
          <a:solidFill>
            <a:srgbClr val="ded5c5"/>
          </a:solidFill>
          <a:ln w="6191">
            <a:solidFill>
              <a:srgbClr val="b5a68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91" name="ศรีกุมาร"/>
          <p:cNvSpPr/>
          <p:nvPr/>
        </p:nvSpPr>
        <p:spPr>
          <a:xfrm>
            <a:off x="3790080" y="8113680"/>
            <a:ext cx="254880" cy="248040"/>
          </a:xfrm>
          <a:custGeom>
            <a:avLst/>
            <a:gdLst/>
            <a:ahLst/>
            <a:rect l="l" t="t" r="r" b="b"/>
            <a:pathLst>
              <a:path w="255166" h="248378">
                <a:moveTo>
                  <a:pt x="0" y="131893"/>
                </a:moveTo>
                <a:lnTo>
                  <a:pt x="718" y="248378"/>
                </a:lnTo>
                <a:lnTo>
                  <a:pt x="199487" y="231121"/>
                </a:lnTo>
                <a:lnTo>
                  <a:pt x="178532" y="183295"/>
                </a:lnTo>
                <a:lnTo>
                  <a:pt x="255166" y="171091"/>
                </a:lnTo>
                <a:lnTo>
                  <a:pt x="220321" y="8135"/>
                </a:lnTo>
                <a:lnTo>
                  <a:pt x="223315" y="7396"/>
                </a:lnTo>
                <a:lnTo>
                  <a:pt x="223315" y="0"/>
                </a:lnTo>
                <a:lnTo>
                  <a:pt x="218765" y="1233"/>
                </a:lnTo>
                <a:lnTo>
                  <a:pt x="0" y="13189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92" name="จุลพงษ์"/>
          <p:cNvSpPr/>
          <p:nvPr/>
        </p:nvSpPr>
        <p:spPr>
          <a:xfrm>
            <a:off x="4176360" y="6622200"/>
            <a:ext cx="57240" cy="57960"/>
          </a:xfrm>
          <a:custGeom>
            <a:avLst/>
            <a:gdLst/>
            <a:ahLst/>
            <a:rect l="l" t="t" r="r" b="b"/>
            <a:pathLst>
              <a:path w="57715" h="58304">
                <a:moveTo>
                  <a:pt x="7903" y="14052"/>
                </a:moveTo>
                <a:lnTo>
                  <a:pt x="0" y="16641"/>
                </a:lnTo>
                <a:lnTo>
                  <a:pt x="3712" y="19722"/>
                </a:lnTo>
                <a:lnTo>
                  <a:pt x="11016" y="19722"/>
                </a:lnTo>
                <a:lnTo>
                  <a:pt x="13052" y="26255"/>
                </a:lnTo>
                <a:lnTo>
                  <a:pt x="13411" y="58304"/>
                </a:lnTo>
                <a:lnTo>
                  <a:pt x="18799" y="58058"/>
                </a:lnTo>
                <a:lnTo>
                  <a:pt x="18200" y="50169"/>
                </a:lnTo>
                <a:lnTo>
                  <a:pt x="34964" y="49306"/>
                </a:lnTo>
                <a:lnTo>
                  <a:pt x="34605" y="38952"/>
                </a:lnTo>
                <a:lnTo>
                  <a:pt x="29097" y="29337"/>
                </a:lnTo>
                <a:lnTo>
                  <a:pt x="57715" y="20339"/>
                </a:lnTo>
                <a:lnTo>
                  <a:pt x="56517" y="4068"/>
                </a:lnTo>
                <a:lnTo>
                  <a:pt x="52087" y="5424"/>
                </a:lnTo>
                <a:lnTo>
                  <a:pt x="50171" y="0"/>
                </a:lnTo>
                <a:lnTo>
                  <a:pt x="7903" y="14052"/>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93" name="ชุมชนซอยกุนนที"/>
          <p:cNvSpPr/>
          <p:nvPr/>
        </p:nvSpPr>
        <p:spPr>
          <a:xfrm>
            <a:off x="5753160" y="4975200"/>
            <a:ext cx="18000" cy="49320"/>
          </a:xfrm>
          <a:custGeom>
            <a:avLst/>
            <a:gdLst/>
            <a:ahLst/>
            <a:rect l="l" t="t" r="r" b="b"/>
            <a:pathLst>
              <a:path w="18440" h="49552">
                <a:moveTo>
                  <a:pt x="0" y="2465"/>
                </a:moveTo>
                <a:lnTo>
                  <a:pt x="1676" y="21448"/>
                </a:lnTo>
                <a:lnTo>
                  <a:pt x="4071" y="25269"/>
                </a:lnTo>
                <a:lnTo>
                  <a:pt x="4550" y="35254"/>
                </a:lnTo>
                <a:lnTo>
                  <a:pt x="10896" y="49552"/>
                </a:lnTo>
                <a:lnTo>
                  <a:pt x="18440" y="49183"/>
                </a:lnTo>
                <a:lnTo>
                  <a:pt x="14489" y="30446"/>
                </a:lnTo>
                <a:lnTo>
                  <a:pt x="16045" y="29337"/>
                </a:lnTo>
                <a:lnTo>
                  <a:pt x="15925" y="27118"/>
                </a:lnTo>
                <a:lnTo>
                  <a:pt x="13650" y="23544"/>
                </a:lnTo>
                <a:lnTo>
                  <a:pt x="11854" y="24037"/>
                </a:lnTo>
                <a:lnTo>
                  <a:pt x="10298" y="16641"/>
                </a:lnTo>
                <a:lnTo>
                  <a:pt x="8262" y="3575"/>
                </a:lnTo>
                <a:lnTo>
                  <a:pt x="9819" y="3451"/>
                </a:lnTo>
                <a:lnTo>
                  <a:pt x="9459" y="0"/>
                </a:lnTo>
                <a:lnTo>
                  <a:pt x="0" y="2465"/>
                </a:lnTo>
                <a:close/>
              </a:path>
            </a:pathLst>
          </a:custGeom>
          <a:solidFill>
            <a:srgbClr val="ded5c5"/>
          </a:solidFill>
          <a:ln w="6191">
            <a:solidFill>
              <a:srgbClr val="b5a68d"/>
            </a:solidFill>
            <a:round/>
          </a:ln>
        </p:spPr>
        <p:style>
          <a:lnRef idx="0"/>
          <a:fillRef idx="0"/>
          <a:effectRef idx="0"/>
          <a:fontRef idx="minor"/>
        </p:style>
        <p:txBody>
          <a:bodyPr lIns="90000" rIns="90000" tIns="4320" bIns="4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94" name="ชุมชนซอยเพิ่มสิน-สมบูรณ์สุข"/>
          <p:cNvSpPr/>
          <p:nvPr/>
        </p:nvSpPr>
        <p:spPr>
          <a:xfrm>
            <a:off x="5638320" y="5034240"/>
            <a:ext cx="32400" cy="37080"/>
          </a:xfrm>
          <a:custGeom>
            <a:avLst/>
            <a:gdLst/>
            <a:ahLst/>
            <a:rect l="l" t="t" r="r" b="b"/>
            <a:pathLst>
              <a:path w="32689" h="37472">
                <a:moveTo>
                  <a:pt x="3233" y="7026"/>
                </a:moveTo>
                <a:lnTo>
                  <a:pt x="3353" y="10108"/>
                </a:lnTo>
                <a:lnTo>
                  <a:pt x="838" y="10108"/>
                </a:lnTo>
                <a:lnTo>
                  <a:pt x="0" y="14422"/>
                </a:lnTo>
                <a:lnTo>
                  <a:pt x="5269" y="13806"/>
                </a:lnTo>
                <a:lnTo>
                  <a:pt x="5987" y="16024"/>
                </a:lnTo>
                <a:lnTo>
                  <a:pt x="7903" y="16148"/>
                </a:lnTo>
                <a:lnTo>
                  <a:pt x="8502" y="19476"/>
                </a:lnTo>
                <a:lnTo>
                  <a:pt x="5388" y="19599"/>
                </a:lnTo>
                <a:lnTo>
                  <a:pt x="5508" y="25146"/>
                </a:lnTo>
                <a:lnTo>
                  <a:pt x="2874" y="25393"/>
                </a:lnTo>
                <a:lnTo>
                  <a:pt x="3592" y="32049"/>
                </a:lnTo>
                <a:lnTo>
                  <a:pt x="11016" y="32049"/>
                </a:lnTo>
                <a:lnTo>
                  <a:pt x="11735" y="34268"/>
                </a:lnTo>
                <a:lnTo>
                  <a:pt x="14489" y="34021"/>
                </a:lnTo>
                <a:lnTo>
                  <a:pt x="14249" y="32049"/>
                </a:lnTo>
                <a:lnTo>
                  <a:pt x="19997" y="31186"/>
                </a:lnTo>
                <a:lnTo>
                  <a:pt x="19757" y="37472"/>
                </a:lnTo>
                <a:lnTo>
                  <a:pt x="23708" y="35747"/>
                </a:lnTo>
                <a:lnTo>
                  <a:pt x="23589" y="33898"/>
                </a:lnTo>
                <a:lnTo>
                  <a:pt x="27540" y="33651"/>
                </a:lnTo>
                <a:lnTo>
                  <a:pt x="27540" y="28228"/>
                </a:lnTo>
                <a:lnTo>
                  <a:pt x="25624" y="28351"/>
                </a:lnTo>
                <a:lnTo>
                  <a:pt x="25145" y="21941"/>
                </a:lnTo>
                <a:lnTo>
                  <a:pt x="29456" y="21941"/>
                </a:lnTo>
                <a:lnTo>
                  <a:pt x="29935" y="18120"/>
                </a:lnTo>
                <a:lnTo>
                  <a:pt x="32090" y="18243"/>
                </a:lnTo>
                <a:lnTo>
                  <a:pt x="32689" y="14792"/>
                </a:lnTo>
                <a:lnTo>
                  <a:pt x="31971" y="13313"/>
                </a:lnTo>
                <a:lnTo>
                  <a:pt x="25385" y="13682"/>
                </a:lnTo>
                <a:lnTo>
                  <a:pt x="24906" y="3821"/>
                </a:lnTo>
                <a:lnTo>
                  <a:pt x="23708" y="3451"/>
                </a:lnTo>
                <a:lnTo>
                  <a:pt x="23230" y="0"/>
                </a:lnTo>
                <a:lnTo>
                  <a:pt x="8861" y="740"/>
                </a:lnTo>
                <a:lnTo>
                  <a:pt x="8980" y="8998"/>
                </a:lnTo>
                <a:lnTo>
                  <a:pt x="6586" y="9245"/>
                </a:lnTo>
                <a:lnTo>
                  <a:pt x="6107" y="7026"/>
                </a:lnTo>
                <a:lnTo>
                  <a:pt x="3233" y="7026"/>
                </a:lnTo>
                <a:close/>
              </a:path>
            </a:pathLst>
          </a:custGeom>
          <a:solidFill>
            <a:srgbClr val="ded5c5"/>
          </a:solidFill>
          <a:ln w="6191">
            <a:solidFill>
              <a:srgbClr val="b5a68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95" name="ชุมชนหมู่บ้านอยู่เจริญ (ซอยอินทามระ 41)"/>
          <p:cNvSpPr/>
          <p:nvPr/>
        </p:nvSpPr>
        <p:spPr>
          <a:xfrm>
            <a:off x="5706360" y="4840920"/>
            <a:ext cx="14400" cy="12600"/>
          </a:xfrm>
          <a:custGeom>
            <a:avLst/>
            <a:gdLst/>
            <a:ahLst/>
            <a:rect l="l" t="t" r="r" b="b"/>
            <a:pathLst>
              <a:path w="14728" h="13066">
                <a:moveTo>
                  <a:pt x="958" y="4314"/>
                </a:moveTo>
                <a:lnTo>
                  <a:pt x="0" y="13066"/>
                </a:lnTo>
                <a:lnTo>
                  <a:pt x="14728" y="12080"/>
                </a:lnTo>
                <a:lnTo>
                  <a:pt x="14249" y="8382"/>
                </a:lnTo>
                <a:lnTo>
                  <a:pt x="8621" y="0"/>
                </a:lnTo>
                <a:lnTo>
                  <a:pt x="7184" y="863"/>
                </a:lnTo>
                <a:lnTo>
                  <a:pt x="7065" y="4561"/>
                </a:lnTo>
                <a:lnTo>
                  <a:pt x="958" y="4314"/>
                </a:lnTo>
                <a:close/>
              </a:path>
            </a:pathLst>
          </a:custGeom>
          <a:solidFill>
            <a:srgbClr val="ded5c5"/>
          </a:solidFill>
          <a:ln w="6191">
            <a:solidFill>
              <a:srgbClr val="b5a68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96" name="ชุมชนหมู่บ้านอยู่เจริญ (โครงการ 3)"/>
          <p:cNvSpPr/>
          <p:nvPr/>
        </p:nvSpPr>
        <p:spPr>
          <a:xfrm>
            <a:off x="5720040" y="4829400"/>
            <a:ext cx="26640" cy="24120"/>
          </a:xfrm>
          <a:custGeom>
            <a:avLst/>
            <a:gdLst/>
            <a:ahLst/>
            <a:rect l="l" t="t" r="r" b="b"/>
            <a:pathLst>
              <a:path w="26822" h="24653">
                <a:moveTo>
                  <a:pt x="0" y="2342"/>
                </a:moveTo>
                <a:lnTo>
                  <a:pt x="3712" y="24653"/>
                </a:lnTo>
                <a:lnTo>
                  <a:pt x="10417" y="23790"/>
                </a:lnTo>
                <a:lnTo>
                  <a:pt x="9819" y="14422"/>
                </a:lnTo>
                <a:lnTo>
                  <a:pt x="22272" y="12943"/>
                </a:lnTo>
                <a:lnTo>
                  <a:pt x="22032" y="10847"/>
                </a:lnTo>
                <a:lnTo>
                  <a:pt x="26822" y="10231"/>
                </a:lnTo>
                <a:lnTo>
                  <a:pt x="25265" y="0"/>
                </a:lnTo>
                <a:lnTo>
                  <a:pt x="0" y="2342"/>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97" name="ชุมชนอาคารสงเคราะห์ฯ ดินแดง"/>
          <p:cNvSpPr/>
          <p:nvPr/>
        </p:nvSpPr>
        <p:spPr>
          <a:xfrm>
            <a:off x="5609520" y="5127120"/>
            <a:ext cx="3960" cy="9720"/>
          </a:xfrm>
          <a:custGeom>
            <a:avLst/>
            <a:gdLst/>
            <a:ahLst/>
            <a:rect l="l" t="t" r="r" b="b"/>
            <a:pathLst>
              <a:path w="4191" h="10231">
                <a:moveTo>
                  <a:pt x="0" y="9861"/>
                </a:moveTo>
                <a:lnTo>
                  <a:pt x="1557" y="10231"/>
                </a:lnTo>
                <a:lnTo>
                  <a:pt x="4191" y="370"/>
                </a:lnTo>
                <a:lnTo>
                  <a:pt x="2515" y="0"/>
                </a:lnTo>
                <a:lnTo>
                  <a:pt x="0" y="9861"/>
                </a:lnTo>
                <a:close/>
              </a:path>
            </a:pathLst>
          </a:custGeom>
          <a:solidFill>
            <a:srgbClr val="ded5c5"/>
          </a:solidFill>
          <a:ln w="6191">
            <a:solidFill>
              <a:srgbClr val="b5a68d"/>
            </a:solidFill>
            <a:round/>
          </a:ln>
        </p:spPr>
        <p:style>
          <a:lnRef idx="0"/>
          <a:fillRef idx="0"/>
          <a:effectRef idx="0"/>
          <a:fontRef idx="minor"/>
        </p:style>
        <p:txBody>
          <a:bodyPr lIns="90000" rIns="90000" tIns="-35280" bIns="-35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98" name="ชุมชนศูนย์การกำลังสำรอง"/>
          <p:cNvSpPr/>
          <p:nvPr/>
        </p:nvSpPr>
        <p:spPr>
          <a:xfrm>
            <a:off x="5640840" y="4939920"/>
            <a:ext cx="24120" cy="49680"/>
          </a:xfrm>
          <a:custGeom>
            <a:avLst/>
            <a:gdLst/>
            <a:ahLst/>
            <a:rect l="l" t="t" r="r" b="b"/>
            <a:pathLst>
              <a:path w="24427" h="49922">
                <a:moveTo>
                  <a:pt x="5628" y="0"/>
                </a:moveTo>
                <a:lnTo>
                  <a:pt x="5748" y="9615"/>
                </a:lnTo>
                <a:lnTo>
                  <a:pt x="7783" y="9615"/>
                </a:lnTo>
                <a:lnTo>
                  <a:pt x="8023" y="23297"/>
                </a:lnTo>
                <a:lnTo>
                  <a:pt x="4670" y="23420"/>
                </a:lnTo>
                <a:lnTo>
                  <a:pt x="4430" y="31063"/>
                </a:lnTo>
                <a:lnTo>
                  <a:pt x="1078" y="31309"/>
                </a:lnTo>
                <a:lnTo>
                  <a:pt x="1197" y="38705"/>
                </a:lnTo>
                <a:lnTo>
                  <a:pt x="0" y="38952"/>
                </a:lnTo>
                <a:lnTo>
                  <a:pt x="5987" y="49922"/>
                </a:lnTo>
                <a:lnTo>
                  <a:pt x="19518" y="39815"/>
                </a:lnTo>
                <a:lnTo>
                  <a:pt x="22391" y="35377"/>
                </a:lnTo>
                <a:lnTo>
                  <a:pt x="21194" y="19722"/>
                </a:lnTo>
                <a:lnTo>
                  <a:pt x="23828" y="19353"/>
                </a:lnTo>
                <a:lnTo>
                  <a:pt x="23469" y="12326"/>
                </a:lnTo>
                <a:lnTo>
                  <a:pt x="24427" y="12450"/>
                </a:lnTo>
                <a:lnTo>
                  <a:pt x="23708" y="370"/>
                </a:lnTo>
                <a:lnTo>
                  <a:pt x="5628" y="0"/>
                </a:lnTo>
                <a:close/>
              </a:path>
            </a:pathLst>
          </a:custGeom>
          <a:solidFill>
            <a:srgbClr val="ded5c5"/>
          </a:solidFill>
          <a:ln w="6191">
            <a:solidFill>
              <a:srgbClr val="b5a68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699" name="ชุมชนหมู่บ้านอินทามระ ซอย 51"/>
          <p:cNvSpPr/>
          <p:nvPr/>
        </p:nvSpPr>
        <p:spPr>
          <a:xfrm>
            <a:off x="5732280" y="4955400"/>
            <a:ext cx="25560" cy="26280"/>
          </a:xfrm>
          <a:custGeom>
            <a:avLst/>
            <a:gdLst/>
            <a:ahLst/>
            <a:rect l="l" t="t" r="r" b="b"/>
            <a:pathLst>
              <a:path w="25864" h="26748">
                <a:moveTo>
                  <a:pt x="20476" y="19229"/>
                </a:moveTo>
                <a:lnTo>
                  <a:pt x="25864" y="18736"/>
                </a:lnTo>
                <a:lnTo>
                  <a:pt x="25624" y="12080"/>
                </a:lnTo>
                <a:lnTo>
                  <a:pt x="20116" y="12450"/>
                </a:lnTo>
                <a:lnTo>
                  <a:pt x="19637" y="17627"/>
                </a:lnTo>
                <a:lnTo>
                  <a:pt x="19637" y="0"/>
                </a:lnTo>
                <a:lnTo>
                  <a:pt x="14967" y="123"/>
                </a:lnTo>
                <a:lnTo>
                  <a:pt x="13531" y="3205"/>
                </a:lnTo>
                <a:lnTo>
                  <a:pt x="13531" y="10477"/>
                </a:lnTo>
                <a:lnTo>
                  <a:pt x="4071" y="10477"/>
                </a:lnTo>
                <a:lnTo>
                  <a:pt x="0" y="22927"/>
                </a:lnTo>
                <a:lnTo>
                  <a:pt x="20356" y="26748"/>
                </a:lnTo>
                <a:lnTo>
                  <a:pt x="19757" y="18243"/>
                </a:lnTo>
                <a:lnTo>
                  <a:pt x="20476" y="19229"/>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00" name="หมู่บ้านเสริมมิตร"/>
          <p:cNvSpPr/>
          <p:nvPr/>
        </p:nvSpPr>
        <p:spPr>
          <a:xfrm>
            <a:off x="6735600" y="4687560"/>
            <a:ext cx="48600" cy="72000"/>
          </a:xfrm>
          <a:custGeom>
            <a:avLst/>
            <a:gdLst/>
            <a:ahLst/>
            <a:rect l="l" t="t" r="r" b="b"/>
            <a:pathLst>
              <a:path w="48974" h="72480">
                <a:moveTo>
                  <a:pt x="19278" y="0"/>
                </a:moveTo>
                <a:lnTo>
                  <a:pt x="18320" y="2096"/>
                </a:lnTo>
                <a:lnTo>
                  <a:pt x="19997" y="2712"/>
                </a:lnTo>
                <a:lnTo>
                  <a:pt x="479" y="44499"/>
                </a:lnTo>
                <a:lnTo>
                  <a:pt x="6825" y="47703"/>
                </a:lnTo>
                <a:lnTo>
                  <a:pt x="0" y="62495"/>
                </a:lnTo>
                <a:lnTo>
                  <a:pt x="19877" y="72480"/>
                </a:lnTo>
                <a:lnTo>
                  <a:pt x="32210" y="59290"/>
                </a:lnTo>
                <a:lnTo>
                  <a:pt x="47058" y="38952"/>
                </a:lnTo>
                <a:lnTo>
                  <a:pt x="48974" y="30693"/>
                </a:lnTo>
                <a:lnTo>
                  <a:pt x="47656" y="19969"/>
                </a:lnTo>
                <a:lnTo>
                  <a:pt x="42627" y="18120"/>
                </a:lnTo>
                <a:lnTo>
                  <a:pt x="39035" y="24899"/>
                </a:lnTo>
                <a:lnTo>
                  <a:pt x="28857" y="19106"/>
                </a:lnTo>
                <a:lnTo>
                  <a:pt x="32450" y="12696"/>
                </a:lnTo>
                <a:lnTo>
                  <a:pt x="25385" y="9491"/>
                </a:lnTo>
                <a:lnTo>
                  <a:pt x="28259" y="3575"/>
                </a:lnTo>
                <a:lnTo>
                  <a:pt x="19278" y="0"/>
                </a:lnTo>
                <a:close/>
              </a:path>
            </a:pathLst>
          </a:custGeom>
          <a:solidFill>
            <a:srgbClr val="ded5c5"/>
          </a:solidFill>
          <a:ln w="6191">
            <a:solidFill>
              <a:srgbClr val="b5a68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01" name="หมู่บ้านธนะสิน โครงการ 1"/>
          <p:cNvSpPr/>
          <p:nvPr/>
        </p:nvSpPr>
        <p:spPr>
          <a:xfrm>
            <a:off x="6719760" y="4683960"/>
            <a:ext cx="35640" cy="55440"/>
          </a:xfrm>
          <a:custGeom>
            <a:avLst/>
            <a:gdLst/>
            <a:ahLst/>
            <a:rect l="l" t="t" r="r" b="b"/>
            <a:pathLst>
              <a:path w="36042" h="55839">
                <a:moveTo>
                  <a:pt x="6346" y="53743"/>
                </a:moveTo>
                <a:lnTo>
                  <a:pt x="12812" y="55839"/>
                </a:lnTo>
                <a:lnTo>
                  <a:pt x="36042" y="6163"/>
                </a:lnTo>
                <a:lnTo>
                  <a:pt x="34605" y="5054"/>
                </a:lnTo>
                <a:lnTo>
                  <a:pt x="25984" y="1602"/>
                </a:lnTo>
                <a:lnTo>
                  <a:pt x="25026" y="3821"/>
                </a:lnTo>
                <a:lnTo>
                  <a:pt x="15566" y="0"/>
                </a:lnTo>
                <a:lnTo>
                  <a:pt x="4191" y="23051"/>
                </a:lnTo>
                <a:lnTo>
                  <a:pt x="6825" y="24776"/>
                </a:lnTo>
                <a:lnTo>
                  <a:pt x="5867" y="26625"/>
                </a:lnTo>
                <a:lnTo>
                  <a:pt x="7424" y="27365"/>
                </a:lnTo>
                <a:lnTo>
                  <a:pt x="3113" y="36486"/>
                </a:lnTo>
                <a:lnTo>
                  <a:pt x="5388" y="37842"/>
                </a:lnTo>
                <a:lnTo>
                  <a:pt x="0" y="49429"/>
                </a:lnTo>
                <a:lnTo>
                  <a:pt x="7544" y="50662"/>
                </a:lnTo>
                <a:lnTo>
                  <a:pt x="6346" y="53743"/>
                </a:lnTo>
                <a:close/>
              </a:path>
            </a:pathLst>
          </a:custGeom>
          <a:solidFill>
            <a:srgbClr val="ded5c5"/>
          </a:solidFill>
          <a:ln w="6191">
            <a:solidFill>
              <a:srgbClr val="b5a68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02" name="ประดิษฐ์โทรการ"/>
          <p:cNvSpPr/>
          <p:nvPr/>
        </p:nvSpPr>
        <p:spPr>
          <a:xfrm>
            <a:off x="5874480" y="4061880"/>
            <a:ext cx="33120" cy="80280"/>
          </a:xfrm>
          <a:custGeom>
            <a:avLst/>
            <a:gdLst/>
            <a:ahLst/>
            <a:rect l="l" t="t" r="r" b="b"/>
            <a:pathLst>
              <a:path w="33527" h="80738">
                <a:moveTo>
                  <a:pt x="10896" y="74205"/>
                </a:moveTo>
                <a:lnTo>
                  <a:pt x="10058" y="76917"/>
                </a:lnTo>
                <a:lnTo>
                  <a:pt x="16165" y="80738"/>
                </a:lnTo>
                <a:lnTo>
                  <a:pt x="28259" y="59783"/>
                </a:lnTo>
                <a:lnTo>
                  <a:pt x="24187" y="9984"/>
                </a:lnTo>
                <a:lnTo>
                  <a:pt x="33168" y="9368"/>
                </a:lnTo>
                <a:lnTo>
                  <a:pt x="33527" y="0"/>
                </a:lnTo>
                <a:lnTo>
                  <a:pt x="0" y="616"/>
                </a:lnTo>
                <a:lnTo>
                  <a:pt x="8980" y="70877"/>
                </a:lnTo>
                <a:lnTo>
                  <a:pt x="10896" y="74205"/>
                </a:lnTo>
                <a:close/>
              </a:path>
            </a:pathLst>
          </a:custGeom>
          <a:solidFill>
            <a:srgbClr val="ded5c5"/>
          </a:solidFill>
          <a:ln w="6191">
            <a:solidFill>
              <a:srgbClr val="b5a68d"/>
            </a:solidFill>
            <a:round/>
          </a:ln>
        </p:spPr>
        <p:style>
          <a:lnRef idx="0"/>
          <a:fillRef idx="0"/>
          <a:effectRef idx="0"/>
          <a:fontRef idx="minor"/>
        </p:style>
        <p:txBody>
          <a:bodyPr lIns="90000" rIns="90000" tIns="35280" bIns="35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03" name="รัชดาประชาชื่น"/>
          <p:cNvSpPr/>
          <p:nvPr/>
        </p:nvSpPr>
        <p:spPr>
          <a:xfrm>
            <a:off x="5432760" y="4381920"/>
            <a:ext cx="33480" cy="15840"/>
          </a:xfrm>
          <a:custGeom>
            <a:avLst/>
            <a:gdLst/>
            <a:ahLst/>
            <a:rect l="l" t="t" r="r" b="b"/>
            <a:pathLst>
              <a:path w="33886" h="16148">
                <a:moveTo>
                  <a:pt x="33886" y="15778"/>
                </a:moveTo>
                <a:lnTo>
                  <a:pt x="28977" y="3328"/>
                </a:lnTo>
                <a:lnTo>
                  <a:pt x="18081" y="7026"/>
                </a:lnTo>
                <a:lnTo>
                  <a:pt x="14848" y="0"/>
                </a:lnTo>
                <a:lnTo>
                  <a:pt x="0" y="7026"/>
                </a:lnTo>
                <a:lnTo>
                  <a:pt x="1557" y="16148"/>
                </a:lnTo>
                <a:lnTo>
                  <a:pt x="33886" y="15778"/>
                </a:lnTo>
                <a:close/>
              </a:path>
            </a:pathLst>
          </a:custGeom>
          <a:solidFill>
            <a:srgbClr val="ded5c5"/>
          </a:solidFill>
          <a:ln w="6191">
            <a:solidFill>
              <a:srgbClr val="b5a68d"/>
            </a:solidFill>
            <a:round/>
          </a:ln>
        </p:spPr>
        <p:style>
          <a:lnRef idx="0"/>
          <a:fillRef idx="0"/>
          <a:effectRef idx="0"/>
          <a:fontRef idx="minor"/>
        </p:style>
        <p:txBody>
          <a:bodyPr lIns="90000" rIns="90000" tIns="-29160" bIns="-29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04" name="โรงช้อน 45"/>
          <p:cNvSpPr/>
          <p:nvPr/>
        </p:nvSpPr>
        <p:spPr>
          <a:xfrm>
            <a:off x="5870880" y="4133520"/>
            <a:ext cx="19080" cy="26640"/>
          </a:xfrm>
          <a:custGeom>
            <a:avLst/>
            <a:gdLst/>
            <a:ahLst/>
            <a:rect l="l" t="t" r="r" b="b"/>
            <a:pathLst>
              <a:path w="19518" h="26872">
                <a:moveTo>
                  <a:pt x="16644" y="7149"/>
                </a:moveTo>
                <a:lnTo>
                  <a:pt x="13770" y="5424"/>
                </a:lnTo>
                <a:lnTo>
                  <a:pt x="14728" y="3698"/>
                </a:lnTo>
                <a:lnTo>
                  <a:pt x="13650" y="3698"/>
                </a:lnTo>
                <a:lnTo>
                  <a:pt x="12692" y="0"/>
                </a:lnTo>
                <a:lnTo>
                  <a:pt x="4071" y="370"/>
                </a:lnTo>
                <a:lnTo>
                  <a:pt x="0" y="21325"/>
                </a:lnTo>
                <a:lnTo>
                  <a:pt x="1078" y="23790"/>
                </a:lnTo>
                <a:lnTo>
                  <a:pt x="9579" y="26872"/>
                </a:lnTo>
                <a:lnTo>
                  <a:pt x="19518" y="9861"/>
                </a:lnTo>
                <a:lnTo>
                  <a:pt x="16644" y="7149"/>
                </a:lnTo>
                <a:close/>
              </a:path>
            </a:pathLst>
          </a:custGeom>
          <a:solidFill>
            <a:srgbClr val="ded5c5"/>
          </a:solidFill>
          <a:ln w="6191">
            <a:solidFill>
              <a:srgbClr val="b5a68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05" name="แฟลตตำรวจส่วนกลางลาดยาว"/>
          <p:cNvSpPr/>
          <p:nvPr/>
        </p:nvSpPr>
        <p:spPr>
          <a:xfrm>
            <a:off x="5599440" y="4290840"/>
            <a:ext cx="34920" cy="27000"/>
          </a:xfrm>
          <a:custGeom>
            <a:avLst/>
            <a:gdLst/>
            <a:ahLst/>
            <a:rect l="l" t="t" r="r" b="b"/>
            <a:pathLst>
              <a:path w="35204" h="27488">
                <a:moveTo>
                  <a:pt x="0" y="27488"/>
                </a:moveTo>
                <a:lnTo>
                  <a:pt x="35204" y="15655"/>
                </a:lnTo>
                <a:lnTo>
                  <a:pt x="31372" y="493"/>
                </a:lnTo>
                <a:lnTo>
                  <a:pt x="27181" y="0"/>
                </a:lnTo>
                <a:lnTo>
                  <a:pt x="27540" y="2219"/>
                </a:lnTo>
                <a:lnTo>
                  <a:pt x="2515" y="8752"/>
                </a:lnTo>
                <a:lnTo>
                  <a:pt x="0" y="27488"/>
                </a:lnTo>
                <a:close/>
              </a:path>
            </a:pathLst>
          </a:custGeom>
          <a:solidFill>
            <a:srgbClr val="ded5c5"/>
          </a:solidFill>
          <a:ln w="6191">
            <a:solidFill>
              <a:srgbClr val="b5a68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06" name="ชุมชนแฟลตตำรวจส่วนกลางวิภาวดี"/>
          <p:cNvSpPr/>
          <p:nvPr/>
        </p:nvSpPr>
        <p:spPr>
          <a:xfrm>
            <a:off x="5599440" y="4337640"/>
            <a:ext cx="43200" cy="23400"/>
          </a:xfrm>
          <a:custGeom>
            <a:avLst/>
            <a:gdLst/>
            <a:ahLst/>
            <a:rect l="l" t="t" r="r" b="b"/>
            <a:pathLst>
              <a:path w="43585" h="23913">
                <a:moveTo>
                  <a:pt x="0" y="8505"/>
                </a:moveTo>
                <a:lnTo>
                  <a:pt x="1557" y="23913"/>
                </a:lnTo>
                <a:lnTo>
                  <a:pt x="30893" y="16887"/>
                </a:lnTo>
                <a:lnTo>
                  <a:pt x="30534" y="15285"/>
                </a:lnTo>
                <a:lnTo>
                  <a:pt x="43585" y="12080"/>
                </a:lnTo>
                <a:lnTo>
                  <a:pt x="42747" y="5424"/>
                </a:lnTo>
                <a:lnTo>
                  <a:pt x="40592" y="5424"/>
                </a:lnTo>
                <a:lnTo>
                  <a:pt x="38915" y="0"/>
                </a:lnTo>
                <a:lnTo>
                  <a:pt x="0" y="8505"/>
                </a:lnTo>
                <a:close/>
              </a:path>
            </a:pathLst>
          </a:custGeom>
          <a:solidFill>
            <a:srgbClr val="ded5c5"/>
          </a:solidFill>
          <a:ln w="6191">
            <a:solidFill>
              <a:srgbClr val="b5a68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07" name="เสนานิคม 2"/>
          <p:cNvSpPr/>
          <p:nvPr/>
        </p:nvSpPr>
        <p:spPr>
          <a:xfrm>
            <a:off x="5895000" y="4276080"/>
            <a:ext cx="98640" cy="50760"/>
          </a:xfrm>
          <a:custGeom>
            <a:avLst/>
            <a:gdLst/>
            <a:ahLst/>
            <a:rect l="l" t="t" r="r" b="b"/>
            <a:pathLst>
              <a:path w="98905" h="51278">
                <a:moveTo>
                  <a:pt x="94235" y="8505"/>
                </a:moveTo>
                <a:lnTo>
                  <a:pt x="90523" y="0"/>
                </a:lnTo>
                <a:lnTo>
                  <a:pt x="67533" y="4191"/>
                </a:lnTo>
                <a:lnTo>
                  <a:pt x="44902" y="4684"/>
                </a:lnTo>
                <a:lnTo>
                  <a:pt x="45381" y="12080"/>
                </a:lnTo>
                <a:lnTo>
                  <a:pt x="0" y="10477"/>
                </a:lnTo>
                <a:lnTo>
                  <a:pt x="2155" y="29337"/>
                </a:lnTo>
                <a:lnTo>
                  <a:pt x="5748" y="29214"/>
                </a:lnTo>
                <a:lnTo>
                  <a:pt x="5867" y="31186"/>
                </a:lnTo>
                <a:lnTo>
                  <a:pt x="21673" y="31309"/>
                </a:lnTo>
                <a:lnTo>
                  <a:pt x="5748" y="31309"/>
                </a:lnTo>
                <a:lnTo>
                  <a:pt x="5628" y="29460"/>
                </a:lnTo>
                <a:lnTo>
                  <a:pt x="2036" y="29830"/>
                </a:lnTo>
                <a:lnTo>
                  <a:pt x="4071" y="43882"/>
                </a:lnTo>
                <a:lnTo>
                  <a:pt x="36880" y="43759"/>
                </a:lnTo>
                <a:lnTo>
                  <a:pt x="37119" y="48936"/>
                </a:lnTo>
                <a:lnTo>
                  <a:pt x="48255" y="43019"/>
                </a:lnTo>
                <a:lnTo>
                  <a:pt x="96271" y="51278"/>
                </a:lnTo>
                <a:lnTo>
                  <a:pt x="97947" y="44992"/>
                </a:lnTo>
                <a:lnTo>
                  <a:pt x="86692" y="42403"/>
                </a:lnTo>
                <a:lnTo>
                  <a:pt x="87889" y="35993"/>
                </a:lnTo>
                <a:lnTo>
                  <a:pt x="80824" y="33405"/>
                </a:lnTo>
                <a:lnTo>
                  <a:pt x="33767" y="30816"/>
                </a:lnTo>
                <a:lnTo>
                  <a:pt x="87171" y="33651"/>
                </a:lnTo>
                <a:lnTo>
                  <a:pt x="98306" y="35623"/>
                </a:lnTo>
                <a:lnTo>
                  <a:pt x="98905" y="32049"/>
                </a:lnTo>
                <a:lnTo>
                  <a:pt x="94235" y="8505"/>
                </a:lnTo>
                <a:close/>
              </a:path>
            </a:pathLst>
          </a:custGeom>
          <a:solidFill>
            <a:srgbClr val="ded5c5"/>
          </a:solidFill>
          <a:ln w="6191">
            <a:solidFill>
              <a:srgbClr val="b5a68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08" name="เสนานิคม 2"/>
          <p:cNvSpPr/>
          <p:nvPr/>
        </p:nvSpPr>
        <p:spPr>
          <a:xfrm>
            <a:off x="5879160" y="4311360"/>
            <a:ext cx="14400" cy="24840"/>
          </a:xfrm>
          <a:custGeom>
            <a:avLst/>
            <a:gdLst/>
            <a:ahLst/>
            <a:rect l="l" t="t" r="r" b="b"/>
            <a:pathLst>
              <a:path w="14728" h="25023">
                <a:moveTo>
                  <a:pt x="14728" y="23913"/>
                </a:moveTo>
                <a:lnTo>
                  <a:pt x="12812" y="0"/>
                </a:lnTo>
                <a:lnTo>
                  <a:pt x="0" y="2835"/>
                </a:lnTo>
                <a:lnTo>
                  <a:pt x="4909" y="25023"/>
                </a:lnTo>
                <a:lnTo>
                  <a:pt x="14728" y="23913"/>
                </a:lnTo>
                <a:close/>
              </a:path>
            </a:pathLst>
          </a:custGeom>
          <a:solidFill>
            <a:srgbClr val="ded5c5"/>
          </a:solidFill>
          <a:ln w="6191">
            <a:solidFill>
              <a:srgbClr val="b5a68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09" name="เสนานิคม 2"/>
          <p:cNvSpPr/>
          <p:nvPr/>
        </p:nvSpPr>
        <p:spPr>
          <a:xfrm>
            <a:off x="5892480" y="4310280"/>
            <a:ext cx="5760" cy="16200"/>
          </a:xfrm>
          <a:custGeom>
            <a:avLst/>
            <a:gdLst/>
            <a:ahLst/>
            <a:rect l="l" t="t" r="r" b="b"/>
            <a:pathLst>
              <a:path w="5987" h="16394">
                <a:moveTo>
                  <a:pt x="3472" y="16271"/>
                </a:moveTo>
                <a:lnTo>
                  <a:pt x="3233" y="9738"/>
                </a:lnTo>
                <a:lnTo>
                  <a:pt x="4909" y="9368"/>
                </a:lnTo>
                <a:lnTo>
                  <a:pt x="4670" y="5670"/>
                </a:lnTo>
                <a:lnTo>
                  <a:pt x="5987" y="5547"/>
                </a:lnTo>
                <a:lnTo>
                  <a:pt x="5748" y="0"/>
                </a:lnTo>
                <a:lnTo>
                  <a:pt x="0" y="863"/>
                </a:lnTo>
                <a:lnTo>
                  <a:pt x="1197" y="16394"/>
                </a:lnTo>
                <a:lnTo>
                  <a:pt x="3472" y="16271"/>
                </a:lnTo>
                <a:close/>
              </a:path>
            </a:pathLst>
          </a:custGeom>
          <a:solidFill>
            <a:srgbClr val="ded5c5"/>
          </a:solidFill>
          <a:ln w="6191">
            <a:solidFill>
              <a:srgbClr val="b5a68d"/>
            </a:solidFill>
            <a:round/>
          </a:ln>
        </p:spPr>
        <p:style>
          <a:lnRef idx="0"/>
          <a:fillRef idx="0"/>
          <a:effectRef idx="0"/>
          <a:fontRef idx="minor"/>
        </p:style>
        <p:txBody>
          <a:bodyPr lIns="90000" rIns="90000" tIns="-28800" bIns="-28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10" name="ทหารส่วนแยก บชร.1"/>
          <p:cNvSpPr/>
          <p:nvPr/>
        </p:nvSpPr>
        <p:spPr>
          <a:xfrm>
            <a:off x="5938920" y="4112640"/>
            <a:ext cx="14040" cy="20520"/>
          </a:xfrm>
          <a:custGeom>
            <a:avLst/>
            <a:gdLst/>
            <a:ahLst/>
            <a:rect l="l" t="t" r="r" b="b"/>
            <a:pathLst>
              <a:path w="14249" h="20955">
                <a:moveTo>
                  <a:pt x="0" y="247"/>
                </a:moveTo>
                <a:lnTo>
                  <a:pt x="2874" y="20955"/>
                </a:lnTo>
                <a:lnTo>
                  <a:pt x="12932" y="19599"/>
                </a:lnTo>
                <a:lnTo>
                  <a:pt x="14249" y="14422"/>
                </a:lnTo>
                <a:lnTo>
                  <a:pt x="12453" y="0"/>
                </a:lnTo>
                <a:lnTo>
                  <a:pt x="0" y="247"/>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11" name="กรมวิทยาศาสตร์ทหารบก"/>
          <p:cNvSpPr/>
          <p:nvPr/>
        </p:nvSpPr>
        <p:spPr>
          <a:xfrm>
            <a:off x="5874480" y="4132440"/>
            <a:ext cx="105480" cy="114120"/>
          </a:xfrm>
          <a:custGeom>
            <a:avLst/>
            <a:gdLst/>
            <a:ahLst/>
            <a:rect l="l" t="t" r="r" b="b"/>
            <a:pathLst>
              <a:path w="105850" h="114636">
                <a:moveTo>
                  <a:pt x="59032" y="36363"/>
                </a:moveTo>
                <a:lnTo>
                  <a:pt x="74478" y="100584"/>
                </a:lnTo>
                <a:lnTo>
                  <a:pt x="75436" y="112417"/>
                </a:lnTo>
                <a:lnTo>
                  <a:pt x="105850" y="114636"/>
                </a:lnTo>
                <a:lnTo>
                  <a:pt x="91481" y="66440"/>
                </a:lnTo>
                <a:lnTo>
                  <a:pt x="85494" y="23667"/>
                </a:lnTo>
                <a:lnTo>
                  <a:pt x="79388" y="0"/>
                </a:lnTo>
                <a:lnTo>
                  <a:pt x="52326" y="2712"/>
                </a:lnTo>
                <a:lnTo>
                  <a:pt x="33886" y="25762"/>
                </a:lnTo>
                <a:lnTo>
                  <a:pt x="18560" y="15408"/>
                </a:lnTo>
                <a:lnTo>
                  <a:pt x="0" y="47334"/>
                </a:lnTo>
                <a:lnTo>
                  <a:pt x="18679" y="45608"/>
                </a:lnTo>
                <a:lnTo>
                  <a:pt x="20116" y="38952"/>
                </a:lnTo>
                <a:lnTo>
                  <a:pt x="31132" y="36979"/>
                </a:lnTo>
                <a:lnTo>
                  <a:pt x="32569" y="41663"/>
                </a:lnTo>
                <a:lnTo>
                  <a:pt x="59032" y="3636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12" name="กรมยุทธโยธาทหารบก"/>
          <p:cNvSpPr/>
          <p:nvPr/>
        </p:nvSpPr>
        <p:spPr>
          <a:xfrm>
            <a:off x="5816880" y="4275720"/>
            <a:ext cx="50400" cy="34200"/>
          </a:xfrm>
          <a:custGeom>
            <a:avLst/>
            <a:gdLst/>
            <a:ahLst/>
            <a:rect l="l" t="t" r="r" b="b"/>
            <a:pathLst>
              <a:path w="50650" h="34637">
                <a:moveTo>
                  <a:pt x="0" y="9368"/>
                </a:moveTo>
                <a:lnTo>
                  <a:pt x="2634" y="20215"/>
                </a:lnTo>
                <a:lnTo>
                  <a:pt x="6705" y="19476"/>
                </a:lnTo>
                <a:lnTo>
                  <a:pt x="7424" y="22188"/>
                </a:lnTo>
                <a:lnTo>
                  <a:pt x="9819" y="21448"/>
                </a:lnTo>
                <a:lnTo>
                  <a:pt x="13171" y="34637"/>
                </a:lnTo>
                <a:lnTo>
                  <a:pt x="50650" y="25516"/>
                </a:lnTo>
                <a:lnTo>
                  <a:pt x="46579" y="0"/>
                </a:lnTo>
                <a:lnTo>
                  <a:pt x="0" y="9368"/>
                </a:lnTo>
                <a:close/>
              </a:path>
            </a:pathLst>
          </a:custGeom>
          <a:solidFill>
            <a:srgbClr val="ded5c5"/>
          </a:solidFill>
          <a:ln w="6191">
            <a:solidFill>
              <a:srgbClr val="b5a68d"/>
            </a:solidFill>
            <a:round/>
          </a:ln>
        </p:spPr>
        <p:style>
          <a:lnRef idx="0"/>
          <a:fillRef idx="0"/>
          <a:effectRef idx="0"/>
          <a:fontRef idx="minor"/>
        </p:style>
        <p:txBody>
          <a:bodyPr lIns="90000" rIns="90000" tIns="-10800" bIns="-10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13" name="ชุมชนกรมการทหารสื่อสาร ชุมชนที่ 2"/>
          <p:cNvSpPr/>
          <p:nvPr/>
        </p:nvSpPr>
        <p:spPr>
          <a:xfrm>
            <a:off x="5647320" y="4925520"/>
            <a:ext cx="9000" cy="13680"/>
          </a:xfrm>
          <a:custGeom>
            <a:avLst/>
            <a:gdLst/>
            <a:ahLst/>
            <a:rect l="l" t="t" r="r" b="b"/>
            <a:pathLst>
              <a:path w="9459" h="14052">
                <a:moveTo>
                  <a:pt x="359" y="0"/>
                </a:moveTo>
                <a:lnTo>
                  <a:pt x="0" y="13436"/>
                </a:lnTo>
                <a:lnTo>
                  <a:pt x="9100" y="14052"/>
                </a:lnTo>
                <a:lnTo>
                  <a:pt x="9459" y="9368"/>
                </a:lnTo>
                <a:lnTo>
                  <a:pt x="4311" y="9122"/>
                </a:lnTo>
                <a:lnTo>
                  <a:pt x="4550" y="123"/>
                </a:lnTo>
                <a:lnTo>
                  <a:pt x="359" y="0"/>
                </a:lnTo>
                <a:close/>
              </a:path>
            </a:pathLst>
          </a:custGeom>
          <a:solidFill>
            <a:srgbClr val="ded5c5"/>
          </a:solidFill>
          <a:ln w="6191">
            <a:solidFill>
              <a:srgbClr val="b5a68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14" name="ชุมชนซอยแสนสุข"/>
          <p:cNvSpPr/>
          <p:nvPr/>
        </p:nvSpPr>
        <p:spPr>
          <a:xfrm>
            <a:off x="5665680" y="5074560"/>
            <a:ext cx="23400" cy="42120"/>
          </a:xfrm>
          <a:custGeom>
            <a:avLst/>
            <a:gdLst/>
            <a:ahLst/>
            <a:rect l="l" t="t" r="r" b="b"/>
            <a:pathLst>
              <a:path w="23708" h="42403">
                <a:moveTo>
                  <a:pt x="3951" y="0"/>
                </a:moveTo>
                <a:lnTo>
                  <a:pt x="359" y="1356"/>
                </a:lnTo>
                <a:lnTo>
                  <a:pt x="0" y="7396"/>
                </a:lnTo>
                <a:lnTo>
                  <a:pt x="5029" y="7519"/>
                </a:lnTo>
                <a:lnTo>
                  <a:pt x="599" y="41294"/>
                </a:lnTo>
                <a:lnTo>
                  <a:pt x="4909" y="42157"/>
                </a:lnTo>
                <a:lnTo>
                  <a:pt x="5388" y="40061"/>
                </a:lnTo>
                <a:lnTo>
                  <a:pt x="9579" y="42403"/>
                </a:lnTo>
                <a:lnTo>
                  <a:pt x="12213" y="35500"/>
                </a:lnTo>
                <a:lnTo>
                  <a:pt x="13770" y="35500"/>
                </a:lnTo>
                <a:lnTo>
                  <a:pt x="15806" y="11587"/>
                </a:lnTo>
                <a:lnTo>
                  <a:pt x="17123" y="11464"/>
                </a:lnTo>
                <a:lnTo>
                  <a:pt x="17243" y="9368"/>
                </a:lnTo>
                <a:lnTo>
                  <a:pt x="23708" y="8505"/>
                </a:lnTo>
                <a:lnTo>
                  <a:pt x="23708" y="5054"/>
                </a:lnTo>
                <a:lnTo>
                  <a:pt x="20595" y="5054"/>
                </a:lnTo>
                <a:lnTo>
                  <a:pt x="20595" y="2589"/>
                </a:lnTo>
                <a:lnTo>
                  <a:pt x="14369" y="2835"/>
                </a:lnTo>
                <a:lnTo>
                  <a:pt x="14369" y="123"/>
                </a:lnTo>
                <a:lnTo>
                  <a:pt x="3951" y="0"/>
                </a:lnTo>
                <a:close/>
              </a:path>
            </a:pathLst>
          </a:custGeom>
          <a:solidFill>
            <a:srgbClr val="ded5c5"/>
          </a:solidFill>
          <a:ln w="6191">
            <a:solidFill>
              <a:srgbClr val="b5a68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15" name="ชุมชนเคหะชุมชนดินแดง (แฟลต 1-20)"/>
          <p:cNvSpPr/>
          <p:nvPr/>
        </p:nvSpPr>
        <p:spPr>
          <a:xfrm>
            <a:off x="5490000" y="5221800"/>
            <a:ext cx="73800" cy="89280"/>
          </a:xfrm>
          <a:custGeom>
            <a:avLst/>
            <a:gdLst/>
            <a:ahLst/>
            <a:rect l="l" t="t" r="r" b="b"/>
            <a:pathLst>
              <a:path w="73999" h="89490">
                <a:moveTo>
                  <a:pt x="1557" y="0"/>
                </a:moveTo>
                <a:lnTo>
                  <a:pt x="0" y="2958"/>
                </a:lnTo>
                <a:lnTo>
                  <a:pt x="68731" y="38582"/>
                </a:lnTo>
                <a:lnTo>
                  <a:pt x="48734" y="86902"/>
                </a:lnTo>
                <a:lnTo>
                  <a:pt x="55320" y="89490"/>
                </a:lnTo>
                <a:lnTo>
                  <a:pt x="72443" y="47457"/>
                </a:lnTo>
                <a:lnTo>
                  <a:pt x="73999" y="37842"/>
                </a:lnTo>
                <a:lnTo>
                  <a:pt x="1557" y="0"/>
                </a:lnTo>
                <a:close/>
              </a:path>
            </a:pathLst>
          </a:custGeom>
          <a:solidFill>
            <a:srgbClr val="ded5c5"/>
          </a:solidFill>
          <a:ln w="6191">
            <a:solidFill>
              <a:srgbClr val="b5a68d"/>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16" name="ชุมชนซอยผาสุข"/>
          <p:cNvSpPr/>
          <p:nvPr/>
        </p:nvSpPr>
        <p:spPr>
          <a:xfrm>
            <a:off x="5688720" y="5077800"/>
            <a:ext cx="26640" cy="53640"/>
          </a:xfrm>
          <a:custGeom>
            <a:avLst/>
            <a:gdLst/>
            <a:ahLst/>
            <a:rect l="l" t="t" r="r" b="b"/>
            <a:pathLst>
              <a:path w="26822" h="53867">
                <a:moveTo>
                  <a:pt x="15087" y="2342"/>
                </a:moveTo>
                <a:lnTo>
                  <a:pt x="13171" y="7766"/>
                </a:lnTo>
                <a:lnTo>
                  <a:pt x="14010" y="9491"/>
                </a:lnTo>
                <a:lnTo>
                  <a:pt x="19518" y="11094"/>
                </a:lnTo>
                <a:lnTo>
                  <a:pt x="16883" y="19846"/>
                </a:lnTo>
                <a:lnTo>
                  <a:pt x="11854" y="18366"/>
                </a:lnTo>
                <a:lnTo>
                  <a:pt x="10537" y="23913"/>
                </a:lnTo>
                <a:lnTo>
                  <a:pt x="11495" y="25516"/>
                </a:lnTo>
                <a:lnTo>
                  <a:pt x="9340" y="27365"/>
                </a:lnTo>
                <a:lnTo>
                  <a:pt x="8861" y="32172"/>
                </a:lnTo>
                <a:lnTo>
                  <a:pt x="7184" y="31556"/>
                </a:lnTo>
                <a:lnTo>
                  <a:pt x="5748" y="36117"/>
                </a:lnTo>
                <a:lnTo>
                  <a:pt x="3592" y="37349"/>
                </a:lnTo>
                <a:lnTo>
                  <a:pt x="0" y="51771"/>
                </a:lnTo>
                <a:lnTo>
                  <a:pt x="5628" y="53867"/>
                </a:lnTo>
                <a:lnTo>
                  <a:pt x="8142" y="53743"/>
                </a:lnTo>
                <a:lnTo>
                  <a:pt x="10298" y="50539"/>
                </a:lnTo>
                <a:lnTo>
                  <a:pt x="12213" y="51278"/>
                </a:lnTo>
                <a:lnTo>
                  <a:pt x="14369" y="46101"/>
                </a:lnTo>
                <a:lnTo>
                  <a:pt x="16045" y="46841"/>
                </a:lnTo>
                <a:lnTo>
                  <a:pt x="16524" y="45731"/>
                </a:lnTo>
                <a:lnTo>
                  <a:pt x="14728" y="44868"/>
                </a:lnTo>
                <a:lnTo>
                  <a:pt x="18560" y="31926"/>
                </a:lnTo>
                <a:lnTo>
                  <a:pt x="20715" y="32788"/>
                </a:lnTo>
                <a:lnTo>
                  <a:pt x="22032" y="29830"/>
                </a:lnTo>
                <a:lnTo>
                  <a:pt x="19757" y="28967"/>
                </a:lnTo>
                <a:lnTo>
                  <a:pt x="26822" y="7766"/>
                </a:lnTo>
                <a:lnTo>
                  <a:pt x="21553" y="6410"/>
                </a:lnTo>
                <a:lnTo>
                  <a:pt x="22152" y="4438"/>
                </a:lnTo>
                <a:lnTo>
                  <a:pt x="17123" y="3821"/>
                </a:lnTo>
                <a:lnTo>
                  <a:pt x="18799" y="740"/>
                </a:lnTo>
                <a:lnTo>
                  <a:pt x="14608" y="0"/>
                </a:lnTo>
                <a:lnTo>
                  <a:pt x="13890" y="2096"/>
                </a:lnTo>
                <a:lnTo>
                  <a:pt x="15087" y="2342"/>
                </a:lnTo>
                <a:close/>
              </a:path>
            </a:pathLst>
          </a:custGeom>
          <a:solidFill>
            <a:srgbClr val="ded5c5"/>
          </a:solidFill>
          <a:ln w="6191">
            <a:solidFill>
              <a:srgbClr val="b5a68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17" name="ชุมชนซอยนาทอง แยก 1-6"/>
          <p:cNvSpPr/>
          <p:nvPr/>
        </p:nvSpPr>
        <p:spPr>
          <a:xfrm>
            <a:off x="5726160" y="5086440"/>
            <a:ext cx="44640" cy="42120"/>
          </a:xfrm>
          <a:custGeom>
            <a:avLst/>
            <a:gdLst/>
            <a:ahLst/>
            <a:rect l="l" t="t" r="r" b="b"/>
            <a:pathLst>
              <a:path w="45142" h="42526">
                <a:moveTo>
                  <a:pt x="8621" y="0"/>
                </a:moveTo>
                <a:lnTo>
                  <a:pt x="7304" y="5054"/>
                </a:lnTo>
                <a:lnTo>
                  <a:pt x="1796" y="3328"/>
                </a:lnTo>
                <a:lnTo>
                  <a:pt x="0" y="11957"/>
                </a:lnTo>
                <a:lnTo>
                  <a:pt x="27061" y="18613"/>
                </a:lnTo>
                <a:lnTo>
                  <a:pt x="23708" y="39568"/>
                </a:lnTo>
                <a:lnTo>
                  <a:pt x="31372" y="42526"/>
                </a:lnTo>
                <a:lnTo>
                  <a:pt x="32928" y="39568"/>
                </a:lnTo>
                <a:lnTo>
                  <a:pt x="31611" y="38828"/>
                </a:lnTo>
                <a:lnTo>
                  <a:pt x="32210" y="37596"/>
                </a:lnTo>
                <a:lnTo>
                  <a:pt x="33527" y="38212"/>
                </a:lnTo>
                <a:lnTo>
                  <a:pt x="35204" y="35007"/>
                </a:lnTo>
                <a:lnTo>
                  <a:pt x="33407" y="34021"/>
                </a:lnTo>
                <a:lnTo>
                  <a:pt x="35443" y="29830"/>
                </a:lnTo>
                <a:lnTo>
                  <a:pt x="37000" y="26995"/>
                </a:lnTo>
                <a:lnTo>
                  <a:pt x="38676" y="27858"/>
                </a:lnTo>
                <a:lnTo>
                  <a:pt x="45142" y="14545"/>
                </a:lnTo>
                <a:lnTo>
                  <a:pt x="30773" y="8629"/>
                </a:lnTo>
                <a:lnTo>
                  <a:pt x="31252" y="6903"/>
                </a:lnTo>
                <a:lnTo>
                  <a:pt x="19757" y="5177"/>
                </a:lnTo>
                <a:lnTo>
                  <a:pt x="20715" y="1849"/>
                </a:lnTo>
                <a:lnTo>
                  <a:pt x="8621" y="0"/>
                </a:lnTo>
                <a:close/>
              </a:path>
            </a:pathLst>
          </a:custGeom>
          <a:solidFill>
            <a:srgbClr val="ded5c5"/>
          </a:solidFill>
          <a:ln w="6191">
            <a:solidFill>
              <a:srgbClr val="b5a68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18" name="หมู่บ้านวังทองวิลล่า"/>
          <p:cNvSpPr/>
          <p:nvPr/>
        </p:nvSpPr>
        <p:spPr>
          <a:xfrm>
            <a:off x="6895440" y="4978080"/>
            <a:ext cx="29160" cy="39240"/>
          </a:xfrm>
          <a:custGeom>
            <a:avLst/>
            <a:gdLst/>
            <a:ahLst/>
            <a:rect l="l" t="t" r="r" b="b"/>
            <a:pathLst>
              <a:path w="29456" h="39568">
                <a:moveTo>
                  <a:pt x="0" y="2835"/>
                </a:moveTo>
                <a:lnTo>
                  <a:pt x="13291" y="28228"/>
                </a:lnTo>
                <a:lnTo>
                  <a:pt x="15566" y="26748"/>
                </a:lnTo>
                <a:lnTo>
                  <a:pt x="23110" y="39568"/>
                </a:lnTo>
                <a:lnTo>
                  <a:pt x="29456" y="35747"/>
                </a:lnTo>
                <a:lnTo>
                  <a:pt x="9220" y="0"/>
                </a:lnTo>
                <a:lnTo>
                  <a:pt x="0" y="2835"/>
                </a:lnTo>
                <a:close/>
              </a:path>
            </a:pathLst>
          </a:custGeom>
          <a:solidFill>
            <a:srgbClr val="ded5c5"/>
          </a:solidFill>
          <a:ln w="6191">
            <a:solidFill>
              <a:srgbClr val="b5a68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19" name="หมู่บ้านคลองกุ่มนิเวศน์"/>
          <p:cNvSpPr/>
          <p:nvPr/>
        </p:nvSpPr>
        <p:spPr>
          <a:xfrm>
            <a:off x="6857640" y="4881240"/>
            <a:ext cx="71640" cy="77760"/>
          </a:xfrm>
          <a:custGeom>
            <a:avLst/>
            <a:gdLst/>
            <a:ahLst/>
            <a:rect l="l" t="t" r="r" b="b"/>
            <a:pathLst>
              <a:path w="71964" h="78273">
                <a:moveTo>
                  <a:pt x="11136" y="47457"/>
                </a:moveTo>
                <a:lnTo>
                  <a:pt x="24547" y="73712"/>
                </a:lnTo>
                <a:lnTo>
                  <a:pt x="49453" y="73096"/>
                </a:lnTo>
                <a:lnTo>
                  <a:pt x="55200" y="77287"/>
                </a:lnTo>
                <a:lnTo>
                  <a:pt x="68611" y="78273"/>
                </a:lnTo>
                <a:lnTo>
                  <a:pt x="71964" y="77040"/>
                </a:lnTo>
                <a:lnTo>
                  <a:pt x="34605" y="5054"/>
                </a:lnTo>
                <a:lnTo>
                  <a:pt x="28857" y="6656"/>
                </a:lnTo>
                <a:lnTo>
                  <a:pt x="26343" y="0"/>
                </a:lnTo>
                <a:lnTo>
                  <a:pt x="17123" y="6163"/>
                </a:lnTo>
                <a:lnTo>
                  <a:pt x="0" y="25146"/>
                </a:lnTo>
                <a:lnTo>
                  <a:pt x="11136" y="47457"/>
                </a:lnTo>
                <a:close/>
              </a:path>
            </a:pathLst>
          </a:custGeom>
          <a:solidFill>
            <a:srgbClr val="ded5c5"/>
          </a:solidFill>
          <a:ln w="6191">
            <a:solidFill>
              <a:srgbClr val="b5a68d"/>
            </a:solidFill>
            <a:round/>
          </a:ln>
        </p:spPr>
        <p:style>
          <a:lnRef idx="0"/>
          <a:fillRef idx="0"/>
          <a:effectRef idx="0"/>
          <a:fontRef idx="minor"/>
        </p:style>
        <p:txBody>
          <a:bodyPr lIns="90000" rIns="90000" tIns="32760" bIns="32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20" name="หมู่บ้านธนะสิน โครงการ 5-6"/>
          <p:cNvSpPr/>
          <p:nvPr/>
        </p:nvSpPr>
        <p:spPr>
          <a:xfrm>
            <a:off x="6701760" y="4673520"/>
            <a:ext cx="34920" cy="61920"/>
          </a:xfrm>
          <a:custGeom>
            <a:avLst/>
            <a:gdLst/>
            <a:ahLst/>
            <a:rect l="l" t="t" r="r" b="b"/>
            <a:pathLst>
              <a:path w="35323" h="62372">
                <a:moveTo>
                  <a:pt x="19997" y="0"/>
                </a:moveTo>
                <a:lnTo>
                  <a:pt x="0" y="46841"/>
                </a:lnTo>
                <a:lnTo>
                  <a:pt x="3592" y="56209"/>
                </a:lnTo>
                <a:lnTo>
                  <a:pt x="8023" y="62372"/>
                </a:lnTo>
                <a:lnTo>
                  <a:pt x="35323" y="6410"/>
                </a:lnTo>
                <a:lnTo>
                  <a:pt x="19997" y="0"/>
                </a:lnTo>
                <a:close/>
              </a:path>
            </a:pathLst>
          </a:custGeom>
          <a:solidFill>
            <a:srgbClr val="ded5c5"/>
          </a:solidFill>
          <a:ln w="6191">
            <a:solidFill>
              <a:srgbClr val="b5a68d"/>
            </a:solidFill>
            <a:round/>
          </a:ln>
        </p:spPr>
        <p:style>
          <a:lnRef idx="0"/>
          <a:fillRef idx="0"/>
          <a:effectRef idx="0"/>
          <a:fontRef idx="minor"/>
        </p:style>
        <p:txBody>
          <a:bodyPr lIns="90000" rIns="90000" tIns="16920" bIns="16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21" name="หมู่บ้านปัฐวิกรณ์ 1"/>
          <p:cNvSpPr/>
          <p:nvPr/>
        </p:nvSpPr>
        <p:spPr>
          <a:xfrm>
            <a:off x="6743880" y="4596840"/>
            <a:ext cx="87120" cy="81720"/>
          </a:xfrm>
          <a:custGeom>
            <a:avLst/>
            <a:gdLst/>
            <a:ahLst/>
            <a:rect l="l" t="t" r="r" b="b"/>
            <a:pathLst>
              <a:path w="87530" h="82094">
                <a:moveTo>
                  <a:pt x="25265" y="1479"/>
                </a:moveTo>
                <a:lnTo>
                  <a:pt x="0" y="68782"/>
                </a:lnTo>
                <a:lnTo>
                  <a:pt x="15207" y="74205"/>
                </a:lnTo>
                <a:lnTo>
                  <a:pt x="14249" y="77040"/>
                </a:lnTo>
                <a:lnTo>
                  <a:pt x="26343" y="82094"/>
                </a:lnTo>
                <a:lnTo>
                  <a:pt x="30414" y="67179"/>
                </a:lnTo>
                <a:lnTo>
                  <a:pt x="34605" y="68042"/>
                </a:lnTo>
                <a:lnTo>
                  <a:pt x="34725" y="61263"/>
                </a:lnTo>
                <a:lnTo>
                  <a:pt x="72443" y="67549"/>
                </a:lnTo>
                <a:lnTo>
                  <a:pt x="73760" y="50539"/>
                </a:lnTo>
                <a:lnTo>
                  <a:pt x="86931" y="49676"/>
                </a:lnTo>
                <a:lnTo>
                  <a:pt x="87530" y="47827"/>
                </a:lnTo>
                <a:lnTo>
                  <a:pt x="85135" y="6903"/>
                </a:lnTo>
                <a:lnTo>
                  <a:pt x="68491" y="6163"/>
                </a:lnTo>
                <a:lnTo>
                  <a:pt x="68491" y="11094"/>
                </a:lnTo>
                <a:lnTo>
                  <a:pt x="59271" y="10971"/>
                </a:lnTo>
                <a:lnTo>
                  <a:pt x="59151" y="1972"/>
                </a:lnTo>
                <a:lnTo>
                  <a:pt x="56158" y="1849"/>
                </a:lnTo>
                <a:lnTo>
                  <a:pt x="55919" y="0"/>
                </a:lnTo>
                <a:lnTo>
                  <a:pt x="25265" y="1479"/>
                </a:lnTo>
                <a:close/>
              </a:path>
            </a:pathLst>
          </a:custGeom>
          <a:solidFill>
            <a:srgbClr val="ded5c5"/>
          </a:solidFill>
          <a:ln w="6191">
            <a:solidFill>
              <a:srgbClr val="b5a68d"/>
            </a:solidFill>
            <a:round/>
          </a:ln>
        </p:spPr>
        <p:style>
          <a:lnRef idx="0"/>
          <a:fillRef idx="0"/>
          <a:effectRef idx="0"/>
          <a:fontRef idx="minor"/>
        </p:style>
        <p:txBody>
          <a:bodyPr lIns="90000" rIns="90000" tIns="36720" bIns="36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22" name="หมู่บ้านวังทองวิลเลจ 1"/>
          <p:cNvSpPr/>
          <p:nvPr/>
        </p:nvSpPr>
        <p:spPr>
          <a:xfrm>
            <a:off x="6877080" y="4958640"/>
            <a:ext cx="42480" cy="25560"/>
          </a:xfrm>
          <a:custGeom>
            <a:avLst/>
            <a:gdLst/>
            <a:ahLst/>
            <a:rect l="l" t="t" r="r" b="b"/>
            <a:pathLst>
              <a:path w="42867" h="25762">
                <a:moveTo>
                  <a:pt x="42867" y="14915"/>
                </a:moveTo>
                <a:lnTo>
                  <a:pt x="39993" y="8259"/>
                </a:lnTo>
                <a:lnTo>
                  <a:pt x="37239" y="5670"/>
                </a:lnTo>
                <a:lnTo>
                  <a:pt x="26343" y="863"/>
                </a:lnTo>
                <a:lnTo>
                  <a:pt x="6346" y="0"/>
                </a:lnTo>
                <a:lnTo>
                  <a:pt x="0" y="5793"/>
                </a:lnTo>
                <a:lnTo>
                  <a:pt x="9579" y="25762"/>
                </a:lnTo>
                <a:lnTo>
                  <a:pt x="42867" y="14915"/>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23" name="หมู่บ้านร่มไทรวิลล่า"/>
          <p:cNvSpPr/>
          <p:nvPr/>
        </p:nvSpPr>
        <p:spPr>
          <a:xfrm>
            <a:off x="6561360" y="4457160"/>
            <a:ext cx="8280" cy="64800"/>
          </a:xfrm>
          <a:custGeom>
            <a:avLst/>
            <a:gdLst/>
            <a:ahLst/>
            <a:rect l="l" t="t" r="r" b="b"/>
            <a:pathLst>
              <a:path w="8621" h="65330">
                <a:moveTo>
                  <a:pt x="0" y="64961"/>
                </a:moveTo>
                <a:lnTo>
                  <a:pt x="4430" y="65330"/>
                </a:lnTo>
                <a:lnTo>
                  <a:pt x="8621" y="0"/>
                </a:lnTo>
                <a:lnTo>
                  <a:pt x="4191" y="370"/>
                </a:lnTo>
                <a:lnTo>
                  <a:pt x="0" y="64961"/>
                </a:lnTo>
                <a:close/>
              </a:path>
            </a:pathLst>
          </a:custGeom>
          <a:solidFill>
            <a:srgbClr val="ded5c5"/>
          </a:solidFill>
          <a:ln w="6191">
            <a:solidFill>
              <a:srgbClr val="b5a68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24" name="หมู่บ้านเสริมศิริ"/>
          <p:cNvSpPr/>
          <p:nvPr/>
        </p:nvSpPr>
        <p:spPr>
          <a:xfrm>
            <a:off x="6541200" y="4236480"/>
            <a:ext cx="46080" cy="29880"/>
          </a:xfrm>
          <a:custGeom>
            <a:avLst/>
            <a:gdLst/>
            <a:ahLst/>
            <a:rect l="l" t="t" r="r" b="b"/>
            <a:pathLst>
              <a:path w="46339" h="30077">
                <a:moveTo>
                  <a:pt x="44663" y="0"/>
                </a:moveTo>
                <a:lnTo>
                  <a:pt x="12333" y="13189"/>
                </a:lnTo>
                <a:lnTo>
                  <a:pt x="0" y="15901"/>
                </a:lnTo>
                <a:lnTo>
                  <a:pt x="718" y="30077"/>
                </a:lnTo>
                <a:lnTo>
                  <a:pt x="46339" y="2465"/>
                </a:lnTo>
                <a:lnTo>
                  <a:pt x="44663" y="0"/>
                </a:lnTo>
                <a:close/>
              </a:path>
            </a:pathLst>
          </a:custGeom>
          <a:solidFill>
            <a:srgbClr val="ded5c5"/>
          </a:solidFill>
          <a:ln w="6191">
            <a:solidFill>
              <a:srgbClr val="b5a68d"/>
            </a:solidFill>
            <a:round/>
          </a:ln>
        </p:spPr>
        <p:style>
          <a:lnRef idx="0"/>
          <a:fillRef idx="0"/>
          <a:effectRef idx="0"/>
          <a:fontRef idx="minor"/>
        </p:style>
        <p:txBody>
          <a:bodyPr lIns="90000" rIns="90000" tIns="-15120" bIns="-15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25" name="หมู่บ้านคลองจั่นวิลล่า 2"/>
          <p:cNvSpPr/>
          <p:nvPr/>
        </p:nvSpPr>
        <p:spPr>
          <a:xfrm>
            <a:off x="6745320" y="4428000"/>
            <a:ext cx="45360" cy="17280"/>
          </a:xfrm>
          <a:custGeom>
            <a:avLst/>
            <a:gdLst/>
            <a:ahLst/>
            <a:rect l="l" t="t" r="r" b="b"/>
            <a:pathLst>
              <a:path w="45860" h="17750">
                <a:moveTo>
                  <a:pt x="44663" y="0"/>
                </a:moveTo>
                <a:lnTo>
                  <a:pt x="0" y="11217"/>
                </a:lnTo>
                <a:lnTo>
                  <a:pt x="599" y="17750"/>
                </a:lnTo>
                <a:lnTo>
                  <a:pt x="45860" y="7519"/>
                </a:lnTo>
                <a:lnTo>
                  <a:pt x="44663" y="0"/>
                </a:lnTo>
                <a:close/>
              </a:path>
            </a:pathLst>
          </a:custGeom>
          <a:solidFill>
            <a:srgbClr val="ded5c5"/>
          </a:solidFill>
          <a:ln w="6191">
            <a:solidFill>
              <a:srgbClr val="b5a68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26" name="หมู่บ้านวรรณจิตร"/>
          <p:cNvSpPr/>
          <p:nvPr/>
        </p:nvSpPr>
        <p:spPr>
          <a:xfrm>
            <a:off x="6640200" y="4527720"/>
            <a:ext cx="9360" cy="13320"/>
          </a:xfrm>
          <a:custGeom>
            <a:avLst/>
            <a:gdLst/>
            <a:ahLst/>
            <a:rect l="l" t="t" r="r" b="b"/>
            <a:pathLst>
              <a:path w="9699" h="13806">
                <a:moveTo>
                  <a:pt x="718" y="13806"/>
                </a:moveTo>
                <a:lnTo>
                  <a:pt x="9699" y="13559"/>
                </a:lnTo>
                <a:lnTo>
                  <a:pt x="8142" y="0"/>
                </a:lnTo>
                <a:lnTo>
                  <a:pt x="1796" y="740"/>
                </a:lnTo>
                <a:lnTo>
                  <a:pt x="2515" y="11833"/>
                </a:lnTo>
                <a:lnTo>
                  <a:pt x="0" y="11957"/>
                </a:lnTo>
                <a:lnTo>
                  <a:pt x="718" y="13806"/>
                </a:lnTo>
                <a:close/>
              </a:path>
            </a:pathLst>
          </a:custGeom>
          <a:solidFill>
            <a:srgbClr val="ded5c5"/>
          </a:solidFill>
          <a:ln w="6191">
            <a:solidFill>
              <a:srgbClr val="b5a68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27" name="หมู่บ้านอัมรินทร์นิเวศน์ 2"/>
          <p:cNvSpPr/>
          <p:nvPr/>
        </p:nvSpPr>
        <p:spPr>
          <a:xfrm>
            <a:off x="6801480" y="4412880"/>
            <a:ext cx="39600" cy="20880"/>
          </a:xfrm>
          <a:custGeom>
            <a:avLst/>
            <a:gdLst/>
            <a:ahLst/>
            <a:rect l="l" t="t" r="r" b="b"/>
            <a:pathLst>
              <a:path w="39993" h="21202">
                <a:moveTo>
                  <a:pt x="0" y="11833"/>
                </a:moveTo>
                <a:lnTo>
                  <a:pt x="4670" y="11464"/>
                </a:lnTo>
                <a:lnTo>
                  <a:pt x="4909" y="21202"/>
                </a:lnTo>
                <a:lnTo>
                  <a:pt x="38796" y="19106"/>
                </a:lnTo>
                <a:lnTo>
                  <a:pt x="39993" y="0"/>
                </a:lnTo>
                <a:lnTo>
                  <a:pt x="3712" y="493"/>
                </a:lnTo>
                <a:lnTo>
                  <a:pt x="0" y="11833"/>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28" name="หมู่บ้านเคหะธานี 2 รามอินทรา"/>
          <p:cNvSpPr/>
          <p:nvPr/>
        </p:nvSpPr>
        <p:spPr>
          <a:xfrm>
            <a:off x="6572520" y="4272120"/>
            <a:ext cx="92520" cy="64440"/>
          </a:xfrm>
          <a:custGeom>
            <a:avLst/>
            <a:gdLst/>
            <a:ahLst/>
            <a:rect l="l" t="t" r="r" b="b"/>
            <a:pathLst>
              <a:path w="93038" h="64714">
                <a:moveTo>
                  <a:pt x="82740" y="0"/>
                </a:moveTo>
                <a:lnTo>
                  <a:pt x="48495" y="21571"/>
                </a:lnTo>
                <a:lnTo>
                  <a:pt x="0" y="46964"/>
                </a:lnTo>
                <a:lnTo>
                  <a:pt x="1676" y="50415"/>
                </a:lnTo>
                <a:lnTo>
                  <a:pt x="4071" y="53374"/>
                </a:lnTo>
                <a:lnTo>
                  <a:pt x="42508" y="33281"/>
                </a:lnTo>
                <a:lnTo>
                  <a:pt x="44184" y="36240"/>
                </a:lnTo>
                <a:lnTo>
                  <a:pt x="7544" y="55716"/>
                </a:lnTo>
                <a:lnTo>
                  <a:pt x="11735" y="63481"/>
                </a:lnTo>
                <a:lnTo>
                  <a:pt x="15327" y="64714"/>
                </a:lnTo>
                <a:lnTo>
                  <a:pt x="31372" y="55346"/>
                </a:lnTo>
                <a:lnTo>
                  <a:pt x="35204" y="62495"/>
                </a:lnTo>
                <a:lnTo>
                  <a:pt x="39634" y="59783"/>
                </a:lnTo>
                <a:lnTo>
                  <a:pt x="35802" y="52881"/>
                </a:lnTo>
                <a:lnTo>
                  <a:pt x="38197" y="51525"/>
                </a:lnTo>
                <a:lnTo>
                  <a:pt x="61427" y="39198"/>
                </a:lnTo>
                <a:lnTo>
                  <a:pt x="63821" y="47210"/>
                </a:lnTo>
                <a:lnTo>
                  <a:pt x="84417" y="35870"/>
                </a:lnTo>
                <a:lnTo>
                  <a:pt x="83459" y="34268"/>
                </a:lnTo>
                <a:lnTo>
                  <a:pt x="82022" y="35007"/>
                </a:lnTo>
                <a:lnTo>
                  <a:pt x="79627" y="30570"/>
                </a:lnTo>
                <a:lnTo>
                  <a:pt x="85255" y="27241"/>
                </a:lnTo>
                <a:lnTo>
                  <a:pt x="83219" y="23544"/>
                </a:lnTo>
                <a:lnTo>
                  <a:pt x="93038" y="18120"/>
                </a:lnTo>
                <a:lnTo>
                  <a:pt x="82740" y="0"/>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29" name="หมู่บ้านธนะธานี 3"/>
          <p:cNvSpPr/>
          <p:nvPr/>
        </p:nvSpPr>
        <p:spPr>
          <a:xfrm>
            <a:off x="6726600" y="4371120"/>
            <a:ext cx="27000" cy="19440"/>
          </a:xfrm>
          <a:custGeom>
            <a:avLst/>
            <a:gdLst/>
            <a:ahLst/>
            <a:rect l="l" t="t" r="r" b="b"/>
            <a:pathLst>
              <a:path w="27420" h="19722">
                <a:moveTo>
                  <a:pt x="2275" y="0"/>
                </a:moveTo>
                <a:lnTo>
                  <a:pt x="0" y="370"/>
                </a:lnTo>
                <a:lnTo>
                  <a:pt x="1437" y="19722"/>
                </a:lnTo>
                <a:lnTo>
                  <a:pt x="27420" y="15285"/>
                </a:lnTo>
                <a:lnTo>
                  <a:pt x="25505" y="2096"/>
                </a:lnTo>
                <a:lnTo>
                  <a:pt x="4071" y="5793"/>
                </a:lnTo>
                <a:lnTo>
                  <a:pt x="2275" y="0"/>
                </a:lnTo>
                <a:close/>
              </a:path>
            </a:pathLst>
          </a:custGeom>
          <a:solidFill>
            <a:srgbClr val="ded5c5"/>
          </a:solidFill>
          <a:ln w="6191">
            <a:solidFill>
              <a:srgbClr val="b5a68d"/>
            </a:solidFill>
            <a:round/>
          </a:ln>
        </p:spPr>
        <p:style>
          <a:lnRef idx="0"/>
          <a:fillRef idx="0"/>
          <a:effectRef idx="0"/>
          <a:fontRef idx="minor"/>
        </p:style>
        <p:txBody>
          <a:bodyPr lIns="90000" rIns="90000" tIns="-25560" bIns="-25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30" name="วรรัตน์สัมพันธ์"/>
          <p:cNvSpPr/>
          <p:nvPr/>
        </p:nvSpPr>
        <p:spPr>
          <a:xfrm>
            <a:off x="5256360" y="5838480"/>
            <a:ext cx="63000" cy="95040"/>
          </a:xfrm>
          <a:custGeom>
            <a:avLst/>
            <a:gdLst/>
            <a:ahLst/>
            <a:rect l="l" t="t" r="r" b="b"/>
            <a:pathLst>
              <a:path w="63342" h="95530">
                <a:moveTo>
                  <a:pt x="47537" y="63358"/>
                </a:moveTo>
                <a:lnTo>
                  <a:pt x="43226" y="54483"/>
                </a:lnTo>
                <a:lnTo>
                  <a:pt x="51608" y="50045"/>
                </a:lnTo>
                <a:lnTo>
                  <a:pt x="45621" y="40184"/>
                </a:lnTo>
                <a:lnTo>
                  <a:pt x="47656" y="39075"/>
                </a:lnTo>
                <a:lnTo>
                  <a:pt x="45262" y="34144"/>
                </a:lnTo>
                <a:lnTo>
                  <a:pt x="39754" y="36979"/>
                </a:lnTo>
                <a:lnTo>
                  <a:pt x="31971" y="23420"/>
                </a:lnTo>
                <a:lnTo>
                  <a:pt x="63342" y="2835"/>
                </a:lnTo>
                <a:lnTo>
                  <a:pt x="61427" y="370"/>
                </a:lnTo>
                <a:lnTo>
                  <a:pt x="59630" y="1356"/>
                </a:lnTo>
                <a:lnTo>
                  <a:pt x="58673" y="0"/>
                </a:lnTo>
                <a:lnTo>
                  <a:pt x="42508" y="11957"/>
                </a:lnTo>
                <a:lnTo>
                  <a:pt x="27899" y="19846"/>
                </a:lnTo>
                <a:lnTo>
                  <a:pt x="25385" y="15531"/>
                </a:lnTo>
                <a:lnTo>
                  <a:pt x="24427" y="16271"/>
                </a:lnTo>
                <a:lnTo>
                  <a:pt x="23230" y="14052"/>
                </a:lnTo>
                <a:lnTo>
                  <a:pt x="21793" y="14915"/>
                </a:lnTo>
                <a:lnTo>
                  <a:pt x="19757" y="11217"/>
                </a:lnTo>
                <a:lnTo>
                  <a:pt x="5388" y="19722"/>
                </a:lnTo>
                <a:lnTo>
                  <a:pt x="9100" y="27241"/>
                </a:lnTo>
                <a:lnTo>
                  <a:pt x="0" y="34514"/>
                </a:lnTo>
                <a:lnTo>
                  <a:pt x="718" y="40924"/>
                </a:lnTo>
                <a:lnTo>
                  <a:pt x="1676" y="42403"/>
                </a:lnTo>
                <a:lnTo>
                  <a:pt x="3472" y="41417"/>
                </a:lnTo>
                <a:lnTo>
                  <a:pt x="21553" y="68658"/>
                </a:lnTo>
                <a:lnTo>
                  <a:pt x="17362" y="71000"/>
                </a:lnTo>
                <a:lnTo>
                  <a:pt x="20236" y="76424"/>
                </a:lnTo>
                <a:lnTo>
                  <a:pt x="20954" y="77287"/>
                </a:lnTo>
                <a:lnTo>
                  <a:pt x="25984" y="74945"/>
                </a:lnTo>
                <a:lnTo>
                  <a:pt x="34365" y="95530"/>
                </a:lnTo>
                <a:lnTo>
                  <a:pt x="39754" y="94914"/>
                </a:lnTo>
                <a:lnTo>
                  <a:pt x="37479" y="88997"/>
                </a:lnTo>
                <a:lnTo>
                  <a:pt x="39275" y="88134"/>
                </a:lnTo>
                <a:lnTo>
                  <a:pt x="35443" y="81478"/>
                </a:lnTo>
                <a:lnTo>
                  <a:pt x="38317" y="79752"/>
                </a:lnTo>
                <a:lnTo>
                  <a:pt x="36281" y="75315"/>
                </a:lnTo>
                <a:lnTo>
                  <a:pt x="40951" y="72603"/>
                </a:lnTo>
                <a:lnTo>
                  <a:pt x="39394" y="69028"/>
                </a:lnTo>
                <a:lnTo>
                  <a:pt x="37359" y="70014"/>
                </a:lnTo>
                <a:lnTo>
                  <a:pt x="35922" y="67796"/>
                </a:lnTo>
                <a:lnTo>
                  <a:pt x="38915" y="66316"/>
                </a:lnTo>
                <a:lnTo>
                  <a:pt x="40113" y="68042"/>
                </a:lnTo>
                <a:lnTo>
                  <a:pt x="42867" y="66070"/>
                </a:lnTo>
                <a:lnTo>
                  <a:pt x="44783" y="69768"/>
                </a:lnTo>
                <a:lnTo>
                  <a:pt x="49453" y="67056"/>
                </a:lnTo>
                <a:lnTo>
                  <a:pt x="47537" y="6335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31" name="วัดปรก"/>
          <p:cNvSpPr/>
          <p:nvPr/>
        </p:nvSpPr>
        <p:spPr>
          <a:xfrm>
            <a:off x="5155200" y="5850000"/>
            <a:ext cx="37080" cy="34200"/>
          </a:xfrm>
          <a:custGeom>
            <a:avLst/>
            <a:gdLst/>
            <a:ahLst/>
            <a:rect l="l" t="t" r="r" b="b"/>
            <a:pathLst>
              <a:path w="37359" h="34391">
                <a:moveTo>
                  <a:pt x="479" y="19229"/>
                </a:moveTo>
                <a:lnTo>
                  <a:pt x="2634" y="19599"/>
                </a:lnTo>
                <a:lnTo>
                  <a:pt x="1796" y="24037"/>
                </a:lnTo>
                <a:lnTo>
                  <a:pt x="10777" y="26009"/>
                </a:lnTo>
                <a:lnTo>
                  <a:pt x="9938" y="30200"/>
                </a:lnTo>
                <a:lnTo>
                  <a:pt x="31372" y="34391"/>
                </a:lnTo>
                <a:lnTo>
                  <a:pt x="33767" y="21325"/>
                </a:lnTo>
                <a:lnTo>
                  <a:pt x="36521" y="21941"/>
                </a:lnTo>
                <a:lnTo>
                  <a:pt x="37359" y="16887"/>
                </a:lnTo>
                <a:lnTo>
                  <a:pt x="27899" y="15408"/>
                </a:lnTo>
                <a:lnTo>
                  <a:pt x="29815" y="6040"/>
                </a:lnTo>
                <a:lnTo>
                  <a:pt x="23230" y="5300"/>
                </a:lnTo>
                <a:lnTo>
                  <a:pt x="22870" y="10231"/>
                </a:lnTo>
                <a:lnTo>
                  <a:pt x="14489" y="9368"/>
                </a:lnTo>
                <a:lnTo>
                  <a:pt x="15446" y="123"/>
                </a:lnTo>
                <a:lnTo>
                  <a:pt x="10298" y="0"/>
                </a:lnTo>
                <a:lnTo>
                  <a:pt x="9699" y="3451"/>
                </a:lnTo>
                <a:lnTo>
                  <a:pt x="8262" y="3205"/>
                </a:lnTo>
                <a:lnTo>
                  <a:pt x="7903" y="4561"/>
                </a:lnTo>
                <a:lnTo>
                  <a:pt x="479" y="3698"/>
                </a:lnTo>
                <a:lnTo>
                  <a:pt x="0" y="7519"/>
                </a:lnTo>
                <a:lnTo>
                  <a:pt x="2395" y="7889"/>
                </a:lnTo>
                <a:lnTo>
                  <a:pt x="479" y="19229"/>
                </a:lnTo>
                <a:close/>
              </a:path>
            </a:pathLst>
          </a:custGeom>
          <a:solidFill>
            <a:srgbClr val="ded5c5"/>
          </a:solidFill>
          <a:ln w="6191">
            <a:solidFill>
              <a:srgbClr val="b5a68d"/>
            </a:solidFill>
            <a:round/>
          </a:ln>
        </p:spPr>
        <p:style>
          <a:lnRef idx="0"/>
          <a:fillRef idx="0"/>
          <a:effectRef idx="0"/>
          <a:fontRef idx="minor"/>
        </p:style>
        <p:txBody>
          <a:bodyPr lIns="90000" rIns="90000" tIns="-10800" bIns="-10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32" name="ศาลเจ้าปุงเท่ากง"/>
          <p:cNvSpPr/>
          <p:nvPr/>
        </p:nvSpPr>
        <p:spPr>
          <a:xfrm>
            <a:off x="4889880" y="4958280"/>
            <a:ext cx="24480" cy="16920"/>
          </a:xfrm>
          <a:custGeom>
            <a:avLst/>
            <a:gdLst/>
            <a:ahLst/>
            <a:rect l="l" t="t" r="r" b="b"/>
            <a:pathLst>
              <a:path w="24786" h="17380">
                <a:moveTo>
                  <a:pt x="2395" y="1602"/>
                </a:moveTo>
                <a:lnTo>
                  <a:pt x="0" y="9122"/>
                </a:lnTo>
                <a:lnTo>
                  <a:pt x="19158" y="17380"/>
                </a:lnTo>
                <a:lnTo>
                  <a:pt x="22152" y="10354"/>
                </a:lnTo>
                <a:lnTo>
                  <a:pt x="24187" y="11340"/>
                </a:lnTo>
                <a:lnTo>
                  <a:pt x="24786" y="9491"/>
                </a:lnTo>
                <a:lnTo>
                  <a:pt x="14010" y="4438"/>
                </a:lnTo>
                <a:lnTo>
                  <a:pt x="3113" y="0"/>
                </a:lnTo>
                <a:lnTo>
                  <a:pt x="2395" y="1602"/>
                </a:lnTo>
                <a:close/>
              </a:path>
            </a:pathLst>
          </a:custGeom>
          <a:solidFill>
            <a:srgbClr val="ded5c5"/>
          </a:solidFill>
          <a:ln w="6191">
            <a:solidFill>
              <a:srgbClr val="b5a68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33" name="หมู่บ้านเจริญสุขใจ"/>
          <p:cNvSpPr/>
          <p:nvPr/>
        </p:nvSpPr>
        <p:spPr>
          <a:xfrm>
            <a:off x="5096520" y="5929560"/>
            <a:ext cx="18000" cy="13320"/>
          </a:xfrm>
          <a:custGeom>
            <a:avLst/>
            <a:gdLst/>
            <a:ahLst/>
            <a:rect l="l" t="t" r="r" b="b"/>
            <a:pathLst>
              <a:path w="18440" h="13806">
                <a:moveTo>
                  <a:pt x="718" y="2096"/>
                </a:moveTo>
                <a:lnTo>
                  <a:pt x="0" y="4684"/>
                </a:lnTo>
                <a:lnTo>
                  <a:pt x="6107" y="6040"/>
                </a:lnTo>
                <a:lnTo>
                  <a:pt x="4550" y="12080"/>
                </a:lnTo>
                <a:lnTo>
                  <a:pt x="10777" y="13806"/>
                </a:lnTo>
                <a:lnTo>
                  <a:pt x="12573" y="7519"/>
                </a:lnTo>
                <a:lnTo>
                  <a:pt x="17841" y="8998"/>
                </a:lnTo>
                <a:lnTo>
                  <a:pt x="18440" y="6903"/>
                </a:lnTo>
                <a:lnTo>
                  <a:pt x="13171" y="5547"/>
                </a:lnTo>
                <a:lnTo>
                  <a:pt x="14010" y="1602"/>
                </a:lnTo>
                <a:lnTo>
                  <a:pt x="7424" y="0"/>
                </a:lnTo>
                <a:lnTo>
                  <a:pt x="6346" y="3698"/>
                </a:lnTo>
                <a:lnTo>
                  <a:pt x="718" y="2096"/>
                </a:lnTo>
                <a:close/>
              </a:path>
            </a:pathLst>
          </a:custGeom>
          <a:solidFill>
            <a:srgbClr val="ded5c5"/>
          </a:solidFill>
          <a:ln w="6191">
            <a:solidFill>
              <a:srgbClr val="b5a68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34" name="หมู่บ้านจันทรานิเวศน์"/>
          <p:cNvSpPr/>
          <p:nvPr/>
        </p:nvSpPr>
        <p:spPr>
          <a:xfrm>
            <a:off x="5292360" y="5899680"/>
            <a:ext cx="27720" cy="21600"/>
          </a:xfrm>
          <a:custGeom>
            <a:avLst/>
            <a:gdLst/>
            <a:ahLst/>
            <a:rect l="l" t="t" r="r" b="b"/>
            <a:pathLst>
              <a:path w="28019" h="21941">
                <a:moveTo>
                  <a:pt x="359" y="14299"/>
                </a:moveTo>
                <a:lnTo>
                  <a:pt x="4550" y="21941"/>
                </a:lnTo>
                <a:lnTo>
                  <a:pt x="28019" y="7149"/>
                </a:lnTo>
                <a:lnTo>
                  <a:pt x="24307" y="0"/>
                </a:lnTo>
                <a:lnTo>
                  <a:pt x="8980" y="8505"/>
                </a:lnTo>
                <a:lnTo>
                  <a:pt x="7184" y="4931"/>
                </a:lnTo>
                <a:lnTo>
                  <a:pt x="4071" y="6656"/>
                </a:lnTo>
                <a:lnTo>
                  <a:pt x="3113" y="5177"/>
                </a:lnTo>
                <a:lnTo>
                  <a:pt x="0" y="6780"/>
                </a:lnTo>
                <a:lnTo>
                  <a:pt x="1437" y="8998"/>
                </a:lnTo>
                <a:lnTo>
                  <a:pt x="3353" y="8012"/>
                </a:lnTo>
                <a:lnTo>
                  <a:pt x="5029" y="11464"/>
                </a:lnTo>
                <a:lnTo>
                  <a:pt x="359" y="14299"/>
                </a:lnTo>
                <a:close/>
              </a:path>
            </a:pathLst>
          </a:custGeom>
          <a:solidFill>
            <a:srgbClr val="ded5c5"/>
          </a:solidFill>
          <a:ln w="6191">
            <a:solidFill>
              <a:srgbClr val="b5a68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35" name="ดอนกุศลพัฒนา"/>
          <p:cNvSpPr/>
          <p:nvPr/>
        </p:nvSpPr>
        <p:spPr>
          <a:xfrm>
            <a:off x="5115240" y="5835960"/>
            <a:ext cx="29880" cy="32760"/>
          </a:xfrm>
          <a:custGeom>
            <a:avLst/>
            <a:gdLst/>
            <a:ahLst/>
            <a:rect l="l" t="t" r="r" b="b"/>
            <a:pathLst>
              <a:path w="30414" h="33281">
                <a:moveTo>
                  <a:pt x="22032" y="33281"/>
                </a:moveTo>
                <a:lnTo>
                  <a:pt x="30414" y="2095"/>
                </a:lnTo>
                <a:lnTo>
                  <a:pt x="18440" y="0"/>
                </a:lnTo>
                <a:lnTo>
                  <a:pt x="16524" y="9368"/>
                </a:lnTo>
                <a:lnTo>
                  <a:pt x="2754" y="7642"/>
                </a:lnTo>
                <a:lnTo>
                  <a:pt x="0" y="28228"/>
                </a:lnTo>
                <a:lnTo>
                  <a:pt x="22032" y="33281"/>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36" name="ชวนชื่น"/>
          <p:cNvSpPr/>
          <p:nvPr/>
        </p:nvSpPr>
        <p:spPr>
          <a:xfrm>
            <a:off x="5301000" y="5856840"/>
            <a:ext cx="25200" cy="20160"/>
          </a:xfrm>
          <a:custGeom>
            <a:avLst/>
            <a:gdLst/>
            <a:ahLst/>
            <a:rect l="l" t="t" r="r" b="b"/>
            <a:pathLst>
              <a:path w="25624" h="20462">
                <a:moveTo>
                  <a:pt x="3592" y="20462"/>
                </a:moveTo>
                <a:lnTo>
                  <a:pt x="25624" y="8012"/>
                </a:lnTo>
                <a:lnTo>
                  <a:pt x="22631" y="2958"/>
                </a:lnTo>
                <a:lnTo>
                  <a:pt x="19757" y="0"/>
                </a:lnTo>
                <a:lnTo>
                  <a:pt x="0" y="11217"/>
                </a:lnTo>
                <a:lnTo>
                  <a:pt x="1676" y="15162"/>
                </a:lnTo>
                <a:lnTo>
                  <a:pt x="599" y="15778"/>
                </a:lnTo>
                <a:lnTo>
                  <a:pt x="3592" y="20462"/>
                </a:lnTo>
                <a:close/>
              </a:path>
            </a:pathLst>
          </a:custGeom>
          <a:solidFill>
            <a:srgbClr val="ded5c5"/>
          </a:solidFill>
          <a:ln w="6191">
            <a:solidFill>
              <a:srgbClr val="b5a68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37" name="ดอนกุศลร่วมใจ"/>
          <p:cNvSpPr/>
          <p:nvPr/>
        </p:nvSpPr>
        <p:spPr>
          <a:xfrm>
            <a:off x="5148000" y="5834880"/>
            <a:ext cx="16560" cy="30600"/>
          </a:xfrm>
          <a:custGeom>
            <a:avLst/>
            <a:gdLst/>
            <a:ahLst/>
            <a:rect l="l" t="t" r="r" b="b"/>
            <a:pathLst>
              <a:path w="16764" h="30939">
                <a:moveTo>
                  <a:pt x="8023" y="30939"/>
                </a:moveTo>
                <a:lnTo>
                  <a:pt x="9459" y="22927"/>
                </a:lnTo>
                <a:lnTo>
                  <a:pt x="7065" y="22434"/>
                </a:lnTo>
                <a:lnTo>
                  <a:pt x="7663" y="18736"/>
                </a:lnTo>
                <a:lnTo>
                  <a:pt x="14967" y="19599"/>
                </a:lnTo>
                <a:lnTo>
                  <a:pt x="15327" y="18243"/>
                </a:lnTo>
                <a:lnTo>
                  <a:pt x="16764" y="18490"/>
                </a:lnTo>
                <a:lnTo>
                  <a:pt x="16524" y="1233"/>
                </a:lnTo>
                <a:lnTo>
                  <a:pt x="1916" y="0"/>
                </a:lnTo>
                <a:lnTo>
                  <a:pt x="479" y="11957"/>
                </a:lnTo>
                <a:lnTo>
                  <a:pt x="3233" y="12326"/>
                </a:lnTo>
                <a:lnTo>
                  <a:pt x="0" y="29584"/>
                </a:lnTo>
                <a:lnTo>
                  <a:pt x="8023" y="30939"/>
                </a:lnTo>
                <a:close/>
              </a:path>
            </a:pathLst>
          </a:custGeom>
          <a:solidFill>
            <a:srgbClr val="ded5c5"/>
          </a:solidFill>
          <a:ln w="6191">
            <a:solidFill>
              <a:srgbClr val="b5a68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38" name="ปู่เหลี่ยม"/>
          <p:cNvSpPr/>
          <p:nvPr/>
        </p:nvSpPr>
        <p:spPr>
          <a:xfrm>
            <a:off x="5090040" y="5923080"/>
            <a:ext cx="14760" cy="18360"/>
          </a:xfrm>
          <a:custGeom>
            <a:avLst/>
            <a:gdLst/>
            <a:ahLst/>
            <a:rect l="l" t="t" r="r" b="b"/>
            <a:pathLst>
              <a:path w="14967" h="18860">
                <a:moveTo>
                  <a:pt x="12812" y="10477"/>
                </a:moveTo>
                <a:lnTo>
                  <a:pt x="14967" y="3205"/>
                </a:lnTo>
                <a:lnTo>
                  <a:pt x="4790" y="0"/>
                </a:lnTo>
                <a:lnTo>
                  <a:pt x="0" y="9491"/>
                </a:lnTo>
                <a:lnTo>
                  <a:pt x="6107" y="11587"/>
                </a:lnTo>
                <a:lnTo>
                  <a:pt x="4430" y="17134"/>
                </a:lnTo>
                <a:lnTo>
                  <a:pt x="11016" y="18860"/>
                </a:lnTo>
                <a:lnTo>
                  <a:pt x="12573" y="12820"/>
                </a:lnTo>
                <a:lnTo>
                  <a:pt x="6466" y="11464"/>
                </a:lnTo>
                <a:lnTo>
                  <a:pt x="7184" y="8875"/>
                </a:lnTo>
                <a:lnTo>
                  <a:pt x="12812" y="10477"/>
                </a:lnTo>
                <a:close/>
              </a:path>
            </a:pathLst>
          </a:custGeom>
          <a:solidFill>
            <a:srgbClr val="ded5c5"/>
          </a:solidFill>
          <a:ln w="6191">
            <a:solidFill>
              <a:srgbClr val="b5a68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39" name="เซ็นต์หลุยส์ 3"/>
          <p:cNvSpPr/>
          <p:nvPr/>
        </p:nvSpPr>
        <p:spPr>
          <a:xfrm>
            <a:off x="5260320" y="5794200"/>
            <a:ext cx="22680" cy="10080"/>
          </a:xfrm>
          <a:custGeom>
            <a:avLst/>
            <a:gdLst/>
            <a:ahLst/>
            <a:rect l="l" t="t" r="r" b="b"/>
            <a:pathLst>
              <a:path w="22990" h="10477">
                <a:moveTo>
                  <a:pt x="14608" y="863"/>
                </a:moveTo>
                <a:lnTo>
                  <a:pt x="0" y="6903"/>
                </a:lnTo>
                <a:lnTo>
                  <a:pt x="1197" y="10477"/>
                </a:lnTo>
                <a:lnTo>
                  <a:pt x="8861" y="7396"/>
                </a:lnTo>
                <a:lnTo>
                  <a:pt x="9699" y="9122"/>
                </a:lnTo>
                <a:lnTo>
                  <a:pt x="22990" y="2835"/>
                </a:lnTo>
                <a:lnTo>
                  <a:pt x="22511" y="1726"/>
                </a:lnTo>
                <a:lnTo>
                  <a:pt x="21194" y="2465"/>
                </a:lnTo>
                <a:lnTo>
                  <a:pt x="20116" y="0"/>
                </a:lnTo>
                <a:lnTo>
                  <a:pt x="14608" y="863"/>
                </a:lnTo>
                <a:close/>
              </a:path>
            </a:pathLst>
          </a:custGeom>
          <a:solidFill>
            <a:srgbClr val="ded5c5"/>
          </a:solidFill>
          <a:ln w="6191">
            <a:solidFill>
              <a:srgbClr val="b5a68d"/>
            </a:solidFill>
            <a:round/>
          </a:ln>
        </p:spPr>
        <p:style>
          <a:lnRef idx="0"/>
          <a:fillRef idx="0"/>
          <a:effectRef idx="0"/>
          <a:fontRef idx="minor"/>
        </p:style>
        <p:txBody>
          <a:bodyPr lIns="90000" rIns="90000" tIns="-34920" bIns="-34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40" name="พระยานคร"/>
          <p:cNvSpPr/>
          <p:nvPr/>
        </p:nvSpPr>
        <p:spPr>
          <a:xfrm>
            <a:off x="5067360" y="5864040"/>
            <a:ext cx="22320" cy="13680"/>
          </a:xfrm>
          <a:custGeom>
            <a:avLst/>
            <a:gdLst/>
            <a:ahLst/>
            <a:rect l="l" t="t" r="r" b="b"/>
            <a:pathLst>
              <a:path w="22511" h="13929">
                <a:moveTo>
                  <a:pt x="10777" y="13929"/>
                </a:moveTo>
                <a:lnTo>
                  <a:pt x="12812" y="7273"/>
                </a:lnTo>
                <a:lnTo>
                  <a:pt x="20715" y="7889"/>
                </a:lnTo>
                <a:lnTo>
                  <a:pt x="22511" y="2465"/>
                </a:lnTo>
                <a:lnTo>
                  <a:pt x="1916" y="0"/>
                </a:lnTo>
                <a:lnTo>
                  <a:pt x="0" y="11094"/>
                </a:lnTo>
                <a:lnTo>
                  <a:pt x="10777" y="13929"/>
                </a:lnTo>
                <a:close/>
              </a:path>
            </a:pathLst>
          </a:custGeom>
          <a:solidFill>
            <a:srgbClr val="ded5c5"/>
          </a:solidFill>
          <a:ln w="6191">
            <a:solidFill>
              <a:srgbClr val="b5a68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41" name="โรงน้ำแข็ง"/>
          <p:cNvSpPr/>
          <p:nvPr/>
        </p:nvSpPr>
        <p:spPr>
          <a:xfrm>
            <a:off x="5150160" y="5788800"/>
            <a:ext cx="37440" cy="42840"/>
          </a:xfrm>
          <a:custGeom>
            <a:avLst/>
            <a:gdLst/>
            <a:ahLst/>
            <a:rect l="l" t="t" r="r" b="b"/>
            <a:pathLst>
              <a:path w="37718" h="43143">
                <a:moveTo>
                  <a:pt x="479" y="23174"/>
                </a:moveTo>
                <a:lnTo>
                  <a:pt x="1317" y="35870"/>
                </a:lnTo>
                <a:lnTo>
                  <a:pt x="7065" y="36117"/>
                </a:lnTo>
                <a:lnTo>
                  <a:pt x="6705" y="41787"/>
                </a:lnTo>
                <a:lnTo>
                  <a:pt x="15327" y="43143"/>
                </a:lnTo>
                <a:lnTo>
                  <a:pt x="14967" y="35377"/>
                </a:lnTo>
                <a:lnTo>
                  <a:pt x="26941" y="29707"/>
                </a:lnTo>
                <a:lnTo>
                  <a:pt x="24187" y="21695"/>
                </a:lnTo>
                <a:lnTo>
                  <a:pt x="34126" y="17380"/>
                </a:lnTo>
                <a:lnTo>
                  <a:pt x="33407" y="15038"/>
                </a:lnTo>
                <a:lnTo>
                  <a:pt x="35204" y="14175"/>
                </a:lnTo>
                <a:lnTo>
                  <a:pt x="33527" y="9984"/>
                </a:lnTo>
                <a:lnTo>
                  <a:pt x="37718" y="7766"/>
                </a:lnTo>
                <a:lnTo>
                  <a:pt x="35204" y="3205"/>
                </a:lnTo>
                <a:lnTo>
                  <a:pt x="20236" y="9984"/>
                </a:lnTo>
                <a:lnTo>
                  <a:pt x="16883" y="1726"/>
                </a:lnTo>
                <a:lnTo>
                  <a:pt x="14129" y="2835"/>
                </a:lnTo>
                <a:lnTo>
                  <a:pt x="12932" y="0"/>
                </a:lnTo>
                <a:lnTo>
                  <a:pt x="1078" y="4438"/>
                </a:lnTo>
                <a:lnTo>
                  <a:pt x="4790" y="15778"/>
                </a:lnTo>
                <a:lnTo>
                  <a:pt x="2754" y="16271"/>
                </a:lnTo>
                <a:lnTo>
                  <a:pt x="2155" y="20339"/>
                </a:lnTo>
                <a:lnTo>
                  <a:pt x="0" y="20092"/>
                </a:lnTo>
                <a:lnTo>
                  <a:pt x="479" y="23174"/>
                </a:lnTo>
                <a:close/>
              </a:path>
            </a:pathLst>
          </a:custGeom>
          <a:solidFill>
            <a:srgbClr val="ded5c5"/>
          </a:solidFill>
          <a:ln w="6191">
            <a:solidFill>
              <a:srgbClr val="b5a68d"/>
            </a:solidFill>
            <a:round/>
          </a:ln>
        </p:spPr>
        <p:style>
          <a:lnRef idx="0"/>
          <a:fillRef idx="0"/>
          <a:effectRef idx="0"/>
          <a:fontRef idx="minor"/>
        </p:style>
        <p:txBody>
          <a:bodyPr lIns="90000" rIns="90000" tIns="-2160" bIns="-2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42" name="ศรีสุริโยทัย"/>
          <p:cNvSpPr/>
          <p:nvPr/>
        </p:nvSpPr>
        <p:spPr>
          <a:xfrm>
            <a:off x="5088600" y="5799240"/>
            <a:ext cx="17640" cy="11160"/>
          </a:xfrm>
          <a:custGeom>
            <a:avLst/>
            <a:gdLst/>
            <a:ahLst/>
            <a:rect l="l" t="t" r="r" b="b"/>
            <a:pathLst>
              <a:path w="17841" h="11587">
                <a:moveTo>
                  <a:pt x="1557" y="0"/>
                </a:moveTo>
                <a:lnTo>
                  <a:pt x="0" y="7642"/>
                </a:lnTo>
                <a:lnTo>
                  <a:pt x="15446" y="11587"/>
                </a:lnTo>
                <a:lnTo>
                  <a:pt x="17841" y="2835"/>
                </a:lnTo>
                <a:lnTo>
                  <a:pt x="1557" y="0"/>
                </a:lnTo>
                <a:close/>
              </a:path>
            </a:pathLst>
          </a:custGeom>
          <a:solidFill>
            <a:srgbClr val="ded5c5"/>
          </a:solidFill>
          <a:ln w="6191">
            <a:solidFill>
              <a:srgbClr val="b5a68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43" name="พัฒนสิน"/>
          <p:cNvSpPr/>
          <p:nvPr/>
        </p:nvSpPr>
        <p:spPr>
          <a:xfrm>
            <a:off x="5344200" y="5858280"/>
            <a:ext cx="44280" cy="38880"/>
          </a:xfrm>
          <a:custGeom>
            <a:avLst/>
            <a:gdLst/>
            <a:ahLst/>
            <a:rect l="l" t="t" r="r" b="b"/>
            <a:pathLst>
              <a:path w="44543" h="39075">
                <a:moveTo>
                  <a:pt x="14010" y="26379"/>
                </a:moveTo>
                <a:lnTo>
                  <a:pt x="17961" y="32542"/>
                </a:lnTo>
                <a:lnTo>
                  <a:pt x="42747" y="13559"/>
                </a:lnTo>
                <a:lnTo>
                  <a:pt x="44064" y="12326"/>
                </a:lnTo>
                <a:lnTo>
                  <a:pt x="42268" y="9491"/>
                </a:lnTo>
                <a:lnTo>
                  <a:pt x="43825" y="8259"/>
                </a:lnTo>
                <a:lnTo>
                  <a:pt x="42987" y="5793"/>
                </a:lnTo>
                <a:lnTo>
                  <a:pt x="44543" y="4561"/>
                </a:lnTo>
                <a:lnTo>
                  <a:pt x="43106" y="1972"/>
                </a:lnTo>
                <a:lnTo>
                  <a:pt x="35323" y="7396"/>
                </a:lnTo>
                <a:lnTo>
                  <a:pt x="30055" y="0"/>
                </a:lnTo>
                <a:lnTo>
                  <a:pt x="0" y="20462"/>
                </a:lnTo>
                <a:lnTo>
                  <a:pt x="9220" y="39075"/>
                </a:lnTo>
                <a:lnTo>
                  <a:pt x="14608" y="35130"/>
                </a:lnTo>
                <a:lnTo>
                  <a:pt x="10537" y="28351"/>
                </a:lnTo>
                <a:lnTo>
                  <a:pt x="14010" y="26379"/>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44" name="บ้านมั่นคงสวนพลู"/>
          <p:cNvSpPr/>
          <p:nvPr/>
        </p:nvSpPr>
        <p:spPr>
          <a:xfrm>
            <a:off x="5404320" y="5750280"/>
            <a:ext cx="17640" cy="14760"/>
          </a:xfrm>
          <a:custGeom>
            <a:avLst/>
            <a:gdLst/>
            <a:ahLst/>
            <a:rect l="l" t="t" r="r" b="b"/>
            <a:pathLst>
              <a:path w="18081" h="15038">
                <a:moveTo>
                  <a:pt x="0" y="5177"/>
                </a:moveTo>
                <a:lnTo>
                  <a:pt x="8142" y="15038"/>
                </a:lnTo>
                <a:lnTo>
                  <a:pt x="18081" y="6780"/>
                </a:lnTo>
                <a:lnTo>
                  <a:pt x="8262" y="0"/>
                </a:lnTo>
                <a:lnTo>
                  <a:pt x="0" y="5177"/>
                </a:lnTo>
                <a:close/>
              </a:path>
            </a:pathLst>
          </a:custGeom>
          <a:solidFill>
            <a:srgbClr val="ded5c5"/>
          </a:solidFill>
          <a:ln w="6191">
            <a:solidFill>
              <a:srgbClr val="b5a68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45" name="บ้านเอื้ออาทรสวนพลูพัฒนา"/>
          <p:cNvSpPr/>
          <p:nvPr/>
        </p:nvSpPr>
        <p:spPr>
          <a:xfrm>
            <a:off x="5390640" y="5754960"/>
            <a:ext cx="21240" cy="22680"/>
          </a:xfrm>
          <a:custGeom>
            <a:avLst/>
            <a:gdLst/>
            <a:ahLst/>
            <a:rect l="l" t="t" r="r" b="b"/>
            <a:pathLst>
              <a:path w="21553" h="23174">
                <a:moveTo>
                  <a:pt x="7903" y="2712"/>
                </a:moveTo>
                <a:lnTo>
                  <a:pt x="11136" y="7149"/>
                </a:lnTo>
                <a:lnTo>
                  <a:pt x="0" y="13189"/>
                </a:lnTo>
                <a:lnTo>
                  <a:pt x="6107" y="23174"/>
                </a:lnTo>
                <a:lnTo>
                  <a:pt x="21553" y="10231"/>
                </a:lnTo>
                <a:lnTo>
                  <a:pt x="13171" y="0"/>
                </a:lnTo>
                <a:lnTo>
                  <a:pt x="7903" y="2712"/>
                </a:lnTo>
                <a:close/>
              </a:path>
            </a:pathLst>
          </a:custGeom>
          <a:solidFill>
            <a:srgbClr val="ded5c5"/>
          </a:solidFill>
          <a:ln w="6191">
            <a:solidFill>
              <a:srgbClr val="b5a68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46" name="เจ้าพระยาสยาม"/>
          <p:cNvSpPr/>
          <p:nvPr/>
        </p:nvSpPr>
        <p:spPr>
          <a:xfrm>
            <a:off x="4848840" y="4948560"/>
            <a:ext cx="59760" cy="32400"/>
          </a:xfrm>
          <a:custGeom>
            <a:avLst/>
            <a:gdLst/>
            <a:ahLst/>
            <a:rect l="l" t="t" r="r" b="b"/>
            <a:pathLst>
              <a:path w="60229" h="32788">
                <a:moveTo>
                  <a:pt x="17602" y="8875"/>
                </a:moveTo>
                <a:lnTo>
                  <a:pt x="19997" y="1972"/>
                </a:lnTo>
                <a:lnTo>
                  <a:pt x="15446" y="0"/>
                </a:lnTo>
                <a:lnTo>
                  <a:pt x="0" y="10108"/>
                </a:lnTo>
                <a:lnTo>
                  <a:pt x="57715" y="32788"/>
                </a:lnTo>
                <a:lnTo>
                  <a:pt x="60229" y="27118"/>
                </a:lnTo>
                <a:lnTo>
                  <a:pt x="17602" y="8875"/>
                </a:lnTo>
                <a:close/>
              </a:path>
            </a:pathLst>
          </a:custGeom>
          <a:solidFill>
            <a:srgbClr val="ded5c5"/>
          </a:solidFill>
          <a:ln w="6191">
            <a:solidFill>
              <a:srgbClr val="b5a68d"/>
            </a:solidFill>
            <a:round/>
          </a:ln>
        </p:spPr>
        <p:style>
          <a:lnRef idx="0"/>
          <a:fillRef idx="0"/>
          <a:effectRef idx="0"/>
          <a:fontRef idx="minor"/>
        </p:style>
        <p:txBody>
          <a:bodyPr lIns="90000" rIns="90000" tIns="-12600" bIns="-12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47" name="จรัญฯ 66/1"/>
          <p:cNvSpPr/>
          <p:nvPr/>
        </p:nvSpPr>
        <p:spPr>
          <a:xfrm>
            <a:off x="4865760" y="4946400"/>
            <a:ext cx="27360" cy="20520"/>
          </a:xfrm>
          <a:custGeom>
            <a:avLst/>
            <a:gdLst/>
            <a:ahLst/>
            <a:rect l="l" t="t" r="r" b="b"/>
            <a:pathLst>
              <a:path w="27780" h="20708">
                <a:moveTo>
                  <a:pt x="1916" y="0"/>
                </a:moveTo>
                <a:lnTo>
                  <a:pt x="0" y="1849"/>
                </a:lnTo>
                <a:lnTo>
                  <a:pt x="3832" y="3451"/>
                </a:lnTo>
                <a:lnTo>
                  <a:pt x="958" y="11094"/>
                </a:lnTo>
                <a:lnTo>
                  <a:pt x="24187" y="20708"/>
                </a:lnTo>
                <a:lnTo>
                  <a:pt x="27780" y="10847"/>
                </a:lnTo>
                <a:lnTo>
                  <a:pt x="1916" y="0"/>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48" name="หมู่บ้านสุวรรณนิเวศน์"/>
          <p:cNvSpPr/>
          <p:nvPr/>
        </p:nvSpPr>
        <p:spPr>
          <a:xfrm>
            <a:off x="6759000" y="4696560"/>
            <a:ext cx="106920" cy="176760"/>
          </a:xfrm>
          <a:custGeom>
            <a:avLst/>
            <a:gdLst/>
            <a:ahLst/>
            <a:rect l="l" t="t" r="r" b="b"/>
            <a:pathLst>
              <a:path w="107287" h="177255">
                <a:moveTo>
                  <a:pt x="94954" y="370"/>
                </a:moveTo>
                <a:lnTo>
                  <a:pt x="95313" y="6903"/>
                </a:lnTo>
                <a:lnTo>
                  <a:pt x="87051" y="7519"/>
                </a:lnTo>
                <a:lnTo>
                  <a:pt x="89925" y="22434"/>
                </a:lnTo>
                <a:lnTo>
                  <a:pt x="95552" y="21941"/>
                </a:lnTo>
                <a:lnTo>
                  <a:pt x="95552" y="25146"/>
                </a:lnTo>
                <a:lnTo>
                  <a:pt x="93038" y="25269"/>
                </a:lnTo>
                <a:lnTo>
                  <a:pt x="93277" y="40554"/>
                </a:lnTo>
                <a:lnTo>
                  <a:pt x="78310" y="42650"/>
                </a:lnTo>
                <a:lnTo>
                  <a:pt x="74598" y="47087"/>
                </a:lnTo>
                <a:lnTo>
                  <a:pt x="71844" y="44129"/>
                </a:lnTo>
                <a:lnTo>
                  <a:pt x="67174" y="54360"/>
                </a:lnTo>
                <a:lnTo>
                  <a:pt x="41550" y="77657"/>
                </a:lnTo>
                <a:lnTo>
                  <a:pt x="32928" y="87518"/>
                </a:lnTo>
                <a:lnTo>
                  <a:pt x="25385" y="92079"/>
                </a:lnTo>
                <a:lnTo>
                  <a:pt x="26463" y="94174"/>
                </a:lnTo>
                <a:lnTo>
                  <a:pt x="20835" y="96516"/>
                </a:lnTo>
                <a:lnTo>
                  <a:pt x="23469" y="102310"/>
                </a:lnTo>
                <a:lnTo>
                  <a:pt x="1916" y="110938"/>
                </a:lnTo>
                <a:lnTo>
                  <a:pt x="0" y="113404"/>
                </a:lnTo>
                <a:lnTo>
                  <a:pt x="3472" y="122895"/>
                </a:lnTo>
                <a:lnTo>
                  <a:pt x="36521" y="113773"/>
                </a:lnTo>
                <a:lnTo>
                  <a:pt x="37479" y="116855"/>
                </a:lnTo>
                <a:lnTo>
                  <a:pt x="41191" y="115622"/>
                </a:lnTo>
                <a:lnTo>
                  <a:pt x="27301" y="156793"/>
                </a:lnTo>
                <a:lnTo>
                  <a:pt x="23469" y="161970"/>
                </a:lnTo>
                <a:lnTo>
                  <a:pt x="27899" y="165544"/>
                </a:lnTo>
                <a:lnTo>
                  <a:pt x="30414" y="160737"/>
                </a:lnTo>
                <a:lnTo>
                  <a:pt x="34126" y="162463"/>
                </a:lnTo>
                <a:lnTo>
                  <a:pt x="62983" y="94667"/>
                </a:lnTo>
                <a:lnTo>
                  <a:pt x="67533" y="94421"/>
                </a:lnTo>
                <a:lnTo>
                  <a:pt x="72922" y="96886"/>
                </a:lnTo>
                <a:lnTo>
                  <a:pt x="62145" y="118950"/>
                </a:lnTo>
                <a:lnTo>
                  <a:pt x="59391" y="121909"/>
                </a:lnTo>
                <a:lnTo>
                  <a:pt x="56278" y="130414"/>
                </a:lnTo>
                <a:lnTo>
                  <a:pt x="70886" y="137810"/>
                </a:lnTo>
                <a:lnTo>
                  <a:pt x="51608" y="169119"/>
                </a:lnTo>
                <a:lnTo>
                  <a:pt x="65019" y="177255"/>
                </a:lnTo>
                <a:lnTo>
                  <a:pt x="89206" y="145822"/>
                </a:lnTo>
                <a:lnTo>
                  <a:pt x="87410" y="143603"/>
                </a:lnTo>
                <a:lnTo>
                  <a:pt x="91242" y="138919"/>
                </a:lnTo>
                <a:lnTo>
                  <a:pt x="81663" y="122279"/>
                </a:lnTo>
                <a:lnTo>
                  <a:pt x="76155" y="117964"/>
                </a:lnTo>
                <a:lnTo>
                  <a:pt x="81543" y="110075"/>
                </a:lnTo>
                <a:lnTo>
                  <a:pt x="80585" y="104159"/>
                </a:lnTo>
                <a:lnTo>
                  <a:pt x="104892" y="97133"/>
                </a:lnTo>
                <a:lnTo>
                  <a:pt x="107287" y="95037"/>
                </a:lnTo>
                <a:lnTo>
                  <a:pt x="106688" y="41417"/>
                </a:lnTo>
                <a:lnTo>
                  <a:pt x="103934" y="1602"/>
                </a:lnTo>
                <a:lnTo>
                  <a:pt x="101899" y="1726"/>
                </a:lnTo>
                <a:lnTo>
                  <a:pt x="101659" y="0"/>
                </a:lnTo>
                <a:lnTo>
                  <a:pt x="94954" y="37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49" name="หมู่บ้านนวกานต์"/>
          <p:cNvSpPr/>
          <p:nvPr/>
        </p:nvSpPr>
        <p:spPr>
          <a:xfrm>
            <a:off x="6925320" y="4869000"/>
            <a:ext cx="27720" cy="43920"/>
          </a:xfrm>
          <a:custGeom>
            <a:avLst/>
            <a:gdLst/>
            <a:ahLst/>
            <a:rect l="l" t="t" r="r" b="b"/>
            <a:pathLst>
              <a:path w="28139" h="44129">
                <a:moveTo>
                  <a:pt x="28139" y="39691"/>
                </a:moveTo>
                <a:lnTo>
                  <a:pt x="5388" y="0"/>
                </a:lnTo>
                <a:lnTo>
                  <a:pt x="0" y="2958"/>
                </a:lnTo>
                <a:lnTo>
                  <a:pt x="20116" y="39075"/>
                </a:lnTo>
                <a:lnTo>
                  <a:pt x="20715" y="44129"/>
                </a:lnTo>
                <a:lnTo>
                  <a:pt x="28139" y="39691"/>
                </a:lnTo>
                <a:close/>
              </a:path>
            </a:pathLst>
          </a:custGeom>
          <a:solidFill>
            <a:srgbClr val="ded5c5"/>
          </a:solidFill>
          <a:ln w="6191">
            <a:solidFill>
              <a:srgbClr val="b5a68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50" name="แก้วฟ้าชัยมงคล"/>
          <p:cNvSpPr/>
          <p:nvPr/>
        </p:nvSpPr>
        <p:spPr>
          <a:xfrm>
            <a:off x="6810120" y="4903200"/>
            <a:ext cx="6480" cy="11880"/>
          </a:xfrm>
          <a:custGeom>
            <a:avLst/>
            <a:gdLst/>
            <a:ahLst/>
            <a:rect l="l" t="t" r="r" b="b"/>
            <a:pathLst>
              <a:path w="6945" h="12326">
                <a:moveTo>
                  <a:pt x="1676" y="0"/>
                </a:moveTo>
                <a:lnTo>
                  <a:pt x="0" y="5300"/>
                </a:lnTo>
                <a:lnTo>
                  <a:pt x="4790" y="12326"/>
                </a:lnTo>
                <a:lnTo>
                  <a:pt x="6945" y="7519"/>
                </a:lnTo>
                <a:lnTo>
                  <a:pt x="1676" y="0"/>
                </a:lnTo>
                <a:close/>
              </a:path>
            </a:pathLst>
          </a:custGeom>
          <a:solidFill>
            <a:srgbClr val="ded5c5"/>
          </a:solidFill>
          <a:ln w="6191">
            <a:solidFill>
              <a:srgbClr val="b5a68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51" name="หมู่บ้านสราญรมย์"/>
          <p:cNvSpPr/>
          <p:nvPr/>
        </p:nvSpPr>
        <p:spPr>
          <a:xfrm>
            <a:off x="6599160" y="4636080"/>
            <a:ext cx="89280" cy="37080"/>
          </a:xfrm>
          <a:custGeom>
            <a:avLst/>
            <a:gdLst/>
            <a:ahLst/>
            <a:rect l="l" t="t" r="r" b="b"/>
            <a:pathLst>
              <a:path w="89565" h="37472">
                <a:moveTo>
                  <a:pt x="89565" y="2096"/>
                </a:moveTo>
                <a:lnTo>
                  <a:pt x="87171" y="0"/>
                </a:lnTo>
                <a:lnTo>
                  <a:pt x="85853" y="4931"/>
                </a:lnTo>
                <a:lnTo>
                  <a:pt x="72682" y="616"/>
                </a:lnTo>
                <a:lnTo>
                  <a:pt x="58074" y="19846"/>
                </a:lnTo>
                <a:lnTo>
                  <a:pt x="44663" y="17627"/>
                </a:lnTo>
                <a:lnTo>
                  <a:pt x="43945" y="22064"/>
                </a:lnTo>
                <a:lnTo>
                  <a:pt x="1197" y="10724"/>
                </a:lnTo>
                <a:lnTo>
                  <a:pt x="0" y="16394"/>
                </a:lnTo>
                <a:lnTo>
                  <a:pt x="1676" y="22804"/>
                </a:lnTo>
                <a:lnTo>
                  <a:pt x="66575" y="37472"/>
                </a:lnTo>
                <a:lnTo>
                  <a:pt x="70766" y="36486"/>
                </a:lnTo>
                <a:lnTo>
                  <a:pt x="75316" y="32788"/>
                </a:lnTo>
                <a:lnTo>
                  <a:pt x="78909" y="24406"/>
                </a:lnTo>
                <a:lnTo>
                  <a:pt x="83339" y="26132"/>
                </a:lnTo>
                <a:lnTo>
                  <a:pt x="89565" y="2096"/>
                </a:lnTo>
                <a:close/>
              </a:path>
            </a:pathLst>
          </a:custGeom>
          <a:solidFill>
            <a:srgbClr val="ded5c5"/>
          </a:solidFill>
          <a:ln w="6191">
            <a:solidFill>
              <a:srgbClr val="b5a68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52" name="หมู่บ้านสามัคคี 53"/>
          <p:cNvSpPr/>
          <p:nvPr/>
        </p:nvSpPr>
        <p:spPr>
          <a:xfrm>
            <a:off x="6572160" y="4685760"/>
            <a:ext cx="105840" cy="33840"/>
          </a:xfrm>
          <a:custGeom>
            <a:avLst/>
            <a:gdLst/>
            <a:ahLst/>
            <a:rect l="l" t="t" r="r" b="b"/>
            <a:pathLst>
              <a:path w="106329" h="34144">
                <a:moveTo>
                  <a:pt x="9459" y="26502"/>
                </a:moveTo>
                <a:lnTo>
                  <a:pt x="0" y="30446"/>
                </a:lnTo>
                <a:lnTo>
                  <a:pt x="3233" y="34144"/>
                </a:lnTo>
                <a:lnTo>
                  <a:pt x="36521" y="24160"/>
                </a:lnTo>
                <a:lnTo>
                  <a:pt x="37359" y="32295"/>
                </a:lnTo>
                <a:lnTo>
                  <a:pt x="42627" y="31679"/>
                </a:lnTo>
                <a:lnTo>
                  <a:pt x="57116" y="29707"/>
                </a:lnTo>
                <a:lnTo>
                  <a:pt x="57236" y="23174"/>
                </a:lnTo>
                <a:lnTo>
                  <a:pt x="103814" y="22804"/>
                </a:lnTo>
                <a:lnTo>
                  <a:pt x="106329" y="17997"/>
                </a:lnTo>
                <a:lnTo>
                  <a:pt x="64061" y="15162"/>
                </a:lnTo>
                <a:lnTo>
                  <a:pt x="64300" y="8752"/>
                </a:lnTo>
                <a:lnTo>
                  <a:pt x="43346" y="7273"/>
                </a:lnTo>
                <a:lnTo>
                  <a:pt x="43106" y="1972"/>
                </a:lnTo>
                <a:lnTo>
                  <a:pt x="44783" y="1602"/>
                </a:lnTo>
                <a:lnTo>
                  <a:pt x="43346" y="0"/>
                </a:lnTo>
                <a:lnTo>
                  <a:pt x="22870" y="3082"/>
                </a:lnTo>
                <a:lnTo>
                  <a:pt x="24666" y="9984"/>
                </a:lnTo>
                <a:lnTo>
                  <a:pt x="15925" y="11833"/>
                </a:lnTo>
                <a:lnTo>
                  <a:pt x="17003" y="17134"/>
                </a:lnTo>
                <a:lnTo>
                  <a:pt x="8142" y="20092"/>
                </a:lnTo>
                <a:lnTo>
                  <a:pt x="9459" y="26502"/>
                </a:lnTo>
                <a:close/>
              </a:path>
            </a:pathLst>
          </a:custGeom>
          <a:solidFill>
            <a:srgbClr val="ded5c5"/>
          </a:solidFill>
          <a:ln w="6191">
            <a:solidFill>
              <a:srgbClr val="b5a68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53" name="หลังหมู่บ้านฉัตรแก้ว"/>
          <p:cNvSpPr/>
          <p:nvPr/>
        </p:nvSpPr>
        <p:spPr>
          <a:xfrm>
            <a:off x="6607080" y="4893840"/>
            <a:ext cx="35640" cy="48240"/>
          </a:xfrm>
          <a:custGeom>
            <a:avLst/>
            <a:gdLst/>
            <a:ahLst/>
            <a:rect l="l" t="t" r="r" b="b"/>
            <a:pathLst>
              <a:path w="36161" h="48690">
                <a:moveTo>
                  <a:pt x="0" y="5547"/>
                </a:moveTo>
                <a:lnTo>
                  <a:pt x="7783" y="26748"/>
                </a:lnTo>
                <a:lnTo>
                  <a:pt x="9938" y="37966"/>
                </a:lnTo>
                <a:lnTo>
                  <a:pt x="19278" y="38952"/>
                </a:lnTo>
                <a:lnTo>
                  <a:pt x="36161" y="48690"/>
                </a:lnTo>
                <a:lnTo>
                  <a:pt x="30893" y="28967"/>
                </a:lnTo>
                <a:lnTo>
                  <a:pt x="26343" y="30077"/>
                </a:lnTo>
                <a:lnTo>
                  <a:pt x="17961" y="0"/>
                </a:lnTo>
                <a:lnTo>
                  <a:pt x="0" y="5547"/>
                </a:lnTo>
                <a:close/>
              </a:path>
            </a:pathLst>
          </a:custGeom>
          <a:solidFill>
            <a:srgbClr val="ded5c5"/>
          </a:solidFill>
          <a:ln w="6191">
            <a:solidFill>
              <a:srgbClr val="b5a68d"/>
            </a:solidFill>
            <a:round/>
          </a:ln>
        </p:spPr>
        <p:style>
          <a:lnRef idx="0"/>
          <a:fillRef idx="0"/>
          <a:effectRef idx="0"/>
          <a:fontRef idx="minor"/>
        </p:style>
        <p:txBody>
          <a:bodyPr lIns="90000" rIns="90000" tIns="3240" bIns="3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54" name="ชุมชนหมู่บ้านจิตต์ภักดี"/>
          <p:cNvSpPr/>
          <p:nvPr/>
        </p:nvSpPr>
        <p:spPr>
          <a:xfrm>
            <a:off x="6585840" y="4756320"/>
            <a:ext cx="97560" cy="37800"/>
          </a:xfrm>
          <a:custGeom>
            <a:avLst/>
            <a:gdLst/>
            <a:ahLst/>
            <a:rect l="l" t="t" r="r" b="b"/>
            <a:pathLst>
              <a:path w="98067" h="38335">
                <a:moveTo>
                  <a:pt x="23110" y="35377"/>
                </a:moveTo>
                <a:lnTo>
                  <a:pt x="98067" y="5793"/>
                </a:lnTo>
                <a:lnTo>
                  <a:pt x="95672" y="0"/>
                </a:lnTo>
                <a:lnTo>
                  <a:pt x="68012" y="10971"/>
                </a:lnTo>
                <a:lnTo>
                  <a:pt x="67294" y="9245"/>
                </a:lnTo>
                <a:lnTo>
                  <a:pt x="59990" y="10724"/>
                </a:lnTo>
                <a:lnTo>
                  <a:pt x="0" y="27242"/>
                </a:lnTo>
                <a:lnTo>
                  <a:pt x="359" y="38335"/>
                </a:lnTo>
                <a:lnTo>
                  <a:pt x="23110" y="35377"/>
                </a:lnTo>
                <a:close/>
              </a:path>
            </a:pathLst>
          </a:custGeom>
          <a:solidFill>
            <a:srgbClr val="ded5c5"/>
          </a:solidFill>
          <a:ln w="6191">
            <a:solidFill>
              <a:srgbClr val="b5a68d"/>
            </a:solidFill>
            <a:round/>
          </a:ln>
        </p:spPr>
        <p:style>
          <a:lnRef idx="0"/>
          <a:fillRef idx="0"/>
          <a:effectRef idx="0"/>
          <a:fontRef idx="minor"/>
        </p:style>
        <p:txBody>
          <a:bodyPr lIns="90000" rIns="90000" tIns="-7200" bIns="-7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55" name="หมู่บ้านอินทรารักษ์ 2"/>
          <p:cNvSpPr/>
          <p:nvPr/>
        </p:nvSpPr>
        <p:spPr>
          <a:xfrm>
            <a:off x="6654240" y="4838040"/>
            <a:ext cx="55440" cy="39960"/>
          </a:xfrm>
          <a:custGeom>
            <a:avLst/>
            <a:gdLst/>
            <a:ahLst/>
            <a:rect l="l" t="t" r="r" b="b"/>
            <a:pathLst>
              <a:path w="55799" h="40308">
                <a:moveTo>
                  <a:pt x="51249" y="0"/>
                </a:moveTo>
                <a:lnTo>
                  <a:pt x="14608" y="18366"/>
                </a:lnTo>
                <a:lnTo>
                  <a:pt x="15566" y="21571"/>
                </a:lnTo>
                <a:lnTo>
                  <a:pt x="0" y="26625"/>
                </a:lnTo>
                <a:lnTo>
                  <a:pt x="3832" y="40308"/>
                </a:lnTo>
                <a:lnTo>
                  <a:pt x="19039" y="35377"/>
                </a:lnTo>
                <a:lnTo>
                  <a:pt x="17123" y="27611"/>
                </a:lnTo>
                <a:lnTo>
                  <a:pt x="55799" y="15901"/>
                </a:lnTo>
                <a:lnTo>
                  <a:pt x="51249" y="0"/>
                </a:lnTo>
                <a:close/>
              </a:path>
            </a:pathLst>
          </a:custGeom>
          <a:solidFill>
            <a:srgbClr val="ded5c5"/>
          </a:solidFill>
          <a:ln w="6191">
            <a:solidFill>
              <a:srgbClr val="b5a68d"/>
            </a:solidFill>
            <a:round/>
          </a:ln>
        </p:spPr>
        <p:style>
          <a:lnRef idx="0"/>
          <a:fillRef idx="0"/>
          <a:effectRef idx="0"/>
          <a:fontRef idx="minor"/>
        </p:style>
        <p:txBody>
          <a:bodyPr lIns="90000" rIns="90000" tIns="-5040" bIns="-5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56" name="วัดบางบอน"/>
          <p:cNvSpPr/>
          <p:nvPr/>
        </p:nvSpPr>
        <p:spPr>
          <a:xfrm>
            <a:off x="3432240" y="6693840"/>
            <a:ext cx="36000" cy="35280"/>
          </a:xfrm>
          <a:custGeom>
            <a:avLst/>
            <a:gdLst/>
            <a:ahLst/>
            <a:rect l="l" t="t" r="r" b="b"/>
            <a:pathLst>
              <a:path w="36401" h="35623">
                <a:moveTo>
                  <a:pt x="36401" y="14545"/>
                </a:moveTo>
                <a:lnTo>
                  <a:pt x="27301" y="0"/>
                </a:lnTo>
                <a:lnTo>
                  <a:pt x="0" y="21818"/>
                </a:lnTo>
                <a:lnTo>
                  <a:pt x="9220" y="35623"/>
                </a:lnTo>
                <a:lnTo>
                  <a:pt x="36401" y="14545"/>
                </a:lnTo>
                <a:close/>
              </a:path>
            </a:pathLst>
          </a:custGeom>
          <a:solidFill>
            <a:srgbClr val="ded5c5"/>
          </a:solidFill>
          <a:ln w="6191">
            <a:solidFill>
              <a:srgbClr val="b5a68d"/>
            </a:solidFill>
            <a:round/>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57" name="วัดบางบอน"/>
          <p:cNvSpPr/>
          <p:nvPr/>
        </p:nvSpPr>
        <p:spPr>
          <a:xfrm>
            <a:off x="3460320" y="6713640"/>
            <a:ext cx="3600" cy="1440"/>
          </a:xfrm>
          <a:custGeom>
            <a:avLst/>
            <a:gdLst/>
            <a:ahLst/>
            <a:rect l="l" t="t" r="r" b="b"/>
            <a:pathLst>
              <a:path w="3832" h="1972">
                <a:moveTo>
                  <a:pt x="3832" y="986"/>
                </a:moveTo>
                <a:lnTo>
                  <a:pt x="3113" y="0"/>
                </a:lnTo>
                <a:lnTo>
                  <a:pt x="0" y="1972"/>
                </a:lnTo>
                <a:lnTo>
                  <a:pt x="3832" y="986"/>
                </a:lnTo>
                <a:close/>
              </a:path>
            </a:pathLst>
          </a:custGeom>
          <a:solidFill>
            <a:srgbClr val="ded5c5"/>
          </a:solidFill>
          <a:ln w="6191">
            <a:solidFill>
              <a:srgbClr val="b5a68d"/>
            </a:solidFill>
            <a:round/>
          </a:ln>
        </p:spPr>
        <p:style>
          <a:lnRef idx="0"/>
          <a:fillRef idx="0"/>
          <a:effectRef idx="0"/>
          <a:fontRef idx="minor"/>
        </p:style>
        <p:txBody>
          <a:bodyPr lIns="90000" rIns="90000" tIns="-43560" bIns="-43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58" name="วัดบางบอน"/>
          <p:cNvSpPr/>
          <p:nvPr/>
        </p:nvSpPr>
        <p:spPr>
          <a:xfrm>
            <a:off x="3467160" y="6707520"/>
            <a:ext cx="6120" cy="5760"/>
          </a:xfrm>
          <a:custGeom>
            <a:avLst/>
            <a:gdLst/>
            <a:ahLst/>
            <a:rect l="l" t="t" r="r" b="b"/>
            <a:pathLst>
              <a:path w="6346" h="6163">
                <a:moveTo>
                  <a:pt x="6346" y="3328"/>
                </a:moveTo>
                <a:lnTo>
                  <a:pt x="4430" y="0"/>
                </a:lnTo>
                <a:lnTo>
                  <a:pt x="0" y="3575"/>
                </a:lnTo>
                <a:lnTo>
                  <a:pt x="2036" y="6163"/>
                </a:lnTo>
                <a:lnTo>
                  <a:pt x="6346" y="3328"/>
                </a:lnTo>
                <a:close/>
              </a:path>
            </a:pathLst>
          </a:custGeom>
          <a:solidFill>
            <a:srgbClr val="ded5c5"/>
          </a:solidFill>
          <a:ln w="6191">
            <a:solidFill>
              <a:srgbClr val="b5a68d"/>
            </a:solidFill>
            <a:round/>
          </a:ln>
        </p:spPr>
        <p:style>
          <a:lnRef idx="0"/>
          <a:fillRef idx="0"/>
          <a:effectRef idx="0"/>
          <a:fontRef idx="minor"/>
        </p:style>
        <p:txBody>
          <a:bodyPr lIns="90000" rIns="90000" tIns="-39240" bIns="-39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59" name="สถานีรางโพธิ์"/>
          <p:cNvSpPr/>
          <p:nvPr/>
        </p:nvSpPr>
        <p:spPr>
          <a:xfrm>
            <a:off x="3639600" y="6740280"/>
            <a:ext cx="20880" cy="41760"/>
          </a:xfrm>
          <a:custGeom>
            <a:avLst/>
            <a:gdLst/>
            <a:ahLst/>
            <a:rect l="l" t="t" r="r" b="b"/>
            <a:pathLst>
              <a:path w="21194" h="42280">
                <a:moveTo>
                  <a:pt x="11615" y="14915"/>
                </a:moveTo>
                <a:lnTo>
                  <a:pt x="15207" y="8998"/>
                </a:lnTo>
                <a:lnTo>
                  <a:pt x="8023" y="0"/>
                </a:lnTo>
                <a:lnTo>
                  <a:pt x="838" y="5054"/>
                </a:lnTo>
                <a:lnTo>
                  <a:pt x="6705" y="18736"/>
                </a:lnTo>
                <a:lnTo>
                  <a:pt x="6705" y="23790"/>
                </a:lnTo>
                <a:lnTo>
                  <a:pt x="0" y="35624"/>
                </a:lnTo>
                <a:lnTo>
                  <a:pt x="4311" y="42280"/>
                </a:lnTo>
                <a:lnTo>
                  <a:pt x="21194" y="26502"/>
                </a:lnTo>
                <a:lnTo>
                  <a:pt x="18440" y="19846"/>
                </a:lnTo>
                <a:lnTo>
                  <a:pt x="11615" y="14915"/>
                </a:lnTo>
                <a:close/>
              </a:path>
            </a:pathLst>
          </a:custGeom>
          <a:solidFill>
            <a:srgbClr val="ded5c5"/>
          </a:solidFill>
          <a:ln w="6191">
            <a:solidFill>
              <a:srgbClr val="b5a68d"/>
            </a:solidFill>
            <a:round/>
          </a:ln>
        </p:spPr>
        <p:style>
          <a:lnRef idx="0"/>
          <a:fillRef idx="0"/>
          <a:effectRef idx="0"/>
          <a:fontRef idx="minor"/>
        </p:style>
        <p:txBody>
          <a:bodyPr lIns="90000" rIns="90000" tIns="-3240" bIns="-3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60" name="สถานีรางโพธิ์"/>
          <p:cNvSpPr/>
          <p:nvPr/>
        </p:nvSpPr>
        <p:spPr>
          <a:xfrm>
            <a:off x="3629160" y="6777720"/>
            <a:ext cx="8640" cy="24840"/>
          </a:xfrm>
          <a:custGeom>
            <a:avLst/>
            <a:gdLst/>
            <a:ahLst/>
            <a:rect l="l" t="t" r="r" b="b"/>
            <a:pathLst>
              <a:path w="8980" h="25023">
                <a:moveTo>
                  <a:pt x="6226" y="23544"/>
                </a:moveTo>
                <a:lnTo>
                  <a:pt x="8980" y="9984"/>
                </a:lnTo>
                <a:lnTo>
                  <a:pt x="6226" y="123"/>
                </a:lnTo>
                <a:lnTo>
                  <a:pt x="0" y="0"/>
                </a:lnTo>
                <a:lnTo>
                  <a:pt x="2754" y="25023"/>
                </a:lnTo>
                <a:lnTo>
                  <a:pt x="6226" y="23544"/>
                </a:lnTo>
                <a:close/>
              </a:path>
            </a:pathLst>
          </a:custGeom>
          <a:solidFill>
            <a:srgbClr val="ded5c5"/>
          </a:solidFill>
          <a:ln w="6191">
            <a:solidFill>
              <a:srgbClr val="b5a68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61" name="สถานีรางโพธิ์"/>
          <p:cNvSpPr/>
          <p:nvPr/>
        </p:nvSpPr>
        <p:spPr>
          <a:xfrm>
            <a:off x="3661920" y="6740640"/>
            <a:ext cx="37800" cy="32040"/>
          </a:xfrm>
          <a:custGeom>
            <a:avLst/>
            <a:gdLst/>
            <a:ahLst/>
            <a:rect l="l" t="t" r="r" b="b"/>
            <a:pathLst>
              <a:path w="38077" h="32419">
                <a:moveTo>
                  <a:pt x="38077" y="2958"/>
                </a:moveTo>
                <a:lnTo>
                  <a:pt x="32809" y="0"/>
                </a:lnTo>
                <a:lnTo>
                  <a:pt x="22152" y="10477"/>
                </a:lnTo>
                <a:lnTo>
                  <a:pt x="0" y="26132"/>
                </a:lnTo>
                <a:lnTo>
                  <a:pt x="5748" y="32419"/>
                </a:lnTo>
                <a:lnTo>
                  <a:pt x="38077" y="2958"/>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62" name="สถานีรางโพธิ์"/>
          <p:cNvSpPr/>
          <p:nvPr/>
        </p:nvSpPr>
        <p:spPr>
          <a:xfrm>
            <a:off x="3713040" y="6716160"/>
            <a:ext cx="11160" cy="11880"/>
          </a:xfrm>
          <a:custGeom>
            <a:avLst/>
            <a:gdLst/>
            <a:ahLst/>
            <a:rect l="l" t="t" r="r" b="b"/>
            <a:pathLst>
              <a:path w="11375" h="12080">
                <a:moveTo>
                  <a:pt x="11375" y="3328"/>
                </a:moveTo>
                <a:lnTo>
                  <a:pt x="10896" y="0"/>
                </a:lnTo>
                <a:lnTo>
                  <a:pt x="0" y="1233"/>
                </a:lnTo>
                <a:lnTo>
                  <a:pt x="2275" y="12080"/>
                </a:lnTo>
                <a:lnTo>
                  <a:pt x="11375" y="3328"/>
                </a:lnTo>
                <a:close/>
              </a:path>
            </a:pathLst>
          </a:custGeom>
          <a:solidFill>
            <a:srgbClr val="ded5c5"/>
          </a:solidFill>
          <a:ln w="6191">
            <a:solidFill>
              <a:srgbClr val="b5a68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63" name="สถานีรางโพธิ์"/>
          <p:cNvSpPr/>
          <p:nvPr/>
        </p:nvSpPr>
        <p:spPr>
          <a:xfrm>
            <a:off x="3647160" y="6684120"/>
            <a:ext cx="6840" cy="38880"/>
          </a:xfrm>
          <a:custGeom>
            <a:avLst/>
            <a:gdLst/>
            <a:ahLst/>
            <a:rect l="l" t="t" r="r" b="b"/>
            <a:pathLst>
              <a:path w="7304" h="39198">
                <a:moveTo>
                  <a:pt x="2634" y="39198"/>
                </a:moveTo>
                <a:lnTo>
                  <a:pt x="7304" y="38459"/>
                </a:lnTo>
                <a:lnTo>
                  <a:pt x="6825" y="0"/>
                </a:lnTo>
                <a:lnTo>
                  <a:pt x="0" y="493"/>
                </a:lnTo>
                <a:lnTo>
                  <a:pt x="2634" y="39198"/>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64" name="คลองหนึ่ง"/>
          <p:cNvSpPr/>
          <p:nvPr/>
        </p:nvSpPr>
        <p:spPr>
          <a:xfrm>
            <a:off x="7574040" y="5394600"/>
            <a:ext cx="105480" cy="226440"/>
          </a:xfrm>
          <a:custGeom>
            <a:avLst/>
            <a:gdLst/>
            <a:ahLst/>
            <a:rect l="l" t="t" r="r" b="b"/>
            <a:pathLst>
              <a:path w="105730" h="226807">
                <a:moveTo>
                  <a:pt x="5029" y="193895"/>
                </a:moveTo>
                <a:lnTo>
                  <a:pt x="15207" y="194142"/>
                </a:lnTo>
                <a:lnTo>
                  <a:pt x="16764" y="226807"/>
                </a:lnTo>
                <a:lnTo>
                  <a:pt x="105251" y="224958"/>
                </a:lnTo>
                <a:lnTo>
                  <a:pt x="105730" y="3082"/>
                </a:lnTo>
                <a:lnTo>
                  <a:pt x="10178" y="0"/>
                </a:lnTo>
                <a:lnTo>
                  <a:pt x="9579" y="33528"/>
                </a:lnTo>
                <a:lnTo>
                  <a:pt x="12932" y="34514"/>
                </a:lnTo>
                <a:lnTo>
                  <a:pt x="14129" y="46224"/>
                </a:lnTo>
                <a:lnTo>
                  <a:pt x="9220" y="46348"/>
                </a:lnTo>
                <a:lnTo>
                  <a:pt x="838" y="92942"/>
                </a:lnTo>
                <a:lnTo>
                  <a:pt x="14010" y="92572"/>
                </a:lnTo>
                <a:lnTo>
                  <a:pt x="13171" y="108473"/>
                </a:lnTo>
                <a:lnTo>
                  <a:pt x="3472" y="112417"/>
                </a:lnTo>
                <a:lnTo>
                  <a:pt x="0" y="155683"/>
                </a:lnTo>
                <a:lnTo>
                  <a:pt x="13171" y="155067"/>
                </a:lnTo>
                <a:lnTo>
                  <a:pt x="14489" y="185267"/>
                </a:lnTo>
                <a:lnTo>
                  <a:pt x="6825" y="185267"/>
                </a:lnTo>
                <a:lnTo>
                  <a:pt x="5029" y="19389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65" name="ร่มเกล้า 1"/>
          <p:cNvSpPr/>
          <p:nvPr/>
        </p:nvSpPr>
        <p:spPr>
          <a:xfrm>
            <a:off x="7679520" y="5544000"/>
            <a:ext cx="88920" cy="93600"/>
          </a:xfrm>
          <a:custGeom>
            <a:avLst/>
            <a:gdLst/>
            <a:ahLst/>
            <a:rect l="l" t="t" r="r" b="b"/>
            <a:pathLst>
              <a:path w="89446" h="94051">
                <a:moveTo>
                  <a:pt x="0" y="76301"/>
                </a:moveTo>
                <a:lnTo>
                  <a:pt x="63103" y="76301"/>
                </a:lnTo>
                <a:lnTo>
                  <a:pt x="62983" y="78396"/>
                </a:lnTo>
                <a:lnTo>
                  <a:pt x="67054" y="78150"/>
                </a:lnTo>
                <a:lnTo>
                  <a:pt x="66815" y="94051"/>
                </a:lnTo>
                <a:lnTo>
                  <a:pt x="89446" y="93928"/>
                </a:lnTo>
                <a:lnTo>
                  <a:pt x="89086" y="0"/>
                </a:lnTo>
                <a:lnTo>
                  <a:pt x="83938" y="1233"/>
                </a:lnTo>
                <a:lnTo>
                  <a:pt x="359" y="986"/>
                </a:lnTo>
                <a:lnTo>
                  <a:pt x="0" y="76301"/>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66" name="มิตรปลูกศรัทธา"/>
          <p:cNvSpPr/>
          <p:nvPr/>
        </p:nvSpPr>
        <p:spPr>
          <a:xfrm>
            <a:off x="8098560" y="5707800"/>
            <a:ext cx="154800" cy="98640"/>
          </a:xfrm>
          <a:custGeom>
            <a:avLst/>
            <a:gdLst/>
            <a:ahLst/>
            <a:rect l="l" t="t" r="r" b="b"/>
            <a:pathLst>
              <a:path w="155303" h="98982">
                <a:moveTo>
                  <a:pt x="3592" y="98982"/>
                </a:moveTo>
                <a:lnTo>
                  <a:pt x="54961" y="98612"/>
                </a:lnTo>
                <a:lnTo>
                  <a:pt x="64899" y="93804"/>
                </a:lnTo>
                <a:lnTo>
                  <a:pt x="143927" y="97009"/>
                </a:lnTo>
                <a:lnTo>
                  <a:pt x="141054" y="24653"/>
                </a:lnTo>
                <a:lnTo>
                  <a:pt x="155303" y="24283"/>
                </a:lnTo>
                <a:lnTo>
                  <a:pt x="153746" y="0"/>
                </a:lnTo>
                <a:lnTo>
                  <a:pt x="0" y="493"/>
                </a:lnTo>
                <a:lnTo>
                  <a:pt x="3951" y="34637"/>
                </a:lnTo>
                <a:lnTo>
                  <a:pt x="3592" y="9898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67" name="มิตรปลูกศรัทธา"/>
          <p:cNvSpPr/>
          <p:nvPr/>
        </p:nvSpPr>
        <p:spPr>
          <a:xfrm>
            <a:off x="8102520" y="5659920"/>
            <a:ext cx="50400" cy="46080"/>
          </a:xfrm>
          <a:custGeom>
            <a:avLst/>
            <a:gdLst/>
            <a:ahLst/>
            <a:rect l="l" t="t" r="r" b="b"/>
            <a:pathLst>
              <a:path w="50889" h="46594">
                <a:moveTo>
                  <a:pt x="49812" y="0"/>
                </a:moveTo>
                <a:lnTo>
                  <a:pt x="1197" y="863"/>
                </a:lnTo>
                <a:lnTo>
                  <a:pt x="0" y="46101"/>
                </a:lnTo>
                <a:lnTo>
                  <a:pt x="50889" y="46594"/>
                </a:lnTo>
                <a:lnTo>
                  <a:pt x="49812" y="0"/>
                </a:lnTo>
                <a:close/>
              </a:path>
            </a:pathLst>
          </a:custGeom>
          <a:solidFill>
            <a:srgbClr val="ded5c5"/>
          </a:solidFill>
          <a:ln w="6191">
            <a:solidFill>
              <a:srgbClr val="b5a68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68" name="มาเรียลัย"/>
          <p:cNvSpPr/>
          <p:nvPr/>
        </p:nvSpPr>
        <p:spPr>
          <a:xfrm>
            <a:off x="8379720" y="5651640"/>
            <a:ext cx="108720" cy="86760"/>
          </a:xfrm>
          <a:custGeom>
            <a:avLst/>
            <a:gdLst/>
            <a:ahLst/>
            <a:rect l="l" t="t" r="r" b="b"/>
            <a:pathLst>
              <a:path w="108963" h="87148">
                <a:moveTo>
                  <a:pt x="19637" y="493"/>
                </a:moveTo>
                <a:lnTo>
                  <a:pt x="16524" y="5177"/>
                </a:lnTo>
                <a:lnTo>
                  <a:pt x="9340" y="24653"/>
                </a:lnTo>
                <a:lnTo>
                  <a:pt x="0" y="55346"/>
                </a:lnTo>
                <a:lnTo>
                  <a:pt x="84656" y="87148"/>
                </a:lnTo>
                <a:lnTo>
                  <a:pt x="108963" y="7519"/>
                </a:lnTo>
                <a:lnTo>
                  <a:pt x="41550" y="0"/>
                </a:lnTo>
                <a:lnTo>
                  <a:pt x="19637" y="493"/>
                </a:lnTo>
                <a:close/>
              </a:path>
            </a:pathLst>
          </a:custGeom>
          <a:solidFill>
            <a:srgbClr val="ded5c5"/>
          </a:solidFill>
          <a:ln w="6191">
            <a:solidFill>
              <a:srgbClr val="b5a68d"/>
            </a:solidFill>
            <a:round/>
          </a:ln>
        </p:spPr>
        <p:style>
          <a:lnRef idx="0"/>
          <a:fillRef idx="0"/>
          <a:effectRef idx="0"/>
          <a:fontRef idx="minor"/>
        </p:style>
        <p:txBody>
          <a:bodyPr lIns="90000" rIns="90000" tIns="41760" bIns="41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69" name="สุทธาวาส หมู่ที่ 7"/>
          <p:cNvSpPr/>
          <p:nvPr/>
        </p:nvSpPr>
        <p:spPr>
          <a:xfrm>
            <a:off x="8525520" y="5525280"/>
            <a:ext cx="32040" cy="24120"/>
          </a:xfrm>
          <a:custGeom>
            <a:avLst/>
            <a:gdLst/>
            <a:ahLst/>
            <a:rect l="l" t="t" r="r" b="b"/>
            <a:pathLst>
              <a:path w="32569" h="24406">
                <a:moveTo>
                  <a:pt x="0" y="14052"/>
                </a:moveTo>
                <a:lnTo>
                  <a:pt x="27540" y="24406"/>
                </a:lnTo>
                <a:lnTo>
                  <a:pt x="32569" y="9984"/>
                </a:lnTo>
                <a:lnTo>
                  <a:pt x="5867" y="0"/>
                </a:lnTo>
                <a:lnTo>
                  <a:pt x="0" y="14052"/>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70" name="เลียบคลองมอญ&quot;&quot; หมู่ที่ 6"/>
          <p:cNvSpPr/>
          <p:nvPr/>
        </p:nvSpPr>
        <p:spPr>
          <a:xfrm>
            <a:off x="8530200" y="5468040"/>
            <a:ext cx="360360" cy="239040"/>
          </a:xfrm>
          <a:custGeom>
            <a:avLst/>
            <a:gdLst/>
            <a:ahLst/>
            <a:rect l="l" t="t" r="r" b="b"/>
            <a:pathLst>
              <a:path w="360656" h="239257">
                <a:moveTo>
                  <a:pt x="0" y="194265"/>
                </a:moveTo>
                <a:lnTo>
                  <a:pt x="360656" y="239257"/>
                </a:lnTo>
                <a:lnTo>
                  <a:pt x="359938" y="203263"/>
                </a:lnTo>
                <a:lnTo>
                  <a:pt x="318269" y="187855"/>
                </a:lnTo>
                <a:lnTo>
                  <a:pt x="339343" y="103542"/>
                </a:lnTo>
                <a:lnTo>
                  <a:pt x="267140" y="75068"/>
                </a:lnTo>
                <a:lnTo>
                  <a:pt x="262590" y="68905"/>
                </a:lnTo>
                <a:lnTo>
                  <a:pt x="139497" y="30077"/>
                </a:lnTo>
                <a:lnTo>
                  <a:pt x="85255" y="11340"/>
                </a:lnTo>
                <a:lnTo>
                  <a:pt x="57834" y="0"/>
                </a:lnTo>
                <a:lnTo>
                  <a:pt x="53404" y="9245"/>
                </a:lnTo>
                <a:lnTo>
                  <a:pt x="28019" y="83697"/>
                </a:lnTo>
                <a:lnTo>
                  <a:pt x="22870" y="82957"/>
                </a:lnTo>
                <a:lnTo>
                  <a:pt x="21074" y="91709"/>
                </a:lnTo>
                <a:lnTo>
                  <a:pt x="14848" y="89613"/>
                </a:lnTo>
                <a:lnTo>
                  <a:pt x="14369" y="102433"/>
                </a:lnTo>
                <a:lnTo>
                  <a:pt x="12213" y="102926"/>
                </a:lnTo>
                <a:lnTo>
                  <a:pt x="5269" y="153465"/>
                </a:lnTo>
                <a:lnTo>
                  <a:pt x="6705" y="154327"/>
                </a:lnTo>
                <a:lnTo>
                  <a:pt x="0" y="19426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71" name="วัดสุทธาโภชน์สุนทรอุปถัมภ์"/>
          <p:cNvSpPr/>
          <p:nvPr/>
        </p:nvSpPr>
        <p:spPr>
          <a:xfrm>
            <a:off x="8755920" y="5457960"/>
            <a:ext cx="39600" cy="73080"/>
          </a:xfrm>
          <a:custGeom>
            <a:avLst/>
            <a:gdLst/>
            <a:ahLst/>
            <a:rect l="l" t="t" r="r" b="b"/>
            <a:pathLst>
              <a:path w="40113" h="73466">
                <a:moveTo>
                  <a:pt x="28019" y="0"/>
                </a:moveTo>
                <a:lnTo>
                  <a:pt x="5269" y="63851"/>
                </a:lnTo>
                <a:lnTo>
                  <a:pt x="2275" y="62495"/>
                </a:lnTo>
                <a:lnTo>
                  <a:pt x="0" y="66809"/>
                </a:lnTo>
                <a:lnTo>
                  <a:pt x="20715" y="73466"/>
                </a:lnTo>
                <a:lnTo>
                  <a:pt x="36401" y="5547"/>
                </a:lnTo>
                <a:lnTo>
                  <a:pt x="39155" y="6163"/>
                </a:lnTo>
                <a:lnTo>
                  <a:pt x="40113" y="4314"/>
                </a:lnTo>
                <a:lnTo>
                  <a:pt x="28019" y="0"/>
                </a:lnTo>
                <a:close/>
              </a:path>
            </a:pathLst>
          </a:custGeom>
          <a:solidFill>
            <a:srgbClr val="ded5c5"/>
          </a:solidFill>
          <a:ln w="6191">
            <a:solidFill>
              <a:srgbClr val="b5a68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72" name="ทิวสนร่วมจิตมณียา"/>
          <p:cNvSpPr/>
          <p:nvPr/>
        </p:nvSpPr>
        <p:spPr>
          <a:xfrm>
            <a:off x="8557560" y="5787360"/>
            <a:ext cx="39240" cy="88200"/>
          </a:xfrm>
          <a:custGeom>
            <a:avLst/>
            <a:gdLst/>
            <a:ahLst/>
            <a:rect l="l" t="t" r="r" b="b"/>
            <a:pathLst>
              <a:path w="39514" h="88627">
                <a:moveTo>
                  <a:pt x="27780" y="0"/>
                </a:moveTo>
                <a:lnTo>
                  <a:pt x="0" y="85176"/>
                </a:lnTo>
                <a:lnTo>
                  <a:pt x="8382" y="88627"/>
                </a:lnTo>
                <a:lnTo>
                  <a:pt x="17243" y="62618"/>
                </a:lnTo>
                <a:lnTo>
                  <a:pt x="23469" y="55716"/>
                </a:lnTo>
                <a:lnTo>
                  <a:pt x="39514" y="3944"/>
                </a:lnTo>
                <a:lnTo>
                  <a:pt x="27780" y="0"/>
                </a:lnTo>
                <a:close/>
              </a:path>
            </a:pathLst>
          </a:custGeom>
          <a:solidFill>
            <a:srgbClr val="ded5c5"/>
          </a:solidFill>
          <a:ln w="6191">
            <a:solidFill>
              <a:srgbClr val="b5a68d"/>
            </a:solidFill>
            <a:round/>
          </a:ln>
        </p:spPr>
        <p:style>
          <a:lnRef idx="0"/>
          <a:fillRef idx="0"/>
          <a:effectRef idx="0"/>
          <a:fontRef idx="minor"/>
        </p:style>
        <p:txBody>
          <a:bodyPr lIns="90000" rIns="90000" tIns="43200" bIns="43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73" name="วัดพลมานีย์"/>
          <p:cNvSpPr/>
          <p:nvPr/>
        </p:nvSpPr>
        <p:spPr>
          <a:xfrm>
            <a:off x="8694360" y="5733000"/>
            <a:ext cx="36360" cy="63720"/>
          </a:xfrm>
          <a:custGeom>
            <a:avLst/>
            <a:gdLst/>
            <a:ahLst/>
            <a:rect l="l" t="t" r="r" b="b"/>
            <a:pathLst>
              <a:path w="36640" h="63974">
                <a:moveTo>
                  <a:pt x="36640" y="8135"/>
                </a:moveTo>
                <a:lnTo>
                  <a:pt x="15925" y="0"/>
                </a:lnTo>
                <a:lnTo>
                  <a:pt x="5269" y="25393"/>
                </a:lnTo>
                <a:lnTo>
                  <a:pt x="2754" y="24653"/>
                </a:lnTo>
                <a:lnTo>
                  <a:pt x="1557" y="27365"/>
                </a:lnTo>
                <a:lnTo>
                  <a:pt x="4311" y="29090"/>
                </a:lnTo>
                <a:lnTo>
                  <a:pt x="0" y="36363"/>
                </a:lnTo>
                <a:lnTo>
                  <a:pt x="13890" y="63974"/>
                </a:lnTo>
                <a:lnTo>
                  <a:pt x="36640" y="8135"/>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74" name="วัดพลมานีย์"/>
          <p:cNvSpPr/>
          <p:nvPr/>
        </p:nvSpPr>
        <p:spPr>
          <a:xfrm>
            <a:off x="8668440" y="5789520"/>
            <a:ext cx="42120" cy="40320"/>
          </a:xfrm>
          <a:custGeom>
            <a:avLst/>
            <a:gdLst/>
            <a:ahLst/>
            <a:rect l="l" t="t" r="r" b="b"/>
            <a:pathLst>
              <a:path w="42508" h="40554">
                <a:moveTo>
                  <a:pt x="35084" y="22188"/>
                </a:moveTo>
                <a:lnTo>
                  <a:pt x="27660" y="6040"/>
                </a:lnTo>
                <a:lnTo>
                  <a:pt x="10298" y="0"/>
                </a:lnTo>
                <a:lnTo>
                  <a:pt x="0" y="25762"/>
                </a:lnTo>
                <a:lnTo>
                  <a:pt x="42508" y="40554"/>
                </a:lnTo>
                <a:lnTo>
                  <a:pt x="35084" y="22188"/>
                </a:lnTo>
                <a:close/>
              </a:path>
            </a:pathLst>
          </a:custGeom>
          <a:solidFill>
            <a:srgbClr val="ded5c5"/>
          </a:solidFill>
          <a:ln w="6191">
            <a:solidFill>
              <a:srgbClr val="b5a68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75" name="นำไกร หมู่ที่ 9 ทับยาว"/>
          <p:cNvSpPr/>
          <p:nvPr/>
        </p:nvSpPr>
        <p:spPr>
          <a:xfrm>
            <a:off x="8820360" y="5738040"/>
            <a:ext cx="146520" cy="158400"/>
          </a:xfrm>
          <a:custGeom>
            <a:avLst/>
            <a:gdLst/>
            <a:ahLst/>
            <a:rect l="l" t="t" r="r" b="b"/>
            <a:pathLst>
              <a:path w="146921" h="158642">
                <a:moveTo>
                  <a:pt x="479" y="131277"/>
                </a:moveTo>
                <a:lnTo>
                  <a:pt x="0" y="132263"/>
                </a:lnTo>
                <a:lnTo>
                  <a:pt x="62504" y="158642"/>
                </a:lnTo>
                <a:lnTo>
                  <a:pt x="70527" y="141631"/>
                </a:lnTo>
                <a:lnTo>
                  <a:pt x="94355" y="106501"/>
                </a:lnTo>
                <a:lnTo>
                  <a:pt x="104293" y="78889"/>
                </a:lnTo>
                <a:lnTo>
                  <a:pt x="117225" y="54360"/>
                </a:lnTo>
                <a:lnTo>
                  <a:pt x="132792" y="33528"/>
                </a:lnTo>
                <a:lnTo>
                  <a:pt x="146681" y="5177"/>
                </a:lnTo>
                <a:lnTo>
                  <a:pt x="146921" y="740"/>
                </a:lnTo>
                <a:lnTo>
                  <a:pt x="142251" y="0"/>
                </a:lnTo>
                <a:lnTo>
                  <a:pt x="123691" y="16887"/>
                </a:lnTo>
                <a:lnTo>
                  <a:pt x="121656" y="16641"/>
                </a:lnTo>
                <a:lnTo>
                  <a:pt x="122015" y="18243"/>
                </a:lnTo>
                <a:lnTo>
                  <a:pt x="113753" y="25146"/>
                </a:lnTo>
                <a:lnTo>
                  <a:pt x="80944" y="67919"/>
                </a:lnTo>
                <a:lnTo>
                  <a:pt x="54482" y="61386"/>
                </a:lnTo>
                <a:lnTo>
                  <a:pt x="44543" y="57318"/>
                </a:lnTo>
                <a:lnTo>
                  <a:pt x="479" y="13127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76" name="นำไกร หมู่ที่ 9 ทับยาว"/>
          <p:cNvSpPr/>
          <p:nvPr/>
        </p:nvSpPr>
        <p:spPr>
          <a:xfrm>
            <a:off x="8797320" y="5869800"/>
            <a:ext cx="83880" cy="86760"/>
          </a:xfrm>
          <a:custGeom>
            <a:avLst/>
            <a:gdLst/>
            <a:ahLst/>
            <a:rect l="l" t="t" r="r" b="b"/>
            <a:pathLst>
              <a:path w="84417" h="87148">
                <a:moveTo>
                  <a:pt x="75556" y="49799"/>
                </a:moveTo>
                <a:lnTo>
                  <a:pt x="84417" y="29460"/>
                </a:lnTo>
                <a:lnTo>
                  <a:pt x="5987" y="0"/>
                </a:lnTo>
                <a:lnTo>
                  <a:pt x="0" y="18243"/>
                </a:lnTo>
                <a:lnTo>
                  <a:pt x="45501" y="35130"/>
                </a:lnTo>
                <a:lnTo>
                  <a:pt x="30653" y="76178"/>
                </a:lnTo>
                <a:lnTo>
                  <a:pt x="57236" y="87148"/>
                </a:lnTo>
                <a:lnTo>
                  <a:pt x="75556" y="49799"/>
                </a:lnTo>
                <a:close/>
              </a:path>
            </a:pathLst>
          </a:custGeom>
          <a:solidFill>
            <a:srgbClr val="ded5c5"/>
          </a:solidFill>
          <a:ln w="6191">
            <a:solidFill>
              <a:srgbClr val="b5a68d"/>
            </a:solidFill>
            <a:round/>
          </a:ln>
        </p:spPr>
        <p:style>
          <a:lnRef idx="0"/>
          <a:fillRef idx="0"/>
          <a:effectRef idx="0"/>
          <a:fontRef idx="minor"/>
        </p:style>
        <p:txBody>
          <a:bodyPr lIns="90000" rIns="90000" tIns="41760" bIns="41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77" name="ประชาอุทิศ"/>
          <p:cNvSpPr/>
          <p:nvPr/>
        </p:nvSpPr>
        <p:spPr>
          <a:xfrm>
            <a:off x="8970840" y="5127120"/>
            <a:ext cx="354240" cy="281520"/>
          </a:xfrm>
          <a:custGeom>
            <a:avLst/>
            <a:gdLst/>
            <a:ahLst/>
            <a:rect l="l" t="t" r="r" b="b"/>
            <a:pathLst>
              <a:path w="354430" h="281906">
                <a:moveTo>
                  <a:pt x="43585" y="257253"/>
                </a:moveTo>
                <a:lnTo>
                  <a:pt x="106808" y="272662"/>
                </a:lnTo>
                <a:lnTo>
                  <a:pt x="252651" y="281906"/>
                </a:lnTo>
                <a:lnTo>
                  <a:pt x="354430" y="276853"/>
                </a:lnTo>
                <a:lnTo>
                  <a:pt x="327249" y="227547"/>
                </a:lnTo>
                <a:lnTo>
                  <a:pt x="325932" y="156300"/>
                </a:lnTo>
                <a:lnTo>
                  <a:pt x="315634" y="125483"/>
                </a:lnTo>
                <a:lnTo>
                  <a:pt x="301984" y="73466"/>
                </a:lnTo>
                <a:lnTo>
                  <a:pt x="293363" y="47210"/>
                </a:lnTo>
                <a:lnTo>
                  <a:pt x="267140" y="15408"/>
                </a:lnTo>
                <a:lnTo>
                  <a:pt x="257321" y="9738"/>
                </a:lnTo>
                <a:lnTo>
                  <a:pt x="215771" y="6163"/>
                </a:lnTo>
                <a:lnTo>
                  <a:pt x="205593" y="0"/>
                </a:lnTo>
                <a:lnTo>
                  <a:pt x="81184" y="4068"/>
                </a:lnTo>
                <a:lnTo>
                  <a:pt x="60588" y="28228"/>
                </a:lnTo>
                <a:lnTo>
                  <a:pt x="41669" y="63728"/>
                </a:lnTo>
                <a:lnTo>
                  <a:pt x="5149" y="97009"/>
                </a:lnTo>
                <a:lnTo>
                  <a:pt x="0" y="120183"/>
                </a:lnTo>
                <a:lnTo>
                  <a:pt x="15925" y="175159"/>
                </a:lnTo>
                <a:lnTo>
                  <a:pt x="15925" y="190567"/>
                </a:lnTo>
                <a:lnTo>
                  <a:pt x="30773" y="213741"/>
                </a:lnTo>
                <a:lnTo>
                  <a:pt x="42029" y="217069"/>
                </a:lnTo>
                <a:lnTo>
                  <a:pt x="39514" y="258486"/>
                </a:lnTo>
                <a:lnTo>
                  <a:pt x="43585" y="258979"/>
                </a:lnTo>
                <a:lnTo>
                  <a:pt x="43585" y="25725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78" name="ภู่ระหงษ์ 2"/>
          <p:cNvSpPr/>
          <p:nvPr/>
        </p:nvSpPr>
        <p:spPr>
          <a:xfrm>
            <a:off x="7304400" y="4478040"/>
            <a:ext cx="47880" cy="8640"/>
          </a:xfrm>
          <a:custGeom>
            <a:avLst/>
            <a:gdLst/>
            <a:ahLst/>
            <a:rect l="l" t="t" r="r" b="b"/>
            <a:pathLst>
              <a:path w="48375" h="8998">
                <a:moveTo>
                  <a:pt x="17003" y="3205"/>
                </a:moveTo>
                <a:lnTo>
                  <a:pt x="0" y="5054"/>
                </a:lnTo>
                <a:lnTo>
                  <a:pt x="239" y="8998"/>
                </a:lnTo>
                <a:lnTo>
                  <a:pt x="48375" y="4438"/>
                </a:lnTo>
                <a:lnTo>
                  <a:pt x="47776" y="0"/>
                </a:lnTo>
                <a:lnTo>
                  <a:pt x="17003" y="3205"/>
                </a:lnTo>
                <a:close/>
              </a:path>
            </a:pathLst>
          </a:custGeom>
          <a:solidFill>
            <a:srgbClr val="ded5c5"/>
          </a:solidFill>
          <a:ln w="6191">
            <a:solidFill>
              <a:srgbClr val="b5a68d"/>
            </a:solidFill>
            <a:round/>
          </a:ln>
        </p:spPr>
        <p:style>
          <a:lnRef idx="0"/>
          <a:fillRef idx="0"/>
          <a:effectRef idx="0"/>
          <a:fontRef idx="minor"/>
        </p:style>
        <p:txBody>
          <a:bodyPr lIns="90000" rIns="90000" tIns="-36360" bIns="-36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79" name="เจริญพัฒนา(คูคต)"/>
          <p:cNvSpPr/>
          <p:nvPr/>
        </p:nvSpPr>
        <p:spPr>
          <a:xfrm>
            <a:off x="7371360" y="4468680"/>
            <a:ext cx="81000" cy="26640"/>
          </a:xfrm>
          <a:custGeom>
            <a:avLst/>
            <a:gdLst/>
            <a:ahLst/>
            <a:rect l="l" t="t" r="r" b="b"/>
            <a:pathLst>
              <a:path w="81303" h="26995">
                <a:moveTo>
                  <a:pt x="2395" y="19476"/>
                </a:moveTo>
                <a:lnTo>
                  <a:pt x="0" y="26995"/>
                </a:lnTo>
                <a:lnTo>
                  <a:pt x="80106" y="14792"/>
                </a:lnTo>
                <a:lnTo>
                  <a:pt x="81303" y="0"/>
                </a:lnTo>
                <a:lnTo>
                  <a:pt x="5269" y="10477"/>
                </a:lnTo>
                <a:lnTo>
                  <a:pt x="2395" y="19476"/>
                </a:lnTo>
                <a:close/>
              </a:path>
            </a:pathLst>
          </a:custGeom>
          <a:solidFill>
            <a:srgbClr val="ded5c5"/>
          </a:solidFill>
          <a:ln w="6191">
            <a:solidFill>
              <a:srgbClr val="b5a68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80" name="ร่วมใจพัฒนา(คลองกีบหมู)"/>
          <p:cNvSpPr/>
          <p:nvPr/>
        </p:nvSpPr>
        <p:spPr>
          <a:xfrm>
            <a:off x="7404840" y="4249440"/>
            <a:ext cx="40680" cy="51840"/>
          </a:xfrm>
          <a:custGeom>
            <a:avLst/>
            <a:gdLst/>
            <a:ahLst/>
            <a:rect l="l" t="t" r="r" b="b"/>
            <a:pathLst>
              <a:path w="41191" h="52141">
                <a:moveTo>
                  <a:pt x="13890" y="12326"/>
                </a:moveTo>
                <a:lnTo>
                  <a:pt x="8142" y="12943"/>
                </a:lnTo>
                <a:lnTo>
                  <a:pt x="8262" y="27241"/>
                </a:lnTo>
                <a:lnTo>
                  <a:pt x="0" y="28844"/>
                </a:lnTo>
                <a:lnTo>
                  <a:pt x="2395" y="45978"/>
                </a:lnTo>
                <a:lnTo>
                  <a:pt x="239" y="46348"/>
                </a:lnTo>
                <a:lnTo>
                  <a:pt x="958" y="52141"/>
                </a:lnTo>
                <a:lnTo>
                  <a:pt x="24666" y="49552"/>
                </a:lnTo>
                <a:lnTo>
                  <a:pt x="41191" y="2589"/>
                </a:lnTo>
                <a:lnTo>
                  <a:pt x="34844" y="2342"/>
                </a:lnTo>
                <a:lnTo>
                  <a:pt x="31851" y="0"/>
                </a:lnTo>
                <a:lnTo>
                  <a:pt x="23110" y="1233"/>
                </a:lnTo>
                <a:lnTo>
                  <a:pt x="23589" y="10724"/>
                </a:lnTo>
                <a:lnTo>
                  <a:pt x="13890" y="12326"/>
                </a:lnTo>
                <a:close/>
              </a:path>
            </a:pathLst>
          </a:custGeom>
          <a:solidFill>
            <a:srgbClr val="ded5c5"/>
          </a:solidFill>
          <a:ln w="6191">
            <a:solidFill>
              <a:srgbClr val="b5a68d"/>
            </a:solidFill>
            <a:round/>
          </a:ln>
        </p:spPr>
        <p:style>
          <a:lnRef idx="0"/>
          <a:fillRef idx="0"/>
          <a:effectRef idx="0"/>
          <a:fontRef idx="minor"/>
        </p:style>
        <p:txBody>
          <a:bodyPr lIns="90000" rIns="90000" tIns="6840" bIns="6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81" name="หมู่บ้านธีรวรรณ"/>
          <p:cNvSpPr/>
          <p:nvPr/>
        </p:nvSpPr>
        <p:spPr>
          <a:xfrm>
            <a:off x="7300440" y="4486320"/>
            <a:ext cx="72720" cy="27000"/>
          </a:xfrm>
          <a:custGeom>
            <a:avLst/>
            <a:gdLst/>
            <a:ahLst/>
            <a:rect l="l" t="t" r="r" b="b"/>
            <a:pathLst>
              <a:path w="73161" h="27488">
                <a:moveTo>
                  <a:pt x="59870" y="20708"/>
                </a:moveTo>
                <a:lnTo>
                  <a:pt x="70527" y="19476"/>
                </a:lnTo>
                <a:lnTo>
                  <a:pt x="69808" y="12326"/>
                </a:lnTo>
                <a:lnTo>
                  <a:pt x="73161" y="0"/>
                </a:lnTo>
                <a:lnTo>
                  <a:pt x="60349" y="0"/>
                </a:lnTo>
                <a:lnTo>
                  <a:pt x="43825" y="4314"/>
                </a:lnTo>
                <a:lnTo>
                  <a:pt x="1557" y="8875"/>
                </a:lnTo>
                <a:lnTo>
                  <a:pt x="0" y="21941"/>
                </a:lnTo>
                <a:lnTo>
                  <a:pt x="2754" y="21695"/>
                </a:lnTo>
                <a:lnTo>
                  <a:pt x="3472" y="27488"/>
                </a:lnTo>
                <a:lnTo>
                  <a:pt x="59870" y="20708"/>
                </a:lnTo>
                <a:close/>
              </a:path>
            </a:pathLst>
          </a:custGeom>
          <a:solidFill>
            <a:srgbClr val="ded5c5"/>
          </a:solidFill>
          <a:ln w="6191">
            <a:solidFill>
              <a:srgbClr val="b5a68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82" name="นีรชา"/>
          <p:cNvSpPr/>
          <p:nvPr/>
        </p:nvSpPr>
        <p:spPr>
          <a:xfrm>
            <a:off x="7229520" y="4407480"/>
            <a:ext cx="60840" cy="48960"/>
          </a:xfrm>
          <a:custGeom>
            <a:avLst/>
            <a:gdLst/>
            <a:ahLst/>
            <a:rect l="l" t="t" r="r" b="b"/>
            <a:pathLst>
              <a:path w="61187" h="49183">
                <a:moveTo>
                  <a:pt x="7184" y="49183"/>
                </a:moveTo>
                <a:lnTo>
                  <a:pt x="16045" y="43266"/>
                </a:lnTo>
                <a:lnTo>
                  <a:pt x="12573" y="37842"/>
                </a:lnTo>
                <a:lnTo>
                  <a:pt x="21912" y="30816"/>
                </a:lnTo>
                <a:lnTo>
                  <a:pt x="31851" y="43759"/>
                </a:lnTo>
                <a:lnTo>
                  <a:pt x="53883" y="18120"/>
                </a:lnTo>
                <a:lnTo>
                  <a:pt x="49572" y="10477"/>
                </a:lnTo>
                <a:lnTo>
                  <a:pt x="61187" y="5054"/>
                </a:lnTo>
                <a:lnTo>
                  <a:pt x="60708" y="0"/>
                </a:lnTo>
                <a:lnTo>
                  <a:pt x="29097" y="14299"/>
                </a:lnTo>
                <a:lnTo>
                  <a:pt x="27061" y="13066"/>
                </a:lnTo>
                <a:lnTo>
                  <a:pt x="0" y="33528"/>
                </a:lnTo>
                <a:lnTo>
                  <a:pt x="7184" y="49183"/>
                </a:lnTo>
                <a:close/>
              </a:path>
            </a:pathLst>
          </a:custGeom>
          <a:solidFill>
            <a:srgbClr val="ded5c5"/>
          </a:solidFill>
          <a:ln w="6191">
            <a:solidFill>
              <a:srgbClr val="b5a68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83" name="หมู่บ้านเพชรไพลิน"/>
          <p:cNvSpPr/>
          <p:nvPr/>
        </p:nvSpPr>
        <p:spPr>
          <a:xfrm>
            <a:off x="7357680" y="4339440"/>
            <a:ext cx="11880" cy="26280"/>
          </a:xfrm>
          <a:custGeom>
            <a:avLst/>
            <a:gdLst/>
            <a:ahLst/>
            <a:rect l="l" t="t" r="r" b="b"/>
            <a:pathLst>
              <a:path w="12213" h="26625">
                <a:moveTo>
                  <a:pt x="3712" y="26625"/>
                </a:moveTo>
                <a:lnTo>
                  <a:pt x="12213" y="25269"/>
                </a:lnTo>
                <a:lnTo>
                  <a:pt x="8262" y="0"/>
                </a:lnTo>
                <a:lnTo>
                  <a:pt x="0" y="247"/>
                </a:lnTo>
                <a:lnTo>
                  <a:pt x="3712" y="26625"/>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84" name="หมู่บ้านพร้อมสุข 1"/>
          <p:cNvSpPr/>
          <p:nvPr/>
        </p:nvSpPr>
        <p:spPr>
          <a:xfrm>
            <a:off x="7569720" y="4284720"/>
            <a:ext cx="49320" cy="10440"/>
          </a:xfrm>
          <a:custGeom>
            <a:avLst/>
            <a:gdLst/>
            <a:ahLst/>
            <a:rect l="l" t="t" r="r" b="b"/>
            <a:pathLst>
              <a:path w="49572" h="10971">
                <a:moveTo>
                  <a:pt x="49453" y="0"/>
                </a:moveTo>
                <a:lnTo>
                  <a:pt x="0" y="3575"/>
                </a:lnTo>
                <a:lnTo>
                  <a:pt x="120" y="10971"/>
                </a:lnTo>
                <a:lnTo>
                  <a:pt x="17721" y="9245"/>
                </a:lnTo>
                <a:lnTo>
                  <a:pt x="17243" y="4684"/>
                </a:lnTo>
                <a:lnTo>
                  <a:pt x="49572" y="2342"/>
                </a:lnTo>
                <a:lnTo>
                  <a:pt x="49453" y="0"/>
                </a:lnTo>
                <a:close/>
              </a:path>
            </a:pathLst>
          </a:custGeom>
          <a:solidFill>
            <a:srgbClr val="ded5c5"/>
          </a:solidFill>
          <a:ln w="6191">
            <a:solidFill>
              <a:srgbClr val="b5a68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85" name="หมู่บ้านร่มทิพย์"/>
          <p:cNvSpPr/>
          <p:nvPr/>
        </p:nvSpPr>
        <p:spPr>
          <a:xfrm>
            <a:off x="7508160" y="4107240"/>
            <a:ext cx="24120" cy="91800"/>
          </a:xfrm>
          <a:custGeom>
            <a:avLst/>
            <a:gdLst/>
            <a:ahLst/>
            <a:rect l="l" t="t" r="r" b="b"/>
            <a:pathLst>
              <a:path w="24307" h="92325">
                <a:moveTo>
                  <a:pt x="3592" y="85669"/>
                </a:moveTo>
                <a:lnTo>
                  <a:pt x="3832" y="92325"/>
                </a:lnTo>
                <a:lnTo>
                  <a:pt x="24307" y="89737"/>
                </a:lnTo>
                <a:lnTo>
                  <a:pt x="20595" y="0"/>
                </a:lnTo>
                <a:lnTo>
                  <a:pt x="0" y="370"/>
                </a:lnTo>
                <a:lnTo>
                  <a:pt x="3592" y="8566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86" name="หมู่บ้านกรีนวิลล์"/>
          <p:cNvSpPr/>
          <p:nvPr/>
        </p:nvSpPr>
        <p:spPr>
          <a:xfrm>
            <a:off x="7579800" y="4395600"/>
            <a:ext cx="29520" cy="9360"/>
          </a:xfrm>
          <a:custGeom>
            <a:avLst/>
            <a:gdLst/>
            <a:ahLst/>
            <a:rect l="l" t="t" r="r" b="b"/>
            <a:pathLst>
              <a:path w="29935" h="9861">
                <a:moveTo>
                  <a:pt x="29935" y="0"/>
                </a:moveTo>
                <a:lnTo>
                  <a:pt x="0" y="247"/>
                </a:lnTo>
                <a:lnTo>
                  <a:pt x="599" y="9861"/>
                </a:lnTo>
                <a:lnTo>
                  <a:pt x="29815" y="9368"/>
                </a:lnTo>
                <a:lnTo>
                  <a:pt x="29935" y="0"/>
                </a:lnTo>
                <a:close/>
              </a:path>
            </a:pathLst>
          </a:custGeom>
          <a:solidFill>
            <a:srgbClr val="ded5c5"/>
          </a:solidFill>
          <a:ln w="6191">
            <a:solidFill>
              <a:srgbClr val="b5a68d"/>
            </a:solidFill>
            <a:round/>
          </a:ln>
        </p:spPr>
        <p:style>
          <a:lnRef idx="0"/>
          <a:fillRef idx="0"/>
          <a:effectRef idx="0"/>
          <a:fontRef idx="minor"/>
        </p:style>
        <p:txBody>
          <a:bodyPr lIns="90000" rIns="90000" tIns="-35640" bIns="-35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87" name="ชุมชนหมู่บ้านพูน"/>
          <p:cNvSpPr/>
          <p:nvPr/>
        </p:nvSpPr>
        <p:spPr>
          <a:xfrm>
            <a:off x="7000920" y="4097880"/>
            <a:ext cx="32760" cy="34200"/>
          </a:xfrm>
          <a:custGeom>
            <a:avLst/>
            <a:gdLst/>
            <a:ahLst/>
            <a:rect l="l" t="t" r="r" b="b"/>
            <a:pathLst>
              <a:path w="33168" h="34391">
                <a:moveTo>
                  <a:pt x="10058" y="0"/>
                </a:moveTo>
                <a:lnTo>
                  <a:pt x="0" y="5177"/>
                </a:lnTo>
                <a:lnTo>
                  <a:pt x="16045" y="31309"/>
                </a:lnTo>
                <a:lnTo>
                  <a:pt x="21194" y="26995"/>
                </a:lnTo>
                <a:lnTo>
                  <a:pt x="27301" y="34391"/>
                </a:lnTo>
                <a:lnTo>
                  <a:pt x="33168" y="29953"/>
                </a:lnTo>
                <a:lnTo>
                  <a:pt x="10058" y="0"/>
                </a:lnTo>
                <a:close/>
              </a:path>
            </a:pathLst>
          </a:custGeom>
          <a:solidFill>
            <a:srgbClr val="ded5c5"/>
          </a:solidFill>
          <a:ln w="6191">
            <a:solidFill>
              <a:srgbClr val="b5a68d"/>
            </a:solidFill>
            <a:round/>
          </a:ln>
        </p:spPr>
        <p:style>
          <a:lnRef idx="0"/>
          <a:fillRef idx="0"/>
          <a:effectRef idx="0"/>
          <a:fontRef idx="minor"/>
        </p:style>
        <p:txBody>
          <a:bodyPr lIns="90000" rIns="90000" tIns="-10800" bIns="-10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88" name="หมู่บ้านพัฒนาหมู่ที่ 12 ลำพะอง"/>
          <p:cNvSpPr/>
          <p:nvPr/>
        </p:nvSpPr>
        <p:spPr>
          <a:xfrm>
            <a:off x="8686440" y="5081760"/>
            <a:ext cx="197640" cy="145800"/>
          </a:xfrm>
          <a:custGeom>
            <a:avLst/>
            <a:gdLst/>
            <a:ahLst/>
            <a:rect l="l" t="t" r="r" b="b"/>
            <a:pathLst>
              <a:path w="197930" h="146192">
                <a:moveTo>
                  <a:pt x="183920" y="105884"/>
                </a:moveTo>
                <a:lnTo>
                  <a:pt x="191584" y="99105"/>
                </a:lnTo>
                <a:lnTo>
                  <a:pt x="197930" y="90600"/>
                </a:lnTo>
                <a:lnTo>
                  <a:pt x="191704" y="81724"/>
                </a:lnTo>
                <a:lnTo>
                  <a:pt x="182484" y="73343"/>
                </a:lnTo>
                <a:lnTo>
                  <a:pt x="169671" y="54113"/>
                </a:lnTo>
                <a:lnTo>
                  <a:pt x="165600" y="38828"/>
                </a:lnTo>
                <a:lnTo>
                  <a:pt x="161529" y="32665"/>
                </a:lnTo>
                <a:lnTo>
                  <a:pt x="155782" y="32295"/>
                </a:lnTo>
                <a:lnTo>
                  <a:pt x="142011" y="40431"/>
                </a:lnTo>
                <a:lnTo>
                  <a:pt x="94235" y="0"/>
                </a:lnTo>
                <a:lnTo>
                  <a:pt x="36521" y="48813"/>
                </a:lnTo>
                <a:lnTo>
                  <a:pt x="34725" y="56579"/>
                </a:lnTo>
                <a:lnTo>
                  <a:pt x="0" y="106747"/>
                </a:lnTo>
                <a:lnTo>
                  <a:pt x="26822" y="130291"/>
                </a:lnTo>
                <a:lnTo>
                  <a:pt x="50410" y="146192"/>
                </a:lnTo>
                <a:lnTo>
                  <a:pt x="105491" y="97009"/>
                </a:lnTo>
                <a:lnTo>
                  <a:pt x="136264" y="73589"/>
                </a:lnTo>
                <a:lnTo>
                  <a:pt x="157099" y="99351"/>
                </a:lnTo>
                <a:lnTo>
                  <a:pt x="175539" y="110199"/>
                </a:lnTo>
                <a:lnTo>
                  <a:pt x="183920" y="10588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89" name="หมู่บ้านพัฒนา หมู่ที่ 13 (ชุมชนลำคูเวียง)"/>
          <p:cNvSpPr/>
          <p:nvPr/>
        </p:nvSpPr>
        <p:spPr>
          <a:xfrm>
            <a:off x="8613000" y="5156280"/>
            <a:ext cx="280800" cy="250200"/>
          </a:xfrm>
          <a:custGeom>
            <a:avLst/>
            <a:gdLst/>
            <a:ahLst/>
            <a:rect l="l" t="t" r="r" b="b"/>
            <a:pathLst>
              <a:path w="281029" h="250474">
                <a:moveTo>
                  <a:pt x="253489" y="51771"/>
                </a:moveTo>
                <a:lnTo>
                  <a:pt x="254806" y="44129"/>
                </a:lnTo>
                <a:lnTo>
                  <a:pt x="246544" y="34761"/>
                </a:lnTo>
                <a:lnTo>
                  <a:pt x="228464" y="22681"/>
                </a:lnTo>
                <a:lnTo>
                  <a:pt x="209664" y="0"/>
                </a:lnTo>
                <a:lnTo>
                  <a:pt x="190386" y="13559"/>
                </a:lnTo>
                <a:lnTo>
                  <a:pt x="122853" y="71370"/>
                </a:lnTo>
                <a:lnTo>
                  <a:pt x="99504" y="56825"/>
                </a:lnTo>
                <a:lnTo>
                  <a:pt x="84297" y="43143"/>
                </a:lnTo>
                <a:lnTo>
                  <a:pt x="53883" y="89860"/>
                </a:lnTo>
                <a:lnTo>
                  <a:pt x="43945" y="144343"/>
                </a:lnTo>
                <a:lnTo>
                  <a:pt x="36161" y="143727"/>
                </a:lnTo>
                <a:lnTo>
                  <a:pt x="28857" y="140152"/>
                </a:lnTo>
                <a:lnTo>
                  <a:pt x="0" y="199073"/>
                </a:lnTo>
                <a:lnTo>
                  <a:pt x="105970" y="250474"/>
                </a:lnTo>
                <a:lnTo>
                  <a:pt x="115549" y="209180"/>
                </a:lnTo>
                <a:lnTo>
                  <a:pt x="121536" y="198703"/>
                </a:lnTo>
                <a:lnTo>
                  <a:pt x="138898" y="182678"/>
                </a:lnTo>
                <a:lnTo>
                  <a:pt x="149435" y="183788"/>
                </a:lnTo>
                <a:lnTo>
                  <a:pt x="156979" y="186376"/>
                </a:lnTo>
                <a:lnTo>
                  <a:pt x="168115" y="191060"/>
                </a:lnTo>
                <a:lnTo>
                  <a:pt x="172186" y="194635"/>
                </a:lnTo>
                <a:lnTo>
                  <a:pt x="182124" y="198210"/>
                </a:lnTo>
                <a:lnTo>
                  <a:pt x="187393" y="202277"/>
                </a:lnTo>
                <a:lnTo>
                  <a:pt x="196493" y="234449"/>
                </a:lnTo>
                <a:lnTo>
                  <a:pt x="202959" y="242708"/>
                </a:lnTo>
                <a:lnTo>
                  <a:pt x="209305" y="246776"/>
                </a:lnTo>
                <a:lnTo>
                  <a:pt x="213975" y="247392"/>
                </a:lnTo>
                <a:lnTo>
                  <a:pt x="228104" y="243201"/>
                </a:lnTo>
                <a:lnTo>
                  <a:pt x="234690" y="244557"/>
                </a:lnTo>
                <a:lnTo>
                  <a:pt x="250855" y="239257"/>
                </a:lnTo>
                <a:lnTo>
                  <a:pt x="265104" y="231861"/>
                </a:lnTo>
                <a:lnTo>
                  <a:pt x="274444" y="215343"/>
                </a:lnTo>
                <a:lnTo>
                  <a:pt x="272767" y="195498"/>
                </a:lnTo>
                <a:lnTo>
                  <a:pt x="279593" y="181692"/>
                </a:lnTo>
                <a:lnTo>
                  <a:pt x="281029" y="152848"/>
                </a:lnTo>
                <a:lnTo>
                  <a:pt x="270971" y="145083"/>
                </a:lnTo>
                <a:lnTo>
                  <a:pt x="265344" y="129181"/>
                </a:lnTo>
                <a:lnTo>
                  <a:pt x="267978" y="118211"/>
                </a:lnTo>
                <a:lnTo>
                  <a:pt x="255645" y="68535"/>
                </a:lnTo>
                <a:lnTo>
                  <a:pt x="253489" y="51771"/>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90" name="เสนาวัฒนา"/>
          <p:cNvSpPr/>
          <p:nvPr/>
        </p:nvSpPr>
        <p:spPr>
          <a:xfrm>
            <a:off x="6308640" y="3700440"/>
            <a:ext cx="10800" cy="9360"/>
          </a:xfrm>
          <a:custGeom>
            <a:avLst/>
            <a:gdLst/>
            <a:ahLst/>
            <a:rect l="l" t="t" r="r" b="b"/>
            <a:pathLst>
              <a:path w="11136" h="9861">
                <a:moveTo>
                  <a:pt x="239" y="0"/>
                </a:moveTo>
                <a:lnTo>
                  <a:pt x="0" y="7889"/>
                </a:lnTo>
                <a:lnTo>
                  <a:pt x="8741" y="9861"/>
                </a:lnTo>
                <a:lnTo>
                  <a:pt x="11136" y="740"/>
                </a:lnTo>
                <a:lnTo>
                  <a:pt x="239" y="0"/>
                </a:lnTo>
                <a:close/>
              </a:path>
            </a:pathLst>
          </a:custGeom>
          <a:solidFill>
            <a:srgbClr val="ded5c5"/>
          </a:solidFill>
          <a:ln w="6191">
            <a:solidFill>
              <a:srgbClr val="b5a68d"/>
            </a:solidFill>
            <a:round/>
          </a:ln>
        </p:spPr>
        <p:style>
          <a:lnRef idx="0"/>
          <a:fillRef idx="0"/>
          <a:effectRef idx="0"/>
          <a:fontRef idx="minor"/>
        </p:style>
        <p:txBody>
          <a:bodyPr lIns="90000" rIns="90000" tIns="-35640" bIns="-35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91" name="กรุณาพัฒนา"/>
          <p:cNvSpPr/>
          <p:nvPr/>
        </p:nvSpPr>
        <p:spPr>
          <a:xfrm>
            <a:off x="6309000" y="3696120"/>
            <a:ext cx="11160" cy="4320"/>
          </a:xfrm>
          <a:custGeom>
            <a:avLst/>
            <a:gdLst/>
            <a:ahLst/>
            <a:rect l="l" t="t" r="r" b="b"/>
            <a:pathLst>
              <a:path w="11615" h="4684">
                <a:moveTo>
                  <a:pt x="11615" y="493"/>
                </a:moveTo>
                <a:lnTo>
                  <a:pt x="239" y="0"/>
                </a:lnTo>
                <a:lnTo>
                  <a:pt x="0" y="4068"/>
                </a:lnTo>
                <a:lnTo>
                  <a:pt x="11016" y="4684"/>
                </a:lnTo>
                <a:lnTo>
                  <a:pt x="11615" y="493"/>
                </a:lnTo>
                <a:close/>
              </a:path>
            </a:pathLst>
          </a:custGeom>
          <a:solidFill>
            <a:srgbClr val="ded5c5"/>
          </a:solidFill>
          <a:ln w="6191">
            <a:solidFill>
              <a:srgbClr val="b5a68d"/>
            </a:solidFill>
            <a:round/>
          </a:ln>
        </p:spPr>
        <p:style>
          <a:lnRef idx="0"/>
          <a:fillRef idx="0"/>
          <a:effectRef idx="0"/>
          <a:fontRef idx="minor"/>
        </p:style>
        <p:txBody>
          <a:bodyPr lIns="90000" rIns="90000" tIns="-40680" bIns="-40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92" name="สัมพันธ์สายน้ำผึ้ง"/>
          <p:cNvSpPr/>
          <p:nvPr/>
        </p:nvSpPr>
        <p:spPr>
          <a:xfrm>
            <a:off x="6376320" y="3704400"/>
            <a:ext cx="21960" cy="20520"/>
          </a:xfrm>
          <a:custGeom>
            <a:avLst/>
            <a:gdLst/>
            <a:ahLst/>
            <a:rect l="l" t="t" r="r" b="b"/>
            <a:pathLst>
              <a:path w="22272" h="20832">
                <a:moveTo>
                  <a:pt x="0" y="17627"/>
                </a:moveTo>
                <a:lnTo>
                  <a:pt x="14489" y="20832"/>
                </a:lnTo>
                <a:lnTo>
                  <a:pt x="22272" y="20215"/>
                </a:lnTo>
                <a:lnTo>
                  <a:pt x="3353" y="0"/>
                </a:lnTo>
                <a:lnTo>
                  <a:pt x="0" y="17627"/>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93" name="หมู่บ้านเลิศอุบล"/>
          <p:cNvSpPr/>
          <p:nvPr/>
        </p:nvSpPr>
        <p:spPr>
          <a:xfrm>
            <a:off x="6407280" y="3704400"/>
            <a:ext cx="39600" cy="17280"/>
          </a:xfrm>
          <a:custGeom>
            <a:avLst/>
            <a:gdLst/>
            <a:ahLst/>
            <a:rect l="l" t="t" r="r" b="b"/>
            <a:pathLst>
              <a:path w="39993" h="17750">
                <a:moveTo>
                  <a:pt x="0" y="0"/>
                </a:moveTo>
                <a:lnTo>
                  <a:pt x="120" y="17750"/>
                </a:lnTo>
                <a:lnTo>
                  <a:pt x="39514" y="16641"/>
                </a:lnTo>
                <a:lnTo>
                  <a:pt x="39993" y="1356"/>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94" name="ร่วมใจสามัคคี&#10;"/>
          <p:cNvSpPr/>
          <p:nvPr/>
        </p:nvSpPr>
        <p:spPr>
          <a:xfrm>
            <a:off x="6229080" y="3537360"/>
            <a:ext cx="24480" cy="20520"/>
          </a:xfrm>
          <a:custGeom>
            <a:avLst/>
            <a:gdLst/>
            <a:ahLst/>
            <a:rect l="l" t="t" r="r" b="b"/>
            <a:pathLst>
              <a:path w="24786" h="20832">
                <a:moveTo>
                  <a:pt x="838" y="20832"/>
                </a:moveTo>
                <a:lnTo>
                  <a:pt x="24786" y="9122"/>
                </a:lnTo>
                <a:lnTo>
                  <a:pt x="17123" y="0"/>
                </a:lnTo>
                <a:lnTo>
                  <a:pt x="9220" y="4191"/>
                </a:lnTo>
                <a:lnTo>
                  <a:pt x="0" y="19599"/>
                </a:lnTo>
                <a:lnTo>
                  <a:pt x="838" y="20832"/>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95" name="หมู่บ้านพัฒนา 52"/>
          <p:cNvSpPr/>
          <p:nvPr/>
        </p:nvSpPr>
        <p:spPr>
          <a:xfrm>
            <a:off x="6276600" y="3582720"/>
            <a:ext cx="57600" cy="10800"/>
          </a:xfrm>
          <a:custGeom>
            <a:avLst/>
            <a:gdLst/>
            <a:ahLst/>
            <a:rect l="l" t="t" r="r" b="b"/>
            <a:pathLst>
              <a:path w="58074" h="11217">
                <a:moveTo>
                  <a:pt x="2634" y="0"/>
                </a:moveTo>
                <a:lnTo>
                  <a:pt x="0" y="11217"/>
                </a:lnTo>
                <a:lnTo>
                  <a:pt x="43346" y="9738"/>
                </a:lnTo>
                <a:lnTo>
                  <a:pt x="42747" y="8259"/>
                </a:lnTo>
                <a:lnTo>
                  <a:pt x="58074" y="6656"/>
                </a:lnTo>
                <a:lnTo>
                  <a:pt x="57834" y="740"/>
                </a:lnTo>
                <a:lnTo>
                  <a:pt x="2634" y="0"/>
                </a:lnTo>
                <a:close/>
              </a:path>
            </a:pathLst>
          </a:custGeom>
          <a:solidFill>
            <a:srgbClr val="ded5c5"/>
          </a:solidFill>
          <a:ln w="6191">
            <a:solidFill>
              <a:srgbClr val="b5a68d"/>
            </a:solidFill>
            <a:round/>
          </a:ln>
        </p:spPr>
        <p:style>
          <a:lnRef idx="0"/>
          <a:fillRef idx="0"/>
          <a:effectRef idx="0"/>
          <a:fontRef idx="minor"/>
        </p:style>
        <p:txBody>
          <a:bodyPr lIns="90000" rIns="90000" tIns="-34200" bIns="-34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96" name="รุ่งเรืองเฮาส์"/>
          <p:cNvSpPr/>
          <p:nvPr/>
        </p:nvSpPr>
        <p:spPr>
          <a:xfrm>
            <a:off x="6300720" y="3550680"/>
            <a:ext cx="41040" cy="18360"/>
          </a:xfrm>
          <a:custGeom>
            <a:avLst/>
            <a:gdLst/>
            <a:ahLst/>
            <a:rect l="l" t="t" r="r" b="b"/>
            <a:pathLst>
              <a:path w="41550" h="18736">
                <a:moveTo>
                  <a:pt x="0" y="9491"/>
                </a:moveTo>
                <a:lnTo>
                  <a:pt x="3951" y="15038"/>
                </a:lnTo>
                <a:lnTo>
                  <a:pt x="3951" y="17627"/>
                </a:lnTo>
                <a:lnTo>
                  <a:pt x="6466" y="18736"/>
                </a:lnTo>
                <a:lnTo>
                  <a:pt x="37239" y="17257"/>
                </a:lnTo>
                <a:lnTo>
                  <a:pt x="41550" y="5547"/>
                </a:lnTo>
                <a:lnTo>
                  <a:pt x="39394" y="0"/>
                </a:lnTo>
                <a:lnTo>
                  <a:pt x="23230" y="1356"/>
                </a:lnTo>
                <a:lnTo>
                  <a:pt x="2993" y="4438"/>
                </a:lnTo>
                <a:lnTo>
                  <a:pt x="0" y="9491"/>
                </a:lnTo>
                <a:close/>
              </a:path>
            </a:pathLst>
          </a:custGeom>
          <a:solidFill>
            <a:srgbClr val="ded5c5"/>
          </a:solidFill>
          <a:ln w="6191">
            <a:solidFill>
              <a:srgbClr val="b5a68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97" name="ประยงค์แย้ม"/>
          <p:cNvSpPr/>
          <p:nvPr/>
        </p:nvSpPr>
        <p:spPr>
          <a:xfrm>
            <a:off x="7304400" y="4466160"/>
            <a:ext cx="73080" cy="11520"/>
          </a:xfrm>
          <a:custGeom>
            <a:avLst/>
            <a:gdLst/>
            <a:ahLst/>
            <a:rect l="l" t="t" r="r" b="b"/>
            <a:pathLst>
              <a:path w="73281" h="11957">
                <a:moveTo>
                  <a:pt x="67653" y="11710"/>
                </a:moveTo>
                <a:lnTo>
                  <a:pt x="71724" y="11957"/>
                </a:lnTo>
                <a:lnTo>
                  <a:pt x="73281" y="1972"/>
                </a:lnTo>
                <a:lnTo>
                  <a:pt x="43945" y="0"/>
                </a:lnTo>
                <a:lnTo>
                  <a:pt x="35443" y="1479"/>
                </a:lnTo>
                <a:lnTo>
                  <a:pt x="35682" y="3082"/>
                </a:lnTo>
                <a:lnTo>
                  <a:pt x="34006" y="3821"/>
                </a:lnTo>
                <a:lnTo>
                  <a:pt x="32090" y="1972"/>
                </a:lnTo>
                <a:lnTo>
                  <a:pt x="28259" y="2465"/>
                </a:lnTo>
                <a:lnTo>
                  <a:pt x="120" y="6287"/>
                </a:lnTo>
                <a:lnTo>
                  <a:pt x="0" y="8012"/>
                </a:lnTo>
                <a:lnTo>
                  <a:pt x="51129" y="2589"/>
                </a:lnTo>
                <a:lnTo>
                  <a:pt x="50530" y="11710"/>
                </a:lnTo>
                <a:lnTo>
                  <a:pt x="67653" y="11710"/>
                </a:lnTo>
                <a:close/>
              </a:path>
            </a:pathLst>
          </a:custGeom>
          <a:solidFill>
            <a:srgbClr val="ded5c5"/>
          </a:solidFill>
          <a:ln w="6191">
            <a:solidFill>
              <a:srgbClr val="b5a68d"/>
            </a:solidFill>
            <a:round/>
          </a:ln>
        </p:spPr>
        <p:style>
          <a:lnRef idx="0"/>
          <a:fillRef idx="0"/>
          <a:effectRef idx="0"/>
          <a:fontRef idx="minor"/>
        </p:style>
        <p:txBody>
          <a:bodyPr lIns="90000" rIns="90000" tIns="-33480" bIns="-33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98" name="บำรุงสุข-บุญมา"/>
          <p:cNvSpPr/>
          <p:nvPr/>
        </p:nvSpPr>
        <p:spPr>
          <a:xfrm>
            <a:off x="7185240" y="4297680"/>
            <a:ext cx="90000" cy="81000"/>
          </a:xfrm>
          <a:custGeom>
            <a:avLst/>
            <a:gdLst/>
            <a:ahLst/>
            <a:rect l="l" t="t" r="r" b="b"/>
            <a:pathLst>
              <a:path w="90523" h="81231">
                <a:moveTo>
                  <a:pt x="62025" y="33281"/>
                </a:moveTo>
                <a:lnTo>
                  <a:pt x="48135" y="40554"/>
                </a:lnTo>
                <a:lnTo>
                  <a:pt x="35682" y="44499"/>
                </a:lnTo>
                <a:lnTo>
                  <a:pt x="27540" y="17997"/>
                </a:lnTo>
                <a:lnTo>
                  <a:pt x="29456" y="17750"/>
                </a:lnTo>
                <a:lnTo>
                  <a:pt x="27420" y="13313"/>
                </a:lnTo>
                <a:lnTo>
                  <a:pt x="26103" y="13436"/>
                </a:lnTo>
                <a:lnTo>
                  <a:pt x="22032" y="0"/>
                </a:lnTo>
                <a:lnTo>
                  <a:pt x="11854" y="4068"/>
                </a:lnTo>
                <a:lnTo>
                  <a:pt x="19877" y="31433"/>
                </a:lnTo>
                <a:lnTo>
                  <a:pt x="21553" y="46594"/>
                </a:lnTo>
                <a:lnTo>
                  <a:pt x="5508" y="50785"/>
                </a:lnTo>
                <a:lnTo>
                  <a:pt x="4670" y="52018"/>
                </a:lnTo>
                <a:lnTo>
                  <a:pt x="0" y="68165"/>
                </a:lnTo>
                <a:lnTo>
                  <a:pt x="3472" y="71370"/>
                </a:lnTo>
                <a:lnTo>
                  <a:pt x="8502" y="81231"/>
                </a:lnTo>
                <a:lnTo>
                  <a:pt x="84536" y="61509"/>
                </a:lnTo>
                <a:lnTo>
                  <a:pt x="83099" y="56209"/>
                </a:lnTo>
                <a:lnTo>
                  <a:pt x="90523" y="53620"/>
                </a:lnTo>
                <a:lnTo>
                  <a:pt x="81543" y="24160"/>
                </a:lnTo>
                <a:lnTo>
                  <a:pt x="62025" y="33281"/>
                </a:lnTo>
                <a:close/>
              </a:path>
            </a:pathLst>
          </a:custGeom>
          <a:solidFill>
            <a:srgbClr val="ded5c5"/>
          </a:solidFill>
          <a:ln w="6191">
            <a:solidFill>
              <a:srgbClr val="b5a68d"/>
            </a:solidFill>
            <a:round/>
          </a:ln>
        </p:spPr>
        <p:style>
          <a:lnRef idx="0"/>
          <a:fillRef idx="0"/>
          <a:effectRef idx="0"/>
          <a:fontRef idx="minor"/>
        </p:style>
        <p:txBody>
          <a:bodyPr lIns="90000" rIns="90000" tIns="36000" bIns="36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799" name="หมู่บ้านร่มเย็น 5 พัฒนา"/>
          <p:cNvSpPr/>
          <p:nvPr/>
        </p:nvSpPr>
        <p:spPr>
          <a:xfrm>
            <a:off x="7246800" y="4424760"/>
            <a:ext cx="48960" cy="83160"/>
          </a:xfrm>
          <a:custGeom>
            <a:avLst/>
            <a:gdLst/>
            <a:ahLst/>
            <a:rect l="l" t="t" r="r" b="b"/>
            <a:pathLst>
              <a:path w="49213" h="83573">
                <a:moveTo>
                  <a:pt x="44783" y="0"/>
                </a:moveTo>
                <a:lnTo>
                  <a:pt x="0" y="48566"/>
                </a:lnTo>
                <a:lnTo>
                  <a:pt x="2036" y="53127"/>
                </a:lnTo>
                <a:lnTo>
                  <a:pt x="3233" y="76178"/>
                </a:lnTo>
                <a:lnTo>
                  <a:pt x="15087" y="83573"/>
                </a:lnTo>
                <a:lnTo>
                  <a:pt x="22870" y="66316"/>
                </a:lnTo>
                <a:lnTo>
                  <a:pt x="27061" y="60523"/>
                </a:lnTo>
                <a:lnTo>
                  <a:pt x="39275" y="49183"/>
                </a:lnTo>
                <a:lnTo>
                  <a:pt x="49213" y="26009"/>
                </a:lnTo>
                <a:lnTo>
                  <a:pt x="46100" y="14792"/>
                </a:lnTo>
                <a:lnTo>
                  <a:pt x="44783" y="0"/>
                </a:lnTo>
                <a:close/>
              </a:path>
            </a:pathLst>
          </a:custGeom>
          <a:solidFill>
            <a:srgbClr val="ded5c5"/>
          </a:solidFill>
          <a:ln w="6191">
            <a:solidFill>
              <a:srgbClr val="b5a68d"/>
            </a:solidFill>
            <a:round/>
          </a:ln>
        </p:spPr>
        <p:style>
          <a:lnRef idx="0"/>
          <a:fillRef idx="0"/>
          <a:effectRef idx="0"/>
          <a:fontRef idx="minor"/>
        </p:style>
        <p:txBody>
          <a:bodyPr lIns="90000" rIns="90000" tIns="38160" bIns="38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00" name="บ้านลำกระโหลก"/>
          <p:cNvSpPr/>
          <p:nvPr/>
        </p:nvSpPr>
        <p:spPr>
          <a:xfrm>
            <a:off x="7231680" y="4173480"/>
            <a:ext cx="76680" cy="110160"/>
          </a:xfrm>
          <a:custGeom>
            <a:avLst/>
            <a:gdLst/>
            <a:ahLst/>
            <a:rect l="l" t="t" r="r" b="b"/>
            <a:pathLst>
              <a:path w="76873" h="110692">
                <a:moveTo>
                  <a:pt x="22272" y="28351"/>
                </a:moveTo>
                <a:lnTo>
                  <a:pt x="19637" y="45485"/>
                </a:lnTo>
                <a:lnTo>
                  <a:pt x="8382" y="45485"/>
                </a:lnTo>
                <a:lnTo>
                  <a:pt x="12213" y="0"/>
                </a:lnTo>
                <a:lnTo>
                  <a:pt x="9459" y="20955"/>
                </a:lnTo>
                <a:lnTo>
                  <a:pt x="4311" y="21941"/>
                </a:lnTo>
                <a:lnTo>
                  <a:pt x="0" y="56948"/>
                </a:lnTo>
                <a:lnTo>
                  <a:pt x="13770" y="61509"/>
                </a:lnTo>
                <a:lnTo>
                  <a:pt x="11974" y="77780"/>
                </a:lnTo>
                <a:lnTo>
                  <a:pt x="9340" y="86409"/>
                </a:lnTo>
                <a:lnTo>
                  <a:pt x="27181" y="88997"/>
                </a:lnTo>
                <a:lnTo>
                  <a:pt x="26103" y="63728"/>
                </a:lnTo>
                <a:lnTo>
                  <a:pt x="28738" y="64098"/>
                </a:lnTo>
                <a:lnTo>
                  <a:pt x="28378" y="75685"/>
                </a:lnTo>
                <a:lnTo>
                  <a:pt x="40592" y="75561"/>
                </a:lnTo>
                <a:lnTo>
                  <a:pt x="41310" y="65577"/>
                </a:lnTo>
                <a:lnTo>
                  <a:pt x="43226" y="65577"/>
                </a:lnTo>
                <a:lnTo>
                  <a:pt x="40951" y="93065"/>
                </a:lnTo>
                <a:lnTo>
                  <a:pt x="51847" y="92942"/>
                </a:lnTo>
                <a:lnTo>
                  <a:pt x="52566" y="110692"/>
                </a:lnTo>
                <a:lnTo>
                  <a:pt x="63223" y="109336"/>
                </a:lnTo>
                <a:lnTo>
                  <a:pt x="63462" y="91586"/>
                </a:lnTo>
                <a:lnTo>
                  <a:pt x="75795" y="89983"/>
                </a:lnTo>
                <a:lnTo>
                  <a:pt x="76873" y="61879"/>
                </a:lnTo>
                <a:lnTo>
                  <a:pt x="37359" y="62125"/>
                </a:lnTo>
                <a:lnTo>
                  <a:pt x="37718" y="46101"/>
                </a:lnTo>
                <a:lnTo>
                  <a:pt x="28977" y="45978"/>
                </a:lnTo>
                <a:lnTo>
                  <a:pt x="29217" y="61139"/>
                </a:lnTo>
                <a:lnTo>
                  <a:pt x="20715" y="60030"/>
                </a:lnTo>
                <a:lnTo>
                  <a:pt x="21673" y="45854"/>
                </a:lnTo>
                <a:lnTo>
                  <a:pt x="25145" y="45485"/>
                </a:lnTo>
                <a:lnTo>
                  <a:pt x="24906" y="36733"/>
                </a:lnTo>
                <a:lnTo>
                  <a:pt x="23349" y="28351"/>
                </a:lnTo>
                <a:lnTo>
                  <a:pt x="22272" y="28351"/>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01" name="กาญจนา"/>
          <p:cNvSpPr/>
          <p:nvPr/>
        </p:nvSpPr>
        <p:spPr>
          <a:xfrm>
            <a:off x="7329960" y="4306320"/>
            <a:ext cx="39600" cy="17640"/>
          </a:xfrm>
          <a:custGeom>
            <a:avLst/>
            <a:gdLst/>
            <a:ahLst/>
            <a:rect l="l" t="t" r="r" b="b"/>
            <a:pathLst>
              <a:path w="39993" h="17873">
                <a:moveTo>
                  <a:pt x="3712" y="17873"/>
                </a:moveTo>
                <a:lnTo>
                  <a:pt x="12213" y="13806"/>
                </a:lnTo>
                <a:lnTo>
                  <a:pt x="31013" y="8998"/>
                </a:lnTo>
                <a:lnTo>
                  <a:pt x="31013" y="12696"/>
                </a:lnTo>
                <a:lnTo>
                  <a:pt x="32809" y="12450"/>
                </a:lnTo>
                <a:lnTo>
                  <a:pt x="32450" y="8012"/>
                </a:lnTo>
                <a:lnTo>
                  <a:pt x="39993" y="6903"/>
                </a:lnTo>
                <a:lnTo>
                  <a:pt x="39993" y="123"/>
                </a:lnTo>
                <a:lnTo>
                  <a:pt x="25744" y="1479"/>
                </a:lnTo>
                <a:lnTo>
                  <a:pt x="20356" y="0"/>
                </a:lnTo>
                <a:lnTo>
                  <a:pt x="0" y="10601"/>
                </a:lnTo>
                <a:lnTo>
                  <a:pt x="3712" y="17873"/>
                </a:lnTo>
                <a:close/>
              </a:path>
            </a:pathLst>
          </a:custGeom>
          <a:solidFill>
            <a:srgbClr val="ded5c5"/>
          </a:solidFill>
          <a:ln w="6191">
            <a:solidFill>
              <a:srgbClr val="b5a68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02" name="รุ่งเรือง1"/>
          <p:cNvSpPr/>
          <p:nvPr/>
        </p:nvSpPr>
        <p:spPr>
          <a:xfrm>
            <a:off x="7416360" y="4212000"/>
            <a:ext cx="57960" cy="38880"/>
          </a:xfrm>
          <a:custGeom>
            <a:avLst/>
            <a:gdLst/>
            <a:ahLst/>
            <a:rect l="l" t="t" r="r" b="b"/>
            <a:pathLst>
              <a:path w="58433" h="39321">
                <a:moveTo>
                  <a:pt x="2036" y="26255"/>
                </a:moveTo>
                <a:lnTo>
                  <a:pt x="2515" y="34144"/>
                </a:lnTo>
                <a:lnTo>
                  <a:pt x="8023" y="33405"/>
                </a:lnTo>
                <a:lnTo>
                  <a:pt x="8382" y="38335"/>
                </a:lnTo>
                <a:lnTo>
                  <a:pt x="20835" y="36486"/>
                </a:lnTo>
                <a:lnTo>
                  <a:pt x="24786" y="39198"/>
                </a:lnTo>
                <a:lnTo>
                  <a:pt x="31013" y="39321"/>
                </a:lnTo>
                <a:lnTo>
                  <a:pt x="35204" y="27488"/>
                </a:lnTo>
                <a:lnTo>
                  <a:pt x="48255" y="29953"/>
                </a:lnTo>
                <a:lnTo>
                  <a:pt x="58433" y="1849"/>
                </a:lnTo>
                <a:lnTo>
                  <a:pt x="42867" y="0"/>
                </a:lnTo>
                <a:lnTo>
                  <a:pt x="38077" y="22064"/>
                </a:lnTo>
                <a:lnTo>
                  <a:pt x="25984" y="22681"/>
                </a:lnTo>
                <a:lnTo>
                  <a:pt x="25385" y="18613"/>
                </a:lnTo>
                <a:lnTo>
                  <a:pt x="18320" y="19353"/>
                </a:lnTo>
                <a:lnTo>
                  <a:pt x="18679" y="23667"/>
                </a:lnTo>
                <a:lnTo>
                  <a:pt x="12812" y="24406"/>
                </a:lnTo>
                <a:lnTo>
                  <a:pt x="12812" y="20339"/>
                </a:lnTo>
                <a:lnTo>
                  <a:pt x="0" y="21695"/>
                </a:lnTo>
                <a:lnTo>
                  <a:pt x="359" y="26502"/>
                </a:lnTo>
                <a:lnTo>
                  <a:pt x="2036" y="26255"/>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03" name="เฟื่องฟ้าวิลเลจ"/>
          <p:cNvSpPr/>
          <p:nvPr/>
        </p:nvSpPr>
        <p:spPr>
          <a:xfrm>
            <a:off x="7304400" y="4469400"/>
            <a:ext cx="50040" cy="11520"/>
          </a:xfrm>
          <a:custGeom>
            <a:avLst/>
            <a:gdLst/>
            <a:ahLst/>
            <a:rect l="l" t="t" r="r" b="b"/>
            <a:pathLst>
              <a:path w="50410" h="11833">
                <a:moveTo>
                  <a:pt x="0" y="11833"/>
                </a:moveTo>
                <a:lnTo>
                  <a:pt x="24547" y="10354"/>
                </a:lnTo>
                <a:lnTo>
                  <a:pt x="24666" y="11710"/>
                </a:lnTo>
                <a:lnTo>
                  <a:pt x="25864" y="10354"/>
                </a:lnTo>
                <a:lnTo>
                  <a:pt x="49333" y="8752"/>
                </a:lnTo>
                <a:lnTo>
                  <a:pt x="50410" y="0"/>
                </a:lnTo>
                <a:lnTo>
                  <a:pt x="239" y="5177"/>
                </a:lnTo>
                <a:lnTo>
                  <a:pt x="0" y="11833"/>
                </a:lnTo>
                <a:close/>
              </a:path>
            </a:pathLst>
          </a:custGeom>
          <a:solidFill>
            <a:srgbClr val="ded5c5"/>
          </a:solidFill>
          <a:ln w="6191">
            <a:solidFill>
              <a:srgbClr val="b5a68d"/>
            </a:solidFill>
            <a:round/>
          </a:ln>
        </p:spPr>
        <p:style>
          <a:lnRef idx="0"/>
          <a:fillRef idx="0"/>
          <a:effectRef idx="0"/>
          <a:fontRef idx="minor"/>
        </p:style>
        <p:txBody>
          <a:bodyPr lIns="90000" rIns="90000" tIns="-33480" bIns="-33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04" name="ชุมชนหมู่บ้านอาลักษณ์"/>
          <p:cNvSpPr/>
          <p:nvPr/>
        </p:nvSpPr>
        <p:spPr>
          <a:xfrm>
            <a:off x="7034760" y="4102200"/>
            <a:ext cx="69480" cy="37440"/>
          </a:xfrm>
          <a:custGeom>
            <a:avLst/>
            <a:gdLst/>
            <a:ahLst/>
            <a:rect l="l" t="t" r="r" b="b"/>
            <a:pathLst>
              <a:path w="69689" h="37842">
                <a:moveTo>
                  <a:pt x="31492" y="21202"/>
                </a:moveTo>
                <a:lnTo>
                  <a:pt x="52566" y="37842"/>
                </a:lnTo>
                <a:lnTo>
                  <a:pt x="69689" y="11587"/>
                </a:lnTo>
                <a:lnTo>
                  <a:pt x="55559" y="0"/>
                </a:lnTo>
                <a:lnTo>
                  <a:pt x="37958" y="1109"/>
                </a:lnTo>
                <a:lnTo>
                  <a:pt x="0" y="26748"/>
                </a:lnTo>
                <a:lnTo>
                  <a:pt x="1557" y="29830"/>
                </a:lnTo>
                <a:lnTo>
                  <a:pt x="18440" y="19353"/>
                </a:lnTo>
                <a:lnTo>
                  <a:pt x="19757" y="20092"/>
                </a:lnTo>
                <a:lnTo>
                  <a:pt x="23948" y="16024"/>
                </a:lnTo>
                <a:lnTo>
                  <a:pt x="31492" y="21202"/>
                </a:lnTo>
                <a:close/>
              </a:path>
            </a:pathLst>
          </a:custGeom>
          <a:solidFill>
            <a:srgbClr val="ded5c5"/>
          </a:solidFill>
          <a:ln w="6191">
            <a:solidFill>
              <a:srgbClr val="b5a68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05" name="หทัยราษฎร์พัฒนา"/>
          <p:cNvSpPr/>
          <p:nvPr/>
        </p:nvSpPr>
        <p:spPr>
          <a:xfrm>
            <a:off x="7566480" y="4117680"/>
            <a:ext cx="83520" cy="26280"/>
          </a:xfrm>
          <a:custGeom>
            <a:avLst/>
            <a:gdLst/>
            <a:ahLst/>
            <a:rect l="l" t="t" r="r" b="b"/>
            <a:pathLst>
              <a:path w="83818" h="26502">
                <a:moveTo>
                  <a:pt x="120" y="26502"/>
                </a:moveTo>
                <a:lnTo>
                  <a:pt x="82740" y="14792"/>
                </a:lnTo>
                <a:lnTo>
                  <a:pt x="83818" y="0"/>
                </a:lnTo>
                <a:lnTo>
                  <a:pt x="0" y="11217"/>
                </a:lnTo>
                <a:lnTo>
                  <a:pt x="120" y="26502"/>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06" name="หมู่ 8 สะพานสูง (สุเหร่าซีรอ)"/>
          <p:cNvSpPr/>
          <p:nvPr/>
        </p:nvSpPr>
        <p:spPr>
          <a:xfrm>
            <a:off x="7207200" y="5096880"/>
            <a:ext cx="45720" cy="63720"/>
          </a:xfrm>
          <a:custGeom>
            <a:avLst/>
            <a:gdLst/>
            <a:ahLst/>
            <a:rect l="l" t="t" r="r" b="b"/>
            <a:pathLst>
              <a:path w="46220" h="63974">
                <a:moveTo>
                  <a:pt x="34365" y="58181"/>
                </a:moveTo>
                <a:lnTo>
                  <a:pt x="37119" y="35747"/>
                </a:lnTo>
                <a:lnTo>
                  <a:pt x="41430" y="17380"/>
                </a:lnTo>
                <a:lnTo>
                  <a:pt x="46220" y="11464"/>
                </a:lnTo>
                <a:lnTo>
                  <a:pt x="42268" y="3698"/>
                </a:lnTo>
                <a:lnTo>
                  <a:pt x="33168" y="0"/>
                </a:lnTo>
                <a:lnTo>
                  <a:pt x="24187" y="14915"/>
                </a:lnTo>
                <a:lnTo>
                  <a:pt x="19518" y="31432"/>
                </a:lnTo>
                <a:lnTo>
                  <a:pt x="8741" y="28844"/>
                </a:lnTo>
                <a:lnTo>
                  <a:pt x="4909" y="39691"/>
                </a:lnTo>
                <a:lnTo>
                  <a:pt x="1437" y="38828"/>
                </a:lnTo>
                <a:lnTo>
                  <a:pt x="0" y="44622"/>
                </a:lnTo>
                <a:lnTo>
                  <a:pt x="9579" y="62495"/>
                </a:lnTo>
                <a:lnTo>
                  <a:pt x="34605" y="63974"/>
                </a:lnTo>
                <a:lnTo>
                  <a:pt x="34365" y="58181"/>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07" name="ชุมชนพูนทรัพย์(ใต้สะพานโซน4)"/>
          <p:cNvSpPr/>
          <p:nvPr/>
        </p:nvSpPr>
        <p:spPr>
          <a:xfrm>
            <a:off x="6404400" y="3551400"/>
            <a:ext cx="23400" cy="18000"/>
          </a:xfrm>
          <a:custGeom>
            <a:avLst/>
            <a:gdLst/>
            <a:ahLst/>
            <a:rect l="l" t="t" r="r" b="b"/>
            <a:pathLst>
              <a:path w="23708" h="18490">
                <a:moveTo>
                  <a:pt x="0" y="1602"/>
                </a:moveTo>
                <a:lnTo>
                  <a:pt x="359" y="18490"/>
                </a:lnTo>
                <a:lnTo>
                  <a:pt x="23708" y="18366"/>
                </a:lnTo>
                <a:lnTo>
                  <a:pt x="23589" y="0"/>
                </a:lnTo>
                <a:lnTo>
                  <a:pt x="0" y="1602"/>
                </a:lnTo>
                <a:close/>
              </a:path>
            </a:pathLst>
          </a:custGeom>
          <a:solidFill>
            <a:srgbClr val="ded5c5"/>
          </a:solidFill>
          <a:ln w="6191">
            <a:solidFill>
              <a:srgbClr val="b5a68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08" name="ศาลเจ้าพ่อสมบุญ"/>
          <p:cNvSpPr/>
          <p:nvPr/>
        </p:nvSpPr>
        <p:spPr>
          <a:xfrm>
            <a:off x="6431760" y="3519000"/>
            <a:ext cx="16920" cy="23040"/>
          </a:xfrm>
          <a:custGeom>
            <a:avLst/>
            <a:gdLst/>
            <a:ahLst/>
            <a:rect l="l" t="t" r="r" b="b"/>
            <a:pathLst>
              <a:path w="17123" h="23420">
                <a:moveTo>
                  <a:pt x="0" y="2958"/>
                </a:moveTo>
                <a:lnTo>
                  <a:pt x="4311" y="21078"/>
                </a:lnTo>
                <a:lnTo>
                  <a:pt x="17123" y="23420"/>
                </a:lnTo>
                <a:lnTo>
                  <a:pt x="10178" y="0"/>
                </a:lnTo>
                <a:lnTo>
                  <a:pt x="0" y="2958"/>
                </a:lnTo>
                <a:close/>
              </a:path>
            </a:pathLst>
          </a:custGeom>
          <a:solidFill>
            <a:srgbClr val="ded5c5"/>
          </a:solidFill>
          <a:ln w="6191">
            <a:solidFill>
              <a:srgbClr val="b5a68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09" name="ธาราทิพย์พัฒนา"/>
          <p:cNvSpPr/>
          <p:nvPr/>
        </p:nvSpPr>
        <p:spPr>
          <a:xfrm>
            <a:off x="6424200" y="3436200"/>
            <a:ext cx="17280" cy="13680"/>
          </a:xfrm>
          <a:custGeom>
            <a:avLst/>
            <a:gdLst/>
            <a:ahLst/>
            <a:rect l="l" t="t" r="r" b="b"/>
            <a:pathLst>
              <a:path w="17602" h="13929">
                <a:moveTo>
                  <a:pt x="7903" y="13929"/>
                </a:moveTo>
                <a:lnTo>
                  <a:pt x="17602" y="8875"/>
                </a:lnTo>
                <a:lnTo>
                  <a:pt x="12573" y="0"/>
                </a:lnTo>
                <a:lnTo>
                  <a:pt x="4670" y="1972"/>
                </a:lnTo>
                <a:lnTo>
                  <a:pt x="0" y="8505"/>
                </a:lnTo>
                <a:lnTo>
                  <a:pt x="7903" y="13929"/>
                </a:lnTo>
                <a:close/>
              </a:path>
            </a:pathLst>
          </a:custGeom>
          <a:solidFill>
            <a:srgbClr val="ded5c5"/>
          </a:solidFill>
          <a:ln w="6191">
            <a:solidFill>
              <a:srgbClr val="b5a68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10" name="ทองสถิตย์วิลล่า"/>
          <p:cNvSpPr/>
          <p:nvPr/>
        </p:nvSpPr>
        <p:spPr>
          <a:xfrm>
            <a:off x="7051680" y="3275280"/>
            <a:ext cx="8280" cy="63720"/>
          </a:xfrm>
          <a:custGeom>
            <a:avLst/>
            <a:gdLst/>
            <a:ahLst/>
            <a:rect l="l" t="t" r="r" b="b"/>
            <a:pathLst>
              <a:path w="8502" h="64221">
                <a:moveTo>
                  <a:pt x="0" y="247"/>
                </a:moveTo>
                <a:lnTo>
                  <a:pt x="1916" y="64221"/>
                </a:lnTo>
                <a:lnTo>
                  <a:pt x="8502" y="63358"/>
                </a:lnTo>
                <a:lnTo>
                  <a:pt x="6226" y="5793"/>
                </a:lnTo>
                <a:lnTo>
                  <a:pt x="8142" y="5300"/>
                </a:lnTo>
                <a:lnTo>
                  <a:pt x="8142" y="1972"/>
                </a:lnTo>
                <a:lnTo>
                  <a:pt x="6586" y="2219"/>
                </a:lnTo>
                <a:lnTo>
                  <a:pt x="6346" y="0"/>
                </a:lnTo>
                <a:lnTo>
                  <a:pt x="0" y="247"/>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11" name="หมู่บ้านอัมพรเพลส 2"/>
          <p:cNvSpPr/>
          <p:nvPr/>
        </p:nvSpPr>
        <p:spPr>
          <a:xfrm>
            <a:off x="6701760" y="3597840"/>
            <a:ext cx="60840" cy="21960"/>
          </a:xfrm>
          <a:custGeom>
            <a:avLst/>
            <a:gdLst/>
            <a:ahLst/>
            <a:rect l="l" t="t" r="r" b="b"/>
            <a:pathLst>
              <a:path w="61187" h="22434">
                <a:moveTo>
                  <a:pt x="2634" y="22434"/>
                </a:moveTo>
                <a:lnTo>
                  <a:pt x="19757" y="18490"/>
                </a:lnTo>
                <a:lnTo>
                  <a:pt x="20476" y="19969"/>
                </a:lnTo>
                <a:lnTo>
                  <a:pt x="22631" y="18983"/>
                </a:lnTo>
                <a:lnTo>
                  <a:pt x="22272" y="17873"/>
                </a:lnTo>
                <a:lnTo>
                  <a:pt x="29217" y="17750"/>
                </a:lnTo>
                <a:lnTo>
                  <a:pt x="28977" y="16271"/>
                </a:lnTo>
                <a:lnTo>
                  <a:pt x="61187" y="8752"/>
                </a:lnTo>
                <a:lnTo>
                  <a:pt x="60229" y="0"/>
                </a:lnTo>
                <a:lnTo>
                  <a:pt x="0" y="13066"/>
                </a:lnTo>
                <a:lnTo>
                  <a:pt x="2634" y="22434"/>
                </a:lnTo>
                <a:close/>
              </a:path>
            </a:pathLst>
          </a:custGeom>
          <a:solidFill>
            <a:srgbClr val="ded5c5"/>
          </a:solidFill>
          <a:ln w="6191">
            <a:solidFill>
              <a:srgbClr val="b5a68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12" name="กรมทหารขนส่งรักษาพระองค์"/>
          <p:cNvSpPr/>
          <p:nvPr/>
        </p:nvSpPr>
        <p:spPr>
          <a:xfrm>
            <a:off x="6085440" y="3792600"/>
            <a:ext cx="90000" cy="42120"/>
          </a:xfrm>
          <a:custGeom>
            <a:avLst/>
            <a:gdLst/>
            <a:ahLst/>
            <a:rect l="l" t="t" r="r" b="b"/>
            <a:pathLst>
              <a:path w="90404" h="42650">
                <a:moveTo>
                  <a:pt x="82022" y="41663"/>
                </a:moveTo>
                <a:lnTo>
                  <a:pt x="84057" y="40308"/>
                </a:lnTo>
                <a:lnTo>
                  <a:pt x="90404" y="22927"/>
                </a:lnTo>
                <a:lnTo>
                  <a:pt x="88248" y="4684"/>
                </a:lnTo>
                <a:lnTo>
                  <a:pt x="40831" y="0"/>
                </a:lnTo>
                <a:lnTo>
                  <a:pt x="38676" y="13436"/>
                </a:lnTo>
                <a:lnTo>
                  <a:pt x="4311" y="9861"/>
                </a:lnTo>
                <a:lnTo>
                  <a:pt x="0" y="17997"/>
                </a:lnTo>
                <a:lnTo>
                  <a:pt x="12573" y="24406"/>
                </a:lnTo>
                <a:lnTo>
                  <a:pt x="11854" y="33651"/>
                </a:lnTo>
                <a:lnTo>
                  <a:pt x="25744" y="36856"/>
                </a:lnTo>
                <a:lnTo>
                  <a:pt x="25624" y="39691"/>
                </a:lnTo>
                <a:lnTo>
                  <a:pt x="55799" y="42650"/>
                </a:lnTo>
                <a:lnTo>
                  <a:pt x="82022" y="41663"/>
                </a:lnTo>
                <a:close/>
              </a:path>
            </a:pathLst>
          </a:custGeom>
          <a:solidFill>
            <a:srgbClr val="ded5c5"/>
          </a:solidFill>
          <a:ln w="6191">
            <a:solidFill>
              <a:srgbClr val="b5a68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13" name="หมู่บ้านมนชญา 1"/>
          <p:cNvSpPr/>
          <p:nvPr/>
        </p:nvSpPr>
        <p:spPr>
          <a:xfrm>
            <a:off x="6662520" y="3186000"/>
            <a:ext cx="7560" cy="82800"/>
          </a:xfrm>
          <a:custGeom>
            <a:avLst/>
            <a:gdLst/>
            <a:ahLst/>
            <a:rect l="l" t="t" r="r" b="b"/>
            <a:pathLst>
              <a:path w="7903" h="83327">
                <a:moveTo>
                  <a:pt x="4430" y="83327"/>
                </a:moveTo>
                <a:lnTo>
                  <a:pt x="7903" y="247"/>
                </a:lnTo>
                <a:lnTo>
                  <a:pt x="3472" y="0"/>
                </a:lnTo>
                <a:lnTo>
                  <a:pt x="0" y="83327"/>
                </a:lnTo>
                <a:lnTo>
                  <a:pt x="4430" y="83327"/>
                </a:lnTo>
                <a:close/>
              </a:path>
            </a:pathLst>
          </a:custGeom>
          <a:solidFill>
            <a:srgbClr val="ded5c5"/>
          </a:solidFill>
          <a:ln w="6191">
            <a:solidFill>
              <a:srgbClr val="b5a68d"/>
            </a:solidFill>
            <a:round/>
          </a:ln>
        </p:spPr>
        <p:style>
          <a:lnRef idx="0"/>
          <a:fillRef idx="0"/>
          <a:effectRef idx="0"/>
          <a:fontRef idx="minor"/>
        </p:style>
        <p:txBody>
          <a:bodyPr lIns="90000" rIns="90000" tIns="37800" bIns="37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14" name="หมู่บ้านเก้าแสนห้าสัมพันธ์"/>
          <p:cNvSpPr/>
          <p:nvPr/>
        </p:nvSpPr>
        <p:spPr>
          <a:xfrm>
            <a:off x="6667200" y="3159360"/>
            <a:ext cx="9720" cy="109800"/>
          </a:xfrm>
          <a:custGeom>
            <a:avLst/>
            <a:gdLst/>
            <a:ahLst/>
            <a:rect l="l" t="t" r="r" b="b"/>
            <a:pathLst>
              <a:path w="10058" h="110075">
                <a:moveTo>
                  <a:pt x="10058" y="370"/>
                </a:moveTo>
                <a:lnTo>
                  <a:pt x="4430" y="0"/>
                </a:lnTo>
                <a:lnTo>
                  <a:pt x="0" y="110075"/>
                </a:lnTo>
                <a:lnTo>
                  <a:pt x="5269" y="110075"/>
                </a:lnTo>
                <a:lnTo>
                  <a:pt x="10058" y="37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15" name="แสนนคร"/>
          <p:cNvSpPr/>
          <p:nvPr/>
        </p:nvSpPr>
        <p:spPr>
          <a:xfrm>
            <a:off x="7301880" y="4478040"/>
            <a:ext cx="72000" cy="16920"/>
          </a:xfrm>
          <a:custGeom>
            <a:avLst/>
            <a:gdLst/>
            <a:ahLst/>
            <a:rect l="l" t="t" r="r" b="b"/>
            <a:pathLst>
              <a:path w="72203" h="17380">
                <a:moveTo>
                  <a:pt x="65378" y="0"/>
                </a:moveTo>
                <a:lnTo>
                  <a:pt x="53404" y="0"/>
                </a:lnTo>
                <a:lnTo>
                  <a:pt x="52805" y="2958"/>
                </a:lnTo>
                <a:lnTo>
                  <a:pt x="47656" y="5300"/>
                </a:lnTo>
                <a:lnTo>
                  <a:pt x="1078" y="9491"/>
                </a:lnTo>
                <a:lnTo>
                  <a:pt x="0" y="17380"/>
                </a:lnTo>
                <a:lnTo>
                  <a:pt x="42268" y="12820"/>
                </a:lnTo>
                <a:lnTo>
                  <a:pt x="51488" y="11217"/>
                </a:lnTo>
                <a:lnTo>
                  <a:pt x="51368" y="8875"/>
                </a:lnTo>
                <a:lnTo>
                  <a:pt x="71724" y="8629"/>
                </a:lnTo>
                <a:lnTo>
                  <a:pt x="72203" y="4561"/>
                </a:lnTo>
                <a:lnTo>
                  <a:pt x="69689" y="4314"/>
                </a:lnTo>
                <a:lnTo>
                  <a:pt x="69808" y="123"/>
                </a:lnTo>
                <a:lnTo>
                  <a:pt x="65378" y="0"/>
                </a:lnTo>
                <a:close/>
              </a:path>
            </a:pathLst>
          </a:custGeom>
          <a:solidFill>
            <a:srgbClr val="ded5c5"/>
          </a:solidFill>
          <a:ln w="6191">
            <a:solidFill>
              <a:srgbClr val="b5a68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16" name="มหาโชค"/>
          <p:cNvSpPr/>
          <p:nvPr/>
        </p:nvSpPr>
        <p:spPr>
          <a:xfrm>
            <a:off x="7302600" y="4430160"/>
            <a:ext cx="83520" cy="41760"/>
          </a:xfrm>
          <a:custGeom>
            <a:avLst/>
            <a:gdLst/>
            <a:ahLst/>
            <a:rect l="l" t="t" r="r" b="b"/>
            <a:pathLst>
              <a:path w="83818" h="42033">
                <a:moveTo>
                  <a:pt x="31492" y="37719"/>
                </a:moveTo>
                <a:lnTo>
                  <a:pt x="36161" y="39321"/>
                </a:lnTo>
                <a:lnTo>
                  <a:pt x="37838" y="37226"/>
                </a:lnTo>
                <a:lnTo>
                  <a:pt x="50410" y="35500"/>
                </a:lnTo>
                <a:lnTo>
                  <a:pt x="75556" y="37842"/>
                </a:lnTo>
                <a:lnTo>
                  <a:pt x="83818" y="7766"/>
                </a:lnTo>
                <a:lnTo>
                  <a:pt x="65498" y="1726"/>
                </a:lnTo>
                <a:lnTo>
                  <a:pt x="54242" y="0"/>
                </a:lnTo>
                <a:lnTo>
                  <a:pt x="51129" y="14915"/>
                </a:lnTo>
                <a:lnTo>
                  <a:pt x="50291" y="29830"/>
                </a:lnTo>
                <a:lnTo>
                  <a:pt x="0" y="35623"/>
                </a:lnTo>
                <a:lnTo>
                  <a:pt x="1916" y="42033"/>
                </a:lnTo>
                <a:lnTo>
                  <a:pt x="31492" y="37719"/>
                </a:lnTo>
                <a:close/>
              </a:path>
            </a:pathLst>
          </a:custGeom>
          <a:solidFill>
            <a:srgbClr val="ded5c5"/>
          </a:solidFill>
          <a:ln w="6191">
            <a:solidFill>
              <a:srgbClr val="b5a68d"/>
            </a:solidFill>
            <a:round/>
          </a:ln>
        </p:spPr>
        <p:style>
          <a:lnRef idx="0"/>
          <a:fillRef idx="0"/>
          <a:effectRef idx="0"/>
          <a:fontRef idx="minor"/>
        </p:style>
        <p:txBody>
          <a:bodyPr lIns="90000" rIns="90000" tIns="-3240" bIns="-3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17" name="ร่มเย็น 24"/>
          <p:cNvSpPr/>
          <p:nvPr/>
        </p:nvSpPr>
        <p:spPr>
          <a:xfrm>
            <a:off x="7300080" y="4418280"/>
            <a:ext cx="54000" cy="21600"/>
          </a:xfrm>
          <a:custGeom>
            <a:avLst/>
            <a:gdLst/>
            <a:ahLst/>
            <a:rect l="l" t="t" r="r" b="b"/>
            <a:pathLst>
              <a:path w="54362" h="21818">
                <a:moveTo>
                  <a:pt x="0" y="19106"/>
                </a:moveTo>
                <a:lnTo>
                  <a:pt x="239" y="21818"/>
                </a:lnTo>
                <a:lnTo>
                  <a:pt x="54362" y="12820"/>
                </a:lnTo>
                <a:lnTo>
                  <a:pt x="51967" y="0"/>
                </a:lnTo>
                <a:lnTo>
                  <a:pt x="3472" y="7642"/>
                </a:lnTo>
                <a:lnTo>
                  <a:pt x="0" y="19106"/>
                </a:lnTo>
                <a:close/>
              </a:path>
            </a:pathLst>
          </a:custGeom>
          <a:solidFill>
            <a:srgbClr val="ded5c5"/>
          </a:solidFill>
          <a:ln w="6191">
            <a:solidFill>
              <a:srgbClr val="b5a68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18" name="หทัยราษฎร์ 31"/>
          <p:cNvSpPr/>
          <p:nvPr/>
        </p:nvSpPr>
        <p:spPr>
          <a:xfrm>
            <a:off x="7494480" y="4314240"/>
            <a:ext cx="30960" cy="33480"/>
          </a:xfrm>
          <a:custGeom>
            <a:avLst/>
            <a:gdLst/>
            <a:ahLst/>
            <a:rect l="l" t="t" r="r" b="b"/>
            <a:pathLst>
              <a:path w="31252" h="33898">
                <a:moveTo>
                  <a:pt x="6107" y="1726"/>
                </a:moveTo>
                <a:lnTo>
                  <a:pt x="0" y="1972"/>
                </a:lnTo>
                <a:lnTo>
                  <a:pt x="838" y="33898"/>
                </a:lnTo>
                <a:lnTo>
                  <a:pt x="4430" y="33775"/>
                </a:lnTo>
                <a:lnTo>
                  <a:pt x="4670" y="21818"/>
                </a:lnTo>
                <a:lnTo>
                  <a:pt x="28857" y="14792"/>
                </a:lnTo>
                <a:lnTo>
                  <a:pt x="29935" y="6533"/>
                </a:lnTo>
                <a:lnTo>
                  <a:pt x="31252" y="6286"/>
                </a:lnTo>
                <a:lnTo>
                  <a:pt x="29336" y="0"/>
                </a:lnTo>
                <a:lnTo>
                  <a:pt x="6107" y="1726"/>
                </a:lnTo>
                <a:close/>
              </a:path>
            </a:pathLst>
          </a:custGeom>
          <a:solidFill>
            <a:srgbClr val="ded5c5"/>
          </a:solidFill>
          <a:ln w="6191">
            <a:solidFill>
              <a:srgbClr val="b5a68d"/>
            </a:solidFill>
            <a:round/>
          </a:ln>
        </p:spPr>
        <p:style>
          <a:lnRef idx="0"/>
          <a:fillRef idx="0"/>
          <a:effectRef idx="0"/>
          <a:fontRef idx="minor"/>
        </p:style>
        <p:txBody>
          <a:bodyPr lIns="90000" rIns="90000" tIns="-11520" bIns="-11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19" name="ชุมชนนันทิศา"/>
          <p:cNvSpPr/>
          <p:nvPr/>
        </p:nvSpPr>
        <p:spPr>
          <a:xfrm>
            <a:off x="7042320" y="4122360"/>
            <a:ext cx="25200" cy="24840"/>
          </a:xfrm>
          <a:custGeom>
            <a:avLst/>
            <a:gdLst/>
            <a:ahLst/>
            <a:rect l="l" t="t" r="r" b="b"/>
            <a:pathLst>
              <a:path w="25624" h="25269">
                <a:moveTo>
                  <a:pt x="21673" y="0"/>
                </a:moveTo>
                <a:lnTo>
                  <a:pt x="0" y="17011"/>
                </a:lnTo>
                <a:lnTo>
                  <a:pt x="3712" y="19846"/>
                </a:lnTo>
                <a:lnTo>
                  <a:pt x="1317" y="22311"/>
                </a:lnTo>
                <a:lnTo>
                  <a:pt x="4550" y="25269"/>
                </a:lnTo>
                <a:lnTo>
                  <a:pt x="25624" y="5054"/>
                </a:lnTo>
                <a:lnTo>
                  <a:pt x="21673" y="0"/>
                </a:lnTo>
                <a:close/>
              </a:path>
            </a:pathLst>
          </a:custGeom>
          <a:solidFill>
            <a:srgbClr val="ded5c5"/>
          </a:solidFill>
          <a:ln w="6191">
            <a:solidFill>
              <a:srgbClr val="b5a68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20" name="หมู่บ้านมหารกองหนุน"/>
          <p:cNvSpPr/>
          <p:nvPr/>
        </p:nvSpPr>
        <p:spPr>
          <a:xfrm>
            <a:off x="7304040" y="4363200"/>
            <a:ext cx="45360" cy="48600"/>
          </a:xfrm>
          <a:custGeom>
            <a:avLst/>
            <a:gdLst/>
            <a:ahLst/>
            <a:rect l="l" t="t" r="r" b="b"/>
            <a:pathLst>
              <a:path w="45860" h="48936">
                <a:moveTo>
                  <a:pt x="14608" y="46594"/>
                </a:moveTo>
                <a:lnTo>
                  <a:pt x="29097" y="44868"/>
                </a:lnTo>
                <a:lnTo>
                  <a:pt x="29217" y="41787"/>
                </a:lnTo>
                <a:lnTo>
                  <a:pt x="45860" y="3082"/>
                </a:lnTo>
                <a:lnTo>
                  <a:pt x="34246" y="0"/>
                </a:lnTo>
                <a:lnTo>
                  <a:pt x="30773" y="2712"/>
                </a:lnTo>
                <a:lnTo>
                  <a:pt x="22272" y="18366"/>
                </a:lnTo>
                <a:lnTo>
                  <a:pt x="14129" y="30200"/>
                </a:lnTo>
                <a:lnTo>
                  <a:pt x="3712" y="41047"/>
                </a:lnTo>
                <a:lnTo>
                  <a:pt x="0" y="48936"/>
                </a:lnTo>
                <a:lnTo>
                  <a:pt x="14608" y="46594"/>
                </a:lnTo>
                <a:close/>
              </a:path>
            </a:pathLst>
          </a:custGeom>
          <a:solidFill>
            <a:srgbClr val="ded5c5"/>
          </a:solidFill>
          <a:ln w="6191">
            <a:solidFill>
              <a:srgbClr val="b5a68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21" name="หมู่บ้านเจริญทรัพย์"/>
          <p:cNvSpPr/>
          <p:nvPr/>
        </p:nvSpPr>
        <p:spPr>
          <a:xfrm>
            <a:off x="7455600" y="4327560"/>
            <a:ext cx="39240" cy="30240"/>
          </a:xfrm>
          <a:custGeom>
            <a:avLst/>
            <a:gdLst/>
            <a:ahLst/>
            <a:rect l="l" t="t" r="r" b="b"/>
            <a:pathLst>
              <a:path w="39754" h="30570">
                <a:moveTo>
                  <a:pt x="19997" y="29460"/>
                </a:moveTo>
                <a:lnTo>
                  <a:pt x="30294" y="29090"/>
                </a:lnTo>
                <a:lnTo>
                  <a:pt x="30055" y="23913"/>
                </a:lnTo>
                <a:lnTo>
                  <a:pt x="39754" y="21202"/>
                </a:lnTo>
                <a:lnTo>
                  <a:pt x="39394" y="0"/>
                </a:lnTo>
                <a:lnTo>
                  <a:pt x="21553" y="493"/>
                </a:lnTo>
                <a:lnTo>
                  <a:pt x="21433" y="4931"/>
                </a:lnTo>
                <a:lnTo>
                  <a:pt x="27301" y="4931"/>
                </a:lnTo>
                <a:lnTo>
                  <a:pt x="28378" y="23174"/>
                </a:lnTo>
                <a:lnTo>
                  <a:pt x="0" y="30570"/>
                </a:lnTo>
                <a:lnTo>
                  <a:pt x="19637" y="26009"/>
                </a:lnTo>
                <a:lnTo>
                  <a:pt x="19997" y="29460"/>
                </a:lnTo>
                <a:close/>
              </a:path>
            </a:pathLst>
          </a:custGeom>
          <a:solidFill>
            <a:srgbClr val="ded5c5"/>
          </a:solidFill>
          <a:ln w="6191">
            <a:solidFill>
              <a:srgbClr val="b5a68d"/>
            </a:solidFill>
            <a:round/>
          </a:ln>
        </p:spPr>
        <p:style>
          <a:lnRef idx="0"/>
          <a:fillRef idx="0"/>
          <a:effectRef idx="0"/>
          <a:fontRef idx="minor"/>
        </p:style>
        <p:txBody>
          <a:bodyPr lIns="90000" rIns="90000" tIns="-14760" bIns="-14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22" name="บัวแก้วพัฒนา"/>
          <p:cNvSpPr/>
          <p:nvPr/>
        </p:nvSpPr>
        <p:spPr>
          <a:xfrm>
            <a:off x="7654680" y="4140000"/>
            <a:ext cx="36720" cy="35640"/>
          </a:xfrm>
          <a:custGeom>
            <a:avLst/>
            <a:gdLst/>
            <a:ahLst/>
            <a:rect l="l" t="t" r="r" b="b"/>
            <a:pathLst>
              <a:path w="37239" h="35993">
                <a:moveTo>
                  <a:pt x="359" y="20832"/>
                </a:moveTo>
                <a:lnTo>
                  <a:pt x="1317" y="35993"/>
                </a:lnTo>
                <a:lnTo>
                  <a:pt x="19997" y="33158"/>
                </a:lnTo>
                <a:lnTo>
                  <a:pt x="37239" y="25146"/>
                </a:lnTo>
                <a:lnTo>
                  <a:pt x="31132" y="0"/>
                </a:lnTo>
                <a:lnTo>
                  <a:pt x="0" y="5424"/>
                </a:lnTo>
                <a:lnTo>
                  <a:pt x="359" y="20832"/>
                </a:lnTo>
                <a:close/>
              </a:path>
            </a:pathLst>
          </a:custGeom>
          <a:solidFill>
            <a:srgbClr val="ded5c5"/>
          </a:solidFill>
          <a:ln w="6191">
            <a:solidFill>
              <a:srgbClr val="b5a68d"/>
            </a:solidFill>
            <a:round/>
          </a:ln>
        </p:spPr>
        <p:style>
          <a:lnRef idx="0"/>
          <a:fillRef idx="0"/>
          <a:effectRef idx="0"/>
          <a:fontRef idx="minor"/>
        </p:style>
        <p:txBody>
          <a:bodyPr lIns="90000" rIns="90000" tIns="-9360" bIns="-9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23" name="วังตาหนวดพัฒนา"/>
          <p:cNvSpPr/>
          <p:nvPr/>
        </p:nvSpPr>
        <p:spPr>
          <a:xfrm>
            <a:off x="7869600" y="4218840"/>
            <a:ext cx="29520" cy="49680"/>
          </a:xfrm>
          <a:custGeom>
            <a:avLst/>
            <a:gdLst/>
            <a:ahLst/>
            <a:rect l="l" t="t" r="r" b="b"/>
            <a:pathLst>
              <a:path w="29935" h="50045">
                <a:moveTo>
                  <a:pt x="1796" y="0"/>
                </a:moveTo>
                <a:lnTo>
                  <a:pt x="0" y="25146"/>
                </a:lnTo>
                <a:lnTo>
                  <a:pt x="3353" y="43143"/>
                </a:lnTo>
                <a:lnTo>
                  <a:pt x="7304" y="50045"/>
                </a:lnTo>
                <a:lnTo>
                  <a:pt x="29935" y="41663"/>
                </a:lnTo>
                <a:lnTo>
                  <a:pt x="16764" y="6040"/>
                </a:lnTo>
                <a:lnTo>
                  <a:pt x="1796" y="0"/>
                </a:lnTo>
                <a:close/>
              </a:path>
            </a:pathLst>
          </a:custGeom>
          <a:solidFill>
            <a:srgbClr val="ded5c5"/>
          </a:solidFill>
          <a:ln w="6191">
            <a:solidFill>
              <a:srgbClr val="b5a68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24" name=" บึงไผ่"/>
          <p:cNvSpPr/>
          <p:nvPr/>
        </p:nvSpPr>
        <p:spPr>
          <a:xfrm>
            <a:off x="7777800" y="4252680"/>
            <a:ext cx="40320" cy="45000"/>
          </a:xfrm>
          <a:custGeom>
            <a:avLst/>
            <a:gdLst/>
            <a:ahLst/>
            <a:rect l="l" t="t" r="r" b="b"/>
            <a:pathLst>
              <a:path w="40592" h="45238">
                <a:moveTo>
                  <a:pt x="2275" y="44499"/>
                </a:moveTo>
                <a:lnTo>
                  <a:pt x="3113" y="45238"/>
                </a:lnTo>
                <a:lnTo>
                  <a:pt x="6705" y="42403"/>
                </a:lnTo>
                <a:lnTo>
                  <a:pt x="7544" y="44129"/>
                </a:lnTo>
                <a:lnTo>
                  <a:pt x="8980" y="43512"/>
                </a:lnTo>
                <a:lnTo>
                  <a:pt x="8502" y="41047"/>
                </a:lnTo>
                <a:lnTo>
                  <a:pt x="13291" y="37349"/>
                </a:lnTo>
                <a:lnTo>
                  <a:pt x="13890" y="38212"/>
                </a:lnTo>
                <a:lnTo>
                  <a:pt x="40592" y="13066"/>
                </a:lnTo>
                <a:lnTo>
                  <a:pt x="36640" y="8752"/>
                </a:lnTo>
                <a:lnTo>
                  <a:pt x="37239" y="7149"/>
                </a:lnTo>
                <a:lnTo>
                  <a:pt x="34964" y="5054"/>
                </a:lnTo>
                <a:lnTo>
                  <a:pt x="33647" y="6040"/>
                </a:lnTo>
                <a:lnTo>
                  <a:pt x="27301" y="0"/>
                </a:lnTo>
                <a:lnTo>
                  <a:pt x="0" y="24899"/>
                </a:lnTo>
                <a:lnTo>
                  <a:pt x="3233" y="35254"/>
                </a:lnTo>
                <a:lnTo>
                  <a:pt x="2275" y="44499"/>
                </a:lnTo>
                <a:close/>
              </a:path>
            </a:pathLst>
          </a:custGeom>
          <a:solidFill>
            <a:srgbClr val="ded5c5"/>
          </a:solidFill>
          <a:ln w="6191">
            <a:solidFill>
              <a:srgbClr val="b5a68d"/>
            </a:solidFill>
            <a:round/>
          </a:ln>
        </p:spPr>
        <p:style>
          <a:lnRef idx="0"/>
          <a:fillRef idx="0"/>
          <a:effectRef idx="0"/>
          <a:fontRef idx="minor"/>
        </p:style>
        <p:txBody>
          <a:bodyPr lIns="90000" rIns="90000" tIns="0" bIns="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25" name="หมู่บ้านพัฒนาคลองหลุมไผ่"/>
          <p:cNvSpPr/>
          <p:nvPr/>
        </p:nvSpPr>
        <p:spPr>
          <a:xfrm>
            <a:off x="6369840" y="4166280"/>
            <a:ext cx="66600" cy="60120"/>
          </a:xfrm>
          <a:custGeom>
            <a:avLst/>
            <a:gdLst/>
            <a:ahLst/>
            <a:rect l="l" t="t" r="r" b="b"/>
            <a:pathLst>
              <a:path w="67054" h="60523">
                <a:moveTo>
                  <a:pt x="16883" y="9738"/>
                </a:moveTo>
                <a:lnTo>
                  <a:pt x="0" y="25023"/>
                </a:lnTo>
                <a:lnTo>
                  <a:pt x="5987" y="28228"/>
                </a:lnTo>
                <a:lnTo>
                  <a:pt x="18200" y="39938"/>
                </a:lnTo>
                <a:lnTo>
                  <a:pt x="59032" y="60523"/>
                </a:lnTo>
                <a:lnTo>
                  <a:pt x="67054" y="51648"/>
                </a:lnTo>
                <a:lnTo>
                  <a:pt x="62145" y="48196"/>
                </a:lnTo>
                <a:lnTo>
                  <a:pt x="61427" y="45361"/>
                </a:lnTo>
                <a:lnTo>
                  <a:pt x="52326" y="43759"/>
                </a:lnTo>
                <a:lnTo>
                  <a:pt x="47417" y="38582"/>
                </a:lnTo>
                <a:lnTo>
                  <a:pt x="56996" y="30446"/>
                </a:lnTo>
                <a:lnTo>
                  <a:pt x="55320" y="27241"/>
                </a:lnTo>
                <a:lnTo>
                  <a:pt x="48614" y="26132"/>
                </a:lnTo>
                <a:lnTo>
                  <a:pt x="40831" y="13313"/>
                </a:lnTo>
                <a:lnTo>
                  <a:pt x="36880" y="10971"/>
                </a:lnTo>
                <a:lnTo>
                  <a:pt x="27660" y="0"/>
                </a:lnTo>
                <a:lnTo>
                  <a:pt x="16883" y="9738"/>
                </a:lnTo>
                <a:close/>
              </a:path>
            </a:pathLst>
          </a:custGeom>
          <a:solidFill>
            <a:srgbClr val="ded5c5"/>
          </a:solidFill>
          <a:ln w="6191">
            <a:solidFill>
              <a:srgbClr val="b5a68d"/>
            </a:solidFill>
            <a:round/>
          </a:ln>
        </p:spPr>
        <p:style>
          <a:lnRef idx="0"/>
          <a:fillRef idx="0"/>
          <a:effectRef idx="0"/>
          <a:fontRef idx="minor"/>
        </p:style>
        <p:txBody>
          <a:bodyPr lIns="90000" rIns="90000" tIns="15120" bIns="15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26" name="เคหะรามอินทรา"/>
          <p:cNvSpPr/>
          <p:nvPr/>
        </p:nvSpPr>
        <p:spPr>
          <a:xfrm>
            <a:off x="6441120" y="4052880"/>
            <a:ext cx="59760" cy="26280"/>
          </a:xfrm>
          <a:custGeom>
            <a:avLst/>
            <a:gdLst/>
            <a:ahLst/>
            <a:rect l="l" t="t" r="r" b="b"/>
            <a:pathLst>
              <a:path w="60229" h="26502">
                <a:moveTo>
                  <a:pt x="60229" y="25393"/>
                </a:moveTo>
                <a:lnTo>
                  <a:pt x="56876" y="3821"/>
                </a:lnTo>
                <a:lnTo>
                  <a:pt x="53763" y="3082"/>
                </a:lnTo>
                <a:lnTo>
                  <a:pt x="23708" y="6410"/>
                </a:lnTo>
                <a:lnTo>
                  <a:pt x="22751" y="740"/>
                </a:lnTo>
                <a:lnTo>
                  <a:pt x="11495" y="3082"/>
                </a:lnTo>
                <a:lnTo>
                  <a:pt x="5628" y="0"/>
                </a:lnTo>
                <a:lnTo>
                  <a:pt x="0" y="9368"/>
                </a:lnTo>
                <a:lnTo>
                  <a:pt x="3472" y="12573"/>
                </a:lnTo>
                <a:lnTo>
                  <a:pt x="24786" y="24160"/>
                </a:lnTo>
                <a:lnTo>
                  <a:pt x="39634" y="23174"/>
                </a:lnTo>
                <a:lnTo>
                  <a:pt x="40592" y="26502"/>
                </a:lnTo>
                <a:lnTo>
                  <a:pt x="60229" y="25393"/>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27" name="หมู่บ้านเจษฎาวรรณ 2"/>
          <p:cNvSpPr/>
          <p:nvPr/>
        </p:nvSpPr>
        <p:spPr>
          <a:xfrm>
            <a:off x="6446880" y="3998520"/>
            <a:ext cx="71280" cy="27000"/>
          </a:xfrm>
          <a:custGeom>
            <a:avLst/>
            <a:gdLst/>
            <a:ahLst/>
            <a:rect l="l" t="t" r="r" b="b"/>
            <a:pathLst>
              <a:path w="71485" h="27365">
                <a:moveTo>
                  <a:pt x="70527" y="1726"/>
                </a:moveTo>
                <a:lnTo>
                  <a:pt x="14010" y="9245"/>
                </a:lnTo>
                <a:lnTo>
                  <a:pt x="11016" y="0"/>
                </a:lnTo>
                <a:lnTo>
                  <a:pt x="0" y="1109"/>
                </a:lnTo>
                <a:lnTo>
                  <a:pt x="6226" y="27365"/>
                </a:lnTo>
                <a:lnTo>
                  <a:pt x="8861" y="26625"/>
                </a:lnTo>
                <a:lnTo>
                  <a:pt x="7065" y="16148"/>
                </a:lnTo>
                <a:lnTo>
                  <a:pt x="19997" y="15655"/>
                </a:lnTo>
                <a:lnTo>
                  <a:pt x="19757" y="12326"/>
                </a:lnTo>
                <a:lnTo>
                  <a:pt x="39514" y="10354"/>
                </a:lnTo>
                <a:lnTo>
                  <a:pt x="40951" y="16517"/>
                </a:lnTo>
                <a:lnTo>
                  <a:pt x="71485" y="13066"/>
                </a:lnTo>
                <a:lnTo>
                  <a:pt x="70527" y="1726"/>
                </a:lnTo>
                <a:close/>
              </a:path>
            </a:pathLst>
          </a:custGeom>
          <a:solidFill>
            <a:srgbClr val="ded5c5"/>
          </a:solidFill>
          <a:ln w="6191">
            <a:solidFill>
              <a:srgbClr val="b5a68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28" name="หมู่บ้านธรรมสาธิตวิลล่า"/>
          <p:cNvSpPr/>
          <p:nvPr/>
        </p:nvSpPr>
        <p:spPr>
          <a:xfrm>
            <a:off x="6483240" y="6048360"/>
            <a:ext cx="64800" cy="27720"/>
          </a:xfrm>
          <a:custGeom>
            <a:avLst/>
            <a:gdLst/>
            <a:ahLst/>
            <a:rect l="l" t="t" r="r" b="b"/>
            <a:pathLst>
              <a:path w="65019" h="28104">
                <a:moveTo>
                  <a:pt x="0" y="19722"/>
                </a:moveTo>
                <a:lnTo>
                  <a:pt x="3113" y="28104"/>
                </a:lnTo>
                <a:lnTo>
                  <a:pt x="45621" y="12696"/>
                </a:lnTo>
                <a:lnTo>
                  <a:pt x="48255" y="20585"/>
                </a:lnTo>
                <a:lnTo>
                  <a:pt x="65019" y="14299"/>
                </a:lnTo>
                <a:lnTo>
                  <a:pt x="61906" y="6410"/>
                </a:lnTo>
                <a:lnTo>
                  <a:pt x="56996" y="0"/>
                </a:lnTo>
                <a:lnTo>
                  <a:pt x="0" y="19722"/>
                </a:lnTo>
                <a:close/>
              </a:path>
            </a:pathLst>
          </a:custGeom>
          <a:solidFill>
            <a:srgbClr val="ded5c5"/>
          </a:solidFill>
          <a:ln w="6191">
            <a:solidFill>
              <a:srgbClr val="b5a68d"/>
            </a:solidFill>
            <a:round/>
          </a:ln>
        </p:spPr>
        <p:style>
          <a:lnRef idx="0"/>
          <a:fillRef idx="0"/>
          <a:effectRef idx="0"/>
          <a:fontRef idx="minor"/>
        </p:style>
        <p:txBody>
          <a:bodyPr lIns="90000" rIns="90000" tIns="-17280" bIns="-17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29" name="บ้านม้าเกาะล่าง"/>
          <p:cNvSpPr/>
          <p:nvPr/>
        </p:nvSpPr>
        <p:spPr>
          <a:xfrm>
            <a:off x="6812640" y="5508720"/>
            <a:ext cx="114480" cy="37080"/>
          </a:xfrm>
          <a:custGeom>
            <a:avLst/>
            <a:gdLst/>
            <a:ahLst/>
            <a:rect l="l" t="t" r="r" b="b"/>
            <a:pathLst>
              <a:path w="114950" h="37596">
                <a:moveTo>
                  <a:pt x="60229" y="32049"/>
                </a:moveTo>
                <a:lnTo>
                  <a:pt x="109083" y="37596"/>
                </a:lnTo>
                <a:lnTo>
                  <a:pt x="114950" y="22557"/>
                </a:lnTo>
                <a:lnTo>
                  <a:pt x="62744" y="2712"/>
                </a:lnTo>
                <a:lnTo>
                  <a:pt x="51488" y="0"/>
                </a:lnTo>
                <a:lnTo>
                  <a:pt x="44184" y="247"/>
                </a:lnTo>
                <a:lnTo>
                  <a:pt x="2155" y="21941"/>
                </a:lnTo>
                <a:lnTo>
                  <a:pt x="0" y="28597"/>
                </a:lnTo>
                <a:lnTo>
                  <a:pt x="60229" y="32049"/>
                </a:lnTo>
                <a:close/>
              </a:path>
            </a:pathLst>
          </a:custGeom>
          <a:solidFill>
            <a:srgbClr val="ded5c5"/>
          </a:solidFill>
          <a:ln w="6191">
            <a:solidFill>
              <a:srgbClr val="b5a68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30" name="ชุมชนประชาร่่วมใจ"/>
          <p:cNvSpPr/>
          <p:nvPr/>
        </p:nvSpPr>
        <p:spPr>
          <a:xfrm>
            <a:off x="6757560" y="5479920"/>
            <a:ext cx="87840" cy="51480"/>
          </a:xfrm>
          <a:custGeom>
            <a:avLst/>
            <a:gdLst/>
            <a:ahLst/>
            <a:rect l="l" t="t" r="r" b="b"/>
            <a:pathLst>
              <a:path w="88129" h="51771">
                <a:moveTo>
                  <a:pt x="0" y="31432"/>
                </a:moveTo>
                <a:lnTo>
                  <a:pt x="55320" y="51771"/>
                </a:lnTo>
                <a:lnTo>
                  <a:pt x="88129" y="35747"/>
                </a:lnTo>
                <a:lnTo>
                  <a:pt x="63582" y="28844"/>
                </a:lnTo>
                <a:lnTo>
                  <a:pt x="69928" y="11464"/>
                </a:lnTo>
                <a:lnTo>
                  <a:pt x="29456" y="0"/>
                </a:lnTo>
                <a:lnTo>
                  <a:pt x="24786" y="7273"/>
                </a:lnTo>
                <a:lnTo>
                  <a:pt x="10058" y="2219"/>
                </a:lnTo>
                <a:lnTo>
                  <a:pt x="0" y="31432"/>
                </a:lnTo>
                <a:close/>
              </a:path>
            </a:pathLst>
          </a:custGeom>
          <a:solidFill>
            <a:srgbClr val="ded5c5"/>
          </a:solidFill>
          <a:ln w="6191">
            <a:solidFill>
              <a:srgbClr val="b5a68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31" name="ชุมชนซอยรามคำแหง68"/>
          <p:cNvSpPr/>
          <p:nvPr/>
        </p:nvSpPr>
        <p:spPr>
          <a:xfrm>
            <a:off x="6903360" y="5204160"/>
            <a:ext cx="31680" cy="33120"/>
          </a:xfrm>
          <a:custGeom>
            <a:avLst/>
            <a:gdLst/>
            <a:ahLst/>
            <a:rect l="l" t="t" r="r" b="b"/>
            <a:pathLst>
              <a:path w="31971" h="33651">
                <a:moveTo>
                  <a:pt x="0" y="20462"/>
                </a:moveTo>
                <a:lnTo>
                  <a:pt x="24427" y="29460"/>
                </a:lnTo>
                <a:lnTo>
                  <a:pt x="25026" y="31433"/>
                </a:lnTo>
                <a:lnTo>
                  <a:pt x="31971" y="33651"/>
                </a:lnTo>
                <a:lnTo>
                  <a:pt x="31971" y="20462"/>
                </a:lnTo>
                <a:lnTo>
                  <a:pt x="28139" y="370"/>
                </a:lnTo>
                <a:lnTo>
                  <a:pt x="22511" y="0"/>
                </a:lnTo>
                <a:lnTo>
                  <a:pt x="16524" y="14299"/>
                </a:lnTo>
                <a:lnTo>
                  <a:pt x="4191" y="12696"/>
                </a:lnTo>
                <a:lnTo>
                  <a:pt x="0" y="20462"/>
                </a:lnTo>
                <a:close/>
              </a:path>
            </a:pathLst>
          </a:custGeom>
          <a:solidFill>
            <a:srgbClr val="ded5c5"/>
          </a:solidFill>
          <a:ln w="6191">
            <a:solidFill>
              <a:srgbClr val="b5a68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32" name="วัดลุ่มเจริญศรัธา"/>
          <p:cNvSpPr/>
          <p:nvPr/>
        </p:nvSpPr>
        <p:spPr>
          <a:xfrm>
            <a:off x="6444360" y="3493800"/>
            <a:ext cx="36720" cy="49320"/>
          </a:xfrm>
          <a:custGeom>
            <a:avLst/>
            <a:gdLst/>
            <a:ahLst/>
            <a:rect l="l" t="t" r="r" b="b"/>
            <a:pathLst>
              <a:path w="37000" h="49676">
                <a:moveTo>
                  <a:pt x="0" y="5177"/>
                </a:moveTo>
                <a:lnTo>
                  <a:pt x="13650" y="49676"/>
                </a:lnTo>
                <a:lnTo>
                  <a:pt x="37000" y="49429"/>
                </a:lnTo>
                <a:lnTo>
                  <a:pt x="33048" y="1356"/>
                </a:lnTo>
                <a:lnTo>
                  <a:pt x="20715" y="0"/>
                </a:lnTo>
                <a:lnTo>
                  <a:pt x="7065" y="616"/>
                </a:lnTo>
                <a:lnTo>
                  <a:pt x="0" y="5177"/>
                </a:lnTo>
                <a:close/>
              </a:path>
            </a:pathLst>
          </a:custGeom>
          <a:solidFill>
            <a:srgbClr val="ded5c5"/>
          </a:solidFill>
          <a:ln w="6191">
            <a:solidFill>
              <a:srgbClr val="b5a68d"/>
            </a:solidFill>
            <a:round/>
          </a:ln>
        </p:spPr>
        <p:style>
          <a:lnRef idx="0"/>
          <a:fillRef idx="0"/>
          <a:effectRef idx="0"/>
          <a:fontRef idx="minor"/>
        </p:style>
        <p:txBody>
          <a:bodyPr lIns="90000" rIns="90000" tIns="4320" bIns="4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33" name="หมู่บ้านทองสถิตย์วิลล่า 52"/>
          <p:cNvSpPr/>
          <p:nvPr/>
        </p:nvSpPr>
        <p:spPr>
          <a:xfrm>
            <a:off x="6244200" y="3600360"/>
            <a:ext cx="16920" cy="15120"/>
          </a:xfrm>
          <a:custGeom>
            <a:avLst/>
            <a:gdLst/>
            <a:ahLst/>
            <a:rect l="l" t="t" r="r" b="b"/>
            <a:pathLst>
              <a:path w="17123" h="15655">
                <a:moveTo>
                  <a:pt x="4311" y="2958"/>
                </a:moveTo>
                <a:lnTo>
                  <a:pt x="0" y="4807"/>
                </a:lnTo>
                <a:lnTo>
                  <a:pt x="958" y="11094"/>
                </a:lnTo>
                <a:lnTo>
                  <a:pt x="6107" y="10231"/>
                </a:lnTo>
                <a:lnTo>
                  <a:pt x="7065" y="15655"/>
                </a:lnTo>
                <a:lnTo>
                  <a:pt x="17123" y="12820"/>
                </a:lnTo>
                <a:lnTo>
                  <a:pt x="16404" y="0"/>
                </a:lnTo>
                <a:lnTo>
                  <a:pt x="4311" y="2958"/>
                </a:lnTo>
                <a:close/>
              </a:path>
            </a:pathLst>
          </a:custGeom>
          <a:solidFill>
            <a:srgbClr val="ded5c5"/>
          </a:solidFill>
          <a:ln w="6191">
            <a:solidFill>
              <a:srgbClr val="b5a68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34" name="หมู่บ้านสุขสมบูรณ์ (ซอย 50)"/>
          <p:cNvSpPr/>
          <p:nvPr/>
        </p:nvSpPr>
        <p:spPr>
          <a:xfrm>
            <a:off x="6272280" y="3658680"/>
            <a:ext cx="18000" cy="32400"/>
          </a:xfrm>
          <a:custGeom>
            <a:avLst/>
            <a:gdLst/>
            <a:ahLst/>
            <a:rect l="l" t="t" r="r" b="b"/>
            <a:pathLst>
              <a:path w="18440" h="32665">
                <a:moveTo>
                  <a:pt x="0" y="25023"/>
                </a:moveTo>
                <a:lnTo>
                  <a:pt x="0" y="27858"/>
                </a:lnTo>
                <a:lnTo>
                  <a:pt x="5388" y="29090"/>
                </a:lnTo>
                <a:lnTo>
                  <a:pt x="6346" y="31802"/>
                </a:lnTo>
                <a:lnTo>
                  <a:pt x="15087" y="32665"/>
                </a:lnTo>
                <a:lnTo>
                  <a:pt x="18440" y="1726"/>
                </a:lnTo>
                <a:lnTo>
                  <a:pt x="599" y="0"/>
                </a:lnTo>
                <a:lnTo>
                  <a:pt x="120" y="2712"/>
                </a:lnTo>
                <a:lnTo>
                  <a:pt x="8023" y="4561"/>
                </a:lnTo>
                <a:lnTo>
                  <a:pt x="7065" y="25269"/>
                </a:lnTo>
                <a:lnTo>
                  <a:pt x="0" y="25023"/>
                </a:lnTo>
                <a:close/>
              </a:path>
            </a:pathLst>
          </a:custGeom>
          <a:solidFill>
            <a:srgbClr val="ded5c5"/>
          </a:solidFill>
          <a:ln w="6191">
            <a:solidFill>
              <a:srgbClr val="b5a68d"/>
            </a:solidFill>
            <a:round/>
          </a:ln>
        </p:spPr>
        <p:style>
          <a:lnRef idx="0"/>
          <a:fillRef idx="0"/>
          <a:effectRef idx="0"/>
          <a:fontRef idx="minor"/>
        </p:style>
        <p:txBody>
          <a:bodyPr lIns="90000" rIns="90000" tIns="-12600" bIns="-12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35" name="เพิ่มสินทรัพย์"/>
          <p:cNvSpPr/>
          <p:nvPr/>
        </p:nvSpPr>
        <p:spPr>
          <a:xfrm>
            <a:off x="6403680" y="3600720"/>
            <a:ext cx="49320" cy="41400"/>
          </a:xfrm>
          <a:custGeom>
            <a:avLst/>
            <a:gdLst/>
            <a:ahLst/>
            <a:rect l="l" t="t" r="r" b="b"/>
            <a:pathLst>
              <a:path w="49692" h="41910">
                <a:moveTo>
                  <a:pt x="7065" y="0"/>
                </a:moveTo>
                <a:lnTo>
                  <a:pt x="1676" y="24776"/>
                </a:lnTo>
                <a:lnTo>
                  <a:pt x="0" y="41787"/>
                </a:lnTo>
                <a:lnTo>
                  <a:pt x="13650" y="41910"/>
                </a:lnTo>
                <a:lnTo>
                  <a:pt x="26223" y="33281"/>
                </a:lnTo>
                <a:lnTo>
                  <a:pt x="40352" y="37966"/>
                </a:lnTo>
                <a:lnTo>
                  <a:pt x="44064" y="36363"/>
                </a:lnTo>
                <a:lnTo>
                  <a:pt x="49692" y="20955"/>
                </a:lnTo>
                <a:lnTo>
                  <a:pt x="37838" y="15162"/>
                </a:lnTo>
                <a:lnTo>
                  <a:pt x="40233" y="6903"/>
                </a:lnTo>
                <a:lnTo>
                  <a:pt x="7065" y="0"/>
                </a:lnTo>
                <a:close/>
              </a:path>
            </a:pathLst>
          </a:custGeom>
          <a:solidFill>
            <a:srgbClr val="ded5c5"/>
          </a:solidFill>
          <a:ln w="6191">
            <a:solidFill>
              <a:srgbClr val="b5a68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36" name="หมู่บ้านพัฒนาหมู่ 3"/>
          <p:cNvSpPr/>
          <p:nvPr/>
        </p:nvSpPr>
        <p:spPr>
          <a:xfrm>
            <a:off x="6623280" y="3504240"/>
            <a:ext cx="38520" cy="27360"/>
          </a:xfrm>
          <a:custGeom>
            <a:avLst/>
            <a:gdLst/>
            <a:ahLst/>
            <a:rect l="l" t="t" r="r" b="b"/>
            <a:pathLst>
              <a:path w="39035" h="27611">
                <a:moveTo>
                  <a:pt x="39035" y="12696"/>
                </a:moveTo>
                <a:lnTo>
                  <a:pt x="33767" y="0"/>
                </a:lnTo>
                <a:lnTo>
                  <a:pt x="0" y="14299"/>
                </a:lnTo>
                <a:lnTo>
                  <a:pt x="6107" y="25516"/>
                </a:lnTo>
                <a:lnTo>
                  <a:pt x="12573" y="27611"/>
                </a:lnTo>
                <a:lnTo>
                  <a:pt x="39035" y="12696"/>
                </a:lnTo>
                <a:close/>
              </a:path>
            </a:pathLst>
          </a:custGeom>
          <a:solidFill>
            <a:srgbClr val="ded5c5"/>
          </a:solidFill>
          <a:ln w="6191">
            <a:solidFill>
              <a:srgbClr val="b5a68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37" name=" ริมคลองหนึ่ง"/>
          <p:cNvSpPr/>
          <p:nvPr/>
        </p:nvSpPr>
        <p:spPr>
          <a:xfrm>
            <a:off x="7855200" y="4064760"/>
            <a:ext cx="27000" cy="73080"/>
          </a:xfrm>
          <a:custGeom>
            <a:avLst/>
            <a:gdLst/>
            <a:ahLst/>
            <a:rect l="l" t="t" r="r" b="b"/>
            <a:pathLst>
              <a:path w="27301" h="73466">
                <a:moveTo>
                  <a:pt x="0" y="6656"/>
                </a:moveTo>
                <a:lnTo>
                  <a:pt x="17841" y="73466"/>
                </a:lnTo>
                <a:lnTo>
                  <a:pt x="22152" y="72110"/>
                </a:lnTo>
                <a:lnTo>
                  <a:pt x="27301" y="69521"/>
                </a:lnTo>
                <a:lnTo>
                  <a:pt x="11974" y="1972"/>
                </a:lnTo>
                <a:lnTo>
                  <a:pt x="10896" y="0"/>
                </a:lnTo>
                <a:lnTo>
                  <a:pt x="0" y="6656"/>
                </a:lnTo>
                <a:close/>
              </a:path>
            </a:pathLst>
          </a:custGeom>
          <a:solidFill>
            <a:srgbClr val="ded5c5"/>
          </a:solidFill>
          <a:ln w="6191">
            <a:solidFill>
              <a:srgbClr val="b5a68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38" name=" ร่วมแรงร่วมใจพัฒนา"/>
          <p:cNvSpPr/>
          <p:nvPr/>
        </p:nvSpPr>
        <p:spPr>
          <a:xfrm>
            <a:off x="7775280" y="3958560"/>
            <a:ext cx="10080" cy="73080"/>
          </a:xfrm>
          <a:custGeom>
            <a:avLst/>
            <a:gdLst/>
            <a:ahLst/>
            <a:rect l="l" t="t" r="r" b="b"/>
            <a:pathLst>
              <a:path w="10417" h="73466">
                <a:moveTo>
                  <a:pt x="2275" y="740"/>
                </a:moveTo>
                <a:lnTo>
                  <a:pt x="0" y="1726"/>
                </a:lnTo>
                <a:lnTo>
                  <a:pt x="3592" y="73466"/>
                </a:lnTo>
                <a:lnTo>
                  <a:pt x="10417" y="70138"/>
                </a:lnTo>
                <a:lnTo>
                  <a:pt x="10417" y="61632"/>
                </a:lnTo>
                <a:lnTo>
                  <a:pt x="8741" y="56332"/>
                </a:lnTo>
                <a:lnTo>
                  <a:pt x="8980" y="0"/>
                </a:lnTo>
                <a:lnTo>
                  <a:pt x="2275" y="740"/>
                </a:lnTo>
                <a:close/>
              </a:path>
            </a:pathLst>
          </a:custGeom>
          <a:solidFill>
            <a:srgbClr val="ded5c5"/>
          </a:solidFill>
          <a:ln w="6191">
            <a:solidFill>
              <a:srgbClr val="b5a68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39" name="หมู่บ้านอินทราวิว"/>
          <p:cNvSpPr/>
          <p:nvPr/>
        </p:nvSpPr>
        <p:spPr>
          <a:xfrm>
            <a:off x="7658280" y="4310640"/>
            <a:ext cx="42840" cy="20880"/>
          </a:xfrm>
          <a:custGeom>
            <a:avLst/>
            <a:gdLst/>
            <a:ahLst/>
            <a:rect l="l" t="t" r="r" b="b"/>
            <a:pathLst>
              <a:path w="43346" h="21325">
                <a:moveTo>
                  <a:pt x="0" y="13559"/>
                </a:moveTo>
                <a:lnTo>
                  <a:pt x="239" y="21325"/>
                </a:lnTo>
                <a:lnTo>
                  <a:pt x="43346" y="5670"/>
                </a:lnTo>
                <a:lnTo>
                  <a:pt x="38796" y="0"/>
                </a:lnTo>
                <a:lnTo>
                  <a:pt x="0" y="13559"/>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40" name="ชุมชนกมาลุลอิสลาม"/>
          <p:cNvSpPr/>
          <p:nvPr/>
        </p:nvSpPr>
        <p:spPr>
          <a:xfrm>
            <a:off x="8123400" y="4273200"/>
            <a:ext cx="51840" cy="73080"/>
          </a:xfrm>
          <a:custGeom>
            <a:avLst/>
            <a:gdLst/>
            <a:ahLst/>
            <a:rect l="l" t="t" r="r" b="b"/>
            <a:pathLst>
              <a:path w="52326" h="73589">
                <a:moveTo>
                  <a:pt x="0" y="26748"/>
                </a:moveTo>
                <a:lnTo>
                  <a:pt x="14848" y="40554"/>
                </a:lnTo>
                <a:lnTo>
                  <a:pt x="38915" y="73589"/>
                </a:lnTo>
                <a:lnTo>
                  <a:pt x="52326" y="65947"/>
                </a:lnTo>
                <a:lnTo>
                  <a:pt x="7304" y="0"/>
                </a:lnTo>
                <a:lnTo>
                  <a:pt x="0" y="26748"/>
                </a:lnTo>
                <a:close/>
              </a:path>
            </a:pathLst>
          </a:custGeom>
          <a:solidFill>
            <a:srgbClr val="ded5c5"/>
          </a:solidFill>
          <a:ln w="6191">
            <a:solidFill>
              <a:srgbClr val="b5a68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41" name="เกาะขุนเณร"/>
          <p:cNvSpPr/>
          <p:nvPr/>
        </p:nvSpPr>
        <p:spPr>
          <a:xfrm>
            <a:off x="8316360" y="4075200"/>
            <a:ext cx="47880" cy="64440"/>
          </a:xfrm>
          <a:custGeom>
            <a:avLst/>
            <a:gdLst/>
            <a:ahLst/>
            <a:rect l="l" t="t" r="r" b="b"/>
            <a:pathLst>
              <a:path w="48255" h="64837">
                <a:moveTo>
                  <a:pt x="48255" y="60893"/>
                </a:moveTo>
                <a:lnTo>
                  <a:pt x="20116" y="0"/>
                </a:lnTo>
                <a:lnTo>
                  <a:pt x="0" y="6410"/>
                </a:lnTo>
                <a:lnTo>
                  <a:pt x="13531" y="38828"/>
                </a:lnTo>
                <a:lnTo>
                  <a:pt x="30055" y="64837"/>
                </a:lnTo>
                <a:lnTo>
                  <a:pt x="48255" y="60893"/>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42" name="ชุมชนอาบูพัฒนา"/>
          <p:cNvSpPr/>
          <p:nvPr/>
        </p:nvSpPr>
        <p:spPr>
          <a:xfrm>
            <a:off x="8043480" y="4367520"/>
            <a:ext cx="36000" cy="37080"/>
          </a:xfrm>
          <a:custGeom>
            <a:avLst/>
            <a:gdLst/>
            <a:ahLst/>
            <a:rect l="l" t="t" r="r" b="b"/>
            <a:pathLst>
              <a:path w="36281" h="37596">
                <a:moveTo>
                  <a:pt x="0" y="13806"/>
                </a:moveTo>
                <a:lnTo>
                  <a:pt x="13890" y="37596"/>
                </a:lnTo>
                <a:lnTo>
                  <a:pt x="36281" y="25516"/>
                </a:lnTo>
                <a:lnTo>
                  <a:pt x="21194" y="0"/>
                </a:lnTo>
                <a:lnTo>
                  <a:pt x="0" y="13806"/>
                </a:lnTo>
                <a:close/>
              </a:path>
            </a:pathLst>
          </a:custGeom>
          <a:solidFill>
            <a:srgbClr val="ded5c5"/>
          </a:solidFill>
          <a:ln w="6191">
            <a:solidFill>
              <a:srgbClr val="b5a68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43" name="ชุมชนมัสยิดฮิดายาตุ้ลอิสลามิยะห์(แสนแสบ)"/>
          <p:cNvSpPr/>
          <p:nvPr/>
        </p:nvSpPr>
        <p:spPr>
          <a:xfrm>
            <a:off x="7871040" y="4390560"/>
            <a:ext cx="42840" cy="57240"/>
          </a:xfrm>
          <a:custGeom>
            <a:avLst/>
            <a:gdLst/>
            <a:ahLst/>
            <a:rect l="l" t="t" r="r" b="b"/>
            <a:pathLst>
              <a:path w="43106" h="57688">
                <a:moveTo>
                  <a:pt x="35922" y="41910"/>
                </a:moveTo>
                <a:lnTo>
                  <a:pt x="27061" y="27365"/>
                </a:lnTo>
                <a:lnTo>
                  <a:pt x="25505" y="27118"/>
                </a:lnTo>
                <a:lnTo>
                  <a:pt x="6825" y="0"/>
                </a:lnTo>
                <a:lnTo>
                  <a:pt x="0" y="6163"/>
                </a:lnTo>
                <a:lnTo>
                  <a:pt x="37598" y="57688"/>
                </a:lnTo>
                <a:lnTo>
                  <a:pt x="43106" y="53004"/>
                </a:lnTo>
                <a:lnTo>
                  <a:pt x="35922" y="41910"/>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44" name="ห้าพี่น้องพัฒนา"/>
          <p:cNvSpPr/>
          <p:nvPr/>
        </p:nvSpPr>
        <p:spPr>
          <a:xfrm>
            <a:off x="8379000" y="4047120"/>
            <a:ext cx="59400" cy="122760"/>
          </a:xfrm>
          <a:custGeom>
            <a:avLst/>
            <a:gdLst/>
            <a:ahLst/>
            <a:rect l="l" t="t" r="r" b="b"/>
            <a:pathLst>
              <a:path w="59630" h="123141">
                <a:moveTo>
                  <a:pt x="0" y="2835"/>
                </a:moveTo>
                <a:lnTo>
                  <a:pt x="54003" y="123141"/>
                </a:lnTo>
                <a:lnTo>
                  <a:pt x="59630" y="120183"/>
                </a:lnTo>
                <a:lnTo>
                  <a:pt x="6107" y="0"/>
                </a:lnTo>
                <a:lnTo>
                  <a:pt x="0" y="283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45" name="ชุมชนหมู่บ้านอยู่สบาย"/>
          <p:cNvSpPr/>
          <p:nvPr/>
        </p:nvSpPr>
        <p:spPr>
          <a:xfrm>
            <a:off x="6825600" y="5492520"/>
            <a:ext cx="38160" cy="17640"/>
          </a:xfrm>
          <a:custGeom>
            <a:avLst/>
            <a:gdLst/>
            <a:ahLst/>
            <a:rect l="l" t="t" r="r" b="b"/>
            <a:pathLst>
              <a:path w="38556" h="18120">
                <a:moveTo>
                  <a:pt x="0" y="8012"/>
                </a:moveTo>
                <a:lnTo>
                  <a:pt x="26702" y="15408"/>
                </a:lnTo>
                <a:lnTo>
                  <a:pt x="25505" y="17257"/>
                </a:lnTo>
                <a:lnTo>
                  <a:pt x="27420" y="18120"/>
                </a:lnTo>
                <a:lnTo>
                  <a:pt x="31851" y="16024"/>
                </a:lnTo>
                <a:lnTo>
                  <a:pt x="38436" y="15655"/>
                </a:lnTo>
                <a:lnTo>
                  <a:pt x="38556" y="10971"/>
                </a:lnTo>
                <a:lnTo>
                  <a:pt x="32330" y="7026"/>
                </a:lnTo>
                <a:lnTo>
                  <a:pt x="3712" y="0"/>
                </a:lnTo>
                <a:lnTo>
                  <a:pt x="0" y="8012"/>
                </a:lnTo>
                <a:close/>
              </a:path>
            </a:pathLst>
          </a:custGeom>
          <a:solidFill>
            <a:srgbClr val="ded5c5"/>
          </a:solidFill>
          <a:ln w="6191">
            <a:solidFill>
              <a:srgbClr val="b5a68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46" name="ริมคลองลาดบัวขาว หมู่3"/>
          <p:cNvSpPr/>
          <p:nvPr/>
        </p:nvSpPr>
        <p:spPr>
          <a:xfrm>
            <a:off x="7499880" y="5041440"/>
            <a:ext cx="36360" cy="43200"/>
          </a:xfrm>
          <a:custGeom>
            <a:avLst/>
            <a:gdLst/>
            <a:ahLst/>
            <a:rect l="l" t="t" r="r" b="b"/>
            <a:pathLst>
              <a:path w="36640" h="43389">
                <a:moveTo>
                  <a:pt x="10537" y="1849"/>
                </a:moveTo>
                <a:lnTo>
                  <a:pt x="0" y="986"/>
                </a:lnTo>
                <a:lnTo>
                  <a:pt x="2754" y="11957"/>
                </a:lnTo>
                <a:lnTo>
                  <a:pt x="359" y="43389"/>
                </a:lnTo>
                <a:lnTo>
                  <a:pt x="12573" y="41540"/>
                </a:lnTo>
                <a:lnTo>
                  <a:pt x="12213" y="28351"/>
                </a:lnTo>
                <a:lnTo>
                  <a:pt x="10058" y="28228"/>
                </a:lnTo>
                <a:lnTo>
                  <a:pt x="10178" y="23174"/>
                </a:lnTo>
                <a:lnTo>
                  <a:pt x="8023" y="23051"/>
                </a:lnTo>
                <a:lnTo>
                  <a:pt x="8382" y="17627"/>
                </a:lnTo>
                <a:lnTo>
                  <a:pt x="6226" y="17504"/>
                </a:lnTo>
                <a:lnTo>
                  <a:pt x="6466" y="14915"/>
                </a:lnTo>
                <a:lnTo>
                  <a:pt x="4311" y="14792"/>
                </a:lnTo>
                <a:lnTo>
                  <a:pt x="4071" y="7149"/>
                </a:lnTo>
                <a:lnTo>
                  <a:pt x="36401" y="3575"/>
                </a:lnTo>
                <a:lnTo>
                  <a:pt x="36640" y="1972"/>
                </a:lnTo>
                <a:lnTo>
                  <a:pt x="36161" y="0"/>
                </a:lnTo>
                <a:lnTo>
                  <a:pt x="10537" y="1849"/>
                </a:lnTo>
                <a:close/>
              </a:path>
            </a:pathLst>
          </a:custGeom>
          <a:solidFill>
            <a:srgbClr val="ded5c5"/>
          </a:solidFill>
          <a:ln w="6191">
            <a:solidFill>
              <a:srgbClr val="b5a68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47" name="ลาดบัวขาวพัฒนา"/>
          <p:cNvSpPr/>
          <p:nvPr/>
        </p:nvSpPr>
        <p:spPr>
          <a:xfrm>
            <a:off x="7475760" y="5084280"/>
            <a:ext cx="29880" cy="69480"/>
          </a:xfrm>
          <a:custGeom>
            <a:avLst/>
            <a:gdLst/>
            <a:ahLst/>
            <a:rect l="l" t="t" r="r" b="b"/>
            <a:pathLst>
              <a:path w="30294" h="69768">
                <a:moveTo>
                  <a:pt x="3951" y="69768"/>
                </a:moveTo>
                <a:lnTo>
                  <a:pt x="6705" y="63358"/>
                </a:lnTo>
                <a:lnTo>
                  <a:pt x="8621" y="64344"/>
                </a:lnTo>
                <a:lnTo>
                  <a:pt x="12094" y="59907"/>
                </a:lnTo>
                <a:lnTo>
                  <a:pt x="14608" y="60893"/>
                </a:lnTo>
                <a:lnTo>
                  <a:pt x="21433" y="48690"/>
                </a:lnTo>
                <a:lnTo>
                  <a:pt x="17482" y="47334"/>
                </a:lnTo>
                <a:lnTo>
                  <a:pt x="22272" y="38952"/>
                </a:lnTo>
                <a:lnTo>
                  <a:pt x="24427" y="39075"/>
                </a:lnTo>
                <a:lnTo>
                  <a:pt x="22631" y="37349"/>
                </a:lnTo>
                <a:lnTo>
                  <a:pt x="25026" y="26872"/>
                </a:lnTo>
                <a:lnTo>
                  <a:pt x="27660" y="25762"/>
                </a:lnTo>
                <a:lnTo>
                  <a:pt x="25984" y="12820"/>
                </a:lnTo>
                <a:lnTo>
                  <a:pt x="27899" y="12450"/>
                </a:lnTo>
                <a:lnTo>
                  <a:pt x="28139" y="5917"/>
                </a:lnTo>
                <a:lnTo>
                  <a:pt x="30294" y="5424"/>
                </a:lnTo>
                <a:lnTo>
                  <a:pt x="29695" y="0"/>
                </a:lnTo>
                <a:lnTo>
                  <a:pt x="24068" y="740"/>
                </a:lnTo>
                <a:lnTo>
                  <a:pt x="22391" y="28597"/>
                </a:lnTo>
                <a:lnTo>
                  <a:pt x="11016" y="52511"/>
                </a:lnTo>
                <a:lnTo>
                  <a:pt x="0" y="68535"/>
                </a:lnTo>
                <a:lnTo>
                  <a:pt x="3951" y="69768"/>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48" name="น่าฟีอะฮ์ลำนายโส"/>
          <p:cNvSpPr/>
          <p:nvPr/>
        </p:nvSpPr>
        <p:spPr>
          <a:xfrm>
            <a:off x="7575840" y="5060520"/>
            <a:ext cx="38160" cy="45720"/>
          </a:xfrm>
          <a:custGeom>
            <a:avLst/>
            <a:gdLst/>
            <a:ahLst/>
            <a:rect l="l" t="t" r="r" b="b"/>
            <a:pathLst>
              <a:path w="38436" h="46101">
                <a:moveTo>
                  <a:pt x="6945" y="45854"/>
                </a:moveTo>
                <a:lnTo>
                  <a:pt x="22391" y="10971"/>
                </a:lnTo>
                <a:lnTo>
                  <a:pt x="35563" y="13189"/>
                </a:lnTo>
                <a:lnTo>
                  <a:pt x="38436" y="8012"/>
                </a:lnTo>
                <a:lnTo>
                  <a:pt x="18679" y="3575"/>
                </a:lnTo>
                <a:lnTo>
                  <a:pt x="12094" y="0"/>
                </a:lnTo>
                <a:lnTo>
                  <a:pt x="6466" y="28351"/>
                </a:lnTo>
                <a:lnTo>
                  <a:pt x="0" y="46101"/>
                </a:lnTo>
                <a:lnTo>
                  <a:pt x="6945" y="45854"/>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49" name="เคหะร่มเกล้า โซนหลังคาแดง201"/>
          <p:cNvSpPr/>
          <p:nvPr/>
        </p:nvSpPr>
        <p:spPr>
          <a:xfrm>
            <a:off x="7631640" y="5081400"/>
            <a:ext cx="40680" cy="108360"/>
          </a:xfrm>
          <a:custGeom>
            <a:avLst/>
            <a:gdLst/>
            <a:ahLst/>
            <a:rect l="l" t="t" r="r" b="b"/>
            <a:pathLst>
              <a:path w="41191" h="108596">
                <a:moveTo>
                  <a:pt x="29695" y="65823"/>
                </a:moveTo>
                <a:lnTo>
                  <a:pt x="41191" y="5547"/>
                </a:lnTo>
                <a:lnTo>
                  <a:pt x="22391" y="0"/>
                </a:lnTo>
                <a:lnTo>
                  <a:pt x="0" y="77657"/>
                </a:lnTo>
                <a:lnTo>
                  <a:pt x="11974" y="80862"/>
                </a:lnTo>
                <a:lnTo>
                  <a:pt x="7663" y="99844"/>
                </a:lnTo>
                <a:lnTo>
                  <a:pt x="12333" y="102186"/>
                </a:lnTo>
                <a:lnTo>
                  <a:pt x="12333" y="107364"/>
                </a:lnTo>
                <a:lnTo>
                  <a:pt x="23110" y="108596"/>
                </a:lnTo>
                <a:lnTo>
                  <a:pt x="30055" y="80245"/>
                </a:lnTo>
                <a:lnTo>
                  <a:pt x="29695" y="6582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50" name="ฟื้นนครร่มเกล้าระยะ3 โซน8"/>
          <p:cNvSpPr/>
          <p:nvPr/>
        </p:nvSpPr>
        <p:spPr>
          <a:xfrm>
            <a:off x="7706520" y="5121360"/>
            <a:ext cx="61200" cy="27000"/>
          </a:xfrm>
          <a:custGeom>
            <a:avLst/>
            <a:gdLst/>
            <a:ahLst/>
            <a:rect l="l" t="t" r="r" b="b"/>
            <a:pathLst>
              <a:path w="61427" h="27365">
                <a:moveTo>
                  <a:pt x="2155" y="24776"/>
                </a:moveTo>
                <a:lnTo>
                  <a:pt x="0" y="25269"/>
                </a:lnTo>
                <a:lnTo>
                  <a:pt x="120" y="27365"/>
                </a:lnTo>
                <a:lnTo>
                  <a:pt x="48614" y="22557"/>
                </a:lnTo>
                <a:lnTo>
                  <a:pt x="59630" y="24037"/>
                </a:lnTo>
                <a:lnTo>
                  <a:pt x="59750" y="22557"/>
                </a:lnTo>
                <a:lnTo>
                  <a:pt x="61307" y="22434"/>
                </a:lnTo>
                <a:lnTo>
                  <a:pt x="61427" y="0"/>
                </a:lnTo>
                <a:lnTo>
                  <a:pt x="3712" y="3821"/>
                </a:lnTo>
                <a:lnTo>
                  <a:pt x="3233" y="23174"/>
                </a:lnTo>
                <a:lnTo>
                  <a:pt x="2155" y="24776"/>
                </a:lnTo>
                <a:close/>
              </a:path>
            </a:pathLst>
          </a:custGeom>
          <a:solidFill>
            <a:srgbClr val="ded5c5"/>
          </a:solidFill>
          <a:ln w="6191">
            <a:solidFill>
              <a:srgbClr val="b5a68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51" name="ฟื้นนครร่มเกล้า ระยะ5 โซน11"/>
          <p:cNvSpPr/>
          <p:nvPr/>
        </p:nvSpPr>
        <p:spPr>
          <a:xfrm>
            <a:off x="7703280" y="5144040"/>
            <a:ext cx="64440" cy="39240"/>
          </a:xfrm>
          <a:custGeom>
            <a:avLst/>
            <a:gdLst/>
            <a:ahLst/>
            <a:rect l="l" t="t" r="r" b="b"/>
            <a:pathLst>
              <a:path w="64779" h="39445">
                <a:moveTo>
                  <a:pt x="0" y="17627"/>
                </a:moveTo>
                <a:lnTo>
                  <a:pt x="22391" y="16394"/>
                </a:lnTo>
                <a:lnTo>
                  <a:pt x="22990" y="39445"/>
                </a:lnTo>
                <a:lnTo>
                  <a:pt x="36042" y="38582"/>
                </a:lnTo>
                <a:lnTo>
                  <a:pt x="36042" y="37103"/>
                </a:lnTo>
                <a:lnTo>
                  <a:pt x="64779" y="36117"/>
                </a:lnTo>
                <a:lnTo>
                  <a:pt x="64779" y="23051"/>
                </a:lnTo>
                <a:lnTo>
                  <a:pt x="56158" y="22311"/>
                </a:lnTo>
                <a:lnTo>
                  <a:pt x="55320" y="14669"/>
                </a:lnTo>
                <a:lnTo>
                  <a:pt x="53164" y="14792"/>
                </a:lnTo>
                <a:lnTo>
                  <a:pt x="52207" y="0"/>
                </a:lnTo>
                <a:lnTo>
                  <a:pt x="3353" y="5054"/>
                </a:lnTo>
                <a:lnTo>
                  <a:pt x="3353" y="3205"/>
                </a:lnTo>
                <a:lnTo>
                  <a:pt x="1437" y="3205"/>
                </a:lnTo>
                <a:lnTo>
                  <a:pt x="0" y="17627"/>
                </a:lnTo>
                <a:close/>
              </a:path>
            </a:pathLst>
          </a:custGeom>
          <a:solidFill>
            <a:srgbClr val="ded5c5"/>
          </a:solidFill>
          <a:ln w="6191">
            <a:solidFill>
              <a:srgbClr val="b5a68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52" name="ฟื้นนครร่มเกล้า ระยะ1 โซน7"/>
          <p:cNvSpPr/>
          <p:nvPr/>
        </p:nvSpPr>
        <p:spPr>
          <a:xfrm>
            <a:off x="7733160" y="5184000"/>
            <a:ext cx="25200" cy="24840"/>
          </a:xfrm>
          <a:custGeom>
            <a:avLst/>
            <a:gdLst/>
            <a:ahLst/>
            <a:rect l="l" t="t" r="r" b="b"/>
            <a:pathLst>
              <a:path w="25385" h="25269">
                <a:moveTo>
                  <a:pt x="120" y="0"/>
                </a:moveTo>
                <a:lnTo>
                  <a:pt x="0" y="25269"/>
                </a:lnTo>
                <a:lnTo>
                  <a:pt x="25385" y="24037"/>
                </a:lnTo>
                <a:lnTo>
                  <a:pt x="25145" y="123"/>
                </a:lnTo>
                <a:lnTo>
                  <a:pt x="120" y="0"/>
                </a:lnTo>
                <a:close/>
              </a:path>
            </a:pathLst>
          </a:custGeom>
          <a:solidFill>
            <a:srgbClr val="ded5c5"/>
          </a:solidFill>
          <a:ln w="6191">
            <a:solidFill>
              <a:srgbClr val="b5a68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53" name="มิตรประชาร่วมใจฟื้นนครร่มเกล้า ระยะ 6 โซน 12"/>
          <p:cNvSpPr/>
          <p:nvPr/>
        </p:nvSpPr>
        <p:spPr>
          <a:xfrm>
            <a:off x="7733520" y="5208120"/>
            <a:ext cx="34560" cy="19800"/>
          </a:xfrm>
          <a:custGeom>
            <a:avLst/>
            <a:gdLst/>
            <a:ahLst/>
            <a:rect l="l" t="t" r="r" b="b"/>
            <a:pathLst>
              <a:path w="34964" h="20092">
                <a:moveTo>
                  <a:pt x="359" y="1726"/>
                </a:moveTo>
                <a:lnTo>
                  <a:pt x="0" y="20092"/>
                </a:lnTo>
                <a:lnTo>
                  <a:pt x="34964" y="20092"/>
                </a:lnTo>
                <a:lnTo>
                  <a:pt x="34964" y="1726"/>
                </a:lnTo>
                <a:lnTo>
                  <a:pt x="32928" y="1726"/>
                </a:lnTo>
                <a:lnTo>
                  <a:pt x="32928" y="123"/>
                </a:lnTo>
                <a:lnTo>
                  <a:pt x="27420" y="0"/>
                </a:lnTo>
                <a:lnTo>
                  <a:pt x="26941" y="1726"/>
                </a:lnTo>
                <a:lnTo>
                  <a:pt x="19398" y="1726"/>
                </a:lnTo>
                <a:lnTo>
                  <a:pt x="19278" y="123"/>
                </a:lnTo>
                <a:lnTo>
                  <a:pt x="359" y="1726"/>
                </a:lnTo>
                <a:close/>
              </a:path>
            </a:pathLst>
          </a:custGeom>
          <a:solidFill>
            <a:srgbClr val="ded5c5"/>
          </a:solidFill>
          <a:ln w="6191">
            <a:solidFill>
              <a:srgbClr val="b5a68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54" name="ฟื้นนครร่มเกล้า ระยะ 2 โซน 9"/>
          <p:cNvSpPr/>
          <p:nvPr/>
        </p:nvSpPr>
        <p:spPr>
          <a:xfrm>
            <a:off x="7733160" y="5228280"/>
            <a:ext cx="34920" cy="24120"/>
          </a:xfrm>
          <a:custGeom>
            <a:avLst/>
            <a:gdLst/>
            <a:ahLst/>
            <a:rect l="l" t="t" r="r" b="b"/>
            <a:pathLst>
              <a:path w="35443" h="24406">
                <a:moveTo>
                  <a:pt x="120" y="0"/>
                </a:moveTo>
                <a:lnTo>
                  <a:pt x="0" y="24406"/>
                </a:lnTo>
                <a:lnTo>
                  <a:pt x="35084" y="22188"/>
                </a:lnTo>
                <a:lnTo>
                  <a:pt x="35443" y="123"/>
                </a:lnTo>
                <a:lnTo>
                  <a:pt x="120" y="0"/>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55" name="คลองสองร่วมใจพัฒนา"/>
          <p:cNvSpPr/>
          <p:nvPr/>
        </p:nvSpPr>
        <p:spPr>
          <a:xfrm>
            <a:off x="7746480" y="5250600"/>
            <a:ext cx="21960" cy="293760"/>
          </a:xfrm>
          <a:custGeom>
            <a:avLst/>
            <a:gdLst/>
            <a:ahLst/>
            <a:rect l="l" t="t" r="r" b="b"/>
            <a:pathLst>
              <a:path w="22391" h="294110">
                <a:moveTo>
                  <a:pt x="12453" y="279564"/>
                </a:moveTo>
                <a:lnTo>
                  <a:pt x="12812" y="283509"/>
                </a:lnTo>
                <a:lnTo>
                  <a:pt x="17003" y="284248"/>
                </a:lnTo>
                <a:lnTo>
                  <a:pt x="16644" y="294110"/>
                </a:lnTo>
                <a:lnTo>
                  <a:pt x="18919" y="293986"/>
                </a:lnTo>
                <a:lnTo>
                  <a:pt x="19158" y="292384"/>
                </a:lnTo>
                <a:lnTo>
                  <a:pt x="22391" y="292630"/>
                </a:lnTo>
                <a:lnTo>
                  <a:pt x="22272" y="0"/>
                </a:lnTo>
                <a:lnTo>
                  <a:pt x="17243" y="247"/>
                </a:lnTo>
                <a:lnTo>
                  <a:pt x="18200" y="16764"/>
                </a:lnTo>
                <a:lnTo>
                  <a:pt x="10178" y="17011"/>
                </a:lnTo>
                <a:lnTo>
                  <a:pt x="9938" y="50539"/>
                </a:lnTo>
                <a:lnTo>
                  <a:pt x="0" y="51032"/>
                </a:lnTo>
                <a:lnTo>
                  <a:pt x="479" y="58058"/>
                </a:lnTo>
                <a:lnTo>
                  <a:pt x="12692" y="58058"/>
                </a:lnTo>
                <a:lnTo>
                  <a:pt x="12692" y="72603"/>
                </a:lnTo>
                <a:lnTo>
                  <a:pt x="16764" y="71863"/>
                </a:lnTo>
                <a:lnTo>
                  <a:pt x="17362" y="115252"/>
                </a:lnTo>
                <a:lnTo>
                  <a:pt x="14010" y="115869"/>
                </a:lnTo>
                <a:lnTo>
                  <a:pt x="14967" y="140768"/>
                </a:lnTo>
                <a:lnTo>
                  <a:pt x="18200" y="141878"/>
                </a:lnTo>
                <a:lnTo>
                  <a:pt x="16883" y="173187"/>
                </a:lnTo>
                <a:lnTo>
                  <a:pt x="17961" y="173433"/>
                </a:lnTo>
                <a:lnTo>
                  <a:pt x="17721" y="208810"/>
                </a:lnTo>
                <a:lnTo>
                  <a:pt x="1437" y="210413"/>
                </a:lnTo>
                <a:lnTo>
                  <a:pt x="1796" y="223479"/>
                </a:lnTo>
                <a:lnTo>
                  <a:pt x="10777" y="223479"/>
                </a:lnTo>
                <a:lnTo>
                  <a:pt x="10896" y="232231"/>
                </a:lnTo>
                <a:lnTo>
                  <a:pt x="5748" y="231984"/>
                </a:lnTo>
                <a:lnTo>
                  <a:pt x="5628" y="242955"/>
                </a:lnTo>
                <a:lnTo>
                  <a:pt x="16644" y="243201"/>
                </a:lnTo>
                <a:lnTo>
                  <a:pt x="16404" y="258240"/>
                </a:lnTo>
                <a:lnTo>
                  <a:pt x="20356" y="259102"/>
                </a:lnTo>
                <a:lnTo>
                  <a:pt x="18679" y="279195"/>
                </a:lnTo>
                <a:lnTo>
                  <a:pt x="12453" y="27956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56" name="จิตรา"/>
          <p:cNvSpPr/>
          <p:nvPr/>
        </p:nvSpPr>
        <p:spPr>
          <a:xfrm>
            <a:off x="7405200" y="5542920"/>
            <a:ext cx="91080" cy="32760"/>
          </a:xfrm>
          <a:custGeom>
            <a:avLst/>
            <a:gdLst/>
            <a:ahLst/>
            <a:rect l="l" t="t" r="r" b="b"/>
            <a:pathLst>
              <a:path w="91362" h="33035">
                <a:moveTo>
                  <a:pt x="91362" y="27611"/>
                </a:moveTo>
                <a:lnTo>
                  <a:pt x="90523" y="0"/>
                </a:lnTo>
                <a:lnTo>
                  <a:pt x="2515" y="5300"/>
                </a:lnTo>
                <a:lnTo>
                  <a:pt x="0" y="33035"/>
                </a:lnTo>
                <a:lnTo>
                  <a:pt x="91362" y="27611"/>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57" name="รักสามัคคี"/>
          <p:cNvSpPr/>
          <p:nvPr/>
        </p:nvSpPr>
        <p:spPr>
          <a:xfrm>
            <a:off x="7497360" y="5590440"/>
            <a:ext cx="91080" cy="24120"/>
          </a:xfrm>
          <a:custGeom>
            <a:avLst/>
            <a:gdLst/>
            <a:ahLst/>
            <a:rect l="l" t="t" r="r" b="b"/>
            <a:pathLst>
              <a:path w="91362" h="24530">
                <a:moveTo>
                  <a:pt x="2874" y="986"/>
                </a:moveTo>
                <a:lnTo>
                  <a:pt x="0" y="0"/>
                </a:lnTo>
                <a:lnTo>
                  <a:pt x="1197" y="19106"/>
                </a:lnTo>
                <a:lnTo>
                  <a:pt x="7065" y="19229"/>
                </a:lnTo>
                <a:lnTo>
                  <a:pt x="6945" y="16394"/>
                </a:lnTo>
                <a:lnTo>
                  <a:pt x="8741" y="15408"/>
                </a:lnTo>
                <a:lnTo>
                  <a:pt x="81663" y="16764"/>
                </a:lnTo>
                <a:lnTo>
                  <a:pt x="87650" y="24037"/>
                </a:lnTo>
                <a:lnTo>
                  <a:pt x="91362" y="24530"/>
                </a:lnTo>
                <a:lnTo>
                  <a:pt x="91362" y="2958"/>
                </a:lnTo>
                <a:lnTo>
                  <a:pt x="53164" y="1972"/>
                </a:lnTo>
                <a:lnTo>
                  <a:pt x="51488" y="863"/>
                </a:lnTo>
                <a:lnTo>
                  <a:pt x="51608" y="1972"/>
                </a:lnTo>
                <a:lnTo>
                  <a:pt x="2874" y="986"/>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58" name="เพิ่มสิน (ซอยถมยาสามัคคี)"/>
          <p:cNvSpPr/>
          <p:nvPr/>
        </p:nvSpPr>
        <p:spPr>
          <a:xfrm>
            <a:off x="6370200" y="3457800"/>
            <a:ext cx="55080" cy="38160"/>
          </a:xfrm>
          <a:custGeom>
            <a:avLst/>
            <a:gdLst/>
            <a:ahLst/>
            <a:rect l="l" t="t" r="r" b="b"/>
            <a:pathLst>
              <a:path w="55559" h="38459">
                <a:moveTo>
                  <a:pt x="0" y="14915"/>
                </a:moveTo>
                <a:lnTo>
                  <a:pt x="9340" y="38459"/>
                </a:lnTo>
                <a:lnTo>
                  <a:pt x="55559" y="23913"/>
                </a:lnTo>
                <a:lnTo>
                  <a:pt x="37598" y="0"/>
                </a:lnTo>
                <a:lnTo>
                  <a:pt x="0" y="14915"/>
                </a:lnTo>
                <a:close/>
              </a:path>
            </a:pathLst>
          </a:custGeom>
          <a:solidFill>
            <a:srgbClr val="ded5c5"/>
          </a:solidFill>
          <a:ln w="6191">
            <a:solidFill>
              <a:srgbClr val="b5a68d"/>
            </a:solidFill>
            <a:round/>
          </a:ln>
        </p:spPr>
        <p:style>
          <a:lnRef idx="0"/>
          <a:fillRef idx="0"/>
          <a:effectRef idx="0"/>
          <a:fontRef idx="minor"/>
        </p:style>
        <p:txBody>
          <a:bodyPr lIns="90000" rIns="90000" tIns="-6840" bIns="-6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59" name="ดอนเมืองวิลล่า"/>
          <p:cNvSpPr/>
          <p:nvPr/>
        </p:nvSpPr>
        <p:spPr>
          <a:xfrm>
            <a:off x="6343560" y="3554280"/>
            <a:ext cx="55800" cy="21600"/>
          </a:xfrm>
          <a:custGeom>
            <a:avLst/>
            <a:gdLst/>
            <a:ahLst/>
            <a:rect l="l" t="t" r="r" b="b"/>
            <a:pathLst>
              <a:path w="56278" h="21941">
                <a:moveTo>
                  <a:pt x="239" y="3698"/>
                </a:moveTo>
                <a:lnTo>
                  <a:pt x="0" y="16394"/>
                </a:lnTo>
                <a:lnTo>
                  <a:pt x="20715" y="16641"/>
                </a:lnTo>
                <a:lnTo>
                  <a:pt x="20715" y="21695"/>
                </a:lnTo>
                <a:lnTo>
                  <a:pt x="56158" y="21941"/>
                </a:lnTo>
                <a:lnTo>
                  <a:pt x="56278" y="0"/>
                </a:lnTo>
                <a:lnTo>
                  <a:pt x="239" y="3698"/>
                </a:lnTo>
                <a:close/>
              </a:path>
            </a:pathLst>
          </a:custGeom>
          <a:solidFill>
            <a:srgbClr val="ded5c5"/>
          </a:solidFill>
          <a:ln w="6191">
            <a:solidFill>
              <a:srgbClr val="b5a68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60" name="รวมมิตรสัมพันธ์ (ซอยเธียรสวน 1)"/>
          <p:cNvSpPr/>
          <p:nvPr/>
        </p:nvSpPr>
        <p:spPr>
          <a:xfrm>
            <a:off x="6336000" y="3574440"/>
            <a:ext cx="73440" cy="11160"/>
          </a:xfrm>
          <a:custGeom>
            <a:avLst/>
            <a:gdLst/>
            <a:ahLst/>
            <a:rect l="l" t="t" r="r" b="b"/>
            <a:pathLst>
              <a:path w="73640" h="11464">
                <a:moveTo>
                  <a:pt x="42029" y="1972"/>
                </a:moveTo>
                <a:lnTo>
                  <a:pt x="1197" y="0"/>
                </a:lnTo>
                <a:lnTo>
                  <a:pt x="0" y="8382"/>
                </a:lnTo>
                <a:lnTo>
                  <a:pt x="44783" y="11464"/>
                </a:lnTo>
                <a:lnTo>
                  <a:pt x="48375" y="6656"/>
                </a:lnTo>
                <a:lnTo>
                  <a:pt x="72682" y="7642"/>
                </a:lnTo>
                <a:lnTo>
                  <a:pt x="73640" y="1479"/>
                </a:lnTo>
                <a:lnTo>
                  <a:pt x="42029" y="1972"/>
                </a:lnTo>
                <a:close/>
              </a:path>
            </a:pathLst>
          </a:custGeom>
          <a:solidFill>
            <a:srgbClr val="ded5c5"/>
          </a:solidFill>
          <a:ln w="6191">
            <a:solidFill>
              <a:srgbClr val="b5a68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61" name="หมู่บ้านซื่อตรง"/>
          <p:cNvSpPr/>
          <p:nvPr/>
        </p:nvSpPr>
        <p:spPr>
          <a:xfrm>
            <a:off x="6234120" y="3566160"/>
            <a:ext cx="40320" cy="27360"/>
          </a:xfrm>
          <a:custGeom>
            <a:avLst/>
            <a:gdLst/>
            <a:ahLst/>
            <a:rect l="l" t="t" r="r" b="b"/>
            <a:pathLst>
              <a:path w="40712" h="27858">
                <a:moveTo>
                  <a:pt x="30174" y="0"/>
                </a:moveTo>
                <a:lnTo>
                  <a:pt x="0" y="12696"/>
                </a:lnTo>
                <a:lnTo>
                  <a:pt x="15087" y="27858"/>
                </a:lnTo>
                <a:lnTo>
                  <a:pt x="40712" y="14175"/>
                </a:lnTo>
                <a:lnTo>
                  <a:pt x="40712" y="12326"/>
                </a:lnTo>
                <a:lnTo>
                  <a:pt x="30174" y="0"/>
                </a:lnTo>
                <a:close/>
              </a:path>
            </a:pathLst>
          </a:custGeom>
          <a:solidFill>
            <a:srgbClr val="ded5c5"/>
          </a:solidFill>
          <a:ln w="6191">
            <a:solidFill>
              <a:srgbClr val="b5a68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62" name="หมู่บ้านเพิ่มสิน 1 - 2"/>
          <p:cNvSpPr/>
          <p:nvPr/>
        </p:nvSpPr>
        <p:spPr>
          <a:xfrm>
            <a:off x="6391080" y="3517200"/>
            <a:ext cx="44280" cy="22680"/>
          </a:xfrm>
          <a:custGeom>
            <a:avLst/>
            <a:gdLst/>
            <a:ahLst/>
            <a:rect l="l" t="t" r="r" b="b"/>
            <a:pathLst>
              <a:path w="44543" h="22927">
                <a:moveTo>
                  <a:pt x="3832" y="17504"/>
                </a:moveTo>
                <a:lnTo>
                  <a:pt x="5748" y="18983"/>
                </a:lnTo>
                <a:lnTo>
                  <a:pt x="44543" y="22927"/>
                </a:lnTo>
                <a:lnTo>
                  <a:pt x="42508" y="14545"/>
                </a:lnTo>
                <a:lnTo>
                  <a:pt x="24068" y="13806"/>
                </a:lnTo>
                <a:lnTo>
                  <a:pt x="20835" y="0"/>
                </a:lnTo>
                <a:lnTo>
                  <a:pt x="0" y="3575"/>
                </a:lnTo>
                <a:lnTo>
                  <a:pt x="3832" y="17504"/>
                </a:lnTo>
                <a:close/>
              </a:path>
            </a:pathLst>
          </a:custGeom>
          <a:solidFill>
            <a:srgbClr val="ded5c5"/>
          </a:solidFill>
          <a:ln w="6191">
            <a:solidFill>
              <a:srgbClr val="b5a68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63" name="เกษตรพัฒนาบึงพระยาสุเรนทร์"/>
          <p:cNvSpPr/>
          <p:nvPr/>
        </p:nvSpPr>
        <p:spPr>
          <a:xfrm>
            <a:off x="7091280" y="3829680"/>
            <a:ext cx="38520" cy="143640"/>
          </a:xfrm>
          <a:custGeom>
            <a:avLst/>
            <a:gdLst/>
            <a:ahLst/>
            <a:rect l="l" t="t" r="r" b="b"/>
            <a:pathLst>
              <a:path w="38796" h="143973">
                <a:moveTo>
                  <a:pt x="13291" y="126716"/>
                </a:moveTo>
                <a:lnTo>
                  <a:pt x="12094" y="143603"/>
                </a:lnTo>
                <a:lnTo>
                  <a:pt x="15207" y="143973"/>
                </a:lnTo>
                <a:lnTo>
                  <a:pt x="21314" y="118088"/>
                </a:lnTo>
                <a:lnTo>
                  <a:pt x="38796" y="87271"/>
                </a:lnTo>
                <a:lnTo>
                  <a:pt x="37598" y="79013"/>
                </a:lnTo>
                <a:lnTo>
                  <a:pt x="28977" y="56702"/>
                </a:lnTo>
                <a:lnTo>
                  <a:pt x="23230" y="30323"/>
                </a:lnTo>
                <a:lnTo>
                  <a:pt x="15686" y="17997"/>
                </a:lnTo>
                <a:lnTo>
                  <a:pt x="13411" y="8012"/>
                </a:lnTo>
                <a:lnTo>
                  <a:pt x="6107" y="0"/>
                </a:lnTo>
                <a:lnTo>
                  <a:pt x="0" y="11833"/>
                </a:lnTo>
                <a:lnTo>
                  <a:pt x="6945" y="10477"/>
                </a:lnTo>
                <a:lnTo>
                  <a:pt x="15806" y="39198"/>
                </a:lnTo>
                <a:lnTo>
                  <a:pt x="19997" y="38705"/>
                </a:lnTo>
                <a:lnTo>
                  <a:pt x="20476" y="46101"/>
                </a:lnTo>
                <a:lnTo>
                  <a:pt x="17602" y="46101"/>
                </a:lnTo>
                <a:lnTo>
                  <a:pt x="19518" y="56825"/>
                </a:lnTo>
                <a:lnTo>
                  <a:pt x="23469" y="56579"/>
                </a:lnTo>
                <a:lnTo>
                  <a:pt x="24187" y="64714"/>
                </a:lnTo>
                <a:lnTo>
                  <a:pt x="26463" y="64714"/>
                </a:lnTo>
                <a:lnTo>
                  <a:pt x="25984" y="77287"/>
                </a:lnTo>
                <a:lnTo>
                  <a:pt x="29097" y="85422"/>
                </a:lnTo>
                <a:lnTo>
                  <a:pt x="26702" y="86778"/>
                </a:lnTo>
                <a:lnTo>
                  <a:pt x="27420" y="97872"/>
                </a:lnTo>
                <a:lnTo>
                  <a:pt x="22990" y="110692"/>
                </a:lnTo>
                <a:lnTo>
                  <a:pt x="15925" y="119813"/>
                </a:lnTo>
                <a:lnTo>
                  <a:pt x="17602" y="119320"/>
                </a:lnTo>
                <a:lnTo>
                  <a:pt x="16883" y="123265"/>
                </a:lnTo>
                <a:lnTo>
                  <a:pt x="14249" y="123758"/>
                </a:lnTo>
                <a:lnTo>
                  <a:pt x="13291" y="12671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64" name="ซอยทหารอากาศ"/>
          <p:cNvSpPr/>
          <p:nvPr/>
        </p:nvSpPr>
        <p:spPr>
          <a:xfrm>
            <a:off x="6214320" y="3582720"/>
            <a:ext cx="27360" cy="22680"/>
          </a:xfrm>
          <a:custGeom>
            <a:avLst/>
            <a:gdLst/>
            <a:ahLst/>
            <a:rect l="l" t="t" r="r" b="b"/>
            <a:pathLst>
              <a:path w="27660" h="23174">
                <a:moveTo>
                  <a:pt x="20835" y="0"/>
                </a:moveTo>
                <a:lnTo>
                  <a:pt x="0" y="15408"/>
                </a:lnTo>
                <a:lnTo>
                  <a:pt x="6466" y="23174"/>
                </a:lnTo>
                <a:lnTo>
                  <a:pt x="27660" y="7766"/>
                </a:lnTo>
                <a:lnTo>
                  <a:pt x="20835" y="0"/>
                </a:lnTo>
                <a:close/>
              </a:path>
            </a:pathLst>
          </a:custGeom>
          <a:solidFill>
            <a:srgbClr val="ded5c5"/>
          </a:solidFill>
          <a:ln w="6191">
            <a:solidFill>
              <a:srgbClr val="b5a68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65" name="ใจรัก"/>
          <p:cNvSpPr/>
          <p:nvPr/>
        </p:nvSpPr>
        <p:spPr>
          <a:xfrm>
            <a:off x="6220800" y="3590640"/>
            <a:ext cx="25200" cy="31680"/>
          </a:xfrm>
          <a:custGeom>
            <a:avLst/>
            <a:gdLst/>
            <a:ahLst/>
            <a:rect l="l" t="t" r="r" b="b"/>
            <a:pathLst>
              <a:path w="25385" h="32049">
                <a:moveTo>
                  <a:pt x="21194" y="0"/>
                </a:moveTo>
                <a:lnTo>
                  <a:pt x="0" y="15408"/>
                </a:lnTo>
                <a:lnTo>
                  <a:pt x="13411" y="32049"/>
                </a:lnTo>
                <a:lnTo>
                  <a:pt x="24547" y="27118"/>
                </a:lnTo>
                <a:lnTo>
                  <a:pt x="22751" y="14299"/>
                </a:lnTo>
                <a:lnTo>
                  <a:pt x="25385" y="13066"/>
                </a:lnTo>
                <a:lnTo>
                  <a:pt x="21074" y="6656"/>
                </a:lnTo>
                <a:lnTo>
                  <a:pt x="24547" y="3821"/>
                </a:lnTo>
                <a:lnTo>
                  <a:pt x="21194" y="0"/>
                </a:lnTo>
                <a:close/>
              </a:path>
            </a:pathLst>
          </a:custGeom>
          <a:solidFill>
            <a:srgbClr val="ded5c5"/>
          </a:solidFill>
          <a:ln w="6191">
            <a:solidFill>
              <a:srgbClr val="b5a68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66" name="เจริญสุขพัฒนา"/>
          <p:cNvSpPr/>
          <p:nvPr/>
        </p:nvSpPr>
        <p:spPr>
          <a:xfrm>
            <a:off x="8254080" y="4027320"/>
            <a:ext cx="82080" cy="126000"/>
          </a:xfrm>
          <a:custGeom>
            <a:avLst/>
            <a:gdLst/>
            <a:ahLst/>
            <a:rect l="l" t="t" r="r" b="b"/>
            <a:pathLst>
              <a:path w="82381" h="126470">
                <a:moveTo>
                  <a:pt x="0" y="7642"/>
                </a:moveTo>
                <a:lnTo>
                  <a:pt x="3472" y="18736"/>
                </a:lnTo>
                <a:lnTo>
                  <a:pt x="28019" y="73589"/>
                </a:lnTo>
                <a:lnTo>
                  <a:pt x="47776" y="126470"/>
                </a:lnTo>
                <a:lnTo>
                  <a:pt x="82381" y="109213"/>
                </a:lnTo>
                <a:lnTo>
                  <a:pt x="62983" y="55099"/>
                </a:lnTo>
                <a:lnTo>
                  <a:pt x="57475" y="51155"/>
                </a:lnTo>
                <a:lnTo>
                  <a:pt x="39514" y="0"/>
                </a:lnTo>
                <a:lnTo>
                  <a:pt x="0" y="764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67" name="หมู่บ้านอินเตอร์"/>
          <p:cNvSpPr/>
          <p:nvPr/>
        </p:nvSpPr>
        <p:spPr>
          <a:xfrm>
            <a:off x="7928640" y="4356360"/>
            <a:ext cx="45000" cy="73080"/>
          </a:xfrm>
          <a:custGeom>
            <a:avLst/>
            <a:gdLst/>
            <a:ahLst/>
            <a:rect l="l" t="t" r="r" b="b"/>
            <a:pathLst>
              <a:path w="45381" h="73466">
                <a:moveTo>
                  <a:pt x="6346" y="0"/>
                </a:moveTo>
                <a:lnTo>
                  <a:pt x="0" y="4191"/>
                </a:lnTo>
                <a:lnTo>
                  <a:pt x="39394" y="73466"/>
                </a:lnTo>
                <a:lnTo>
                  <a:pt x="45381" y="70014"/>
                </a:lnTo>
                <a:lnTo>
                  <a:pt x="6346" y="0"/>
                </a:lnTo>
                <a:close/>
              </a:path>
            </a:pathLst>
          </a:custGeom>
          <a:solidFill>
            <a:srgbClr val="ded5c5"/>
          </a:solidFill>
          <a:ln w="6191">
            <a:solidFill>
              <a:srgbClr val="b5a68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68" name="ร่วมใจรักพัฒนา"/>
          <p:cNvSpPr/>
          <p:nvPr/>
        </p:nvSpPr>
        <p:spPr>
          <a:xfrm>
            <a:off x="8266320" y="4220640"/>
            <a:ext cx="39600" cy="53640"/>
          </a:xfrm>
          <a:custGeom>
            <a:avLst/>
            <a:gdLst/>
            <a:ahLst/>
            <a:rect l="l" t="t" r="r" b="b"/>
            <a:pathLst>
              <a:path w="40113" h="53990">
                <a:moveTo>
                  <a:pt x="24068" y="53990"/>
                </a:moveTo>
                <a:lnTo>
                  <a:pt x="40113" y="45731"/>
                </a:lnTo>
                <a:lnTo>
                  <a:pt x="27181" y="21078"/>
                </a:lnTo>
                <a:lnTo>
                  <a:pt x="25026" y="21571"/>
                </a:lnTo>
                <a:lnTo>
                  <a:pt x="12812" y="0"/>
                </a:lnTo>
                <a:lnTo>
                  <a:pt x="0" y="7396"/>
                </a:lnTo>
                <a:lnTo>
                  <a:pt x="24068" y="53990"/>
                </a:lnTo>
                <a:close/>
              </a:path>
            </a:pathLst>
          </a:custGeom>
          <a:solidFill>
            <a:srgbClr val="ded5c5"/>
          </a:solidFill>
          <a:ln w="6191">
            <a:solidFill>
              <a:srgbClr val="b5a68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69" name="ชุมชนร่วมพลังพัฒนา"/>
          <p:cNvSpPr/>
          <p:nvPr/>
        </p:nvSpPr>
        <p:spPr>
          <a:xfrm>
            <a:off x="7989120" y="4400640"/>
            <a:ext cx="38880" cy="35640"/>
          </a:xfrm>
          <a:custGeom>
            <a:avLst/>
            <a:gdLst/>
            <a:ahLst/>
            <a:rect l="l" t="t" r="r" b="b"/>
            <a:pathLst>
              <a:path w="39275" h="36117">
                <a:moveTo>
                  <a:pt x="26223" y="0"/>
                </a:moveTo>
                <a:lnTo>
                  <a:pt x="0" y="17380"/>
                </a:lnTo>
                <a:lnTo>
                  <a:pt x="12573" y="36117"/>
                </a:lnTo>
                <a:lnTo>
                  <a:pt x="39275" y="20955"/>
                </a:lnTo>
                <a:lnTo>
                  <a:pt x="26223" y="0"/>
                </a:lnTo>
                <a:close/>
              </a:path>
            </a:pathLst>
          </a:custGeom>
          <a:solidFill>
            <a:srgbClr val="ded5c5"/>
          </a:solidFill>
          <a:ln w="6191">
            <a:solidFill>
              <a:srgbClr val="b5a68d"/>
            </a:solidFill>
            <a:round/>
          </a:ln>
        </p:spPr>
        <p:style>
          <a:lnRef idx="0"/>
          <a:fillRef idx="0"/>
          <a:effectRef idx="0"/>
          <a:fontRef idx="minor"/>
        </p:style>
        <p:txBody>
          <a:bodyPr lIns="90000" rIns="90000" tIns="-9360" bIns="-9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70" name="ชุมชนสามัคคีทำ"/>
          <p:cNvSpPr/>
          <p:nvPr/>
        </p:nvSpPr>
        <p:spPr>
          <a:xfrm>
            <a:off x="8157240" y="4233240"/>
            <a:ext cx="99720" cy="87840"/>
          </a:xfrm>
          <a:custGeom>
            <a:avLst/>
            <a:gdLst/>
            <a:ahLst/>
            <a:rect l="l" t="t" r="r" b="b"/>
            <a:pathLst>
              <a:path w="100222" h="88134">
                <a:moveTo>
                  <a:pt x="21553" y="0"/>
                </a:moveTo>
                <a:lnTo>
                  <a:pt x="0" y="10354"/>
                </a:lnTo>
                <a:lnTo>
                  <a:pt x="47537" y="88134"/>
                </a:lnTo>
                <a:lnTo>
                  <a:pt x="100222" y="58797"/>
                </a:lnTo>
                <a:lnTo>
                  <a:pt x="82261" y="28228"/>
                </a:lnTo>
                <a:lnTo>
                  <a:pt x="45741" y="42650"/>
                </a:lnTo>
                <a:lnTo>
                  <a:pt x="21553" y="0"/>
                </a:lnTo>
                <a:close/>
              </a:path>
            </a:pathLst>
          </a:custGeom>
          <a:solidFill>
            <a:srgbClr val="ded5c5"/>
          </a:solidFill>
          <a:ln w="6191">
            <a:solidFill>
              <a:srgbClr val="b5a68d"/>
            </a:solidFill>
            <a:round/>
          </a:ln>
        </p:spPr>
        <p:style>
          <a:lnRef idx="0"/>
          <a:fillRef idx="0"/>
          <a:effectRef idx="0"/>
          <a:fontRef idx="minor"/>
        </p:style>
        <p:txBody>
          <a:bodyPr lIns="90000" rIns="90000" tIns="42840" bIns="42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71" name="ชุมชนหมู่ 8 ร่วมใจพัฒนา"/>
          <p:cNvSpPr/>
          <p:nvPr/>
        </p:nvSpPr>
        <p:spPr>
          <a:xfrm>
            <a:off x="8016120" y="4370040"/>
            <a:ext cx="40320" cy="50760"/>
          </a:xfrm>
          <a:custGeom>
            <a:avLst/>
            <a:gdLst/>
            <a:ahLst/>
            <a:rect l="l" t="t" r="r" b="b"/>
            <a:pathLst>
              <a:path w="40712" h="51155">
                <a:moveTo>
                  <a:pt x="23110" y="45731"/>
                </a:moveTo>
                <a:lnTo>
                  <a:pt x="40712" y="35747"/>
                </a:lnTo>
                <a:lnTo>
                  <a:pt x="19877" y="0"/>
                </a:lnTo>
                <a:lnTo>
                  <a:pt x="718" y="8012"/>
                </a:lnTo>
                <a:lnTo>
                  <a:pt x="9819" y="23913"/>
                </a:lnTo>
                <a:lnTo>
                  <a:pt x="0" y="30077"/>
                </a:lnTo>
                <a:lnTo>
                  <a:pt x="13171" y="51155"/>
                </a:lnTo>
                <a:lnTo>
                  <a:pt x="23110" y="45731"/>
                </a:lnTo>
                <a:close/>
              </a:path>
            </a:pathLst>
          </a:custGeom>
          <a:solidFill>
            <a:srgbClr val="ded5c5"/>
          </a:solidFill>
          <a:ln w="6191">
            <a:solidFill>
              <a:srgbClr val="b5a68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72" name="ชุมชนนูรุดดีน"/>
          <p:cNvSpPr/>
          <p:nvPr/>
        </p:nvSpPr>
        <p:spPr>
          <a:xfrm>
            <a:off x="8065800" y="4342320"/>
            <a:ext cx="54360" cy="49320"/>
          </a:xfrm>
          <a:custGeom>
            <a:avLst/>
            <a:gdLst/>
            <a:ahLst/>
            <a:rect l="l" t="t" r="r" b="b"/>
            <a:pathLst>
              <a:path w="54601" h="49799">
                <a:moveTo>
                  <a:pt x="0" y="24406"/>
                </a:moveTo>
                <a:lnTo>
                  <a:pt x="15207" y="49799"/>
                </a:lnTo>
                <a:lnTo>
                  <a:pt x="54601" y="27611"/>
                </a:lnTo>
                <a:lnTo>
                  <a:pt x="38197" y="0"/>
                </a:lnTo>
                <a:lnTo>
                  <a:pt x="0" y="24406"/>
                </a:lnTo>
                <a:close/>
              </a:path>
            </a:pathLst>
          </a:custGeom>
          <a:solidFill>
            <a:srgbClr val="ded5c5"/>
          </a:solidFill>
          <a:ln w="6191">
            <a:solidFill>
              <a:srgbClr val="b5a68d"/>
            </a:solidFill>
            <a:round/>
          </a:ln>
        </p:spPr>
        <p:style>
          <a:lnRef idx="0"/>
          <a:fillRef idx="0"/>
          <a:effectRef idx="0"/>
          <a:fontRef idx="minor"/>
        </p:style>
        <p:txBody>
          <a:bodyPr lIns="90000" rIns="90000" tIns="4320" bIns="4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73" name="วาสิฎฐี"/>
          <p:cNvSpPr/>
          <p:nvPr/>
        </p:nvSpPr>
        <p:spPr>
          <a:xfrm>
            <a:off x="8359920" y="4131000"/>
            <a:ext cx="60480" cy="72720"/>
          </a:xfrm>
          <a:custGeom>
            <a:avLst/>
            <a:gdLst/>
            <a:ahLst/>
            <a:rect l="l" t="t" r="r" b="b"/>
            <a:pathLst>
              <a:path w="60948" h="73096">
                <a:moveTo>
                  <a:pt x="0" y="10354"/>
                </a:moveTo>
                <a:lnTo>
                  <a:pt x="34246" y="73096"/>
                </a:lnTo>
                <a:lnTo>
                  <a:pt x="60948" y="57072"/>
                </a:lnTo>
                <a:lnTo>
                  <a:pt x="26343" y="0"/>
                </a:lnTo>
                <a:lnTo>
                  <a:pt x="0" y="10354"/>
                </a:lnTo>
                <a:close/>
              </a:path>
            </a:pathLst>
          </a:custGeom>
          <a:solidFill>
            <a:srgbClr val="ded5c5"/>
          </a:solidFill>
          <a:ln w="6191">
            <a:solidFill>
              <a:srgbClr val="b5a68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74" name="แฟลตตำรวจรถไฟบางซื่อ"/>
          <p:cNvSpPr/>
          <p:nvPr/>
        </p:nvSpPr>
        <p:spPr>
          <a:xfrm>
            <a:off x="5359320" y="4663440"/>
            <a:ext cx="14040" cy="14760"/>
          </a:xfrm>
          <a:custGeom>
            <a:avLst/>
            <a:gdLst/>
            <a:ahLst/>
            <a:rect l="l" t="t" r="r" b="b"/>
            <a:pathLst>
              <a:path w="14249" h="15285">
                <a:moveTo>
                  <a:pt x="8621" y="15285"/>
                </a:moveTo>
                <a:lnTo>
                  <a:pt x="14249" y="3451"/>
                </a:lnTo>
                <a:lnTo>
                  <a:pt x="5867" y="0"/>
                </a:lnTo>
                <a:lnTo>
                  <a:pt x="0" y="11957"/>
                </a:lnTo>
                <a:lnTo>
                  <a:pt x="8621" y="15285"/>
                </a:lnTo>
                <a:close/>
              </a:path>
            </a:pathLst>
          </a:custGeom>
          <a:solidFill>
            <a:srgbClr val="ded5c5"/>
          </a:solidFill>
          <a:ln w="6191">
            <a:solidFill>
              <a:srgbClr val="b5a68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75" name="แม่บ้านร่วมใจพัฒนา"/>
          <p:cNvSpPr/>
          <p:nvPr/>
        </p:nvSpPr>
        <p:spPr>
          <a:xfrm>
            <a:off x="6209280" y="3568320"/>
            <a:ext cx="25560" cy="29520"/>
          </a:xfrm>
          <a:custGeom>
            <a:avLst/>
            <a:gdLst/>
            <a:ahLst/>
            <a:rect l="l" t="t" r="r" b="b"/>
            <a:pathLst>
              <a:path w="25984" h="29953">
                <a:moveTo>
                  <a:pt x="13650" y="0"/>
                </a:moveTo>
                <a:lnTo>
                  <a:pt x="0" y="23174"/>
                </a:lnTo>
                <a:lnTo>
                  <a:pt x="4790" y="29953"/>
                </a:lnTo>
                <a:lnTo>
                  <a:pt x="25984" y="14668"/>
                </a:lnTo>
                <a:lnTo>
                  <a:pt x="13650" y="0"/>
                </a:lnTo>
                <a:close/>
              </a:path>
            </a:pathLst>
          </a:custGeom>
          <a:solidFill>
            <a:srgbClr val="ded5c5"/>
          </a:solidFill>
          <a:ln w="6191">
            <a:solidFill>
              <a:srgbClr val="b5a68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76" name="ทองอยู่ร่วมใจ"/>
          <p:cNvSpPr/>
          <p:nvPr/>
        </p:nvSpPr>
        <p:spPr>
          <a:xfrm>
            <a:off x="6261840" y="3609720"/>
            <a:ext cx="7200" cy="14400"/>
          </a:xfrm>
          <a:custGeom>
            <a:avLst/>
            <a:gdLst/>
            <a:ahLst/>
            <a:rect l="l" t="t" r="r" b="b"/>
            <a:pathLst>
              <a:path w="7663" h="14792">
                <a:moveTo>
                  <a:pt x="3472" y="14792"/>
                </a:moveTo>
                <a:lnTo>
                  <a:pt x="7663" y="13806"/>
                </a:lnTo>
                <a:lnTo>
                  <a:pt x="4311" y="0"/>
                </a:lnTo>
                <a:lnTo>
                  <a:pt x="0" y="863"/>
                </a:lnTo>
                <a:lnTo>
                  <a:pt x="3472" y="14792"/>
                </a:lnTo>
                <a:close/>
              </a:path>
            </a:pathLst>
          </a:custGeom>
          <a:solidFill>
            <a:srgbClr val="ded5c5"/>
          </a:solidFill>
          <a:ln w="6191">
            <a:solidFill>
              <a:srgbClr val="b5a68d"/>
            </a:solidFill>
            <a:round/>
          </a:ln>
        </p:spPr>
        <p:style>
          <a:lnRef idx="0"/>
          <a:fillRef idx="0"/>
          <a:effectRef idx="0"/>
          <a:fontRef idx="minor"/>
        </p:style>
        <p:txBody>
          <a:bodyPr lIns="90000" rIns="90000" tIns="-30600" bIns="-30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77" name="เมตตาพหลโยธิน 50"/>
          <p:cNvSpPr/>
          <p:nvPr/>
        </p:nvSpPr>
        <p:spPr>
          <a:xfrm>
            <a:off x="6216120" y="3656520"/>
            <a:ext cx="51120" cy="31680"/>
          </a:xfrm>
          <a:custGeom>
            <a:avLst/>
            <a:gdLst/>
            <a:ahLst/>
            <a:rect l="l" t="t" r="r" b="b"/>
            <a:pathLst>
              <a:path w="51608" h="31926">
                <a:moveTo>
                  <a:pt x="43466" y="31926"/>
                </a:moveTo>
                <a:lnTo>
                  <a:pt x="51608" y="6040"/>
                </a:lnTo>
                <a:lnTo>
                  <a:pt x="51009" y="2095"/>
                </a:lnTo>
                <a:lnTo>
                  <a:pt x="20116" y="2219"/>
                </a:lnTo>
                <a:lnTo>
                  <a:pt x="6586" y="0"/>
                </a:lnTo>
                <a:lnTo>
                  <a:pt x="0" y="12450"/>
                </a:lnTo>
                <a:lnTo>
                  <a:pt x="7184" y="17750"/>
                </a:lnTo>
                <a:lnTo>
                  <a:pt x="43466" y="31926"/>
                </a:lnTo>
                <a:close/>
              </a:path>
            </a:pathLst>
          </a:custGeom>
          <a:solidFill>
            <a:srgbClr val="ded5c5"/>
          </a:solidFill>
          <a:ln w="6191">
            <a:solidFill>
              <a:srgbClr val="b5a68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78" name="สะพานดวงมณีพัฒนา"/>
          <p:cNvSpPr/>
          <p:nvPr/>
        </p:nvSpPr>
        <p:spPr>
          <a:xfrm>
            <a:off x="6438600" y="3367800"/>
            <a:ext cx="45000" cy="40680"/>
          </a:xfrm>
          <a:custGeom>
            <a:avLst/>
            <a:gdLst/>
            <a:ahLst/>
            <a:rect l="l" t="t" r="r" b="b"/>
            <a:pathLst>
              <a:path w="45262" h="41047">
                <a:moveTo>
                  <a:pt x="19278" y="1972"/>
                </a:moveTo>
                <a:lnTo>
                  <a:pt x="1078" y="33405"/>
                </a:lnTo>
                <a:lnTo>
                  <a:pt x="0" y="39445"/>
                </a:lnTo>
                <a:lnTo>
                  <a:pt x="4311" y="41047"/>
                </a:lnTo>
                <a:lnTo>
                  <a:pt x="22751" y="40184"/>
                </a:lnTo>
                <a:lnTo>
                  <a:pt x="22990" y="36486"/>
                </a:lnTo>
                <a:lnTo>
                  <a:pt x="34964" y="36117"/>
                </a:lnTo>
                <a:lnTo>
                  <a:pt x="34844" y="29214"/>
                </a:lnTo>
                <a:lnTo>
                  <a:pt x="45262" y="28721"/>
                </a:lnTo>
                <a:lnTo>
                  <a:pt x="45262" y="22064"/>
                </a:lnTo>
                <a:lnTo>
                  <a:pt x="41669" y="21941"/>
                </a:lnTo>
                <a:lnTo>
                  <a:pt x="41191" y="3575"/>
                </a:lnTo>
                <a:lnTo>
                  <a:pt x="27061" y="2589"/>
                </a:lnTo>
                <a:lnTo>
                  <a:pt x="20954" y="0"/>
                </a:lnTo>
                <a:lnTo>
                  <a:pt x="19278" y="1972"/>
                </a:lnTo>
                <a:close/>
              </a:path>
            </a:pathLst>
          </a:custGeom>
          <a:solidFill>
            <a:srgbClr val="ded5c5"/>
          </a:solidFill>
          <a:ln w="6191">
            <a:solidFill>
              <a:srgbClr val="b5a68d"/>
            </a:solidFill>
            <a:round/>
          </a:ln>
        </p:spPr>
        <p:style>
          <a:lnRef idx="0"/>
          <a:fillRef idx="0"/>
          <a:effectRef idx="0"/>
          <a:fontRef idx="minor"/>
        </p:style>
        <p:txBody>
          <a:bodyPr lIns="90000" rIns="90000" tIns="-4320" bIns="-4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79" name="เธียรสวนพัฒนา 33"/>
          <p:cNvSpPr/>
          <p:nvPr/>
        </p:nvSpPr>
        <p:spPr>
          <a:xfrm>
            <a:off x="6296760" y="3519360"/>
            <a:ext cx="42480" cy="33120"/>
          </a:xfrm>
          <a:custGeom>
            <a:avLst/>
            <a:gdLst/>
            <a:ahLst/>
            <a:rect l="l" t="t" r="r" b="b"/>
            <a:pathLst>
              <a:path w="42747" h="33651">
                <a:moveTo>
                  <a:pt x="239" y="20339"/>
                </a:moveTo>
                <a:lnTo>
                  <a:pt x="2275" y="30077"/>
                </a:lnTo>
                <a:lnTo>
                  <a:pt x="5987" y="33651"/>
                </a:lnTo>
                <a:lnTo>
                  <a:pt x="8502" y="32295"/>
                </a:lnTo>
                <a:lnTo>
                  <a:pt x="8382" y="30693"/>
                </a:lnTo>
                <a:lnTo>
                  <a:pt x="14010" y="29090"/>
                </a:lnTo>
                <a:lnTo>
                  <a:pt x="14010" y="26255"/>
                </a:lnTo>
                <a:lnTo>
                  <a:pt x="42747" y="20585"/>
                </a:lnTo>
                <a:lnTo>
                  <a:pt x="41550" y="8998"/>
                </a:lnTo>
                <a:lnTo>
                  <a:pt x="39873" y="9122"/>
                </a:lnTo>
                <a:lnTo>
                  <a:pt x="38676" y="0"/>
                </a:lnTo>
                <a:lnTo>
                  <a:pt x="14967" y="4807"/>
                </a:lnTo>
                <a:lnTo>
                  <a:pt x="12573" y="2342"/>
                </a:lnTo>
                <a:lnTo>
                  <a:pt x="0" y="5177"/>
                </a:lnTo>
                <a:lnTo>
                  <a:pt x="1676" y="19846"/>
                </a:lnTo>
                <a:lnTo>
                  <a:pt x="239" y="20339"/>
                </a:lnTo>
                <a:close/>
              </a:path>
            </a:pathLst>
          </a:custGeom>
          <a:solidFill>
            <a:srgbClr val="ded5c5"/>
          </a:solidFill>
          <a:ln w="6191">
            <a:solidFill>
              <a:srgbClr val="b5a68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80" name="หมู่บ้านเทพนครนิเวศน์"/>
          <p:cNvSpPr/>
          <p:nvPr/>
        </p:nvSpPr>
        <p:spPr>
          <a:xfrm>
            <a:off x="6355800" y="3709800"/>
            <a:ext cx="19440" cy="29880"/>
          </a:xfrm>
          <a:custGeom>
            <a:avLst/>
            <a:gdLst/>
            <a:ahLst/>
            <a:rect l="l" t="t" r="r" b="b"/>
            <a:pathLst>
              <a:path w="19757" h="30200">
                <a:moveTo>
                  <a:pt x="6466" y="26748"/>
                </a:moveTo>
                <a:lnTo>
                  <a:pt x="13770" y="30200"/>
                </a:lnTo>
                <a:lnTo>
                  <a:pt x="14489" y="29337"/>
                </a:lnTo>
                <a:lnTo>
                  <a:pt x="19757" y="3082"/>
                </a:lnTo>
                <a:lnTo>
                  <a:pt x="5029" y="0"/>
                </a:lnTo>
                <a:lnTo>
                  <a:pt x="0" y="23420"/>
                </a:lnTo>
                <a:lnTo>
                  <a:pt x="6466" y="26748"/>
                </a:lnTo>
                <a:close/>
              </a:path>
            </a:pathLst>
          </a:custGeom>
          <a:solidFill>
            <a:srgbClr val="ded5c5"/>
          </a:solidFill>
          <a:ln w="6191">
            <a:solidFill>
              <a:srgbClr val="b5a68d"/>
            </a:solidFill>
            <a:round/>
          </a:ln>
        </p:spPr>
        <p:style>
          <a:lnRef idx="0"/>
          <a:fillRef idx="0"/>
          <a:effectRef idx="0"/>
          <a:fontRef idx="minor"/>
        </p:style>
        <p:txBody>
          <a:bodyPr lIns="90000" rIns="90000" tIns="-15120" bIns="-15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81" name="ราศรีธรรม"/>
          <p:cNvSpPr/>
          <p:nvPr/>
        </p:nvSpPr>
        <p:spPr>
          <a:xfrm>
            <a:off x="4218120" y="5655960"/>
            <a:ext cx="13680" cy="11520"/>
          </a:xfrm>
          <a:custGeom>
            <a:avLst/>
            <a:gdLst/>
            <a:ahLst/>
            <a:rect l="l" t="t" r="r" b="b"/>
            <a:pathLst>
              <a:path w="13890" h="11710">
                <a:moveTo>
                  <a:pt x="0" y="3328"/>
                </a:moveTo>
                <a:lnTo>
                  <a:pt x="2993" y="11710"/>
                </a:lnTo>
                <a:lnTo>
                  <a:pt x="13890" y="8505"/>
                </a:lnTo>
                <a:lnTo>
                  <a:pt x="10537" y="0"/>
                </a:lnTo>
                <a:lnTo>
                  <a:pt x="0" y="3328"/>
                </a:lnTo>
                <a:close/>
              </a:path>
            </a:pathLst>
          </a:custGeom>
          <a:solidFill>
            <a:srgbClr val="ded5c5"/>
          </a:solidFill>
          <a:ln w="6191">
            <a:solidFill>
              <a:srgbClr val="b5a68d"/>
            </a:solidFill>
            <a:round/>
          </a:ln>
        </p:spPr>
        <p:style>
          <a:lnRef idx="0"/>
          <a:fillRef idx="0"/>
          <a:effectRef idx="0"/>
          <a:fontRef idx="minor"/>
        </p:style>
        <p:txBody>
          <a:bodyPr lIns="90000" rIns="90000" tIns="-33480" bIns="-33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82" name="บ่อฝรั่งริมน้ำ"/>
          <p:cNvSpPr/>
          <p:nvPr/>
        </p:nvSpPr>
        <p:spPr>
          <a:xfrm>
            <a:off x="5384880" y="4492080"/>
            <a:ext cx="59040" cy="26280"/>
          </a:xfrm>
          <a:custGeom>
            <a:avLst/>
            <a:gdLst/>
            <a:ahLst/>
            <a:rect l="l" t="t" r="r" b="b"/>
            <a:pathLst>
              <a:path w="59511" h="26625">
                <a:moveTo>
                  <a:pt x="0" y="0"/>
                </a:moveTo>
                <a:lnTo>
                  <a:pt x="2275" y="12696"/>
                </a:lnTo>
                <a:lnTo>
                  <a:pt x="26582" y="15408"/>
                </a:lnTo>
                <a:lnTo>
                  <a:pt x="53763" y="26625"/>
                </a:lnTo>
                <a:lnTo>
                  <a:pt x="59511" y="18366"/>
                </a:lnTo>
                <a:lnTo>
                  <a:pt x="59032" y="8135"/>
                </a:lnTo>
                <a:lnTo>
                  <a:pt x="53404" y="6903"/>
                </a:lnTo>
                <a:lnTo>
                  <a:pt x="32450" y="7642"/>
                </a:lnTo>
                <a:lnTo>
                  <a:pt x="25864" y="5424"/>
                </a:lnTo>
                <a:lnTo>
                  <a:pt x="16165" y="5547"/>
                </a:lnTo>
                <a:lnTo>
                  <a:pt x="13531" y="370"/>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83" name="สร.สัมพันธ์"/>
          <p:cNvSpPr/>
          <p:nvPr/>
        </p:nvSpPr>
        <p:spPr>
          <a:xfrm>
            <a:off x="5956560" y="4075200"/>
            <a:ext cx="20880" cy="23400"/>
          </a:xfrm>
          <a:custGeom>
            <a:avLst/>
            <a:gdLst/>
            <a:ahLst/>
            <a:rect l="l" t="t" r="r" b="b"/>
            <a:pathLst>
              <a:path w="21314" h="23790">
                <a:moveTo>
                  <a:pt x="12812" y="8629"/>
                </a:moveTo>
                <a:lnTo>
                  <a:pt x="0" y="0"/>
                </a:lnTo>
                <a:lnTo>
                  <a:pt x="120" y="18366"/>
                </a:lnTo>
                <a:lnTo>
                  <a:pt x="11854" y="20708"/>
                </a:lnTo>
                <a:lnTo>
                  <a:pt x="16045" y="23790"/>
                </a:lnTo>
                <a:lnTo>
                  <a:pt x="21314" y="13189"/>
                </a:lnTo>
                <a:lnTo>
                  <a:pt x="12812" y="8629"/>
                </a:lnTo>
                <a:close/>
              </a:path>
            </a:pathLst>
          </a:custGeom>
          <a:solidFill>
            <a:srgbClr val="ded5c5"/>
          </a:solidFill>
          <a:ln w="6191">
            <a:solidFill>
              <a:srgbClr val="b5a68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84" name="ประชาทร"/>
          <p:cNvSpPr/>
          <p:nvPr/>
        </p:nvSpPr>
        <p:spPr>
          <a:xfrm>
            <a:off x="7589520" y="5646600"/>
            <a:ext cx="66600" cy="59040"/>
          </a:xfrm>
          <a:custGeom>
            <a:avLst/>
            <a:gdLst/>
            <a:ahLst/>
            <a:rect l="l" t="t" r="r" b="b"/>
            <a:pathLst>
              <a:path w="66935" h="59290">
                <a:moveTo>
                  <a:pt x="66575" y="8012"/>
                </a:moveTo>
                <a:lnTo>
                  <a:pt x="0" y="0"/>
                </a:lnTo>
                <a:lnTo>
                  <a:pt x="718" y="59290"/>
                </a:lnTo>
                <a:lnTo>
                  <a:pt x="66935" y="58551"/>
                </a:lnTo>
                <a:lnTo>
                  <a:pt x="66575" y="8012"/>
                </a:lnTo>
                <a:close/>
              </a:path>
            </a:pathLst>
          </a:custGeom>
          <a:solidFill>
            <a:srgbClr val="ded5c5"/>
          </a:solidFill>
          <a:ln w="6191">
            <a:solidFill>
              <a:srgbClr val="b5a68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85" name="ชุมชนสร้างสรรค์พัฒนา 7-12 (บ้านมั่นคง)"/>
          <p:cNvSpPr/>
          <p:nvPr/>
        </p:nvSpPr>
        <p:spPr>
          <a:xfrm>
            <a:off x="5906520" y="5932080"/>
            <a:ext cx="18000" cy="9360"/>
          </a:xfrm>
          <a:custGeom>
            <a:avLst/>
            <a:gdLst/>
            <a:ahLst/>
            <a:rect l="l" t="t" r="r" b="b"/>
            <a:pathLst>
              <a:path w="18200" h="9861">
                <a:moveTo>
                  <a:pt x="0" y="3575"/>
                </a:moveTo>
                <a:lnTo>
                  <a:pt x="479" y="9861"/>
                </a:lnTo>
                <a:lnTo>
                  <a:pt x="18200" y="6287"/>
                </a:lnTo>
                <a:lnTo>
                  <a:pt x="16404" y="0"/>
                </a:lnTo>
                <a:lnTo>
                  <a:pt x="0" y="3575"/>
                </a:lnTo>
                <a:close/>
              </a:path>
            </a:pathLst>
          </a:custGeom>
          <a:solidFill>
            <a:srgbClr val="ded5c5"/>
          </a:solidFill>
          <a:ln w="6191">
            <a:solidFill>
              <a:srgbClr val="b5a68d"/>
            </a:solidFill>
            <a:round/>
          </a:ln>
        </p:spPr>
        <p:style>
          <a:lnRef idx="0"/>
          <a:fillRef idx="0"/>
          <a:effectRef idx="0"/>
          <a:fontRef idx="minor"/>
        </p:style>
        <p:txBody>
          <a:bodyPr lIns="90000" rIns="90000" tIns="-35640" bIns="-35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86" name="ตาหวานพัฒนา"/>
          <p:cNvSpPr/>
          <p:nvPr/>
        </p:nvSpPr>
        <p:spPr>
          <a:xfrm>
            <a:off x="7966080" y="4378320"/>
            <a:ext cx="24480" cy="38880"/>
          </a:xfrm>
          <a:custGeom>
            <a:avLst/>
            <a:gdLst/>
            <a:ahLst/>
            <a:rect l="l" t="t" r="r" b="b"/>
            <a:pathLst>
              <a:path w="24666" h="39075">
                <a:moveTo>
                  <a:pt x="24666" y="36979"/>
                </a:moveTo>
                <a:lnTo>
                  <a:pt x="4191" y="0"/>
                </a:lnTo>
                <a:lnTo>
                  <a:pt x="0" y="1972"/>
                </a:lnTo>
                <a:lnTo>
                  <a:pt x="21433" y="39075"/>
                </a:lnTo>
                <a:lnTo>
                  <a:pt x="24666" y="36979"/>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87" name="ศรีบูรพาบ้านแบนชะโด"/>
          <p:cNvSpPr/>
          <p:nvPr/>
        </p:nvSpPr>
        <p:spPr>
          <a:xfrm>
            <a:off x="8286840" y="3787200"/>
            <a:ext cx="96480" cy="114480"/>
          </a:xfrm>
          <a:custGeom>
            <a:avLst/>
            <a:gdLst/>
            <a:ahLst/>
            <a:rect l="l" t="t" r="r" b="b"/>
            <a:pathLst>
              <a:path w="96989" h="114759">
                <a:moveTo>
                  <a:pt x="46459" y="4807"/>
                </a:moveTo>
                <a:lnTo>
                  <a:pt x="19757" y="17380"/>
                </a:lnTo>
                <a:lnTo>
                  <a:pt x="599" y="34514"/>
                </a:lnTo>
                <a:lnTo>
                  <a:pt x="0" y="40801"/>
                </a:lnTo>
                <a:lnTo>
                  <a:pt x="36161" y="114759"/>
                </a:lnTo>
                <a:lnTo>
                  <a:pt x="96989" y="100214"/>
                </a:lnTo>
                <a:lnTo>
                  <a:pt x="69689" y="27242"/>
                </a:lnTo>
                <a:lnTo>
                  <a:pt x="69689" y="23297"/>
                </a:lnTo>
                <a:lnTo>
                  <a:pt x="67893" y="22188"/>
                </a:lnTo>
                <a:lnTo>
                  <a:pt x="63342" y="10231"/>
                </a:lnTo>
                <a:lnTo>
                  <a:pt x="65258" y="9738"/>
                </a:lnTo>
                <a:lnTo>
                  <a:pt x="64779" y="7889"/>
                </a:lnTo>
                <a:lnTo>
                  <a:pt x="62504" y="8012"/>
                </a:lnTo>
                <a:lnTo>
                  <a:pt x="59511" y="0"/>
                </a:lnTo>
                <a:lnTo>
                  <a:pt x="46459" y="480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88" name="สุขใจสามัคคี"/>
          <p:cNvSpPr/>
          <p:nvPr/>
        </p:nvSpPr>
        <p:spPr>
          <a:xfrm>
            <a:off x="8137800" y="3917880"/>
            <a:ext cx="28800" cy="65880"/>
          </a:xfrm>
          <a:custGeom>
            <a:avLst/>
            <a:gdLst/>
            <a:ahLst/>
            <a:rect l="l" t="t" r="r" b="b"/>
            <a:pathLst>
              <a:path w="29217" h="66070">
                <a:moveTo>
                  <a:pt x="599" y="4684"/>
                </a:moveTo>
                <a:lnTo>
                  <a:pt x="11136" y="66070"/>
                </a:lnTo>
                <a:lnTo>
                  <a:pt x="29217" y="60276"/>
                </a:lnTo>
                <a:lnTo>
                  <a:pt x="15925" y="0"/>
                </a:lnTo>
                <a:lnTo>
                  <a:pt x="0" y="1233"/>
                </a:lnTo>
                <a:lnTo>
                  <a:pt x="599" y="4684"/>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89" name="สุขใจสามัคคี"/>
          <p:cNvSpPr/>
          <p:nvPr/>
        </p:nvSpPr>
        <p:spPr>
          <a:xfrm>
            <a:off x="8094600" y="3902760"/>
            <a:ext cx="24480" cy="41040"/>
          </a:xfrm>
          <a:custGeom>
            <a:avLst/>
            <a:gdLst/>
            <a:ahLst/>
            <a:rect l="l" t="t" r="r" b="b"/>
            <a:pathLst>
              <a:path w="24786" h="41417">
                <a:moveTo>
                  <a:pt x="18081" y="6040"/>
                </a:moveTo>
                <a:lnTo>
                  <a:pt x="16644" y="0"/>
                </a:lnTo>
                <a:lnTo>
                  <a:pt x="0" y="8752"/>
                </a:lnTo>
                <a:lnTo>
                  <a:pt x="8502" y="41417"/>
                </a:lnTo>
                <a:lnTo>
                  <a:pt x="24786" y="34268"/>
                </a:lnTo>
                <a:lnTo>
                  <a:pt x="21433" y="15655"/>
                </a:lnTo>
                <a:lnTo>
                  <a:pt x="20356" y="15655"/>
                </a:lnTo>
                <a:lnTo>
                  <a:pt x="18081" y="6040"/>
                </a:lnTo>
                <a:close/>
              </a:path>
            </a:pathLst>
          </a:custGeom>
          <a:solidFill>
            <a:srgbClr val="ded5c5"/>
          </a:solidFill>
          <a:ln w="6191">
            <a:solidFill>
              <a:srgbClr val="b5a68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90" name="ชุมชนประชาร่วมใจพัฒนา"/>
          <p:cNvSpPr/>
          <p:nvPr/>
        </p:nvSpPr>
        <p:spPr>
          <a:xfrm>
            <a:off x="8103960" y="4322520"/>
            <a:ext cx="56880" cy="46800"/>
          </a:xfrm>
          <a:custGeom>
            <a:avLst/>
            <a:gdLst/>
            <a:ahLst/>
            <a:rect l="l" t="t" r="r" b="b"/>
            <a:pathLst>
              <a:path w="57355" h="47087">
                <a:moveTo>
                  <a:pt x="12932" y="40431"/>
                </a:moveTo>
                <a:lnTo>
                  <a:pt x="16883" y="47087"/>
                </a:lnTo>
                <a:lnTo>
                  <a:pt x="57355" y="24776"/>
                </a:lnTo>
                <a:lnTo>
                  <a:pt x="43226" y="11464"/>
                </a:lnTo>
                <a:lnTo>
                  <a:pt x="41550" y="7889"/>
                </a:lnTo>
                <a:lnTo>
                  <a:pt x="39873" y="8259"/>
                </a:lnTo>
                <a:lnTo>
                  <a:pt x="31013" y="0"/>
                </a:lnTo>
                <a:lnTo>
                  <a:pt x="0" y="18983"/>
                </a:lnTo>
                <a:lnTo>
                  <a:pt x="12932" y="40431"/>
                </a:lnTo>
                <a:close/>
              </a:path>
            </a:pathLst>
          </a:custGeom>
          <a:solidFill>
            <a:srgbClr val="ded5c5"/>
          </a:solidFill>
          <a:ln w="6191">
            <a:solidFill>
              <a:srgbClr val="b5a68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91" name="ชุมชนหมู่บ้านสุขประชา"/>
          <p:cNvSpPr/>
          <p:nvPr/>
        </p:nvSpPr>
        <p:spPr>
          <a:xfrm>
            <a:off x="8159400" y="4190040"/>
            <a:ext cx="47520" cy="78840"/>
          </a:xfrm>
          <a:custGeom>
            <a:avLst/>
            <a:gdLst/>
            <a:ahLst/>
            <a:rect l="l" t="t" r="r" b="b"/>
            <a:pathLst>
              <a:path w="47776" h="79136">
                <a:moveTo>
                  <a:pt x="8741" y="0"/>
                </a:moveTo>
                <a:lnTo>
                  <a:pt x="0" y="4068"/>
                </a:lnTo>
                <a:lnTo>
                  <a:pt x="40592" y="79136"/>
                </a:lnTo>
                <a:lnTo>
                  <a:pt x="47776" y="76178"/>
                </a:lnTo>
                <a:lnTo>
                  <a:pt x="39155" y="59044"/>
                </a:lnTo>
                <a:lnTo>
                  <a:pt x="39873" y="58304"/>
                </a:lnTo>
                <a:lnTo>
                  <a:pt x="38556" y="58058"/>
                </a:lnTo>
                <a:lnTo>
                  <a:pt x="8741" y="0"/>
                </a:lnTo>
                <a:close/>
              </a:path>
            </a:pathLst>
          </a:custGeom>
          <a:solidFill>
            <a:srgbClr val="ded5c5"/>
          </a:solidFill>
          <a:ln w="6191">
            <a:solidFill>
              <a:srgbClr val="b5a68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92" name="บัวเกิด"/>
          <p:cNvSpPr/>
          <p:nvPr/>
        </p:nvSpPr>
        <p:spPr>
          <a:xfrm>
            <a:off x="6280200" y="6304320"/>
            <a:ext cx="58680" cy="51480"/>
          </a:xfrm>
          <a:custGeom>
            <a:avLst/>
            <a:gdLst/>
            <a:ahLst/>
            <a:rect l="l" t="t" r="r" b="b"/>
            <a:pathLst>
              <a:path w="59032" h="51771">
                <a:moveTo>
                  <a:pt x="14369" y="45854"/>
                </a:moveTo>
                <a:lnTo>
                  <a:pt x="42148" y="51771"/>
                </a:lnTo>
                <a:lnTo>
                  <a:pt x="59032" y="41170"/>
                </a:lnTo>
                <a:lnTo>
                  <a:pt x="52925" y="31186"/>
                </a:lnTo>
                <a:lnTo>
                  <a:pt x="28259" y="0"/>
                </a:lnTo>
                <a:lnTo>
                  <a:pt x="1916" y="22927"/>
                </a:lnTo>
                <a:lnTo>
                  <a:pt x="4909" y="26009"/>
                </a:lnTo>
                <a:lnTo>
                  <a:pt x="1197" y="28967"/>
                </a:lnTo>
                <a:lnTo>
                  <a:pt x="7184" y="37103"/>
                </a:lnTo>
                <a:lnTo>
                  <a:pt x="0" y="42403"/>
                </a:lnTo>
                <a:lnTo>
                  <a:pt x="14369" y="45854"/>
                </a:lnTo>
                <a:close/>
              </a:path>
            </a:pathLst>
          </a:custGeom>
          <a:solidFill>
            <a:srgbClr val="ded5c5"/>
          </a:solidFill>
          <a:ln w="6191">
            <a:solidFill>
              <a:srgbClr val="b5a68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93" name="พูนสิน"/>
          <p:cNvSpPr/>
          <p:nvPr/>
        </p:nvSpPr>
        <p:spPr>
          <a:xfrm>
            <a:off x="6154920" y="6221160"/>
            <a:ext cx="39960" cy="27720"/>
          </a:xfrm>
          <a:custGeom>
            <a:avLst/>
            <a:gdLst/>
            <a:ahLst/>
            <a:rect l="l" t="t" r="r" b="b"/>
            <a:pathLst>
              <a:path w="40472" h="28228">
                <a:moveTo>
                  <a:pt x="19398" y="19106"/>
                </a:moveTo>
                <a:lnTo>
                  <a:pt x="40472" y="5670"/>
                </a:lnTo>
                <a:lnTo>
                  <a:pt x="36760" y="1479"/>
                </a:lnTo>
                <a:lnTo>
                  <a:pt x="32210" y="0"/>
                </a:lnTo>
                <a:lnTo>
                  <a:pt x="6346" y="15778"/>
                </a:lnTo>
                <a:lnTo>
                  <a:pt x="0" y="17627"/>
                </a:lnTo>
                <a:lnTo>
                  <a:pt x="3592" y="28228"/>
                </a:lnTo>
                <a:lnTo>
                  <a:pt x="19398" y="19106"/>
                </a:lnTo>
                <a:close/>
              </a:path>
            </a:pathLst>
          </a:custGeom>
          <a:solidFill>
            <a:srgbClr val="ded5c5"/>
          </a:solidFill>
          <a:ln w="6191">
            <a:solidFill>
              <a:srgbClr val="b5a68d"/>
            </a:solidFill>
            <a:round/>
          </a:ln>
        </p:spPr>
        <p:style>
          <a:lnRef idx="0"/>
          <a:fillRef idx="0"/>
          <a:effectRef idx="0"/>
          <a:fontRef idx="minor"/>
        </p:style>
        <p:txBody>
          <a:bodyPr lIns="90000" rIns="90000" tIns="-17280" bIns="-17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94" name="หมู่บ้านจัดสรรยาสูบ"/>
          <p:cNvSpPr/>
          <p:nvPr/>
        </p:nvSpPr>
        <p:spPr>
          <a:xfrm>
            <a:off x="6351480" y="6269400"/>
            <a:ext cx="61560" cy="90000"/>
          </a:xfrm>
          <a:custGeom>
            <a:avLst/>
            <a:gdLst/>
            <a:ahLst/>
            <a:rect l="l" t="t" r="r" b="b"/>
            <a:pathLst>
              <a:path w="62025" h="90476">
                <a:moveTo>
                  <a:pt x="59391" y="24283"/>
                </a:moveTo>
                <a:lnTo>
                  <a:pt x="41310" y="7889"/>
                </a:lnTo>
                <a:lnTo>
                  <a:pt x="45501" y="2219"/>
                </a:lnTo>
                <a:lnTo>
                  <a:pt x="718" y="0"/>
                </a:lnTo>
                <a:lnTo>
                  <a:pt x="359" y="8998"/>
                </a:lnTo>
                <a:lnTo>
                  <a:pt x="30294" y="18243"/>
                </a:lnTo>
                <a:lnTo>
                  <a:pt x="30773" y="20215"/>
                </a:lnTo>
                <a:lnTo>
                  <a:pt x="18799" y="34514"/>
                </a:lnTo>
                <a:lnTo>
                  <a:pt x="19997" y="35500"/>
                </a:lnTo>
                <a:lnTo>
                  <a:pt x="18679" y="37472"/>
                </a:lnTo>
                <a:lnTo>
                  <a:pt x="21194" y="39075"/>
                </a:lnTo>
                <a:lnTo>
                  <a:pt x="16404" y="44252"/>
                </a:lnTo>
                <a:lnTo>
                  <a:pt x="19039" y="46594"/>
                </a:lnTo>
                <a:lnTo>
                  <a:pt x="0" y="69768"/>
                </a:lnTo>
                <a:lnTo>
                  <a:pt x="7184" y="72973"/>
                </a:lnTo>
                <a:lnTo>
                  <a:pt x="21194" y="90476"/>
                </a:lnTo>
                <a:lnTo>
                  <a:pt x="26582" y="86409"/>
                </a:lnTo>
                <a:lnTo>
                  <a:pt x="54003" y="74945"/>
                </a:lnTo>
                <a:lnTo>
                  <a:pt x="37000" y="50292"/>
                </a:lnTo>
                <a:lnTo>
                  <a:pt x="40472" y="47703"/>
                </a:lnTo>
                <a:lnTo>
                  <a:pt x="39873" y="44129"/>
                </a:lnTo>
                <a:lnTo>
                  <a:pt x="60948" y="30200"/>
                </a:lnTo>
                <a:lnTo>
                  <a:pt x="60229" y="28844"/>
                </a:lnTo>
                <a:lnTo>
                  <a:pt x="62025" y="26255"/>
                </a:lnTo>
                <a:lnTo>
                  <a:pt x="59391" y="2428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95" name="เกาะเลิ้ง"/>
          <p:cNvSpPr/>
          <p:nvPr/>
        </p:nvSpPr>
        <p:spPr>
          <a:xfrm>
            <a:off x="6747480" y="5921640"/>
            <a:ext cx="34560" cy="36360"/>
          </a:xfrm>
          <a:custGeom>
            <a:avLst/>
            <a:gdLst/>
            <a:ahLst/>
            <a:rect l="l" t="t" r="r" b="b"/>
            <a:pathLst>
              <a:path w="34844" h="36610">
                <a:moveTo>
                  <a:pt x="34844" y="32665"/>
                </a:moveTo>
                <a:lnTo>
                  <a:pt x="25864" y="0"/>
                </a:lnTo>
                <a:lnTo>
                  <a:pt x="0" y="6040"/>
                </a:lnTo>
                <a:lnTo>
                  <a:pt x="6107" y="36610"/>
                </a:lnTo>
                <a:lnTo>
                  <a:pt x="34844" y="32665"/>
                </a:lnTo>
                <a:close/>
              </a:path>
            </a:pathLst>
          </a:custGeom>
          <a:solidFill>
            <a:srgbClr val="ded5c5"/>
          </a:solidFill>
          <a:ln w="6191">
            <a:solidFill>
              <a:srgbClr val="b5a68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96" name="เกาะกลาง"/>
          <p:cNvSpPr/>
          <p:nvPr/>
        </p:nvSpPr>
        <p:spPr>
          <a:xfrm>
            <a:off x="6737760" y="5725800"/>
            <a:ext cx="112320" cy="76320"/>
          </a:xfrm>
          <a:custGeom>
            <a:avLst/>
            <a:gdLst/>
            <a:ahLst/>
            <a:rect l="l" t="t" r="r" b="b"/>
            <a:pathLst>
              <a:path w="112675" h="76794">
                <a:moveTo>
                  <a:pt x="0" y="71000"/>
                </a:moveTo>
                <a:lnTo>
                  <a:pt x="359" y="76794"/>
                </a:lnTo>
                <a:lnTo>
                  <a:pt x="8980" y="75561"/>
                </a:lnTo>
                <a:lnTo>
                  <a:pt x="7663" y="64221"/>
                </a:lnTo>
                <a:lnTo>
                  <a:pt x="13890" y="63112"/>
                </a:lnTo>
                <a:lnTo>
                  <a:pt x="11495" y="52634"/>
                </a:lnTo>
                <a:lnTo>
                  <a:pt x="14369" y="52141"/>
                </a:lnTo>
                <a:lnTo>
                  <a:pt x="15686" y="48073"/>
                </a:lnTo>
                <a:lnTo>
                  <a:pt x="20835" y="47087"/>
                </a:lnTo>
                <a:lnTo>
                  <a:pt x="31252" y="71247"/>
                </a:lnTo>
                <a:lnTo>
                  <a:pt x="36161" y="68658"/>
                </a:lnTo>
                <a:lnTo>
                  <a:pt x="28498" y="43512"/>
                </a:lnTo>
                <a:lnTo>
                  <a:pt x="41789" y="39814"/>
                </a:lnTo>
                <a:lnTo>
                  <a:pt x="50051" y="68782"/>
                </a:lnTo>
                <a:lnTo>
                  <a:pt x="99983" y="57072"/>
                </a:lnTo>
                <a:lnTo>
                  <a:pt x="110759" y="58181"/>
                </a:lnTo>
                <a:lnTo>
                  <a:pt x="109203" y="35747"/>
                </a:lnTo>
                <a:lnTo>
                  <a:pt x="112675" y="33035"/>
                </a:lnTo>
                <a:lnTo>
                  <a:pt x="108005" y="21325"/>
                </a:lnTo>
                <a:lnTo>
                  <a:pt x="110759" y="16394"/>
                </a:lnTo>
                <a:lnTo>
                  <a:pt x="104772" y="0"/>
                </a:lnTo>
                <a:lnTo>
                  <a:pt x="76155" y="9122"/>
                </a:lnTo>
                <a:lnTo>
                  <a:pt x="74837" y="14299"/>
                </a:lnTo>
                <a:lnTo>
                  <a:pt x="62624" y="18613"/>
                </a:lnTo>
                <a:lnTo>
                  <a:pt x="63103" y="22064"/>
                </a:lnTo>
                <a:lnTo>
                  <a:pt x="40113" y="29584"/>
                </a:lnTo>
                <a:lnTo>
                  <a:pt x="34605" y="18243"/>
                </a:lnTo>
                <a:lnTo>
                  <a:pt x="14848" y="22927"/>
                </a:lnTo>
                <a:lnTo>
                  <a:pt x="17123" y="34514"/>
                </a:lnTo>
                <a:lnTo>
                  <a:pt x="12333" y="35377"/>
                </a:lnTo>
                <a:lnTo>
                  <a:pt x="10537" y="29214"/>
                </a:lnTo>
                <a:lnTo>
                  <a:pt x="4311" y="30816"/>
                </a:lnTo>
                <a:lnTo>
                  <a:pt x="4311" y="34268"/>
                </a:lnTo>
                <a:lnTo>
                  <a:pt x="0" y="34884"/>
                </a:lnTo>
                <a:lnTo>
                  <a:pt x="2036" y="50169"/>
                </a:lnTo>
                <a:lnTo>
                  <a:pt x="0" y="71000"/>
                </a:lnTo>
                <a:close/>
              </a:path>
            </a:pathLst>
          </a:custGeom>
          <a:solidFill>
            <a:srgbClr val="ded5c5"/>
          </a:solidFill>
          <a:ln w="6191">
            <a:solidFill>
              <a:srgbClr val="b5a68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97" name="ปากคลองสองห้อง"/>
          <p:cNvSpPr/>
          <p:nvPr/>
        </p:nvSpPr>
        <p:spPr>
          <a:xfrm>
            <a:off x="7050240" y="5709600"/>
            <a:ext cx="14400" cy="23760"/>
          </a:xfrm>
          <a:custGeom>
            <a:avLst/>
            <a:gdLst/>
            <a:ahLst/>
            <a:rect l="l" t="t" r="r" b="b"/>
            <a:pathLst>
              <a:path w="14608" h="24160">
                <a:moveTo>
                  <a:pt x="12453" y="23297"/>
                </a:moveTo>
                <a:lnTo>
                  <a:pt x="11735" y="9861"/>
                </a:lnTo>
                <a:lnTo>
                  <a:pt x="13650" y="9984"/>
                </a:lnTo>
                <a:lnTo>
                  <a:pt x="14608" y="0"/>
                </a:lnTo>
                <a:lnTo>
                  <a:pt x="0" y="123"/>
                </a:lnTo>
                <a:lnTo>
                  <a:pt x="958" y="24160"/>
                </a:lnTo>
                <a:lnTo>
                  <a:pt x="12453" y="23297"/>
                </a:lnTo>
                <a:close/>
              </a:path>
            </a:pathLst>
          </a:custGeom>
          <a:solidFill>
            <a:srgbClr val="ded5c5"/>
          </a:solidFill>
          <a:ln w="6191">
            <a:solidFill>
              <a:srgbClr val="b5a68d"/>
            </a:solidFill>
            <a:round/>
          </a:ln>
        </p:spPr>
        <p:style>
          <a:lnRef idx="0"/>
          <a:fillRef idx="0"/>
          <a:effectRef idx="0"/>
          <a:fontRef idx="minor"/>
        </p:style>
        <p:txBody>
          <a:bodyPr lIns="90000" rIns="90000" tIns="-21240" bIns="-21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98" name="จรเข้ขบเกาะล่าง"/>
          <p:cNvSpPr/>
          <p:nvPr/>
        </p:nvSpPr>
        <p:spPr>
          <a:xfrm>
            <a:off x="7310520" y="5805000"/>
            <a:ext cx="29160" cy="27720"/>
          </a:xfrm>
          <a:custGeom>
            <a:avLst/>
            <a:gdLst/>
            <a:ahLst/>
            <a:rect l="l" t="t" r="r" b="b"/>
            <a:pathLst>
              <a:path w="29576" h="28228">
                <a:moveTo>
                  <a:pt x="1437" y="28228"/>
                </a:moveTo>
                <a:lnTo>
                  <a:pt x="17362" y="11340"/>
                </a:lnTo>
                <a:lnTo>
                  <a:pt x="25744" y="12326"/>
                </a:lnTo>
                <a:lnTo>
                  <a:pt x="25026" y="4807"/>
                </a:lnTo>
                <a:lnTo>
                  <a:pt x="26103" y="2835"/>
                </a:lnTo>
                <a:lnTo>
                  <a:pt x="29576" y="3205"/>
                </a:lnTo>
                <a:lnTo>
                  <a:pt x="29217" y="0"/>
                </a:lnTo>
                <a:lnTo>
                  <a:pt x="3832" y="1479"/>
                </a:lnTo>
                <a:lnTo>
                  <a:pt x="0" y="23297"/>
                </a:lnTo>
                <a:lnTo>
                  <a:pt x="239" y="27611"/>
                </a:lnTo>
                <a:lnTo>
                  <a:pt x="1437" y="28228"/>
                </a:lnTo>
                <a:close/>
              </a:path>
            </a:pathLst>
          </a:custGeom>
          <a:solidFill>
            <a:srgbClr val="ded5c5"/>
          </a:solidFill>
          <a:ln w="6191">
            <a:solidFill>
              <a:srgbClr val="b5a68d"/>
            </a:solidFill>
            <a:round/>
          </a:ln>
        </p:spPr>
        <p:style>
          <a:lnRef idx="0"/>
          <a:fillRef idx="0"/>
          <a:effectRef idx="0"/>
          <a:fontRef idx="minor"/>
        </p:style>
        <p:txBody>
          <a:bodyPr lIns="90000" rIns="90000" tIns="-17280" bIns="-17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899" name="หมู่บ้านสุธาทิพย์"/>
          <p:cNvSpPr/>
          <p:nvPr/>
        </p:nvSpPr>
        <p:spPr>
          <a:xfrm>
            <a:off x="7286760" y="5633640"/>
            <a:ext cx="23040" cy="35640"/>
          </a:xfrm>
          <a:custGeom>
            <a:avLst/>
            <a:gdLst/>
            <a:ahLst/>
            <a:rect l="l" t="t" r="r" b="b"/>
            <a:pathLst>
              <a:path w="23230" h="35993">
                <a:moveTo>
                  <a:pt x="0" y="4684"/>
                </a:moveTo>
                <a:lnTo>
                  <a:pt x="11016" y="6040"/>
                </a:lnTo>
                <a:lnTo>
                  <a:pt x="9819" y="35377"/>
                </a:lnTo>
                <a:lnTo>
                  <a:pt x="11735" y="34144"/>
                </a:lnTo>
                <a:lnTo>
                  <a:pt x="19877" y="35993"/>
                </a:lnTo>
                <a:lnTo>
                  <a:pt x="23230" y="2465"/>
                </a:lnTo>
                <a:lnTo>
                  <a:pt x="8741" y="0"/>
                </a:lnTo>
                <a:lnTo>
                  <a:pt x="8262" y="1849"/>
                </a:lnTo>
                <a:lnTo>
                  <a:pt x="359" y="493"/>
                </a:lnTo>
                <a:lnTo>
                  <a:pt x="0" y="4684"/>
                </a:lnTo>
                <a:close/>
              </a:path>
            </a:pathLst>
          </a:custGeom>
          <a:solidFill>
            <a:srgbClr val="ded5c5"/>
          </a:solidFill>
          <a:ln w="6191">
            <a:solidFill>
              <a:srgbClr val="b5a68d"/>
            </a:solidFill>
            <a:round/>
          </a:ln>
        </p:spPr>
        <p:style>
          <a:lnRef idx="0"/>
          <a:fillRef idx="0"/>
          <a:effectRef idx="0"/>
          <a:fontRef idx="minor"/>
        </p:style>
        <p:txBody>
          <a:bodyPr lIns="90000" rIns="90000" tIns="-9360" bIns="-9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00" name="อ่อนนุช 53 ฝั่งซ้าย"/>
          <p:cNvSpPr/>
          <p:nvPr/>
        </p:nvSpPr>
        <p:spPr>
          <a:xfrm>
            <a:off x="6680160" y="5712480"/>
            <a:ext cx="58680" cy="101520"/>
          </a:xfrm>
          <a:custGeom>
            <a:avLst/>
            <a:gdLst/>
            <a:ahLst/>
            <a:rect l="l" t="t" r="r" b="b"/>
            <a:pathLst>
              <a:path w="58912" h="101817">
                <a:moveTo>
                  <a:pt x="54601" y="27981"/>
                </a:moveTo>
                <a:lnTo>
                  <a:pt x="51728" y="247"/>
                </a:lnTo>
                <a:lnTo>
                  <a:pt x="38077" y="247"/>
                </a:lnTo>
                <a:lnTo>
                  <a:pt x="38197" y="4068"/>
                </a:lnTo>
                <a:lnTo>
                  <a:pt x="35084" y="2465"/>
                </a:lnTo>
                <a:lnTo>
                  <a:pt x="19757" y="2096"/>
                </a:lnTo>
                <a:lnTo>
                  <a:pt x="19398" y="0"/>
                </a:lnTo>
                <a:lnTo>
                  <a:pt x="15566" y="123"/>
                </a:lnTo>
                <a:lnTo>
                  <a:pt x="0" y="77780"/>
                </a:lnTo>
                <a:lnTo>
                  <a:pt x="479" y="79999"/>
                </a:lnTo>
                <a:lnTo>
                  <a:pt x="7783" y="77780"/>
                </a:lnTo>
                <a:lnTo>
                  <a:pt x="11615" y="78520"/>
                </a:lnTo>
                <a:lnTo>
                  <a:pt x="7783" y="100337"/>
                </a:lnTo>
                <a:lnTo>
                  <a:pt x="18440" y="101817"/>
                </a:lnTo>
                <a:lnTo>
                  <a:pt x="23230" y="98612"/>
                </a:lnTo>
                <a:lnTo>
                  <a:pt x="57355" y="91462"/>
                </a:lnTo>
                <a:lnTo>
                  <a:pt x="58912" y="64961"/>
                </a:lnTo>
                <a:lnTo>
                  <a:pt x="54601" y="27981"/>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01" name="สัมพันธ์"/>
          <p:cNvSpPr/>
          <p:nvPr/>
        </p:nvSpPr>
        <p:spPr>
          <a:xfrm>
            <a:off x="4679640" y="5501880"/>
            <a:ext cx="13680" cy="19800"/>
          </a:xfrm>
          <a:custGeom>
            <a:avLst/>
            <a:gdLst/>
            <a:ahLst/>
            <a:rect l="l" t="t" r="r" b="b"/>
            <a:pathLst>
              <a:path w="14129" h="20215">
                <a:moveTo>
                  <a:pt x="2754" y="20215"/>
                </a:moveTo>
                <a:lnTo>
                  <a:pt x="12812" y="19722"/>
                </a:lnTo>
                <a:lnTo>
                  <a:pt x="14129" y="9245"/>
                </a:lnTo>
                <a:lnTo>
                  <a:pt x="13052" y="0"/>
                </a:lnTo>
                <a:lnTo>
                  <a:pt x="5029" y="370"/>
                </a:lnTo>
                <a:lnTo>
                  <a:pt x="5149" y="3698"/>
                </a:lnTo>
                <a:lnTo>
                  <a:pt x="0" y="3821"/>
                </a:lnTo>
                <a:lnTo>
                  <a:pt x="0" y="6287"/>
                </a:lnTo>
                <a:lnTo>
                  <a:pt x="2395" y="6163"/>
                </a:lnTo>
                <a:lnTo>
                  <a:pt x="2634" y="11094"/>
                </a:lnTo>
                <a:lnTo>
                  <a:pt x="120" y="11217"/>
                </a:lnTo>
                <a:lnTo>
                  <a:pt x="359" y="14052"/>
                </a:lnTo>
                <a:lnTo>
                  <a:pt x="2155" y="13929"/>
                </a:lnTo>
                <a:lnTo>
                  <a:pt x="2754" y="20215"/>
                </a:lnTo>
                <a:close/>
              </a:path>
            </a:pathLst>
          </a:custGeom>
          <a:solidFill>
            <a:srgbClr val="ded5c5"/>
          </a:solidFill>
          <a:ln w="6191">
            <a:solidFill>
              <a:srgbClr val="b5a68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02" name="หมู่บ้านมณียาวิลล์"/>
          <p:cNvSpPr/>
          <p:nvPr/>
        </p:nvSpPr>
        <p:spPr>
          <a:xfrm>
            <a:off x="6270480" y="6204240"/>
            <a:ext cx="36720" cy="44280"/>
          </a:xfrm>
          <a:custGeom>
            <a:avLst/>
            <a:gdLst/>
            <a:ahLst/>
            <a:rect l="l" t="t" r="r" b="b"/>
            <a:pathLst>
              <a:path w="37119" h="44745">
                <a:moveTo>
                  <a:pt x="28019" y="0"/>
                </a:moveTo>
                <a:lnTo>
                  <a:pt x="0" y="6780"/>
                </a:lnTo>
                <a:lnTo>
                  <a:pt x="9100" y="44745"/>
                </a:lnTo>
                <a:lnTo>
                  <a:pt x="29097" y="39568"/>
                </a:lnTo>
                <a:lnTo>
                  <a:pt x="37119" y="36117"/>
                </a:lnTo>
                <a:lnTo>
                  <a:pt x="28019" y="0"/>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03" name="บ้านพักองค์การแบตเตอรี่"/>
          <p:cNvSpPr/>
          <p:nvPr/>
        </p:nvSpPr>
        <p:spPr>
          <a:xfrm>
            <a:off x="5983200" y="6238080"/>
            <a:ext cx="17280" cy="7920"/>
          </a:xfrm>
          <a:custGeom>
            <a:avLst/>
            <a:gdLst/>
            <a:ahLst/>
            <a:rect l="l" t="t" r="r" b="b"/>
            <a:pathLst>
              <a:path w="17602" h="8382">
                <a:moveTo>
                  <a:pt x="1437" y="0"/>
                </a:moveTo>
                <a:lnTo>
                  <a:pt x="0" y="4191"/>
                </a:lnTo>
                <a:lnTo>
                  <a:pt x="17482" y="8382"/>
                </a:lnTo>
                <a:lnTo>
                  <a:pt x="17602" y="3821"/>
                </a:lnTo>
                <a:lnTo>
                  <a:pt x="1437" y="0"/>
                </a:lnTo>
                <a:close/>
              </a:path>
            </a:pathLst>
          </a:custGeom>
          <a:solidFill>
            <a:srgbClr val="ded5c5"/>
          </a:solidFill>
          <a:ln w="6191">
            <a:solidFill>
              <a:srgbClr val="b5a68d"/>
            </a:solidFill>
            <a:round/>
          </a:ln>
        </p:spPr>
        <p:style>
          <a:lnRef idx="0"/>
          <a:fillRef idx="0"/>
          <a:effectRef idx="0"/>
          <a:fontRef idx="minor"/>
        </p:style>
        <p:txBody>
          <a:bodyPr lIns="90000" rIns="90000" tIns="-37080" bIns="-37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04" name="กุศลศิลป์"/>
          <p:cNvSpPr/>
          <p:nvPr/>
        </p:nvSpPr>
        <p:spPr>
          <a:xfrm>
            <a:off x="6066720" y="6242400"/>
            <a:ext cx="21600" cy="42120"/>
          </a:xfrm>
          <a:custGeom>
            <a:avLst/>
            <a:gdLst/>
            <a:ahLst/>
            <a:rect l="l" t="t" r="r" b="b"/>
            <a:pathLst>
              <a:path w="22032" h="42403">
                <a:moveTo>
                  <a:pt x="19278" y="42403"/>
                </a:moveTo>
                <a:lnTo>
                  <a:pt x="20356" y="35623"/>
                </a:lnTo>
                <a:lnTo>
                  <a:pt x="16165" y="34761"/>
                </a:lnTo>
                <a:lnTo>
                  <a:pt x="22032" y="4068"/>
                </a:lnTo>
                <a:lnTo>
                  <a:pt x="10178" y="0"/>
                </a:lnTo>
                <a:lnTo>
                  <a:pt x="0" y="39198"/>
                </a:lnTo>
                <a:lnTo>
                  <a:pt x="19278" y="42403"/>
                </a:lnTo>
                <a:close/>
              </a:path>
            </a:pathLst>
          </a:custGeom>
          <a:solidFill>
            <a:srgbClr val="ded5c5"/>
          </a:solidFill>
          <a:ln w="6191">
            <a:solidFill>
              <a:srgbClr val="b5a68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05" name="พึ่งทรัพย์"/>
          <p:cNvSpPr/>
          <p:nvPr/>
        </p:nvSpPr>
        <p:spPr>
          <a:xfrm>
            <a:off x="6339600" y="6286680"/>
            <a:ext cx="39960" cy="52200"/>
          </a:xfrm>
          <a:custGeom>
            <a:avLst/>
            <a:gdLst/>
            <a:ahLst/>
            <a:rect l="l" t="t" r="r" b="b"/>
            <a:pathLst>
              <a:path w="40233" h="52634">
                <a:moveTo>
                  <a:pt x="0" y="49183"/>
                </a:moveTo>
                <a:lnTo>
                  <a:pt x="11974" y="52634"/>
                </a:lnTo>
                <a:lnTo>
                  <a:pt x="30653" y="29584"/>
                </a:lnTo>
                <a:lnTo>
                  <a:pt x="27660" y="27735"/>
                </a:lnTo>
                <a:lnTo>
                  <a:pt x="32450" y="21818"/>
                </a:lnTo>
                <a:lnTo>
                  <a:pt x="30414" y="20708"/>
                </a:lnTo>
                <a:lnTo>
                  <a:pt x="31611" y="18613"/>
                </a:lnTo>
                <a:lnTo>
                  <a:pt x="30294" y="17504"/>
                </a:lnTo>
                <a:lnTo>
                  <a:pt x="40233" y="5547"/>
                </a:lnTo>
                <a:lnTo>
                  <a:pt x="22631" y="0"/>
                </a:lnTo>
                <a:lnTo>
                  <a:pt x="0" y="49183"/>
                </a:lnTo>
                <a:close/>
              </a:path>
            </a:pathLst>
          </a:custGeom>
          <a:solidFill>
            <a:srgbClr val="ded5c5"/>
          </a:solidFill>
          <a:ln w="6191">
            <a:solidFill>
              <a:srgbClr val="b5a68d"/>
            </a:solidFill>
            <a:round/>
          </a:ln>
        </p:spPr>
        <p:style>
          <a:lnRef idx="0"/>
          <a:fillRef idx="0"/>
          <a:effectRef idx="0"/>
          <a:fontRef idx="minor"/>
        </p:style>
        <p:txBody>
          <a:bodyPr lIns="90000" rIns="90000" tIns="7200" bIns="7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06" name="หมู่บ้านซอยเชลียง 1"/>
          <p:cNvSpPr/>
          <p:nvPr/>
        </p:nvSpPr>
        <p:spPr>
          <a:xfrm>
            <a:off x="6373080" y="6276240"/>
            <a:ext cx="116640" cy="104760"/>
          </a:xfrm>
          <a:custGeom>
            <a:avLst/>
            <a:gdLst/>
            <a:ahLst/>
            <a:rect l="l" t="t" r="r" b="b"/>
            <a:pathLst>
              <a:path w="116866" h="105022">
                <a:moveTo>
                  <a:pt x="79388" y="98858"/>
                </a:moveTo>
                <a:lnTo>
                  <a:pt x="98306" y="95653"/>
                </a:lnTo>
                <a:lnTo>
                  <a:pt x="99743" y="99968"/>
                </a:lnTo>
                <a:lnTo>
                  <a:pt x="111478" y="98489"/>
                </a:lnTo>
                <a:lnTo>
                  <a:pt x="110640" y="100584"/>
                </a:lnTo>
                <a:lnTo>
                  <a:pt x="116028" y="100954"/>
                </a:lnTo>
                <a:lnTo>
                  <a:pt x="116866" y="97872"/>
                </a:lnTo>
                <a:lnTo>
                  <a:pt x="115309" y="97995"/>
                </a:lnTo>
                <a:lnTo>
                  <a:pt x="114831" y="95653"/>
                </a:lnTo>
                <a:lnTo>
                  <a:pt x="114471" y="92572"/>
                </a:lnTo>
                <a:lnTo>
                  <a:pt x="115788" y="92449"/>
                </a:lnTo>
                <a:lnTo>
                  <a:pt x="114352" y="75191"/>
                </a:lnTo>
                <a:lnTo>
                  <a:pt x="113274" y="75315"/>
                </a:lnTo>
                <a:lnTo>
                  <a:pt x="111478" y="63358"/>
                </a:lnTo>
                <a:lnTo>
                  <a:pt x="112436" y="63235"/>
                </a:lnTo>
                <a:lnTo>
                  <a:pt x="112196" y="42773"/>
                </a:lnTo>
                <a:lnTo>
                  <a:pt x="110879" y="28474"/>
                </a:lnTo>
                <a:lnTo>
                  <a:pt x="108125" y="28474"/>
                </a:lnTo>
                <a:lnTo>
                  <a:pt x="103096" y="24406"/>
                </a:lnTo>
                <a:lnTo>
                  <a:pt x="96989" y="26132"/>
                </a:lnTo>
                <a:lnTo>
                  <a:pt x="105611" y="13313"/>
                </a:lnTo>
                <a:lnTo>
                  <a:pt x="103096" y="12080"/>
                </a:lnTo>
                <a:lnTo>
                  <a:pt x="109562" y="1233"/>
                </a:lnTo>
                <a:lnTo>
                  <a:pt x="106928" y="247"/>
                </a:lnTo>
                <a:lnTo>
                  <a:pt x="103695" y="0"/>
                </a:lnTo>
                <a:lnTo>
                  <a:pt x="91601" y="21448"/>
                </a:lnTo>
                <a:lnTo>
                  <a:pt x="87889" y="19229"/>
                </a:lnTo>
                <a:lnTo>
                  <a:pt x="84656" y="21448"/>
                </a:lnTo>
                <a:lnTo>
                  <a:pt x="82621" y="18243"/>
                </a:lnTo>
                <a:lnTo>
                  <a:pt x="72922" y="24899"/>
                </a:lnTo>
                <a:lnTo>
                  <a:pt x="64660" y="12943"/>
                </a:lnTo>
                <a:lnTo>
                  <a:pt x="16883" y="45485"/>
                </a:lnTo>
                <a:lnTo>
                  <a:pt x="32330" y="68165"/>
                </a:lnTo>
                <a:lnTo>
                  <a:pt x="4430" y="80245"/>
                </a:lnTo>
                <a:lnTo>
                  <a:pt x="0" y="83697"/>
                </a:lnTo>
                <a:lnTo>
                  <a:pt x="359" y="89490"/>
                </a:lnTo>
                <a:lnTo>
                  <a:pt x="76993" y="105022"/>
                </a:lnTo>
                <a:lnTo>
                  <a:pt x="79388" y="9885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07" name="ชุมชนหมู่บ้านแสนสุข"/>
          <p:cNvSpPr/>
          <p:nvPr/>
        </p:nvSpPr>
        <p:spPr>
          <a:xfrm>
            <a:off x="6329160" y="6276600"/>
            <a:ext cx="52560" cy="59040"/>
          </a:xfrm>
          <a:custGeom>
            <a:avLst/>
            <a:gdLst/>
            <a:ahLst/>
            <a:rect l="l" t="t" r="r" b="b"/>
            <a:pathLst>
              <a:path w="52805" h="59290">
                <a:moveTo>
                  <a:pt x="0" y="44992"/>
                </a:moveTo>
                <a:lnTo>
                  <a:pt x="5748" y="48443"/>
                </a:lnTo>
                <a:lnTo>
                  <a:pt x="2515" y="55346"/>
                </a:lnTo>
                <a:lnTo>
                  <a:pt x="10537" y="59290"/>
                </a:lnTo>
                <a:lnTo>
                  <a:pt x="32928" y="10231"/>
                </a:lnTo>
                <a:lnTo>
                  <a:pt x="50650" y="15901"/>
                </a:lnTo>
                <a:lnTo>
                  <a:pt x="52805" y="13436"/>
                </a:lnTo>
                <a:lnTo>
                  <a:pt x="52207" y="11587"/>
                </a:lnTo>
                <a:lnTo>
                  <a:pt x="14369" y="0"/>
                </a:lnTo>
                <a:lnTo>
                  <a:pt x="14608" y="4684"/>
                </a:lnTo>
                <a:lnTo>
                  <a:pt x="4550" y="28967"/>
                </a:lnTo>
                <a:lnTo>
                  <a:pt x="12812" y="31926"/>
                </a:lnTo>
                <a:lnTo>
                  <a:pt x="9220" y="39568"/>
                </a:lnTo>
                <a:lnTo>
                  <a:pt x="599" y="36979"/>
                </a:lnTo>
                <a:lnTo>
                  <a:pt x="0" y="44992"/>
                </a:lnTo>
                <a:close/>
              </a:path>
            </a:pathLst>
          </a:custGeom>
          <a:solidFill>
            <a:srgbClr val="ded5c5"/>
          </a:solidFill>
          <a:ln w="6191">
            <a:solidFill>
              <a:srgbClr val="b5a68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08" name="หมู่บ้านไพโรจน์"/>
          <p:cNvSpPr/>
          <p:nvPr/>
        </p:nvSpPr>
        <p:spPr>
          <a:xfrm>
            <a:off x="6572520" y="6319440"/>
            <a:ext cx="54000" cy="84600"/>
          </a:xfrm>
          <a:custGeom>
            <a:avLst/>
            <a:gdLst/>
            <a:ahLst/>
            <a:rect l="l" t="t" r="r" b="b"/>
            <a:pathLst>
              <a:path w="54482" h="85053">
                <a:moveTo>
                  <a:pt x="10298" y="4561"/>
                </a:moveTo>
                <a:lnTo>
                  <a:pt x="12932" y="21695"/>
                </a:lnTo>
                <a:lnTo>
                  <a:pt x="10417" y="22311"/>
                </a:lnTo>
                <a:lnTo>
                  <a:pt x="12692" y="33405"/>
                </a:lnTo>
                <a:lnTo>
                  <a:pt x="8502" y="31802"/>
                </a:lnTo>
                <a:lnTo>
                  <a:pt x="0" y="51894"/>
                </a:lnTo>
                <a:lnTo>
                  <a:pt x="8262" y="55469"/>
                </a:lnTo>
                <a:lnTo>
                  <a:pt x="3113" y="71247"/>
                </a:lnTo>
                <a:lnTo>
                  <a:pt x="8621" y="72110"/>
                </a:lnTo>
                <a:lnTo>
                  <a:pt x="5388" y="84436"/>
                </a:lnTo>
                <a:lnTo>
                  <a:pt x="11256" y="85053"/>
                </a:lnTo>
                <a:lnTo>
                  <a:pt x="14129" y="73466"/>
                </a:lnTo>
                <a:lnTo>
                  <a:pt x="24187" y="76671"/>
                </a:lnTo>
                <a:lnTo>
                  <a:pt x="26343" y="73712"/>
                </a:lnTo>
                <a:lnTo>
                  <a:pt x="31252" y="75931"/>
                </a:lnTo>
                <a:lnTo>
                  <a:pt x="29935" y="78396"/>
                </a:lnTo>
                <a:lnTo>
                  <a:pt x="33527" y="79629"/>
                </a:lnTo>
                <a:lnTo>
                  <a:pt x="39275" y="69152"/>
                </a:lnTo>
                <a:lnTo>
                  <a:pt x="43945" y="71247"/>
                </a:lnTo>
                <a:lnTo>
                  <a:pt x="39993" y="80985"/>
                </a:lnTo>
                <a:lnTo>
                  <a:pt x="45501" y="83327"/>
                </a:lnTo>
                <a:lnTo>
                  <a:pt x="54482" y="62249"/>
                </a:lnTo>
                <a:lnTo>
                  <a:pt x="19039" y="40554"/>
                </a:lnTo>
                <a:lnTo>
                  <a:pt x="17841" y="35254"/>
                </a:lnTo>
                <a:lnTo>
                  <a:pt x="45741" y="28228"/>
                </a:lnTo>
                <a:lnTo>
                  <a:pt x="43226" y="17504"/>
                </a:lnTo>
                <a:lnTo>
                  <a:pt x="41789" y="17750"/>
                </a:lnTo>
                <a:lnTo>
                  <a:pt x="40712" y="13189"/>
                </a:lnTo>
                <a:lnTo>
                  <a:pt x="35323" y="4191"/>
                </a:lnTo>
                <a:lnTo>
                  <a:pt x="31492" y="5054"/>
                </a:lnTo>
                <a:lnTo>
                  <a:pt x="30055" y="0"/>
                </a:lnTo>
                <a:lnTo>
                  <a:pt x="10298" y="4561"/>
                </a:lnTo>
                <a:close/>
              </a:path>
            </a:pathLst>
          </a:custGeom>
          <a:solidFill>
            <a:srgbClr val="ded5c5"/>
          </a:solidFill>
          <a:ln w="6191">
            <a:solidFill>
              <a:srgbClr val="b5a68d"/>
            </a:solidFill>
            <a:round/>
          </a:ln>
        </p:spPr>
        <p:style>
          <a:lnRef idx="0"/>
          <a:fillRef idx="0"/>
          <a:effectRef idx="0"/>
          <a:fontRef idx="minor"/>
        </p:style>
        <p:txBody>
          <a:bodyPr lIns="90000" rIns="90000" tIns="39600" bIns="39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09" name="มหาสิน"/>
          <p:cNvSpPr/>
          <p:nvPr/>
        </p:nvSpPr>
        <p:spPr>
          <a:xfrm>
            <a:off x="6330240" y="6196320"/>
            <a:ext cx="32760" cy="65880"/>
          </a:xfrm>
          <a:custGeom>
            <a:avLst/>
            <a:gdLst/>
            <a:ahLst/>
            <a:rect l="l" t="t" r="r" b="b"/>
            <a:pathLst>
              <a:path w="33288" h="66193">
                <a:moveTo>
                  <a:pt x="0" y="0"/>
                </a:moveTo>
                <a:lnTo>
                  <a:pt x="15327" y="50539"/>
                </a:lnTo>
                <a:lnTo>
                  <a:pt x="14369" y="50785"/>
                </a:lnTo>
                <a:lnTo>
                  <a:pt x="16883" y="63112"/>
                </a:lnTo>
                <a:lnTo>
                  <a:pt x="33288" y="66193"/>
                </a:lnTo>
                <a:lnTo>
                  <a:pt x="33168" y="57934"/>
                </a:lnTo>
                <a:lnTo>
                  <a:pt x="16404" y="123"/>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10" name="สยามคอนโด 2"/>
          <p:cNvSpPr/>
          <p:nvPr/>
        </p:nvSpPr>
        <p:spPr>
          <a:xfrm>
            <a:off x="6408360" y="6330600"/>
            <a:ext cx="3960" cy="3960"/>
          </a:xfrm>
          <a:custGeom>
            <a:avLst/>
            <a:gdLst/>
            <a:ahLst/>
            <a:rect l="l" t="t" r="r" b="b"/>
            <a:pathLst>
              <a:path w="4311" h="4191">
                <a:moveTo>
                  <a:pt x="0" y="1849"/>
                </a:moveTo>
                <a:lnTo>
                  <a:pt x="1437" y="4191"/>
                </a:lnTo>
                <a:lnTo>
                  <a:pt x="4311" y="2219"/>
                </a:lnTo>
                <a:lnTo>
                  <a:pt x="2874" y="0"/>
                </a:lnTo>
                <a:lnTo>
                  <a:pt x="0" y="1849"/>
                </a:lnTo>
                <a:close/>
              </a:path>
            </a:pathLst>
          </a:custGeom>
          <a:solidFill>
            <a:srgbClr val="ded5c5"/>
          </a:solidFill>
          <a:ln w="6191">
            <a:solidFill>
              <a:srgbClr val="b5a68d"/>
            </a:solidFill>
            <a:round/>
          </a:ln>
        </p:spPr>
        <p:style>
          <a:lnRef idx="0"/>
          <a:fillRef idx="0"/>
          <a:effectRef idx="0"/>
          <a:fontRef idx="minor"/>
        </p:style>
        <p:txBody>
          <a:bodyPr lIns="90000" rIns="90000" tIns="-41040" bIns="-41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11" name="ชอุ่ม 2"/>
          <p:cNvSpPr/>
          <p:nvPr/>
        </p:nvSpPr>
        <p:spPr>
          <a:xfrm>
            <a:off x="6869880" y="6320520"/>
            <a:ext cx="62640" cy="33120"/>
          </a:xfrm>
          <a:custGeom>
            <a:avLst/>
            <a:gdLst/>
            <a:ahLst/>
            <a:rect l="l" t="t" r="r" b="b"/>
            <a:pathLst>
              <a:path w="63103" h="33405">
                <a:moveTo>
                  <a:pt x="17721" y="19722"/>
                </a:moveTo>
                <a:lnTo>
                  <a:pt x="59151" y="33405"/>
                </a:lnTo>
                <a:lnTo>
                  <a:pt x="63103" y="23790"/>
                </a:lnTo>
                <a:lnTo>
                  <a:pt x="30055" y="9984"/>
                </a:lnTo>
                <a:lnTo>
                  <a:pt x="29336" y="11217"/>
                </a:lnTo>
                <a:lnTo>
                  <a:pt x="23349" y="8998"/>
                </a:lnTo>
                <a:lnTo>
                  <a:pt x="5029" y="0"/>
                </a:lnTo>
                <a:lnTo>
                  <a:pt x="0" y="8505"/>
                </a:lnTo>
                <a:lnTo>
                  <a:pt x="15566" y="15531"/>
                </a:lnTo>
                <a:lnTo>
                  <a:pt x="14967" y="18120"/>
                </a:lnTo>
                <a:lnTo>
                  <a:pt x="17721" y="19722"/>
                </a:lnTo>
                <a:close/>
              </a:path>
            </a:pathLst>
          </a:custGeom>
          <a:solidFill>
            <a:srgbClr val="ded5c5"/>
          </a:solidFill>
          <a:ln w="6191">
            <a:solidFill>
              <a:srgbClr val="b5a68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12" name="เปรมฤทัย 20"/>
          <p:cNvSpPr/>
          <p:nvPr/>
        </p:nvSpPr>
        <p:spPr>
          <a:xfrm>
            <a:off x="6577920" y="6224040"/>
            <a:ext cx="50040" cy="21600"/>
          </a:xfrm>
          <a:custGeom>
            <a:avLst/>
            <a:gdLst/>
            <a:ahLst/>
            <a:rect l="l" t="t" r="r" b="b"/>
            <a:pathLst>
              <a:path w="50410" h="21818">
                <a:moveTo>
                  <a:pt x="46818" y="0"/>
                </a:moveTo>
                <a:lnTo>
                  <a:pt x="3951" y="4068"/>
                </a:lnTo>
                <a:lnTo>
                  <a:pt x="2155" y="2589"/>
                </a:lnTo>
                <a:lnTo>
                  <a:pt x="0" y="3698"/>
                </a:lnTo>
                <a:lnTo>
                  <a:pt x="1437" y="21818"/>
                </a:lnTo>
                <a:lnTo>
                  <a:pt x="50410" y="18860"/>
                </a:lnTo>
                <a:lnTo>
                  <a:pt x="46818" y="0"/>
                </a:lnTo>
                <a:close/>
              </a:path>
            </a:pathLst>
          </a:custGeom>
          <a:solidFill>
            <a:srgbClr val="ded5c5"/>
          </a:solidFill>
          <a:ln w="6191">
            <a:solidFill>
              <a:srgbClr val="b5a68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13" name="มิตรภาพ ซอย6"/>
          <p:cNvSpPr/>
          <p:nvPr/>
        </p:nvSpPr>
        <p:spPr>
          <a:xfrm>
            <a:off x="6616440" y="5986800"/>
            <a:ext cx="27000" cy="16920"/>
          </a:xfrm>
          <a:custGeom>
            <a:avLst/>
            <a:gdLst/>
            <a:ahLst/>
            <a:rect l="l" t="t" r="r" b="b"/>
            <a:pathLst>
              <a:path w="27181" h="17257">
                <a:moveTo>
                  <a:pt x="27181" y="10724"/>
                </a:moveTo>
                <a:lnTo>
                  <a:pt x="24547" y="0"/>
                </a:lnTo>
                <a:lnTo>
                  <a:pt x="0" y="6163"/>
                </a:lnTo>
                <a:lnTo>
                  <a:pt x="3472" y="17257"/>
                </a:lnTo>
                <a:lnTo>
                  <a:pt x="27181" y="10724"/>
                </a:lnTo>
                <a:close/>
              </a:path>
            </a:pathLst>
          </a:custGeom>
          <a:solidFill>
            <a:srgbClr val="ded5c5"/>
          </a:solidFill>
          <a:ln w="6191">
            <a:solidFill>
              <a:srgbClr val="b5a68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14" name="สุเหร่าคลองเคล็ด"/>
          <p:cNvSpPr/>
          <p:nvPr/>
        </p:nvSpPr>
        <p:spPr>
          <a:xfrm>
            <a:off x="6586560" y="6105600"/>
            <a:ext cx="23040" cy="7560"/>
          </a:xfrm>
          <a:custGeom>
            <a:avLst/>
            <a:gdLst/>
            <a:ahLst/>
            <a:rect l="l" t="t" r="r" b="b"/>
            <a:pathLst>
              <a:path w="23469" h="7766">
                <a:moveTo>
                  <a:pt x="22631" y="0"/>
                </a:moveTo>
                <a:lnTo>
                  <a:pt x="0" y="4068"/>
                </a:lnTo>
                <a:lnTo>
                  <a:pt x="599" y="7766"/>
                </a:lnTo>
                <a:lnTo>
                  <a:pt x="23469" y="3328"/>
                </a:lnTo>
                <a:lnTo>
                  <a:pt x="22631" y="0"/>
                </a:lnTo>
                <a:close/>
              </a:path>
            </a:pathLst>
          </a:custGeom>
          <a:solidFill>
            <a:srgbClr val="ded5c5"/>
          </a:solidFill>
          <a:ln w="6191">
            <a:solidFill>
              <a:srgbClr val="b5a68d"/>
            </a:solidFill>
            <a:round/>
          </a:ln>
        </p:spPr>
        <p:style>
          <a:lnRef idx="0"/>
          <a:fillRef idx="0"/>
          <a:effectRef idx="0"/>
          <a:fontRef idx="minor"/>
        </p:style>
        <p:txBody>
          <a:bodyPr lIns="90000" rIns="90000" tIns="-37440" bIns="-37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15" name="หมู่บ้านร่มเย็น"/>
          <p:cNvSpPr/>
          <p:nvPr/>
        </p:nvSpPr>
        <p:spPr>
          <a:xfrm>
            <a:off x="6611040" y="6099480"/>
            <a:ext cx="31680" cy="14040"/>
          </a:xfrm>
          <a:custGeom>
            <a:avLst/>
            <a:gdLst/>
            <a:ahLst/>
            <a:rect l="l" t="t" r="r" b="b"/>
            <a:pathLst>
              <a:path w="32210" h="14299">
                <a:moveTo>
                  <a:pt x="5388" y="4191"/>
                </a:moveTo>
                <a:lnTo>
                  <a:pt x="0" y="5670"/>
                </a:lnTo>
                <a:lnTo>
                  <a:pt x="3592" y="14299"/>
                </a:lnTo>
                <a:lnTo>
                  <a:pt x="32210" y="8505"/>
                </a:lnTo>
                <a:lnTo>
                  <a:pt x="31492" y="6287"/>
                </a:lnTo>
                <a:lnTo>
                  <a:pt x="26343" y="7149"/>
                </a:lnTo>
                <a:lnTo>
                  <a:pt x="25505" y="4191"/>
                </a:lnTo>
                <a:lnTo>
                  <a:pt x="28019" y="3575"/>
                </a:lnTo>
                <a:lnTo>
                  <a:pt x="27899" y="0"/>
                </a:lnTo>
                <a:lnTo>
                  <a:pt x="5388" y="4191"/>
                </a:lnTo>
                <a:close/>
              </a:path>
            </a:pathLst>
          </a:custGeom>
          <a:solidFill>
            <a:srgbClr val="ded5c5"/>
          </a:solidFill>
          <a:ln w="6191">
            <a:solidFill>
              <a:srgbClr val="b5a68d"/>
            </a:solidFill>
            <a:round/>
          </a:ln>
        </p:spPr>
        <p:style>
          <a:lnRef idx="0"/>
          <a:fillRef idx="0"/>
          <a:effectRef idx="0"/>
          <a:fontRef idx="minor"/>
        </p:style>
        <p:txBody>
          <a:bodyPr lIns="90000" rIns="90000" tIns="-30960" bIns="-30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16" name="ซอยร่มเย็น"/>
          <p:cNvSpPr/>
          <p:nvPr/>
        </p:nvSpPr>
        <p:spPr>
          <a:xfrm>
            <a:off x="6972480" y="6101640"/>
            <a:ext cx="42480" cy="24480"/>
          </a:xfrm>
          <a:custGeom>
            <a:avLst/>
            <a:gdLst/>
            <a:ahLst/>
            <a:rect l="l" t="t" r="r" b="b"/>
            <a:pathLst>
              <a:path w="42987" h="24899">
                <a:moveTo>
                  <a:pt x="31971" y="23420"/>
                </a:moveTo>
                <a:lnTo>
                  <a:pt x="35682" y="24899"/>
                </a:lnTo>
                <a:lnTo>
                  <a:pt x="37838" y="19106"/>
                </a:lnTo>
                <a:lnTo>
                  <a:pt x="41909" y="20585"/>
                </a:lnTo>
                <a:lnTo>
                  <a:pt x="42987" y="18243"/>
                </a:lnTo>
                <a:lnTo>
                  <a:pt x="24666" y="11833"/>
                </a:lnTo>
                <a:lnTo>
                  <a:pt x="26463" y="6533"/>
                </a:lnTo>
                <a:lnTo>
                  <a:pt x="1796" y="0"/>
                </a:lnTo>
                <a:lnTo>
                  <a:pt x="0" y="8012"/>
                </a:lnTo>
                <a:lnTo>
                  <a:pt x="31971" y="23420"/>
                </a:lnTo>
                <a:close/>
              </a:path>
            </a:pathLst>
          </a:custGeom>
          <a:solidFill>
            <a:srgbClr val="ded5c5"/>
          </a:solidFill>
          <a:ln w="6191">
            <a:solidFill>
              <a:srgbClr val="b5a68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17" name="เคหะนคร 3"/>
          <p:cNvSpPr/>
          <p:nvPr/>
        </p:nvSpPr>
        <p:spPr>
          <a:xfrm>
            <a:off x="6864840" y="6206760"/>
            <a:ext cx="55800" cy="73080"/>
          </a:xfrm>
          <a:custGeom>
            <a:avLst/>
            <a:gdLst/>
            <a:ahLst/>
            <a:rect l="l" t="t" r="r" b="b"/>
            <a:pathLst>
              <a:path w="56278" h="73343">
                <a:moveTo>
                  <a:pt x="1557" y="64098"/>
                </a:moveTo>
                <a:lnTo>
                  <a:pt x="0" y="69891"/>
                </a:lnTo>
                <a:lnTo>
                  <a:pt x="11495" y="73343"/>
                </a:lnTo>
                <a:lnTo>
                  <a:pt x="56278" y="1479"/>
                </a:lnTo>
                <a:lnTo>
                  <a:pt x="50530" y="0"/>
                </a:lnTo>
                <a:lnTo>
                  <a:pt x="26702" y="37842"/>
                </a:lnTo>
                <a:lnTo>
                  <a:pt x="22272" y="34884"/>
                </a:lnTo>
                <a:lnTo>
                  <a:pt x="5269" y="62865"/>
                </a:lnTo>
                <a:lnTo>
                  <a:pt x="1916" y="61386"/>
                </a:lnTo>
                <a:lnTo>
                  <a:pt x="1557" y="64098"/>
                </a:lnTo>
                <a:close/>
              </a:path>
            </a:pathLst>
          </a:custGeom>
          <a:solidFill>
            <a:srgbClr val="ded5c5"/>
          </a:solidFill>
          <a:ln w="6191">
            <a:solidFill>
              <a:srgbClr val="b5a68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18" name="คลองสิงห์โต"/>
          <p:cNvSpPr/>
          <p:nvPr/>
        </p:nvSpPr>
        <p:spPr>
          <a:xfrm>
            <a:off x="7280640" y="6040080"/>
            <a:ext cx="141480" cy="206640"/>
          </a:xfrm>
          <a:custGeom>
            <a:avLst/>
            <a:gdLst/>
            <a:ahLst/>
            <a:rect l="l" t="t" r="r" b="b"/>
            <a:pathLst>
              <a:path w="141892" h="207085">
                <a:moveTo>
                  <a:pt x="63103" y="108103"/>
                </a:moveTo>
                <a:lnTo>
                  <a:pt x="61307" y="96640"/>
                </a:lnTo>
                <a:lnTo>
                  <a:pt x="39754" y="96640"/>
                </a:lnTo>
                <a:lnTo>
                  <a:pt x="62744" y="22557"/>
                </a:lnTo>
                <a:lnTo>
                  <a:pt x="71125" y="37719"/>
                </a:lnTo>
                <a:lnTo>
                  <a:pt x="79507" y="38335"/>
                </a:lnTo>
                <a:lnTo>
                  <a:pt x="81782" y="17997"/>
                </a:lnTo>
                <a:lnTo>
                  <a:pt x="85614" y="16887"/>
                </a:lnTo>
                <a:lnTo>
                  <a:pt x="86452" y="10724"/>
                </a:lnTo>
                <a:lnTo>
                  <a:pt x="121536" y="19476"/>
                </a:lnTo>
                <a:lnTo>
                  <a:pt x="139138" y="21941"/>
                </a:lnTo>
                <a:lnTo>
                  <a:pt x="141892" y="7519"/>
                </a:lnTo>
                <a:lnTo>
                  <a:pt x="140215" y="6903"/>
                </a:lnTo>
                <a:lnTo>
                  <a:pt x="138778" y="10108"/>
                </a:lnTo>
                <a:lnTo>
                  <a:pt x="137701" y="16764"/>
                </a:lnTo>
                <a:lnTo>
                  <a:pt x="121416" y="14422"/>
                </a:lnTo>
                <a:lnTo>
                  <a:pt x="120937" y="18366"/>
                </a:lnTo>
                <a:lnTo>
                  <a:pt x="91721" y="11340"/>
                </a:lnTo>
                <a:lnTo>
                  <a:pt x="92439" y="2096"/>
                </a:lnTo>
                <a:lnTo>
                  <a:pt x="77591" y="2958"/>
                </a:lnTo>
                <a:lnTo>
                  <a:pt x="66216" y="0"/>
                </a:lnTo>
                <a:lnTo>
                  <a:pt x="59750" y="20215"/>
                </a:lnTo>
                <a:lnTo>
                  <a:pt x="61546" y="21325"/>
                </a:lnTo>
                <a:lnTo>
                  <a:pt x="54841" y="42280"/>
                </a:lnTo>
                <a:lnTo>
                  <a:pt x="52207" y="45854"/>
                </a:lnTo>
                <a:lnTo>
                  <a:pt x="27061" y="130291"/>
                </a:lnTo>
                <a:lnTo>
                  <a:pt x="20356" y="128072"/>
                </a:lnTo>
                <a:lnTo>
                  <a:pt x="7424" y="129058"/>
                </a:lnTo>
                <a:lnTo>
                  <a:pt x="0" y="189335"/>
                </a:lnTo>
                <a:lnTo>
                  <a:pt x="18081" y="190814"/>
                </a:lnTo>
                <a:lnTo>
                  <a:pt x="17721" y="207085"/>
                </a:lnTo>
                <a:lnTo>
                  <a:pt x="25145" y="206222"/>
                </a:lnTo>
                <a:lnTo>
                  <a:pt x="26822" y="162340"/>
                </a:lnTo>
                <a:lnTo>
                  <a:pt x="22631" y="161723"/>
                </a:lnTo>
                <a:lnTo>
                  <a:pt x="23828" y="159135"/>
                </a:lnTo>
                <a:lnTo>
                  <a:pt x="26941" y="158765"/>
                </a:lnTo>
                <a:lnTo>
                  <a:pt x="27301" y="147918"/>
                </a:lnTo>
                <a:lnTo>
                  <a:pt x="28738" y="147301"/>
                </a:lnTo>
                <a:lnTo>
                  <a:pt x="28019" y="130661"/>
                </a:lnTo>
                <a:lnTo>
                  <a:pt x="35443" y="108843"/>
                </a:lnTo>
                <a:lnTo>
                  <a:pt x="113873" y="122032"/>
                </a:lnTo>
                <a:lnTo>
                  <a:pt x="110041" y="135468"/>
                </a:lnTo>
                <a:lnTo>
                  <a:pt x="116387" y="136701"/>
                </a:lnTo>
                <a:lnTo>
                  <a:pt x="123811" y="117841"/>
                </a:lnTo>
                <a:lnTo>
                  <a:pt x="63103" y="10810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19" name="เกาะกลาง"/>
          <p:cNvSpPr/>
          <p:nvPr/>
        </p:nvSpPr>
        <p:spPr>
          <a:xfrm>
            <a:off x="6054480" y="5879160"/>
            <a:ext cx="11160" cy="12600"/>
          </a:xfrm>
          <a:custGeom>
            <a:avLst/>
            <a:gdLst/>
            <a:ahLst/>
            <a:rect l="l" t="t" r="r" b="b"/>
            <a:pathLst>
              <a:path w="11375" h="13066">
                <a:moveTo>
                  <a:pt x="2993" y="13066"/>
                </a:moveTo>
                <a:lnTo>
                  <a:pt x="9100" y="7519"/>
                </a:lnTo>
                <a:lnTo>
                  <a:pt x="11375" y="3328"/>
                </a:lnTo>
                <a:lnTo>
                  <a:pt x="10657" y="0"/>
                </a:lnTo>
                <a:lnTo>
                  <a:pt x="0" y="4438"/>
                </a:lnTo>
                <a:lnTo>
                  <a:pt x="2993" y="13066"/>
                </a:lnTo>
                <a:close/>
              </a:path>
            </a:pathLst>
          </a:custGeom>
          <a:solidFill>
            <a:srgbClr val="ded5c5"/>
          </a:solidFill>
          <a:ln w="6191">
            <a:solidFill>
              <a:srgbClr val="b5a68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20" name="หมู่บ้านพลับพลา"/>
          <p:cNvSpPr/>
          <p:nvPr/>
        </p:nvSpPr>
        <p:spPr>
          <a:xfrm>
            <a:off x="6118920" y="5250240"/>
            <a:ext cx="29160" cy="29160"/>
          </a:xfrm>
          <a:custGeom>
            <a:avLst/>
            <a:gdLst/>
            <a:ahLst/>
            <a:rect l="l" t="t" r="r" b="b"/>
            <a:pathLst>
              <a:path w="29576" h="29460">
                <a:moveTo>
                  <a:pt x="14728" y="0"/>
                </a:moveTo>
                <a:lnTo>
                  <a:pt x="0" y="18243"/>
                </a:lnTo>
                <a:lnTo>
                  <a:pt x="6586" y="23667"/>
                </a:lnTo>
                <a:lnTo>
                  <a:pt x="7663" y="22434"/>
                </a:lnTo>
                <a:lnTo>
                  <a:pt x="9938" y="24160"/>
                </a:lnTo>
                <a:lnTo>
                  <a:pt x="10537" y="23297"/>
                </a:lnTo>
                <a:lnTo>
                  <a:pt x="18081" y="29460"/>
                </a:lnTo>
                <a:lnTo>
                  <a:pt x="22751" y="24037"/>
                </a:lnTo>
                <a:lnTo>
                  <a:pt x="24068" y="24653"/>
                </a:lnTo>
                <a:lnTo>
                  <a:pt x="29576" y="12080"/>
                </a:lnTo>
                <a:lnTo>
                  <a:pt x="14728" y="0"/>
                </a:lnTo>
                <a:close/>
              </a:path>
            </a:pathLst>
          </a:custGeom>
          <a:solidFill>
            <a:srgbClr val="ded5c5"/>
          </a:solidFill>
          <a:ln w="6191">
            <a:solidFill>
              <a:srgbClr val="b5a68d"/>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21" name="ทองใบ"/>
          <p:cNvSpPr/>
          <p:nvPr/>
        </p:nvSpPr>
        <p:spPr>
          <a:xfrm>
            <a:off x="6417000" y="6491880"/>
            <a:ext cx="22320" cy="23760"/>
          </a:xfrm>
          <a:custGeom>
            <a:avLst/>
            <a:gdLst/>
            <a:ahLst/>
            <a:rect l="l" t="t" r="r" b="b"/>
            <a:pathLst>
              <a:path w="22511" h="24160">
                <a:moveTo>
                  <a:pt x="0" y="0"/>
                </a:moveTo>
                <a:lnTo>
                  <a:pt x="0" y="23297"/>
                </a:lnTo>
                <a:lnTo>
                  <a:pt x="22152" y="24160"/>
                </a:lnTo>
                <a:lnTo>
                  <a:pt x="22511" y="21078"/>
                </a:lnTo>
                <a:lnTo>
                  <a:pt x="17961" y="20955"/>
                </a:lnTo>
                <a:lnTo>
                  <a:pt x="17961" y="11217"/>
                </a:lnTo>
                <a:lnTo>
                  <a:pt x="5149" y="10231"/>
                </a:lnTo>
                <a:lnTo>
                  <a:pt x="4909" y="1356"/>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21240" bIns="-21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22" name="พูนสวัสดิ์"/>
          <p:cNvSpPr/>
          <p:nvPr/>
        </p:nvSpPr>
        <p:spPr>
          <a:xfrm>
            <a:off x="6040080" y="6395400"/>
            <a:ext cx="24840" cy="44280"/>
          </a:xfrm>
          <a:custGeom>
            <a:avLst/>
            <a:gdLst/>
            <a:ahLst/>
            <a:rect l="l" t="t" r="r" b="b"/>
            <a:pathLst>
              <a:path w="25026" h="44622">
                <a:moveTo>
                  <a:pt x="21912" y="0"/>
                </a:moveTo>
                <a:lnTo>
                  <a:pt x="21912" y="2712"/>
                </a:lnTo>
                <a:lnTo>
                  <a:pt x="15327" y="1109"/>
                </a:lnTo>
                <a:lnTo>
                  <a:pt x="10777" y="14422"/>
                </a:lnTo>
                <a:lnTo>
                  <a:pt x="8502" y="13806"/>
                </a:lnTo>
                <a:lnTo>
                  <a:pt x="0" y="41047"/>
                </a:lnTo>
                <a:lnTo>
                  <a:pt x="11016" y="44622"/>
                </a:lnTo>
                <a:lnTo>
                  <a:pt x="25026" y="986"/>
                </a:lnTo>
                <a:lnTo>
                  <a:pt x="21912" y="0"/>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23" name="ร่วมใจประเสริฐ"/>
          <p:cNvSpPr/>
          <p:nvPr/>
        </p:nvSpPr>
        <p:spPr>
          <a:xfrm>
            <a:off x="6094440" y="6459840"/>
            <a:ext cx="22320" cy="22680"/>
          </a:xfrm>
          <a:custGeom>
            <a:avLst/>
            <a:gdLst/>
            <a:ahLst/>
            <a:rect l="l" t="t" r="r" b="b"/>
            <a:pathLst>
              <a:path w="22511" h="22927">
                <a:moveTo>
                  <a:pt x="19158" y="22927"/>
                </a:moveTo>
                <a:lnTo>
                  <a:pt x="22511" y="3451"/>
                </a:lnTo>
                <a:lnTo>
                  <a:pt x="5149" y="0"/>
                </a:lnTo>
                <a:lnTo>
                  <a:pt x="0" y="20585"/>
                </a:lnTo>
                <a:lnTo>
                  <a:pt x="19158" y="22927"/>
                </a:lnTo>
                <a:close/>
              </a:path>
            </a:pathLst>
          </a:custGeom>
          <a:solidFill>
            <a:srgbClr val="ded5c5"/>
          </a:solidFill>
          <a:ln w="6191">
            <a:solidFill>
              <a:srgbClr val="b5a68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24" name="ร่วมพัฒนา"/>
          <p:cNvSpPr/>
          <p:nvPr/>
        </p:nvSpPr>
        <p:spPr>
          <a:xfrm>
            <a:off x="6080040" y="6456960"/>
            <a:ext cx="18000" cy="35280"/>
          </a:xfrm>
          <a:custGeom>
            <a:avLst/>
            <a:gdLst/>
            <a:ahLst/>
            <a:rect l="l" t="t" r="r" b="b"/>
            <a:pathLst>
              <a:path w="18440" h="35624">
                <a:moveTo>
                  <a:pt x="9220" y="32788"/>
                </a:moveTo>
                <a:lnTo>
                  <a:pt x="18440" y="3082"/>
                </a:lnTo>
                <a:lnTo>
                  <a:pt x="5149" y="0"/>
                </a:lnTo>
                <a:lnTo>
                  <a:pt x="0" y="34021"/>
                </a:lnTo>
                <a:lnTo>
                  <a:pt x="3712" y="35624"/>
                </a:lnTo>
                <a:lnTo>
                  <a:pt x="4909" y="31926"/>
                </a:lnTo>
                <a:lnTo>
                  <a:pt x="9220" y="32788"/>
                </a:lnTo>
                <a:close/>
              </a:path>
            </a:pathLst>
          </a:custGeom>
          <a:solidFill>
            <a:srgbClr val="ded5c5"/>
          </a:solidFill>
          <a:ln w="6191">
            <a:solidFill>
              <a:srgbClr val="b5a68d"/>
            </a:solidFill>
            <a:round/>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25" name="รุ่งสว่าง"/>
          <p:cNvSpPr/>
          <p:nvPr/>
        </p:nvSpPr>
        <p:spPr>
          <a:xfrm>
            <a:off x="6028200" y="6370200"/>
            <a:ext cx="33480" cy="31680"/>
          </a:xfrm>
          <a:custGeom>
            <a:avLst/>
            <a:gdLst/>
            <a:ahLst/>
            <a:rect l="l" t="t" r="r" b="b"/>
            <a:pathLst>
              <a:path w="33886" h="32049">
                <a:moveTo>
                  <a:pt x="11735" y="29707"/>
                </a:moveTo>
                <a:lnTo>
                  <a:pt x="25145" y="32049"/>
                </a:lnTo>
                <a:lnTo>
                  <a:pt x="27181" y="26132"/>
                </a:lnTo>
                <a:lnTo>
                  <a:pt x="33886" y="28104"/>
                </a:lnTo>
                <a:lnTo>
                  <a:pt x="33647" y="25639"/>
                </a:lnTo>
                <a:lnTo>
                  <a:pt x="16644" y="20092"/>
                </a:lnTo>
                <a:lnTo>
                  <a:pt x="18081" y="15408"/>
                </a:lnTo>
                <a:lnTo>
                  <a:pt x="7663" y="12573"/>
                </a:lnTo>
                <a:lnTo>
                  <a:pt x="10777" y="1233"/>
                </a:lnTo>
                <a:lnTo>
                  <a:pt x="6705" y="0"/>
                </a:lnTo>
                <a:lnTo>
                  <a:pt x="0" y="25886"/>
                </a:lnTo>
                <a:lnTo>
                  <a:pt x="11735" y="29707"/>
                </a:lnTo>
                <a:close/>
              </a:path>
            </a:pathLst>
          </a:custGeom>
          <a:solidFill>
            <a:srgbClr val="ded5c5"/>
          </a:solidFill>
          <a:ln w="6191">
            <a:solidFill>
              <a:srgbClr val="b5a68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26" name="วงศ์สวัสดิ์"/>
          <p:cNvSpPr/>
          <p:nvPr/>
        </p:nvSpPr>
        <p:spPr>
          <a:xfrm>
            <a:off x="6239520" y="6536520"/>
            <a:ext cx="64800" cy="40320"/>
          </a:xfrm>
          <a:custGeom>
            <a:avLst/>
            <a:gdLst/>
            <a:ahLst/>
            <a:rect l="l" t="t" r="r" b="b"/>
            <a:pathLst>
              <a:path w="65019" h="40677">
                <a:moveTo>
                  <a:pt x="24786" y="2342"/>
                </a:moveTo>
                <a:lnTo>
                  <a:pt x="23948" y="3328"/>
                </a:lnTo>
                <a:lnTo>
                  <a:pt x="23948" y="1972"/>
                </a:lnTo>
                <a:lnTo>
                  <a:pt x="19398" y="0"/>
                </a:lnTo>
                <a:lnTo>
                  <a:pt x="9100" y="22064"/>
                </a:lnTo>
                <a:lnTo>
                  <a:pt x="1796" y="19106"/>
                </a:lnTo>
                <a:lnTo>
                  <a:pt x="0" y="23174"/>
                </a:lnTo>
                <a:lnTo>
                  <a:pt x="24068" y="32665"/>
                </a:lnTo>
                <a:lnTo>
                  <a:pt x="25744" y="27858"/>
                </a:lnTo>
                <a:lnTo>
                  <a:pt x="58074" y="40677"/>
                </a:lnTo>
                <a:lnTo>
                  <a:pt x="61307" y="33281"/>
                </a:lnTo>
                <a:lnTo>
                  <a:pt x="51608" y="30446"/>
                </a:lnTo>
                <a:lnTo>
                  <a:pt x="65019" y="3944"/>
                </a:lnTo>
                <a:lnTo>
                  <a:pt x="55919" y="247"/>
                </a:lnTo>
                <a:lnTo>
                  <a:pt x="48854" y="13189"/>
                </a:lnTo>
                <a:lnTo>
                  <a:pt x="37239" y="7889"/>
                </a:lnTo>
                <a:lnTo>
                  <a:pt x="36760" y="8752"/>
                </a:lnTo>
                <a:lnTo>
                  <a:pt x="36521" y="7149"/>
                </a:lnTo>
                <a:lnTo>
                  <a:pt x="24786" y="2342"/>
                </a:lnTo>
                <a:close/>
              </a:path>
            </a:pathLst>
          </a:custGeom>
          <a:solidFill>
            <a:srgbClr val="ded5c5"/>
          </a:solidFill>
          <a:ln w="6191">
            <a:solidFill>
              <a:srgbClr val="b5a68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27" name="ชุมชนนครลุง"/>
          <p:cNvSpPr/>
          <p:nvPr/>
        </p:nvSpPr>
        <p:spPr>
          <a:xfrm>
            <a:off x="3465720" y="5541120"/>
            <a:ext cx="38880" cy="52920"/>
          </a:xfrm>
          <a:custGeom>
            <a:avLst/>
            <a:gdLst/>
            <a:ahLst/>
            <a:rect l="l" t="t" r="r" b="b"/>
            <a:pathLst>
              <a:path w="39155" h="53374">
                <a:moveTo>
                  <a:pt x="13531" y="53374"/>
                </a:moveTo>
                <a:lnTo>
                  <a:pt x="39155" y="49059"/>
                </a:lnTo>
                <a:lnTo>
                  <a:pt x="31731" y="0"/>
                </a:lnTo>
                <a:lnTo>
                  <a:pt x="8142" y="493"/>
                </a:lnTo>
                <a:lnTo>
                  <a:pt x="8741" y="12943"/>
                </a:lnTo>
                <a:lnTo>
                  <a:pt x="0" y="13929"/>
                </a:lnTo>
                <a:lnTo>
                  <a:pt x="1317" y="43019"/>
                </a:lnTo>
                <a:lnTo>
                  <a:pt x="12333" y="41540"/>
                </a:lnTo>
                <a:lnTo>
                  <a:pt x="10298" y="51894"/>
                </a:lnTo>
                <a:lnTo>
                  <a:pt x="13411" y="52141"/>
                </a:lnTo>
                <a:lnTo>
                  <a:pt x="13531" y="53374"/>
                </a:lnTo>
                <a:close/>
              </a:path>
            </a:pathLst>
          </a:custGeom>
          <a:solidFill>
            <a:srgbClr val="ded5c5"/>
          </a:solidFill>
          <a:ln w="6191">
            <a:solidFill>
              <a:srgbClr val="b5a68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28" name="หมู่บ้านณัฐกานต์"/>
          <p:cNvSpPr/>
          <p:nvPr/>
        </p:nvSpPr>
        <p:spPr>
          <a:xfrm>
            <a:off x="6906600" y="3277440"/>
            <a:ext cx="6480" cy="66960"/>
          </a:xfrm>
          <a:custGeom>
            <a:avLst/>
            <a:gdLst/>
            <a:ahLst/>
            <a:rect l="l" t="t" r="r" b="b"/>
            <a:pathLst>
              <a:path w="6825" h="67179">
                <a:moveTo>
                  <a:pt x="0" y="0"/>
                </a:moveTo>
                <a:lnTo>
                  <a:pt x="0" y="67179"/>
                </a:lnTo>
                <a:lnTo>
                  <a:pt x="6825" y="67179"/>
                </a:lnTo>
                <a:lnTo>
                  <a:pt x="6825" y="0"/>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29" name="หมู่ 5 บางมด"/>
          <p:cNvSpPr/>
          <p:nvPr/>
        </p:nvSpPr>
        <p:spPr>
          <a:xfrm>
            <a:off x="4589280" y="6694920"/>
            <a:ext cx="112680" cy="98640"/>
          </a:xfrm>
          <a:custGeom>
            <a:avLst/>
            <a:gdLst/>
            <a:ahLst/>
            <a:rect l="l" t="t" r="r" b="b"/>
            <a:pathLst>
              <a:path w="113154" h="99105">
                <a:moveTo>
                  <a:pt x="0" y="28597"/>
                </a:moveTo>
                <a:lnTo>
                  <a:pt x="2395" y="57195"/>
                </a:lnTo>
                <a:lnTo>
                  <a:pt x="29336" y="60400"/>
                </a:lnTo>
                <a:lnTo>
                  <a:pt x="32569" y="52881"/>
                </a:lnTo>
                <a:lnTo>
                  <a:pt x="55799" y="58304"/>
                </a:lnTo>
                <a:lnTo>
                  <a:pt x="59990" y="43389"/>
                </a:lnTo>
                <a:lnTo>
                  <a:pt x="63702" y="43389"/>
                </a:lnTo>
                <a:lnTo>
                  <a:pt x="79747" y="50415"/>
                </a:lnTo>
                <a:lnTo>
                  <a:pt x="79028" y="56332"/>
                </a:lnTo>
                <a:lnTo>
                  <a:pt x="88129" y="57441"/>
                </a:lnTo>
                <a:lnTo>
                  <a:pt x="86332" y="74205"/>
                </a:lnTo>
                <a:lnTo>
                  <a:pt x="95672" y="74452"/>
                </a:lnTo>
                <a:lnTo>
                  <a:pt x="96391" y="84436"/>
                </a:lnTo>
                <a:lnTo>
                  <a:pt x="99504" y="84067"/>
                </a:lnTo>
                <a:lnTo>
                  <a:pt x="104892" y="99105"/>
                </a:lnTo>
                <a:lnTo>
                  <a:pt x="113154" y="91093"/>
                </a:lnTo>
                <a:lnTo>
                  <a:pt x="112795" y="83080"/>
                </a:lnTo>
                <a:lnTo>
                  <a:pt x="109083" y="71370"/>
                </a:lnTo>
                <a:lnTo>
                  <a:pt x="89446" y="73219"/>
                </a:lnTo>
                <a:lnTo>
                  <a:pt x="87410" y="70384"/>
                </a:lnTo>
                <a:lnTo>
                  <a:pt x="91481" y="50292"/>
                </a:lnTo>
                <a:lnTo>
                  <a:pt x="92918" y="50662"/>
                </a:lnTo>
                <a:lnTo>
                  <a:pt x="95193" y="45238"/>
                </a:lnTo>
                <a:lnTo>
                  <a:pt x="93038" y="44499"/>
                </a:lnTo>
                <a:lnTo>
                  <a:pt x="96151" y="30570"/>
                </a:lnTo>
                <a:lnTo>
                  <a:pt x="77112" y="14052"/>
                </a:lnTo>
                <a:lnTo>
                  <a:pt x="78310" y="3821"/>
                </a:lnTo>
                <a:lnTo>
                  <a:pt x="68371" y="0"/>
                </a:lnTo>
                <a:lnTo>
                  <a:pt x="65258" y="33528"/>
                </a:lnTo>
                <a:lnTo>
                  <a:pt x="62863" y="35747"/>
                </a:lnTo>
                <a:lnTo>
                  <a:pt x="55200" y="35747"/>
                </a:lnTo>
                <a:lnTo>
                  <a:pt x="54362" y="39445"/>
                </a:lnTo>
                <a:lnTo>
                  <a:pt x="0" y="2859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30" name="ชุมชนซอยชมทรัพย์"/>
          <p:cNvSpPr/>
          <p:nvPr/>
        </p:nvSpPr>
        <p:spPr>
          <a:xfrm>
            <a:off x="4904640" y="6684120"/>
            <a:ext cx="107280" cy="61920"/>
          </a:xfrm>
          <a:custGeom>
            <a:avLst/>
            <a:gdLst/>
            <a:ahLst/>
            <a:rect l="l" t="t" r="r" b="b"/>
            <a:pathLst>
              <a:path w="107646" h="62249">
                <a:moveTo>
                  <a:pt x="18081" y="46471"/>
                </a:moveTo>
                <a:lnTo>
                  <a:pt x="19757" y="53374"/>
                </a:lnTo>
                <a:lnTo>
                  <a:pt x="18560" y="53620"/>
                </a:lnTo>
                <a:lnTo>
                  <a:pt x="22511" y="61139"/>
                </a:lnTo>
                <a:lnTo>
                  <a:pt x="26582" y="59044"/>
                </a:lnTo>
                <a:lnTo>
                  <a:pt x="25026" y="54360"/>
                </a:lnTo>
                <a:lnTo>
                  <a:pt x="31611" y="51525"/>
                </a:lnTo>
                <a:lnTo>
                  <a:pt x="34485" y="56455"/>
                </a:lnTo>
                <a:lnTo>
                  <a:pt x="40113" y="60030"/>
                </a:lnTo>
                <a:lnTo>
                  <a:pt x="53045" y="62249"/>
                </a:lnTo>
                <a:lnTo>
                  <a:pt x="68611" y="60400"/>
                </a:lnTo>
                <a:lnTo>
                  <a:pt x="87530" y="48690"/>
                </a:lnTo>
                <a:lnTo>
                  <a:pt x="95792" y="48936"/>
                </a:lnTo>
                <a:lnTo>
                  <a:pt x="107646" y="45854"/>
                </a:lnTo>
                <a:lnTo>
                  <a:pt x="105611" y="33898"/>
                </a:lnTo>
                <a:lnTo>
                  <a:pt x="104413" y="33651"/>
                </a:lnTo>
                <a:lnTo>
                  <a:pt x="103814" y="27488"/>
                </a:lnTo>
                <a:lnTo>
                  <a:pt x="105132" y="27611"/>
                </a:lnTo>
                <a:lnTo>
                  <a:pt x="103335" y="15408"/>
                </a:lnTo>
                <a:lnTo>
                  <a:pt x="100821" y="12696"/>
                </a:lnTo>
                <a:lnTo>
                  <a:pt x="87530" y="14545"/>
                </a:lnTo>
                <a:lnTo>
                  <a:pt x="84776" y="0"/>
                </a:lnTo>
                <a:lnTo>
                  <a:pt x="49213" y="4068"/>
                </a:lnTo>
                <a:lnTo>
                  <a:pt x="0" y="36363"/>
                </a:lnTo>
                <a:lnTo>
                  <a:pt x="4071" y="48197"/>
                </a:lnTo>
                <a:lnTo>
                  <a:pt x="18081" y="46471"/>
                </a:lnTo>
                <a:close/>
              </a:path>
            </a:pathLst>
          </a:custGeom>
          <a:solidFill>
            <a:srgbClr val="ded5c5"/>
          </a:solidFill>
          <a:ln w="6191">
            <a:solidFill>
              <a:srgbClr val="b5a68d"/>
            </a:solidFill>
            <a:round/>
          </a:ln>
        </p:spPr>
        <p:style>
          <a:lnRef idx="0"/>
          <a:fillRef idx="0"/>
          <a:effectRef idx="0"/>
          <a:fontRef idx="minor"/>
        </p:style>
        <p:txBody>
          <a:bodyPr lIns="90000" rIns="90000" tIns="16920" bIns="16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31" name="หมู่ 2 บางมด"/>
          <p:cNvSpPr/>
          <p:nvPr/>
        </p:nvSpPr>
        <p:spPr>
          <a:xfrm>
            <a:off x="4826520" y="6530400"/>
            <a:ext cx="37080" cy="30600"/>
          </a:xfrm>
          <a:custGeom>
            <a:avLst/>
            <a:gdLst/>
            <a:ahLst/>
            <a:rect l="l" t="t" r="r" b="b"/>
            <a:pathLst>
              <a:path w="37359" h="31063">
                <a:moveTo>
                  <a:pt x="0" y="19722"/>
                </a:moveTo>
                <a:lnTo>
                  <a:pt x="25265" y="31063"/>
                </a:lnTo>
                <a:lnTo>
                  <a:pt x="36760" y="17750"/>
                </a:lnTo>
                <a:lnTo>
                  <a:pt x="37359" y="14668"/>
                </a:lnTo>
                <a:lnTo>
                  <a:pt x="20954" y="6903"/>
                </a:lnTo>
                <a:lnTo>
                  <a:pt x="22032" y="3575"/>
                </a:lnTo>
                <a:lnTo>
                  <a:pt x="19877" y="2712"/>
                </a:lnTo>
                <a:lnTo>
                  <a:pt x="17482" y="4314"/>
                </a:lnTo>
                <a:lnTo>
                  <a:pt x="9459" y="0"/>
                </a:lnTo>
                <a:lnTo>
                  <a:pt x="6825" y="2712"/>
                </a:lnTo>
                <a:lnTo>
                  <a:pt x="0" y="19722"/>
                </a:lnTo>
                <a:close/>
                <a:moveTo>
                  <a:pt x="36640" y="15901"/>
                </a:moveTo>
                <a:lnTo>
                  <a:pt x="36640" y="15901"/>
                </a:lnTo>
                <a:lnTo>
                  <a:pt x="36760" y="16271"/>
                </a:lnTo>
                <a:lnTo>
                  <a:pt x="36640" y="15901"/>
                </a:lnTo>
                <a:close/>
              </a:path>
            </a:pathLst>
          </a:custGeom>
          <a:solidFill>
            <a:srgbClr val="ded5c5"/>
          </a:solidFill>
          <a:ln w="6191">
            <a:solidFill>
              <a:srgbClr val="b5a68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32" name="แป้นทองสัมพันธ์"/>
          <p:cNvSpPr/>
          <p:nvPr/>
        </p:nvSpPr>
        <p:spPr>
          <a:xfrm>
            <a:off x="7377840" y="3653280"/>
            <a:ext cx="24480" cy="64080"/>
          </a:xfrm>
          <a:custGeom>
            <a:avLst/>
            <a:gdLst/>
            <a:ahLst/>
            <a:rect l="l" t="t" r="r" b="b"/>
            <a:pathLst>
              <a:path w="24666" h="64591">
                <a:moveTo>
                  <a:pt x="1197" y="1356"/>
                </a:moveTo>
                <a:lnTo>
                  <a:pt x="1317" y="50908"/>
                </a:lnTo>
                <a:lnTo>
                  <a:pt x="0" y="51032"/>
                </a:lnTo>
                <a:lnTo>
                  <a:pt x="1317" y="56209"/>
                </a:lnTo>
                <a:lnTo>
                  <a:pt x="359" y="56209"/>
                </a:lnTo>
                <a:lnTo>
                  <a:pt x="239" y="61632"/>
                </a:lnTo>
                <a:lnTo>
                  <a:pt x="1317" y="61756"/>
                </a:lnTo>
                <a:lnTo>
                  <a:pt x="1317" y="64591"/>
                </a:lnTo>
                <a:lnTo>
                  <a:pt x="24666" y="63358"/>
                </a:lnTo>
                <a:lnTo>
                  <a:pt x="22152" y="47457"/>
                </a:lnTo>
                <a:lnTo>
                  <a:pt x="22152" y="0"/>
                </a:lnTo>
                <a:lnTo>
                  <a:pt x="1197" y="1356"/>
                </a:lnTo>
                <a:close/>
              </a:path>
            </a:pathLst>
          </a:custGeom>
          <a:solidFill>
            <a:srgbClr val="ded5c5"/>
          </a:solidFill>
          <a:ln w="6191">
            <a:solidFill>
              <a:srgbClr val="b5a68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33" name="มีนทองพัฒนา"/>
          <p:cNvSpPr/>
          <p:nvPr/>
        </p:nvSpPr>
        <p:spPr>
          <a:xfrm>
            <a:off x="7566120" y="3481560"/>
            <a:ext cx="79560" cy="38880"/>
          </a:xfrm>
          <a:custGeom>
            <a:avLst/>
            <a:gdLst/>
            <a:ahLst/>
            <a:rect l="l" t="t" r="r" b="b"/>
            <a:pathLst>
              <a:path w="79986" h="39198">
                <a:moveTo>
                  <a:pt x="71604" y="26502"/>
                </a:moveTo>
                <a:lnTo>
                  <a:pt x="79986" y="25023"/>
                </a:lnTo>
                <a:lnTo>
                  <a:pt x="78909" y="0"/>
                </a:lnTo>
                <a:lnTo>
                  <a:pt x="0" y="14669"/>
                </a:lnTo>
                <a:lnTo>
                  <a:pt x="479" y="39198"/>
                </a:lnTo>
                <a:lnTo>
                  <a:pt x="71604" y="26502"/>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34" name="ร่มรื่น"/>
          <p:cNvSpPr/>
          <p:nvPr/>
        </p:nvSpPr>
        <p:spPr>
          <a:xfrm>
            <a:off x="7171920" y="3480840"/>
            <a:ext cx="24480" cy="36360"/>
          </a:xfrm>
          <a:custGeom>
            <a:avLst/>
            <a:gdLst/>
            <a:ahLst/>
            <a:rect l="l" t="t" r="r" b="b"/>
            <a:pathLst>
              <a:path w="24906" h="36610">
                <a:moveTo>
                  <a:pt x="21074" y="22434"/>
                </a:moveTo>
                <a:lnTo>
                  <a:pt x="6346" y="0"/>
                </a:lnTo>
                <a:lnTo>
                  <a:pt x="0" y="4191"/>
                </a:lnTo>
                <a:lnTo>
                  <a:pt x="6586" y="14668"/>
                </a:lnTo>
                <a:lnTo>
                  <a:pt x="15327" y="36610"/>
                </a:lnTo>
                <a:lnTo>
                  <a:pt x="24906" y="27735"/>
                </a:lnTo>
                <a:lnTo>
                  <a:pt x="23110" y="25269"/>
                </a:lnTo>
                <a:lnTo>
                  <a:pt x="24187" y="24037"/>
                </a:lnTo>
                <a:lnTo>
                  <a:pt x="21074" y="22434"/>
                </a:lnTo>
                <a:close/>
              </a:path>
            </a:pathLst>
          </a:custGeom>
          <a:solidFill>
            <a:srgbClr val="ded5c5"/>
          </a:solidFill>
          <a:ln w="6191">
            <a:solidFill>
              <a:srgbClr val="b5a68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35" name="วัดผ่องพลอยอนุสรณ์ (ลิขิต 2)"/>
          <p:cNvSpPr/>
          <p:nvPr/>
        </p:nvSpPr>
        <p:spPr>
          <a:xfrm>
            <a:off x="6500160" y="6518160"/>
            <a:ext cx="19440" cy="100800"/>
          </a:xfrm>
          <a:custGeom>
            <a:avLst/>
            <a:gdLst/>
            <a:ahLst/>
            <a:rect l="l" t="t" r="r" b="b"/>
            <a:pathLst>
              <a:path w="19757" h="101324">
                <a:moveTo>
                  <a:pt x="11375" y="10724"/>
                </a:moveTo>
                <a:lnTo>
                  <a:pt x="9938" y="19353"/>
                </a:lnTo>
                <a:lnTo>
                  <a:pt x="7065" y="19353"/>
                </a:lnTo>
                <a:lnTo>
                  <a:pt x="6466" y="21941"/>
                </a:lnTo>
                <a:lnTo>
                  <a:pt x="3832" y="22064"/>
                </a:lnTo>
                <a:lnTo>
                  <a:pt x="3353" y="31309"/>
                </a:lnTo>
                <a:lnTo>
                  <a:pt x="239" y="31926"/>
                </a:lnTo>
                <a:lnTo>
                  <a:pt x="0" y="34144"/>
                </a:lnTo>
                <a:lnTo>
                  <a:pt x="5987" y="34268"/>
                </a:lnTo>
                <a:lnTo>
                  <a:pt x="6107" y="37472"/>
                </a:lnTo>
                <a:lnTo>
                  <a:pt x="4670" y="88011"/>
                </a:lnTo>
                <a:lnTo>
                  <a:pt x="2634" y="88258"/>
                </a:lnTo>
                <a:lnTo>
                  <a:pt x="2515" y="90723"/>
                </a:lnTo>
                <a:lnTo>
                  <a:pt x="4550" y="95777"/>
                </a:lnTo>
                <a:lnTo>
                  <a:pt x="10417" y="96023"/>
                </a:lnTo>
                <a:lnTo>
                  <a:pt x="10537" y="100584"/>
                </a:lnTo>
                <a:lnTo>
                  <a:pt x="13171" y="101324"/>
                </a:lnTo>
                <a:lnTo>
                  <a:pt x="14967" y="29090"/>
                </a:lnTo>
                <a:lnTo>
                  <a:pt x="19757" y="1602"/>
                </a:lnTo>
                <a:lnTo>
                  <a:pt x="13052" y="0"/>
                </a:lnTo>
                <a:lnTo>
                  <a:pt x="11375" y="1072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36" name="หมู่บ้านศานติ"/>
          <p:cNvSpPr/>
          <p:nvPr/>
        </p:nvSpPr>
        <p:spPr>
          <a:xfrm>
            <a:off x="6514920" y="6410520"/>
            <a:ext cx="29520" cy="64800"/>
          </a:xfrm>
          <a:custGeom>
            <a:avLst/>
            <a:gdLst/>
            <a:ahLst/>
            <a:rect l="l" t="t" r="r" b="b"/>
            <a:pathLst>
              <a:path w="29815" h="65330">
                <a:moveTo>
                  <a:pt x="23349" y="0"/>
                </a:moveTo>
                <a:lnTo>
                  <a:pt x="18919" y="14299"/>
                </a:lnTo>
                <a:lnTo>
                  <a:pt x="16285" y="13559"/>
                </a:lnTo>
                <a:lnTo>
                  <a:pt x="15686" y="15778"/>
                </a:lnTo>
                <a:lnTo>
                  <a:pt x="12333" y="14669"/>
                </a:lnTo>
                <a:lnTo>
                  <a:pt x="0" y="59537"/>
                </a:lnTo>
                <a:lnTo>
                  <a:pt x="8382" y="65330"/>
                </a:lnTo>
                <a:lnTo>
                  <a:pt x="29815" y="1233"/>
                </a:lnTo>
                <a:lnTo>
                  <a:pt x="23349" y="0"/>
                </a:lnTo>
                <a:close/>
              </a:path>
            </a:pathLst>
          </a:custGeom>
          <a:solidFill>
            <a:srgbClr val="ded5c5"/>
          </a:solidFill>
          <a:ln w="6191">
            <a:solidFill>
              <a:srgbClr val="b5a68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37" name="คลองบางนา"/>
          <p:cNvSpPr/>
          <p:nvPr/>
        </p:nvSpPr>
        <p:spPr>
          <a:xfrm>
            <a:off x="6572520" y="6441120"/>
            <a:ext cx="146520" cy="121680"/>
          </a:xfrm>
          <a:custGeom>
            <a:avLst/>
            <a:gdLst/>
            <a:ahLst/>
            <a:rect l="l" t="t" r="r" b="b"/>
            <a:pathLst>
              <a:path w="146921" h="121909">
                <a:moveTo>
                  <a:pt x="6466" y="44252"/>
                </a:moveTo>
                <a:lnTo>
                  <a:pt x="0" y="89490"/>
                </a:lnTo>
                <a:lnTo>
                  <a:pt x="118183" y="121909"/>
                </a:lnTo>
                <a:lnTo>
                  <a:pt x="114591" y="86902"/>
                </a:lnTo>
                <a:lnTo>
                  <a:pt x="115429" y="69645"/>
                </a:lnTo>
                <a:lnTo>
                  <a:pt x="119740" y="70014"/>
                </a:lnTo>
                <a:lnTo>
                  <a:pt x="120578" y="63235"/>
                </a:lnTo>
                <a:lnTo>
                  <a:pt x="128481" y="64467"/>
                </a:lnTo>
                <a:lnTo>
                  <a:pt x="133151" y="42526"/>
                </a:lnTo>
                <a:lnTo>
                  <a:pt x="146921" y="4931"/>
                </a:lnTo>
                <a:lnTo>
                  <a:pt x="119620" y="0"/>
                </a:lnTo>
                <a:lnTo>
                  <a:pt x="102258" y="40308"/>
                </a:lnTo>
                <a:lnTo>
                  <a:pt x="91840" y="57195"/>
                </a:lnTo>
                <a:lnTo>
                  <a:pt x="73879" y="58674"/>
                </a:lnTo>
                <a:lnTo>
                  <a:pt x="56517" y="57318"/>
                </a:lnTo>
                <a:lnTo>
                  <a:pt x="25624" y="47210"/>
                </a:lnTo>
                <a:lnTo>
                  <a:pt x="6466" y="4425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38" name="บ้านเรวัตินิเวศน์ 2"/>
          <p:cNvSpPr/>
          <p:nvPr/>
        </p:nvSpPr>
        <p:spPr>
          <a:xfrm>
            <a:off x="6302160" y="6480000"/>
            <a:ext cx="47520" cy="57960"/>
          </a:xfrm>
          <a:custGeom>
            <a:avLst/>
            <a:gdLst/>
            <a:ahLst/>
            <a:rect l="l" t="t" r="r" b="b"/>
            <a:pathLst>
              <a:path w="47896" h="58181">
                <a:moveTo>
                  <a:pt x="2275" y="0"/>
                </a:moveTo>
                <a:lnTo>
                  <a:pt x="0" y="5424"/>
                </a:lnTo>
                <a:lnTo>
                  <a:pt x="12692" y="10724"/>
                </a:lnTo>
                <a:lnTo>
                  <a:pt x="10777" y="15531"/>
                </a:lnTo>
                <a:lnTo>
                  <a:pt x="17123" y="18366"/>
                </a:lnTo>
                <a:lnTo>
                  <a:pt x="15446" y="22927"/>
                </a:lnTo>
                <a:lnTo>
                  <a:pt x="28618" y="28351"/>
                </a:lnTo>
                <a:lnTo>
                  <a:pt x="21553" y="52264"/>
                </a:lnTo>
                <a:lnTo>
                  <a:pt x="33407" y="58181"/>
                </a:lnTo>
                <a:lnTo>
                  <a:pt x="36161" y="50908"/>
                </a:lnTo>
                <a:lnTo>
                  <a:pt x="33407" y="50169"/>
                </a:lnTo>
                <a:lnTo>
                  <a:pt x="34485" y="45854"/>
                </a:lnTo>
                <a:lnTo>
                  <a:pt x="35682" y="46101"/>
                </a:lnTo>
                <a:lnTo>
                  <a:pt x="36640" y="42280"/>
                </a:lnTo>
                <a:lnTo>
                  <a:pt x="38197" y="42773"/>
                </a:lnTo>
                <a:lnTo>
                  <a:pt x="41310" y="28228"/>
                </a:lnTo>
                <a:lnTo>
                  <a:pt x="46459" y="29707"/>
                </a:lnTo>
                <a:lnTo>
                  <a:pt x="47896" y="19969"/>
                </a:lnTo>
                <a:lnTo>
                  <a:pt x="13770" y="7766"/>
                </a:lnTo>
                <a:lnTo>
                  <a:pt x="14369" y="5917"/>
                </a:lnTo>
                <a:lnTo>
                  <a:pt x="2275" y="0"/>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39" name="หมู่บ้านทิมเรืองเวช"/>
          <p:cNvSpPr/>
          <p:nvPr/>
        </p:nvSpPr>
        <p:spPr>
          <a:xfrm>
            <a:off x="6276960" y="6458760"/>
            <a:ext cx="32760" cy="49680"/>
          </a:xfrm>
          <a:custGeom>
            <a:avLst/>
            <a:gdLst/>
            <a:ahLst/>
            <a:rect l="l" t="t" r="r" b="b"/>
            <a:pathLst>
              <a:path w="33168" h="50045">
                <a:moveTo>
                  <a:pt x="18560" y="0"/>
                </a:moveTo>
                <a:lnTo>
                  <a:pt x="18200" y="1849"/>
                </a:lnTo>
                <a:lnTo>
                  <a:pt x="20835" y="2835"/>
                </a:lnTo>
                <a:lnTo>
                  <a:pt x="19997" y="4931"/>
                </a:lnTo>
                <a:lnTo>
                  <a:pt x="17841" y="4068"/>
                </a:lnTo>
                <a:lnTo>
                  <a:pt x="14728" y="10231"/>
                </a:lnTo>
                <a:lnTo>
                  <a:pt x="0" y="44499"/>
                </a:lnTo>
                <a:lnTo>
                  <a:pt x="12692" y="50045"/>
                </a:lnTo>
                <a:lnTo>
                  <a:pt x="22391" y="28474"/>
                </a:lnTo>
                <a:lnTo>
                  <a:pt x="27420" y="21325"/>
                </a:lnTo>
                <a:lnTo>
                  <a:pt x="33048" y="6040"/>
                </a:lnTo>
                <a:lnTo>
                  <a:pt x="33168" y="4191"/>
                </a:lnTo>
                <a:lnTo>
                  <a:pt x="18560" y="0"/>
                </a:lnTo>
                <a:close/>
              </a:path>
            </a:pathLst>
          </a:custGeom>
          <a:solidFill>
            <a:srgbClr val="ded5c5"/>
          </a:solidFill>
          <a:ln w="6191">
            <a:solidFill>
              <a:srgbClr val="b5a68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40" name="ร่มประดู่"/>
          <p:cNvSpPr/>
          <p:nvPr/>
        </p:nvSpPr>
        <p:spPr>
          <a:xfrm>
            <a:off x="6018840" y="6407280"/>
            <a:ext cx="37080" cy="54000"/>
          </a:xfrm>
          <a:custGeom>
            <a:avLst/>
            <a:gdLst/>
            <a:ahLst/>
            <a:rect l="l" t="t" r="r" b="b"/>
            <a:pathLst>
              <a:path w="37479" h="54483">
                <a:moveTo>
                  <a:pt x="0" y="1356"/>
                </a:moveTo>
                <a:lnTo>
                  <a:pt x="4311" y="46841"/>
                </a:lnTo>
                <a:lnTo>
                  <a:pt x="23708" y="49922"/>
                </a:lnTo>
                <a:lnTo>
                  <a:pt x="23349" y="51155"/>
                </a:lnTo>
                <a:lnTo>
                  <a:pt x="36161" y="54483"/>
                </a:lnTo>
                <a:lnTo>
                  <a:pt x="37479" y="47827"/>
                </a:lnTo>
                <a:lnTo>
                  <a:pt x="27181" y="45238"/>
                </a:lnTo>
                <a:lnTo>
                  <a:pt x="29935" y="33158"/>
                </a:lnTo>
                <a:lnTo>
                  <a:pt x="20476" y="29460"/>
                </a:lnTo>
                <a:lnTo>
                  <a:pt x="28019" y="7273"/>
                </a:lnTo>
                <a:lnTo>
                  <a:pt x="22990" y="5793"/>
                </a:lnTo>
                <a:lnTo>
                  <a:pt x="22990" y="3082"/>
                </a:lnTo>
                <a:lnTo>
                  <a:pt x="12094" y="0"/>
                </a:lnTo>
                <a:lnTo>
                  <a:pt x="12333" y="3821"/>
                </a:lnTo>
                <a:lnTo>
                  <a:pt x="0" y="1356"/>
                </a:lnTo>
                <a:close/>
              </a:path>
            </a:pathLst>
          </a:custGeom>
          <a:solidFill>
            <a:srgbClr val="ded5c5"/>
          </a:solidFill>
          <a:ln w="6191">
            <a:solidFill>
              <a:srgbClr val="b5a68d"/>
            </a:solidFill>
            <a:round/>
          </a:ln>
        </p:spPr>
        <p:style>
          <a:lnRef idx="0"/>
          <a:fillRef idx="0"/>
          <a:effectRef idx="0"/>
          <a:fontRef idx="minor"/>
        </p:style>
        <p:txBody>
          <a:bodyPr lIns="90000" rIns="90000" tIns="9000" bIns="9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41" name="ประชานฤมิตร"/>
          <p:cNvSpPr/>
          <p:nvPr/>
        </p:nvSpPr>
        <p:spPr>
          <a:xfrm>
            <a:off x="5169240" y="4614120"/>
            <a:ext cx="116280" cy="42840"/>
          </a:xfrm>
          <a:custGeom>
            <a:avLst/>
            <a:gdLst/>
            <a:ahLst/>
            <a:rect l="l" t="t" r="r" b="b"/>
            <a:pathLst>
              <a:path w="116507" h="43143">
                <a:moveTo>
                  <a:pt x="239" y="24776"/>
                </a:moveTo>
                <a:lnTo>
                  <a:pt x="0" y="43143"/>
                </a:lnTo>
                <a:lnTo>
                  <a:pt x="112675" y="30200"/>
                </a:lnTo>
                <a:lnTo>
                  <a:pt x="116507" y="0"/>
                </a:lnTo>
                <a:lnTo>
                  <a:pt x="42627" y="16764"/>
                </a:lnTo>
                <a:lnTo>
                  <a:pt x="239" y="24776"/>
                </a:lnTo>
                <a:close/>
              </a:path>
            </a:pathLst>
          </a:custGeom>
          <a:solidFill>
            <a:srgbClr val="ded5c5"/>
          </a:solidFill>
          <a:ln w="6191">
            <a:solidFill>
              <a:srgbClr val="b5a68d"/>
            </a:solidFill>
            <a:round/>
          </a:ln>
        </p:spPr>
        <p:style>
          <a:lnRef idx="0"/>
          <a:fillRef idx="0"/>
          <a:effectRef idx="0"/>
          <a:fontRef idx="minor"/>
        </p:style>
        <p:txBody>
          <a:bodyPr lIns="90000" rIns="90000" tIns="-2160" bIns="-2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42" name="หมู่บ้านเขมาเนรมิตรนิเวศน์"/>
          <p:cNvSpPr/>
          <p:nvPr/>
        </p:nvSpPr>
        <p:spPr>
          <a:xfrm>
            <a:off x="5211360" y="4573440"/>
            <a:ext cx="24480" cy="28080"/>
          </a:xfrm>
          <a:custGeom>
            <a:avLst/>
            <a:gdLst/>
            <a:ahLst/>
            <a:rect l="l" t="t" r="r" b="b"/>
            <a:pathLst>
              <a:path w="24666" h="28474">
                <a:moveTo>
                  <a:pt x="0" y="2465"/>
                </a:moveTo>
                <a:lnTo>
                  <a:pt x="2993" y="10724"/>
                </a:lnTo>
                <a:lnTo>
                  <a:pt x="5867" y="9738"/>
                </a:lnTo>
                <a:lnTo>
                  <a:pt x="8741" y="18243"/>
                </a:lnTo>
                <a:lnTo>
                  <a:pt x="1317" y="21818"/>
                </a:lnTo>
                <a:lnTo>
                  <a:pt x="3113" y="28474"/>
                </a:lnTo>
                <a:lnTo>
                  <a:pt x="14967" y="24653"/>
                </a:lnTo>
                <a:lnTo>
                  <a:pt x="12573" y="16148"/>
                </a:lnTo>
                <a:lnTo>
                  <a:pt x="24666" y="13189"/>
                </a:lnTo>
                <a:lnTo>
                  <a:pt x="23469" y="9245"/>
                </a:lnTo>
                <a:lnTo>
                  <a:pt x="17003" y="10724"/>
                </a:lnTo>
                <a:lnTo>
                  <a:pt x="16165" y="6410"/>
                </a:lnTo>
                <a:lnTo>
                  <a:pt x="9100" y="8135"/>
                </a:lnTo>
                <a:lnTo>
                  <a:pt x="6705" y="0"/>
                </a:lnTo>
                <a:lnTo>
                  <a:pt x="0" y="2465"/>
                </a:lnTo>
                <a:close/>
              </a:path>
            </a:pathLst>
          </a:custGeom>
          <a:solidFill>
            <a:srgbClr val="ded5c5"/>
          </a:solidFill>
          <a:ln w="6191">
            <a:solidFill>
              <a:srgbClr val="b5a68d"/>
            </a:solidFill>
            <a:round/>
          </a:ln>
        </p:spPr>
        <p:style>
          <a:lnRef idx="0"/>
          <a:fillRef idx="0"/>
          <a:effectRef idx="0"/>
          <a:fontRef idx="minor"/>
        </p:style>
        <p:txBody>
          <a:bodyPr lIns="90000" rIns="90000" tIns="-16920" bIns="-16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43" name="คลองบ้านม้าหมู่ 10"/>
          <p:cNvSpPr/>
          <p:nvPr/>
        </p:nvSpPr>
        <p:spPr>
          <a:xfrm>
            <a:off x="6895440" y="5105880"/>
            <a:ext cx="52200" cy="206280"/>
          </a:xfrm>
          <a:custGeom>
            <a:avLst/>
            <a:gdLst/>
            <a:ahLst/>
            <a:rect l="l" t="t" r="r" b="b"/>
            <a:pathLst>
              <a:path w="52566" h="206468">
                <a:moveTo>
                  <a:pt x="36042" y="86409"/>
                </a:moveTo>
                <a:lnTo>
                  <a:pt x="42268" y="85053"/>
                </a:lnTo>
                <a:lnTo>
                  <a:pt x="3592" y="0"/>
                </a:lnTo>
                <a:lnTo>
                  <a:pt x="0" y="1726"/>
                </a:lnTo>
                <a:lnTo>
                  <a:pt x="34485" y="77533"/>
                </a:lnTo>
                <a:lnTo>
                  <a:pt x="35323" y="92572"/>
                </a:lnTo>
                <a:lnTo>
                  <a:pt x="38796" y="105515"/>
                </a:lnTo>
                <a:lnTo>
                  <a:pt x="40831" y="128072"/>
                </a:lnTo>
                <a:lnTo>
                  <a:pt x="44184" y="199072"/>
                </a:lnTo>
                <a:lnTo>
                  <a:pt x="45022" y="204126"/>
                </a:lnTo>
                <a:lnTo>
                  <a:pt x="48734" y="206468"/>
                </a:lnTo>
                <a:lnTo>
                  <a:pt x="52566" y="148411"/>
                </a:lnTo>
                <a:lnTo>
                  <a:pt x="51488" y="129058"/>
                </a:lnTo>
                <a:lnTo>
                  <a:pt x="49213" y="107980"/>
                </a:lnTo>
                <a:lnTo>
                  <a:pt x="43226" y="108103"/>
                </a:lnTo>
                <a:lnTo>
                  <a:pt x="43825" y="102556"/>
                </a:lnTo>
                <a:lnTo>
                  <a:pt x="38317" y="101693"/>
                </a:lnTo>
                <a:lnTo>
                  <a:pt x="36042" y="8640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44" name="ราษฎร์นิมิตสัมพันธ์"/>
          <p:cNvSpPr/>
          <p:nvPr/>
        </p:nvSpPr>
        <p:spPr>
          <a:xfrm>
            <a:off x="7560000" y="3325320"/>
            <a:ext cx="85320" cy="128520"/>
          </a:xfrm>
          <a:custGeom>
            <a:avLst/>
            <a:gdLst/>
            <a:ahLst/>
            <a:rect l="l" t="t" r="r" b="b"/>
            <a:pathLst>
              <a:path w="85853" h="128812">
                <a:moveTo>
                  <a:pt x="5388" y="128812"/>
                </a:moveTo>
                <a:lnTo>
                  <a:pt x="85853" y="113897"/>
                </a:lnTo>
                <a:lnTo>
                  <a:pt x="84417" y="0"/>
                </a:lnTo>
                <a:lnTo>
                  <a:pt x="0" y="4438"/>
                </a:lnTo>
                <a:lnTo>
                  <a:pt x="3951" y="62372"/>
                </a:lnTo>
                <a:lnTo>
                  <a:pt x="5388" y="12881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45" name="สายสัมพันธ์พัฒนา"/>
          <p:cNvSpPr/>
          <p:nvPr/>
        </p:nvSpPr>
        <p:spPr>
          <a:xfrm>
            <a:off x="7573680" y="3890880"/>
            <a:ext cx="77400" cy="60840"/>
          </a:xfrm>
          <a:custGeom>
            <a:avLst/>
            <a:gdLst/>
            <a:ahLst/>
            <a:rect l="l" t="t" r="r" b="b"/>
            <a:pathLst>
              <a:path w="77591" h="61139">
                <a:moveTo>
                  <a:pt x="66096" y="49429"/>
                </a:moveTo>
                <a:lnTo>
                  <a:pt x="77591" y="48320"/>
                </a:lnTo>
                <a:lnTo>
                  <a:pt x="76634" y="0"/>
                </a:lnTo>
                <a:lnTo>
                  <a:pt x="29576" y="7026"/>
                </a:lnTo>
                <a:lnTo>
                  <a:pt x="0" y="9615"/>
                </a:lnTo>
                <a:lnTo>
                  <a:pt x="1437" y="61139"/>
                </a:lnTo>
                <a:lnTo>
                  <a:pt x="66096" y="49429"/>
                </a:lnTo>
                <a:close/>
              </a:path>
            </a:pathLst>
          </a:custGeom>
          <a:solidFill>
            <a:srgbClr val="ded5c5"/>
          </a:solidFill>
          <a:ln w="6191">
            <a:solidFill>
              <a:srgbClr val="b5a68d"/>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46" name="สุขสำราญพัฒนา"/>
          <p:cNvSpPr/>
          <p:nvPr/>
        </p:nvSpPr>
        <p:spPr>
          <a:xfrm>
            <a:off x="7500600" y="3445920"/>
            <a:ext cx="48600" cy="11160"/>
          </a:xfrm>
          <a:custGeom>
            <a:avLst/>
            <a:gdLst/>
            <a:ahLst/>
            <a:rect l="l" t="t" r="r" b="b"/>
            <a:pathLst>
              <a:path w="48854" h="11464">
                <a:moveTo>
                  <a:pt x="1796" y="4314"/>
                </a:moveTo>
                <a:lnTo>
                  <a:pt x="0" y="11464"/>
                </a:lnTo>
                <a:lnTo>
                  <a:pt x="45621" y="7889"/>
                </a:lnTo>
                <a:lnTo>
                  <a:pt x="48016" y="7642"/>
                </a:lnTo>
                <a:lnTo>
                  <a:pt x="48854" y="0"/>
                </a:lnTo>
                <a:lnTo>
                  <a:pt x="1796" y="4314"/>
                </a:lnTo>
                <a:close/>
              </a:path>
            </a:pathLst>
          </a:custGeom>
          <a:solidFill>
            <a:srgbClr val="ded5c5"/>
          </a:solidFill>
          <a:ln w="6191">
            <a:solidFill>
              <a:srgbClr val="b5a68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47" name="เบญจมพัฒนา"/>
          <p:cNvSpPr/>
          <p:nvPr/>
        </p:nvSpPr>
        <p:spPr>
          <a:xfrm>
            <a:off x="7214040" y="3611160"/>
            <a:ext cx="103320" cy="79560"/>
          </a:xfrm>
          <a:custGeom>
            <a:avLst/>
            <a:gdLst/>
            <a:ahLst/>
            <a:rect l="l" t="t" r="r" b="b"/>
            <a:pathLst>
              <a:path w="103814" h="79876">
                <a:moveTo>
                  <a:pt x="0" y="79876"/>
                </a:moveTo>
                <a:lnTo>
                  <a:pt x="101779" y="63605"/>
                </a:lnTo>
                <a:lnTo>
                  <a:pt x="103814" y="0"/>
                </a:lnTo>
                <a:lnTo>
                  <a:pt x="64540" y="1726"/>
                </a:lnTo>
                <a:lnTo>
                  <a:pt x="5029" y="7889"/>
                </a:lnTo>
                <a:lnTo>
                  <a:pt x="2993" y="30200"/>
                </a:lnTo>
                <a:lnTo>
                  <a:pt x="1796" y="31432"/>
                </a:lnTo>
                <a:lnTo>
                  <a:pt x="0" y="79876"/>
                </a:lnTo>
                <a:close/>
              </a:path>
            </a:pathLst>
          </a:custGeom>
          <a:solidFill>
            <a:srgbClr val="ded5c5"/>
          </a:solidFill>
          <a:ln w="6191">
            <a:solidFill>
              <a:srgbClr val="b5a68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48" name="เมืองประชา-รามอินทรา"/>
          <p:cNvSpPr/>
          <p:nvPr/>
        </p:nvSpPr>
        <p:spPr>
          <a:xfrm>
            <a:off x="7514280" y="3858840"/>
            <a:ext cx="56520" cy="72720"/>
          </a:xfrm>
          <a:custGeom>
            <a:avLst/>
            <a:gdLst/>
            <a:ahLst/>
            <a:rect l="l" t="t" r="r" b="b"/>
            <a:pathLst>
              <a:path w="56757" h="73219">
                <a:moveTo>
                  <a:pt x="56757" y="28228"/>
                </a:moveTo>
                <a:lnTo>
                  <a:pt x="44902" y="28967"/>
                </a:lnTo>
                <a:lnTo>
                  <a:pt x="44304" y="0"/>
                </a:lnTo>
                <a:lnTo>
                  <a:pt x="24906" y="370"/>
                </a:lnTo>
                <a:lnTo>
                  <a:pt x="24666" y="39815"/>
                </a:lnTo>
                <a:lnTo>
                  <a:pt x="0" y="41294"/>
                </a:lnTo>
                <a:lnTo>
                  <a:pt x="1317" y="64837"/>
                </a:lnTo>
                <a:lnTo>
                  <a:pt x="14967" y="68658"/>
                </a:lnTo>
                <a:lnTo>
                  <a:pt x="23349" y="73219"/>
                </a:lnTo>
                <a:lnTo>
                  <a:pt x="34485" y="72973"/>
                </a:lnTo>
                <a:lnTo>
                  <a:pt x="34246" y="38828"/>
                </a:lnTo>
                <a:lnTo>
                  <a:pt x="45022" y="38089"/>
                </a:lnTo>
                <a:lnTo>
                  <a:pt x="45621" y="30446"/>
                </a:lnTo>
                <a:lnTo>
                  <a:pt x="56637" y="29830"/>
                </a:lnTo>
                <a:lnTo>
                  <a:pt x="56757" y="28228"/>
                </a:lnTo>
                <a:close/>
              </a:path>
            </a:pathLst>
          </a:custGeom>
          <a:solidFill>
            <a:srgbClr val="ded5c5"/>
          </a:solidFill>
          <a:ln w="6191">
            <a:solidFill>
              <a:srgbClr val="b5a68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49" name="พระยาสุเรนทร์"/>
          <p:cNvSpPr/>
          <p:nvPr/>
        </p:nvSpPr>
        <p:spPr>
          <a:xfrm>
            <a:off x="7117920" y="3905640"/>
            <a:ext cx="16560" cy="37080"/>
          </a:xfrm>
          <a:custGeom>
            <a:avLst/>
            <a:gdLst/>
            <a:ahLst/>
            <a:rect l="l" t="t" r="r" b="b"/>
            <a:pathLst>
              <a:path w="16883" h="37596">
                <a:moveTo>
                  <a:pt x="1916" y="37596"/>
                </a:moveTo>
                <a:lnTo>
                  <a:pt x="5388" y="32049"/>
                </a:lnTo>
                <a:lnTo>
                  <a:pt x="6945" y="32172"/>
                </a:lnTo>
                <a:lnTo>
                  <a:pt x="6586" y="29953"/>
                </a:lnTo>
                <a:lnTo>
                  <a:pt x="16883" y="13436"/>
                </a:lnTo>
                <a:lnTo>
                  <a:pt x="14129" y="0"/>
                </a:lnTo>
                <a:lnTo>
                  <a:pt x="12213" y="616"/>
                </a:lnTo>
                <a:lnTo>
                  <a:pt x="14608" y="11833"/>
                </a:lnTo>
                <a:lnTo>
                  <a:pt x="0" y="36733"/>
                </a:lnTo>
                <a:lnTo>
                  <a:pt x="1916" y="37596"/>
                </a:lnTo>
                <a:close/>
              </a:path>
            </a:pathLst>
          </a:custGeom>
          <a:solidFill>
            <a:srgbClr val="ded5c5"/>
          </a:solidFill>
          <a:ln w="6191">
            <a:solidFill>
              <a:srgbClr val="b5a68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50" name="มโนรมย์ 5"/>
          <p:cNvSpPr/>
          <p:nvPr/>
        </p:nvSpPr>
        <p:spPr>
          <a:xfrm>
            <a:off x="7482600" y="3637440"/>
            <a:ext cx="4680" cy="60480"/>
          </a:xfrm>
          <a:custGeom>
            <a:avLst/>
            <a:gdLst/>
            <a:ahLst/>
            <a:rect l="l" t="t" r="r" b="b"/>
            <a:pathLst>
              <a:path w="5149" h="60893">
                <a:moveTo>
                  <a:pt x="0" y="60400"/>
                </a:moveTo>
                <a:lnTo>
                  <a:pt x="5149" y="60893"/>
                </a:lnTo>
                <a:lnTo>
                  <a:pt x="5029" y="0"/>
                </a:lnTo>
                <a:lnTo>
                  <a:pt x="2874" y="0"/>
                </a:lnTo>
                <a:lnTo>
                  <a:pt x="2754" y="6163"/>
                </a:lnTo>
                <a:lnTo>
                  <a:pt x="120" y="6163"/>
                </a:lnTo>
                <a:lnTo>
                  <a:pt x="0" y="60400"/>
                </a:lnTo>
                <a:close/>
              </a:path>
            </a:pathLst>
          </a:custGeom>
          <a:solidFill>
            <a:srgbClr val="ded5c5"/>
          </a:solidFill>
          <a:ln w="6191">
            <a:solidFill>
              <a:srgbClr val="b5a68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51" name="หมู่บ้านเค.ซี. 4 ร่วมใจ"/>
          <p:cNvSpPr/>
          <p:nvPr/>
        </p:nvSpPr>
        <p:spPr>
          <a:xfrm>
            <a:off x="7535520" y="3694320"/>
            <a:ext cx="17640" cy="77400"/>
          </a:xfrm>
          <a:custGeom>
            <a:avLst/>
            <a:gdLst/>
            <a:ahLst/>
            <a:rect l="l" t="t" r="r" b="b"/>
            <a:pathLst>
              <a:path w="18081" h="77780">
                <a:moveTo>
                  <a:pt x="18081" y="0"/>
                </a:moveTo>
                <a:lnTo>
                  <a:pt x="0" y="1972"/>
                </a:lnTo>
                <a:lnTo>
                  <a:pt x="0" y="77780"/>
                </a:lnTo>
                <a:lnTo>
                  <a:pt x="17841" y="77780"/>
                </a:lnTo>
                <a:lnTo>
                  <a:pt x="18081" y="0"/>
                </a:lnTo>
                <a:close/>
              </a:path>
            </a:pathLst>
          </a:custGeom>
          <a:solidFill>
            <a:srgbClr val="ded5c5"/>
          </a:solidFill>
          <a:ln w="6191">
            <a:solidFill>
              <a:srgbClr val="b5a68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52" name="ริมคลองหนองระแหง"/>
          <p:cNvSpPr/>
          <p:nvPr/>
        </p:nvSpPr>
        <p:spPr>
          <a:xfrm>
            <a:off x="7317000" y="3370320"/>
            <a:ext cx="51120" cy="53280"/>
          </a:xfrm>
          <a:custGeom>
            <a:avLst/>
            <a:gdLst/>
            <a:ahLst/>
            <a:rect l="l" t="t" r="r" b="b"/>
            <a:pathLst>
              <a:path w="51608" h="53743">
                <a:moveTo>
                  <a:pt x="0" y="31063"/>
                </a:moveTo>
                <a:lnTo>
                  <a:pt x="27181" y="53743"/>
                </a:lnTo>
                <a:lnTo>
                  <a:pt x="51608" y="33775"/>
                </a:lnTo>
                <a:lnTo>
                  <a:pt x="31372" y="10354"/>
                </a:lnTo>
                <a:lnTo>
                  <a:pt x="16404" y="0"/>
                </a:lnTo>
                <a:lnTo>
                  <a:pt x="0" y="31063"/>
                </a:lnTo>
                <a:close/>
              </a:path>
            </a:pathLst>
          </a:custGeom>
          <a:solidFill>
            <a:srgbClr val="ded5c5"/>
          </a:solidFill>
          <a:ln w="6191">
            <a:solidFill>
              <a:srgbClr val="b5a68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53" name="นิติบุคคลอาคารชุด เคหะชุมชนบางนา 2"/>
          <p:cNvSpPr/>
          <p:nvPr/>
        </p:nvSpPr>
        <p:spPr>
          <a:xfrm>
            <a:off x="6580440" y="6456600"/>
            <a:ext cx="18360" cy="27360"/>
          </a:xfrm>
          <a:custGeom>
            <a:avLst/>
            <a:gdLst/>
            <a:ahLst/>
            <a:rect l="l" t="t" r="r" b="b"/>
            <a:pathLst>
              <a:path w="18799" h="27735">
                <a:moveTo>
                  <a:pt x="7184" y="0"/>
                </a:moveTo>
                <a:lnTo>
                  <a:pt x="0" y="20832"/>
                </a:lnTo>
                <a:lnTo>
                  <a:pt x="4670" y="21818"/>
                </a:lnTo>
                <a:lnTo>
                  <a:pt x="3951" y="26872"/>
                </a:lnTo>
                <a:lnTo>
                  <a:pt x="9579" y="27735"/>
                </a:lnTo>
                <a:lnTo>
                  <a:pt x="18799" y="1479"/>
                </a:lnTo>
                <a:lnTo>
                  <a:pt x="7184" y="0"/>
                </a:lnTo>
                <a:close/>
              </a:path>
            </a:pathLst>
          </a:custGeom>
          <a:solidFill>
            <a:srgbClr val="ded5c5"/>
          </a:solidFill>
          <a:ln w="6191">
            <a:solidFill>
              <a:srgbClr val="b5a68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54" name="พึ่งบุญ"/>
          <p:cNvSpPr/>
          <p:nvPr/>
        </p:nvSpPr>
        <p:spPr>
          <a:xfrm>
            <a:off x="6071040" y="6315480"/>
            <a:ext cx="17640" cy="39600"/>
          </a:xfrm>
          <a:custGeom>
            <a:avLst/>
            <a:gdLst/>
            <a:ahLst/>
            <a:rect l="l" t="t" r="r" b="b"/>
            <a:pathLst>
              <a:path w="17841" h="39815">
                <a:moveTo>
                  <a:pt x="13531" y="0"/>
                </a:moveTo>
                <a:lnTo>
                  <a:pt x="0" y="35130"/>
                </a:lnTo>
                <a:lnTo>
                  <a:pt x="9819" y="39815"/>
                </a:lnTo>
                <a:lnTo>
                  <a:pt x="10657" y="37349"/>
                </a:lnTo>
                <a:lnTo>
                  <a:pt x="4670" y="35254"/>
                </a:lnTo>
                <a:lnTo>
                  <a:pt x="17841" y="1602"/>
                </a:lnTo>
                <a:lnTo>
                  <a:pt x="13531" y="0"/>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55" name="ชุมชนหมู่บ้านร่วมเกื้อ"/>
          <p:cNvSpPr/>
          <p:nvPr/>
        </p:nvSpPr>
        <p:spPr>
          <a:xfrm>
            <a:off x="2877120" y="5113800"/>
            <a:ext cx="44280" cy="61200"/>
          </a:xfrm>
          <a:custGeom>
            <a:avLst/>
            <a:gdLst/>
            <a:ahLst/>
            <a:rect l="l" t="t" r="r" b="b"/>
            <a:pathLst>
              <a:path w="44543" h="61632">
                <a:moveTo>
                  <a:pt x="2036" y="2835"/>
                </a:moveTo>
                <a:lnTo>
                  <a:pt x="0" y="30816"/>
                </a:lnTo>
                <a:lnTo>
                  <a:pt x="21793" y="38212"/>
                </a:lnTo>
                <a:lnTo>
                  <a:pt x="22272" y="61016"/>
                </a:lnTo>
                <a:lnTo>
                  <a:pt x="44543" y="61632"/>
                </a:lnTo>
                <a:lnTo>
                  <a:pt x="43825" y="0"/>
                </a:lnTo>
                <a:lnTo>
                  <a:pt x="2036" y="2835"/>
                </a:lnTo>
                <a:close/>
              </a:path>
            </a:pathLst>
          </a:custGeom>
          <a:solidFill>
            <a:srgbClr val="ded5c5"/>
          </a:solidFill>
          <a:ln w="6191">
            <a:solidFill>
              <a:srgbClr val="b5a68d"/>
            </a:solidFill>
            <a:round/>
          </a:ln>
        </p:spPr>
        <p:style>
          <a:lnRef idx="0"/>
          <a:fillRef idx="0"/>
          <a:effectRef idx="0"/>
          <a:fontRef idx="minor"/>
        </p:style>
        <p:txBody>
          <a:bodyPr lIns="90000" rIns="90000" tIns="16200" bIns="16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56" name="ชุมชนหมู่บ้านสินพัฒนาธานี"/>
          <p:cNvSpPr/>
          <p:nvPr/>
        </p:nvSpPr>
        <p:spPr>
          <a:xfrm>
            <a:off x="2944080" y="5425560"/>
            <a:ext cx="155880" cy="129240"/>
          </a:xfrm>
          <a:custGeom>
            <a:avLst/>
            <a:gdLst/>
            <a:ahLst/>
            <a:rect l="l" t="t" r="r" b="b"/>
            <a:pathLst>
              <a:path w="156141" h="129551">
                <a:moveTo>
                  <a:pt x="22870" y="60646"/>
                </a:moveTo>
                <a:lnTo>
                  <a:pt x="23469" y="62742"/>
                </a:lnTo>
                <a:lnTo>
                  <a:pt x="5269" y="71494"/>
                </a:lnTo>
                <a:lnTo>
                  <a:pt x="6107" y="78027"/>
                </a:lnTo>
                <a:lnTo>
                  <a:pt x="0" y="78520"/>
                </a:lnTo>
                <a:lnTo>
                  <a:pt x="239" y="84560"/>
                </a:lnTo>
                <a:lnTo>
                  <a:pt x="51009" y="80369"/>
                </a:lnTo>
                <a:lnTo>
                  <a:pt x="51728" y="89244"/>
                </a:lnTo>
                <a:lnTo>
                  <a:pt x="49572" y="89367"/>
                </a:lnTo>
                <a:lnTo>
                  <a:pt x="49812" y="95284"/>
                </a:lnTo>
                <a:lnTo>
                  <a:pt x="31252" y="97009"/>
                </a:lnTo>
                <a:lnTo>
                  <a:pt x="33048" y="129551"/>
                </a:lnTo>
                <a:lnTo>
                  <a:pt x="45381" y="126963"/>
                </a:lnTo>
                <a:lnTo>
                  <a:pt x="156141" y="119074"/>
                </a:lnTo>
                <a:lnTo>
                  <a:pt x="154225" y="89244"/>
                </a:lnTo>
                <a:lnTo>
                  <a:pt x="146562" y="54360"/>
                </a:lnTo>
                <a:lnTo>
                  <a:pt x="149795" y="54236"/>
                </a:lnTo>
                <a:lnTo>
                  <a:pt x="151591" y="14175"/>
                </a:lnTo>
                <a:lnTo>
                  <a:pt x="149435" y="0"/>
                </a:lnTo>
                <a:lnTo>
                  <a:pt x="107047" y="8135"/>
                </a:lnTo>
                <a:lnTo>
                  <a:pt x="75676" y="27858"/>
                </a:lnTo>
                <a:lnTo>
                  <a:pt x="75197" y="32049"/>
                </a:lnTo>
                <a:lnTo>
                  <a:pt x="60588" y="34514"/>
                </a:lnTo>
                <a:lnTo>
                  <a:pt x="61067" y="45854"/>
                </a:lnTo>
                <a:lnTo>
                  <a:pt x="54122" y="47580"/>
                </a:lnTo>
                <a:lnTo>
                  <a:pt x="54122" y="55962"/>
                </a:lnTo>
                <a:lnTo>
                  <a:pt x="22870" y="6064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57" name="ซอยรอดอนันต์ 7"/>
          <p:cNvSpPr/>
          <p:nvPr/>
        </p:nvSpPr>
        <p:spPr>
          <a:xfrm>
            <a:off x="6850800" y="4349160"/>
            <a:ext cx="49680" cy="18360"/>
          </a:xfrm>
          <a:custGeom>
            <a:avLst/>
            <a:gdLst/>
            <a:ahLst/>
            <a:rect l="l" t="t" r="r" b="b"/>
            <a:pathLst>
              <a:path w="49932" h="18613">
                <a:moveTo>
                  <a:pt x="0" y="11833"/>
                </a:moveTo>
                <a:lnTo>
                  <a:pt x="2395" y="18613"/>
                </a:lnTo>
                <a:lnTo>
                  <a:pt x="35323" y="10847"/>
                </a:lnTo>
                <a:lnTo>
                  <a:pt x="46459" y="9615"/>
                </a:lnTo>
                <a:lnTo>
                  <a:pt x="46459" y="6656"/>
                </a:lnTo>
                <a:lnTo>
                  <a:pt x="49932" y="6040"/>
                </a:lnTo>
                <a:lnTo>
                  <a:pt x="48135" y="0"/>
                </a:lnTo>
                <a:lnTo>
                  <a:pt x="0" y="11833"/>
                </a:lnTo>
                <a:close/>
              </a:path>
            </a:pathLst>
          </a:custGeom>
          <a:solidFill>
            <a:srgbClr val="ded5c5"/>
          </a:solidFill>
          <a:ln w="6191">
            <a:solidFill>
              <a:srgbClr val="b5a68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58" name="หมู่บ้านเปรมฤทัย 1/2"/>
          <p:cNvSpPr/>
          <p:nvPr/>
        </p:nvSpPr>
        <p:spPr>
          <a:xfrm>
            <a:off x="6686280" y="4269960"/>
            <a:ext cx="98640" cy="27000"/>
          </a:xfrm>
          <a:custGeom>
            <a:avLst/>
            <a:gdLst/>
            <a:ahLst/>
            <a:rect l="l" t="t" r="r" b="b"/>
            <a:pathLst>
              <a:path w="99025" h="27242">
                <a:moveTo>
                  <a:pt x="26582" y="20092"/>
                </a:moveTo>
                <a:lnTo>
                  <a:pt x="56517" y="13313"/>
                </a:lnTo>
                <a:lnTo>
                  <a:pt x="59750" y="19969"/>
                </a:lnTo>
                <a:lnTo>
                  <a:pt x="90164" y="19846"/>
                </a:lnTo>
                <a:lnTo>
                  <a:pt x="97588" y="18366"/>
                </a:lnTo>
                <a:lnTo>
                  <a:pt x="99025" y="15655"/>
                </a:lnTo>
                <a:lnTo>
                  <a:pt x="95313" y="0"/>
                </a:lnTo>
                <a:lnTo>
                  <a:pt x="55320" y="1356"/>
                </a:lnTo>
                <a:lnTo>
                  <a:pt x="53284" y="2342"/>
                </a:lnTo>
                <a:lnTo>
                  <a:pt x="53404" y="4191"/>
                </a:lnTo>
                <a:lnTo>
                  <a:pt x="0" y="18120"/>
                </a:lnTo>
                <a:lnTo>
                  <a:pt x="479" y="27242"/>
                </a:lnTo>
                <a:lnTo>
                  <a:pt x="26582" y="20092"/>
                </a:lnTo>
                <a:close/>
              </a:path>
            </a:pathLst>
          </a:custGeom>
          <a:solidFill>
            <a:srgbClr val="ded5c5"/>
          </a:solidFill>
          <a:ln w="6191">
            <a:solidFill>
              <a:srgbClr val="b5a68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59" name="สน.คันนายาว"/>
          <p:cNvSpPr/>
          <p:nvPr/>
        </p:nvSpPr>
        <p:spPr>
          <a:xfrm>
            <a:off x="6937920" y="4111920"/>
            <a:ext cx="13680" cy="9720"/>
          </a:xfrm>
          <a:custGeom>
            <a:avLst/>
            <a:gdLst/>
            <a:ahLst/>
            <a:rect l="l" t="t" r="r" b="b"/>
            <a:pathLst>
              <a:path w="14129" h="9984">
                <a:moveTo>
                  <a:pt x="838" y="9984"/>
                </a:moveTo>
                <a:lnTo>
                  <a:pt x="14129" y="8752"/>
                </a:lnTo>
                <a:lnTo>
                  <a:pt x="12692" y="0"/>
                </a:lnTo>
                <a:lnTo>
                  <a:pt x="0" y="1356"/>
                </a:lnTo>
                <a:lnTo>
                  <a:pt x="838" y="9984"/>
                </a:lnTo>
                <a:close/>
              </a:path>
            </a:pathLst>
          </a:custGeom>
          <a:solidFill>
            <a:srgbClr val="ded5c5"/>
          </a:solidFill>
          <a:ln w="6191">
            <a:solidFill>
              <a:srgbClr val="b5a68d"/>
            </a:solidFill>
            <a:round/>
          </a:ln>
        </p:spPr>
        <p:style>
          <a:lnRef idx="0"/>
          <a:fillRef idx="0"/>
          <a:effectRef idx="0"/>
          <a:fontRef idx="minor"/>
        </p:style>
        <p:txBody>
          <a:bodyPr lIns="90000" rIns="90000" tIns="-35280" bIns="-35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60" name="วัดลาดบัวขาว (ราชโยธา)"/>
          <p:cNvSpPr/>
          <p:nvPr/>
        </p:nvSpPr>
        <p:spPr>
          <a:xfrm>
            <a:off x="7110720" y="5247720"/>
            <a:ext cx="186840" cy="105120"/>
          </a:xfrm>
          <a:custGeom>
            <a:avLst/>
            <a:gdLst/>
            <a:ahLst/>
            <a:rect l="l" t="t" r="r" b="b"/>
            <a:pathLst>
              <a:path w="187034" h="105391">
                <a:moveTo>
                  <a:pt x="44184" y="96023"/>
                </a:moveTo>
                <a:lnTo>
                  <a:pt x="132672" y="105391"/>
                </a:lnTo>
                <a:lnTo>
                  <a:pt x="145125" y="86285"/>
                </a:lnTo>
                <a:lnTo>
                  <a:pt x="127164" y="73712"/>
                </a:lnTo>
                <a:lnTo>
                  <a:pt x="130277" y="62372"/>
                </a:lnTo>
                <a:lnTo>
                  <a:pt x="184519" y="95284"/>
                </a:lnTo>
                <a:lnTo>
                  <a:pt x="187034" y="90476"/>
                </a:lnTo>
                <a:lnTo>
                  <a:pt x="150992" y="17504"/>
                </a:lnTo>
                <a:lnTo>
                  <a:pt x="134109" y="48566"/>
                </a:lnTo>
                <a:lnTo>
                  <a:pt x="119979" y="25393"/>
                </a:lnTo>
                <a:lnTo>
                  <a:pt x="116866" y="28721"/>
                </a:lnTo>
                <a:lnTo>
                  <a:pt x="102138" y="72233"/>
                </a:lnTo>
                <a:lnTo>
                  <a:pt x="59511" y="78027"/>
                </a:lnTo>
                <a:lnTo>
                  <a:pt x="43585" y="82587"/>
                </a:lnTo>
                <a:lnTo>
                  <a:pt x="37958" y="49799"/>
                </a:lnTo>
                <a:lnTo>
                  <a:pt x="33048" y="49922"/>
                </a:lnTo>
                <a:lnTo>
                  <a:pt x="33288" y="46471"/>
                </a:lnTo>
                <a:lnTo>
                  <a:pt x="37000" y="37966"/>
                </a:lnTo>
                <a:lnTo>
                  <a:pt x="45022" y="26379"/>
                </a:lnTo>
                <a:lnTo>
                  <a:pt x="46100" y="19846"/>
                </a:lnTo>
                <a:lnTo>
                  <a:pt x="49812" y="17011"/>
                </a:lnTo>
                <a:lnTo>
                  <a:pt x="38436" y="0"/>
                </a:lnTo>
                <a:lnTo>
                  <a:pt x="0" y="16517"/>
                </a:lnTo>
                <a:lnTo>
                  <a:pt x="12453" y="51648"/>
                </a:lnTo>
                <a:lnTo>
                  <a:pt x="19637" y="53004"/>
                </a:lnTo>
                <a:lnTo>
                  <a:pt x="23349" y="59537"/>
                </a:lnTo>
                <a:lnTo>
                  <a:pt x="15446" y="87025"/>
                </a:lnTo>
                <a:lnTo>
                  <a:pt x="29935" y="91216"/>
                </a:lnTo>
                <a:lnTo>
                  <a:pt x="30055" y="93065"/>
                </a:lnTo>
                <a:lnTo>
                  <a:pt x="44184" y="9602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61" name="หลอแหลสายกลาง"/>
          <p:cNvSpPr/>
          <p:nvPr/>
        </p:nvSpPr>
        <p:spPr>
          <a:xfrm>
            <a:off x="7242120" y="5032800"/>
            <a:ext cx="83160" cy="77400"/>
          </a:xfrm>
          <a:custGeom>
            <a:avLst/>
            <a:gdLst/>
            <a:ahLst/>
            <a:rect l="l" t="t" r="r" b="b"/>
            <a:pathLst>
              <a:path w="83698" h="77780">
                <a:moveTo>
                  <a:pt x="18799" y="68165"/>
                </a:moveTo>
                <a:lnTo>
                  <a:pt x="18200" y="64467"/>
                </a:lnTo>
                <a:lnTo>
                  <a:pt x="34964" y="52881"/>
                </a:lnTo>
                <a:lnTo>
                  <a:pt x="39873" y="52018"/>
                </a:lnTo>
                <a:lnTo>
                  <a:pt x="41071" y="48690"/>
                </a:lnTo>
                <a:lnTo>
                  <a:pt x="45741" y="50169"/>
                </a:lnTo>
                <a:lnTo>
                  <a:pt x="46938" y="46594"/>
                </a:lnTo>
                <a:lnTo>
                  <a:pt x="51608" y="46348"/>
                </a:lnTo>
                <a:lnTo>
                  <a:pt x="50889" y="41047"/>
                </a:lnTo>
                <a:lnTo>
                  <a:pt x="62265" y="34021"/>
                </a:lnTo>
                <a:lnTo>
                  <a:pt x="66935" y="27858"/>
                </a:lnTo>
                <a:lnTo>
                  <a:pt x="72203" y="26009"/>
                </a:lnTo>
                <a:lnTo>
                  <a:pt x="71125" y="22434"/>
                </a:lnTo>
                <a:lnTo>
                  <a:pt x="77831" y="13806"/>
                </a:lnTo>
                <a:lnTo>
                  <a:pt x="81663" y="11217"/>
                </a:lnTo>
                <a:lnTo>
                  <a:pt x="83698" y="6163"/>
                </a:lnTo>
                <a:lnTo>
                  <a:pt x="80585" y="3205"/>
                </a:lnTo>
                <a:lnTo>
                  <a:pt x="77951" y="5547"/>
                </a:lnTo>
                <a:lnTo>
                  <a:pt x="73999" y="0"/>
                </a:lnTo>
                <a:lnTo>
                  <a:pt x="53763" y="23790"/>
                </a:lnTo>
                <a:lnTo>
                  <a:pt x="51728" y="29707"/>
                </a:lnTo>
                <a:lnTo>
                  <a:pt x="45621" y="33281"/>
                </a:lnTo>
                <a:lnTo>
                  <a:pt x="40352" y="33528"/>
                </a:lnTo>
                <a:lnTo>
                  <a:pt x="37000" y="29460"/>
                </a:lnTo>
                <a:lnTo>
                  <a:pt x="17841" y="50539"/>
                </a:lnTo>
                <a:lnTo>
                  <a:pt x="11136" y="51648"/>
                </a:lnTo>
                <a:lnTo>
                  <a:pt x="5149" y="49799"/>
                </a:lnTo>
                <a:lnTo>
                  <a:pt x="0" y="63481"/>
                </a:lnTo>
                <a:lnTo>
                  <a:pt x="13531" y="69891"/>
                </a:lnTo>
                <a:lnTo>
                  <a:pt x="16165" y="77780"/>
                </a:lnTo>
                <a:lnTo>
                  <a:pt x="21912" y="76178"/>
                </a:lnTo>
                <a:lnTo>
                  <a:pt x="18799" y="68165"/>
                </a:lnTo>
                <a:close/>
              </a:path>
            </a:pathLst>
          </a:custGeom>
          <a:solidFill>
            <a:srgbClr val="ded5c5"/>
          </a:solidFill>
          <a:ln w="6191">
            <a:solidFill>
              <a:srgbClr val="b5a68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62" name="หมู่บ้านเคหะนคร"/>
          <p:cNvSpPr/>
          <p:nvPr/>
        </p:nvSpPr>
        <p:spPr>
          <a:xfrm>
            <a:off x="7372800" y="4912560"/>
            <a:ext cx="111960" cy="122040"/>
          </a:xfrm>
          <a:custGeom>
            <a:avLst/>
            <a:gdLst/>
            <a:ahLst/>
            <a:rect l="l" t="t" r="r" b="b"/>
            <a:pathLst>
              <a:path w="112316" h="122402">
                <a:moveTo>
                  <a:pt x="12333" y="56579"/>
                </a:moveTo>
                <a:lnTo>
                  <a:pt x="46339" y="122402"/>
                </a:lnTo>
                <a:lnTo>
                  <a:pt x="54122" y="120676"/>
                </a:lnTo>
                <a:lnTo>
                  <a:pt x="84177" y="98242"/>
                </a:lnTo>
                <a:lnTo>
                  <a:pt x="96870" y="91955"/>
                </a:lnTo>
                <a:lnTo>
                  <a:pt x="104413" y="89983"/>
                </a:lnTo>
                <a:lnTo>
                  <a:pt x="112316" y="90353"/>
                </a:lnTo>
                <a:lnTo>
                  <a:pt x="110999" y="79752"/>
                </a:lnTo>
                <a:lnTo>
                  <a:pt x="105491" y="67796"/>
                </a:lnTo>
                <a:lnTo>
                  <a:pt x="68371" y="0"/>
                </a:lnTo>
                <a:lnTo>
                  <a:pt x="0" y="33158"/>
                </a:lnTo>
                <a:lnTo>
                  <a:pt x="12333" y="5657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63" name="พร้อมใจพัฒนา"/>
          <p:cNvSpPr/>
          <p:nvPr/>
        </p:nvSpPr>
        <p:spPr>
          <a:xfrm>
            <a:off x="7648200" y="3456000"/>
            <a:ext cx="88560" cy="116640"/>
          </a:xfrm>
          <a:custGeom>
            <a:avLst/>
            <a:gdLst/>
            <a:ahLst/>
            <a:rect l="l" t="t" r="r" b="b"/>
            <a:pathLst>
              <a:path w="88847" h="116978">
                <a:moveTo>
                  <a:pt x="479" y="111678"/>
                </a:moveTo>
                <a:lnTo>
                  <a:pt x="838" y="116978"/>
                </a:lnTo>
                <a:lnTo>
                  <a:pt x="6107" y="116608"/>
                </a:lnTo>
                <a:lnTo>
                  <a:pt x="68850" y="102680"/>
                </a:lnTo>
                <a:lnTo>
                  <a:pt x="88847" y="0"/>
                </a:lnTo>
                <a:lnTo>
                  <a:pt x="8621" y="16148"/>
                </a:lnTo>
                <a:lnTo>
                  <a:pt x="0" y="16148"/>
                </a:lnTo>
                <a:lnTo>
                  <a:pt x="479" y="11167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64" name="หมู่ 4 พัฒนา"/>
          <p:cNvSpPr/>
          <p:nvPr/>
        </p:nvSpPr>
        <p:spPr>
          <a:xfrm>
            <a:off x="8657640" y="3102120"/>
            <a:ext cx="218880" cy="119520"/>
          </a:xfrm>
          <a:custGeom>
            <a:avLst/>
            <a:gdLst/>
            <a:ahLst/>
            <a:rect l="l" t="t" r="r" b="b"/>
            <a:pathLst>
              <a:path w="219363" h="119937">
                <a:moveTo>
                  <a:pt x="9938" y="18736"/>
                </a:moveTo>
                <a:lnTo>
                  <a:pt x="2634" y="48813"/>
                </a:lnTo>
                <a:lnTo>
                  <a:pt x="0" y="68905"/>
                </a:lnTo>
                <a:lnTo>
                  <a:pt x="599" y="117964"/>
                </a:lnTo>
                <a:lnTo>
                  <a:pt x="99025" y="119937"/>
                </a:lnTo>
                <a:lnTo>
                  <a:pt x="219363" y="115129"/>
                </a:lnTo>
                <a:lnTo>
                  <a:pt x="218046" y="0"/>
                </a:lnTo>
                <a:lnTo>
                  <a:pt x="126326" y="9738"/>
                </a:lnTo>
                <a:lnTo>
                  <a:pt x="9938" y="1873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65" name="สุเหร่าบึงหนองบอน"/>
          <p:cNvSpPr/>
          <p:nvPr/>
        </p:nvSpPr>
        <p:spPr>
          <a:xfrm>
            <a:off x="6705000" y="5804640"/>
            <a:ext cx="119880" cy="91080"/>
          </a:xfrm>
          <a:custGeom>
            <a:avLst/>
            <a:gdLst/>
            <a:ahLst/>
            <a:rect l="l" t="t" r="r" b="b"/>
            <a:pathLst>
              <a:path w="120219" h="91339">
                <a:moveTo>
                  <a:pt x="0" y="58304"/>
                </a:moveTo>
                <a:lnTo>
                  <a:pt x="3951" y="58304"/>
                </a:lnTo>
                <a:lnTo>
                  <a:pt x="6705" y="54236"/>
                </a:lnTo>
                <a:lnTo>
                  <a:pt x="8980" y="55346"/>
                </a:lnTo>
                <a:lnTo>
                  <a:pt x="10178" y="58427"/>
                </a:lnTo>
                <a:lnTo>
                  <a:pt x="18440" y="57934"/>
                </a:lnTo>
                <a:lnTo>
                  <a:pt x="19637" y="55223"/>
                </a:lnTo>
                <a:lnTo>
                  <a:pt x="33527" y="55346"/>
                </a:lnTo>
                <a:lnTo>
                  <a:pt x="30055" y="68165"/>
                </a:lnTo>
                <a:lnTo>
                  <a:pt x="32569" y="75808"/>
                </a:lnTo>
                <a:lnTo>
                  <a:pt x="33168" y="83820"/>
                </a:lnTo>
                <a:lnTo>
                  <a:pt x="37239" y="82834"/>
                </a:lnTo>
                <a:lnTo>
                  <a:pt x="37479" y="75191"/>
                </a:lnTo>
                <a:lnTo>
                  <a:pt x="66096" y="76424"/>
                </a:lnTo>
                <a:lnTo>
                  <a:pt x="67773" y="74698"/>
                </a:lnTo>
                <a:lnTo>
                  <a:pt x="88607" y="91339"/>
                </a:lnTo>
                <a:lnTo>
                  <a:pt x="91721" y="83820"/>
                </a:lnTo>
                <a:lnTo>
                  <a:pt x="81543" y="71247"/>
                </a:lnTo>
                <a:lnTo>
                  <a:pt x="40352" y="41170"/>
                </a:lnTo>
                <a:lnTo>
                  <a:pt x="33527" y="34761"/>
                </a:lnTo>
                <a:lnTo>
                  <a:pt x="35802" y="31432"/>
                </a:lnTo>
                <a:lnTo>
                  <a:pt x="39514" y="34021"/>
                </a:lnTo>
                <a:lnTo>
                  <a:pt x="38556" y="38459"/>
                </a:lnTo>
                <a:lnTo>
                  <a:pt x="43346" y="42157"/>
                </a:lnTo>
                <a:lnTo>
                  <a:pt x="44064" y="39198"/>
                </a:lnTo>
                <a:lnTo>
                  <a:pt x="67773" y="55839"/>
                </a:lnTo>
                <a:lnTo>
                  <a:pt x="73879" y="45485"/>
                </a:lnTo>
                <a:lnTo>
                  <a:pt x="86452" y="51771"/>
                </a:lnTo>
                <a:lnTo>
                  <a:pt x="89925" y="47210"/>
                </a:lnTo>
                <a:lnTo>
                  <a:pt x="116028" y="63481"/>
                </a:lnTo>
                <a:lnTo>
                  <a:pt x="120219" y="53250"/>
                </a:lnTo>
                <a:lnTo>
                  <a:pt x="63342" y="17997"/>
                </a:lnTo>
                <a:lnTo>
                  <a:pt x="43346" y="0"/>
                </a:lnTo>
                <a:lnTo>
                  <a:pt x="35802" y="5300"/>
                </a:lnTo>
                <a:lnTo>
                  <a:pt x="17003" y="27611"/>
                </a:lnTo>
                <a:lnTo>
                  <a:pt x="14249" y="26748"/>
                </a:lnTo>
                <a:lnTo>
                  <a:pt x="3353" y="39321"/>
                </a:lnTo>
                <a:lnTo>
                  <a:pt x="0" y="5830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66" name="โมราวรรณ 1"/>
          <p:cNvSpPr/>
          <p:nvPr/>
        </p:nvSpPr>
        <p:spPr>
          <a:xfrm>
            <a:off x="6621120" y="5792400"/>
            <a:ext cx="75600" cy="45720"/>
          </a:xfrm>
          <a:custGeom>
            <a:avLst/>
            <a:gdLst/>
            <a:ahLst/>
            <a:rect l="l" t="t" r="r" b="b"/>
            <a:pathLst>
              <a:path w="76035" h="45978">
                <a:moveTo>
                  <a:pt x="16165" y="38705"/>
                </a:moveTo>
                <a:lnTo>
                  <a:pt x="23469" y="39691"/>
                </a:lnTo>
                <a:lnTo>
                  <a:pt x="31851" y="45978"/>
                </a:lnTo>
                <a:lnTo>
                  <a:pt x="55440" y="34884"/>
                </a:lnTo>
                <a:lnTo>
                  <a:pt x="76035" y="22064"/>
                </a:lnTo>
                <a:lnTo>
                  <a:pt x="61067" y="19353"/>
                </a:lnTo>
                <a:lnTo>
                  <a:pt x="59271" y="0"/>
                </a:lnTo>
                <a:lnTo>
                  <a:pt x="32450" y="6903"/>
                </a:lnTo>
                <a:lnTo>
                  <a:pt x="31851" y="2958"/>
                </a:lnTo>
                <a:lnTo>
                  <a:pt x="7663" y="5054"/>
                </a:lnTo>
                <a:lnTo>
                  <a:pt x="0" y="7396"/>
                </a:lnTo>
                <a:lnTo>
                  <a:pt x="7663" y="38582"/>
                </a:lnTo>
                <a:lnTo>
                  <a:pt x="16165" y="38705"/>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67" name="หมู่บ้านเลิศอุบล พระยาสุเรนทร์ 44"/>
          <p:cNvSpPr/>
          <p:nvPr/>
        </p:nvSpPr>
        <p:spPr>
          <a:xfrm>
            <a:off x="7186320" y="3884760"/>
            <a:ext cx="69840" cy="12960"/>
          </a:xfrm>
          <a:custGeom>
            <a:avLst/>
            <a:gdLst/>
            <a:ahLst/>
            <a:rect l="l" t="t" r="r" b="b"/>
            <a:pathLst>
              <a:path w="70287" h="13189">
                <a:moveTo>
                  <a:pt x="8741" y="6287"/>
                </a:moveTo>
                <a:lnTo>
                  <a:pt x="0" y="7519"/>
                </a:lnTo>
                <a:lnTo>
                  <a:pt x="2754" y="13189"/>
                </a:lnTo>
                <a:lnTo>
                  <a:pt x="69449" y="12696"/>
                </a:lnTo>
                <a:lnTo>
                  <a:pt x="70287" y="0"/>
                </a:lnTo>
                <a:lnTo>
                  <a:pt x="8741" y="6287"/>
                </a:lnTo>
                <a:close/>
              </a:path>
            </a:pathLst>
          </a:custGeom>
          <a:solidFill>
            <a:srgbClr val="ded5c5"/>
          </a:solidFill>
          <a:ln w="6191">
            <a:solidFill>
              <a:srgbClr val="b5a68d"/>
            </a:solidFill>
            <a:round/>
          </a:ln>
        </p:spPr>
        <p:style>
          <a:lnRef idx="0"/>
          <a:fillRef idx="0"/>
          <a:effectRef idx="0"/>
          <a:fontRef idx="minor"/>
        </p:style>
        <p:txBody>
          <a:bodyPr lIns="90000" rIns="90000" tIns="-32040" bIns="-32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68" name="สุขสันต์พัฒนา"/>
          <p:cNvSpPr/>
          <p:nvPr/>
        </p:nvSpPr>
        <p:spPr>
          <a:xfrm>
            <a:off x="7645680" y="3336480"/>
            <a:ext cx="88560" cy="32760"/>
          </a:xfrm>
          <a:custGeom>
            <a:avLst/>
            <a:gdLst/>
            <a:ahLst/>
            <a:rect l="l" t="t" r="r" b="b"/>
            <a:pathLst>
              <a:path w="88967" h="33158">
                <a:moveTo>
                  <a:pt x="1676" y="10477"/>
                </a:moveTo>
                <a:lnTo>
                  <a:pt x="0" y="11710"/>
                </a:lnTo>
                <a:lnTo>
                  <a:pt x="718" y="33158"/>
                </a:lnTo>
                <a:lnTo>
                  <a:pt x="88129" y="15901"/>
                </a:lnTo>
                <a:lnTo>
                  <a:pt x="88967" y="14175"/>
                </a:lnTo>
                <a:lnTo>
                  <a:pt x="87650" y="6287"/>
                </a:lnTo>
                <a:lnTo>
                  <a:pt x="81064" y="0"/>
                </a:lnTo>
                <a:lnTo>
                  <a:pt x="59630" y="1356"/>
                </a:lnTo>
                <a:lnTo>
                  <a:pt x="4311" y="11833"/>
                </a:lnTo>
                <a:lnTo>
                  <a:pt x="1676" y="10477"/>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69" name="น้ำใสดอกไม้สวย"/>
          <p:cNvSpPr/>
          <p:nvPr/>
        </p:nvSpPr>
        <p:spPr>
          <a:xfrm>
            <a:off x="7957800" y="3722040"/>
            <a:ext cx="91080" cy="27720"/>
          </a:xfrm>
          <a:custGeom>
            <a:avLst/>
            <a:gdLst/>
            <a:ahLst/>
            <a:rect l="l" t="t" r="r" b="b"/>
            <a:pathLst>
              <a:path w="91362" h="28104">
                <a:moveTo>
                  <a:pt x="54122" y="4931"/>
                </a:moveTo>
                <a:lnTo>
                  <a:pt x="0" y="12326"/>
                </a:lnTo>
                <a:lnTo>
                  <a:pt x="1197" y="28104"/>
                </a:lnTo>
                <a:lnTo>
                  <a:pt x="91362" y="13806"/>
                </a:lnTo>
                <a:lnTo>
                  <a:pt x="88727" y="0"/>
                </a:lnTo>
                <a:lnTo>
                  <a:pt x="54122" y="4931"/>
                </a:lnTo>
                <a:close/>
              </a:path>
            </a:pathLst>
          </a:custGeom>
          <a:solidFill>
            <a:srgbClr val="ded5c5"/>
          </a:solidFill>
          <a:ln w="6191">
            <a:solidFill>
              <a:srgbClr val="b5a68d"/>
            </a:solidFill>
            <a:round/>
          </a:ln>
        </p:spPr>
        <p:style>
          <a:lnRef idx="0"/>
          <a:fillRef idx="0"/>
          <a:effectRef idx="0"/>
          <a:fontRef idx="minor"/>
        </p:style>
        <p:txBody>
          <a:bodyPr lIns="90000" rIns="90000" tIns="-17280" bIns="-17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70" name="ประชาสร้างสรรค์"/>
          <p:cNvSpPr/>
          <p:nvPr/>
        </p:nvSpPr>
        <p:spPr>
          <a:xfrm>
            <a:off x="7697880" y="3754080"/>
            <a:ext cx="136440" cy="33840"/>
          </a:xfrm>
          <a:custGeom>
            <a:avLst/>
            <a:gdLst/>
            <a:ahLst/>
            <a:rect l="l" t="t" r="r" b="b"/>
            <a:pathLst>
              <a:path w="136743" h="34144">
                <a:moveTo>
                  <a:pt x="0" y="19353"/>
                </a:moveTo>
                <a:lnTo>
                  <a:pt x="1078" y="34144"/>
                </a:lnTo>
                <a:lnTo>
                  <a:pt x="136743" y="15162"/>
                </a:lnTo>
                <a:lnTo>
                  <a:pt x="135785" y="0"/>
                </a:lnTo>
                <a:lnTo>
                  <a:pt x="109682" y="2712"/>
                </a:lnTo>
                <a:lnTo>
                  <a:pt x="0" y="19353"/>
                </a:lnTo>
                <a:close/>
              </a:path>
            </a:pathLst>
          </a:custGeom>
          <a:solidFill>
            <a:srgbClr val="ded5c5"/>
          </a:solidFill>
          <a:ln w="6191">
            <a:solidFill>
              <a:srgbClr val="b5a68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71" name="เฟื่องฟ้าพัฒนา"/>
          <p:cNvSpPr/>
          <p:nvPr/>
        </p:nvSpPr>
        <p:spPr>
          <a:xfrm>
            <a:off x="7727040" y="3539160"/>
            <a:ext cx="82440" cy="20880"/>
          </a:xfrm>
          <a:custGeom>
            <a:avLst/>
            <a:gdLst/>
            <a:ahLst/>
            <a:rect l="l" t="t" r="r" b="b"/>
            <a:pathLst>
              <a:path w="82740" h="21325">
                <a:moveTo>
                  <a:pt x="958" y="14792"/>
                </a:moveTo>
                <a:lnTo>
                  <a:pt x="0" y="17011"/>
                </a:lnTo>
                <a:lnTo>
                  <a:pt x="1557" y="16887"/>
                </a:lnTo>
                <a:lnTo>
                  <a:pt x="2275" y="21325"/>
                </a:lnTo>
                <a:lnTo>
                  <a:pt x="8023" y="20092"/>
                </a:lnTo>
                <a:lnTo>
                  <a:pt x="8861" y="18366"/>
                </a:lnTo>
                <a:lnTo>
                  <a:pt x="9819" y="19722"/>
                </a:lnTo>
                <a:lnTo>
                  <a:pt x="17721" y="17997"/>
                </a:lnTo>
                <a:lnTo>
                  <a:pt x="17721" y="19846"/>
                </a:lnTo>
                <a:lnTo>
                  <a:pt x="18919" y="19846"/>
                </a:lnTo>
                <a:lnTo>
                  <a:pt x="19158" y="17997"/>
                </a:lnTo>
                <a:lnTo>
                  <a:pt x="31132" y="15778"/>
                </a:lnTo>
                <a:lnTo>
                  <a:pt x="82740" y="9861"/>
                </a:lnTo>
                <a:lnTo>
                  <a:pt x="79507" y="0"/>
                </a:lnTo>
                <a:lnTo>
                  <a:pt x="42388" y="8752"/>
                </a:lnTo>
                <a:lnTo>
                  <a:pt x="958" y="14792"/>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72" name="รวมน้ำใจพัฒนา"/>
          <p:cNvSpPr/>
          <p:nvPr/>
        </p:nvSpPr>
        <p:spPr>
          <a:xfrm>
            <a:off x="7842240" y="3734280"/>
            <a:ext cx="116640" cy="38880"/>
          </a:xfrm>
          <a:custGeom>
            <a:avLst/>
            <a:gdLst/>
            <a:ahLst/>
            <a:rect l="l" t="t" r="r" b="b"/>
            <a:pathLst>
              <a:path w="117106" h="39075">
                <a:moveTo>
                  <a:pt x="0" y="16887"/>
                </a:moveTo>
                <a:lnTo>
                  <a:pt x="1078" y="39075"/>
                </a:lnTo>
                <a:lnTo>
                  <a:pt x="117106" y="23913"/>
                </a:lnTo>
                <a:lnTo>
                  <a:pt x="115190" y="0"/>
                </a:lnTo>
                <a:lnTo>
                  <a:pt x="0" y="16887"/>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73" name="พร้อมพัฒนา"/>
          <p:cNvSpPr/>
          <p:nvPr/>
        </p:nvSpPr>
        <p:spPr>
          <a:xfrm>
            <a:off x="8274960" y="3151440"/>
            <a:ext cx="133920" cy="153720"/>
          </a:xfrm>
          <a:custGeom>
            <a:avLst/>
            <a:gdLst/>
            <a:ahLst/>
            <a:rect l="l" t="t" r="r" b="b"/>
            <a:pathLst>
              <a:path w="134348" h="153958">
                <a:moveTo>
                  <a:pt x="120099" y="153958"/>
                </a:moveTo>
                <a:lnTo>
                  <a:pt x="133151" y="153341"/>
                </a:lnTo>
                <a:lnTo>
                  <a:pt x="134348" y="0"/>
                </a:lnTo>
                <a:lnTo>
                  <a:pt x="85375" y="14422"/>
                </a:lnTo>
                <a:lnTo>
                  <a:pt x="0" y="44129"/>
                </a:lnTo>
                <a:lnTo>
                  <a:pt x="838" y="148411"/>
                </a:lnTo>
                <a:lnTo>
                  <a:pt x="120099" y="15395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74" name="สามัคคีพัฒนา"/>
          <p:cNvSpPr/>
          <p:nvPr/>
        </p:nvSpPr>
        <p:spPr>
          <a:xfrm>
            <a:off x="7804800" y="3501720"/>
            <a:ext cx="64800" cy="46800"/>
          </a:xfrm>
          <a:custGeom>
            <a:avLst/>
            <a:gdLst/>
            <a:ahLst/>
            <a:rect l="l" t="t" r="r" b="b"/>
            <a:pathLst>
              <a:path w="65138" h="47210">
                <a:moveTo>
                  <a:pt x="120" y="0"/>
                </a:moveTo>
                <a:lnTo>
                  <a:pt x="7783" y="32419"/>
                </a:lnTo>
                <a:lnTo>
                  <a:pt x="3951" y="32295"/>
                </a:lnTo>
                <a:lnTo>
                  <a:pt x="0" y="47210"/>
                </a:lnTo>
                <a:lnTo>
                  <a:pt x="65138" y="33898"/>
                </a:lnTo>
                <a:lnTo>
                  <a:pt x="56038" y="22064"/>
                </a:lnTo>
                <a:lnTo>
                  <a:pt x="25744" y="25762"/>
                </a:lnTo>
                <a:lnTo>
                  <a:pt x="23230" y="28104"/>
                </a:lnTo>
                <a:lnTo>
                  <a:pt x="13411" y="863"/>
                </a:lnTo>
                <a:lnTo>
                  <a:pt x="120" y="0"/>
                </a:lnTo>
                <a:close/>
              </a:path>
            </a:pathLst>
          </a:custGeom>
          <a:solidFill>
            <a:srgbClr val="ded5c5"/>
          </a:solidFill>
          <a:ln w="6191">
            <a:solidFill>
              <a:srgbClr val="b5a68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75" name="รามอินทรา 89,91"/>
          <p:cNvSpPr/>
          <p:nvPr/>
        </p:nvSpPr>
        <p:spPr>
          <a:xfrm>
            <a:off x="6944400" y="4346280"/>
            <a:ext cx="39600" cy="42840"/>
          </a:xfrm>
          <a:custGeom>
            <a:avLst/>
            <a:gdLst/>
            <a:ahLst/>
            <a:rect l="l" t="t" r="r" b="b"/>
            <a:pathLst>
              <a:path w="40113" h="43266">
                <a:moveTo>
                  <a:pt x="33048" y="20708"/>
                </a:moveTo>
                <a:lnTo>
                  <a:pt x="40113" y="14422"/>
                </a:lnTo>
                <a:lnTo>
                  <a:pt x="38436" y="0"/>
                </a:lnTo>
                <a:lnTo>
                  <a:pt x="0" y="35007"/>
                </a:lnTo>
                <a:lnTo>
                  <a:pt x="8142" y="43266"/>
                </a:lnTo>
                <a:lnTo>
                  <a:pt x="33048" y="20708"/>
                </a:lnTo>
                <a:close/>
              </a:path>
            </a:pathLst>
          </a:custGeom>
          <a:solidFill>
            <a:srgbClr val="ded5c5"/>
          </a:solidFill>
          <a:ln w="6191">
            <a:solidFill>
              <a:srgbClr val="b5a68d"/>
            </a:solidFill>
            <a:round/>
          </a:ln>
        </p:spPr>
        <p:style>
          <a:lnRef idx="0"/>
          <a:fillRef idx="0"/>
          <a:effectRef idx="0"/>
          <a:fontRef idx="minor"/>
        </p:style>
        <p:txBody>
          <a:bodyPr lIns="90000" rIns="90000" tIns="-2160" bIns="-2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76" name="หมู่บ้านชื่นกมลนิเวศน์ 5"/>
          <p:cNvSpPr/>
          <p:nvPr/>
        </p:nvSpPr>
        <p:spPr>
          <a:xfrm>
            <a:off x="6870960" y="4438800"/>
            <a:ext cx="61560" cy="25560"/>
          </a:xfrm>
          <a:custGeom>
            <a:avLst/>
            <a:gdLst/>
            <a:ahLst/>
            <a:rect l="l" t="t" r="r" b="b"/>
            <a:pathLst>
              <a:path w="62025" h="26009">
                <a:moveTo>
                  <a:pt x="59032" y="2712"/>
                </a:moveTo>
                <a:lnTo>
                  <a:pt x="47297" y="5424"/>
                </a:lnTo>
                <a:lnTo>
                  <a:pt x="47058" y="3082"/>
                </a:lnTo>
                <a:lnTo>
                  <a:pt x="44184" y="1972"/>
                </a:lnTo>
                <a:lnTo>
                  <a:pt x="43585" y="0"/>
                </a:lnTo>
                <a:lnTo>
                  <a:pt x="15686" y="7642"/>
                </a:lnTo>
                <a:lnTo>
                  <a:pt x="0" y="10231"/>
                </a:lnTo>
                <a:lnTo>
                  <a:pt x="2155" y="21818"/>
                </a:lnTo>
                <a:lnTo>
                  <a:pt x="3951" y="26009"/>
                </a:lnTo>
                <a:lnTo>
                  <a:pt x="62025" y="13682"/>
                </a:lnTo>
                <a:lnTo>
                  <a:pt x="59032" y="2712"/>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77" name="แสงมณี"/>
          <p:cNvSpPr/>
          <p:nvPr/>
        </p:nvSpPr>
        <p:spPr>
          <a:xfrm>
            <a:off x="7157520" y="5166720"/>
            <a:ext cx="67680" cy="48960"/>
          </a:xfrm>
          <a:custGeom>
            <a:avLst/>
            <a:gdLst/>
            <a:ahLst/>
            <a:rect l="l" t="t" r="r" b="b"/>
            <a:pathLst>
              <a:path w="68012" h="49183">
                <a:moveTo>
                  <a:pt x="9699" y="6533"/>
                </a:moveTo>
                <a:lnTo>
                  <a:pt x="6586" y="9122"/>
                </a:lnTo>
                <a:lnTo>
                  <a:pt x="6107" y="12943"/>
                </a:lnTo>
                <a:lnTo>
                  <a:pt x="0" y="12943"/>
                </a:lnTo>
                <a:lnTo>
                  <a:pt x="4311" y="24776"/>
                </a:lnTo>
                <a:lnTo>
                  <a:pt x="22391" y="25023"/>
                </a:lnTo>
                <a:lnTo>
                  <a:pt x="22631" y="31432"/>
                </a:lnTo>
                <a:lnTo>
                  <a:pt x="45142" y="32419"/>
                </a:lnTo>
                <a:lnTo>
                  <a:pt x="45381" y="48813"/>
                </a:lnTo>
                <a:lnTo>
                  <a:pt x="57715" y="49183"/>
                </a:lnTo>
                <a:lnTo>
                  <a:pt x="60828" y="39445"/>
                </a:lnTo>
                <a:lnTo>
                  <a:pt x="64779" y="39938"/>
                </a:lnTo>
                <a:lnTo>
                  <a:pt x="66336" y="32665"/>
                </a:lnTo>
                <a:lnTo>
                  <a:pt x="68012" y="31802"/>
                </a:lnTo>
                <a:lnTo>
                  <a:pt x="51847" y="740"/>
                </a:lnTo>
                <a:lnTo>
                  <a:pt x="35563" y="616"/>
                </a:lnTo>
                <a:lnTo>
                  <a:pt x="35323" y="2712"/>
                </a:lnTo>
                <a:lnTo>
                  <a:pt x="10298" y="0"/>
                </a:lnTo>
                <a:lnTo>
                  <a:pt x="9699" y="6533"/>
                </a:lnTo>
                <a:close/>
              </a:path>
            </a:pathLst>
          </a:custGeom>
          <a:solidFill>
            <a:srgbClr val="ded5c5"/>
          </a:solidFill>
          <a:ln w="6191">
            <a:solidFill>
              <a:srgbClr val="b5a68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78" name="คลองเจ็กพัฒนา"/>
          <p:cNvSpPr/>
          <p:nvPr/>
        </p:nvSpPr>
        <p:spPr>
          <a:xfrm>
            <a:off x="7124400" y="4969800"/>
            <a:ext cx="66960" cy="184680"/>
          </a:xfrm>
          <a:custGeom>
            <a:avLst/>
            <a:gdLst/>
            <a:ahLst/>
            <a:rect l="l" t="t" r="r" b="b"/>
            <a:pathLst>
              <a:path w="67174" h="185020">
                <a:moveTo>
                  <a:pt x="48974" y="185020"/>
                </a:moveTo>
                <a:lnTo>
                  <a:pt x="49333" y="175775"/>
                </a:lnTo>
                <a:lnTo>
                  <a:pt x="67174" y="164805"/>
                </a:lnTo>
                <a:lnTo>
                  <a:pt x="12213" y="63851"/>
                </a:lnTo>
                <a:lnTo>
                  <a:pt x="33647" y="46841"/>
                </a:lnTo>
                <a:lnTo>
                  <a:pt x="38796" y="44745"/>
                </a:lnTo>
                <a:lnTo>
                  <a:pt x="42508" y="36486"/>
                </a:lnTo>
                <a:lnTo>
                  <a:pt x="20356" y="0"/>
                </a:lnTo>
                <a:lnTo>
                  <a:pt x="8502" y="5670"/>
                </a:lnTo>
                <a:lnTo>
                  <a:pt x="11136" y="16641"/>
                </a:lnTo>
                <a:lnTo>
                  <a:pt x="24547" y="43512"/>
                </a:lnTo>
                <a:lnTo>
                  <a:pt x="5388" y="64344"/>
                </a:lnTo>
                <a:lnTo>
                  <a:pt x="3951" y="67796"/>
                </a:lnTo>
                <a:lnTo>
                  <a:pt x="0" y="69521"/>
                </a:lnTo>
                <a:lnTo>
                  <a:pt x="2036" y="75315"/>
                </a:lnTo>
                <a:lnTo>
                  <a:pt x="3592" y="74575"/>
                </a:lnTo>
                <a:lnTo>
                  <a:pt x="5029" y="83080"/>
                </a:lnTo>
                <a:lnTo>
                  <a:pt x="7544" y="82957"/>
                </a:lnTo>
                <a:lnTo>
                  <a:pt x="8980" y="86285"/>
                </a:lnTo>
                <a:lnTo>
                  <a:pt x="10537" y="86285"/>
                </a:lnTo>
                <a:lnTo>
                  <a:pt x="15566" y="99721"/>
                </a:lnTo>
                <a:lnTo>
                  <a:pt x="12453" y="101447"/>
                </a:lnTo>
                <a:lnTo>
                  <a:pt x="13411" y="104405"/>
                </a:lnTo>
                <a:lnTo>
                  <a:pt x="19039" y="102433"/>
                </a:lnTo>
                <a:lnTo>
                  <a:pt x="23828" y="120676"/>
                </a:lnTo>
                <a:lnTo>
                  <a:pt x="33647" y="117718"/>
                </a:lnTo>
                <a:lnTo>
                  <a:pt x="40233" y="132386"/>
                </a:lnTo>
                <a:lnTo>
                  <a:pt x="43106" y="148657"/>
                </a:lnTo>
                <a:lnTo>
                  <a:pt x="25984" y="158395"/>
                </a:lnTo>
                <a:lnTo>
                  <a:pt x="29695" y="174296"/>
                </a:lnTo>
                <a:lnTo>
                  <a:pt x="27181" y="175529"/>
                </a:lnTo>
                <a:lnTo>
                  <a:pt x="29695" y="183295"/>
                </a:lnTo>
                <a:lnTo>
                  <a:pt x="48974" y="18502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79" name="ฮิดายะห์พัฒนา"/>
          <p:cNvSpPr/>
          <p:nvPr/>
        </p:nvSpPr>
        <p:spPr>
          <a:xfrm>
            <a:off x="6881040" y="5029560"/>
            <a:ext cx="95040" cy="74160"/>
          </a:xfrm>
          <a:custGeom>
            <a:avLst/>
            <a:gdLst/>
            <a:ahLst/>
            <a:rect l="l" t="t" r="r" b="b"/>
            <a:pathLst>
              <a:path w="95313" h="74698">
                <a:moveTo>
                  <a:pt x="17482" y="71863"/>
                </a:moveTo>
                <a:lnTo>
                  <a:pt x="95313" y="27488"/>
                </a:lnTo>
                <a:lnTo>
                  <a:pt x="81423" y="0"/>
                </a:lnTo>
                <a:lnTo>
                  <a:pt x="0" y="47210"/>
                </a:lnTo>
                <a:lnTo>
                  <a:pt x="13052" y="74698"/>
                </a:lnTo>
                <a:lnTo>
                  <a:pt x="17482" y="71863"/>
                </a:lnTo>
                <a:close/>
              </a:path>
            </a:pathLst>
          </a:custGeom>
          <a:solidFill>
            <a:srgbClr val="ded5c5"/>
          </a:solidFill>
          <a:ln w="6191">
            <a:solidFill>
              <a:srgbClr val="b5a68d"/>
            </a:solidFill>
            <a:round/>
          </a:ln>
        </p:spPr>
        <p:style>
          <a:lnRef idx="0"/>
          <a:fillRef idx="0"/>
          <a:effectRef idx="0"/>
          <a:fontRef idx="minor"/>
        </p:style>
        <p:txBody>
          <a:bodyPr lIns="90000" rIns="90000" tIns="29160" bIns="29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80" name="ฮิดายะห์พัฒนา"/>
          <p:cNvSpPr/>
          <p:nvPr/>
        </p:nvSpPr>
        <p:spPr>
          <a:xfrm>
            <a:off x="6899760" y="5102640"/>
            <a:ext cx="30240" cy="59400"/>
          </a:xfrm>
          <a:custGeom>
            <a:avLst/>
            <a:gdLst/>
            <a:ahLst/>
            <a:rect l="l" t="t" r="r" b="b"/>
            <a:pathLst>
              <a:path w="30534" h="59907">
                <a:moveTo>
                  <a:pt x="30534" y="58674"/>
                </a:moveTo>
                <a:lnTo>
                  <a:pt x="25984" y="49799"/>
                </a:lnTo>
                <a:lnTo>
                  <a:pt x="12213" y="11587"/>
                </a:lnTo>
                <a:lnTo>
                  <a:pt x="4670" y="0"/>
                </a:lnTo>
                <a:lnTo>
                  <a:pt x="0" y="2958"/>
                </a:lnTo>
                <a:lnTo>
                  <a:pt x="5748" y="13189"/>
                </a:lnTo>
                <a:lnTo>
                  <a:pt x="25864" y="59907"/>
                </a:lnTo>
                <a:lnTo>
                  <a:pt x="30534" y="58674"/>
                </a:lnTo>
                <a:close/>
              </a:path>
            </a:pathLst>
          </a:custGeom>
          <a:solidFill>
            <a:srgbClr val="ded5c5"/>
          </a:solidFill>
          <a:ln w="6191">
            <a:solidFill>
              <a:srgbClr val="b5a68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81" name="หัวบ้านคลองบางเลา"/>
          <p:cNvSpPr/>
          <p:nvPr/>
        </p:nvSpPr>
        <p:spPr>
          <a:xfrm>
            <a:off x="7391880" y="5016960"/>
            <a:ext cx="27000" cy="36720"/>
          </a:xfrm>
          <a:custGeom>
            <a:avLst/>
            <a:gdLst/>
            <a:ahLst/>
            <a:rect l="l" t="t" r="r" b="b"/>
            <a:pathLst>
              <a:path w="27301" h="36979">
                <a:moveTo>
                  <a:pt x="19637" y="2342"/>
                </a:moveTo>
                <a:lnTo>
                  <a:pt x="120" y="0"/>
                </a:lnTo>
                <a:lnTo>
                  <a:pt x="0" y="5300"/>
                </a:lnTo>
                <a:lnTo>
                  <a:pt x="1197" y="6780"/>
                </a:lnTo>
                <a:lnTo>
                  <a:pt x="17841" y="7396"/>
                </a:lnTo>
                <a:lnTo>
                  <a:pt x="18081" y="10847"/>
                </a:lnTo>
                <a:lnTo>
                  <a:pt x="22032" y="10231"/>
                </a:lnTo>
                <a:lnTo>
                  <a:pt x="22870" y="12943"/>
                </a:lnTo>
                <a:lnTo>
                  <a:pt x="15925" y="14422"/>
                </a:lnTo>
                <a:lnTo>
                  <a:pt x="16644" y="21941"/>
                </a:lnTo>
                <a:lnTo>
                  <a:pt x="19757" y="21941"/>
                </a:lnTo>
                <a:lnTo>
                  <a:pt x="19158" y="36979"/>
                </a:lnTo>
                <a:lnTo>
                  <a:pt x="25624" y="36979"/>
                </a:lnTo>
                <a:lnTo>
                  <a:pt x="27301" y="19969"/>
                </a:lnTo>
                <a:lnTo>
                  <a:pt x="19637" y="2342"/>
                </a:lnTo>
                <a:close/>
              </a:path>
            </a:pathLst>
          </a:custGeom>
          <a:solidFill>
            <a:srgbClr val="ded5c5"/>
          </a:solidFill>
          <a:ln w="6191">
            <a:solidFill>
              <a:srgbClr val="b5a68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82" name="วุฒิชัย"/>
          <p:cNvSpPr/>
          <p:nvPr/>
        </p:nvSpPr>
        <p:spPr>
          <a:xfrm>
            <a:off x="5079600" y="5310360"/>
            <a:ext cx="11160" cy="10440"/>
          </a:xfrm>
          <a:custGeom>
            <a:avLst/>
            <a:gdLst/>
            <a:ahLst/>
            <a:rect l="l" t="t" r="r" b="b"/>
            <a:pathLst>
              <a:path w="11375" h="10847">
                <a:moveTo>
                  <a:pt x="2395" y="0"/>
                </a:moveTo>
                <a:lnTo>
                  <a:pt x="0" y="8998"/>
                </a:lnTo>
                <a:lnTo>
                  <a:pt x="7783" y="10847"/>
                </a:lnTo>
                <a:lnTo>
                  <a:pt x="11375" y="2219"/>
                </a:lnTo>
                <a:lnTo>
                  <a:pt x="2395" y="0"/>
                </a:lnTo>
                <a:close/>
              </a:path>
            </a:pathLst>
          </a:custGeom>
          <a:solidFill>
            <a:srgbClr val="ded5c5"/>
          </a:solidFill>
          <a:ln w="6191">
            <a:solidFill>
              <a:srgbClr val="b5a68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83" name="ดอกไม้"/>
          <p:cNvSpPr/>
          <p:nvPr/>
        </p:nvSpPr>
        <p:spPr>
          <a:xfrm>
            <a:off x="7215840" y="6352200"/>
            <a:ext cx="123480" cy="165960"/>
          </a:xfrm>
          <a:custGeom>
            <a:avLst/>
            <a:gdLst/>
            <a:ahLst/>
            <a:rect l="l" t="t" r="r" b="b"/>
            <a:pathLst>
              <a:path w="123691" h="166284">
                <a:moveTo>
                  <a:pt x="82381" y="23790"/>
                </a:moveTo>
                <a:lnTo>
                  <a:pt x="81303" y="23051"/>
                </a:lnTo>
                <a:lnTo>
                  <a:pt x="82501" y="13929"/>
                </a:lnTo>
                <a:lnTo>
                  <a:pt x="84656" y="14052"/>
                </a:lnTo>
                <a:lnTo>
                  <a:pt x="117944" y="32419"/>
                </a:lnTo>
                <a:lnTo>
                  <a:pt x="123691" y="22188"/>
                </a:lnTo>
                <a:lnTo>
                  <a:pt x="83339" y="247"/>
                </a:lnTo>
                <a:lnTo>
                  <a:pt x="72443" y="12573"/>
                </a:lnTo>
                <a:lnTo>
                  <a:pt x="62265" y="7766"/>
                </a:lnTo>
                <a:lnTo>
                  <a:pt x="59032" y="15408"/>
                </a:lnTo>
                <a:lnTo>
                  <a:pt x="53643" y="13682"/>
                </a:lnTo>
                <a:lnTo>
                  <a:pt x="50889" y="15531"/>
                </a:lnTo>
                <a:lnTo>
                  <a:pt x="47776" y="14422"/>
                </a:lnTo>
                <a:lnTo>
                  <a:pt x="43825" y="20832"/>
                </a:lnTo>
                <a:lnTo>
                  <a:pt x="59990" y="26872"/>
                </a:lnTo>
                <a:lnTo>
                  <a:pt x="61546" y="22804"/>
                </a:lnTo>
                <a:lnTo>
                  <a:pt x="71245" y="25516"/>
                </a:lnTo>
                <a:lnTo>
                  <a:pt x="65378" y="55099"/>
                </a:lnTo>
                <a:lnTo>
                  <a:pt x="39275" y="41294"/>
                </a:lnTo>
                <a:lnTo>
                  <a:pt x="42627" y="28844"/>
                </a:lnTo>
                <a:lnTo>
                  <a:pt x="37958" y="27488"/>
                </a:lnTo>
                <a:lnTo>
                  <a:pt x="40352" y="17011"/>
                </a:lnTo>
                <a:lnTo>
                  <a:pt x="42388" y="17504"/>
                </a:lnTo>
                <a:lnTo>
                  <a:pt x="43226" y="14422"/>
                </a:lnTo>
                <a:lnTo>
                  <a:pt x="44902" y="14545"/>
                </a:lnTo>
                <a:lnTo>
                  <a:pt x="48135" y="4807"/>
                </a:lnTo>
                <a:lnTo>
                  <a:pt x="33647" y="0"/>
                </a:lnTo>
                <a:lnTo>
                  <a:pt x="24307" y="35624"/>
                </a:lnTo>
                <a:lnTo>
                  <a:pt x="19278" y="35993"/>
                </a:lnTo>
                <a:lnTo>
                  <a:pt x="17243" y="42403"/>
                </a:lnTo>
                <a:lnTo>
                  <a:pt x="36640" y="48443"/>
                </a:lnTo>
                <a:lnTo>
                  <a:pt x="38077" y="41540"/>
                </a:lnTo>
                <a:lnTo>
                  <a:pt x="65019" y="55839"/>
                </a:lnTo>
                <a:lnTo>
                  <a:pt x="55440" y="71000"/>
                </a:lnTo>
                <a:lnTo>
                  <a:pt x="48734" y="90600"/>
                </a:lnTo>
                <a:lnTo>
                  <a:pt x="18799" y="129181"/>
                </a:lnTo>
                <a:lnTo>
                  <a:pt x="0" y="159011"/>
                </a:lnTo>
                <a:lnTo>
                  <a:pt x="6705" y="166284"/>
                </a:lnTo>
                <a:lnTo>
                  <a:pt x="23708" y="142247"/>
                </a:lnTo>
                <a:lnTo>
                  <a:pt x="68850" y="152725"/>
                </a:lnTo>
                <a:lnTo>
                  <a:pt x="78909" y="110692"/>
                </a:lnTo>
                <a:lnTo>
                  <a:pt x="92559" y="78643"/>
                </a:lnTo>
                <a:lnTo>
                  <a:pt x="113513" y="39321"/>
                </a:lnTo>
                <a:lnTo>
                  <a:pt x="82381" y="2379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84" name="คลองปักหลักพัฒนา"/>
          <p:cNvSpPr/>
          <p:nvPr/>
        </p:nvSpPr>
        <p:spPr>
          <a:xfrm>
            <a:off x="7204680" y="6229440"/>
            <a:ext cx="181080" cy="81000"/>
          </a:xfrm>
          <a:custGeom>
            <a:avLst/>
            <a:gdLst/>
            <a:ahLst/>
            <a:rect l="l" t="t" r="r" b="b"/>
            <a:pathLst>
              <a:path w="181526" h="81231">
                <a:moveTo>
                  <a:pt x="38676" y="370"/>
                </a:moveTo>
                <a:lnTo>
                  <a:pt x="21912" y="493"/>
                </a:lnTo>
                <a:lnTo>
                  <a:pt x="17362" y="14915"/>
                </a:lnTo>
                <a:lnTo>
                  <a:pt x="35682" y="23297"/>
                </a:lnTo>
                <a:lnTo>
                  <a:pt x="49453" y="25269"/>
                </a:lnTo>
                <a:lnTo>
                  <a:pt x="50650" y="35254"/>
                </a:lnTo>
                <a:lnTo>
                  <a:pt x="54242" y="35254"/>
                </a:lnTo>
                <a:lnTo>
                  <a:pt x="49932" y="53867"/>
                </a:lnTo>
                <a:lnTo>
                  <a:pt x="40831" y="51648"/>
                </a:lnTo>
                <a:lnTo>
                  <a:pt x="39514" y="55839"/>
                </a:lnTo>
                <a:lnTo>
                  <a:pt x="43585" y="58551"/>
                </a:lnTo>
                <a:lnTo>
                  <a:pt x="42747" y="69891"/>
                </a:lnTo>
                <a:lnTo>
                  <a:pt x="41191" y="70014"/>
                </a:lnTo>
                <a:lnTo>
                  <a:pt x="39754" y="75931"/>
                </a:lnTo>
                <a:lnTo>
                  <a:pt x="15446" y="69768"/>
                </a:lnTo>
                <a:lnTo>
                  <a:pt x="17003" y="64221"/>
                </a:lnTo>
                <a:lnTo>
                  <a:pt x="4071" y="61756"/>
                </a:lnTo>
                <a:lnTo>
                  <a:pt x="0" y="71124"/>
                </a:lnTo>
                <a:lnTo>
                  <a:pt x="5029" y="71863"/>
                </a:lnTo>
                <a:lnTo>
                  <a:pt x="2515" y="80615"/>
                </a:lnTo>
                <a:lnTo>
                  <a:pt x="11495" y="81231"/>
                </a:lnTo>
                <a:lnTo>
                  <a:pt x="13171" y="75808"/>
                </a:lnTo>
                <a:lnTo>
                  <a:pt x="6226" y="73959"/>
                </a:lnTo>
                <a:lnTo>
                  <a:pt x="8382" y="69152"/>
                </a:lnTo>
                <a:lnTo>
                  <a:pt x="43346" y="78273"/>
                </a:lnTo>
                <a:lnTo>
                  <a:pt x="48255" y="65947"/>
                </a:lnTo>
                <a:lnTo>
                  <a:pt x="55080" y="67796"/>
                </a:lnTo>
                <a:lnTo>
                  <a:pt x="60588" y="55469"/>
                </a:lnTo>
                <a:lnTo>
                  <a:pt x="51368" y="52388"/>
                </a:lnTo>
                <a:lnTo>
                  <a:pt x="54601" y="36240"/>
                </a:lnTo>
                <a:lnTo>
                  <a:pt x="71604" y="32295"/>
                </a:lnTo>
                <a:lnTo>
                  <a:pt x="74957" y="39445"/>
                </a:lnTo>
                <a:lnTo>
                  <a:pt x="78430" y="40308"/>
                </a:lnTo>
                <a:lnTo>
                  <a:pt x="86692" y="25516"/>
                </a:lnTo>
                <a:lnTo>
                  <a:pt x="102018" y="29214"/>
                </a:lnTo>
                <a:lnTo>
                  <a:pt x="114591" y="34268"/>
                </a:lnTo>
                <a:lnTo>
                  <a:pt x="100222" y="68412"/>
                </a:lnTo>
                <a:lnTo>
                  <a:pt x="102138" y="70877"/>
                </a:lnTo>
                <a:lnTo>
                  <a:pt x="129678" y="73589"/>
                </a:lnTo>
                <a:lnTo>
                  <a:pt x="119740" y="46717"/>
                </a:lnTo>
                <a:lnTo>
                  <a:pt x="122374" y="33528"/>
                </a:lnTo>
                <a:lnTo>
                  <a:pt x="179251" y="44252"/>
                </a:lnTo>
                <a:lnTo>
                  <a:pt x="181526" y="39938"/>
                </a:lnTo>
                <a:lnTo>
                  <a:pt x="76274" y="14052"/>
                </a:lnTo>
                <a:lnTo>
                  <a:pt x="74598" y="11587"/>
                </a:lnTo>
                <a:lnTo>
                  <a:pt x="75676" y="123"/>
                </a:lnTo>
                <a:lnTo>
                  <a:pt x="47776" y="4068"/>
                </a:lnTo>
                <a:lnTo>
                  <a:pt x="47178" y="0"/>
                </a:lnTo>
                <a:lnTo>
                  <a:pt x="38676" y="370"/>
                </a:lnTo>
                <a:close/>
              </a:path>
            </a:pathLst>
          </a:custGeom>
          <a:solidFill>
            <a:srgbClr val="ded5c5"/>
          </a:solidFill>
          <a:ln w="6191">
            <a:solidFill>
              <a:srgbClr val="b5a68d"/>
            </a:solidFill>
            <a:round/>
          </a:ln>
        </p:spPr>
        <p:style>
          <a:lnRef idx="0"/>
          <a:fillRef idx="0"/>
          <a:effectRef idx="0"/>
          <a:fontRef idx="minor"/>
        </p:style>
        <p:txBody>
          <a:bodyPr lIns="90000" rIns="90000" tIns="36000" bIns="36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85" name="มัสยิดดอกไม้"/>
          <p:cNvSpPr/>
          <p:nvPr/>
        </p:nvSpPr>
        <p:spPr>
          <a:xfrm>
            <a:off x="7161120" y="5945400"/>
            <a:ext cx="53640" cy="39600"/>
          </a:xfrm>
          <a:custGeom>
            <a:avLst/>
            <a:gdLst/>
            <a:ahLst/>
            <a:rect l="l" t="t" r="r" b="b"/>
            <a:pathLst>
              <a:path w="53883" h="39938">
                <a:moveTo>
                  <a:pt x="5029" y="0"/>
                </a:moveTo>
                <a:lnTo>
                  <a:pt x="2874" y="6656"/>
                </a:lnTo>
                <a:lnTo>
                  <a:pt x="9220" y="8135"/>
                </a:lnTo>
                <a:lnTo>
                  <a:pt x="10058" y="9615"/>
                </a:lnTo>
                <a:lnTo>
                  <a:pt x="0" y="36240"/>
                </a:lnTo>
                <a:lnTo>
                  <a:pt x="15207" y="27118"/>
                </a:lnTo>
                <a:lnTo>
                  <a:pt x="45741" y="39938"/>
                </a:lnTo>
                <a:lnTo>
                  <a:pt x="50889" y="26748"/>
                </a:lnTo>
                <a:lnTo>
                  <a:pt x="49572" y="26255"/>
                </a:lnTo>
                <a:lnTo>
                  <a:pt x="53883" y="3821"/>
                </a:lnTo>
                <a:lnTo>
                  <a:pt x="51129" y="2958"/>
                </a:lnTo>
                <a:lnTo>
                  <a:pt x="47776" y="4191"/>
                </a:lnTo>
                <a:lnTo>
                  <a:pt x="38915" y="13559"/>
                </a:lnTo>
                <a:lnTo>
                  <a:pt x="16883" y="3451"/>
                </a:lnTo>
                <a:lnTo>
                  <a:pt x="5029" y="0"/>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86" name="สุเหร่าทางควาย"/>
          <p:cNvSpPr/>
          <p:nvPr/>
        </p:nvSpPr>
        <p:spPr>
          <a:xfrm>
            <a:off x="6959160" y="5709960"/>
            <a:ext cx="83880" cy="50400"/>
          </a:xfrm>
          <a:custGeom>
            <a:avLst/>
            <a:gdLst/>
            <a:ahLst/>
            <a:rect l="l" t="t" r="r" b="b"/>
            <a:pathLst>
              <a:path w="84177" h="50785">
                <a:moveTo>
                  <a:pt x="479" y="25762"/>
                </a:moveTo>
                <a:lnTo>
                  <a:pt x="3113" y="31802"/>
                </a:lnTo>
                <a:lnTo>
                  <a:pt x="0" y="32788"/>
                </a:lnTo>
                <a:lnTo>
                  <a:pt x="1557" y="38459"/>
                </a:lnTo>
                <a:lnTo>
                  <a:pt x="9340" y="36363"/>
                </a:lnTo>
                <a:lnTo>
                  <a:pt x="13171" y="46594"/>
                </a:lnTo>
                <a:lnTo>
                  <a:pt x="15806" y="45608"/>
                </a:lnTo>
                <a:lnTo>
                  <a:pt x="18320" y="50785"/>
                </a:lnTo>
                <a:lnTo>
                  <a:pt x="29935" y="48936"/>
                </a:lnTo>
                <a:lnTo>
                  <a:pt x="36401" y="50539"/>
                </a:lnTo>
                <a:lnTo>
                  <a:pt x="77591" y="44129"/>
                </a:lnTo>
                <a:lnTo>
                  <a:pt x="77112" y="34391"/>
                </a:lnTo>
                <a:lnTo>
                  <a:pt x="81543" y="34021"/>
                </a:lnTo>
                <a:lnTo>
                  <a:pt x="81184" y="21325"/>
                </a:lnTo>
                <a:lnTo>
                  <a:pt x="83818" y="21448"/>
                </a:lnTo>
                <a:lnTo>
                  <a:pt x="84177" y="18860"/>
                </a:lnTo>
                <a:lnTo>
                  <a:pt x="83219" y="13313"/>
                </a:lnTo>
                <a:lnTo>
                  <a:pt x="71604" y="11710"/>
                </a:lnTo>
                <a:lnTo>
                  <a:pt x="72323" y="0"/>
                </a:lnTo>
                <a:lnTo>
                  <a:pt x="25265" y="493"/>
                </a:lnTo>
                <a:lnTo>
                  <a:pt x="7783" y="5300"/>
                </a:lnTo>
                <a:lnTo>
                  <a:pt x="8023" y="12203"/>
                </a:lnTo>
                <a:lnTo>
                  <a:pt x="3712" y="17134"/>
                </a:lnTo>
                <a:lnTo>
                  <a:pt x="5029" y="24653"/>
                </a:lnTo>
                <a:lnTo>
                  <a:pt x="479" y="25762"/>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87" name="ริมคลองประเวศฝั่งเหนือ"/>
          <p:cNvSpPr/>
          <p:nvPr/>
        </p:nvSpPr>
        <p:spPr>
          <a:xfrm>
            <a:off x="6871680" y="5690520"/>
            <a:ext cx="177480" cy="45720"/>
          </a:xfrm>
          <a:custGeom>
            <a:avLst/>
            <a:gdLst/>
            <a:ahLst/>
            <a:rect l="l" t="t" r="r" b="b"/>
            <a:pathLst>
              <a:path w="177814" h="46224">
                <a:moveTo>
                  <a:pt x="0" y="46224"/>
                </a:moveTo>
                <a:lnTo>
                  <a:pt x="104892" y="18366"/>
                </a:lnTo>
                <a:lnTo>
                  <a:pt x="177215" y="15655"/>
                </a:lnTo>
                <a:lnTo>
                  <a:pt x="177814" y="10601"/>
                </a:lnTo>
                <a:lnTo>
                  <a:pt x="175060" y="6410"/>
                </a:lnTo>
                <a:lnTo>
                  <a:pt x="121416" y="8382"/>
                </a:lnTo>
                <a:lnTo>
                  <a:pt x="121656" y="12203"/>
                </a:lnTo>
                <a:lnTo>
                  <a:pt x="117225" y="12326"/>
                </a:lnTo>
                <a:lnTo>
                  <a:pt x="116028" y="4314"/>
                </a:lnTo>
                <a:lnTo>
                  <a:pt x="109682" y="4931"/>
                </a:lnTo>
                <a:lnTo>
                  <a:pt x="109322" y="7273"/>
                </a:lnTo>
                <a:lnTo>
                  <a:pt x="105012" y="7766"/>
                </a:lnTo>
                <a:lnTo>
                  <a:pt x="101899" y="0"/>
                </a:lnTo>
                <a:lnTo>
                  <a:pt x="94355" y="1602"/>
                </a:lnTo>
                <a:lnTo>
                  <a:pt x="93397" y="6410"/>
                </a:lnTo>
                <a:lnTo>
                  <a:pt x="88607" y="10847"/>
                </a:lnTo>
                <a:lnTo>
                  <a:pt x="88967" y="12203"/>
                </a:lnTo>
                <a:lnTo>
                  <a:pt x="1197" y="43266"/>
                </a:lnTo>
                <a:lnTo>
                  <a:pt x="0" y="46224"/>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88" name="หมู่ 14 พัฒนา"/>
          <p:cNvSpPr/>
          <p:nvPr/>
        </p:nvSpPr>
        <p:spPr>
          <a:xfrm>
            <a:off x="8059680" y="3386880"/>
            <a:ext cx="76680" cy="107280"/>
          </a:xfrm>
          <a:custGeom>
            <a:avLst/>
            <a:gdLst/>
            <a:ahLst/>
            <a:rect l="l" t="t" r="r" b="b"/>
            <a:pathLst>
              <a:path w="76873" h="107487">
                <a:moveTo>
                  <a:pt x="74478" y="56455"/>
                </a:moveTo>
                <a:lnTo>
                  <a:pt x="75556" y="7149"/>
                </a:lnTo>
                <a:lnTo>
                  <a:pt x="39514" y="0"/>
                </a:lnTo>
                <a:lnTo>
                  <a:pt x="0" y="7149"/>
                </a:lnTo>
                <a:lnTo>
                  <a:pt x="1557" y="107487"/>
                </a:lnTo>
                <a:lnTo>
                  <a:pt x="76873" y="102803"/>
                </a:lnTo>
                <a:lnTo>
                  <a:pt x="74478" y="5645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89" name="หมู่ 15 พัฒนา"/>
          <p:cNvSpPr/>
          <p:nvPr/>
        </p:nvSpPr>
        <p:spPr>
          <a:xfrm>
            <a:off x="8138520" y="3367080"/>
            <a:ext cx="128520" cy="112320"/>
          </a:xfrm>
          <a:custGeom>
            <a:avLst/>
            <a:gdLst/>
            <a:ahLst/>
            <a:rect l="l" t="t" r="r" b="b"/>
            <a:pathLst>
              <a:path w="128840" h="112664">
                <a:moveTo>
                  <a:pt x="1317" y="51278"/>
                </a:moveTo>
                <a:lnTo>
                  <a:pt x="0" y="112664"/>
                </a:lnTo>
                <a:lnTo>
                  <a:pt x="128840" y="91586"/>
                </a:lnTo>
                <a:lnTo>
                  <a:pt x="127164" y="76178"/>
                </a:lnTo>
                <a:lnTo>
                  <a:pt x="126086" y="0"/>
                </a:lnTo>
                <a:lnTo>
                  <a:pt x="119261" y="493"/>
                </a:lnTo>
                <a:lnTo>
                  <a:pt x="89086" y="28721"/>
                </a:lnTo>
                <a:lnTo>
                  <a:pt x="50889" y="29830"/>
                </a:lnTo>
                <a:lnTo>
                  <a:pt x="49812" y="89120"/>
                </a:lnTo>
                <a:lnTo>
                  <a:pt x="12333" y="96270"/>
                </a:lnTo>
                <a:lnTo>
                  <a:pt x="11375" y="91709"/>
                </a:lnTo>
                <a:lnTo>
                  <a:pt x="12453" y="91709"/>
                </a:lnTo>
                <a:lnTo>
                  <a:pt x="12573" y="86532"/>
                </a:lnTo>
                <a:lnTo>
                  <a:pt x="10657" y="86039"/>
                </a:lnTo>
                <a:lnTo>
                  <a:pt x="11256" y="48936"/>
                </a:lnTo>
                <a:lnTo>
                  <a:pt x="13531" y="49799"/>
                </a:lnTo>
                <a:lnTo>
                  <a:pt x="14010" y="27118"/>
                </a:lnTo>
                <a:lnTo>
                  <a:pt x="1796" y="26255"/>
                </a:lnTo>
                <a:lnTo>
                  <a:pt x="1317" y="5127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90" name="หมู่ 12 แขวงสามวาตะวันออก"/>
          <p:cNvSpPr/>
          <p:nvPr/>
        </p:nvSpPr>
        <p:spPr>
          <a:xfrm>
            <a:off x="7802280" y="3443760"/>
            <a:ext cx="14760" cy="57960"/>
          </a:xfrm>
          <a:custGeom>
            <a:avLst/>
            <a:gdLst/>
            <a:ahLst/>
            <a:rect l="l" t="t" r="r" b="b"/>
            <a:pathLst>
              <a:path w="15207" h="58181">
                <a:moveTo>
                  <a:pt x="0" y="2342"/>
                </a:moveTo>
                <a:lnTo>
                  <a:pt x="838" y="56209"/>
                </a:lnTo>
                <a:lnTo>
                  <a:pt x="15207" y="58181"/>
                </a:lnTo>
                <a:lnTo>
                  <a:pt x="15087" y="0"/>
                </a:lnTo>
                <a:lnTo>
                  <a:pt x="0" y="2342"/>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91" name="ดารุสสลามสร้างสรรค์"/>
          <p:cNvSpPr/>
          <p:nvPr/>
        </p:nvSpPr>
        <p:spPr>
          <a:xfrm>
            <a:off x="8093160" y="3313800"/>
            <a:ext cx="45000" cy="75240"/>
          </a:xfrm>
          <a:custGeom>
            <a:avLst/>
            <a:gdLst/>
            <a:ahLst/>
            <a:rect l="l" t="t" r="r" b="b"/>
            <a:pathLst>
              <a:path w="45501" h="75438">
                <a:moveTo>
                  <a:pt x="34126" y="73836"/>
                </a:moveTo>
                <a:lnTo>
                  <a:pt x="42627" y="75438"/>
                </a:lnTo>
                <a:lnTo>
                  <a:pt x="45501" y="0"/>
                </a:lnTo>
                <a:lnTo>
                  <a:pt x="0" y="7149"/>
                </a:lnTo>
                <a:lnTo>
                  <a:pt x="8980" y="68905"/>
                </a:lnTo>
                <a:lnTo>
                  <a:pt x="32090" y="73466"/>
                </a:lnTo>
                <a:lnTo>
                  <a:pt x="32090" y="74698"/>
                </a:lnTo>
                <a:lnTo>
                  <a:pt x="34126" y="73836"/>
                </a:lnTo>
                <a:close/>
              </a:path>
            </a:pathLst>
          </a:custGeom>
          <a:solidFill>
            <a:srgbClr val="ded5c5"/>
          </a:solidFill>
          <a:ln w="6191">
            <a:solidFill>
              <a:srgbClr val="b5a68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92" name="ชุมชนบางพรหมร่วมใจ"/>
          <p:cNvSpPr/>
          <p:nvPr/>
        </p:nvSpPr>
        <p:spPr>
          <a:xfrm>
            <a:off x="3236040" y="5061600"/>
            <a:ext cx="222120" cy="190440"/>
          </a:xfrm>
          <a:custGeom>
            <a:avLst/>
            <a:gdLst/>
            <a:ahLst/>
            <a:rect l="l" t="t" r="r" b="b"/>
            <a:pathLst>
              <a:path w="222357" h="190814">
                <a:moveTo>
                  <a:pt x="176856" y="87764"/>
                </a:moveTo>
                <a:lnTo>
                  <a:pt x="89326" y="90476"/>
                </a:lnTo>
                <a:lnTo>
                  <a:pt x="91362" y="46101"/>
                </a:lnTo>
                <a:lnTo>
                  <a:pt x="69090" y="44499"/>
                </a:lnTo>
                <a:lnTo>
                  <a:pt x="57954" y="0"/>
                </a:lnTo>
                <a:lnTo>
                  <a:pt x="42029" y="2835"/>
                </a:lnTo>
                <a:lnTo>
                  <a:pt x="42268" y="6410"/>
                </a:lnTo>
                <a:lnTo>
                  <a:pt x="52446" y="5177"/>
                </a:lnTo>
                <a:lnTo>
                  <a:pt x="63103" y="43882"/>
                </a:lnTo>
                <a:lnTo>
                  <a:pt x="56278" y="64591"/>
                </a:lnTo>
                <a:lnTo>
                  <a:pt x="42747" y="64344"/>
                </a:lnTo>
                <a:lnTo>
                  <a:pt x="43106" y="94791"/>
                </a:lnTo>
                <a:lnTo>
                  <a:pt x="0" y="94667"/>
                </a:lnTo>
                <a:lnTo>
                  <a:pt x="2515" y="140522"/>
                </a:lnTo>
                <a:lnTo>
                  <a:pt x="10777" y="142001"/>
                </a:lnTo>
                <a:lnTo>
                  <a:pt x="53524" y="138426"/>
                </a:lnTo>
                <a:lnTo>
                  <a:pt x="53404" y="188842"/>
                </a:lnTo>
                <a:lnTo>
                  <a:pt x="173264" y="190814"/>
                </a:lnTo>
                <a:lnTo>
                  <a:pt x="175299" y="186253"/>
                </a:lnTo>
                <a:lnTo>
                  <a:pt x="174581" y="163696"/>
                </a:lnTo>
                <a:lnTo>
                  <a:pt x="220321" y="162833"/>
                </a:lnTo>
                <a:lnTo>
                  <a:pt x="222357" y="127086"/>
                </a:lnTo>
                <a:lnTo>
                  <a:pt x="177454" y="117471"/>
                </a:lnTo>
                <a:lnTo>
                  <a:pt x="176856" y="8776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93" name="ชุมชนคลองเนินทราย"/>
          <p:cNvSpPr/>
          <p:nvPr/>
        </p:nvSpPr>
        <p:spPr>
          <a:xfrm>
            <a:off x="2900160" y="5204880"/>
            <a:ext cx="93600" cy="207000"/>
          </a:xfrm>
          <a:custGeom>
            <a:avLst/>
            <a:gdLst/>
            <a:ahLst/>
            <a:rect l="l" t="t" r="r" b="b"/>
            <a:pathLst>
              <a:path w="93876" h="207331">
                <a:moveTo>
                  <a:pt x="8262" y="28597"/>
                </a:moveTo>
                <a:lnTo>
                  <a:pt x="10058" y="32295"/>
                </a:lnTo>
                <a:lnTo>
                  <a:pt x="16524" y="30570"/>
                </a:lnTo>
                <a:lnTo>
                  <a:pt x="17003" y="54236"/>
                </a:lnTo>
                <a:lnTo>
                  <a:pt x="8023" y="56332"/>
                </a:lnTo>
                <a:lnTo>
                  <a:pt x="7304" y="95407"/>
                </a:lnTo>
                <a:lnTo>
                  <a:pt x="5269" y="116732"/>
                </a:lnTo>
                <a:lnTo>
                  <a:pt x="26223" y="118827"/>
                </a:lnTo>
                <a:lnTo>
                  <a:pt x="31252" y="140645"/>
                </a:lnTo>
                <a:lnTo>
                  <a:pt x="37479" y="142001"/>
                </a:lnTo>
                <a:lnTo>
                  <a:pt x="39873" y="207331"/>
                </a:lnTo>
                <a:lnTo>
                  <a:pt x="73640" y="201661"/>
                </a:lnTo>
                <a:lnTo>
                  <a:pt x="70048" y="150999"/>
                </a:lnTo>
                <a:lnTo>
                  <a:pt x="91601" y="147425"/>
                </a:lnTo>
                <a:lnTo>
                  <a:pt x="87650" y="129674"/>
                </a:lnTo>
                <a:lnTo>
                  <a:pt x="92559" y="127579"/>
                </a:lnTo>
                <a:lnTo>
                  <a:pt x="90523" y="114636"/>
                </a:lnTo>
                <a:lnTo>
                  <a:pt x="93876" y="64837"/>
                </a:lnTo>
                <a:lnTo>
                  <a:pt x="74598" y="56455"/>
                </a:lnTo>
                <a:lnTo>
                  <a:pt x="69689" y="56579"/>
                </a:lnTo>
                <a:lnTo>
                  <a:pt x="67414" y="20832"/>
                </a:lnTo>
                <a:lnTo>
                  <a:pt x="59391" y="21571"/>
                </a:lnTo>
                <a:lnTo>
                  <a:pt x="58194" y="0"/>
                </a:lnTo>
                <a:lnTo>
                  <a:pt x="40472" y="123"/>
                </a:lnTo>
                <a:lnTo>
                  <a:pt x="23110" y="4931"/>
                </a:lnTo>
                <a:lnTo>
                  <a:pt x="13890" y="9491"/>
                </a:lnTo>
                <a:lnTo>
                  <a:pt x="479" y="10601"/>
                </a:lnTo>
                <a:lnTo>
                  <a:pt x="0" y="26502"/>
                </a:lnTo>
                <a:lnTo>
                  <a:pt x="8262" y="2859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94" name="ชุมชนทวีวัฒนา25"/>
          <p:cNvSpPr/>
          <p:nvPr/>
        </p:nvSpPr>
        <p:spPr>
          <a:xfrm>
            <a:off x="2920320" y="5089680"/>
            <a:ext cx="125280" cy="114120"/>
          </a:xfrm>
          <a:custGeom>
            <a:avLst/>
            <a:gdLst/>
            <a:ahLst/>
            <a:rect l="l" t="t" r="r" b="b"/>
            <a:pathLst>
              <a:path w="125487" h="114513">
                <a:moveTo>
                  <a:pt x="2515" y="95653"/>
                </a:moveTo>
                <a:lnTo>
                  <a:pt x="25026" y="99721"/>
                </a:lnTo>
                <a:lnTo>
                  <a:pt x="23708" y="114513"/>
                </a:lnTo>
                <a:lnTo>
                  <a:pt x="46100" y="114266"/>
                </a:lnTo>
                <a:lnTo>
                  <a:pt x="49093" y="113404"/>
                </a:lnTo>
                <a:lnTo>
                  <a:pt x="46100" y="92818"/>
                </a:lnTo>
                <a:lnTo>
                  <a:pt x="61546" y="89120"/>
                </a:lnTo>
                <a:lnTo>
                  <a:pt x="61906" y="80615"/>
                </a:lnTo>
                <a:lnTo>
                  <a:pt x="125487" y="69275"/>
                </a:lnTo>
                <a:lnTo>
                  <a:pt x="93996" y="0"/>
                </a:lnTo>
                <a:lnTo>
                  <a:pt x="74957" y="3575"/>
                </a:lnTo>
                <a:lnTo>
                  <a:pt x="38436" y="4561"/>
                </a:lnTo>
                <a:lnTo>
                  <a:pt x="16165" y="10477"/>
                </a:lnTo>
                <a:lnTo>
                  <a:pt x="1197" y="11957"/>
                </a:lnTo>
                <a:lnTo>
                  <a:pt x="0" y="56209"/>
                </a:lnTo>
                <a:lnTo>
                  <a:pt x="2515" y="9565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95" name="ชุมชนศรีมณฑลสามัคคี"/>
          <p:cNvSpPr/>
          <p:nvPr/>
        </p:nvSpPr>
        <p:spPr>
          <a:xfrm>
            <a:off x="2878920" y="5101560"/>
            <a:ext cx="41400" cy="14760"/>
          </a:xfrm>
          <a:custGeom>
            <a:avLst/>
            <a:gdLst/>
            <a:ahLst/>
            <a:rect l="l" t="t" r="r" b="b"/>
            <a:pathLst>
              <a:path w="41789" h="15162">
                <a:moveTo>
                  <a:pt x="0" y="15162"/>
                </a:moveTo>
                <a:lnTo>
                  <a:pt x="41789" y="12203"/>
                </a:lnTo>
                <a:lnTo>
                  <a:pt x="41550" y="0"/>
                </a:lnTo>
                <a:lnTo>
                  <a:pt x="1197" y="616"/>
                </a:lnTo>
                <a:lnTo>
                  <a:pt x="0" y="15162"/>
                </a:lnTo>
                <a:close/>
              </a:path>
            </a:pathLst>
          </a:custGeom>
          <a:solidFill>
            <a:srgbClr val="ded5c5"/>
          </a:solidFill>
          <a:ln w="6191">
            <a:solidFill>
              <a:srgbClr val="b5a68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96" name="หมู่บ้านนักกีฬาแหลมทอง"/>
          <p:cNvSpPr/>
          <p:nvPr/>
        </p:nvSpPr>
        <p:spPr>
          <a:xfrm>
            <a:off x="7162560" y="5356440"/>
            <a:ext cx="165600" cy="168120"/>
          </a:xfrm>
          <a:custGeom>
            <a:avLst/>
            <a:gdLst/>
            <a:ahLst/>
            <a:rect l="l" t="t" r="r" b="b"/>
            <a:pathLst>
              <a:path w="165959" h="168380">
                <a:moveTo>
                  <a:pt x="83099" y="0"/>
                </a:moveTo>
                <a:lnTo>
                  <a:pt x="50770" y="4807"/>
                </a:lnTo>
                <a:lnTo>
                  <a:pt x="61666" y="11710"/>
                </a:lnTo>
                <a:lnTo>
                  <a:pt x="56397" y="22434"/>
                </a:lnTo>
                <a:lnTo>
                  <a:pt x="58074" y="24160"/>
                </a:lnTo>
                <a:lnTo>
                  <a:pt x="57954" y="32665"/>
                </a:lnTo>
                <a:lnTo>
                  <a:pt x="50770" y="34637"/>
                </a:lnTo>
                <a:lnTo>
                  <a:pt x="35682" y="66809"/>
                </a:lnTo>
                <a:lnTo>
                  <a:pt x="26702" y="80738"/>
                </a:lnTo>
                <a:lnTo>
                  <a:pt x="15686" y="81355"/>
                </a:lnTo>
                <a:lnTo>
                  <a:pt x="8741" y="96886"/>
                </a:lnTo>
                <a:lnTo>
                  <a:pt x="0" y="141754"/>
                </a:lnTo>
                <a:lnTo>
                  <a:pt x="6586" y="143110"/>
                </a:lnTo>
                <a:lnTo>
                  <a:pt x="5987" y="145699"/>
                </a:lnTo>
                <a:lnTo>
                  <a:pt x="8382" y="146192"/>
                </a:lnTo>
                <a:lnTo>
                  <a:pt x="9220" y="143727"/>
                </a:lnTo>
                <a:lnTo>
                  <a:pt x="18320" y="145699"/>
                </a:lnTo>
                <a:lnTo>
                  <a:pt x="18440" y="147425"/>
                </a:lnTo>
                <a:lnTo>
                  <a:pt x="38915" y="150753"/>
                </a:lnTo>
                <a:lnTo>
                  <a:pt x="37479" y="160614"/>
                </a:lnTo>
                <a:lnTo>
                  <a:pt x="50889" y="162833"/>
                </a:lnTo>
                <a:lnTo>
                  <a:pt x="51488" y="160860"/>
                </a:lnTo>
                <a:lnTo>
                  <a:pt x="59990" y="160491"/>
                </a:lnTo>
                <a:lnTo>
                  <a:pt x="99264" y="168380"/>
                </a:lnTo>
                <a:lnTo>
                  <a:pt x="107047" y="128565"/>
                </a:lnTo>
                <a:lnTo>
                  <a:pt x="113992" y="128812"/>
                </a:lnTo>
                <a:lnTo>
                  <a:pt x="114352" y="126100"/>
                </a:lnTo>
                <a:lnTo>
                  <a:pt x="104533" y="124128"/>
                </a:lnTo>
                <a:lnTo>
                  <a:pt x="110400" y="104159"/>
                </a:lnTo>
                <a:lnTo>
                  <a:pt x="115549" y="73096"/>
                </a:lnTo>
                <a:lnTo>
                  <a:pt x="117585" y="68905"/>
                </a:lnTo>
                <a:lnTo>
                  <a:pt x="120698" y="69645"/>
                </a:lnTo>
                <a:lnTo>
                  <a:pt x="122374" y="67179"/>
                </a:lnTo>
                <a:lnTo>
                  <a:pt x="153507" y="82957"/>
                </a:lnTo>
                <a:lnTo>
                  <a:pt x="165959" y="55223"/>
                </a:lnTo>
                <a:lnTo>
                  <a:pt x="165361" y="48443"/>
                </a:lnTo>
                <a:lnTo>
                  <a:pt x="162128" y="49059"/>
                </a:lnTo>
                <a:lnTo>
                  <a:pt x="120578" y="24899"/>
                </a:lnTo>
                <a:lnTo>
                  <a:pt x="117585" y="25639"/>
                </a:lnTo>
                <a:lnTo>
                  <a:pt x="112316" y="33281"/>
                </a:lnTo>
                <a:lnTo>
                  <a:pt x="95552" y="22681"/>
                </a:lnTo>
                <a:lnTo>
                  <a:pt x="82740" y="12573"/>
                </a:lnTo>
                <a:lnTo>
                  <a:pt x="83099"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97" name="แสงธรรมคลองมณี"/>
          <p:cNvSpPr/>
          <p:nvPr/>
        </p:nvSpPr>
        <p:spPr>
          <a:xfrm>
            <a:off x="7241760" y="5151240"/>
            <a:ext cx="123480" cy="105120"/>
          </a:xfrm>
          <a:custGeom>
            <a:avLst/>
            <a:gdLst/>
            <a:ahLst/>
            <a:rect l="l" t="t" r="r" b="b"/>
            <a:pathLst>
              <a:path w="123931" h="105638">
                <a:moveTo>
                  <a:pt x="10058" y="11957"/>
                </a:moveTo>
                <a:lnTo>
                  <a:pt x="7663" y="29953"/>
                </a:lnTo>
                <a:lnTo>
                  <a:pt x="8980" y="33405"/>
                </a:lnTo>
                <a:lnTo>
                  <a:pt x="0" y="56702"/>
                </a:lnTo>
                <a:lnTo>
                  <a:pt x="25265" y="105638"/>
                </a:lnTo>
                <a:lnTo>
                  <a:pt x="31252" y="98488"/>
                </a:lnTo>
                <a:lnTo>
                  <a:pt x="34246" y="89737"/>
                </a:lnTo>
                <a:lnTo>
                  <a:pt x="43106" y="85299"/>
                </a:lnTo>
                <a:lnTo>
                  <a:pt x="54721" y="73589"/>
                </a:lnTo>
                <a:lnTo>
                  <a:pt x="59271" y="64221"/>
                </a:lnTo>
                <a:lnTo>
                  <a:pt x="73999" y="61139"/>
                </a:lnTo>
                <a:lnTo>
                  <a:pt x="89685" y="54606"/>
                </a:lnTo>
                <a:lnTo>
                  <a:pt x="114711" y="64837"/>
                </a:lnTo>
                <a:lnTo>
                  <a:pt x="120339" y="65700"/>
                </a:lnTo>
                <a:lnTo>
                  <a:pt x="122494" y="47087"/>
                </a:lnTo>
                <a:lnTo>
                  <a:pt x="116627" y="45854"/>
                </a:lnTo>
                <a:lnTo>
                  <a:pt x="123931" y="10971"/>
                </a:lnTo>
                <a:lnTo>
                  <a:pt x="60588" y="7766"/>
                </a:lnTo>
                <a:lnTo>
                  <a:pt x="61427" y="616"/>
                </a:lnTo>
                <a:lnTo>
                  <a:pt x="55919" y="0"/>
                </a:lnTo>
                <a:lnTo>
                  <a:pt x="53404" y="9738"/>
                </a:lnTo>
                <a:lnTo>
                  <a:pt x="10058" y="1195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98" name="หลอแหลคลองใหญ่"/>
          <p:cNvSpPr/>
          <p:nvPr/>
        </p:nvSpPr>
        <p:spPr>
          <a:xfrm>
            <a:off x="7257600" y="4795200"/>
            <a:ext cx="134640" cy="95040"/>
          </a:xfrm>
          <a:custGeom>
            <a:avLst/>
            <a:gdLst/>
            <a:ahLst/>
            <a:rect l="l" t="t" r="r" b="b"/>
            <a:pathLst>
              <a:path w="134827" h="95530">
                <a:moveTo>
                  <a:pt x="0" y="66809"/>
                </a:moveTo>
                <a:lnTo>
                  <a:pt x="1557" y="73589"/>
                </a:lnTo>
                <a:lnTo>
                  <a:pt x="13531" y="95530"/>
                </a:lnTo>
                <a:lnTo>
                  <a:pt x="134827" y="29090"/>
                </a:lnTo>
                <a:lnTo>
                  <a:pt x="119141" y="0"/>
                </a:lnTo>
                <a:lnTo>
                  <a:pt x="0" y="6680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999" name="สามแยกคลองหลอแหล"/>
          <p:cNvSpPr/>
          <p:nvPr/>
        </p:nvSpPr>
        <p:spPr>
          <a:xfrm>
            <a:off x="7307280" y="4946040"/>
            <a:ext cx="100080" cy="103680"/>
          </a:xfrm>
          <a:custGeom>
            <a:avLst/>
            <a:gdLst/>
            <a:ahLst/>
            <a:rect l="l" t="t" r="r" b="b"/>
            <a:pathLst>
              <a:path w="100581" h="103912">
                <a:moveTo>
                  <a:pt x="62504" y="76547"/>
                </a:moveTo>
                <a:lnTo>
                  <a:pt x="64660" y="76671"/>
                </a:lnTo>
                <a:lnTo>
                  <a:pt x="66096" y="65084"/>
                </a:lnTo>
                <a:lnTo>
                  <a:pt x="99504" y="69768"/>
                </a:lnTo>
                <a:lnTo>
                  <a:pt x="100581" y="67919"/>
                </a:lnTo>
                <a:lnTo>
                  <a:pt x="64300" y="0"/>
                </a:lnTo>
                <a:lnTo>
                  <a:pt x="0" y="24406"/>
                </a:lnTo>
                <a:lnTo>
                  <a:pt x="14369" y="52141"/>
                </a:lnTo>
                <a:lnTo>
                  <a:pt x="24307" y="78889"/>
                </a:lnTo>
                <a:lnTo>
                  <a:pt x="19518" y="85053"/>
                </a:lnTo>
                <a:lnTo>
                  <a:pt x="20116" y="88627"/>
                </a:lnTo>
                <a:lnTo>
                  <a:pt x="24906" y="92449"/>
                </a:lnTo>
                <a:lnTo>
                  <a:pt x="27899" y="98242"/>
                </a:lnTo>
                <a:lnTo>
                  <a:pt x="32928" y="101447"/>
                </a:lnTo>
                <a:lnTo>
                  <a:pt x="48974" y="103912"/>
                </a:lnTo>
                <a:lnTo>
                  <a:pt x="55200" y="103912"/>
                </a:lnTo>
                <a:lnTo>
                  <a:pt x="62265" y="101324"/>
                </a:lnTo>
                <a:lnTo>
                  <a:pt x="62504" y="7654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00" name="ชุมชนร่วมพัฒนาหมู่ 9 สะพานสูง"/>
          <p:cNvSpPr/>
          <p:nvPr/>
        </p:nvSpPr>
        <p:spPr>
          <a:xfrm>
            <a:off x="7463520" y="5004360"/>
            <a:ext cx="36720" cy="93240"/>
          </a:xfrm>
          <a:custGeom>
            <a:avLst/>
            <a:gdLst/>
            <a:ahLst/>
            <a:rect l="l" t="t" r="r" b="b"/>
            <a:pathLst>
              <a:path w="37119" h="93681">
                <a:moveTo>
                  <a:pt x="22152" y="370"/>
                </a:moveTo>
                <a:lnTo>
                  <a:pt x="13650" y="0"/>
                </a:lnTo>
                <a:lnTo>
                  <a:pt x="0" y="4438"/>
                </a:lnTo>
                <a:lnTo>
                  <a:pt x="1796" y="10108"/>
                </a:lnTo>
                <a:lnTo>
                  <a:pt x="12573" y="6656"/>
                </a:lnTo>
                <a:lnTo>
                  <a:pt x="20236" y="14175"/>
                </a:lnTo>
                <a:lnTo>
                  <a:pt x="23828" y="25516"/>
                </a:lnTo>
                <a:lnTo>
                  <a:pt x="21912" y="33651"/>
                </a:lnTo>
                <a:lnTo>
                  <a:pt x="28378" y="33775"/>
                </a:lnTo>
                <a:lnTo>
                  <a:pt x="30653" y="37966"/>
                </a:lnTo>
                <a:lnTo>
                  <a:pt x="25624" y="50662"/>
                </a:lnTo>
                <a:lnTo>
                  <a:pt x="34126" y="52757"/>
                </a:lnTo>
                <a:lnTo>
                  <a:pt x="30653" y="92942"/>
                </a:lnTo>
                <a:lnTo>
                  <a:pt x="33288" y="93681"/>
                </a:lnTo>
                <a:lnTo>
                  <a:pt x="37119" y="48566"/>
                </a:lnTo>
                <a:lnTo>
                  <a:pt x="25145" y="16641"/>
                </a:lnTo>
                <a:lnTo>
                  <a:pt x="22152" y="37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01" name="ชุมชนร่วมพัฒนาหมู่ 9 สะพานสูง"/>
          <p:cNvSpPr/>
          <p:nvPr/>
        </p:nvSpPr>
        <p:spPr>
          <a:xfrm>
            <a:off x="7470360" y="5096880"/>
            <a:ext cx="25920" cy="42480"/>
          </a:xfrm>
          <a:custGeom>
            <a:avLst/>
            <a:gdLst/>
            <a:ahLst/>
            <a:rect l="l" t="t" r="r" b="b"/>
            <a:pathLst>
              <a:path w="26343" h="43019">
                <a:moveTo>
                  <a:pt x="0" y="38952"/>
                </a:moveTo>
                <a:lnTo>
                  <a:pt x="11375" y="43019"/>
                </a:lnTo>
                <a:lnTo>
                  <a:pt x="23948" y="19846"/>
                </a:lnTo>
                <a:lnTo>
                  <a:pt x="26343" y="1109"/>
                </a:lnTo>
                <a:lnTo>
                  <a:pt x="21553" y="0"/>
                </a:lnTo>
                <a:lnTo>
                  <a:pt x="19757" y="5424"/>
                </a:lnTo>
                <a:lnTo>
                  <a:pt x="21912" y="5670"/>
                </a:lnTo>
                <a:lnTo>
                  <a:pt x="19398" y="16024"/>
                </a:lnTo>
                <a:lnTo>
                  <a:pt x="5508" y="12573"/>
                </a:lnTo>
                <a:lnTo>
                  <a:pt x="838" y="28228"/>
                </a:lnTo>
                <a:lnTo>
                  <a:pt x="3951" y="28351"/>
                </a:lnTo>
                <a:lnTo>
                  <a:pt x="0" y="38952"/>
                </a:lnTo>
                <a:close/>
              </a:path>
            </a:pathLst>
          </a:custGeom>
          <a:solidFill>
            <a:srgbClr val="ded5c5"/>
          </a:solidFill>
          <a:ln w="6191">
            <a:solidFill>
              <a:srgbClr val="b5a68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02" name="ริมคลองประเวศ"/>
          <p:cNvSpPr/>
          <p:nvPr/>
        </p:nvSpPr>
        <p:spPr>
          <a:xfrm>
            <a:off x="6875640" y="5715000"/>
            <a:ext cx="90720" cy="29160"/>
          </a:xfrm>
          <a:custGeom>
            <a:avLst/>
            <a:gdLst/>
            <a:ahLst/>
            <a:rect l="l" t="t" r="r" b="b"/>
            <a:pathLst>
              <a:path w="91242" h="29584">
                <a:moveTo>
                  <a:pt x="90404" y="0"/>
                </a:moveTo>
                <a:lnTo>
                  <a:pt x="0" y="25023"/>
                </a:lnTo>
                <a:lnTo>
                  <a:pt x="239" y="29214"/>
                </a:lnTo>
                <a:lnTo>
                  <a:pt x="4071" y="29584"/>
                </a:lnTo>
                <a:lnTo>
                  <a:pt x="11375" y="27118"/>
                </a:lnTo>
                <a:lnTo>
                  <a:pt x="11615" y="25023"/>
                </a:lnTo>
                <a:lnTo>
                  <a:pt x="91242" y="3575"/>
                </a:lnTo>
                <a:lnTo>
                  <a:pt x="90404" y="0"/>
                </a:lnTo>
                <a:close/>
              </a:path>
            </a:pathLst>
          </a:custGeom>
          <a:solidFill>
            <a:srgbClr val="ded5c5"/>
          </a:solidFill>
          <a:ln w="6191">
            <a:solidFill>
              <a:srgbClr val="b5a68d"/>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03" name="เราะห์มาตุ้ลอิสลาม"/>
          <p:cNvSpPr/>
          <p:nvPr/>
        </p:nvSpPr>
        <p:spPr>
          <a:xfrm>
            <a:off x="6737400" y="6179040"/>
            <a:ext cx="19080" cy="16200"/>
          </a:xfrm>
          <a:custGeom>
            <a:avLst/>
            <a:gdLst/>
            <a:ahLst/>
            <a:rect l="l" t="t" r="r" b="b"/>
            <a:pathLst>
              <a:path w="19398" h="16641">
                <a:moveTo>
                  <a:pt x="2993" y="16641"/>
                </a:moveTo>
                <a:lnTo>
                  <a:pt x="19398" y="9861"/>
                </a:lnTo>
                <a:lnTo>
                  <a:pt x="14848" y="0"/>
                </a:lnTo>
                <a:lnTo>
                  <a:pt x="0" y="6163"/>
                </a:lnTo>
                <a:lnTo>
                  <a:pt x="2993" y="16641"/>
                </a:lnTo>
                <a:close/>
              </a:path>
            </a:pathLst>
          </a:custGeom>
          <a:solidFill>
            <a:srgbClr val="ded5c5"/>
          </a:solidFill>
          <a:ln w="6191">
            <a:solidFill>
              <a:srgbClr val="b5a68d"/>
            </a:solidFill>
            <a:round/>
          </a:ln>
        </p:spPr>
        <p:style>
          <a:lnRef idx="0"/>
          <a:fillRef idx="0"/>
          <a:effectRef idx="0"/>
          <a:fontRef idx="minor"/>
        </p:style>
        <p:txBody>
          <a:bodyPr lIns="90000" rIns="90000" tIns="-28800" bIns="-28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04" name="ชุมชนแอร์พอตร์วิลเลจ"/>
          <p:cNvSpPr/>
          <p:nvPr/>
        </p:nvSpPr>
        <p:spPr>
          <a:xfrm>
            <a:off x="6037560" y="3271320"/>
            <a:ext cx="15480" cy="12600"/>
          </a:xfrm>
          <a:custGeom>
            <a:avLst/>
            <a:gdLst/>
            <a:ahLst/>
            <a:rect l="l" t="t" r="r" b="b"/>
            <a:pathLst>
              <a:path w="15686" h="13066">
                <a:moveTo>
                  <a:pt x="12333" y="13066"/>
                </a:moveTo>
                <a:lnTo>
                  <a:pt x="15686" y="3082"/>
                </a:lnTo>
                <a:lnTo>
                  <a:pt x="3712" y="0"/>
                </a:lnTo>
                <a:lnTo>
                  <a:pt x="0" y="9738"/>
                </a:lnTo>
                <a:lnTo>
                  <a:pt x="12333" y="13066"/>
                </a:lnTo>
                <a:close/>
              </a:path>
            </a:pathLst>
          </a:custGeom>
          <a:solidFill>
            <a:srgbClr val="ded5c5"/>
          </a:solidFill>
          <a:ln w="6191">
            <a:solidFill>
              <a:srgbClr val="b5a68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05" name="ชุมชนซอยสุขใจ"/>
          <p:cNvSpPr/>
          <p:nvPr/>
        </p:nvSpPr>
        <p:spPr>
          <a:xfrm>
            <a:off x="5647680" y="5076360"/>
            <a:ext cx="20880" cy="23400"/>
          </a:xfrm>
          <a:custGeom>
            <a:avLst/>
            <a:gdLst/>
            <a:ahLst/>
            <a:rect l="l" t="t" r="r" b="b"/>
            <a:pathLst>
              <a:path w="21314" h="23913">
                <a:moveTo>
                  <a:pt x="1317" y="21448"/>
                </a:moveTo>
                <a:lnTo>
                  <a:pt x="1557" y="23913"/>
                </a:lnTo>
                <a:lnTo>
                  <a:pt x="19877" y="23667"/>
                </a:lnTo>
                <a:lnTo>
                  <a:pt x="21314" y="10724"/>
                </a:lnTo>
                <a:lnTo>
                  <a:pt x="11016" y="8875"/>
                </a:lnTo>
                <a:lnTo>
                  <a:pt x="11974" y="2835"/>
                </a:lnTo>
                <a:lnTo>
                  <a:pt x="10537" y="3451"/>
                </a:lnTo>
                <a:lnTo>
                  <a:pt x="9459" y="0"/>
                </a:lnTo>
                <a:lnTo>
                  <a:pt x="2993" y="6163"/>
                </a:lnTo>
                <a:lnTo>
                  <a:pt x="0" y="20832"/>
                </a:lnTo>
                <a:lnTo>
                  <a:pt x="1317" y="21448"/>
                </a:lnTo>
                <a:close/>
              </a:path>
            </a:pathLst>
          </a:custGeom>
          <a:solidFill>
            <a:srgbClr val="ded5c5"/>
          </a:solidFill>
          <a:ln w="6191">
            <a:solidFill>
              <a:srgbClr val="b5a68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06" name="บ้านสวนร่วมพัฒนา"/>
          <p:cNvSpPr/>
          <p:nvPr/>
        </p:nvSpPr>
        <p:spPr>
          <a:xfrm>
            <a:off x="6055920" y="6097680"/>
            <a:ext cx="30600" cy="30960"/>
          </a:xfrm>
          <a:custGeom>
            <a:avLst/>
            <a:gdLst/>
            <a:ahLst/>
            <a:rect l="l" t="t" r="r" b="b"/>
            <a:pathLst>
              <a:path w="30893" h="31433">
                <a:moveTo>
                  <a:pt x="10657" y="31433"/>
                </a:moveTo>
                <a:lnTo>
                  <a:pt x="24906" y="27981"/>
                </a:lnTo>
                <a:lnTo>
                  <a:pt x="29695" y="24899"/>
                </a:lnTo>
                <a:lnTo>
                  <a:pt x="27899" y="21941"/>
                </a:lnTo>
                <a:lnTo>
                  <a:pt x="30773" y="19846"/>
                </a:lnTo>
                <a:lnTo>
                  <a:pt x="28378" y="16517"/>
                </a:lnTo>
                <a:lnTo>
                  <a:pt x="30893" y="13929"/>
                </a:lnTo>
                <a:lnTo>
                  <a:pt x="25984" y="6780"/>
                </a:lnTo>
                <a:lnTo>
                  <a:pt x="17003" y="12203"/>
                </a:lnTo>
                <a:lnTo>
                  <a:pt x="14489" y="6903"/>
                </a:lnTo>
                <a:lnTo>
                  <a:pt x="7903" y="9122"/>
                </a:lnTo>
                <a:lnTo>
                  <a:pt x="4790" y="0"/>
                </a:lnTo>
                <a:lnTo>
                  <a:pt x="0" y="2219"/>
                </a:lnTo>
                <a:lnTo>
                  <a:pt x="10657" y="31433"/>
                </a:lnTo>
                <a:close/>
              </a:path>
            </a:pathLst>
          </a:custGeom>
          <a:solidFill>
            <a:srgbClr val="ded5c5"/>
          </a:solidFill>
          <a:ln w="6191">
            <a:solidFill>
              <a:srgbClr val="b5a68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07" name="ท้ายซอยจันทน์ 31"/>
          <p:cNvSpPr/>
          <p:nvPr/>
        </p:nvSpPr>
        <p:spPr>
          <a:xfrm>
            <a:off x="5190120" y="5930280"/>
            <a:ext cx="16200" cy="21960"/>
          </a:xfrm>
          <a:custGeom>
            <a:avLst/>
            <a:gdLst/>
            <a:ahLst/>
            <a:rect l="l" t="t" r="r" b="b"/>
            <a:pathLst>
              <a:path w="16404" h="22188">
                <a:moveTo>
                  <a:pt x="16404" y="9368"/>
                </a:moveTo>
                <a:lnTo>
                  <a:pt x="6945" y="0"/>
                </a:lnTo>
                <a:lnTo>
                  <a:pt x="3712" y="3451"/>
                </a:lnTo>
                <a:lnTo>
                  <a:pt x="10058" y="9861"/>
                </a:lnTo>
                <a:lnTo>
                  <a:pt x="7903" y="11957"/>
                </a:lnTo>
                <a:lnTo>
                  <a:pt x="1557" y="5300"/>
                </a:lnTo>
                <a:lnTo>
                  <a:pt x="0" y="7149"/>
                </a:lnTo>
                <a:lnTo>
                  <a:pt x="6226" y="13929"/>
                </a:lnTo>
                <a:lnTo>
                  <a:pt x="1796" y="18859"/>
                </a:lnTo>
                <a:lnTo>
                  <a:pt x="3472" y="20462"/>
                </a:lnTo>
                <a:lnTo>
                  <a:pt x="6107" y="17257"/>
                </a:lnTo>
                <a:lnTo>
                  <a:pt x="10058" y="22188"/>
                </a:lnTo>
                <a:lnTo>
                  <a:pt x="13171" y="19353"/>
                </a:lnTo>
                <a:lnTo>
                  <a:pt x="8382" y="14915"/>
                </a:lnTo>
                <a:lnTo>
                  <a:pt x="11375" y="11587"/>
                </a:lnTo>
                <a:lnTo>
                  <a:pt x="12812" y="12820"/>
                </a:lnTo>
                <a:lnTo>
                  <a:pt x="16404" y="9368"/>
                </a:lnTo>
                <a:close/>
              </a:path>
            </a:pathLst>
          </a:custGeom>
          <a:solidFill>
            <a:srgbClr val="ded5c5"/>
          </a:solidFill>
          <a:ln w="6191">
            <a:solidFill>
              <a:srgbClr val="b5a68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08" name="ชุมชนประตูนํ้าฉิมพลี"/>
          <p:cNvSpPr/>
          <p:nvPr/>
        </p:nvSpPr>
        <p:spPr>
          <a:xfrm>
            <a:off x="3617640" y="4748040"/>
            <a:ext cx="69840" cy="22680"/>
          </a:xfrm>
          <a:custGeom>
            <a:avLst/>
            <a:gdLst/>
            <a:ahLst/>
            <a:rect l="l" t="t" r="r" b="b"/>
            <a:pathLst>
              <a:path w="70287" h="23051">
                <a:moveTo>
                  <a:pt x="958" y="0"/>
                </a:moveTo>
                <a:lnTo>
                  <a:pt x="0" y="20462"/>
                </a:lnTo>
                <a:lnTo>
                  <a:pt x="70287" y="23051"/>
                </a:lnTo>
                <a:lnTo>
                  <a:pt x="70287" y="2342"/>
                </a:lnTo>
                <a:lnTo>
                  <a:pt x="958" y="0"/>
                </a:lnTo>
                <a:close/>
              </a:path>
            </a:pathLst>
          </a:custGeom>
          <a:solidFill>
            <a:srgbClr val="ded5c5"/>
          </a:solidFill>
          <a:ln w="6191">
            <a:solidFill>
              <a:srgbClr val="b5a68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09" name="ชุมชนวัดปุรณาวาส"/>
          <p:cNvSpPr/>
          <p:nvPr/>
        </p:nvSpPr>
        <p:spPr>
          <a:xfrm>
            <a:off x="2879640" y="4723560"/>
            <a:ext cx="132840" cy="44640"/>
          </a:xfrm>
          <a:custGeom>
            <a:avLst/>
            <a:gdLst/>
            <a:ahLst/>
            <a:rect l="l" t="t" r="r" b="b"/>
            <a:pathLst>
              <a:path w="133151" h="44992">
                <a:moveTo>
                  <a:pt x="73401" y="35993"/>
                </a:moveTo>
                <a:lnTo>
                  <a:pt x="82740" y="35254"/>
                </a:lnTo>
                <a:lnTo>
                  <a:pt x="84896" y="28228"/>
                </a:lnTo>
                <a:lnTo>
                  <a:pt x="133031" y="26748"/>
                </a:lnTo>
                <a:lnTo>
                  <a:pt x="133151" y="5793"/>
                </a:lnTo>
                <a:lnTo>
                  <a:pt x="3592" y="0"/>
                </a:lnTo>
                <a:lnTo>
                  <a:pt x="1197" y="12820"/>
                </a:lnTo>
                <a:lnTo>
                  <a:pt x="0" y="43636"/>
                </a:lnTo>
                <a:lnTo>
                  <a:pt x="53045" y="44992"/>
                </a:lnTo>
                <a:lnTo>
                  <a:pt x="52686" y="30323"/>
                </a:lnTo>
                <a:lnTo>
                  <a:pt x="72443" y="31432"/>
                </a:lnTo>
                <a:lnTo>
                  <a:pt x="73401" y="35993"/>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10" name="ชุมชนหลังสถานีรถไฟศาลาธรรมสพน์"/>
          <p:cNvSpPr/>
          <p:nvPr/>
        </p:nvSpPr>
        <p:spPr>
          <a:xfrm>
            <a:off x="3274920" y="4737240"/>
            <a:ext cx="130680" cy="23400"/>
          </a:xfrm>
          <a:custGeom>
            <a:avLst/>
            <a:gdLst/>
            <a:ahLst/>
            <a:rect l="l" t="t" r="r" b="b"/>
            <a:pathLst>
              <a:path w="130876" h="23790">
                <a:moveTo>
                  <a:pt x="718" y="0"/>
                </a:moveTo>
                <a:lnTo>
                  <a:pt x="0" y="19229"/>
                </a:lnTo>
                <a:lnTo>
                  <a:pt x="130876" y="23790"/>
                </a:lnTo>
                <a:lnTo>
                  <a:pt x="129918" y="3328"/>
                </a:lnTo>
                <a:lnTo>
                  <a:pt x="718" y="0"/>
                </a:lnTo>
                <a:close/>
              </a:path>
            </a:pathLst>
          </a:custGeom>
          <a:solidFill>
            <a:srgbClr val="ded5c5"/>
          </a:solidFill>
          <a:ln w="6191">
            <a:solidFill>
              <a:srgbClr val="b5a68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11" name="ชุมชนหมู่บ้านสุขทวี1-2"/>
          <p:cNvSpPr/>
          <p:nvPr/>
        </p:nvSpPr>
        <p:spPr>
          <a:xfrm>
            <a:off x="3079800" y="4791240"/>
            <a:ext cx="106560" cy="117720"/>
          </a:xfrm>
          <a:custGeom>
            <a:avLst/>
            <a:gdLst/>
            <a:ahLst/>
            <a:rect l="l" t="t" r="r" b="b"/>
            <a:pathLst>
              <a:path w="107047" h="117964">
                <a:moveTo>
                  <a:pt x="99264" y="103666"/>
                </a:moveTo>
                <a:lnTo>
                  <a:pt x="103216" y="117718"/>
                </a:lnTo>
                <a:lnTo>
                  <a:pt x="107047" y="117964"/>
                </a:lnTo>
                <a:lnTo>
                  <a:pt x="97229" y="82711"/>
                </a:lnTo>
                <a:lnTo>
                  <a:pt x="92918" y="78643"/>
                </a:lnTo>
                <a:lnTo>
                  <a:pt x="72922" y="80738"/>
                </a:lnTo>
                <a:lnTo>
                  <a:pt x="71604" y="79876"/>
                </a:lnTo>
                <a:lnTo>
                  <a:pt x="70886" y="66440"/>
                </a:lnTo>
                <a:lnTo>
                  <a:pt x="61786" y="67426"/>
                </a:lnTo>
                <a:lnTo>
                  <a:pt x="48734" y="0"/>
                </a:lnTo>
                <a:lnTo>
                  <a:pt x="41550" y="1726"/>
                </a:lnTo>
                <a:lnTo>
                  <a:pt x="44423" y="13806"/>
                </a:lnTo>
                <a:lnTo>
                  <a:pt x="43585" y="19969"/>
                </a:lnTo>
                <a:lnTo>
                  <a:pt x="34126" y="19722"/>
                </a:lnTo>
                <a:lnTo>
                  <a:pt x="32809" y="14792"/>
                </a:lnTo>
                <a:lnTo>
                  <a:pt x="27061" y="15408"/>
                </a:lnTo>
                <a:lnTo>
                  <a:pt x="28139" y="19476"/>
                </a:lnTo>
                <a:lnTo>
                  <a:pt x="16285" y="22188"/>
                </a:lnTo>
                <a:lnTo>
                  <a:pt x="13291" y="7273"/>
                </a:lnTo>
                <a:lnTo>
                  <a:pt x="0" y="10231"/>
                </a:lnTo>
                <a:lnTo>
                  <a:pt x="13052" y="58674"/>
                </a:lnTo>
                <a:lnTo>
                  <a:pt x="32450" y="61632"/>
                </a:lnTo>
                <a:lnTo>
                  <a:pt x="42268" y="66440"/>
                </a:lnTo>
                <a:lnTo>
                  <a:pt x="56517" y="64467"/>
                </a:lnTo>
                <a:lnTo>
                  <a:pt x="56397" y="74945"/>
                </a:lnTo>
                <a:lnTo>
                  <a:pt x="51847" y="76054"/>
                </a:lnTo>
                <a:lnTo>
                  <a:pt x="50291" y="84560"/>
                </a:lnTo>
                <a:lnTo>
                  <a:pt x="43106" y="86162"/>
                </a:lnTo>
                <a:lnTo>
                  <a:pt x="43945" y="90600"/>
                </a:lnTo>
                <a:lnTo>
                  <a:pt x="49453" y="89490"/>
                </a:lnTo>
                <a:lnTo>
                  <a:pt x="49453" y="92449"/>
                </a:lnTo>
                <a:lnTo>
                  <a:pt x="52326" y="94297"/>
                </a:lnTo>
                <a:lnTo>
                  <a:pt x="72922" y="91955"/>
                </a:lnTo>
                <a:lnTo>
                  <a:pt x="73760" y="94914"/>
                </a:lnTo>
                <a:lnTo>
                  <a:pt x="94116" y="91462"/>
                </a:lnTo>
                <a:lnTo>
                  <a:pt x="94714" y="94667"/>
                </a:lnTo>
                <a:lnTo>
                  <a:pt x="98306" y="95530"/>
                </a:lnTo>
                <a:lnTo>
                  <a:pt x="99264" y="10366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12" name="ชุมชนหมู่บ้านกอบแก้ว1"/>
          <p:cNvSpPr/>
          <p:nvPr/>
        </p:nvSpPr>
        <p:spPr>
          <a:xfrm>
            <a:off x="3708720" y="5041800"/>
            <a:ext cx="21240" cy="69480"/>
          </a:xfrm>
          <a:custGeom>
            <a:avLst/>
            <a:gdLst/>
            <a:ahLst/>
            <a:rect l="l" t="t" r="r" b="b"/>
            <a:pathLst>
              <a:path w="21673" h="70014">
                <a:moveTo>
                  <a:pt x="1557" y="70014"/>
                </a:moveTo>
                <a:lnTo>
                  <a:pt x="21673" y="61386"/>
                </a:lnTo>
                <a:lnTo>
                  <a:pt x="18560" y="49306"/>
                </a:lnTo>
                <a:lnTo>
                  <a:pt x="18081" y="27858"/>
                </a:lnTo>
                <a:lnTo>
                  <a:pt x="7783" y="28474"/>
                </a:lnTo>
                <a:lnTo>
                  <a:pt x="6705" y="0"/>
                </a:lnTo>
                <a:lnTo>
                  <a:pt x="0" y="370"/>
                </a:lnTo>
                <a:lnTo>
                  <a:pt x="1796" y="39321"/>
                </a:lnTo>
                <a:lnTo>
                  <a:pt x="120" y="63974"/>
                </a:lnTo>
                <a:lnTo>
                  <a:pt x="1557" y="70014"/>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13" name="ชุมชนหมู่บ้านพรรณพฤกษา"/>
          <p:cNvSpPr/>
          <p:nvPr/>
        </p:nvSpPr>
        <p:spPr>
          <a:xfrm>
            <a:off x="3021840" y="4941720"/>
            <a:ext cx="29520" cy="21960"/>
          </a:xfrm>
          <a:custGeom>
            <a:avLst/>
            <a:gdLst/>
            <a:ahLst/>
            <a:rect l="l" t="t" r="r" b="b"/>
            <a:pathLst>
              <a:path w="29935" h="22311">
                <a:moveTo>
                  <a:pt x="0" y="2095"/>
                </a:moveTo>
                <a:lnTo>
                  <a:pt x="3832" y="21695"/>
                </a:lnTo>
                <a:lnTo>
                  <a:pt x="16285" y="19969"/>
                </a:lnTo>
                <a:lnTo>
                  <a:pt x="19398" y="22311"/>
                </a:lnTo>
                <a:lnTo>
                  <a:pt x="29935" y="21202"/>
                </a:lnTo>
                <a:lnTo>
                  <a:pt x="26702" y="6286"/>
                </a:lnTo>
                <a:lnTo>
                  <a:pt x="9220" y="8259"/>
                </a:lnTo>
                <a:lnTo>
                  <a:pt x="7424" y="0"/>
                </a:lnTo>
                <a:lnTo>
                  <a:pt x="0" y="2095"/>
                </a:lnTo>
                <a:close/>
              </a:path>
            </a:pathLst>
          </a:custGeom>
          <a:solidFill>
            <a:srgbClr val="ded5c5"/>
          </a:solidFill>
          <a:ln w="6191">
            <a:solidFill>
              <a:srgbClr val="b5a68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14" name="ชุมชนเจ้าพระยาร่วมใจ"/>
          <p:cNvSpPr/>
          <p:nvPr/>
        </p:nvSpPr>
        <p:spPr>
          <a:xfrm>
            <a:off x="3277440" y="4840920"/>
            <a:ext cx="61920" cy="50400"/>
          </a:xfrm>
          <a:custGeom>
            <a:avLst/>
            <a:gdLst/>
            <a:ahLst/>
            <a:rect l="l" t="t" r="r" b="b"/>
            <a:pathLst>
              <a:path w="62384" h="50785">
                <a:moveTo>
                  <a:pt x="13770" y="49306"/>
                </a:moveTo>
                <a:lnTo>
                  <a:pt x="25145" y="46471"/>
                </a:lnTo>
                <a:lnTo>
                  <a:pt x="33886" y="38828"/>
                </a:lnTo>
                <a:lnTo>
                  <a:pt x="62384" y="28844"/>
                </a:lnTo>
                <a:lnTo>
                  <a:pt x="61427" y="13806"/>
                </a:lnTo>
                <a:lnTo>
                  <a:pt x="46220" y="21078"/>
                </a:lnTo>
                <a:lnTo>
                  <a:pt x="34365" y="0"/>
                </a:lnTo>
                <a:lnTo>
                  <a:pt x="16045" y="9615"/>
                </a:lnTo>
                <a:lnTo>
                  <a:pt x="12453" y="7273"/>
                </a:lnTo>
                <a:lnTo>
                  <a:pt x="9340" y="13066"/>
                </a:lnTo>
                <a:lnTo>
                  <a:pt x="18320" y="30077"/>
                </a:lnTo>
                <a:lnTo>
                  <a:pt x="0" y="39198"/>
                </a:lnTo>
                <a:lnTo>
                  <a:pt x="838" y="50785"/>
                </a:lnTo>
                <a:lnTo>
                  <a:pt x="11974" y="45854"/>
                </a:lnTo>
                <a:lnTo>
                  <a:pt x="13770" y="49306"/>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15" name="ุชุมชนหมู่บ้านจัดสรรสกุลทิพย์"/>
          <p:cNvSpPr/>
          <p:nvPr/>
        </p:nvSpPr>
        <p:spPr>
          <a:xfrm>
            <a:off x="2961720" y="4919400"/>
            <a:ext cx="66240" cy="59040"/>
          </a:xfrm>
          <a:custGeom>
            <a:avLst/>
            <a:gdLst/>
            <a:ahLst/>
            <a:rect l="l" t="t" r="r" b="b"/>
            <a:pathLst>
              <a:path w="66695" h="59290">
                <a:moveTo>
                  <a:pt x="21673" y="740"/>
                </a:moveTo>
                <a:lnTo>
                  <a:pt x="22990" y="6780"/>
                </a:lnTo>
                <a:lnTo>
                  <a:pt x="18679" y="7519"/>
                </a:lnTo>
                <a:lnTo>
                  <a:pt x="13650" y="12696"/>
                </a:lnTo>
                <a:lnTo>
                  <a:pt x="19398" y="23790"/>
                </a:lnTo>
                <a:lnTo>
                  <a:pt x="18320" y="24406"/>
                </a:lnTo>
                <a:lnTo>
                  <a:pt x="19278" y="26625"/>
                </a:lnTo>
                <a:lnTo>
                  <a:pt x="24666" y="35130"/>
                </a:lnTo>
                <a:lnTo>
                  <a:pt x="0" y="45608"/>
                </a:lnTo>
                <a:lnTo>
                  <a:pt x="6346" y="59290"/>
                </a:lnTo>
                <a:lnTo>
                  <a:pt x="35443" y="50539"/>
                </a:lnTo>
                <a:lnTo>
                  <a:pt x="36760" y="57688"/>
                </a:lnTo>
                <a:lnTo>
                  <a:pt x="66695" y="52388"/>
                </a:lnTo>
                <a:lnTo>
                  <a:pt x="62504" y="37349"/>
                </a:lnTo>
                <a:lnTo>
                  <a:pt x="52925" y="33528"/>
                </a:lnTo>
                <a:lnTo>
                  <a:pt x="35682" y="35377"/>
                </a:lnTo>
                <a:lnTo>
                  <a:pt x="28019" y="0"/>
                </a:lnTo>
                <a:lnTo>
                  <a:pt x="21673" y="740"/>
                </a:lnTo>
                <a:close/>
              </a:path>
            </a:pathLst>
          </a:custGeom>
          <a:solidFill>
            <a:srgbClr val="ded5c5"/>
          </a:solidFill>
          <a:ln w="6191">
            <a:solidFill>
              <a:srgbClr val="b5a68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16" name="คลองทับช้างล่าง"/>
          <p:cNvSpPr/>
          <p:nvPr/>
        </p:nvSpPr>
        <p:spPr>
          <a:xfrm>
            <a:off x="7086240" y="5507280"/>
            <a:ext cx="107280" cy="73800"/>
          </a:xfrm>
          <a:custGeom>
            <a:avLst/>
            <a:gdLst/>
            <a:ahLst/>
            <a:rect l="l" t="t" r="r" b="b"/>
            <a:pathLst>
              <a:path w="107766" h="74205">
                <a:moveTo>
                  <a:pt x="75077" y="23544"/>
                </a:moveTo>
                <a:lnTo>
                  <a:pt x="81064" y="13436"/>
                </a:lnTo>
                <a:lnTo>
                  <a:pt x="85135" y="14052"/>
                </a:lnTo>
                <a:lnTo>
                  <a:pt x="87051" y="5300"/>
                </a:lnTo>
                <a:lnTo>
                  <a:pt x="64061" y="0"/>
                </a:lnTo>
                <a:lnTo>
                  <a:pt x="63342" y="5547"/>
                </a:lnTo>
                <a:lnTo>
                  <a:pt x="55320" y="18736"/>
                </a:lnTo>
                <a:lnTo>
                  <a:pt x="60948" y="27858"/>
                </a:lnTo>
                <a:lnTo>
                  <a:pt x="60109" y="42896"/>
                </a:lnTo>
                <a:lnTo>
                  <a:pt x="41310" y="36979"/>
                </a:lnTo>
                <a:lnTo>
                  <a:pt x="41191" y="44252"/>
                </a:lnTo>
                <a:lnTo>
                  <a:pt x="29815" y="39198"/>
                </a:lnTo>
                <a:lnTo>
                  <a:pt x="1916" y="33651"/>
                </a:lnTo>
                <a:lnTo>
                  <a:pt x="0" y="46717"/>
                </a:lnTo>
                <a:lnTo>
                  <a:pt x="57475" y="54853"/>
                </a:lnTo>
                <a:lnTo>
                  <a:pt x="55200" y="60769"/>
                </a:lnTo>
                <a:lnTo>
                  <a:pt x="67773" y="69152"/>
                </a:lnTo>
                <a:lnTo>
                  <a:pt x="107407" y="74205"/>
                </a:lnTo>
                <a:lnTo>
                  <a:pt x="107766" y="59783"/>
                </a:lnTo>
                <a:lnTo>
                  <a:pt x="79388" y="57072"/>
                </a:lnTo>
                <a:lnTo>
                  <a:pt x="80705" y="48073"/>
                </a:lnTo>
                <a:lnTo>
                  <a:pt x="77951" y="35500"/>
                </a:lnTo>
                <a:lnTo>
                  <a:pt x="80226" y="31063"/>
                </a:lnTo>
                <a:lnTo>
                  <a:pt x="77352" y="24037"/>
                </a:lnTo>
                <a:lnTo>
                  <a:pt x="75077" y="23544"/>
                </a:lnTo>
                <a:close/>
              </a:path>
            </a:pathLst>
          </a:custGeom>
          <a:solidFill>
            <a:srgbClr val="ded5c5"/>
          </a:solidFill>
          <a:ln w="6191">
            <a:solidFill>
              <a:srgbClr val="b5a68d"/>
            </a:solidFill>
            <a:round/>
          </a:ln>
        </p:spPr>
        <p:style>
          <a:lnRef idx="0"/>
          <a:fillRef idx="0"/>
          <a:effectRef idx="0"/>
          <a:fontRef idx="minor"/>
        </p:style>
        <p:txBody>
          <a:bodyPr lIns="90000" rIns="90000" tIns="28800" bIns="28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17" name="ทับช้างคลองบน"/>
          <p:cNvSpPr/>
          <p:nvPr/>
        </p:nvSpPr>
        <p:spPr>
          <a:xfrm>
            <a:off x="7215840" y="5416200"/>
            <a:ext cx="113400" cy="172080"/>
          </a:xfrm>
          <a:custGeom>
            <a:avLst/>
            <a:gdLst/>
            <a:ahLst/>
            <a:rect l="l" t="t" r="r" b="b"/>
            <a:pathLst>
              <a:path w="113753" h="172571">
                <a:moveTo>
                  <a:pt x="113394" y="14792"/>
                </a:moveTo>
                <a:lnTo>
                  <a:pt x="113034" y="493"/>
                </a:lnTo>
                <a:lnTo>
                  <a:pt x="110520" y="0"/>
                </a:lnTo>
                <a:lnTo>
                  <a:pt x="100103" y="23051"/>
                </a:lnTo>
                <a:lnTo>
                  <a:pt x="68970" y="7273"/>
                </a:lnTo>
                <a:lnTo>
                  <a:pt x="67294" y="9738"/>
                </a:lnTo>
                <a:lnTo>
                  <a:pt x="64181" y="8998"/>
                </a:lnTo>
                <a:lnTo>
                  <a:pt x="62145" y="13189"/>
                </a:lnTo>
                <a:lnTo>
                  <a:pt x="56996" y="44252"/>
                </a:lnTo>
                <a:lnTo>
                  <a:pt x="51129" y="64221"/>
                </a:lnTo>
                <a:lnTo>
                  <a:pt x="60948" y="66193"/>
                </a:lnTo>
                <a:lnTo>
                  <a:pt x="60588" y="68905"/>
                </a:lnTo>
                <a:lnTo>
                  <a:pt x="53643" y="68658"/>
                </a:lnTo>
                <a:lnTo>
                  <a:pt x="45860" y="108473"/>
                </a:lnTo>
                <a:lnTo>
                  <a:pt x="6586" y="100584"/>
                </a:lnTo>
                <a:lnTo>
                  <a:pt x="0" y="104652"/>
                </a:lnTo>
                <a:lnTo>
                  <a:pt x="16285" y="110445"/>
                </a:lnTo>
                <a:lnTo>
                  <a:pt x="17482" y="118581"/>
                </a:lnTo>
                <a:lnTo>
                  <a:pt x="41789" y="124128"/>
                </a:lnTo>
                <a:lnTo>
                  <a:pt x="56876" y="125853"/>
                </a:lnTo>
                <a:lnTo>
                  <a:pt x="43705" y="147794"/>
                </a:lnTo>
                <a:lnTo>
                  <a:pt x="35922" y="170598"/>
                </a:lnTo>
                <a:lnTo>
                  <a:pt x="49572" y="172571"/>
                </a:lnTo>
                <a:lnTo>
                  <a:pt x="53284" y="157286"/>
                </a:lnTo>
                <a:lnTo>
                  <a:pt x="61786" y="159505"/>
                </a:lnTo>
                <a:lnTo>
                  <a:pt x="62504" y="158518"/>
                </a:lnTo>
                <a:lnTo>
                  <a:pt x="63702" y="155190"/>
                </a:lnTo>
                <a:lnTo>
                  <a:pt x="56757" y="152478"/>
                </a:lnTo>
                <a:lnTo>
                  <a:pt x="58194" y="146438"/>
                </a:lnTo>
                <a:lnTo>
                  <a:pt x="49932" y="142247"/>
                </a:lnTo>
                <a:lnTo>
                  <a:pt x="61666" y="123881"/>
                </a:lnTo>
                <a:lnTo>
                  <a:pt x="62025" y="118211"/>
                </a:lnTo>
                <a:lnTo>
                  <a:pt x="66575" y="107240"/>
                </a:lnTo>
                <a:lnTo>
                  <a:pt x="74358" y="96516"/>
                </a:lnTo>
                <a:lnTo>
                  <a:pt x="82142" y="80862"/>
                </a:lnTo>
                <a:lnTo>
                  <a:pt x="91122" y="55839"/>
                </a:lnTo>
                <a:lnTo>
                  <a:pt x="96750" y="44622"/>
                </a:lnTo>
                <a:lnTo>
                  <a:pt x="113753" y="47827"/>
                </a:lnTo>
                <a:lnTo>
                  <a:pt x="113394" y="1479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18" name="มั่นคง 133"/>
          <p:cNvSpPr/>
          <p:nvPr/>
        </p:nvSpPr>
        <p:spPr>
          <a:xfrm>
            <a:off x="3365280" y="6855120"/>
            <a:ext cx="11160" cy="11880"/>
          </a:xfrm>
          <a:custGeom>
            <a:avLst/>
            <a:gdLst/>
            <a:ahLst/>
            <a:rect l="l" t="t" r="r" b="b"/>
            <a:pathLst>
              <a:path w="11615" h="12203">
                <a:moveTo>
                  <a:pt x="239" y="3944"/>
                </a:moveTo>
                <a:lnTo>
                  <a:pt x="0" y="11957"/>
                </a:lnTo>
                <a:lnTo>
                  <a:pt x="7903" y="12203"/>
                </a:lnTo>
                <a:lnTo>
                  <a:pt x="7783" y="7642"/>
                </a:lnTo>
                <a:lnTo>
                  <a:pt x="11256" y="7642"/>
                </a:lnTo>
                <a:lnTo>
                  <a:pt x="11615" y="0"/>
                </a:lnTo>
                <a:lnTo>
                  <a:pt x="239" y="3944"/>
                </a:lnTo>
                <a:close/>
              </a:path>
            </a:pathLst>
          </a:custGeom>
          <a:solidFill>
            <a:srgbClr val="ded5c5"/>
          </a:solidFill>
          <a:ln w="6191">
            <a:solidFill>
              <a:srgbClr val="b5a68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19" name="ซอยกำนันแม้น 13"/>
          <p:cNvSpPr/>
          <p:nvPr/>
        </p:nvSpPr>
        <p:spPr>
          <a:xfrm>
            <a:off x="4133160" y="6092280"/>
            <a:ext cx="52920" cy="50040"/>
          </a:xfrm>
          <a:custGeom>
            <a:avLst/>
            <a:gdLst/>
            <a:ahLst/>
            <a:rect l="l" t="t" r="r" b="b"/>
            <a:pathLst>
              <a:path w="53404" h="50539">
                <a:moveTo>
                  <a:pt x="28139" y="18736"/>
                </a:moveTo>
                <a:lnTo>
                  <a:pt x="21912" y="9615"/>
                </a:lnTo>
                <a:lnTo>
                  <a:pt x="19997" y="10724"/>
                </a:lnTo>
                <a:lnTo>
                  <a:pt x="12692" y="0"/>
                </a:lnTo>
                <a:lnTo>
                  <a:pt x="10777" y="2835"/>
                </a:lnTo>
                <a:lnTo>
                  <a:pt x="0" y="9861"/>
                </a:lnTo>
                <a:lnTo>
                  <a:pt x="12213" y="27858"/>
                </a:lnTo>
                <a:lnTo>
                  <a:pt x="8382" y="30570"/>
                </a:lnTo>
                <a:lnTo>
                  <a:pt x="20595" y="50539"/>
                </a:lnTo>
                <a:lnTo>
                  <a:pt x="25624" y="45854"/>
                </a:lnTo>
                <a:lnTo>
                  <a:pt x="22272" y="41787"/>
                </a:lnTo>
                <a:lnTo>
                  <a:pt x="38796" y="30323"/>
                </a:lnTo>
                <a:lnTo>
                  <a:pt x="40592" y="30816"/>
                </a:lnTo>
                <a:lnTo>
                  <a:pt x="42508" y="27365"/>
                </a:lnTo>
                <a:lnTo>
                  <a:pt x="53404" y="20215"/>
                </a:lnTo>
                <a:lnTo>
                  <a:pt x="43226" y="7889"/>
                </a:lnTo>
                <a:lnTo>
                  <a:pt x="28139" y="18736"/>
                </a:lnTo>
                <a:close/>
              </a:path>
            </a:pathLst>
          </a:custGeom>
          <a:solidFill>
            <a:srgbClr val="ded5c5"/>
          </a:solidFill>
          <a:ln w="6191">
            <a:solidFill>
              <a:srgbClr val="b5a68d"/>
            </a:solidFill>
            <a:round/>
          </a:ln>
        </p:spPr>
        <p:style>
          <a:lnRef idx="0"/>
          <a:fillRef idx="0"/>
          <a:effectRef idx="0"/>
          <a:fontRef idx="minor"/>
        </p:style>
        <p:txBody>
          <a:bodyPr lIns="90000" rIns="90000" tIns="5040" bIns="5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20" name="สวนผัก"/>
          <p:cNvSpPr/>
          <p:nvPr/>
        </p:nvSpPr>
        <p:spPr>
          <a:xfrm>
            <a:off x="4153680" y="6112800"/>
            <a:ext cx="39240" cy="41400"/>
          </a:xfrm>
          <a:custGeom>
            <a:avLst/>
            <a:gdLst/>
            <a:ahLst/>
            <a:rect l="l" t="t" r="r" b="b"/>
            <a:pathLst>
              <a:path w="39634" h="41910">
                <a:moveTo>
                  <a:pt x="30893" y="17873"/>
                </a:moveTo>
                <a:lnTo>
                  <a:pt x="39634" y="10231"/>
                </a:lnTo>
                <a:lnTo>
                  <a:pt x="32809" y="0"/>
                </a:lnTo>
                <a:lnTo>
                  <a:pt x="18919" y="11217"/>
                </a:lnTo>
                <a:lnTo>
                  <a:pt x="18200" y="9984"/>
                </a:lnTo>
                <a:lnTo>
                  <a:pt x="1676" y="21448"/>
                </a:lnTo>
                <a:lnTo>
                  <a:pt x="5029" y="25516"/>
                </a:lnTo>
                <a:lnTo>
                  <a:pt x="0" y="30200"/>
                </a:lnTo>
                <a:lnTo>
                  <a:pt x="7304" y="41910"/>
                </a:lnTo>
                <a:lnTo>
                  <a:pt x="17003" y="33281"/>
                </a:lnTo>
                <a:lnTo>
                  <a:pt x="8621" y="25023"/>
                </a:lnTo>
                <a:lnTo>
                  <a:pt x="17123" y="17627"/>
                </a:lnTo>
                <a:lnTo>
                  <a:pt x="21314" y="23051"/>
                </a:lnTo>
                <a:lnTo>
                  <a:pt x="25265" y="18983"/>
                </a:lnTo>
                <a:lnTo>
                  <a:pt x="30773" y="19599"/>
                </a:lnTo>
                <a:lnTo>
                  <a:pt x="30893" y="17873"/>
                </a:lnTo>
                <a:close/>
              </a:path>
            </a:pathLst>
          </a:custGeom>
          <a:solidFill>
            <a:srgbClr val="ded5c5"/>
          </a:solidFill>
          <a:ln w="6191">
            <a:solidFill>
              <a:srgbClr val="b5a68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21" name="หนทางใหม่ปิ่นทอง"/>
          <p:cNvSpPr/>
          <p:nvPr/>
        </p:nvSpPr>
        <p:spPr>
          <a:xfrm>
            <a:off x="4164480" y="6181200"/>
            <a:ext cx="35640" cy="46080"/>
          </a:xfrm>
          <a:custGeom>
            <a:avLst/>
            <a:gdLst/>
            <a:ahLst/>
            <a:rect l="l" t="t" r="r" b="b"/>
            <a:pathLst>
              <a:path w="35922" h="46348">
                <a:moveTo>
                  <a:pt x="13171" y="42403"/>
                </a:moveTo>
                <a:lnTo>
                  <a:pt x="15566" y="46348"/>
                </a:lnTo>
                <a:lnTo>
                  <a:pt x="19518" y="43759"/>
                </a:lnTo>
                <a:lnTo>
                  <a:pt x="20954" y="45854"/>
                </a:lnTo>
                <a:lnTo>
                  <a:pt x="35443" y="37226"/>
                </a:lnTo>
                <a:lnTo>
                  <a:pt x="34246" y="34884"/>
                </a:lnTo>
                <a:lnTo>
                  <a:pt x="35922" y="33898"/>
                </a:lnTo>
                <a:lnTo>
                  <a:pt x="33886" y="30323"/>
                </a:lnTo>
                <a:lnTo>
                  <a:pt x="35323" y="29460"/>
                </a:lnTo>
                <a:lnTo>
                  <a:pt x="13052" y="0"/>
                </a:lnTo>
                <a:lnTo>
                  <a:pt x="0" y="8259"/>
                </a:lnTo>
                <a:lnTo>
                  <a:pt x="20356" y="37966"/>
                </a:lnTo>
                <a:lnTo>
                  <a:pt x="13171" y="42403"/>
                </a:lnTo>
                <a:close/>
              </a:path>
            </a:pathLst>
          </a:custGeom>
          <a:solidFill>
            <a:srgbClr val="ded5c5"/>
          </a:solidFill>
          <a:ln w="6191">
            <a:solidFill>
              <a:srgbClr val="b5a68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22" name="แผ่นดินทองภักดีธรรม"/>
          <p:cNvSpPr/>
          <p:nvPr/>
        </p:nvSpPr>
        <p:spPr>
          <a:xfrm>
            <a:off x="8642160" y="4111920"/>
            <a:ext cx="19080" cy="59400"/>
          </a:xfrm>
          <a:custGeom>
            <a:avLst/>
            <a:gdLst/>
            <a:ahLst/>
            <a:rect l="l" t="t" r="r" b="b"/>
            <a:pathLst>
              <a:path w="19278" h="59660">
                <a:moveTo>
                  <a:pt x="8142" y="16148"/>
                </a:moveTo>
                <a:lnTo>
                  <a:pt x="9819" y="59660"/>
                </a:lnTo>
                <a:lnTo>
                  <a:pt x="18320" y="59290"/>
                </a:lnTo>
                <a:lnTo>
                  <a:pt x="15925" y="7889"/>
                </a:lnTo>
                <a:lnTo>
                  <a:pt x="18200" y="7642"/>
                </a:lnTo>
                <a:lnTo>
                  <a:pt x="19278" y="0"/>
                </a:lnTo>
                <a:lnTo>
                  <a:pt x="0" y="863"/>
                </a:lnTo>
                <a:lnTo>
                  <a:pt x="3233" y="14669"/>
                </a:lnTo>
                <a:lnTo>
                  <a:pt x="8142" y="16148"/>
                </a:lnTo>
                <a:close/>
              </a:path>
            </a:pathLst>
          </a:custGeom>
          <a:solidFill>
            <a:srgbClr val="ded5c5"/>
          </a:solidFill>
          <a:ln w="6191">
            <a:solidFill>
              <a:srgbClr val="b5a68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23" name="บาหยัน1"/>
          <p:cNvSpPr/>
          <p:nvPr/>
        </p:nvSpPr>
        <p:spPr>
          <a:xfrm>
            <a:off x="8755920" y="4090680"/>
            <a:ext cx="74520" cy="122760"/>
          </a:xfrm>
          <a:custGeom>
            <a:avLst/>
            <a:gdLst/>
            <a:ahLst/>
            <a:rect l="l" t="t" r="r" b="b"/>
            <a:pathLst>
              <a:path w="74718" h="123141">
                <a:moveTo>
                  <a:pt x="71724" y="0"/>
                </a:moveTo>
                <a:lnTo>
                  <a:pt x="0" y="9615"/>
                </a:lnTo>
                <a:lnTo>
                  <a:pt x="5508" y="24899"/>
                </a:lnTo>
                <a:lnTo>
                  <a:pt x="31372" y="23667"/>
                </a:lnTo>
                <a:lnTo>
                  <a:pt x="41191" y="67549"/>
                </a:lnTo>
                <a:lnTo>
                  <a:pt x="49932" y="123141"/>
                </a:lnTo>
                <a:lnTo>
                  <a:pt x="63342" y="119813"/>
                </a:lnTo>
                <a:lnTo>
                  <a:pt x="59990" y="82834"/>
                </a:lnTo>
                <a:lnTo>
                  <a:pt x="74718" y="77780"/>
                </a:lnTo>
                <a:lnTo>
                  <a:pt x="68731" y="38335"/>
                </a:lnTo>
                <a:lnTo>
                  <a:pt x="72203" y="37472"/>
                </a:lnTo>
                <a:lnTo>
                  <a:pt x="71724"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24" name="เคหะหนองจอก"/>
          <p:cNvSpPr/>
          <p:nvPr/>
        </p:nvSpPr>
        <p:spPr>
          <a:xfrm>
            <a:off x="8700120" y="3909600"/>
            <a:ext cx="61560" cy="78120"/>
          </a:xfrm>
          <a:custGeom>
            <a:avLst/>
            <a:gdLst/>
            <a:ahLst/>
            <a:rect l="l" t="t" r="r" b="b"/>
            <a:pathLst>
              <a:path w="62025" h="78520">
                <a:moveTo>
                  <a:pt x="8262" y="78520"/>
                </a:moveTo>
                <a:lnTo>
                  <a:pt x="18081" y="77903"/>
                </a:lnTo>
                <a:lnTo>
                  <a:pt x="17362" y="56578"/>
                </a:lnTo>
                <a:lnTo>
                  <a:pt x="29336" y="54606"/>
                </a:lnTo>
                <a:lnTo>
                  <a:pt x="39275" y="44868"/>
                </a:lnTo>
                <a:lnTo>
                  <a:pt x="62025" y="32295"/>
                </a:lnTo>
                <a:lnTo>
                  <a:pt x="43466" y="0"/>
                </a:lnTo>
                <a:lnTo>
                  <a:pt x="0" y="7889"/>
                </a:lnTo>
                <a:lnTo>
                  <a:pt x="5269" y="72849"/>
                </a:lnTo>
                <a:lnTo>
                  <a:pt x="8262" y="78520"/>
                </a:lnTo>
                <a:close/>
              </a:path>
            </a:pathLst>
          </a:custGeom>
          <a:solidFill>
            <a:srgbClr val="ded5c5"/>
          </a:solidFill>
          <a:ln w="6191">
            <a:solidFill>
              <a:srgbClr val="b5a68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25" name="กิติเหมกรณ์"/>
          <p:cNvSpPr/>
          <p:nvPr/>
        </p:nvSpPr>
        <p:spPr>
          <a:xfrm>
            <a:off x="9362520" y="3303720"/>
            <a:ext cx="53280" cy="81000"/>
          </a:xfrm>
          <a:custGeom>
            <a:avLst/>
            <a:gdLst/>
            <a:ahLst/>
            <a:rect l="l" t="t" r="r" b="b"/>
            <a:pathLst>
              <a:path w="53763" h="81231">
                <a:moveTo>
                  <a:pt x="8502" y="0"/>
                </a:moveTo>
                <a:lnTo>
                  <a:pt x="0" y="77040"/>
                </a:lnTo>
                <a:lnTo>
                  <a:pt x="45741" y="81231"/>
                </a:lnTo>
                <a:lnTo>
                  <a:pt x="53763" y="8998"/>
                </a:lnTo>
                <a:lnTo>
                  <a:pt x="8502" y="0"/>
                </a:lnTo>
                <a:close/>
              </a:path>
            </a:pathLst>
          </a:custGeom>
          <a:solidFill>
            <a:srgbClr val="ded5c5"/>
          </a:solidFill>
          <a:ln w="6191">
            <a:solidFill>
              <a:srgbClr val="b5a68d"/>
            </a:solidFill>
            <a:round/>
          </a:ln>
        </p:spPr>
        <p:style>
          <a:lnRef idx="0"/>
          <a:fillRef idx="0"/>
          <a:effectRef idx="0"/>
          <a:fontRef idx="minor"/>
        </p:style>
        <p:txBody>
          <a:bodyPr lIns="90000" rIns="90000" tIns="36000" bIns="36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26" name="หลังวัดกลางนา"/>
          <p:cNvSpPr/>
          <p:nvPr/>
        </p:nvSpPr>
        <p:spPr>
          <a:xfrm>
            <a:off x="4997520" y="6528600"/>
            <a:ext cx="37800" cy="44280"/>
          </a:xfrm>
          <a:custGeom>
            <a:avLst/>
            <a:gdLst/>
            <a:ahLst/>
            <a:rect l="l" t="t" r="r" b="b"/>
            <a:pathLst>
              <a:path w="38197" h="44499">
                <a:moveTo>
                  <a:pt x="21074" y="31926"/>
                </a:moveTo>
                <a:lnTo>
                  <a:pt x="26822" y="35007"/>
                </a:lnTo>
                <a:lnTo>
                  <a:pt x="24547" y="41047"/>
                </a:lnTo>
                <a:lnTo>
                  <a:pt x="32090" y="44499"/>
                </a:lnTo>
                <a:lnTo>
                  <a:pt x="35443" y="36733"/>
                </a:lnTo>
                <a:lnTo>
                  <a:pt x="38197" y="18490"/>
                </a:lnTo>
                <a:lnTo>
                  <a:pt x="27301" y="15531"/>
                </a:lnTo>
                <a:lnTo>
                  <a:pt x="30893" y="740"/>
                </a:lnTo>
                <a:lnTo>
                  <a:pt x="27660" y="0"/>
                </a:lnTo>
                <a:lnTo>
                  <a:pt x="24786" y="6656"/>
                </a:lnTo>
                <a:lnTo>
                  <a:pt x="15566" y="2589"/>
                </a:lnTo>
                <a:lnTo>
                  <a:pt x="3951" y="740"/>
                </a:lnTo>
                <a:lnTo>
                  <a:pt x="0" y="13682"/>
                </a:lnTo>
                <a:lnTo>
                  <a:pt x="24187" y="24406"/>
                </a:lnTo>
                <a:lnTo>
                  <a:pt x="21074" y="31926"/>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27" name="นูรุ้ลฮุดา"/>
          <p:cNvSpPr/>
          <p:nvPr/>
        </p:nvSpPr>
        <p:spPr>
          <a:xfrm>
            <a:off x="4595400" y="6764400"/>
            <a:ext cx="43920" cy="45360"/>
          </a:xfrm>
          <a:custGeom>
            <a:avLst/>
            <a:gdLst/>
            <a:ahLst/>
            <a:rect l="l" t="t" r="r" b="b"/>
            <a:pathLst>
              <a:path w="44304" h="45731">
                <a:moveTo>
                  <a:pt x="5987" y="18490"/>
                </a:moveTo>
                <a:lnTo>
                  <a:pt x="17482" y="18120"/>
                </a:lnTo>
                <a:lnTo>
                  <a:pt x="16883" y="3821"/>
                </a:lnTo>
                <a:lnTo>
                  <a:pt x="0" y="0"/>
                </a:lnTo>
                <a:lnTo>
                  <a:pt x="12573" y="45731"/>
                </a:lnTo>
                <a:lnTo>
                  <a:pt x="44304" y="42403"/>
                </a:lnTo>
                <a:lnTo>
                  <a:pt x="43346" y="39198"/>
                </a:lnTo>
                <a:lnTo>
                  <a:pt x="38556" y="35254"/>
                </a:lnTo>
                <a:lnTo>
                  <a:pt x="11016" y="36979"/>
                </a:lnTo>
                <a:lnTo>
                  <a:pt x="5987" y="18490"/>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28" name="มิตรไมตรี"/>
          <p:cNvSpPr/>
          <p:nvPr/>
        </p:nvSpPr>
        <p:spPr>
          <a:xfrm>
            <a:off x="4820400" y="6683040"/>
            <a:ext cx="67320" cy="68040"/>
          </a:xfrm>
          <a:custGeom>
            <a:avLst/>
            <a:gdLst/>
            <a:ahLst/>
            <a:rect l="l" t="t" r="r" b="b"/>
            <a:pathLst>
              <a:path w="67773" h="68412">
                <a:moveTo>
                  <a:pt x="20476" y="0"/>
                </a:moveTo>
                <a:lnTo>
                  <a:pt x="14728" y="6533"/>
                </a:lnTo>
                <a:lnTo>
                  <a:pt x="9220" y="4438"/>
                </a:lnTo>
                <a:lnTo>
                  <a:pt x="0" y="19229"/>
                </a:lnTo>
                <a:lnTo>
                  <a:pt x="12333" y="26748"/>
                </a:lnTo>
                <a:lnTo>
                  <a:pt x="16883" y="20215"/>
                </a:lnTo>
                <a:lnTo>
                  <a:pt x="21912" y="23420"/>
                </a:lnTo>
                <a:lnTo>
                  <a:pt x="26822" y="21078"/>
                </a:lnTo>
                <a:lnTo>
                  <a:pt x="31971" y="25023"/>
                </a:lnTo>
                <a:lnTo>
                  <a:pt x="36640" y="18983"/>
                </a:lnTo>
                <a:lnTo>
                  <a:pt x="43106" y="27611"/>
                </a:lnTo>
                <a:lnTo>
                  <a:pt x="45142" y="36610"/>
                </a:lnTo>
                <a:lnTo>
                  <a:pt x="42029" y="43759"/>
                </a:lnTo>
                <a:lnTo>
                  <a:pt x="31611" y="46348"/>
                </a:lnTo>
                <a:lnTo>
                  <a:pt x="29336" y="51278"/>
                </a:lnTo>
                <a:lnTo>
                  <a:pt x="21314" y="46224"/>
                </a:lnTo>
                <a:lnTo>
                  <a:pt x="18679" y="50908"/>
                </a:lnTo>
                <a:lnTo>
                  <a:pt x="35802" y="64837"/>
                </a:lnTo>
                <a:lnTo>
                  <a:pt x="39993" y="60769"/>
                </a:lnTo>
                <a:lnTo>
                  <a:pt x="45621" y="68289"/>
                </a:lnTo>
                <a:lnTo>
                  <a:pt x="48375" y="68412"/>
                </a:lnTo>
                <a:lnTo>
                  <a:pt x="67773" y="49059"/>
                </a:lnTo>
                <a:lnTo>
                  <a:pt x="54601" y="35993"/>
                </a:lnTo>
                <a:lnTo>
                  <a:pt x="57355" y="33035"/>
                </a:lnTo>
                <a:lnTo>
                  <a:pt x="60469" y="34514"/>
                </a:lnTo>
                <a:lnTo>
                  <a:pt x="61546" y="32912"/>
                </a:lnTo>
                <a:lnTo>
                  <a:pt x="58553" y="25886"/>
                </a:lnTo>
                <a:lnTo>
                  <a:pt x="57475" y="17380"/>
                </a:lnTo>
                <a:lnTo>
                  <a:pt x="40233" y="19106"/>
                </a:lnTo>
                <a:lnTo>
                  <a:pt x="38796" y="16517"/>
                </a:lnTo>
                <a:lnTo>
                  <a:pt x="45621" y="7149"/>
                </a:lnTo>
                <a:lnTo>
                  <a:pt x="46220" y="3698"/>
                </a:lnTo>
                <a:lnTo>
                  <a:pt x="20476" y="0"/>
                </a:lnTo>
                <a:close/>
              </a:path>
            </a:pathLst>
          </a:custGeom>
          <a:solidFill>
            <a:srgbClr val="ded5c5"/>
          </a:solidFill>
          <a:ln w="6191">
            <a:solidFill>
              <a:srgbClr val="b5a68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29" name="มติมิตร"/>
          <p:cNvSpPr/>
          <p:nvPr/>
        </p:nvSpPr>
        <p:spPr>
          <a:xfrm>
            <a:off x="4921560" y="6566760"/>
            <a:ext cx="22320" cy="21600"/>
          </a:xfrm>
          <a:custGeom>
            <a:avLst/>
            <a:gdLst/>
            <a:ahLst/>
            <a:rect l="l" t="t" r="r" b="b"/>
            <a:pathLst>
              <a:path w="22511" h="22064">
                <a:moveTo>
                  <a:pt x="0" y="13436"/>
                </a:moveTo>
                <a:lnTo>
                  <a:pt x="14608" y="22064"/>
                </a:lnTo>
                <a:lnTo>
                  <a:pt x="22511" y="7642"/>
                </a:lnTo>
                <a:lnTo>
                  <a:pt x="8980" y="0"/>
                </a:lnTo>
                <a:lnTo>
                  <a:pt x="0" y="13436"/>
                </a:lnTo>
                <a:close/>
              </a:path>
            </a:pathLst>
          </a:custGeom>
          <a:solidFill>
            <a:srgbClr val="ded5c5"/>
          </a:solidFill>
          <a:ln w="6191">
            <a:solidFill>
              <a:srgbClr val="b5a68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30" name="ชุมชนชานเมือง หมู่ 6 ทุ่งครุ"/>
          <p:cNvSpPr/>
          <p:nvPr/>
        </p:nvSpPr>
        <p:spPr>
          <a:xfrm>
            <a:off x="5046120" y="6987600"/>
            <a:ext cx="57960" cy="21240"/>
          </a:xfrm>
          <a:custGeom>
            <a:avLst/>
            <a:gdLst/>
            <a:ahLst/>
            <a:rect l="l" t="t" r="r" b="b"/>
            <a:pathLst>
              <a:path w="58433" h="21695">
                <a:moveTo>
                  <a:pt x="0" y="18366"/>
                </a:moveTo>
                <a:lnTo>
                  <a:pt x="16285" y="18243"/>
                </a:lnTo>
                <a:lnTo>
                  <a:pt x="16165" y="21078"/>
                </a:lnTo>
                <a:lnTo>
                  <a:pt x="31971" y="21695"/>
                </a:lnTo>
                <a:lnTo>
                  <a:pt x="32689" y="17997"/>
                </a:lnTo>
                <a:lnTo>
                  <a:pt x="58433" y="18120"/>
                </a:lnTo>
                <a:lnTo>
                  <a:pt x="54362" y="0"/>
                </a:lnTo>
                <a:lnTo>
                  <a:pt x="11615" y="2342"/>
                </a:lnTo>
                <a:lnTo>
                  <a:pt x="12094" y="15038"/>
                </a:lnTo>
                <a:lnTo>
                  <a:pt x="0" y="16024"/>
                </a:lnTo>
                <a:lnTo>
                  <a:pt x="0" y="18366"/>
                </a:lnTo>
                <a:close/>
              </a:path>
            </a:pathLst>
          </a:custGeom>
          <a:solidFill>
            <a:srgbClr val="ded5c5"/>
          </a:solidFill>
          <a:ln w="6191">
            <a:solidFill>
              <a:srgbClr val="b5a68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31" name="หลังสน. ทุ่งครุ"/>
          <p:cNvSpPr/>
          <p:nvPr/>
        </p:nvSpPr>
        <p:spPr>
          <a:xfrm>
            <a:off x="5007600" y="6882840"/>
            <a:ext cx="35280" cy="23400"/>
          </a:xfrm>
          <a:custGeom>
            <a:avLst/>
            <a:gdLst/>
            <a:ahLst/>
            <a:rect l="l" t="t" r="r" b="b"/>
            <a:pathLst>
              <a:path w="35563" h="23667">
                <a:moveTo>
                  <a:pt x="0" y="16517"/>
                </a:moveTo>
                <a:lnTo>
                  <a:pt x="2993" y="23667"/>
                </a:lnTo>
                <a:lnTo>
                  <a:pt x="35563" y="6656"/>
                </a:lnTo>
                <a:lnTo>
                  <a:pt x="32330" y="0"/>
                </a:lnTo>
                <a:lnTo>
                  <a:pt x="0" y="16517"/>
                </a:lnTo>
                <a:close/>
              </a:path>
            </a:pathLst>
          </a:custGeom>
          <a:solidFill>
            <a:srgbClr val="ded5c5"/>
          </a:solidFill>
          <a:ln w="6191">
            <a:solidFill>
              <a:srgbClr val="b5a68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32" name="ชุมชนหมู่บ้านเปรมวดี"/>
          <p:cNvSpPr/>
          <p:nvPr/>
        </p:nvSpPr>
        <p:spPr>
          <a:xfrm>
            <a:off x="3156480" y="4947480"/>
            <a:ext cx="95040" cy="90720"/>
          </a:xfrm>
          <a:custGeom>
            <a:avLst/>
            <a:gdLst/>
            <a:ahLst/>
            <a:rect l="l" t="t" r="r" b="b"/>
            <a:pathLst>
              <a:path w="95313" h="90969">
                <a:moveTo>
                  <a:pt x="93038" y="49306"/>
                </a:moveTo>
                <a:lnTo>
                  <a:pt x="95073" y="45608"/>
                </a:lnTo>
                <a:lnTo>
                  <a:pt x="95313" y="25886"/>
                </a:lnTo>
                <a:lnTo>
                  <a:pt x="92439" y="24653"/>
                </a:lnTo>
                <a:lnTo>
                  <a:pt x="81663" y="26009"/>
                </a:lnTo>
                <a:lnTo>
                  <a:pt x="79986" y="17257"/>
                </a:lnTo>
                <a:lnTo>
                  <a:pt x="75436" y="17504"/>
                </a:lnTo>
                <a:lnTo>
                  <a:pt x="75556" y="19106"/>
                </a:lnTo>
                <a:lnTo>
                  <a:pt x="59032" y="20462"/>
                </a:lnTo>
                <a:lnTo>
                  <a:pt x="53643" y="9738"/>
                </a:lnTo>
                <a:lnTo>
                  <a:pt x="41789" y="13189"/>
                </a:lnTo>
                <a:lnTo>
                  <a:pt x="41191" y="4561"/>
                </a:lnTo>
                <a:lnTo>
                  <a:pt x="40113" y="4931"/>
                </a:lnTo>
                <a:lnTo>
                  <a:pt x="37119" y="0"/>
                </a:lnTo>
                <a:lnTo>
                  <a:pt x="0" y="12696"/>
                </a:lnTo>
                <a:lnTo>
                  <a:pt x="3712" y="28967"/>
                </a:lnTo>
                <a:lnTo>
                  <a:pt x="14728" y="45978"/>
                </a:lnTo>
                <a:lnTo>
                  <a:pt x="25265" y="68535"/>
                </a:lnTo>
                <a:lnTo>
                  <a:pt x="28618" y="69028"/>
                </a:lnTo>
                <a:lnTo>
                  <a:pt x="32090" y="90969"/>
                </a:lnTo>
                <a:lnTo>
                  <a:pt x="93637" y="88751"/>
                </a:lnTo>
                <a:lnTo>
                  <a:pt x="94475" y="64960"/>
                </a:lnTo>
                <a:lnTo>
                  <a:pt x="93038" y="4930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33" name="ชุมชนคลองมหาสวัสดิ์"/>
          <p:cNvSpPr/>
          <p:nvPr/>
        </p:nvSpPr>
        <p:spPr>
          <a:xfrm>
            <a:off x="3094200" y="4731480"/>
            <a:ext cx="180720" cy="65160"/>
          </a:xfrm>
          <a:custGeom>
            <a:avLst/>
            <a:gdLst/>
            <a:ahLst/>
            <a:rect l="l" t="t" r="r" b="b"/>
            <a:pathLst>
              <a:path w="181047" h="65454">
                <a:moveTo>
                  <a:pt x="18320" y="63358"/>
                </a:moveTo>
                <a:lnTo>
                  <a:pt x="129798" y="39075"/>
                </a:lnTo>
                <a:lnTo>
                  <a:pt x="132193" y="43389"/>
                </a:lnTo>
                <a:lnTo>
                  <a:pt x="179849" y="51771"/>
                </a:lnTo>
                <a:lnTo>
                  <a:pt x="181047" y="5670"/>
                </a:lnTo>
                <a:lnTo>
                  <a:pt x="0" y="0"/>
                </a:lnTo>
                <a:lnTo>
                  <a:pt x="958" y="33035"/>
                </a:lnTo>
                <a:lnTo>
                  <a:pt x="3353" y="38582"/>
                </a:lnTo>
                <a:lnTo>
                  <a:pt x="7783" y="65454"/>
                </a:lnTo>
                <a:lnTo>
                  <a:pt x="18320" y="63358"/>
                </a:lnTo>
                <a:close/>
              </a:path>
            </a:pathLst>
          </a:custGeom>
          <a:solidFill>
            <a:srgbClr val="ded5c5"/>
          </a:solidFill>
          <a:ln w="6191">
            <a:solidFill>
              <a:srgbClr val="b5a68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34" name="ชุมชนบลูไลท์"/>
          <p:cNvSpPr/>
          <p:nvPr/>
        </p:nvSpPr>
        <p:spPr>
          <a:xfrm>
            <a:off x="4941720" y="6513480"/>
            <a:ext cx="30600" cy="40320"/>
          </a:xfrm>
          <a:custGeom>
            <a:avLst/>
            <a:gdLst/>
            <a:ahLst/>
            <a:rect l="l" t="t" r="r" b="b"/>
            <a:pathLst>
              <a:path w="31013" h="40677">
                <a:moveTo>
                  <a:pt x="20356" y="0"/>
                </a:moveTo>
                <a:lnTo>
                  <a:pt x="0" y="33651"/>
                </a:lnTo>
                <a:lnTo>
                  <a:pt x="12692" y="40677"/>
                </a:lnTo>
                <a:lnTo>
                  <a:pt x="31013" y="6163"/>
                </a:lnTo>
                <a:lnTo>
                  <a:pt x="23469" y="3698"/>
                </a:lnTo>
                <a:lnTo>
                  <a:pt x="23948" y="2219"/>
                </a:lnTo>
                <a:lnTo>
                  <a:pt x="20356" y="0"/>
                </a:lnTo>
                <a:close/>
              </a:path>
            </a:pathLst>
          </a:custGeom>
          <a:solidFill>
            <a:srgbClr val="ded5c5"/>
          </a:solidFill>
          <a:ln w="6191">
            <a:solidFill>
              <a:srgbClr val="b5a68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35" name="อัตตักวา"/>
          <p:cNvSpPr/>
          <p:nvPr/>
        </p:nvSpPr>
        <p:spPr>
          <a:xfrm>
            <a:off x="4912200" y="6621120"/>
            <a:ext cx="35280" cy="47160"/>
          </a:xfrm>
          <a:custGeom>
            <a:avLst/>
            <a:gdLst/>
            <a:ahLst/>
            <a:rect l="l" t="t" r="r" b="b"/>
            <a:pathLst>
              <a:path w="35682" h="47457">
                <a:moveTo>
                  <a:pt x="3353" y="47457"/>
                </a:moveTo>
                <a:lnTo>
                  <a:pt x="23828" y="42650"/>
                </a:lnTo>
                <a:lnTo>
                  <a:pt x="24427" y="36486"/>
                </a:lnTo>
                <a:lnTo>
                  <a:pt x="35682" y="8259"/>
                </a:lnTo>
                <a:lnTo>
                  <a:pt x="16045" y="0"/>
                </a:lnTo>
                <a:lnTo>
                  <a:pt x="2275" y="25886"/>
                </a:lnTo>
                <a:lnTo>
                  <a:pt x="0" y="41170"/>
                </a:lnTo>
                <a:lnTo>
                  <a:pt x="3353" y="47457"/>
                </a:lnTo>
                <a:close/>
              </a:path>
            </a:pathLst>
          </a:custGeom>
          <a:solidFill>
            <a:srgbClr val="ded5c5"/>
          </a:solidFill>
          <a:ln w="6191">
            <a:solidFill>
              <a:srgbClr val="b5a68d"/>
            </a:solidFill>
            <a:round/>
          </a:ln>
        </p:spPr>
        <p:style>
          <a:lnRef idx="0"/>
          <a:fillRef idx="0"/>
          <a:effectRef idx="0"/>
          <a:fontRef idx="minor"/>
        </p:style>
        <p:txBody>
          <a:bodyPr lIns="90000" rIns="90000" tIns="2160" bIns="2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36" name="หมู่ 3 บางมด"/>
          <p:cNvSpPr/>
          <p:nvPr/>
        </p:nvSpPr>
        <p:spPr>
          <a:xfrm>
            <a:off x="4560480" y="6540120"/>
            <a:ext cx="76320" cy="164520"/>
          </a:xfrm>
          <a:custGeom>
            <a:avLst/>
            <a:gdLst/>
            <a:ahLst/>
            <a:rect l="l" t="t" r="r" b="b"/>
            <a:pathLst>
              <a:path w="76514" h="165051">
                <a:moveTo>
                  <a:pt x="0" y="4068"/>
                </a:moveTo>
                <a:lnTo>
                  <a:pt x="7184" y="51032"/>
                </a:lnTo>
                <a:lnTo>
                  <a:pt x="10537" y="61756"/>
                </a:lnTo>
                <a:lnTo>
                  <a:pt x="20116" y="117718"/>
                </a:lnTo>
                <a:lnTo>
                  <a:pt x="26103" y="163326"/>
                </a:lnTo>
                <a:lnTo>
                  <a:pt x="54362" y="165051"/>
                </a:lnTo>
                <a:lnTo>
                  <a:pt x="54242" y="149397"/>
                </a:lnTo>
                <a:lnTo>
                  <a:pt x="75556" y="148287"/>
                </a:lnTo>
                <a:lnTo>
                  <a:pt x="76514" y="147055"/>
                </a:lnTo>
                <a:lnTo>
                  <a:pt x="74358" y="140892"/>
                </a:lnTo>
                <a:lnTo>
                  <a:pt x="70527" y="137810"/>
                </a:lnTo>
                <a:lnTo>
                  <a:pt x="65617" y="127456"/>
                </a:lnTo>
                <a:lnTo>
                  <a:pt x="65019" y="106624"/>
                </a:lnTo>
                <a:lnTo>
                  <a:pt x="70527" y="84436"/>
                </a:lnTo>
                <a:lnTo>
                  <a:pt x="72922" y="64960"/>
                </a:lnTo>
                <a:lnTo>
                  <a:pt x="64181" y="64960"/>
                </a:lnTo>
                <a:lnTo>
                  <a:pt x="63582" y="56579"/>
                </a:lnTo>
                <a:lnTo>
                  <a:pt x="69808" y="20708"/>
                </a:lnTo>
                <a:lnTo>
                  <a:pt x="60469" y="19476"/>
                </a:lnTo>
                <a:lnTo>
                  <a:pt x="56637" y="0"/>
                </a:lnTo>
                <a:lnTo>
                  <a:pt x="0" y="406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37" name="ศรีสมิต"/>
          <p:cNvSpPr/>
          <p:nvPr/>
        </p:nvSpPr>
        <p:spPr>
          <a:xfrm>
            <a:off x="4899240" y="6688440"/>
            <a:ext cx="32040" cy="30960"/>
          </a:xfrm>
          <a:custGeom>
            <a:avLst/>
            <a:gdLst/>
            <a:ahLst/>
            <a:rect l="l" t="t" r="r" b="b"/>
            <a:pathLst>
              <a:path w="32450" h="31186">
                <a:moveTo>
                  <a:pt x="0" y="12450"/>
                </a:moveTo>
                <a:lnTo>
                  <a:pt x="6586" y="31186"/>
                </a:lnTo>
                <a:lnTo>
                  <a:pt x="32450" y="13806"/>
                </a:lnTo>
                <a:lnTo>
                  <a:pt x="23589" y="0"/>
                </a:lnTo>
                <a:lnTo>
                  <a:pt x="0" y="12450"/>
                </a:lnTo>
                <a:close/>
              </a:path>
            </a:pathLst>
          </a:custGeom>
          <a:solidFill>
            <a:srgbClr val="ded5c5"/>
          </a:solidFill>
          <a:ln w="6191">
            <a:solidFill>
              <a:srgbClr val="b5a68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38" name="ชุมชนสามัคคี"/>
          <p:cNvSpPr/>
          <p:nvPr/>
        </p:nvSpPr>
        <p:spPr>
          <a:xfrm>
            <a:off x="5040360" y="6669360"/>
            <a:ext cx="24480" cy="14760"/>
          </a:xfrm>
          <a:custGeom>
            <a:avLst/>
            <a:gdLst/>
            <a:ahLst/>
            <a:rect l="l" t="t" r="r" b="b"/>
            <a:pathLst>
              <a:path w="24786" h="15285">
                <a:moveTo>
                  <a:pt x="0" y="10231"/>
                </a:moveTo>
                <a:lnTo>
                  <a:pt x="22391" y="15285"/>
                </a:lnTo>
                <a:lnTo>
                  <a:pt x="24786" y="4191"/>
                </a:lnTo>
                <a:lnTo>
                  <a:pt x="24307" y="0"/>
                </a:lnTo>
                <a:lnTo>
                  <a:pt x="8262" y="3082"/>
                </a:lnTo>
                <a:lnTo>
                  <a:pt x="3951" y="1233"/>
                </a:lnTo>
                <a:lnTo>
                  <a:pt x="0" y="10231"/>
                </a:lnTo>
                <a:close/>
              </a:path>
            </a:pathLst>
          </a:custGeom>
          <a:solidFill>
            <a:srgbClr val="ded5c5"/>
          </a:solidFill>
          <a:ln w="6191">
            <a:solidFill>
              <a:srgbClr val="b5a68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39" name="หลังสวนธนบุรีรมย์"/>
          <p:cNvSpPr/>
          <p:nvPr/>
        </p:nvSpPr>
        <p:spPr>
          <a:xfrm>
            <a:off x="4774680" y="6532920"/>
            <a:ext cx="64440" cy="69120"/>
          </a:xfrm>
          <a:custGeom>
            <a:avLst/>
            <a:gdLst/>
            <a:ahLst/>
            <a:rect l="l" t="t" r="r" b="b"/>
            <a:pathLst>
              <a:path w="64779" h="69645">
                <a:moveTo>
                  <a:pt x="11495" y="34637"/>
                </a:moveTo>
                <a:lnTo>
                  <a:pt x="0" y="63605"/>
                </a:lnTo>
                <a:lnTo>
                  <a:pt x="14369" y="69645"/>
                </a:lnTo>
                <a:lnTo>
                  <a:pt x="21314" y="52388"/>
                </a:lnTo>
                <a:lnTo>
                  <a:pt x="34006" y="45115"/>
                </a:lnTo>
                <a:lnTo>
                  <a:pt x="39514" y="36240"/>
                </a:lnTo>
                <a:lnTo>
                  <a:pt x="58673" y="44129"/>
                </a:lnTo>
                <a:lnTo>
                  <a:pt x="64779" y="35130"/>
                </a:lnTo>
                <a:lnTo>
                  <a:pt x="61067" y="31802"/>
                </a:lnTo>
                <a:lnTo>
                  <a:pt x="64061" y="22557"/>
                </a:lnTo>
                <a:lnTo>
                  <a:pt x="52207" y="17504"/>
                </a:lnTo>
                <a:lnTo>
                  <a:pt x="48135" y="27118"/>
                </a:lnTo>
                <a:lnTo>
                  <a:pt x="37479" y="22064"/>
                </a:lnTo>
                <a:lnTo>
                  <a:pt x="40352" y="11710"/>
                </a:lnTo>
                <a:lnTo>
                  <a:pt x="14129" y="0"/>
                </a:lnTo>
                <a:lnTo>
                  <a:pt x="11495" y="34391"/>
                </a:lnTo>
                <a:lnTo>
                  <a:pt x="15207" y="35624"/>
                </a:lnTo>
                <a:lnTo>
                  <a:pt x="19757" y="18490"/>
                </a:lnTo>
                <a:lnTo>
                  <a:pt x="26702" y="20585"/>
                </a:lnTo>
                <a:lnTo>
                  <a:pt x="27899" y="22188"/>
                </a:lnTo>
                <a:lnTo>
                  <a:pt x="36880" y="22681"/>
                </a:lnTo>
                <a:lnTo>
                  <a:pt x="32809" y="42033"/>
                </a:lnTo>
                <a:lnTo>
                  <a:pt x="11495" y="34637"/>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40" name="หลังสวนธนบุรีรมย์"/>
          <p:cNvSpPr/>
          <p:nvPr/>
        </p:nvSpPr>
        <p:spPr>
          <a:xfrm>
            <a:off x="4785840" y="6533640"/>
            <a:ext cx="2160" cy="33480"/>
          </a:xfrm>
          <a:custGeom>
            <a:avLst/>
            <a:gdLst/>
            <a:ahLst/>
            <a:rect l="l" t="t" r="r" b="b"/>
            <a:pathLst>
              <a:path w="2634" h="33775">
                <a:moveTo>
                  <a:pt x="239" y="33775"/>
                </a:moveTo>
                <a:lnTo>
                  <a:pt x="2634" y="0"/>
                </a:lnTo>
                <a:lnTo>
                  <a:pt x="0" y="33651"/>
                </a:lnTo>
                <a:lnTo>
                  <a:pt x="239" y="33775"/>
                </a:lnTo>
                <a:close/>
              </a:path>
            </a:pathLst>
          </a:custGeom>
          <a:solidFill>
            <a:srgbClr val="ded5c5"/>
          </a:solidFill>
          <a:ln w="6191">
            <a:solidFill>
              <a:srgbClr val="b5a68d"/>
            </a:solidFill>
            <a:round/>
          </a:ln>
        </p:spPr>
        <p:style>
          <a:lnRef idx="0"/>
          <a:fillRef idx="0"/>
          <a:effectRef idx="0"/>
          <a:fontRef idx="minor"/>
        </p:style>
        <p:txBody>
          <a:bodyPr lIns="90000" rIns="90000" tIns="-11520" bIns="-11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41" name="ประชาอุทิศ 43"/>
          <p:cNvSpPr/>
          <p:nvPr/>
        </p:nvSpPr>
        <p:spPr>
          <a:xfrm>
            <a:off x="4870440" y="6581160"/>
            <a:ext cx="64800" cy="46080"/>
          </a:xfrm>
          <a:custGeom>
            <a:avLst/>
            <a:gdLst/>
            <a:ahLst/>
            <a:rect l="l" t="t" r="r" b="b"/>
            <a:pathLst>
              <a:path w="65019" h="46471">
                <a:moveTo>
                  <a:pt x="0" y="19969"/>
                </a:moveTo>
                <a:lnTo>
                  <a:pt x="22032" y="42896"/>
                </a:lnTo>
                <a:lnTo>
                  <a:pt x="29576" y="33035"/>
                </a:lnTo>
                <a:lnTo>
                  <a:pt x="40951" y="42033"/>
                </a:lnTo>
                <a:lnTo>
                  <a:pt x="43945" y="41663"/>
                </a:lnTo>
                <a:lnTo>
                  <a:pt x="54721" y="46471"/>
                </a:lnTo>
                <a:lnTo>
                  <a:pt x="58194" y="39568"/>
                </a:lnTo>
                <a:lnTo>
                  <a:pt x="56996" y="37966"/>
                </a:lnTo>
                <a:lnTo>
                  <a:pt x="65019" y="26255"/>
                </a:lnTo>
                <a:lnTo>
                  <a:pt x="57715" y="21695"/>
                </a:lnTo>
                <a:lnTo>
                  <a:pt x="50530" y="32172"/>
                </a:lnTo>
                <a:lnTo>
                  <a:pt x="37598" y="23913"/>
                </a:lnTo>
                <a:lnTo>
                  <a:pt x="38556" y="21818"/>
                </a:lnTo>
                <a:lnTo>
                  <a:pt x="34964" y="19846"/>
                </a:lnTo>
                <a:lnTo>
                  <a:pt x="36640" y="16394"/>
                </a:lnTo>
                <a:lnTo>
                  <a:pt x="34964" y="16517"/>
                </a:lnTo>
                <a:lnTo>
                  <a:pt x="22511" y="7273"/>
                </a:lnTo>
                <a:lnTo>
                  <a:pt x="16404" y="9491"/>
                </a:lnTo>
                <a:lnTo>
                  <a:pt x="3832" y="0"/>
                </a:lnTo>
                <a:lnTo>
                  <a:pt x="958" y="8012"/>
                </a:lnTo>
                <a:lnTo>
                  <a:pt x="0" y="19969"/>
                </a:lnTo>
                <a:close/>
              </a:path>
            </a:pathLst>
          </a:custGeom>
          <a:solidFill>
            <a:srgbClr val="ded5c5"/>
          </a:solidFill>
          <a:ln w="6191">
            <a:solidFill>
              <a:srgbClr val="b5a68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42" name="พัฒนาศาลาร่วมใจ"/>
          <p:cNvSpPr/>
          <p:nvPr/>
        </p:nvSpPr>
        <p:spPr>
          <a:xfrm>
            <a:off x="8492760" y="3950640"/>
            <a:ext cx="91800" cy="163080"/>
          </a:xfrm>
          <a:custGeom>
            <a:avLst/>
            <a:gdLst/>
            <a:ahLst/>
            <a:rect l="l" t="t" r="r" b="b"/>
            <a:pathLst>
              <a:path w="92319" h="163326">
                <a:moveTo>
                  <a:pt x="0" y="64960"/>
                </a:moveTo>
                <a:lnTo>
                  <a:pt x="55320" y="163326"/>
                </a:lnTo>
                <a:lnTo>
                  <a:pt x="74119" y="155683"/>
                </a:lnTo>
                <a:lnTo>
                  <a:pt x="68132" y="131030"/>
                </a:lnTo>
                <a:lnTo>
                  <a:pt x="88488" y="112048"/>
                </a:lnTo>
                <a:lnTo>
                  <a:pt x="92319" y="102803"/>
                </a:lnTo>
                <a:lnTo>
                  <a:pt x="85614" y="0"/>
                </a:lnTo>
                <a:lnTo>
                  <a:pt x="76514" y="4068"/>
                </a:lnTo>
                <a:lnTo>
                  <a:pt x="71245" y="8505"/>
                </a:lnTo>
                <a:lnTo>
                  <a:pt x="71125" y="10108"/>
                </a:lnTo>
                <a:lnTo>
                  <a:pt x="0" y="6496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43" name="หมู่บ้านวังไผ่"/>
          <p:cNvSpPr/>
          <p:nvPr/>
        </p:nvSpPr>
        <p:spPr>
          <a:xfrm>
            <a:off x="6156360" y="3874680"/>
            <a:ext cx="59760" cy="23400"/>
          </a:xfrm>
          <a:custGeom>
            <a:avLst/>
            <a:gdLst/>
            <a:ahLst/>
            <a:rect l="l" t="t" r="r" b="b"/>
            <a:pathLst>
              <a:path w="60109" h="23667">
                <a:moveTo>
                  <a:pt x="5628" y="1602"/>
                </a:moveTo>
                <a:lnTo>
                  <a:pt x="1676" y="9615"/>
                </a:lnTo>
                <a:lnTo>
                  <a:pt x="0" y="22311"/>
                </a:lnTo>
                <a:lnTo>
                  <a:pt x="57954" y="23667"/>
                </a:lnTo>
                <a:lnTo>
                  <a:pt x="58074" y="13682"/>
                </a:lnTo>
                <a:lnTo>
                  <a:pt x="60109" y="11340"/>
                </a:lnTo>
                <a:lnTo>
                  <a:pt x="59271" y="2465"/>
                </a:lnTo>
                <a:lnTo>
                  <a:pt x="48734" y="2958"/>
                </a:lnTo>
                <a:lnTo>
                  <a:pt x="45741" y="0"/>
                </a:lnTo>
                <a:lnTo>
                  <a:pt x="5628" y="1602"/>
                </a:lnTo>
                <a:close/>
              </a:path>
            </a:pathLst>
          </a:custGeom>
          <a:solidFill>
            <a:srgbClr val="ded5c5"/>
          </a:solidFill>
          <a:ln w="6191">
            <a:solidFill>
              <a:srgbClr val="b5a68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44" name="ชุมชนหมู่บ้านสินธร"/>
          <p:cNvSpPr/>
          <p:nvPr/>
        </p:nvSpPr>
        <p:spPr>
          <a:xfrm>
            <a:off x="6555960" y="4939560"/>
            <a:ext cx="46080" cy="94320"/>
          </a:xfrm>
          <a:custGeom>
            <a:avLst/>
            <a:gdLst/>
            <a:ahLst/>
            <a:rect l="l" t="t" r="r" b="b"/>
            <a:pathLst>
              <a:path w="46339" h="94667">
                <a:moveTo>
                  <a:pt x="34246" y="91339"/>
                </a:moveTo>
                <a:lnTo>
                  <a:pt x="46339" y="84436"/>
                </a:lnTo>
                <a:lnTo>
                  <a:pt x="40592" y="13313"/>
                </a:lnTo>
                <a:lnTo>
                  <a:pt x="38556" y="6163"/>
                </a:lnTo>
                <a:lnTo>
                  <a:pt x="23708" y="6903"/>
                </a:lnTo>
                <a:lnTo>
                  <a:pt x="23469" y="8259"/>
                </a:lnTo>
                <a:lnTo>
                  <a:pt x="15207" y="9984"/>
                </a:lnTo>
                <a:lnTo>
                  <a:pt x="12932" y="3575"/>
                </a:lnTo>
                <a:lnTo>
                  <a:pt x="8023" y="0"/>
                </a:lnTo>
                <a:lnTo>
                  <a:pt x="2155" y="0"/>
                </a:lnTo>
                <a:lnTo>
                  <a:pt x="0" y="7149"/>
                </a:lnTo>
                <a:lnTo>
                  <a:pt x="4670" y="35624"/>
                </a:lnTo>
                <a:lnTo>
                  <a:pt x="17721" y="63358"/>
                </a:lnTo>
                <a:lnTo>
                  <a:pt x="29336" y="83450"/>
                </a:lnTo>
                <a:lnTo>
                  <a:pt x="25145" y="84683"/>
                </a:lnTo>
                <a:lnTo>
                  <a:pt x="30414" y="94667"/>
                </a:lnTo>
                <a:lnTo>
                  <a:pt x="34246" y="9133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45" name="ร่วมใจพัฒนา"/>
          <p:cNvSpPr/>
          <p:nvPr/>
        </p:nvSpPr>
        <p:spPr>
          <a:xfrm>
            <a:off x="6790320" y="6209280"/>
            <a:ext cx="21960" cy="25920"/>
          </a:xfrm>
          <a:custGeom>
            <a:avLst/>
            <a:gdLst/>
            <a:ahLst/>
            <a:rect l="l" t="t" r="r" b="b"/>
            <a:pathLst>
              <a:path w="22272" h="26379">
                <a:moveTo>
                  <a:pt x="0" y="21078"/>
                </a:moveTo>
                <a:lnTo>
                  <a:pt x="5029" y="26379"/>
                </a:lnTo>
                <a:lnTo>
                  <a:pt x="22272" y="3575"/>
                </a:lnTo>
                <a:lnTo>
                  <a:pt x="16285" y="0"/>
                </a:lnTo>
                <a:lnTo>
                  <a:pt x="0" y="21078"/>
                </a:lnTo>
                <a:close/>
              </a:path>
            </a:pathLst>
          </a:custGeom>
          <a:solidFill>
            <a:srgbClr val="ded5c5"/>
          </a:solidFill>
          <a:ln w="6191">
            <a:solidFill>
              <a:srgbClr val="b5a68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46" name="ชุมชนร่วมใจพัฒนา"/>
          <p:cNvSpPr/>
          <p:nvPr/>
        </p:nvSpPr>
        <p:spPr>
          <a:xfrm>
            <a:off x="6493680" y="4880520"/>
            <a:ext cx="30600" cy="48240"/>
          </a:xfrm>
          <a:custGeom>
            <a:avLst/>
            <a:gdLst/>
            <a:ahLst/>
            <a:rect l="l" t="t" r="r" b="b"/>
            <a:pathLst>
              <a:path w="31132" h="48566">
                <a:moveTo>
                  <a:pt x="0" y="4438"/>
                </a:moveTo>
                <a:lnTo>
                  <a:pt x="9340" y="28351"/>
                </a:lnTo>
                <a:lnTo>
                  <a:pt x="12932" y="44622"/>
                </a:lnTo>
                <a:lnTo>
                  <a:pt x="31132" y="48566"/>
                </a:lnTo>
                <a:lnTo>
                  <a:pt x="27780" y="25393"/>
                </a:lnTo>
                <a:lnTo>
                  <a:pt x="17841" y="0"/>
                </a:lnTo>
                <a:lnTo>
                  <a:pt x="0" y="4438"/>
                </a:lnTo>
                <a:close/>
              </a:path>
            </a:pathLst>
          </a:custGeom>
          <a:solidFill>
            <a:srgbClr val="ded5c5"/>
          </a:solidFill>
          <a:ln w="6191">
            <a:solidFill>
              <a:srgbClr val="b5a68d"/>
            </a:solidFill>
            <a:round/>
          </a:ln>
        </p:spPr>
        <p:style>
          <a:lnRef idx="0"/>
          <a:fillRef idx="0"/>
          <a:effectRef idx="0"/>
          <a:fontRef idx="minor"/>
        </p:style>
        <p:txBody>
          <a:bodyPr lIns="90000" rIns="90000" tIns="3240" bIns="3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47" name="ราษฎร์พัฒนา (ซอยมูลนิธิ)"/>
          <p:cNvSpPr/>
          <p:nvPr/>
        </p:nvSpPr>
        <p:spPr>
          <a:xfrm>
            <a:off x="8103600" y="4386960"/>
            <a:ext cx="63720" cy="105480"/>
          </a:xfrm>
          <a:custGeom>
            <a:avLst/>
            <a:gdLst/>
            <a:ahLst/>
            <a:rect l="l" t="t" r="r" b="b"/>
            <a:pathLst>
              <a:path w="64181" h="105761">
                <a:moveTo>
                  <a:pt x="5867" y="0"/>
                </a:moveTo>
                <a:lnTo>
                  <a:pt x="0" y="4068"/>
                </a:lnTo>
                <a:lnTo>
                  <a:pt x="55200" y="105761"/>
                </a:lnTo>
                <a:lnTo>
                  <a:pt x="64181" y="100461"/>
                </a:lnTo>
                <a:lnTo>
                  <a:pt x="20595" y="25516"/>
                </a:lnTo>
                <a:lnTo>
                  <a:pt x="21553" y="23544"/>
                </a:lnTo>
                <a:lnTo>
                  <a:pt x="20236" y="21941"/>
                </a:lnTo>
                <a:lnTo>
                  <a:pt x="19039" y="22681"/>
                </a:lnTo>
                <a:lnTo>
                  <a:pt x="5867"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48" name="ชุมชนหมู่บ้านเคหะนคร 2"/>
          <p:cNvSpPr/>
          <p:nvPr/>
        </p:nvSpPr>
        <p:spPr>
          <a:xfrm>
            <a:off x="7905240" y="5731920"/>
            <a:ext cx="53280" cy="63360"/>
          </a:xfrm>
          <a:custGeom>
            <a:avLst/>
            <a:gdLst/>
            <a:ahLst/>
            <a:rect l="l" t="t" r="r" b="b"/>
            <a:pathLst>
              <a:path w="53763" h="63851">
                <a:moveTo>
                  <a:pt x="32450" y="63851"/>
                </a:moveTo>
                <a:lnTo>
                  <a:pt x="53763" y="15531"/>
                </a:lnTo>
                <a:lnTo>
                  <a:pt x="45262" y="12080"/>
                </a:lnTo>
                <a:lnTo>
                  <a:pt x="48495" y="1972"/>
                </a:lnTo>
                <a:lnTo>
                  <a:pt x="41789" y="0"/>
                </a:lnTo>
                <a:lnTo>
                  <a:pt x="38915" y="10231"/>
                </a:lnTo>
                <a:lnTo>
                  <a:pt x="28977" y="6533"/>
                </a:lnTo>
                <a:lnTo>
                  <a:pt x="22391" y="20462"/>
                </a:lnTo>
                <a:lnTo>
                  <a:pt x="6226" y="13559"/>
                </a:lnTo>
                <a:lnTo>
                  <a:pt x="0" y="24776"/>
                </a:lnTo>
                <a:lnTo>
                  <a:pt x="3592" y="52388"/>
                </a:lnTo>
                <a:lnTo>
                  <a:pt x="32450" y="63851"/>
                </a:lnTo>
                <a:close/>
              </a:path>
            </a:pathLst>
          </a:custGeom>
          <a:solidFill>
            <a:srgbClr val="ded5c5"/>
          </a:solidFill>
          <a:ln w="6191">
            <a:solidFill>
              <a:srgbClr val="b5a68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49" name="ทวีปัญญารักษ์"/>
          <p:cNvSpPr/>
          <p:nvPr/>
        </p:nvSpPr>
        <p:spPr>
          <a:xfrm>
            <a:off x="7442640" y="5731920"/>
            <a:ext cx="26280" cy="46440"/>
          </a:xfrm>
          <a:custGeom>
            <a:avLst/>
            <a:gdLst/>
            <a:ahLst/>
            <a:rect l="l" t="t" r="r" b="b"/>
            <a:pathLst>
              <a:path w="26582" h="46841">
                <a:moveTo>
                  <a:pt x="23589" y="0"/>
                </a:moveTo>
                <a:lnTo>
                  <a:pt x="0" y="493"/>
                </a:lnTo>
                <a:lnTo>
                  <a:pt x="1557" y="14299"/>
                </a:lnTo>
                <a:lnTo>
                  <a:pt x="5388" y="13682"/>
                </a:lnTo>
                <a:lnTo>
                  <a:pt x="7184" y="28721"/>
                </a:lnTo>
                <a:lnTo>
                  <a:pt x="11016" y="41540"/>
                </a:lnTo>
                <a:lnTo>
                  <a:pt x="8023" y="41663"/>
                </a:lnTo>
                <a:lnTo>
                  <a:pt x="6586" y="45485"/>
                </a:lnTo>
                <a:lnTo>
                  <a:pt x="16285" y="45485"/>
                </a:lnTo>
                <a:lnTo>
                  <a:pt x="16045" y="46841"/>
                </a:lnTo>
                <a:lnTo>
                  <a:pt x="26582" y="45854"/>
                </a:lnTo>
                <a:lnTo>
                  <a:pt x="23589" y="0"/>
                </a:lnTo>
                <a:close/>
              </a:path>
            </a:pathLst>
          </a:custGeom>
          <a:solidFill>
            <a:srgbClr val="ded5c5"/>
          </a:solidFill>
          <a:ln w="6191">
            <a:solidFill>
              <a:srgbClr val="b5a68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50" name="ลำพุทรา"/>
          <p:cNvSpPr/>
          <p:nvPr/>
        </p:nvSpPr>
        <p:spPr>
          <a:xfrm>
            <a:off x="8132760" y="5354640"/>
            <a:ext cx="202320" cy="142920"/>
          </a:xfrm>
          <a:custGeom>
            <a:avLst/>
            <a:gdLst/>
            <a:ahLst/>
            <a:rect l="l" t="t" r="r" b="b"/>
            <a:pathLst>
              <a:path w="202720" h="143357">
                <a:moveTo>
                  <a:pt x="1317" y="143357"/>
                </a:moveTo>
                <a:lnTo>
                  <a:pt x="93038" y="143357"/>
                </a:lnTo>
                <a:lnTo>
                  <a:pt x="124889" y="67056"/>
                </a:lnTo>
                <a:lnTo>
                  <a:pt x="193739" y="73466"/>
                </a:lnTo>
                <a:lnTo>
                  <a:pt x="202720" y="22804"/>
                </a:lnTo>
                <a:lnTo>
                  <a:pt x="107646" y="9738"/>
                </a:lnTo>
                <a:lnTo>
                  <a:pt x="108365" y="4561"/>
                </a:lnTo>
                <a:lnTo>
                  <a:pt x="76035" y="0"/>
                </a:lnTo>
                <a:lnTo>
                  <a:pt x="76873" y="14052"/>
                </a:lnTo>
                <a:lnTo>
                  <a:pt x="32569" y="50539"/>
                </a:lnTo>
                <a:lnTo>
                  <a:pt x="20835" y="66563"/>
                </a:lnTo>
                <a:lnTo>
                  <a:pt x="16404" y="87271"/>
                </a:lnTo>
                <a:lnTo>
                  <a:pt x="0" y="88874"/>
                </a:lnTo>
                <a:lnTo>
                  <a:pt x="1317" y="14335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51" name="ชุมชนชานเมือง หมู่ 5 ทุ่งครุ"/>
          <p:cNvSpPr/>
          <p:nvPr/>
        </p:nvSpPr>
        <p:spPr>
          <a:xfrm>
            <a:off x="4995360" y="6992640"/>
            <a:ext cx="48960" cy="74160"/>
          </a:xfrm>
          <a:custGeom>
            <a:avLst/>
            <a:gdLst/>
            <a:ahLst/>
            <a:rect l="l" t="t" r="r" b="b"/>
            <a:pathLst>
              <a:path w="49213" h="74452">
                <a:moveTo>
                  <a:pt x="0" y="32665"/>
                </a:moveTo>
                <a:lnTo>
                  <a:pt x="8262" y="35747"/>
                </a:lnTo>
                <a:lnTo>
                  <a:pt x="17721" y="26748"/>
                </a:lnTo>
                <a:lnTo>
                  <a:pt x="26941" y="30323"/>
                </a:lnTo>
                <a:lnTo>
                  <a:pt x="13650" y="71987"/>
                </a:lnTo>
                <a:lnTo>
                  <a:pt x="17003" y="74452"/>
                </a:lnTo>
                <a:lnTo>
                  <a:pt x="39993" y="38705"/>
                </a:lnTo>
                <a:lnTo>
                  <a:pt x="39993" y="32665"/>
                </a:lnTo>
                <a:lnTo>
                  <a:pt x="42508" y="27611"/>
                </a:lnTo>
                <a:lnTo>
                  <a:pt x="43825" y="18983"/>
                </a:lnTo>
                <a:lnTo>
                  <a:pt x="49213" y="18120"/>
                </a:lnTo>
                <a:lnTo>
                  <a:pt x="49213" y="3451"/>
                </a:lnTo>
                <a:lnTo>
                  <a:pt x="29695" y="3698"/>
                </a:lnTo>
                <a:lnTo>
                  <a:pt x="26702" y="0"/>
                </a:lnTo>
                <a:lnTo>
                  <a:pt x="22870" y="740"/>
                </a:lnTo>
                <a:lnTo>
                  <a:pt x="5748" y="22064"/>
                </a:lnTo>
                <a:lnTo>
                  <a:pt x="0" y="32665"/>
                </a:lnTo>
                <a:close/>
              </a:path>
            </a:pathLst>
          </a:custGeom>
          <a:solidFill>
            <a:srgbClr val="ded5c5"/>
          </a:solidFill>
          <a:ln w="6191">
            <a:solidFill>
              <a:srgbClr val="b5a68d"/>
            </a:solidFill>
            <a:round/>
          </a:ln>
        </p:spPr>
        <p:style>
          <a:lnRef idx="0"/>
          <a:fillRef idx="0"/>
          <a:effectRef idx="0"/>
          <a:fontRef idx="minor"/>
        </p:style>
        <p:txBody>
          <a:bodyPr lIns="90000" rIns="90000" tIns="29160" bIns="29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52" name="คลองเก้าห้อง"/>
          <p:cNvSpPr/>
          <p:nvPr/>
        </p:nvSpPr>
        <p:spPr>
          <a:xfrm>
            <a:off x="4989960" y="7133040"/>
            <a:ext cx="36360" cy="48960"/>
          </a:xfrm>
          <a:custGeom>
            <a:avLst/>
            <a:gdLst/>
            <a:ahLst/>
            <a:rect l="l" t="t" r="r" b="b"/>
            <a:pathLst>
              <a:path w="36760" h="49306">
                <a:moveTo>
                  <a:pt x="16644" y="0"/>
                </a:moveTo>
                <a:lnTo>
                  <a:pt x="1557" y="18613"/>
                </a:lnTo>
                <a:lnTo>
                  <a:pt x="0" y="45238"/>
                </a:lnTo>
                <a:lnTo>
                  <a:pt x="4550" y="49306"/>
                </a:lnTo>
                <a:lnTo>
                  <a:pt x="36760" y="23420"/>
                </a:lnTo>
                <a:lnTo>
                  <a:pt x="16644" y="0"/>
                </a:lnTo>
                <a:close/>
              </a:path>
            </a:pathLst>
          </a:custGeom>
          <a:solidFill>
            <a:srgbClr val="ded5c5"/>
          </a:solidFill>
          <a:ln w="6191">
            <a:solidFill>
              <a:srgbClr val="b5a68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53" name="ประชาอุทิศ 68"/>
          <p:cNvSpPr/>
          <p:nvPr/>
        </p:nvSpPr>
        <p:spPr>
          <a:xfrm>
            <a:off x="4877280" y="6810840"/>
            <a:ext cx="74160" cy="38520"/>
          </a:xfrm>
          <a:custGeom>
            <a:avLst/>
            <a:gdLst/>
            <a:ahLst/>
            <a:rect l="l" t="t" r="r" b="b"/>
            <a:pathLst>
              <a:path w="74598" h="38952">
                <a:moveTo>
                  <a:pt x="20595" y="0"/>
                </a:moveTo>
                <a:lnTo>
                  <a:pt x="2993" y="12820"/>
                </a:lnTo>
                <a:lnTo>
                  <a:pt x="0" y="26625"/>
                </a:lnTo>
                <a:lnTo>
                  <a:pt x="5987" y="28104"/>
                </a:lnTo>
                <a:lnTo>
                  <a:pt x="2515" y="38828"/>
                </a:lnTo>
                <a:lnTo>
                  <a:pt x="14010" y="34268"/>
                </a:lnTo>
                <a:lnTo>
                  <a:pt x="20476" y="38952"/>
                </a:lnTo>
                <a:lnTo>
                  <a:pt x="31013" y="35377"/>
                </a:lnTo>
                <a:lnTo>
                  <a:pt x="40592" y="28721"/>
                </a:lnTo>
                <a:lnTo>
                  <a:pt x="44543" y="28721"/>
                </a:lnTo>
                <a:lnTo>
                  <a:pt x="46459" y="37226"/>
                </a:lnTo>
                <a:lnTo>
                  <a:pt x="59630" y="35993"/>
                </a:lnTo>
                <a:lnTo>
                  <a:pt x="60588" y="38089"/>
                </a:lnTo>
                <a:lnTo>
                  <a:pt x="74598" y="37226"/>
                </a:lnTo>
                <a:lnTo>
                  <a:pt x="72203" y="27858"/>
                </a:lnTo>
                <a:lnTo>
                  <a:pt x="50530" y="27118"/>
                </a:lnTo>
                <a:lnTo>
                  <a:pt x="50530" y="24406"/>
                </a:lnTo>
                <a:lnTo>
                  <a:pt x="45501" y="23790"/>
                </a:lnTo>
                <a:lnTo>
                  <a:pt x="42029" y="14052"/>
                </a:lnTo>
                <a:lnTo>
                  <a:pt x="43106" y="6656"/>
                </a:lnTo>
                <a:lnTo>
                  <a:pt x="20595" y="0"/>
                </a:lnTo>
                <a:close/>
              </a:path>
            </a:pathLst>
          </a:custGeom>
          <a:solidFill>
            <a:srgbClr val="ded5c5"/>
          </a:solidFill>
          <a:ln w="6191">
            <a:solidFill>
              <a:srgbClr val="b5a68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54" name="ดารีซีน"/>
          <p:cNvSpPr/>
          <p:nvPr/>
        </p:nvSpPr>
        <p:spPr>
          <a:xfrm>
            <a:off x="5050080" y="6698160"/>
            <a:ext cx="13680" cy="18360"/>
          </a:xfrm>
          <a:custGeom>
            <a:avLst/>
            <a:gdLst/>
            <a:ahLst/>
            <a:rect l="l" t="t" r="r" b="b"/>
            <a:pathLst>
              <a:path w="13890" h="18613">
                <a:moveTo>
                  <a:pt x="3353" y="0"/>
                </a:moveTo>
                <a:lnTo>
                  <a:pt x="0" y="16517"/>
                </a:lnTo>
                <a:lnTo>
                  <a:pt x="9938" y="18613"/>
                </a:lnTo>
                <a:lnTo>
                  <a:pt x="13890" y="1972"/>
                </a:lnTo>
                <a:lnTo>
                  <a:pt x="3353" y="0"/>
                </a:lnTo>
                <a:close/>
              </a:path>
            </a:pathLst>
          </a:custGeom>
          <a:solidFill>
            <a:srgbClr val="ded5c5"/>
          </a:solidFill>
          <a:ln w="6191">
            <a:solidFill>
              <a:srgbClr val="b5a68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55" name="ทุ่งครุพัฒนา"/>
          <p:cNvSpPr/>
          <p:nvPr/>
        </p:nvSpPr>
        <p:spPr>
          <a:xfrm>
            <a:off x="5037840" y="6885720"/>
            <a:ext cx="49680" cy="45000"/>
          </a:xfrm>
          <a:custGeom>
            <a:avLst/>
            <a:gdLst/>
            <a:ahLst/>
            <a:rect l="l" t="t" r="r" b="b"/>
            <a:pathLst>
              <a:path w="50171" h="45238">
                <a:moveTo>
                  <a:pt x="2634" y="18490"/>
                </a:moveTo>
                <a:lnTo>
                  <a:pt x="13171" y="45238"/>
                </a:lnTo>
                <a:lnTo>
                  <a:pt x="19039" y="39198"/>
                </a:lnTo>
                <a:lnTo>
                  <a:pt x="29935" y="33898"/>
                </a:lnTo>
                <a:lnTo>
                  <a:pt x="50171" y="27118"/>
                </a:lnTo>
                <a:lnTo>
                  <a:pt x="49692" y="22804"/>
                </a:lnTo>
                <a:lnTo>
                  <a:pt x="41550" y="12080"/>
                </a:lnTo>
                <a:lnTo>
                  <a:pt x="35802" y="0"/>
                </a:lnTo>
                <a:lnTo>
                  <a:pt x="16285" y="5917"/>
                </a:lnTo>
                <a:lnTo>
                  <a:pt x="15446" y="4191"/>
                </a:lnTo>
                <a:lnTo>
                  <a:pt x="14010" y="4561"/>
                </a:lnTo>
                <a:lnTo>
                  <a:pt x="8502" y="7273"/>
                </a:lnTo>
                <a:lnTo>
                  <a:pt x="0" y="13436"/>
                </a:lnTo>
                <a:lnTo>
                  <a:pt x="2634" y="18490"/>
                </a:lnTo>
                <a:close/>
              </a:path>
            </a:pathLst>
          </a:custGeom>
          <a:solidFill>
            <a:srgbClr val="ded5c5"/>
          </a:solidFill>
          <a:ln w="6191">
            <a:solidFill>
              <a:srgbClr val="b5a68d"/>
            </a:solidFill>
            <a:round/>
          </a:ln>
        </p:spPr>
        <p:style>
          <a:lnRef idx="0"/>
          <a:fillRef idx="0"/>
          <a:effectRef idx="0"/>
          <a:fontRef idx="minor"/>
        </p:style>
        <p:txBody>
          <a:bodyPr lIns="90000" rIns="90000" tIns="0" bIns="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56" name="คอลิดีน"/>
          <p:cNvSpPr/>
          <p:nvPr/>
        </p:nvSpPr>
        <p:spPr>
          <a:xfrm>
            <a:off x="4773240" y="6755040"/>
            <a:ext cx="102600" cy="51120"/>
          </a:xfrm>
          <a:custGeom>
            <a:avLst/>
            <a:gdLst/>
            <a:ahLst/>
            <a:rect l="l" t="t" r="r" b="b"/>
            <a:pathLst>
              <a:path w="102857" h="51525">
                <a:moveTo>
                  <a:pt x="17841" y="39568"/>
                </a:moveTo>
                <a:lnTo>
                  <a:pt x="20116" y="47827"/>
                </a:lnTo>
                <a:lnTo>
                  <a:pt x="26822" y="50415"/>
                </a:lnTo>
                <a:lnTo>
                  <a:pt x="31731" y="42896"/>
                </a:lnTo>
                <a:lnTo>
                  <a:pt x="41071" y="46717"/>
                </a:lnTo>
                <a:lnTo>
                  <a:pt x="61666" y="51525"/>
                </a:lnTo>
                <a:lnTo>
                  <a:pt x="68252" y="38459"/>
                </a:lnTo>
                <a:lnTo>
                  <a:pt x="82860" y="38705"/>
                </a:lnTo>
                <a:lnTo>
                  <a:pt x="99145" y="42896"/>
                </a:lnTo>
                <a:lnTo>
                  <a:pt x="102857" y="29337"/>
                </a:lnTo>
                <a:lnTo>
                  <a:pt x="89925" y="24283"/>
                </a:lnTo>
                <a:lnTo>
                  <a:pt x="88607" y="25886"/>
                </a:lnTo>
                <a:lnTo>
                  <a:pt x="73281" y="22188"/>
                </a:lnTo>
                <a:lnTo>
                  <a:pt x="63941" y="17873"/>
                </a:lnTo>
                <a:lnTo>
                  <a:pt x="46220" y="6410"/>
                </a:lnTo>
                <a:lnTo>
                  <a:pt x="44543" y="8505"/>
                </a:lnTo>
                <a:lnTo>
                  <a:pt x="42029" y="7026"/>
                </a:lnTo>
                <a:lnTo>
                  <a:pt x="35084" y="15162"/>
                </a:lnTo>
                <a:lnTo>
                  <a:pt x="11735" y="0"/>
                </a:lnTo>
                <a:lnTo>
                  <a:pt x="8023" y="5177"/>
                </a:lnTo>
                <a:lnTo>
                  <a:pt x="9579" y="7642"/>
                </a:lnTo>
                <a:lnTo>
                  <a:pt x="0" y="27118"/>
                </a:lnTo>
                <a:lnTo>
                  <a:pt x="17841" y="39568"/>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57" name="สน.ทุ่งครุ"/>
          <p:cNvSpPr/>
          <p:nvPr/>
        </p:nvSpPr>
        <p:spPr>
          <a:xfrm>
            <a:off x="4977360" y="6887880"/>
            <a:ext cx="23040" cy="24120"/>
          </a:xfrm>
          <a:custGeom>
            <a:avLst/>
            <a:gdLst/>
            <a:ahLst/>
            <a:rect l="l" t="t" r="r" b="b"/>
            <a:pathLst>
              <a:path w="23349" h="24530">
                <a:moveTo>
                  <a:pt x="17841" y="0"/>
                </a:moveTo>
                <a:lnTo>
                  <a:pt x="0" y="16024"/>
                </a:lnTo>
                <a:lnTo>
                  <a:pt x="7663" y="24530"/>
                </a:lnTo>
                <a:lnTo>
                  <a:pt x="23349" y="10477"/>
                </a:lnTo>
                <a:lnTo>
                  <a:pt x="17841" y="0"/>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58" name="ซอยมิตรอนันต์"/>
          <p:cNvSpPr/>
          <p:nvPr/>
        </p:nvSpPr>
        <p:spPr>
          <a:xfrm>
            <a:off x="5214240" y="5037480"/>
            <a:ext cx="21600" cy="13320"/>
          </a:xfrm>
          <a:custGeom>
            <a:avLst/>
            <a:gdLst/>
            <a:ahLst/>
            <a:rect l="l" t="t" r="r" b="b"/>
            <a:pathLst>
              <a:path w="22032" h="13559">
                <a:moveTo>
                  <a:pt x="15566" y="2342"/>
                </a:moveTo>
                <a:lnTo>
                  <a:pt x="7544" y="0"/>
                </a:lnTo>
                <a:lnTo>
                  <a:pt x="6825" y="2096"/>
                </a:lnTo>
                <a:lnTo>
                  <a:pt x="1796" y="1109"/>
                </a:lnTo>
                <a:lnTo>
                  <a:pt x="0" y="5424"/>
                </a:lnTo>
                <a:lnTo>
                  <a:pt x="3113" y="6780"/>
                </a:lnTo>
                <a:lnTo>
                  <a:pt x="2395" y="8382"/>
                </a:lnTo>
                <a:lnTo>
                  <a:pt x="8980" y="11957"/>
                </a:lnTo>
                <a:lnTo>
                  <a:pt x="9459" y="11094"/>
                </a:lnTo>
                <a:lnTo>
                  <a:pt x="16883" y="13559"/>
                </a:lnTo>
                <a:lnTo>
                  <a:pt x="18200" y="7642"/>
                </a:lnTo>
                <a:lnTo>
                  <a:pt x="21553" y="8875"/>
                </a:lnTo>
                <a:lnTo>
                  <a:pt x="22032" y="6410"/>
                </a:lnTo>
                <a:lnTo>
                  <a:pt x="18440" y="5547"/>
                </a:lnTo>
                <a:lnTo>
                  <a:pt x="18919" y="2835"/>
                </a:lnTo>
                <a:lnTo>
                  <a:pt x="15566" y="2342"/>
                </a:lnTo>
                <a:close/>
              </a:path>
            </a:pathLst>
          </a:custGeom>
          <a:solidFill>
            <a:srgbClr val="ded5c5"/>
          </a:solidFill>
          <a:ln w="6191">
            <a:solidFill>
              <a:srgbClr val="b5a68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59" name="ร่วมใจพัฒนา"/>
          <p:cNvSpPr/>
          <p:nvPr/>
        </p:nvSpPr>
        <p:spPr>
          <a:xfrm>
            <a:off x="4983120" y="6483240"/>
            <a:ext cx="46800" cy="39600"/>
          </a:xfrm>
          <a:custGeom>
            <a:avLst/>
            <a:gdLst/>
            <a:ahLst/>
            <a:rect l="l" t="t" r="r" b="b"/>
            <a:pathLst>
              <a:path w="47058" h="39815">
                <a:moveTo>
                  <a:pt x="12333" y="0"/>
                </a:moveTo>
                <a:lnTo>
                  <a:pt x="0" y="20215"/>
                </a:lnTo>
                <a:lnTo>
                  <a:pt x="30773" y="39815"/>
                </a:lnTo>
                <a:lnTo>
                  <a:pt x="35204" y="39321"/>
                </a:lnTo>
                <a:lnTo>
                  <a:pt x="47058" y="22311"/>
                </a:lnTo>
                <a:lnTo>
                  <a:pt x="12333" y="0"/>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60" name="วัดสุขใจ"/>
          <p:cNvSpPr/>
          <p:nvPr/>
        </p:nvSpPr>
        <p:spPr>
          <a:xfrm>
            <a:off x="8113680" y="3892320"/>
            <a:ext cx="17280" cy="43560"/>
          </a:xfrm>
          <a:custGeom>
            <a:avLst/>
            <a:gdLst/>
            <a:ahLst/>
            <a:rect l="l" t="t" r="r" b="b"/>
            <a:pathLst>
              <a:path w="17602" h="44006">
                <a:moveTo>
                  <a:pt x="7304" y="44006"/>
                </a:moveTo>
                <a:lnTo>
                  <a:pt x="17602" y="39568"/>
                </a:lnTo>
                <a:lnTo>
                  <a:pt x="14848" y="0"/>
                </a:lnTo>
                <a:lnTo>
                  <a:pt x="10896" y="986"/>
                </a:lnTo>
                <a:lnTo>
                  <a:pt x="6226" y="5670"/>
                </a:lnTo>
                <a:lnTo>
                  <a:pt x="0" y="7642"/>
                </a:lnTo>
                <a:lnTo>
                  <a:pt x="7304" y="44006"/>
                </a:lnTo>
                <a:close/>
              </a:path>
            </a:pathLst>
          </a:custGeom>
          <a:solidFill>
            <a:srgbClr val="ded5c5"/>
          </a:solidFill>
          <a:ln w="6191">
            <a:solidFill>
              <a:srgbClr val="b5a68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61" name="ประสานมิตรพัฒนา"/>
          <p:cNvSpPr/>
          <p:nvPr/>
        </p:nvSpPr>
        <p:spPr>
          <a:xfrm>
            <a:off x="7773480" y="3944160"/>
            <a:ext cx="45000" cy="13680"/>
          </a:xfrm>
          <a:custGeom>
            <a:avLst/>
            <a:gdLst/>
            <a:ahLst/>
            <a:rect l="l" t="t" r="r" b="b"/>
            <a:pathLst>
              <a:path w="45262" h="14052">
                <a:moveTo>
                  <a:pt x="838" y="5177"/>
                </a:moveTo>
                <a:lnTo>
                  <a:pt x="0" y="11710"/>
                </a:lnTo>
                <a:lnTo>
                  <a:pt x="1317" y="14052"/>
                </a:lnTo>
                <a:lnTo>
                  <a:pt x="37119" y="9615"/>
                </a:lnTo>
                <a:lnTo>
                  <a:pt x="42627" y="10108"/>
                </a:lnTo>
                <a:lnTo>
                  <a:pt x="45262" y="8752"/>
                </a:lnTo>
                <a:lnTo>
                  <a:pt x="42029" y="0"/>
                </a:lnTo>
                <a:lnTo>
                  <a:pt x="838" y="5177"/>
                </a:lnTo>
                <a:close/>
              </a:path>
            </a:pathLst>
          </a:custGeom>
          <a:solidFill>
            <a:srgbClr val="ded5c5"/>
          </a:solidFill>
          <a:ln w="6191">
            <a:solidFill>
              <a:srgbClr val="b5a68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62" name="คลองลำมะเขือขื่น"/>
          <p:cNvSpPr/>
          <p:nvPr/>
        </p:nvSpPr>
        <p:spPr>
          <a:xfrm>
            <a:off x="8227080" y="3602520"/>
            <a:ext cx="192240" cy="143640"/>
          </a:xfrm>
          <a:custGeom>
            <a:avLst/>
            <a:gdLst/>
            <a:ahLst/>
            <a:rect l="l" t="t" r="r" b="b"/>
            <a:pathLst>
              <a:path w="192422" h="144096">
                <a:moveTo>
                  <a:pt x="162008" y="9861"/>
                </a:moveTo>
                <a:lnTo>
                  <a:pt x="153746" y="23544"/>
                </a:lnTo>
                <a:lnTo>
                  <a:pt x="144765" y="34021"/>
                </a:lnTo>
                <a:lnTo>
                  <a:pt x="127403" y="37719"/>
                </a:lnTo>
                <a:lnTo>
                  <a:pt x="85734" y="41540"/>
                </a:lnTo>
                <a:lnTo>
                  <a:pt x="54362" y="51771"/>
                </a:lnTo>
                <a:lnTo>
                  <a:pt x="28977" y="62125"/>
                </a:lnTo>
                <a:lnTo>
                  <a:pt x="0" y="64344"/>
                </a:lnTo>
                <a:lnTo>
                  <a:pt x="11016" y="144096"/>
                </a:lnTo>
                <a:lnTo>
                  <a:pt x="30294" y="138426"/>
                </a:lnTo>
                <a:lnTo>
                  <a:pt x="28618" y="128812"/>
                </a:lnTo>
                <a:lnTo>
                  <a:pt x="61786" y="106747"/>
                </a:lnTo>
                <a:lnTo>
                  <a:pt x="94594" y="92325"/>
                </a:lnTo>
                <a:lnTo>
                  <a:pt x="98187" y="96516"/>
                </a:lnTo>
                <a:lnTo>
                  <a:pt x="180568" y="56825"/>
                </a:lnTo>
                <a:lnTo>
                  <a:pt x="192422" y="37103"/>
                </a:lnTo>
                <a:lnTo>
                  <a:pt x="170629" y="616"/>
                </a:lnTo>
                <a:lnTo>
                  <a:pt x="167636" y="0"/>
                </a:lnTo>
                <a:lnTo>
                  <a:pt x="162008" y="9861"/>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63" name="ทุ่งรวงทองพัฒนาแบนชะโด"/>
          <p:cNvSpPr/>
          <p:nvPr/>
        </p:nvSpPr>
        <p:spPr>
          <a:xfrm>
            <a:off x="8247600" y="3802320"/>
            <a:ext cx="47520" cy="39600"/>
          </a:xfrm>
          <a:custGeom>
            <a:avLst/>
            <a:gdLst/>
            <a:ahLst/>
            <a:rect l="l" t="t" r="r" b="b"/>
            <a:pathLst>
              <a:path w="47896" h="39815">
                <a:moveTo>
                  <a:pt x="0" y="20092"/>
                </a:moveTo>
                <a:lnTo>
                  <a:pt x="5508" y="39815"/>
                </a:lnTo>
                <a:lnTo>
                  <a:pt x="19278" y="33281"/>
                </a:lnTo>
                <a:lnTo>
                  <a:pt x="31971" y="24160"/>
                </a:lnTo>
                <a:lnTo>
                  <a:pt x="47896" y="9738"/>
                </a:lnTo>
                <a:lnTo>
                  <a:pt x="43226" y="0"/>
                </a:lnTo>
                <a:lnTo>
                  <a:pt x="0" y="20092"/>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64" name="คลองลำกะดาน"/>
          <p:cNvSpPr/>
          <p:nvPr/>
        </p:nvSpPr>
        <p:spPr>
          <a:xfrm>
            <a:off x="7789320" y="3317400"/>
            <a:ext cx="95400" cy="43920"/>
          </a:xfrm>
          <a:custGeom>
            <a:avLst/>
            <a:gdLst/>
            <a:ahLst/>
            <a:rect l="l" t="t" r="r" b="b"/>
            <a:pathLst>
              <a:path w="95672" h="44375">
                <a:moveTo>
                  <a:pt x="2754" y="31309"/>
                </a:moveTo>
                <a:lnTo>
                  <a:pt x="37598" y="17504"/>
                </a:lnTo>
                <a:lnTo>
                  <a:pt x="55080" y="16148"/>
                </a:lnTo>
                <a:lnTo>
                  <a:pt x="67533" y="18366"/>
                </a:lnTo>
                <a:lnTo>
                  <a:pt x="78430" y="24406"/>
                </a:lnTo>
                <a:lnTo>
                  <a:pt x="81543" y="27118"/>
                </a:lnTo>
                <a:lnTo>
                  <a:pt x="90164" y="44375"/>
                </a:lnTo>
                <a:lnTo>
                  <a:pt x="91601" y="43019"/>
                </a:lnTo>
                <a:lnTo>
                  <a:pt x="90883" y="40924"/>
                </a:lnTo>
                <a:lnTo>
                  <a:pt x="95672" y="20832"/>
                </a:lnTo>
                <a:lnTo>
                  <a:pt x="91362" y="7889"/>
                </a:lnTo>
                <a:lnTo>
                  <a:pt x="79268" y="863"/>
                </a:lnTo>
                <a:lnTo>
                  <a:pt x="6466" y="0"/>
                </a:lnTo>
                <a:lnTo>
                  <a:pt x="0" y="26748"/>
                </a:lnTo>
                <a:lnTo>
                  <a:pt x="2754" y="31309"/>
                </a:lnTo>
                <a:close/>
              </a:path>
            </a:pathLst>
          </a:custGeom>
          <a:solidFill>
            <a:srgbClr val="ded5c5"/>
          </a:solidFill>
          <a:ln w="6191">
            <a:solidFill>
              <a:srgbClr val="b5a68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65" name="หมู่3แขวงสามวาตะวันออก"/>
          <p:cNvSpPr/>
          <p:nvPr/>
        </p:nvSpPr>
        <p:spPr>
          <a:xfrm>
            <a:off x="7650720" y="3683880"/>
            <a:ext cx="65880" cy="22320"/>
          </a:xfrm>
          <a:custGeom>
            <a:avLst/>
            <a:gdLst/>
            <a:ahLst/>
            <a:rect l="l" t="t" r="r" b="b"/>
            <a:pathLst>
              <a:path w="66216" h="22557">
                <a:moveTo>
                  <a:pt x="0" y="11957"/>
                </a:moveTo>
                <a:lnTo>
                  <a:pt x="239" y="22557"/>
                </a:lnTo>
                <a:lnTo>
                  <a:pt x="66216" y="13189"/>
                </a:lnTo>
                <a:lnTo>
                  <a:pt x="64899" y="0"/>
                </a:lnTo>
                <a:lnTo>
                  <a:pt x="239" y="7519"/>
                </a:lnTo>
                <a:lnTo>
                  <a:pt x="0" y="11957"/>
                </a:lnTo>
                <a:close/>
              </a:path>
            </a:pathLst>
          </a:custGeom>
          <a:solidFill>
            <a:srgbClr val="ded5c5"/>
          </a:solidFill>
          <a:ln w="6191">
            <a:solidFill>
              <a:srgbClr val="b5a68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66" name="อาสาพัฒนา"/>
          <p:cNvSpPr/>
          <p:nvPr/>
        </p:nvSpPr>
        <p:spPr>
          <a:xfrm>
            <a:off x="8051760" y="3678840"/>
            <a:ext cx="180360" cy="56160"/>
          </a:xfrm>
          <a:custGeom>
            <a:avLst/>
            <a:gdLst/>
            <a:ahLst/>
            <a:rect l="l" t="t" r="r" b="b"/>
            <a:pathLst>
              <a:path w="180568" h="56455">
                <a:moveTo>
                  <a:pt x="11016" y="40801"/>
                </a:moveTo>
                <a:lnTo>
                  <a:pt x="1437" y="48196"/>
                </a:lnTo>
                <a:lnTo>
                  <a:pt x="0" y="51155"/>
                </a:lnTo>
                <a:lnTo>
                  <a:pt x="359" y="56455"/>
                </a:lnTo>
                <a:lnTo>
                  <a:pt x="180568" y="34021"/>
                </a:lnTo>
                <a:lnTo>
                  <a:pt x="177694" y="15778"/>
                </a:lnTo>
                <a:lnTo>
                  <a:pt x="43585" y="36240"/>
                </a:lnTo>
                <a:lnTo>
                  <a:pt x="41191" y="21695"/>
                </a:lnTo>
                <a:lnTo>
                  <a:pt x="56038" y="12450"/>
                </a:lnTo>
                <a:lnTo>
                  <a:pt x="79028" y="3328"/>
                </a:lnTo>
                <a:lnTo>
                  <a:pt x="75436" y="0"/>
                </a:lnTo>
                <a:lnTo>
                  <a:pt x="21314" y="18490"/>
                </a:lnTo>
                <a:lnTo>
                  <a:pt x="20715" y="33775"/>
                </a:lnTo>
                <a:lnTo>
                  <a:pt x="11016" y="40801"/>
                </a:lnTo>
                <a:close/>
              </a:path>
            </a:pathLst>
          </a:custGeom>
          <a:solidFill>
            <a:srgbClr val="ded5c5"/>
          </a:solidFill>
          <a:ln w="6191">
            <a:solidFill>
              <a:srgbClr val="b5a68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67" name="เคหะคลองเก้า"/>
          <p:cNvSpPr/>
          <p:nvPr/>
        </p:nvSpPr>
        <p:spPr>
          <a:xfrm>
            <a:off x="8272800" y="3425400"/>
            <a:ext cx="132480" cy="29880"/>
          </a:xfrm>
          <a:custGeom>
            <a:avLst/>
            <a:gdLst/>
            <a:ahLst/>
            <a:rect l="l" t="t" r="r" b="b"/>
            <a:pathLst>
              <a:path w="132672" h="30323">
                <a:moveTo>
                  <a:pt x="239" y="17997"/>
                </a:moveTo>
                <a:lnTo>
                  <a:pt x="0" y="30077"/>
                </a:lnTo>
                <a:lnTo>
                  <a:pt x="132313" y="30323"/>
                </a:lnTo>
                <a:lnTo>
                  <a:pt x="132672" y="493"/>
                </a:lnTo>
                <a:lnTo>
                  <a:pt x="51847" y="0"/>
                </a:lnTo>
                <a:lnTo>
                  <a:pt x="51368" y="13189"/>
                </a:lnTo>
                <a:lnTo>
                  <a:pt x="7065" y="14052"/>
                </a:lnTo>
                <a:lnTo>
                  <a:pt x="5867" y="15408"/>
                </a:lnTo>
                <a:lnTo>
                  <a:pt x="718" y="14299"/>
                </a:lnTo>
                <a:lnTo>
                  <a:pt x="239" y="17997"/>
                </a:lnTo>
                <a:close/>
              </a:path>
            </a:pathLst>
          </a:custGeom>
          <a:solidFill>
            <a:srgbClr val="ded5c5"/>
          </a:solidFill>
          <a:ln w="6191">
            <a:solidFill>
              <a:srgbClr val="b5a68d"/>
            </a:solidFill>
            <a:round/>
          </a:ln>
        </p:spPr>
        <p:style>
          <a:lnRef idx="0"/>
          <a:fillRef idx="0"/>
          <a:effectRef idx="0"/>
          <a:fontRef idx="minor"/>
        </p:style>
        <p:txBody>
          <a:bodyPr lIns="90000" rIns="90000" tIns="-15120" bIns="-15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68" name=" ไทยเอราวัณ"/>
          <p:cNvSpPr/>
          <p:nvPr/>
        </p:nvSpPr>
        <p:spPr>
          <a:xfrm>
            <a:off x="7223760" y="4105080"/>
            <a:ext cx="89640" cy="32760"/>
          </a:xfrm>
          <a:custGeom>
            <a:avLst/>
            <a:gdLst/>
            <a:ahLst/>
            <a:rect l="l" t="t" r="r" b="b"/>
            <a:pathLst>
              <a:path w="90164" h="33281">
                <a:moveTo>
                  <a:pt x="0" y="7273"/>
                </a:moveTo>
                <a:lnTo>
                  <a:pt x="2515" y="18490"/>
                </a:lnTo>
                <a:lnTo>
                  <a:pt x="90164" y="33281"/>
                </a:lnTo>
                <a:lnTo>
                  <a:pt x="87530" y="0"/>
                </a:lnTo>
                <a:lnTo>
                  <a:pt x="0" y="7273"/>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69" name="ฟื้นนครร่มเกล้า ระยะ 4 โซน 10"/>
          <p:cNvSpPr/>
          <p:nvPr/>
        </p:nvSpPr>
        <p:spPr>
          <a:xfrm>
            <a:off x="7733160" y="5251320"/>
            <a:ext cx="31320" cy="24120"/>
          </a:xfrm>
          <a:custGeom>
            <a:avLst/>
            <a:gdLst/>
            <a:ahLst/>
            <a:rect l="l" t="t" r="r" b="b"/>
            <a:pathLst>
              <a:path w="31611" h="24530">
                <a:moveTo>
                  <a:pt x="120" y="24530"/>
                </a:moveTo>
                <a:lnTo>
                  <a:pt x="9819" y="24530"/>
                </a:lnTo>
                <a:lnTo>
                  <a:pt x="9699" y="16764"/>
                </a:lnTo>
                <a:lnTo>
                  <a:pt x="31611" y="14792"/>
                </a:lnTo>
                <a:lnTo>
                  <a:pt x="31611" y="4931"/>
                </a:lnTo>
                <a:lnTo>
                  <a:pt x="30174" y="4807"/>
                </a:lnTo>
                <a:lnTo>
                  <a:pt x="30055" y="0"/>
                </a:lnTo>
                <a:lnTo>
                  <a:pt x="0" y="1602"/>
                </a:lnTo>
                <a:lnTo>
                  <a:pt x="120" y="24530"/>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70" name="คลองแม่จันทร์"/>
          <p:cNvSpPr/>
          <p:nvPr/>
        </p:nvSpPr>
        <p:spPr>
          <a:xfrm>
            <a:off x="7340040" y="5446080"/>
            <a:ext cx="71280" cy="121320"/>
          </a:xfrm>
          <a:custGeom>
            <a:avLst/>
            <a:gdLst/>
            <a:ahLst/>
            <a:rect l="l" t="t" r="r" b="b"/>
            <a:pathLst>
              <a:path w="71724" h="121539">
                <a:moveTo>
                  <a:pt x="0" y="2342"/>
                </a:moveTo>
                <a:lnTo>
                  <a:pt x="239" y="13682"/>
                </a:lnTo>
                <a:lnTo>
                  <a:pt x="49572" y="21078"/>
                </a:lnTo>
                <a:lnTo>
                  <a:pt x="47776" y="35254"/>
                </a:lnTo>
                <a:lnTo>
                  <a:pt x="64779" y="38335"/>
                </a:lnTo>
                <a:lnTo>
                  <a:pt x="59151" y="120676"/>
                </a:lnTo>
                <a:lnTo>
                  <a:pt x="64779" y="121539"/>
                </a:lnTo>
                <a:lnTo>
                  <a:pt x="71724" y="6903"/>
                </a:lnTo>
                <a:lnTo>
                  <a:pt x="31132" y="0"/>
                </a:lnTo>
                <a:lnTo>
                  <a:pt x="27301" y="9491"/>
                </a:lnTo>
                <a:lnTo>
                  <a:pt x="0" y="234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71" name="หมู่บ้านสมนึก"/>
          <p:cNvSpPr/>
          <p:nvPr/>
        </p:nvSpPr>
        <p:spPr>
          <a:xfrm>
            <a:off x="7540200" y="5667120"/>
            <a:ext cx="47880" cy="14400"/>
          </a:xfrm>
          <a:custGeom>
            <a:avLst/>
            <a:gdLst/>
            <a:ahLst/>
            <a:rect l="l" t="t" r="r" b="b"/>
            <a:pathLst>
              <a:path w="48255" h="14915">
                <a:moveTo>
                  <a:pt x="0" y="12326"/>
                </a:moveTo>
                <a:lnTo>
                  <a:pt x="48255" y="14915"/>
                </a:lnTo>
                <a:lnTo>
                  <a:pt x="48135" y="4438"/>
                </a:lnTo>
                <a:lnTo>
                  <a:pt x="3592" y="3205"/>
                </a:lnTo>
                <a:lnTo>
                  <a:pt x="3832" y="370"/>
                </a:lnTo>
                <a:lnTo>
                  <a:pt x="1078" y="0"/>
                </a:lnTo>
                <a:lnTo>
                  <a:pt x="0" y="12326"/>
                </a:lnTo>
                <a:close/>
              </a:path>
            </a:pathLst>
          </a:custGeom>
          <a:solidFill>
            <a:srgbClr val="ded5c5"/>
          </a:solidFill>
          <a:ln w="6191">
            <a:solidFill>
              <a:srgbClr val="b5a68d"/>
            </a:solidFill>
            <a:round/>
          </a:ln>
        </p:spPr>
        <p:style>
          <a:lnRef idx="0"/>
          <a:fillRef idx="0"/>
          <a:effectRef idx="0"/>
          <a:fontRef idx="minor"/>
        </p:style>
        <p:txBody>
          <a:bodyPr lIns="90000" rIns="90000" tIns="-30600" bIns="-30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72" name="เพชรเกษม 116"/>
          <p:cNvSpPr/>
          <p:nvPr/>
        </p:nvSpPr>
        <p:spPr>
          <a:xfrm>
            <a:off x="2900160" y="5842080"/>
            <a:ext cx="51480" cy="100800"/>
          </a:xfrm>
          <a:custGeom>
            <a:avLst/>
            <a:gdLst/>
            <a:ahLst/>
            <a:rect l="l" t="t" r="r" b="b"/>
            <a:pathLst>
              <a:path w="51728" h="101324">
                <a:moveTo>
                  <a:pt x="44663" y="49059"/>
                </a:moveTo>
                <a:lnTo>
                  <a:pt x="21673" y="0"/>
                </a:lnTo>
                <a:lnTo>
                  <a:pt x="0" y="8012"/>
                </a:lnTo>
                <a:lnTo>
                  <a:pt x="4191" y="16517"/>
                </a:lnTo>
                <a:lnTo>
                  <a:pt x="6825" y="18983"/>
                </a:lnTo>
                <a:lnTo>
                  <a:pt x="13291" y="42157"/>
                </a:lnTo>
                <a:lnTo>
                  <a:pt x="13890" y="52264"/>
                </a:lnTo>
                <a:lnTo>
                  <a:pt x="11375" y="70631"/>
                </a:lnTo>
                <a:lnTo>
                  <a:pt x="7065" y="79629"/>
                </a:lnTo>
                <a:lnTo>
                  <a:pt x="14489" y="84067"/>
                </a:lnTo>
                <a:lnTo>
                  <a:pt x="16165" y="95160"/>
                </a:lnTo>
                <a:lnTo>
                  <a:pt x="11854" y="99598"/>
                </a:lnTo>
                <a:lnTo>
                  <a:pt x="11974" y="101324"/>
                </a:lnTo>
                <a:lnTo>
                  <a:pt x="29217" y="99721"/>
                </a:lnTo>
                <a:lnTo>
                  <a:pt x="28139" y="85176"/>
                </a:lnTo>
                <a:lnTo>
                  <a:pt x="31252" y="85176"/>
                </a:lnTo>
                <a:lnTo>
                  <a:pt x="32689" y="70138"/>
                </a:lnTo>
                <a:lnTo>
                  <a:pt x="43106" y="71617"/>
                </a:lnTo>
                <a:lnTo>
                  <a:pt x="51728" y="65454"/>
                </a:lnTo>
                <a:lnTo>
                  <a:pt x="44663" y="4905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73" name="ชุมชนสวัสดี"/>
          <p:cNvSpPr/>
          <p:nvPr/>
        </p:nvSpPr>
        <p:spPr>
          <a:xfrm>
            <a:off x="5669280" y="5077080"/>
            <a:ext cx="33840" cy="55080"/>
          </a:xfrm>
          <a:custGeom>
            <a:avLst/>
            <a:gdLst/>
            <a:ahLst/>
            <a:rect l="l" t="t" r="r" b="b"/>
            <a:pathLst>
              <a:path w="34365" h="55592">
                <a:moveTo>
                  <a:pt x="33288" y="3082"/>
                </a:moveTo>
                <a:lnTo>
                  <a:pt x="33886" y="863"/>
                </a:lnTo>
                <a:lnTo>
                  <a:pt x="26822" y="0"/>
                </a:lnTo>
                <a:lnTo>
                  <a:pt x="26223" y="3082"/>
                </a:lnTo>
                <a:lnTo>
                  <a:pt x="22511" y="2342"/>
                </a:lnTo>
                <a:lnTo>
                  <a:pt x="21314" y="7642"/>
                </a:lnTo>
                <a:lnTo>
                  <a:pt x="13531" y="7766"/>
                </a:lnTo>
                <a:lnTo>
                  <a:pt x="12692" y="15778"/>
                </a:lnTo>
                <a:lnTo>
                  <a:pt x="13890" y="16148"/>
                </a:lnTo>
                <a:lnTo>
                  <a:pt x="11256" y="31432"/>
                </a:lnTo>
                <a:lnTo>
                  <a:pt x="10417" y="33775"/>
                </a:lnTo>
                <a:lnTo>
                  <a:pt x="8980" y="33281"/>
                </a:lnTo>
                <a:lnTo>
                  <a:pt x="6107" y="40061"/>
                </a:lnTo>
                <a:lnTo>
                  <a:pt x="3233" y="39075"/>
                </a:lnTo>
                <a:lnTo>
                  <a:pt x="0" y="48566"/>
                </a:lnTo>
                <a:lnTo>
                  <a:pt x="2634" y="49429"/>
                </a:lnTo>
                <a:lnTo>
                  <a:pt x="1317" y="53374"/>
                </a:lnTo>
                <a:lnTo>
                  <a:pt x="8741" y="55592"/>
                </a:lnTo>
                <a:lnTo>
                  <a:pt x="15327" y="42773"/>
                </a:lnTo>
                <a:lnTo>
                  <a:pt x="13770" y="42157"/>
                </a:lnTo>
                <a:lnTo>
                  <a:pt x="14489" y="40677"/>
                </a:lnTo>
                <a:lnTo>
                  <a:pt x="17243" y="41663"/>
                </a:lnTo>
                <a:lnTo>
                  <a:pt x="17243" y="37842"/>
                </a:lnTo>
                <a:lnTo>
                  <a:pt x="19278" y="38705"/>
                </a:lnTo>
                <a:lnTo>
                  <a:pt x="20835" y="36363"/>
                </a:lnTo>
                <a:lnTo>
                  <a:pt x="24547" y="37842"/>
                </a:lnTo>
                <a:lnTo>
                  <a:pt x="27061" y="31309"/>
                </a:lnTo>
                <a:lnTo>
                  <a:pt x="28378" y="31802"/>
                </a:lnTo>
                <a:lnTo>
                  <a:pt x="28857" y="27735"/>
                </a:lnTo>
                <a:lnTo>
                  <a:pt x="30174" y="27981"/>
                </a:lnTo>
                <a:lnTo>
                  <a:pt x="31132" y="25393"/>
                </a:lnTo>
                <a:lnTo>
                  <a:pt x="29456" y="24899"/>
                </a:lnTo>
                <a:lnTo>
                  <a:pt x="33647" y="9245"/>
                </a:lnTo>
                <a:lnTo>
                  <a:pt x="32450" y="8752"/>
                </a:lnTo>
                <a:lnTo>
                  <a:pt x="34365" y="3451"/>
                </a:lnTo>
                <a:lnTo>
                  <a:pt x="33288" y="3082"/>
                </a:lnTo>
                <a:close/>
              </a:path>
            </a:pathLst>
          </a:custGeom>
          <a:solidFill>
            <a:srgbClr val="ded5c5"/>
          </a:solidFill>
          <a:ln w="6191">
            <a:solidFill>
              <a:srgbClr val="b5a68d"/>
            </a:solidFill>
            <a:round/>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74" name="ชุมชนดารุ้ลอิบาดะห์"/>
          <p:cNvSpPr/>
          <p:nvPr/>
        </p:nvSpPr>
        <p:spPr>
          <a:xfrm>
            <a:off x="4611600" y="6834960"/>
            <a:ext cx="150840" cy="85320"/>
          </a:xfrm>
          <a:custGeom>
            <a:avLst/>
            <a:gdLst/>
            <a:ahLst/>
            <a:rect l="l" t="t" r="r" b="b"/>
            <a:pathLst>
              <a:path w="151112" h="85669">
                <a:moveTo>
                  <a:pt x="0" y="37842"/>
                </a:moveTo>
                <a:lnTo>
                  <a:pt x="30174" y="70754"/>
                </a:lnTo>
                <a:lnTo>
                  <a:pt x="64420" y="39938"/>
                </a:lnTo>
                <a:lnTo>
                  <a:pt x="94714" y="66070"/>
                </a:lnTo>
                <a:lnTo>
                  <a:pt x="130516" y="85669"/>
                </a:lnTo>
                <a:lnTo>
                  <a:pt x="151112" y="56825"/>
                </a:lnTo>
                <a:lnTo>
                  <a:pt x="124290" y="42157"/>
                </a:lnTo>
                <a:lnTo>
                  <a:pt x="111478" y="22434"/>
                </a:lnTo>
                <a:lnTo>
                  <a:pt x="76753" y="0"/>
                </a:lnTo>
                <a:lnTo>
                  <a:pt x="52087" y="20092"/>
                </a:lnTo>
                <a:lnTo>
                  <a:pt x="44902" y="616"/>
                </a:lnTo>
                <a:lnTo>
                  <a:pt x="22032" y="15162"/>
                </a:lnTo>
                <a:lnTo>
                  <a:pt x="2634" y="30323"/>
                </a:lnTo>
                <a:lnTo>
                  <a:pt x="0" y="37842"/>
                </a:lnTo>
                <a:close/>
              </a:path>
            </a:pathLst>
          </a:custGeom>
          <a:solidFill>
            <a:srgbClr val="ded5c5"/>
          </a:solidFill>
          <a:ln w="6191">
            <a:solidFill>
              <a:srgbClr val="b5a68d"/>
            </a:solidFill>
            <a:round/>
          </a:ln>
        </p:spPr>
        <p:style>
          <a:lnRef idx="0"/>
          <a:fillRef idx="0"/>
          <a:effectRef idx="0"/>
          <a:fontRef idx="minor"/>
        </p:style>
        <p:txBody>
          <a:bodyPr lIns="90000" rIns="90000" tIns="40320" bIns="40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75" name="ชุมชนร่วมรัฐสามัคคี (ดอนกระต่าย)"/>
          <p:cNvSpPr/>
          <p:nvPr/>
        </p:nvSpPr>
        <p:spPr>
          <a:xfrm>
            <a:off x="4818960" y="6744960"/>
            <a:ext cx="52920" cy="34920"/>
          </a:xfrm>
          <a:custGeom>
            <a:avLst/>
            <a:gdLst/>
            <a:ahLst/>
            <a:rect l="l" t="t" r="r" b="b"/>
            <a:pathLst>
              <a:path w="53404" h="35377">
                <a:moveTo>
                  <a:pt x="51249" y="6656"/>
                </a:moveTo>
                <a:lnTo>
                  <a:pt x="49093" y="8012"/>
                </a:lnTo>
                <a:lnTo>
                  <a:pt x="41669" y="0"/>
                </a:lnTo>
                <a:lnTo>
                  <a:pt x="39155" y="986"/>
                </a:lnTo>
                <a:lnTo>
                  <a:pt x="35563" y="7273"/>
                </a:lnTo>
                <a:lnTo>
                  <a:pt x="33407" y="6410"/>
                </a:lnTo>
                <a:lnTo>
                  <a:pt x="27301" y="9861"/>
                </a:lnTo>
                <a:lnTo>
                  <a:pt x="17961" y="6656"/>
                </a:lnTo>
                <a:lnTo>
                  <a:pt x="8741" y="14175"/>
                </a:lnTo>
                <a:lnTo>
                  <a:pt x="4790" y="8875"/>
                </a:lnTo>
                <a:lnTo>
                  <a:pt x="0" y="15531"/>
                </a:lnTo>
                <a:lnTo>
                  <a:pt x="27301" y="32049"/>
                </a:lnTo>
                <a:lnTo>
                  <a:pt x="51608" y="35377"/>
                </a:lnTo>
                <a:lnTo>
                  <a:pt x="53404" y="7273"/>
                </a:lnTo>
                <a:lnTo>
                  <a:pt x="51249" y="6656"/>
                </a:lnTo>
                <a:close/>
              </a:path>
            </a:pathLst>
          </a:custGeom>
          <a:solidFill>
            <a:srgbClr val="ded5c5"/>
          </a:solidFill>
          <a:ln w="6191">
            <a:solidFill>
              <a:srgbClr val="b5a68d"/>
            </a:solidFill>
            <a:round/>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76" name="อาคารสงเคราะห์ฯ ซอยประชาอุทิศ 90"/>
          <p:cNvSpPr/>
          <p:nvPr/>
        </p:nvSpPr>
        <p:spPr>
          <a:xfrm>
            <a:off x="4957200" y="7128360"/>
            <a:ext cx="29160" cy="27360"/>
          </a:xfrm>
          <a:custGeom>
            <a:avLst/>
            <a:gdLst/>
            <a:ahLst/>
            <a:rect l="l" t="t" r="r" b="b"/>
            <a:pathLst>
              <a:path w="29695" h="27858">
                <a:moveTo>
                  <a:pt x="18320" y="986"/>
                </a:moveTo>
                <a:lnTo>
                  <a:pt x="0" y="14299"/>
                </a:lnTo>
                <a:lnTo>
                  <a:pt x="12333" y="27858"/>
                </a:lnTo>
                <a:lnTo>
                  <a:pt x="29695" y="11464"/>
                </a:lnTo>
                <a:lnTo>
                  <a:pt x="19158" y="0"/>
                </a:lnTo>
                <a:lnTo>
                  <a:pt x="18320" y="986"/>
                </a:lnTo>
                <a:close/>
              </a:path>
            </a:pathLst>
          </a:custGeom>
          <a:solidFill>
            <a:srgbClr val="ded5c5"/>
          </a:solidFill>
          <a:ln w="6191">
            <a:solidFill>
              <a:srgbClr val="b5a68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77" name="คลองรางจาก"/>
          <p:cNvSpPr/>
          <p:nvPr/>
        </p:nvSpPr>
        <p:spPr>
          <a:xfrm>
            <a:off x="5073840" y="6782760"/>
            <a:ext cx="20160" cy="15120"/>
          </a:xfrm>
          <a:custGeom>
            <a:avLst/>
            <a:gdLst/>
            <a:ahLst/>
            <a:rect l="l" t="t" r="r" b="b"/>
            <a:pathLst>
              <a:path w="20476" h="15408">
                <a:moveTo>
                  <a:pt x="0" y="14299"/>
                </a:moveTo>
                <a:lnTo>
                  <a:pt x="5388" y="15408"/>
                </a:lnTo>
                <a:lnTo>
                  <a:pt x="20476" y="5793"/>
                </a:lnTo>
                <a:lnTo>
                  <a:pt x="7903" y="0"/>
                </a:lnTo>
                <a:lnTo>
                  <a:pt x="0" y="14299"/>
                </a:lnTo>
                <a:close/>
              </a:path>
            </a:pathLst>
          </a:custGeom>
          <a:solidFill>
            <a:srgbClr val="ded5c5"/>
          </a:solidFill>
          <a:ln w="6191">
            <a:solidFill>
              <a:srgbClr val="b5a68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78" name="การเกษตรบ้านนายผล"/>
          <p:cNvSpPr/>
          <p:nvPr/>
        </p:nvSpPr>
        <p:spPr>
          <a:xfrm>
            <a:off x="3159360" y="6679080"/>
            <a:ext cx="129600" cy="74160"/>
          </a:xfrm>
          <a:custGeom>
            <a:avLst/>
            <a:gdLst/>
            <a:ahLst/>
            <a:rect l="l" t="t" r="r" b="b"/>
            <a:pathLst>
              <a:path w="129918" h="74452">
                <a:moveTo>
                  <a:pt x="111119" y="5670"/>
                </a:moveTo>
                <a:lnTo>
                  <a:pt x="109921" y="5917"/>
                </a:lnTo>
                <a:lnTo>
                  <a:pt x="108844" y="2465"/>
                </a:lnTo>
                <a:lnTo>
                  <a:pt x="110041" y="2096"/>
                </a:lnTo>
                <a:lnTo>
                  <a:pt x="109442" y="0"/>
                </a:lnTo>
                <a:lnTo>
                  <a:pt x="83818" y="7396"/>
                </a:lnTo>
                <a:lnTo>
                  <a:pt x="60708" y="20215"/>
                </a:lnTo>
                <a:lnTo>
                  <a:pt x="50889" y="8012"/>
                </a:lnTo>
                <a:lnTo>
                  <a:pt x="0" y="25023"/>
                </a:lnTo>
                <a:lnTo>
                  <a:pt x="8023" y="74452"/>
                </a:lnTo>
                <a:lnTo>
                  <a:pt x="34605" y="73959"/>
                </a:lnTo>
                <a:lnTo>
                  <a:pt x="122853" y="44499"/>
                </a:lnTo>
                <a:lnTo>
                  <a:pt x="119740" y="35500"/>
                </a:lnTo>
                <a:lnTo>
                  <a:pt x="129918" y="32419"/>
                </a:lnTo>
                <a:lnTo>
                  <a:pt x="127523" y="27365"/>
                </a:lnTo>
                <a:lnTo>
                  <a:pt x="120099" y="29584"/>
                </a:lnTo>
                <a:lnTo>
                  <a:pt x="118662" y="25516"/>
                </a:lnTo>
                <a:lnTo>
                  <a:pt x="116986" y="25886"/>
                </a:lnTo>
                <a:lnTo>
                  <a:pt x="111119" y="5670"/>
                </a:lnTo>
                <a:close/>
              </a:path>
            </a:pathLst>
          </a:custGeom>
          <a:solidFill>
            <a:srgbClr val="ded5c5"/>
          </a:solidFill>
          <a:ln w="6191">
            <a:solidFill>
              <a:srgbClr val="b5a68d"/>
            </a:solidFill>
            <a:round/>
          </a:ln>
        </p:spPr>
        <p:style>
          <a:lnRef idx="0"/>
          <a:fillRef idx="0"/>
          <a:effectRef idx="0"/>
          <a:fontRef idx="minor"/>
        </p:style>
        <p:txBody>
          <a:bodyPr lIns="90000" rIns="90000" tIns="29160" bIns="29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79" name="การเกษตรบ้านนายผล"/>
          <p:cNvSpPr/>
          <p:nvPr/>
        </p:nvSpPr>
        <p:spPr>
          <a:xfrm>
            <a:off x="3298680" y="6730560"/>
            <a:ext cx="14760" cy="35280"/>
          </a:xfrm>
          <a:custGeom>
            <a:avLst/>
            <a:gdLst/>
            <a:ahLst/>
            <a:rect l="l" t="t" r="r" b="b"/>
            <a:pathLst>
              <a:path w="14967" h="35500">
                <a:moveTo>
                  <a:pt x="14249" y="33898"/>
                </a:moveTo>
                <a:lnTo>
                  <a:pt x="14967" y="26995"/>
                </a:lnTo>
                <a:lnTo>
                  <a:pt x="8861" y="0"/>
                </a:lnTo>
                <a:lnTo>
                  <a:pt x="0" y="2589"/>
                </a:lnTo>
                <a:lnTo>
                  <a:pt x="11495" y="35500"/>
                </a:lnTo>
                <a:lnTo>
                  <a:pt x="14249" y="33898"/>
                </a:lnTo>
                <a:close/>
              </a:path>
            </a:pathLst>
          </a:custGeom>
          <a:solidFill>
            <a:srgbClr val="ded5c5"/>
          </a:solidFill>
          <a:ln w="6191">
            <a:solidFill>
              <a:srgbClr val="b5a68d"/>
            </a:solidFill>
            <a:round/>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80" name="การเกษตรบ้านนายผล"/>
          <p:cNvSpPr/>
          <p:nvPr/>
        </p:nvSpPr>
        <p:spPr>
          <a:xfrm>
            <a:off x="3194640" y="6720840"/>
            <a:ext cx="114480" cy="59400"/>
          </a:xfrm>
          <a:custGeom>
            <a:avLst/>
            <a:gdLst/>
            <a:ahLst/>
            <a:rect l="l" t="t" r="r" b="b"/>
            <a:pathLst>
              <a:path w="114711" h="59660">
                <a:moveTo>
                  <a:pt x="98306" y="0"/>
                </a:moveTo>
                <a:lnTo>
                  <a:pt x="0" y="33281"/>
                </a:lnTo>
                <a:lnTo>
                  <a:pt x="7304" y="59660"/>
                </a:lnTo>
                <a:lnTo>
                  <a:pt x="16045" y="57688"/>
                </a:lnTo>
                <a:lnTo>
                  <a:pt x="31252" y="51155"/>
                </a:lnTo>
                <a:lnTo>
                  <a:pt x="58313" y="48196"/>
                </a:lnTo>
                <a:lnTo>
                  <a:pt x="73161" y="43882"/>
                </a:lnTo>
                <a:lnTo>
                  <a:pt x="92679" y="43389"/>
                </a:lnTo>
                <a:lnTo>
                  <a:pt x="101539" y="46348"/>
                </a:lnTo>
                <a:lnTo>
                  <a:pt x="114711" y="45608"/>
                </a:lnTo>
                <a:lnTo>
                  <a:pt x="98306" y="0"/>
                </a:lnTo>
                <a:close/>
              </a:path>
            </a:pathLst>
          </a:custGeom>
          <a:solidFill>
            <a:srgbClr val="ded5c5"/>
          </a:solidFill>
          <a:ln w="6191">
            <a:solidFill>
              <a:srgbClr val="b5a68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81" name="การเกษตรบ้านนายผล"/>
          <p:cNvSpPr/>
          <p:nvPr/>
        </p:nvSpPr>
        <p:spPr>
          <a:xfrm>
            <a:off x="3290040" y="6708960"/>
            <a:ext cx="9000" cy="11160"/>
          </a:xfrm>
          <a:custGeom>
            <a:avLst/>
            <a:gdLst/>
            <a:ahLst/>
            <a:rect l="l" t="t" r="r" b="b"/>
            <a:pathLst>
              <a:path w="9220" h="11464">
                <a:moveTo>
                  <a:pt x="9220" y="9491"/>
                </a:moveTo>
                <a:lnTo>
                  <a:pt x="7304" y="0"/>
                </a:lnTo>
                <a:lnTo>
                  <a:pt x="0" y="2465"/>
                </a:lnTo>
                <a:lnTo>
                  <a:pt x="3353" y="11464"/>
                </a:lnTo>
                <a:lnTo>
                  <a:pt x="9220" y="9491"/>
                </a:lnTo>
                <a:close/>
              </a:path>
            </a:pathLst>
          </a:custGeom>
          <a:solidFill>
            <a:srgbClr val="ded5c5"/>
          </a:solidFill>
          <a:ln w="6191">
            <a:solidFill>
              <a:srgbClr val="b5a68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82" name="หมู่บ้านรางไผ่"/>
          <p:cNvSpPr/>
          <p:nvPr/>
        </p:nvSpPr>
        <p:spPr>
          <a:xfrm>
            <a:off x="3547440" y="6429240"/>
            <a:ext cx="21600" cy="70200"/>
          </a:xfrm>
          <a:custGeom>
            <a:avLst/>
            <a:gdLst/>
            <a:ahLst/>
            <a:rect l="l" t="t" r="r" b="b"/>
            <a:pathLst>
              <a:path w="21793" h="70384">
                <a:moveTo>
                  <a:pt x="0" y="25639"/>
                </a:moveTo>
                <a:lnTo>
                  <a:pt x="12453" y="69768"/>
                </a:lnTo>
                <a:lnTo>
                  <a:pt x="16285" y="70384"/>
                </a:lnTo>
                <a:lnTo>
                  <a:pt x="15207" y="56332"/>
                </a:lnTo>
                <a:lnTo>
                  <a:pt x="9340" y="30693"/>
                </a:lnTo>
                <a:lnTo>
                  <a:pt x="21793" y="28597"/>
                </a:lnTo>
                <a:lnTo>
                  <a:pt x="21673" y="23667"/>
                </a:lnTo>
                <a:lnTo>
                  <a:pt x="16644" y="23913"/>
                </a:lnTo>
                <a:lnTo>
                  <a:pt x="16165" y="15531"/>
                </a:lnTo>
                <a:lnTo>
                  <a:pt x="21433" y="14545"/>
                </a:lnTo>
                <a:lnTo>
                  <a:pt x="20356" y="0"/>
                </a:lnTo>
                <a:lnTo>
                  <a:pt x="11735" y="2958"/>
                </a:lnTo>
                <a:lnTo>
                  <a:pt x="10896" y="616"/>
                </a:lnTo>
                <a:lnTo>
                  <a:pt x="6466" y="1849"/>
                </a:lnTo>
                <a:lnTo>
                  <a:pt x="7184" y="4068"/>
                </a:lnTo>
                <a:lnTo>
                  <a:pt x="3472" y="5424"/>
                </a:lnTo>
                <a:lnTo>
                  <a:pt x="6825" y="22927"/>
                </a:lnTo>
                <a:lnTo>
                  <a:pt x="0" y="25639"/>
                </a:lnTo>
                <a:close/>
              </a:path>
            </a:pathLst>
          </a:custGeom>
          <a:solidFill>
            <a:srgbClr val="ded5c5"/>
          </a:solidFill>
          <a:ln w="6191">
            <a:solidFill>
              <a:srgbClr val="b5a68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83" name="หมู่บ้านกานดาคลาสสิควิลล์"/>
          <p:cNvSpPr/>
          <p:nvPr/>
        </p:nvSpPr>
        <p:spPr>
          <a:xfrm>
            <a:off x="3208320" y="6561360"/>
            <a:ext cx="65520" cy="48600"/>
          </a:xfrm>
          <a:custGeom>
            <a:avLst/>
            <a:gdLst/>
            <a:ahLst/>
            <a:rect l="l" t="t" r="r" b="b"/>
            <a:pathLst>
              <a:path w="65857" h="48936">
                <a:moveTo>
                  <a:pt x="39275" y="46471"/>
                </a:moveTo>
                <a:lnTo>
                  <a:pt x="48016" y="37349"/>
                </a:lnTo>
                <a:lnTo>
                  <a:pt x="45022" y="26009"/>
                </a:lnTo>
                <a:lnTo>
                  <a:pt x="48614" y="22804"/>
                </a:lnTo>
                <a:lnTo>
                  <a:pt x="49213" y="19969"/>
                </a:lnTo>
                <a:lnTo>
                  <a:pt x="62744" y="17627"/>
                </a:lnTo>
                <a:lnTo>
                  <a:pt x="62025" y="11587"/>
                </a:lnTo>
                <a:lnTo>
                  <a:pt x="65857" y="10971"/>
                </a:lnTo>
                <a:lnTo>
                  <a:pt x="64061" y="0"/>
                </a:lnTo>
                <a:lnTo>
                  <a:pt x="49453" y="616"/>
                </a:lnTo>
                <a:lnTo>
                  <a:pt x="18919" y="5054"/>
                </a:lnTo>
                <a:lnTo>
                  <a:pt x="0" y="10724"/>
                </a:lnTo>
                <a:lnTo>
                  <a:pt x="2395" y="29584"/>
                </a:lnTo>
                <a:lnTo>
                  <a:pt x="9459" y="29214"/>
                </a:lnTo>
                <a:lnTo>
                  <a:pt x="9459" y="37966"/>
                </a:lnTo>
                <a:lnTo>
                  <a:pt x="22511" y="34637"/>
                </a:lnTo>
                <a:lnTo>
                  <a:pt x="25385" y="48936"/>
                </a:lnTo>
                <a:lnTo>
                  <a:pt x="39275" y="46471"/>
                </a:lnTo>
                <a:close/>
              </a:path>
            </a:pathLst>
          </a:custGeom>
          <a:solidFill>
            <a:srgbClr val="ded5c5"/>
          </a:solidFill>
          <a:ln w="6191">
            <a:solidFill>
              <a:srgbClr val="b5a68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84" name="บ้านมั่นคงวิมานทอง"/>
          <p:cNvSpPr/>
          <p:nvPr/>
        </p:nvSpPr>
        <p:spPr>
          <a:xfrm>
            <a:off x="3561840" y="6512760"/>
            <a:ext cx="11520" cy="18000"/>
          </a:xfrm>
          <a:custGeom>
            <a:avLst/>
            <a:gdLst/>
            <a:ahLst/>
            <a:rect l="l" t="t" r="r" b="b"/>
            <a:pathLst>
              <a:path w="11735" h="18366">
                <a:moveTo>
                  <a:pt x="4430" y="0"/>
                </a:moveTo>
                <a:lnTo>
                  <a:pt x="0" y="18366"/>
                </a:lnTo>
                <a:lnTo>
                  <a:pt x="8382" y="16394"/>
                </a:lnTo>
                <a:lnTo>
                  <a:pt x="11735" y="2342"/>
                </a:lnTo>
                <a:lnTo>
                  <a:pt x="4430" y="0"/>
                </a:lnTo>
                <a:close/>
              </a:path>
            </a:pathLst>
          </a:custGeom>
          <a:solidFill>
            <a:srgbClr val="ded5c5"/>
          </a:solidFill>
          <a:ln w="6191">
            <a:solidFill>
              <a:srgbClr val="b5a68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85" name="ชุมชนเทพพิทักษ์"/>
          <p:cNvSpPr/>
          <p:nvPr/>
        </p:nvSpPr>
        <p:spPr>
          <a:xfrm>
            <a:off x="3438000" y="5901840"/>
            <a:ext cx="41760" cy="44280"/>
          </a:xfrm>
          <a:custGeom>
            <a:avLst/>
            <a:gdLst/>
            <a:ahLst/>
            <a:rect l="l" t="t" r="r" b="b"/>
            <a:pathLst>
              <a:path w="42268" h="44745">
                <a:moveTo>
                  <a:pt x="0" y="2589"/>
                </a:moveTo>
                <a:lnTo>
                  <a:pt x="6705" y="21571"/>
                </a:lnTo>
                <a:lnTo>
                  <a:pt x="8621" y="21078"/>
                </a:lnTo>
                <a:lnTo>
                  <a:pt x="12573" y="34144"/>
                </a:lnTo>
                <a:lnTo>
                  <a:pt x="15806" y="33651"/>
                </a:lnTo>
                <a:lnTo>
                  <a:pt x="18200" y="44745"/>
                </a:lnTo>
                <a:lnTo>
                  <a:pt x="42268" y="39938"/>
                </a:lnTo>
                <a:lnTo>
                  <a:pt x="39873" y="4438"/>
                </a:lnTo>
                <a:lnTo>
                  <a:pt x="34006" y="4931"/>
                </a:lnTo>
                <a:lnTo>
                  <a:pt x="33407" y="0"/>
                </a:lnTo>
                <a:lnTo>
                  <a:pt x="0" y="2589"/>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86" name="ชุมชนบ้านขิง"/>
          <p:cNvSpPr/>
          <p:nvPr/>
        </p:nvSpPr>
        <p:spPr>
          <a:xfrm>
            <a:off x="3487680" y="6085800"/>
            <a:ext cx="68400" cy="79560"/>
          </a:xfrm>
          <a:custGeom>
            <a:avLst/>
            <a:gdLst/>
            <a:ahLst/>
            <a:rect l="l" t="t" r="r" b="b"/>
            <a:pathLst>
              <a:path w="68731" h="79876">
                <a:moveTo>
                  <a:pt x="10896" y="59167"/>
                </a:moveTo>
                <a:lnTo>
                  <a:pt x="13890" y="79876"/>
                </a:lnTo>
                <a:lnTo>
                  <a:pt x="37119" y="68042"/>
                </a:lnTo>
                <a:lnTo>
                  <a:pt x="47178" y="66933"/>
                </a:lnTo>
                <a:lnTo>
                  <a:pt x="46818" y="61139"/>
                </a:lnTo>
                <a:lnTo>
                  <a:pt x="68731" y="56332"/>
                </a:lnTo>
                <a:lnTo>
                  <a:pt x="62145" y="0"/>
                </a:lnTo>
                <a:lnTo>
                  <a:pt x="0" y="22311"/>
                </a:lnTo>
                <a:lnTo>
                  <a:pt x="6586" y="51155"/>
                </a:lnTo>
                <a:lnTo>
                  <a:pt x="10896" y="59167"/>
                </a:lnTo>
                <a:close/>
              </a:path>
            </a:pathLst>
          </a:custGeom>
          <a:solidFill>
            <a:srgbClr val="ded5c5"/>
          </a:solidFill>
          <a:ln w="6191">
            <a:solidFill>
              <a:srgbClr val="b5a68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87" name="ชุมชนสุขสำราญ"/>
          <p:cNvSpPr/>
          <p:nvPr/>
        </p:nvSpPr>
        <p:spPr>
          <a:xfrm>
            <a:off x="3642840" y="5994720"/>
            <a:ext cx="17280" cy="18720"/>
          </a:xfrm>
          <a:custGeom>
            <a:avLst/>
            <a:gdLst/>
            <a:ahLst/>
            <a:rect l="l" t="t" r="r" b="b"/>
            <a:pathLst>
              <a:path w="17482" h="19106">
                <a:moveTo>
                  <a:pt x="2515" y="18613"/>
                </a:moveTo>
                <a:lnTo>
                  <a:pt x="15327" y="19106"/>
                </a:lnTo>
                <a:lnTo>
                  <a:pt x="15686" y="14915"/>
                </a:lnTo>
                <a:lnTo>
                  <a:pt x="17482" y="14915"/>
                </a:lnTo>
                <a:lnTo>
                  <a:pt x="17482" y="12573"/>
                </a:lnTo>
                <a:lnTo>
                  <a:pt x="15925" y="12450"/>
                </a:lnTo>
                <a:lnTo>
                  <a:pt x="15806" y="247"/>
                </a:lnTo>
                <a:lnTo>
                  <a:pt x="2036" y="0"/>
                </a:lnTo>
                <a:lnTo>
                  <a:pt x="1916" y="14792"/>
                </a:lnTo>
                <a:lnTo>
                  <a:pt x="0" y="14792"/>
                </a:lnTo>
                <a:lnTo>
                  <a:pt x="0" y="18613"/>
                </a:lnTo>
                <a:lnTo>
                  <a:pt x="2515" y="18613"/>
                </a:lnTo>
                <a:close/>
              </a:path>
            </a:pathLst>
          </a:custGeom>
          <a:solidFill>
            <a:srgbClr val="ded5c5"/>
          </a:solidFill>
          <a:ln w="6191">
            <a:solidFill>
              <a:srgbClr val="b5a68d"/>
            </a:solidFill>
            <a:round/>
          </a:ln>
        </p:spPr>
        <p:style>
          <a:lnRef idx="0"/>
          <a:fillRef idx="0"/>
          <a:effectRef idx="0"/>
          <a:fontRef idx="minor"/>
        </p:style>
        <p:txBody>
          <a:bodyPr lIns="90000" rIns="90000" tIns="-26280" bIns="-26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88" name="หมู่บ้านเพชรสยาม 3"/>
          <p:cNvSpPr/>
          <p:nvPr/>
        </p:nvSpPr>
        <p:spPr>
          <a:xfrm>
            <a:off x="3570840" y="6220800"/>
            <a:ext cx="37080" cy="51120"/>
          </a:xfrm>
          <a:custGeom>
            <a:avLst/>
            <a:gdLst/>
            <a:ahLst/>
            <a:rect l="l" t="t" r="r" b="b"/>
            <a:pathLst>
              <a:path w="37598" h="51525">
                <a:moveTo>
                  <a:pt x="31492" y="27488"/>
                </a:moveTo>
                <a:lnTo>
                  <a:pt x="37598" y="23667"/>
                </a:lnTo>
                <a:lnTo>
                  <a:pt x="32689" y="12326"/>
                </a:lnTo>
                <a:lnTo>
                  <a:pt x="29935" y="13313"/>
                </a:lnTo>
                <a:lnTo>
                  <a:pt x="27301" y="8012"/>
                </a:lnTo>
                <a:lnTo>
                  <a:pt x="24307" y="9615"/>
                </a:lnTo>
                <a:lnTo>
                  <a:pt x="20116" y="0"/>
                </a:lnTo>
                <a:lnTo>
                  <a:pt x="13171" y="2589"/>
                </a:lnTo>
                <a:lnTo>
                  <a:pt x="17243" y="14052"/>
                </a:lnTo>
                <a:lnTo>
                  <a:pt x="7783" y="17380"/>
                </a:lnTo>
                <a:lnTo>
                  <a:pt x="9699" y="23790"/>
                </a:lnTo>
                <a:lnTo>
                  <a:pt x="0" y="26625"/>
                </a:lnTo>
                <a:lnTo>
                  <a:pt x="9699" y="51525"/>
                </a:lnTo>
                <a:lnTo>
                  <a:pt x="35084" y="42280"/>
                </a:lnTo>
                <a:lnTo>
                  <a:pt x="32809" y="33158"/>
                </a:lnTo>
                <a:lnTo>
                  <a:pt x="31492" y="33281"/>
                </a:lnTo>
                <a:lnTo>
                  <a:pt x="30893" y="31063"/>
                </a:lnTo>
                <a:lnTo>
                  <a:pt x="32090" y="30323"/>
                </a:lnTo>
                <a:lnTo>
                  <a:pt x="31492" y="27488"/>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89" name="ชุมชนร่มเย็น"/>
          <p:cNvSpPr/>
          <p:nvPr/>
        </p:nvSpPr>
        <p:spPr>
          <a:xfrm>
            <a:off x="3613320" y="6082920"/>
            <a:ext cx="33480" cy="32760"/>
          </a:xfrm>
          <a:custGeom>
            <a:avLst/>
            <a:gdLst/>
            <a:ahLst/>
            <a:rect l="l" t="t" r="r" b="b"/>
            <a:pathLst>
              <a:path w="33886" h="33281">
                <a:moveTo>
                  <a:pt x="33048" y="0"/>
                </a:moveTo>
                <a:lnTo>
                  <a:pt x="0" y="14915"/>
                </a:lnTo>
                <a:lnTo>
                  <a:pt x="4550" y="33281"/>
                </a:lnTo>
                <a:lnTo>
                  <a:pt x="27420" y="31063"/>
                </a:lnTo>
                <a:lnTo>
                  <a:pt x="33886" y="28228"/>
                </a:lnTo>
                <a:lnTo>
                  <a:pt x="33048" y="0"/>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90" name="ชุมชนศาลพ่อปู่ดำ"/>
          <p:cNvSpPr/>
          <p:nvPr/>
        </p:nvSpPr>
        <p:spPr>
          <a:xfrm>
            <a:off x="3642480" y="6017400"/>
            <a:ext cx="33480" cy="17280"/>
          </a:xfrm>
          <a:custGeom>
            <a:avLst/>
            <a:gdLst/>
            <a:ahLst/>
            <a:rect l="l" t="t" r="r" b="b"/>
            <a:pathLst>
              <a:path w="33767" h="17750">
                <a:moveTo>
                  <a:pt x="359" y="0"/>
                </a:moveTo>
                <a:lnTo>
                  <a:pt x="0" y="16641"/>
                </a:lnTo>
                <a:lnTo>
                  <a:pt x="32928" y="17750"/>
                </a:lnTo>
                <a:lnTo>
                  <a:pt x="33767" y="1233"/>
                </a:lnTo>
                <a:lnTo>
                  <a:pt x="359" y="0"/>
                </a:lnTo>
                <a:close/>
              </a:path>
            </a:pathLst>
          </a:custGeom>
          <a:solidFill>
            <a:srgbClr val="ded5c5"/>
          </a:solidFill>
          <a:ln w="6191">
            <a:solidFill>
              <a:srgbClr val="b5a68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91" name="ชุมชนเรืองสอน 1"/>
          <p:cNvSpPr/>
          <p:nvPr/>
        </p:nvSpPr>
        <p:spPr>
          <a:xfrm>
            <a:off x="3613680" y="6132960"/>
            <a:ext cx="104040" cy="55440"/>
          </a:xfrm>
          <a:custGeom>
            <a:avLst/>
            <a:gdLst/>
            <a:ahLst/>
            <a:rect l="l" t="t" r="r" b="b"/>
            <a:pathLst>
              <a:path w="104413" h="55716">
                <a:moveTo>
                  <a:pt x="52087" y="5054"/>
                </a:moveTo>
                <a:lnTo>
                  <a:pt x="58792" y="5670"/>
                </a:lnTo>
                <a:lnTo>
                  <a:pt x="62025" y="13189"/>
                </a:lnTo>
                <a:lnTo>
                  <a:pt x="53045" y="21941"/>
                </a:lnTo>
                <a:lnTo>
                  <a:pt x="24666" y="29707"/>
                </a:lnTo>
                <a:lnTo>
                  <a:pt x="479" y="32665"/>
                </a:lnTo>
                <a:lnTo>
                  <a:pt x="0" y="36117"/>
                </a:lnTo>
                <a:lnTo>
                  <a:pt x="2515" y="42033"/>
                </a:lnTo>
                <a:lnTo>
                  <a:pt x="25624" y="36979"/>
                </a:lnTo>
                <a:lnTo>
                  <a:pt x="35682" y="55716"/>
                </a:lnTo>
                <a:lnTo>
                  <a:pt x="104413" y="21202"/>
                </a:lnTo>
                <a:lnTo>
                  <a:pt x="96989" y="4807"/>
                </a:lnTo>
                <a:lnTo>
                  <a:pt x="76274" y="12450"/>
                </a:lnTo>
                <a:lnTo>
                  <a:pt x="71245" y="1233"/>
                </a:lnTo>
                <a:lnTo>
                  <a:pt x="65857" y="2096"/>
                </a:lnTo>
                <a:lnTo>
                  <a:pt x="61906" y="0"/>
                </a:lnTo>
                <a:lnTo>
                  <a:pt x="58553" y="1972"/>
                </a:lnTo>
                <a:lnTo>
                  <a:pt x="51608" y="2096"/>
                </a:lnTo>
                <a:lnTo>
                  <a:pt x="52087" y="5054"/>
                </a:lnTo>
                <a:close/>
              </a:path>
            </a:pathLst>
          </a:custGeom>
          <a:solidFill>
            <a:srgbClr val="ded5c5"/>
          </a:solidFill>
          <a:ln w="6191">
            <a:solidFill>
              <a:srgbClr val="b5a68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92" name="เคหะชุมชนท่าทราย"/>
          <p:cNvSpPr/>
          <p:nvPr/>
        </p:nvSpPr>
        <p:spPr>
          <a:xfrm>
            <a:off x="5531400" y="3842640"/>
            <a:ext cx="144000" cy="58320"/>
          </a:xfrm>
          <a:custGeom>
            <a:avLst/>
            <a:gdLst/>
            <a:ahLst/>
            <a:rect l="l" t="t" r="r" b="b"/>
            <a:pathLst>
              <a:path w="144287" h="58551">
                <a:moveTo>
                  <a:pt x="0" y="25393"/>
                </a:moveTo>
                <a:lnTo>
                  <a:pt x="3113" y="28967"/>
                </a:lnTo>
                <a:lnTo>
                  <a:pt x="4430" y="47334"/>
                </a:lnTo>
                <a:lnTo>
                  <a:pt x="7304" y="48443"/>
                </a:lnTo>
                <a:lnTo>
                  <a:pt x="7065" y="54360"/>
                </a:lnTo>
                <a:lnTo>
                  <a:pt x="29097" y="55716"/>
                </a:lnTo>
                <a:lnTo>
                  <a:pt x="29097" y="53990"/>
                </a:lnTo>
                <a:lnTo>
                  <a:pt x="40831" y="54483"/>
                </a:lnTo>
                <a:lnTo>
                  <a:pt x="40831" y="58427"/>
                </a:lnTo>
                <a:lnTo>
                  <a:pt x="43106" y="58551"/>
                </a:lnTo>
                <a:lnTo>
                  <a:pt x="43466" y="36979"/>
                </a:lnTo>
                <a:lnTo>
                  <a:pt x="46220" y="36733"/>
                </a:lnTo>
                <a:lnTo>
                  <a:pt x="46339" y="38952"/>
                </a:lnTo>
                <a:lnTo>
                  <a:pt x="65378" y="37966"/>
                </a:lnTo>
                <a:lnTo>
                  <a:pt x="66935" y="40308"/>
                </a:lnTo>
                <a:lnTo>
                  <a:pt x="77112" y="41540"/>
                </a:lnTo>
                <a:lnTo>
                  <a:pt x="79866" y="43019"/>
                </a:lnTo>
                <a:lnTo>
                  <a:pt x="80705" y="49676"/>
                </a:lnTo>
                <a:lnTo>
                  <a:pt x="90164" y="49429"/>
                </a:lnTo>
                <a:lnTo>
                  <a:pt x="89685" y="43389"/>
                </a:lnTo>
                <a:lnTo>
                  <a:pt x="101060" y="41663"/>
                </a:lnTo>
                <a:lnTo>
                  <a:pt x="113753" y="42773"/>
                </a:lnTo>
                <a:lnTo>
                  <a:pt x="126805" y="41047"/>
                </a:lnTo>
                <a:lnTo>
                  <a:pt x="127044" y="38582"/>
                </a:lnTo>
                <a:lnTo>
                  <a:pt x="131834" y="35624"/>
                </a:lnTo>
                <a:lnTo>
                  <a:pt x="131355" y="31063"/>
                </a:lnTo>
                <a:lnTo>
                  <a:pt x="142371" y="29707"/>
                </a:lnTo>
                <a:lnTo>
                  <a:pt x="142131" y="27858"/>
                </a:lnTo>
                <a:lnTo>
                  <a:pt x="143808" y="27488"/>
                </a:lnTo>
                <a:lnTo>
                  <a:pt x="144287" y="12696"/>
                </a:lnTo>
                <a:lnTo>
                  <a:pt x="78789" y="0"/>
                </a:lnTo>
                <a:lnTo>
                  <a:pt x="77591" y="4807"/>
                </a:lnTo>
                <a:lnTo>
                  <a:pt x="75077" y="4807"/>
                </a:lnTo>
                <a:lnTo>
                  <a:pt x="76873" y="25639"/>
                </a:lnTo>
                <a:lnTo>
                  <a:pt x="55559" y="24283"/>
                </a:lnTo>
                <a:lnTo>
                  <a:pt x="43945" y="25269"/>
                </a:lnTo>
                <a:lnTo>
                  <a:pt x="46459" y="8012"/>
                </a:lnTo>
                <a:lnTo>
                  <a:pt x="33048" y="5917"/>
                </a:lnTo>
                <a:lnTo>
                  <a:pt x="31252" y="18243"/>
                </a:lnTo>
                <a:lnTo>
                  <a:pt x="20835" y="16764"/>
                </a:lnTo>
                <a:lnTo>
                  <a:pt x="20715" y="17997"/>
                </a:lnTo>
                <a:lnTo>
                  <a:pt x="11495" y="17873"/>
                </a:lnTo>
                <a:lnTo>
                  <a:pt x="2155" y="15038"/>
                </a:lnTo>
                <a:lnTo>
                  <a:pt x="0" y="25393"/>
                </a:lnTo>
                <a:close/>
              </a:path>
            </a:pathLst>
          </a:custGeom>
          <a:solidFill>
            <a:srgbClr val="ded5c5"/>
          </a:solidFill>
          <a:ln w="6191">
            <a:solidFill>
              <a:srgbClr val="b5a68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93" name="บูรพา 16"/>
          <p:cNvSpPr/>
          <p:nvPr/>
        </p:nvSpPr>
        <p:spPr>
          <a:xfrm>
            <a:off x="5738760" y="3264840"/>
            <a:ext cx="28800" cy="30600"/>
          </a:xfrm>
          <a:custGeom>
            <a:avLst/>
            <a:gdLst/>
            <a:ahLst/>
            <a:rect l="l" t="t" r="r" b="b"/>
            <a:pathLst>
              <a:path w="29217" h="30939">
                <a:moveTo>
                  <a:pt x="0" y="9738"/>
                </a:moveTo>
                <a:lnTo>
                  <a:pt x="4191" y="11833"/>
                </a:lnTo>
                <a:lnTo>
                  <a:pt x="2155" y="20955"/>
                </a:lnTo>
                <a:lnTo>
                  <a:pt x="9100" y="22557"/>
                </a:lnTo>
                <a:lnTo>
                  <a:pt x="7663" y="28474"/>
                </a:lnTo>
                <a:lnTo>
                  <a:pt x="18560" y="30939"/>
                </a:lnTo>
                <a:lnTo>
                  <a:pt x="21194" y="23790"/>
                </a:lnTo>
                <a:lnTo>
                  <a:pt x="23828" y="24406"/>
                </a:lnTo>
                <a:lnTo>
                  <a:pt x="29217" y="6903"/>
                </a:lnTo>
                <a:lnTo>
                  <a:pt x="19278" y="3082"/>
                </a:lnTo>
                <a:lnTo>
                  <a:pt x="3951" y="0"/>
                </a:lnTo>
                <a:lnTo>
                  <a:pt x="0" y="9738"/>
                </a:lnTo>
                <a:close/>
              </a:path>
            </a:pathLst>
          </a:custGeom>
          <a:solidFill>
            <a:srgbClr val="ded5c5"/>
          </a:solidFill>
          <a:ln w="6191">
            <a:solidFill>
              <a:srgbClr val="b5a68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94" name="บูรพา 18"/>
          <p:cNvSpPr/>
          <p:nvPr/>
        </p:nvSpPr>
        <p:spPr>
          <a:xfrm>
            <a:off x="5720400" y="3292920"/>
            <a:ext cx="36360" cy="26280"/>
          </a:xfrm>
          <a:custGeom>
            <a:avLst/>
            <a:gdLst/>
            <a:ahLst/>
            <a:rect l="l" t="t" r="r" b="b"/>
            <a:pathLst>
              <a:path w="36640" h="26748">
                <a:moveTo>
                  <a:pt x="0" y="12080"/>
                </a:moveTo>
                <a:lnTo>
                  <a:pt x="1676" y="24776"/>
                </a:lnTo>
                <a:lnTo>
                  <a:pt x="28977" y="26748"/>
                </a:lnTo>
                <a:lnTo>
                  <a:pt x="36640" y="4068"/>
                </a:lnTo>
                <a:lnTo>
                  <a:pt x="30174" y="863"/>
                </a:lnTo>
                <a:lnTo>
                  <a:pt x="16285" y="0"/>
                </a:lnTo>
                <a:lnTo>
                  <a:pt x="15806" y="5793"/>
                </a:lnTo>
                <a:lnTo>
                  <a:pt x="13650" y="5917"/>
                </a:lnTo>
                <a:lnTo>
                  <a:pt x="14010" y="8382"/>
                </a:lnTo>
                <a:lnTo>
                  <a:pt x="7424" y="9615"/>
                </a:lnTo>
                <a:lnTo>
                  <a:pt x="7544" y="11094"/>
                </a:lnTo>
                <a:lnTo>
                  <a:pt x="0" y="12080"/>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95" name="หมู่บ้านวัฒนานันท์"/>
          <p:cNvSpPr/>
          <p:nvPr/>
        </p:nvSpPr>
        <p:spPr>
          <a:xfrm>
            <a:off x="5941800" y="3326400"/>
            <a:ext cx="88200" cy="46080"/>
          </a:xfrm>
          <a:custGeom>
            <a:avLst/>
            <a:gdLst/>
            <a:ahLst/>
            <a:rect l="l" t="t" r="r" b="b"/>
            <a:pathLst>
              <a:path w="88488" h="46471">
                <a:moveTo>
                  <a:pt x="41669" y="26748"/>
                </a:moveTo>
                <a:lnTo>
                  <a:pt x="84417" y="46471"/>
                </a:lnTo>
                <a:lnTo>
                  <a:pt x="88488" y="37596"/>
                </a:lnTo>
                <a:lnTo>
                  <a:pt x="1078" y="0"/>
                </a:lnTo>
                <a:lnTo>
                  <a:pt x="0" y="7149"/>
                </a:lnTo>
                <a:lnTo>
                  <a:pt x="41669" y="26748"/>
                </a:lnTo>
                <a:close/>
              </a:path>
            </a:pathLst>
          </a:custGeom>
          <a:solidFill>
            <a:srgbClr val="ded5c5"/>
          </a:solidFill>
          <a:ln w="6191">
            <a:solidFill>
              <a:srgbClr val="b5a68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96" name="เทพประทาน"/>
          <p:cNvSpPr/>
          <p:nvPr/>
        </p:nvSpPr>
        <p:spPr>
          <a:xfrm>
            <a:off x="5702400" y="3187080"/>
            <a:ext cx="27720" cy="24480"/>
          </a:xfrm>
          <a:custGeom>
            <a:avLst/>
            <a:gdLst/>
            <a:ahLst/>
            <a:rect l="l" t="t" r="r" b="b"/>
            <a:pathLst>
              <a:path w="28259" h="24776">
                <a:moveTo>
                  <a:pt x="28259" y="8752"/>
                </a:moveTo>
                <a:lnTo>
                  <a:pt x="26103" y="8382"/>
                </a:lnTo>
                <a:lnTo>
                  <a:pt x="27061" y="4561"/>
                </a:lnTo>
                <a:lnTo>
                  <a:pt x="7903" y="0"/>
                </a:lnTo>
                <a:lnTo>
                  <a:pt x="4670" y="2095"/>
                </a:lnTo>
                <a:lnTo>
                  <a:pt x="0" y="17627"/>
                </a:lnTo>
                <a:lnTo>
                  <a:pt x="3712" y="18613"/>
                </a:lnTo>
                <a:lnTo>
                  <a:pt x="3233" y="19969"/>
                </a:lnTo>
                <a:lnTo>
                  <a:pt x="18919" y="24776"/>
                </a:lnTo>
                <a:lnTo>
                  <a:pt x="21553" y="13436"/>
                </a:lnTo>
                <a:lnTo>
                  <a:pt x="24307" y="13929"/>
                </a:lnTo>
                <a:lnTo>
                  <a:pt x="25265" y="8752"/>
                </a:lnTo>
                <a:lnTo>
                  <a:pt x="28259" y="8752"/>
                </a:lnTo>
                <a:close/>
              </a:path>
            </a:pathLst>
          </a:custGeom>
          <a:solidFill>
            <a:srgbClr val="ded5c5"/>
          </a:solidFill>
          <a:ln w="6191">
            <a:solidFill>
              <a:srgbClr val="b5a68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97" name="โกสุมรวมใจ 3"/>
          <p:cNvSpPr/>
          <p:nvPr/>
        </p:nvSpPr>
        <p:spPr>
          <a:xfrm>
            <a:off x="5854320" y="3460320"/>
            <a:ext cx="117720" cy="83160"/>
          </a:xfrm>
          <a:custGeom>
            <a:avLst/>
            <a:gdLst/>
            <a:ahLst/>
            <a:rect l="l" t="t" r="r" b="b"/>
            <a:pathLst>
              <a:path w="117944" h="83697">
                <a:moveTo>
                  <a:pt x="21074" y="0"/>
                </a:moveTo>
                <a:lnTo>
                  <a:pt x="15686" y="0"/>
                </a:lnTo>
                <a:lnTo>
                  <a:pt x="11974" y="13066"/>
                </a:lnTo>
                <a:lnTo>
                  <a:pt x="13171" y="13189"/>
                </a:lnTo>
                <a:lnTo>
                  <a:pt x="12812" y="16271"/>
                </a:lnTo>
                <a:lnTo>
                  <a:pt x="10537" y="15778"/>
                </a:lnTo>
                <a:lnTo>
                  <a:pt x="0" y="28844"/>
                </a:lnTo>
                <a:lnTo>
                  <a:pt x="98666" y="83697"/>
                </a:lnTo>
                <a:lnTo>
                  <a:pt x="117944" y="47580"/>
                </a:lnTo>
                <a:lnTo>
                  <a:pt x="21074" y="0"/>
                </a:lnTo>
                <a:close/>
              </a:path>
            </a:pathLst>
          </a:custGeom>
          <a:solidFill>
            <a:srgbClr val="ded5c5"/>
          </a:solidFill>
          <a:ln w="6191">
            <a:solidFill>
              <a:srgbClr val="b5a68d"/>
            </a:solidFill>
            <a:round/>
          </a:ln>
        </p:spPr>
        <p:style>
          <a:lnRef idx="0"/>
          <a:fillRef idx="0"/>
          <a:effectRef idx="0"/>
          <a:fontRef idx="minor"/>
        </p:style>
        <p:txBody>
          <a:bodyPr lIns="90000" rIns="90000" tIns="38160" bIns="38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98" name="เวียงเทพ 9"/>
          <p:cNvSpPr/>
          <p:nvPr/>
        </p:nvSpPr>
        <p:spPr>
          <a:xfrm>
            <a:off x="5891760" y="3368160"/>
            <a:ext cx="36000" cy="24120"/>
          </a:xfrm>
          <a:custGeom>
            <a:avLst/>
            <a:gdLst/>
            <a:ahLst/>
            <a:rect l="l" t="t" r="r" b="b"/>
            <a:pathLst>
              <a:path w="36401" h="24653">
                <a:moveTo>
                  <a:pt x="8142" y="0"/>
                </a:moveTo>
                <a:lnTo>
                  <a:pt x="0" y="17257"/>
                </a:lnTo>
                <a:lnTo>
                  <a:pt x="16285" y="24653"/>
                </a:lnTo>
                <a:lnTo>
                  <a:pt x="18320" y="20092"/>
                </a:lnTo>
                <a:lnTo>
                  <a:pt x="24906" y="23051"/>
                </a:lnTo>
                <a:lnTo>
                  <a:pt x="28019" y="16641"/>
                </a:lnTo>
                <a:lnTo>
                  <a:pt x="31851" y="18490"/>
                </a:lnTo>
                <a:lnTo>
                  <a:pt x="36401" y="8998"/>
                </a:lnTo>
                <a:lnTo>
                  <a:pt x="28977" y="5424"/>
                </a:lnTo>
                <a:lnTo>
                  <a:pt x="27181" y="8875"/>
                </a:lnTo>
                <a:lnTo>
                  <a:pt x="8142" y="0"/>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099" name="แฟลตตำรวจส่วนกลาง ทุ่งสองห้อง"/>
          <p:cNvSpPr/>
          <p:nvPr/>
        </p:nvSpPr>
        <p:spPr>
          <a:xfrm>
            <a:off x="5736600" y="3865680"/>
            <a:ext cx="33480" cy="24480"/>
          </a:xfrm>
          <a:custGeom>
            <a:avLst/>
            <a:gdLst/>
            <a:ahLst/>
            <a:rect l="l" t="t" r="r" b="b"/>
            <a:pathLst>
              <a:path w="33886" h="24899">
                <a:moveTo>
                  <a:pt x="31971" y="24899"/>
                </a:moveTo>
                <a:lnTo>
                  <a:pt x="33886" y="21571"/>
                </a:lnTo>
                <a:lnTo>
                  <a:pt x="33288" y="20092"/>
                </a:lnTo>
                <a:lnTo>
                  <a:pt x="26582" y="16024"/>
                </a:lnTo>
                <a:lnTo>
                  <a:pt x="28977" y="12080"/>
                </a:lnTo>
                <a:lnTo>
                  <a:pt x="22272" y="8382"/>
                </a:lnTo>
                <a:lnTo>
                  <a:pt x="11854" y="5793"/>
                </a:lnTo>
                <a:lnTo>
                  <a:pt x="3113" y="0"/>
                </a:lnTo>
                <a:lnTo>
                  <a:pt x="0" y="8998"/>
                </a:lnTo>
                <a:lnTo>
                  <a:pt x="6586" y="14175"/>
                </a:lnTo>
                <a:lnTo>
                  <a:pt x="5748" y="16271"/>
                </a:lnTo>
                <a:lnTo>
                  <a:pt x="9100" y="19722"/>
                </a:lnTo>
                <a:lnTo>
                  <a:pt x="13411" y="22434"/>
                </a:lnTo>
                <a:lnTo>
                  <a:pt x="16524" y="16148"/>
                </a:lnTo>
                <a:lnTo>
                  <a:pt x="31971" y="24899"/>
                </a:lnTo>
                <a:close/>
              </a:path>
            </a:pathLst>
          </a:custGeom>
          <a:solidFill>
            <a:srgbClr val="ded5c5"/>
          </a:solidFill>
          <a:ln w="6191">
            <a:solidFill>
              <a:srgbClr val="b5a68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00" name="ชวนชื่นบางเขน"/>
          <p:cNvSpPr/>
          <p:nvPr/>
        </p:nvSpPr>
        <p:spPr>
          <a:xfrm>
            <a:off x="5707800" y="3427560"/>
            <a:ext cx="137520" cy="126000"/>
          </a:xfrm>
          <a:custGeom>
            <a:avLst/>
            <a:gdLst/>
            <a:ahLst/>
            <a:rect l="l" t="t" r="r" b="b"/>
            <a:pathLst>
              <a:path w="137821" h="126470">
                <a:moveTo>
                  <a:pt x="97109" y="126223"/>
                </a:moveTo>
                <a:lnTo>
                  <a:pt x="103455" y="123018"/>
                </a:lnTo>
                <a:lnTo>
                  <a:pt x="137821" y="120553"/>
                </a:lnTo>
                <a:lnTo>
                  <a:pt x="134588" y="114266"/>
                </a:lnTo>
                <a:lnTo>
                  <a:pt x="137701" y="112787"/>
                </a:lnTo>
                <a:lnTo>
                  <a:pt x="137342" y="110938"/>
                </a:lnTo>
                <a:lnTo>
                  <a:pt x="132313" y="112171"/>
                </a:lnTo>
                <a:lnTo>
                  <a:pt x="132672" y="106008"/>
                </a:lnTo>
                <a:lnTo>
                  <a:pt x="123452" y="106131"/>
                </a:lnTo>
                <a:lnTo>
                  <a:pt x="124769" y="113157"/>
                </a:lnTo>
                <a:lnTo>
                  <a:pt x="119860" y="114266"/>
                </a:lnTo>
                <a:lnTo>
                  <a:pt x="93637" y="115376"/>
                </a:lnTo>
                <a:lnTo>
                  <a:pt x="85494" y="113650"/>
                </a:lnTo>
                <a:lnTo>
                  <a:pt x="87769" y="101447"/>
                </a:lnTo>
                <a:lnTo>
                  <a:pt x="85973" y="89244"/>
                </a:lnTo>
                <a:lnTo>
                  <a:pt x="91122" y="88258"/>
                </a:lnTo>
                <a:lnTo>
                  <a:pt x="91242" y="85422"/>
                </a:lnTo>
                <a:lnTo>
                  <a:pt x="91242" y="83697"/>
                </a:lnTo>
                <a:lnTo>
                  <a:pt x="85973" y="82587"/>
                </a:lnTo>
                <a:lnTo>
                  <a:pt x="86213" y="79136"/>
                </a:lnTo>
                <a:lnTo>
                  <a:pt x="98785" y="48073"/>
                </a:lnTo>
                <a:lnTo>
                  <a:pt x="19518" y="616"/>
                </a:lnTo>
                <a:lnTo>
                  <a:pt x="14848" y="8135"/>
                </a:lnTo>
                <a:lnTo>
                  <a:pt x="5987" y="0"/>
                </a:lnTo>
                <a:lnTo>
                  <a:pt x="0" y="4314"/>
                </a:lnTo>
                <a:lnTo>
                  <a:pt x="15087" y="17011"/>
                </a:lnTo>
                <a:lnTo>
                  <a:pt x="10896" y="22557"/>
                </a:lnTo>
                <a:lnTo>
                  <a:pt x="30414" y="35870"/>
                </a:lnTo>
                <a:lnTo>
                  <a:pt x="31132" y="38335"/>
                </a:lnTo>
                <a:lnTo>
                  <a:pt x="48016" y="47580"/>
                </a:lnTo>
                <a:lnTo>
                  <a:pt x="42987" y="54606"/>
                </a:lnTo>
                <a:lnTo>
                  <a:pt x="37718" y="67549"/>
                </a:lnTo>
                <a:lnTo>
                  <a:pt x="30893" y="68782"/>
                </a:lnTo>
                <a:lnTo>
                  <a:pt x="30534" y="79506"/>
                </a:lnTo>
                <a:lnTo>
                  <a:pt x="66456" y="79752"/>
                </a:lnTo>
                <a:lnTo>
                  <a:pt x="64779" y="100584"/>
                </a:lnTo>
                <a:lnTo>
                  <a:pt x="70168" y="101200"/>
                </a:lnTo>
                <a:lnTo>
                  <a:pt x="67294" y="111061"/>
                </a:lnTo>
                <a:lnTo>
                  <a:pt x="79627" y="112541"/>
                </a:lnTo>
                <a:lnTo>
                  <a:pt x="78310" y="126470"/>
                </a:lnTo>
                <a:lnTo>
                  <a:pt x="97109" y="12622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01" name="หมู่บ้านอมรพันธ์นครเสรีไทย"/>
          <p:cNvSpPr/>
          <p:nvPr/>
        </p:nvSpPr>
        <p:spPr>
          <a:xfrm>
            <a:off x="7155360" y="4726440"/>
            <a:ext cx="42480" cy="58320"/>
          </a:xfrm>
          <a:custGeom>
            <a:avLst/>
            <a:gdLst/>
            <a:ahLst/>
            <a:rect l="l" t="t" r="r" b="b"/>
            <a:pathLst>
              <a:path w="42987" h="58797">
                <a:moveTo>
                  <a:pt x="0" y="23790"/>
                </a:moveTo>
                <a:lnTo>
                  <a:pt x="20236" y="58797"/>
                </a:lnTo>
                <a:lnTo>
                  <a:pt x="22272" y="54360"/>
                </a:lnTo>
                <a:lnTo>
                  <a:pt x="24786" y="54853"/>
                </a:lnTo>
                <a:lnTo>
                  <a:pt x="42987" y="3205"/>
                </a:lnTo>
                <a:lnTo>
                  <a:pt x="40472" y="3328"/>
                </a:lnTo>
                <a:lnTo>
                  <a:pt x="36521" y="0"/>
                </a:lnTo>
                <a:lnTo>
                  <a:pt x="33048" y="2835"/>
                </a:lnTo>
                <a:lnTo>
                  <a:pt x="25385" y="17750"/>
                </a:lnTo>
                <a:lnTo>
                  <a:pt x="15806" y="21818"/>
                </a:lnTo>
                <a:lnTo>
                  <a:pt x="13890" y="18736"/>
                </a:lnTo>
                <a:lnTo>
                  <a:pt x="7304" y="23913"/>
                </a:lnTo>
                <a:lnTo>
                  <a:pt x="5748" y="21202"/>
                </a:lnTo>
                <a:lnTo>
                  <a:pt x="0" y="23790"/>
                </a:lnTo>
                <a:close/>
              </a:path>
            </a:pathLst>
          </a:custGeom>
          <a:solidFill>
            <a:srgbClr val="ded5c5"/>
          </a:solidFill>
          <a:ln w="6191">
            <a:solidFill>
              <a:srgbClr val="b5a68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02" name="หมู่บ้านอมรพันธ์นครเสรีไทย"/>
          <p:cNvSpPr/>
          <p:nvPr/>
        </p:nvSpPr>
        <p:spPr>
          <a:xfrm>
            <a:off x="7155000" y="4750200"/>
            <a:ext cx="2160" cy="3960"/>
          </a:xfrm>
          <a:custGeom>
            <a:avLst/>
            <a:gdLst/>
            <a:ahLst/>
            <a:rect l="l" t="t" r="r" b="b"/>
            <a:pathLst>
              <a:path w="2634" h="4314">
                <a:moveTo>
                  <a:pt x="0" y="0"/>
                </a:moveTo>
                <a:lnTo>
                  <a:pt x="2634" y="4314"/>
                </a:lnTo>
                <a:lnTo>
                  <a:pt x="0" y="0"/>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41040" bIns="-41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03" name="หมู่ 5"/>
          <p:cNvSpPr/>
          <p:nvPr/>
        </p:nvSpPr>
        <p:spPr>
          <a:xfrm>
            <a:off x="7263720" y="4616280"/>
            <a:ext cx="62640" cy="88920"/>
          </a:xfrm>
          <a:custGeom>
            <a:avLst/>
            <a:gdLst/>
            <a:ahLst/>
            <a:rect l="l" t="t" r="r" b="b"/>
            <a:pathLst>
              <a:path w="62983" h="89367">
                <a:moveTo>
                  <a:pt x="6107" y="616"/>
                </a:moveTo>
                <a:lnTo>
                  <a:pt x="3113" y="3205"/>
                </a:lnTo>
                <a:lnTo>
                  <a:pt x="2874" y="17380"/>
                </a:lnTo>
                <a:lnTo>
                  <a:pt x="0" y="26379"/>
                </a:lnTo>
                <a:lnTo>
                  <a:pt x="18560" y="49059"/>
                </a:lnTo>
                <a:lnTo>
                  <a:pt x="47297" y="89367"/>
                </a:lnTo>
                <a:lnTo>
                  <a:pt x="62863" y="66440"/>
                </a:lnTo>
                <a:lnTo>
                  <a:pt x="62983" y="53620"/>
                </a:lnTo>
                <a:lnTo>
                  <a:pt x="59750" y="44129"/>
                </a:lnTo>
                <a:lnTo>
                  <a:pt x="53164" y="35624"/>
                </a:lnTo>
                <a:lnTo>
                  <a:pt x="24666" y="18120"/>
                </a:lnTo>
                <a:lnTo>
                  <a:pt x="8861" y="0"/>
                </a:lnTo>
                <a:lnTo>
                  <a:pt x="6107" y="616"/>
                </a:lnTo>
                <a:close/>
              </a:path>
            </a:pathLst>
          </a:custGeom>
          <a:solidFill>
            <a:srgbClr val="ded5c5"/>
          </a:solidFill>
          <a:ln w="6191">
            <a:solidFill>
              <a:srgbClr val="b5a68d"/>
            </a:solidFill>
            <a:round/>
          </a:ln>
        </p:spPr>
        <p:style>
          <a:lnRef idx="0"/>
          <a:fillRef idx="0"/>
          <a:effectRef idx="0"/>
          <a:fontRef idx="minor"/>
        </p:style>
        <p:txBody>
          <a:bodyPr lIns="90000" rIns="90000" tIns="43920" bIns="43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04" name="สุขอนันต์"/>
          <p:cNvSpPr/>
          <p:nvPr/>
        </p:nvSpPr>
        <p:spPr>
          <a:xfrm>
            <a:off x="6980400" y="4242960"/>
            <a:ext cx="58680" cy="54720"/>
          </a:xfrm>
          <a:custGeom>
            <a:avLst/>
            <a:gdLst/>
            <a:ahLst/>
            <a:rect l="l" t="t" r="r" b="b"/>
            <a:pathLst>
              <a:path w="59151" h="54976">
                <a:moveTo>
                  <a:pt x="26463" y="10847"/>
                </a:moveTo>
                <a:lnTo>
                  <a:pt x="0" y="26502"/>
                </a:lnTo>
                <a:lnTo>
                  <a:pt x="6346" y="54976"/>
                </a:lnTo>
                <a:lnTo>
                  <a:pt x="33048" y="41417"/>
                </a:lnTo>
                <a:lnTo>
                  <a:pt x="24547" y="31556"/>
                </a:lnTo>
                <a:lnTo>
                  <a:pt x="42148" y="21571"/>
                </a:lnTo>
                <a:lnTo>
                  <a:pt x="59151" y="7889"/>
                </a:lnTo>
                <a:lnTo>
                  <a:pt x="44543" y="0"/>
                </a:lnTo>
                <a:lnTo>
                  <a:pt x="26463" y="10847"/>
                </a:lnTo>
                <a:close/>
              </a:path>
            </a:pathLst>
          </a:custGeom>
          <a:solidFill>
            <a:srgbClr val="ded5c5"/>
          </a:solidFill>
          <a:ln w="6191">
            <a:solidFill>
              <a:srgbClr val="b5a68d"/>
            </a:solidFill>
            <a:round/>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05" name="หมู่บ้านเปรมฤทัยรามอินทรา ก.ม.9 ป.1"/>
          <p:cNvSpPr/>
          <p:nvPr/>
        </p:nvSpPr>
        <p:spPr>
          <a:xfrm>
            <a:off x="6996600" y="4275360"/>
            <a:ext cx="97200" cy="72360"/>
          </a:xfrm>
          <a:custGeom>
            <a:avLst/>
            <a:gdLst/>
            <a:ahLst/>
            <a:rect l="l" t="t" r="r" b="b"/>
            <a:pathLst>
              <a:path w="97468" h="72603">
                <a:moveTo>
                  <a:pt x="69689" y="28104"/>
                </a:moveTo>
                <a:lnTo>
                  <a:pt x="97468" y="10601"/>
                </a:lnTo>
                <a:lnTo>
                  <a:pt x="83339" y="0"/>
                </a:lnTo>
                <a:lnTo>
                  <a:pt x="479" y="51894"/>
                </a:lnTo>
                <a:lnTo>
                  <a:pt x="4790" y="59290"/>
                </a:lnTo>
                <a:lnTo>
                  <a:pt x="0" y="64591"/>
                </a:lnTo>
                <a:lnTo>
                  <a:pt x="1317" y="72603"/>
                </a:lnTo>
                <a:lnTo>
                  <a:pt x="8621" y="65454"/>
                </a:lnTo>
                <a:lnTo>
                  <a:pt x="10298" y="66686"/>
                </a:lnTo>
                <a:lnTo>
                  <a:pt x="69689" y="28104"/>
                </a:lnTo>
                <a:close/>
              </a:path>
            </a:pathLst>
          </a:custGeom>
          <a:solidFill>
            <a:srgbClr val="ded5c5"/>
          </a:solidFill>
          <a:ln w="6191">
            <a:solidFill>
              <a:srgbClr val="b5a68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06" name="สน.บางชัน"/>
          <p:cNvSpPr/>
          <p:nvPr/>
        </p:nvSpPr>
        <p:spPr>
          <a:xfrm>
            <a:off x="7115760" y="4709880"/>
            <a:ext cx="18720" cy="25560"/>
          </a:xfrm>
          <a:custGeom>
            <a:avLst/>
            <a:gdLst/>
            <a:ahLst/>
            <a:rect l="l" t="t" r="r" b="b"/>
            <a:pathLst>
              <a:path w="19158" h="25886">
                <a:moveTo>
                  <a:pt x="0" y="2712"/>
                </a:moveTo>
                <a:lnTo>
                  <a:pt x="13171" y="25886"/>
                </a:lnTo>
                <a:lnTo>
                  <a:pt x="19158" y="22188"/>
                </a:lnTo>
                <a:lnTo>
                  <a:pt x="3832" y="0"/>
                </a:lnTo>
                <a:lnTo>
                  <a:pt x="0" y="2712"/>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07" name="อมรพันธ์ 135"/>
          <p:cNvSpPr/>
          <p:nvPr/>
        </p:nvSpPr>
        <p:spPr>
          <a:xfrm>
            <a:off x="7160400" y="4788360"/>
            <a:ext cx="29160" cy="32760"/>
          </a:xfrm>
          <a:custGeom>
            <a:avLst/>
            <a:gdLst/>
            <a:ahLst/>
            <a:rect l="l" t="t" r="r" b="b"/>
            <a:pathLst>
              <a:path w="29576" h="33158">
                <a:moveTo>
                  <a:pt x="14967" y="616"/>
                </a:moveTo>
                <a:lnTo>
                  <a:pt x="8142" y="3698"/>
                </a:lnTo>
                <a:lnTo>
                  <a:pt x="5628" y="0"/>
                </a:lnTo>
                <a:lnTo>
                  <a:pt x="0" y="1849"/>
                </a:lnTo>
                <a:lnTo>
                  <a:pt x="1317" y="6780"/>
                </a:lnTo>
                <a:lnTo>
                  <a:pt x="3472" y="5547"/>
                </a:lnTo>
                <a:lnTo>
                  <a:pt x="11256" y="20092"/>
                </a:lnTo>
                <a:lnTo>
                  <a:pt x="13291" y="19353"/>
                </a:lnTo>
                <a:lnTo>
                  <a:pt x="19398" y="31802"/>
                </a:lnTo>
                <a:lnTo>
                  <a:pt x="23708" y="29953"/>
                </a:lnTo>
                <a:lnTo>
                  <a:pt x="25385" y="33158"/>
                </a:lnTo>
                <a:lnTo>
                  <a:pt x="29097" y="31432"/>
                </a:lnTo>
                <a:lnTo>
                  <a:pt x="27420" y="28228"/>
                </a:lnTo>
                <a:lnTo>
                  <a:pt x="29576" y="26872"/>
                </a:lnTo>
                <a:lnTo>
                  <a:pt x="20715" y="9245"/>
                </a:lnTo>
                <a:lnTo>
                  <a:pt x="18320" y="9615"/>
                </a:lnTo>
                <a:lnTo>
                  <a:pt x="14967" y="616"/>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08" name="หมู่บ้านแสงอรุณ"/>
          <p:cNvSpPr/>
          <p:nvPr/>
        </p:nvSpPr>
        <p:spPr>
          <a:xfrm>
            <a:off x="7068600" y="4532400"/>
            <a:ext cx="52920" cy="77760"/>
          </a:xfrm>
          <a:custGeom>
            <a:avLst/>
            <a:gdLst/>
            <a:ahLst/>
            <a:rect l="l" t="t" r="r" b="b"/>
            <a:pathLst>
              <a:path w="53164" h="78027">
                <a:moveTo>
                  <a:pt x="24068" y="0"/>
                </a:moveTo>
                <a:lnTo>
                  <a:pt x="0" y="10354"/>
                </a:lnTo>
                <a:lnTo>
                  <a:pt x="3832" y="19722"/>
                </a:lnTo>
                <a:lnTo>
                  <a:pt x="958" y="21202"/>
                </a:lnTo>
                <a:lnTo>
                  <a:pt x="23948" y="78027"/>
                </a:lnTo>
                <a:lnTo>
                  <a:pt x="30773" y="73712"/>
                </a:lnTo>
                <a:lnTo>
                  <a:pt x="53164" y="64714"/>
                </a:lnTo>
                <a:lnTo>
                  <a:pt x="48614" y="43019"/>
                </a:lnTo>
                <a:lnTo>
                  <a:pt x="38556" y="13806"/>
                </a:lnTo>
                <a:lnTo>
                  <a:pt x="24068" y="0"/>
                </a:lnTo>
                <a:close/>
              </a:path>
            </a:pathLst>
          </a:custGeom>
          <a:solidFill>
            <a:srgbClr val="ded5c5"/>
          </a:solidFill>
          <a:ln w="6191">
            <a:solidFill>
              <a:srgbClr val="b5a68d"/>
            </a:solidFill>
            <a:round/>
          </a:ln>
        </p:spPr>
        <p:style>
          <a:lnRef idx="0"/>
          <a:fillRef idx="0"/>
          <a:effectRef idx="0"/>
          <a:fontRef idx="minor"/>
        </p:style>
        <p:txBody>
          <a:bodyPr lIns="90000" rIns="90000" tIns="32760" bIns="32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09" name="แฟลต 23-24"/>
          <p:cNvSpPr/>
          <p:nvPr/>
        </p:nvSpPr>
        <p:spPr>
          <a:xfrm>
            <a:off x="5942880" y="5926320"/>
            <a:ext cx="8640" cy="12600"/>
          </a:xfrm>
          <a:custGeom>
            <a:avLst/>
            <a:gdLst/>
            <a:ahLst/>
            <a:rect l="l" t="t" r="r" b="b"/>
            <a:pathLst>
              <a:path w="8980" h="12943">
                <a:moveTo>
                  <a:pt x="2395" y="863"/>
                </a:moveTo>
                <a:lnTo>
                  <a:pt x="0" y="1602"/>
                </a:lnTo>
                <a:lnTo>
                  <a:pt x="2036" y="12943"/>
                </a:lnTo>
                <a:lnTo>
                  <a:pt x="8980" y="11587"/>
                </a:lnTo>
                <a:lnTo>
                  <a:pt x="6586" y="0"/>
                </a:lnTo>
                <a:lnTo>
                  <a:pt x="2395" y="863"/>
                </a:lnTo>
                <a:close/>
              </a:path>
            </a:pathLst>
          </a:custGeom>
          <a:solidFill>
            <a:srgbClr val="ded5c5"/>
          </a:solidFill>
          <a:ln w="6191">
            <a:solidFill>
              <a:srgbClr val="b5a68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10" name="ตลาดปีนังพัฒนา"/>
          <p:cNvSpPr/>
          <p:nvPr/>
        </p:nvSpPr>
        <p:spPr>
          <a:xfrm>
            <a:off x="5577480" y="5786640"/>
            <a:ext cx="23040" cy="12240"/>
          </a:xfrm>
          <a:custGeom>
            <a:avLst/>
            <a:gdLst/>
            <a:ahLst/>
            <a:rect l="l" t="t" r="r" b="b"/>
            <a:pathLst>
              <a:path w="23349" h="12696">
                <a:moveTo>
                  <a:pt x="718" y="3082"/>
                </a:moveTo>
                <a:lnTo>
                  <a:pt x="0" y="4068"/>
                </a:lnTo>
                <a:lnTo>
                  <a:pt x="11854" y="12696"/>
                </a:lnTo>
                <a:lnTo>
                  <a:pt x="23349" y="0"/>
                </a:lnTo>
                <a:lnTo>
                  <a:pt x="718" y="3082"/>
                </a:lnTo>
                <a:close/>
              </a:path>
            </a:pathLst>
          </a:custGeom>
          <a:solidFill>
            <a:srgbClr val="ded5c5"/>
          </a:solidFill>
          <a:ln w="6191">
            <a:solidFill>
              <a:srgbClr val="b5a68d"/>
            </a:solidFill>
            <a:round/>
          </a:ln>
        </p:spPr>
        <p:style>
          <a:lnRef idx="0"/>
          <a:fillRef idx="0"/>
          <a:effectRef idx="0"/>
          <a:fontRef idx="minor"/>
        </p:style>
        <p:txBody>
          <a:bodyPr lIns="90000" rIns="90000" tIns="-32760" bIns="-32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11" name="อาคารทรัพย์สิน 26 - 7"/>
          <p:cNvSpPr/>
          <p:nvPr/>
        </p:nvSpPr>
        <p:spPr>
          <a:xfrm>
            <a:off x="5631480" y="5725440"/>
            <a:ext cx="6480" cy="13320"/>
          </a:xfrm>
          <a:custGeom>
            <a:avLst/>
            <a:gdLst/>
            <a:ahLst/>
            <a:rect l="l" t="t" r="r" b="b"/>
            <a:pathLst>
              <a:path w="6945" h="13682">
                <a:moveTo>
                  <a:pt x="0" y="123"/>
                </a:moveTo>
                <a:lnTo>
                  <a:pt x="120" y="4314"/>
                </a:lnTo>
                <a:lnTo>
                  <a:pt x="1676" y="4314"/>
                </a:lnTo>
                <a:lnTo>
                  <a:pt x="1676" y="2219"/>
                </a:lnTo>
                <a:lnTo>
                  <a:pt x="3951" y="2096"/>
                </a:lnTo>
                <a:lnTo>
                  <a:pt x="4790" y="13682"/>
                </a:lnTo>
                <a:lnTo>
                  <a:pt x="6945" y="13682"/>
                </a:lnTo>
                <a:lnTo>
                  <a:pt x="5987" y="0"/>
                </a:lnTo>
                <a:lnTo>
                  <a:pt x="0" y="123"/>
                </a:lnTo>
                <a:close/>
              </a:path>
            </a:pathLst>
          </a:custGeom>
          <a:solidFill>
            <a:srgbClr val="ded5c5"/>
          </a:solidFill>
          <a:ln w="6191">
            <a:solidFill>
              <a:srgbClr val="b5a68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12" name="หมู่บ้านไทเทยิ่น"/>
          <p:cNvSpPr/>
          <p:nvPr/>
        </p:nvSpPr>
        <p:spPr>
          <a:xfrm>
            <a:off x="6283440" y="3013200"/>
            <a:ext cx="12960" cy="27360"/>
          </a:xfrm>
          <a:custGeom>
            <a:avLst/>
            <a:gdLst/>
            <a:ahLst/>
            <a:rect l="l" t="t" r="r" b="b"/>
            <a:pathLst>
              <a:path w="13171" h="27858">
                <a:moveTo>
                  <a:pt x="11375" y="27858"/>
                </a:moveTo>
                <a:lnTo>
                  <a:pt x="13171" y="21202"/>
                </a:lnTo>
                <a:lnTo>
                  <a:pt x="7783" y="0"/>
                </a:lnTo>
                <a:lnTo>
                  <a:pt x="0" y="11957"/>
                </a:lnTo>
                <a:lnTo>
                  <a:pt x="2874" y="19969"/>
                </a:lnTo>
                <a:lnTo>
                  <a:pt x="11375" y="27858"/>
                </a:lnTo>
                <a:close/>
              </a:path>
            </a:pathLst>
          </a:custGeom>
          <a:solidFill>
            <a:srgbClr val="ded5c5"/>
          </a:solidFill>
          <a:ln w="6191">
            <a:solidFill>
              <a:srgbClr val="b5a68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13" name="สุขวัลย์นคร"/>
          <p:cNvSpPr/>
          <p:nvPr/>
        </p:nvSpPr>
        <p:spPr>
          <a:xfrm>
            <a:off x="5704560" y="3238920"/>
            <a:ext cx="18000" cy="18720"/>
          </a:xfrm>
          <a:custGeom>
            <a:avLst/>
            <a:gdLst/>
            <a:ahLst/>
            <a:rect l="l" t="t" r="r" b="b"/>
            <a:pathLst>
              <a:path w="18320" h="19229">
                <a:moveTo>
                  <a:pt x="11974" y="1972"/>
                </a:moveTo>
                <a:lnTo>
                  <a:pt x="7783" y="0"/>
                </a:lnTo>
                <a:lnTo>
                  <a:pt x="0" y="12943"/>
                </a:lnTo>
                <a:lnTo>
                  <a:pt x="15686" y="19229"/>
                </a:lnTo>
                <a:lnTo>
                  <a:pt x="18320" y="5054"/>
                </a:lnTo>
                <a:lnTo>
                  <a:pt x="11974" y="1972"/>
                </a:lnTo>
                <a:close/>
              </a:path>
            </a:pathLst>
          </a:custGeom>
          <a:solidFill>
            <a:srgbClr val="ded5c5"/>
          </a:solidFill>
          <a:ln w="6191">
            <a:solidFill>
              <a:srgbClr val="b5a68d"/>
            </a:solidFill>
            <a:round/>
          </a:ln>
        </p:spPr>
        <p:style>
          <a:lnRef idx="0"/>
          <a:fillRef idx="0"/>
          <a:effectRef idx="0"/>
          <a:fontRef idx="minor"/>
        </p:style>
        <p:txBody>
          <a:bodyPr lIns="90000" rIns="90000" tIns="-26280" bIns="-26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14" name="ปิ่นทอง"/>
          <p:cNvSpPr/>
          <p:nvPr/>
        </p:nvSpPr>
        <p:spPr>
          <a:xfrm>
            <a:off x="5877720" y="3235680"/>
            <a:ext cx="10440" cy="33840"/>
          </a:xfrm>
          <a:custGeom>
            <a:avLst/>
            <a:gdLst/>
            <a:ahLst/>
            <a:rect l="l" t="t" r="r" b="b"/>
            <a:pathLst>
              <a:path w="10657" h="34021">
                <a:moveTo>
                  <a:pt x="0" y="32419"/>
                </a:moveTo>
                <a:lnTo>
                  <a:pt x="5269" y="34021"/>
                </a:lnTo>
                <a:lnTo>
                  <a:pt x="10657" y="863"/>
                </a:lnTo>
                <a:lnTo>
                  <a:pt x="5269" y="0"/>
                </a:lnTo>
                <a:lnTo>
                  <a:pt x="0" y="32419"/>
                </a:lnTo>
                <a:close/>
              </a:path>
            </a:pathLst>
          </a:custGeom>
          <a:solidFill>
            <a:srgbClr val="ded5c5"/>
          </a:solidFill>
          <a:ln w="6191">
            <a:solidFill>
              <a:srgbClr val="b5a68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15" name="ปิ่นเงิน"/>
          <p:cNvSpPr/>
          <p:nvPr/>
        </p:nvSpPr>
        <p:spPr>
          <a:xfrm>
            <a:off x="5866920" y="3258360"/>
            <a:ext cx="37800" cy="24840"/>
          </a:xfrm>
          <a:custGeom>
            <a:avLst/>
            <a:gdLst/>
            <a:ahLst/>
            <a:rect l="l" t="t" r="r" b="b"/>
            <a:pathLst>
              <a:path w="38077" h="25146">
                <a:moveTo>
                  <a:pt x="38077" y="863"/>
                </a:moveTo>
                <a:lnTo>
                  <a:pt x="34126" y="0"/>
                </a:lnTo>
                <a:lnTo>
                  <a:pt x="31731" y="15655"/>
                </a:lnTo>
                <a:lnTo>
                  <a:pt x="2036" y="7889"/>
                </a:lnTo>
                <a:lnTo>
                  <a:pt x="0" y="23667"/>
                </a:lnTo>
                <a:lnTo>
                  <a:pt x="8502" y="25146"/>
                </a:lnTo>
                <a:lnTo>
                  <a:pt x="10178" y="21941"/>
                </a:lnTo>
                <a:lnTo>
                  <a:pt x="18799" y="25146"/>
                </a:lnTo>
                <a:lnTo>
                  <a:pt x="19637" y="22434"/>
                </a:lnTo>
                <a:lnTo>
                  <a:pt x="28019" y="24530"/>
                </a:lnTo>
                <a:lnTo>
                  <a:pt x="28498" y="17873"/>
                </a:lnTo>
                <a:lnTo>
                  <a:pt x="35323" y="16887"/>
                </a:lnTo>
                <a:lnTo>
                  <a:pt x="38077" y="863"/>
                </a:lnTo>
                <a:close/>
              </a:path>
            </a:pathLst>
          </a:custGeom>
          <a:solidFill>
            <a:srgbClr val="ded5c5"/>
          </a:solidFill>
          <a:ln w="6191">
            <a:solidFill>
              <a:srgbClr val="b5a68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16" name="อุบล-แอร์พอร์ตสามัคคี"/>
          <p:cNvSpPr/>
          <p:nvPr/>
        </p:nvSpPr>
        <p:spPr>
          <a:xfrm>
            <a:off x="5720400" y="3221640"/>
            <a:ext cx="50760" cy="45360"/>
          </a:xfrm>
          <a:custGeom>
            <a:avLst/>
            <a:gdLst/>
            <a:ahLst/>
            <a:rect l="l" t="t" r="r" b="b"/>
            <a:pathLst>
              <a:path w="51249" h="45608">
                <a:moveTo>
                  <a:pt x="0" y="20832"/>
                </a:moveTo>
                <a:lnTo>
                  <a:pt x="17003" y="29337"/>
                </a:lnTo>
                <a:lnTo>
                  <a:pt x="13171" y="39321"/>
                </a:lnTo>
                <a:lnTo>
                  <a:pt x="22272" y="43266"/>
                </a:lnTo>
                <a:lnTo>
                  <a:pt x="34725" y="45608"/>
                </a:lnTo>
                <a:lnTo>
                  <a:pt x="41430" y="29090"/>
                </a:lnTo>
                <a:lnTo>
                  <a:pt x="42747" y="28967"/>
                </a:lnTo>
                <a:lnTo>
                  <a:pt x="51249" y="10847"/>
                </a:lnTo>
                <a:lnTo>
                  <a:pt x="5748" y="0"/>
                </a:lnTo>
                <a:lnTo>
                  <a:pt x="0" y="20832"/>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17" name="จักรพงษ์ 3"/>
          <p:cNvSpPr/>
          <p:nvPr/>
        </p:nvSpPr>
        <p:spPr>
          <a:xfrm>
            <a:off x="5710320" y="3144960"/>
            <a:ext cx="14760" cy="23760"/>
          </a:xfrm>
          <a:custGeom>
            <a:avLst/>
            <a:gdLst/>
            <a:ahLst/>
            <a:rect l="l" t="t" r="r" b="b"/>
            <a:pathLst>
              <a:path w="14967" h="24283">
                <a:moveTo>
                  <a:pt x="0" y="20708"/>
                </a:moveTo>
                <a:lnTo>
                  <a:pt x="10537" y="24283"/>
                </a:lnTo>
                <a:lnTo>
                  <a:pt x="14967" y="1972"/>
                </a:lnTo>
                <a:lnTo>
                  <a:pt x="7663" y="0"/>
                </a:lnTo>
                <a:lnTo>
                  <a:pt x="0" y="20708"/>
                </a:lnTo>
                <a:close/>
              </a:path>
            </a:pathLst>
          </a:custGeom>
          <a:solidFill>
            <a:srgbClr val="ded5c5"/>
          </a:solidFill>
          <a:ln w="6191">
            <a:solidFill>
              <a:srgbClr val="b5a68d"/>
            </a:solidFill>
            <a:round/>
          </a:ln>
        </p:spPr>
        <p:style>
          <a:lnRef idx="0"/>
          <a:fillRef idx="0"/>
          <a:effectRef idx="0"/>
          <a:fontRef idx="minor"/>
        </p:style>
        <p:txBody>
          <a:bodyPr lIns="90000" rIns="90000" tIns="-21240" bIns="-21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18" name="พิณฑุมาธานี"/>
          <p:cNvSpPr/>
          <p:nvPr/>
        </p:nvSpPr>
        <p:spPr>
          <a:xfrm>
            <a:off x="5856840" y="3319200"/>
            <a:ext cx="17280" cy="11160"/>
          </a:xfrm>
          <a:custGeom>
            <a:avLst/>
            <a:gdLst/>
            <a:ahLst/>
            <a:rect l="l" t="t" r="r" b="b"/>
            <a:pathLst>
              <a:path w="17602" h="11340">
                <a:moveTo>
                  <a:pt x="0" y="6903"/>
                </a:moveTo>
                <a:lnTo>
                  <a:pt x="13890" y="11340"/>
                </a:lnTo>
                <a:lnTo>
                  <a:pt x="17602" y="2465"/>
                </a:lnTo>
                <a:lnTo>
                  <a:pt x="8621" y="0"/>
                </a:lnTo>
                <a:lnTo>
                  <a:pt x="0" y="6903"/>
                </a:lnTo>
                <a:close/>
              </a:path>
            </a:pathLst>
          </a:custGeom>
          <a:solidFill>
            <a:srgbClr val="ded5c5"/>
          </a:solidFill>
          <a:ln w="6191">
            <a:solidFill>
              <a:srgbClr val="b5a68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19" name="ร่มเย็น ๆ"/>
          <p:cNvSpPr/>
          <p:nvPr/>
        </p:nvSpPr>
        <p:spPr>
          <a:xfrm>
            <a:off x="5926680" y="3323520"/>
            <a:ext cx="8640" cy="16560"/>
          </a:xfrm>
          <a:custGeom>
            <a:avLst/>
            <a:gdLst/>
            <a:ahLst/>
            <a:rect l="l" t="t" r="r" b="b"/>
            <a:pathLst>
              <a:path w="8980" h="17011">
                <a:moveTo>
                  <a:pt x="4311" y="0"/>
                </a:moveTo>
                <a:lnTo>
                  <a:pt x="0" y="15531"/>
                </a:lnTo>
                <a:lnTo>
                  <a:pt x="4670" y="17011"/>
                </a:lnTo>
                <a:lnTo>
                  <a:pt x="8980" y="740"/>
                </a:lnTo>
                <a:lnTo>
                  <a:pt x="4311" y="0"/>
                </a:lnTo>
                <a:close/>
              </a:path>
            </a:pathLst>
          </a:custGeom>
          <a:solidFill>
            <a:srgbClr val="ded5c5"/>
          </a:solidFill>
          <a:ln w="6191">
            <a:solidFill>
              <a:srgbClr val="b5a68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20" name="เสริมปรีดี"/>
          <p:cNvSpPr/>
          <p:nvPr/>
        </p:nvSpPr>
        <p:spPr>
          <a:xfrm>
            <a:off x="6032880" y="3290040"/>
            <a:ext cx="48600" cy="21240"/>
          </a:xfrm>
          <a:custGeom>
            <a:avLst/>
            <a:gdLst/>
            <a:ahLst/>
            <a:rect l="l" t="t" r="r" b="b"/>
            <a:pathLst>
              <a:path w="48854" h="21571">
                <a:moveTo>
                  <a:pt x="2634" y="0"/>
                </a:moveTo>
                <a:lnTo>
                  <a:pt x="0" y="8752"/>
                </a:lnTo>
                <a:lnTo>
                  <a:pt x="42867" y="21571"/>
                </a:lnTo>
                <a:lnTo>
                  <a:pt x="48854" y="12203"/>
                </a:lnTo>
                <a:lnTo>
                  <a:pt x="2634" y="0"/>
                </a:lnTo>
                <a:close/>
              </a:path>
            </a:pathLst>
          </a:custGeom>
          <a:solidFill>
            <a:srgbClr val="ded5c5"/>
          </a:solidFill>
          <a:ln w="6191">
            <a:solidFill>
              <a:srgbClr val="b5a68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21" name="สวนทองวิลล่า ถ"/>
          <p:cNvSpPr/>
          <p:nvPr/>
        </p:nvSpPr>
        <p:spPr>
          <a:xfrm>
            <a:off x="5693760" y="3277440"/>
            <a:ext cx="24480" cy="16560"/>
          </a:xfrm>
          <a:custGeom>
            <a:avLst/>
            <a:gdLst/>
            <a:ahLst/>
            <a:rect l="l" t="t" r="r" b="b"/>
            <a:pathLst>
              <a:path w="24666" h="17011">
                <a:moveTo>
                  <a:pt x="24187" y="3082"/>
                </a:moveTo>
                <a:lnTo>
                  <a:pt x="10298" y="0"/>
                </a:lnTo>
                <a:lnTo>
                  <a:pt x="1557" y="7026"/>
                </a:lnTo>
                <a:lnTo>
                  <a:pt x="0" y="14915"/>
                </a:lnTo>
                <a:lnTo>
                  <a:pt x="8861" y="17011"/>
                </a:lnTo>
                <a:lnTo>
                  <a:pt x="24666" y="13436"/>
                </a:lnTo>
                <a:lnTo>
                  <a:pt x="24187" y="3082"/>
                </a:lnTo>
                <a:close/>
              </a:path>
            </a:pathLst>
          </a:custGeom>
          <a:solidFill>
            <a:srgbClr val="ded5c5"/>
          </a:solidFill>
          <a:ln w="6191">
            <a:solidFill>
              <a:srgbClr val="b5a68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22" name="แจ้งวัฒนะผาสุข หมู่ที่ 4"/>
          <p:cNvSpPr/>
          <p:nvPr/>
        </p:nvSpPr>
        <p:spPr>
          <a:xfrm>
            <a:off x="5618520" y="3633480"/>
            <a:ext cx="54720" cy="93960"/>
          </a:xfrm>
          <a:custGeom>
            <a:avLst/>
            <a:gdLst/>
            <a:ahLst/>
            <a:rect l="l" t="t" r="r" b="b"/>
            <a:pathLst>
              <a:path w="55200" h="94297">
                <a:moveTo>
                  <a:pt x="27540" y="13682"/>
                </a:moveTo>
                <a:lnTo>
                  <a:pt x="22870" y="11833"/>
                </a:lnTo>
                <a:lnTo>
                  <a:pt x="21673" y="14545"/>
                </a:lnTo>
                <a:lnTo>
                  <a:pt x="24307" y="15655"/>
                </a:lnTo>
                <a:lnTo>
                  <a:pt x="21194" y="21818"/>
                </a:lnTo>
                <a:lnTo>
                  <a:pt x="24906" y="23174"/>
                </a:lnTo>
                <a:lnTo>
                  <a:pt x="21194" y="35747"/>
                </a:lnTo>
                <a:lnTo>
                  <a:pt x="239" y="34144"/>
                </a:lnTo>
                <a:lnTo>
                  <a:pt x="0" y="36610"/>
                </a:lnTo>
                <a:lnTo>
                  <a:pt x="1437" y="38582"/>
                </a:lnTo>
                <a:lnTo>
                  <a:pt x="17721" y="40924"/>
                </a:lnTo>
                <a:lnTo>
                  <a:pt x="13770" y="53497"/>
                </a:lnTo>
                <a:lnTo>
                  <a:pt x="13531" y="55099"/>
                </a:lnTo>
                <a:lnTo>
                  <a:pt x="16165" y="55839"/>
                </a:lnTo>
                <a:lnTo>
                  <a:pt x="9579" y="78889"/>
                </a:lnTo>
                <a:lnTo>
                  <a:pt x="11735" y="80245"/>
                </a:lnTo>
                <a:lnTo>
                  <a:pt x="10777" y="82464"/>
                </a:lnTo>
                <a:lnTo>
                  <a:pt x="28378" y="85915"/>
                </a:lnTo>
                <a:lnTo>
                  <a:pt x="27899" y="92572"/>
                </a:lnTo>
                <a:lnTo>
                  <a:pt x="40233" y="94297"/>
                </a:lnTo>
                <a:lnTo>
                  <a:pt x="43705" y="36363"/>
                </a:lnTo>
                <a:lnTo>
                  <a:pt x="54122" y="34144"/>
                </a:lnTo>
                <a:lnTo>
                  <a:pt x="55200" y="7149"/>
                </a:lnTo>
                <a:lnTo>
                  <a:pt x="50410" y="5424"/>
                </a:lnTo>
                <a:lnTo>
                  <a:pt x="49333" y="9122"/>
                </a:lnTo>
                <a:lnTo>
                  <a:pt x="44663" y="7519"/>
                </a:lnTo>
                <a:lnTo>
                  <a:pt x="43945" y="9368"/>
                </a:lnTo>
                <a:lnTo>
                  <a:pt x="39035" y="10108"/>
                </a:lnTo>
                <a:lnTo>
                  <a:pt x="40831" y="3944"/>
                </a:lnTo>
                <a:lnTo>
                  <a:pt x="45381" y="5547"/>
                </a:lnTo>
                <a:lnTo>
                  <a:pt x="45741" y="4068"/>
                </a:lnTo>
                <a:lnTo>
                  <a:pt x="41789" y="2465"/>
                </a:lnTo>
                <a:lnTo>
                  <a:pt x="41909" y="740"/>
                </a:lnTo>
                <a:lnTo>
                  <a:pt x="39873" y="0"/>
                </a:lnTo>
                <a:lnTo>
                  <a:pt x="38077" y="5547"/>
                </a:lnTo>
                <a:lnTo>
                  <a:pt x="30893" y="2219"/>
                </a:lnTo>
                <a:lnTo>
                  <a:pt x="27540" y="13682"/>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23" name="เคหะชุมชนทุ่งสองห้อง 318"/>
          <p:cNvSpPr/>
          <p:nvPr/>
        </p:nvSpPr>
        <p:spPr>
          <a:xfrm>
            <a:off x="5864400" y="3525480"/>
            <a:ext cx="16920" cy="14760"/>
          </a:xfrm>
          <a:custGeom>
            <a:avLst/>
            <a:gdLst/>
            <a:ahLst/>
            <a:rect l="l" t="t" r="r" b="b"/>
            <a:pathLst>
              <a:path w="17362" h="15285">
                <a:moveTo>
                  <a:pt x="0" y="9122"/>
                </a:moveTo>
                <a:lnTo>
                  <a:pt x="12812" y="15285"/>
                </a:lnTo>
                <a:lnTo>
                  <a:pt x="17362" y="5917"/>
                </a:lnTo>
                <a:lnTo>
                  <a:pt x="6346" y="0"/>
                </a:lnTo>
                <a:lnTo>
                  <a:pt x="4071" y="616"/>
                </a:lnTo>
                <a:lnTo>
                  <a:pt x="0" y="9122"/>
                </a:lnTo>
                <a:close/>
              </a:path>
            </a:pathLst>
          </a:custGeom>
          <a:solidFill>
            <a:srgbClr val="ded5c5"/>
          </a:solidFill>
          <a:ln w="6191">
            <a:solidFill>
              <a:srgbClr val="b5a68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24" name="เคหะชุมชนทุ่งสองห้อง 325"/>
          <p:cNvSpPr/>
          <p:nvPr/>
        </p:nvSpPr>
        <p:spPr>
          <a:xfrm>
            <a:off x="5931720" y="3557880"/>
            <a:ext cx="13320" cy="10080"/>
          </a:xfrm>
          <a:custGeom>
            <a:avLst/>
            <a:gdLst/>
            <a:ahLst/>
            <a:rect l="l" t="t" r="r" b="b"/>
            <a:pathLst>
              <a:path w="13770" h="10354">
                <a:moveTo>
                  <a:pt x="2993" y="0"/>
                </a:moveTo>
                <a:lnTo>
                  <a:pt x="0" y="5917"/>
                </a:lnTo>
                <a:lnTo>
                  <a:pt x="1676" y="7273"/>
                </a:lnTo>
                <a:lnTo>
                  <a:pt x="8023" y="10354"/>
                </a:lnTo>
                <a:lnTo>
                  <a:pt x="11016" y="5793"/>
                </a:lnTo>
                <a:lnTo>
                  <a:pt x="13291" y="6656"/>
                </a:lnTo>
                <a:lnTo>
                  <a:pt x="13770" y="5547"/>
                </a:lnTo>
                <a:lnTo>
                  <a:pt x="2993" y="0"/>
                </a:lnTo>
                <a:close/>
              </a:path>
            </a:pathLst>
          </a:custGeom>
          <a:solidFill>
            <a:srgbClr val="ded5c5"/>
          </a:solidFill>
          <a:ln w="6191">
            <a:solidFill>
              <a:srgbClr val="b5a68d"/>
            </a:solidFill>
            <a:round/>
          </a:ln>
        </p:spPr>
        <p:style>
          <a:lnRef idx="0"/>
          <a:fillRef idx="0"/>
          <a:effectRef idx="0"/>
          <a:fontRef idx="minor"/>
        </p:style>
        <p:txBody>
          <a:bodyPr lIns="90000" rIns="90000" tIns="-34920" bIns="-34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25" name="หมู่บ้านอมรวิวัฒน์"/>
          <p:cNvSpPr/>
          <p:nvPr/>
        </p:nvSpPr>
        <p:spPr>
          <a:xfrm>
            <a:off x="6746040" y="4309920"/>
            <a:ext cx="46440" cy="26280"/>
          </a:xfrm>
          <a:custGeom>
            <a:avLst/>
            <a:gdLst/>
            <a:ahLst/>
            <a:rect l="l" t="t" r="r" b="b"/>
            <a:pathLst>
              <a:path w="46818" h="26502">
                <a:moveTo>
                  <a:pt x="42508" y="0"/>
                </a:moveTo>
                <a:lnTo>
                  <a:pt x="18799" y="1849"/>
                </a:lnTo>
                <a:lnTo>
                  <a:pt x="18919" y="4314"/>
                </a:lnTo>
                <a:lnTo>
                  <a:pt x="0" y="5177"/>
                </a:lnTo>
                <a:lnTo>
                  <a:pt x="1437" y="26502"/>
                </a:lnTo>
                <a:lnTo>
                  <a:pt x="46818" y="22311"/>
                </a:lnTo>
                <a:lnTo>
                  <a:pt x="42508" y="0"/>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26" name="ซอยประสิทธิชัย"/>
          <p:cNvSpPr/>
          <p:nvPr/>
        </p:nvSpPr>
        <p:spPr>
          <a:xfrm>
            <a:off x="6772320" y="4217040"/>
            <a:ext cx="43920" cy="24120"/>
          </a:xfrm>
          <a:custGeom>
            <a:avLst/>
            <a:gdLst/>
            <a:ahLst/>
            <a:rect l="l" t="t" r="r" b="b"/>
            <a:pathLst>
              <a:path w="44423" h="24406">
                <a:moveTo>
                  <a:pt x="0" y="11217"/>
                </a:moveTo>
                <a:lnTo>
                  <a:pt x="2993" y="24406"/>
                </a:lnTo>
                <a:lnTo>
                  <a:pt x="44423" y="12573"/>
                </a:lnTo>
                <a:lnTo>
                  <a:pt x="39873" y="0"/>
                </a:lnTo>
                <a:lnTo>
                  <a:pt x="0" y="11217"/>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27" name="หมู่บ้านเปรมฤทัย 1"/>
          <p:cNvSpPr/>
          <p:nvPr/>
        </p:nvSpPr>
        <p:spPr>
          <a:xfrm>
            <a:off x="6785280" y="4278600"/>
            <a:ext cx="50760" cy="41040"/>
          </a:xfrm>
          <a:custGeom>
            <a:avLst/>
            <a:gdLst/>
            <a:ahLst/>
            <a:rect l="l" t="t" r="r" b="b"/>
            <a:pathLst>
              <a:path w="51129" h="41540">
                <a:moveTo>
                  <a:pt x="0" y="12573"/>
                </a:moveTo>
                <a:lnTo>
                  <a:pt x="5628" y="41540"/>
                </a:lnTo>
                <a:lnTo>
                  <a:pt x="25505" y="37842"/>
                </a:lnTo>
                <a:lnTo>
                  <a:pt x="24427" y="31556"/>
                </a:lnTo>
                <a:lnTo>
                  <a:pt x="26343" y="31432"/>
                </a:lnTo>
                <a:lnTo>
                  <a:pt x="24906" y="23913"/>
                </a:lnTo>
                <a:lnTo>
                  <a:pt x="22870" y="24283"/>
                </a:lnTo>
                <a:lnTo>
                  <a:pt x="21673" y="18490"/>
                </a:lnTo>
                <a:lnTo>
                  <a:pt x="51129" y="12573"/>
                </a:lnTo>
                <a:lnTo>
                  <a:pt x="49572" y="8012"/>
                </a:lnTo>
                <a:lnTo>
                  <a:pt x="34246" y="0"/>
                </a:lnTo>
                <a:lnTo>
                  <a:pt x="32689" y="2712"/>
                </a:lnTo>
                <a:lnTo>
                  <a:pt x="0" y="12573"/>
                </a:lnTo>
                <a:close/>
              </a:path>
            </a:pathLst>
          </a:custGeom>
          <a:solidFill>
            <a:srgbClr val="ded5c5"/>
          </a:solidFill>
          <a:ln w="6191">
            <a:solidFill>
              <a:srgbClr val="b5a68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28" name="เกาะแครายพัฒนา"/>
          <p:cNvSpPr/>
          <p:nvPr/>
        </p:nvSpPr>
        <p:spPr>
          <a:xfrm>
            <a:off x="6937920" y="4547160"/>
            <a:ext cx="59040" cy="117000"/>
          </a:xfrm>
          <a:custGeom>
            <a:avLst/>
            <a:gdLst/>
            <a:ahLst/>
            <a:rect l="l" t="t" r="r" b="b"/>
            <a:pathLst>
              <a:path w="59391" h="117348">
                <a:moveTo>
                  <a:pt x="40951" y="105268"/>
                </a:moveTo>
                <a:lnTo>
                  <a:pt x="37598" y="97502"/>
                </a:lnTo>
                <a:lnTo>
                  <a:pt x="51728" y="90353"/>
                </a:lnTo>
                <a:lnTo>
                  <a:pt x="47537" y="82587"/>
                </a:lnTo>
                <a:lnTo>
                  <a:pt x="57355" y="78273"/>
                </a:lnTo>
                <a:lnTo>
                  <a:pt x="59391" y="61879"/>
                </a:lnTo>
                <a:lnTo>
                  <a:pt x="50889" y="17504"/>
                </a:lnTo>
                <a:lnTo>
                  <a:pt x="44423" y="3205"/>
                </a:lnTo>
                <a:lnTo>
                  <a:pt x="27660" y="4068"/>
                </a:lnTo>
                <a:lnTo>
                  <a:pt x="27660" y="0"/>
                </a:lnTo>
                <a:lnTo>
                  <a:pt x="23110" y="0"/>
                </a:lnTo>
                <a:lnTo>
                  <a:pt x="23708" y="6903"/>
                </a:lnTo>
                <a:lnTo>
                  <a:pt x="25385" y="8259"/>
                </a:lnTo>
                <a:lnTo>
                  <a:pt x="25505" y="10601"/>
                </a:lnTo>
                <a:lnTo>
                  <a:pt x="26343" y="8629"/>
                </a:lnTo>
                <a:lnTo>
                  <a:pt x="30055" y="10971"/>
                </a:lnTo>
                <a:lnTo>
                  <a:pt x="45980" y="9615"/>
                </a:lnTo>
                <a:lnTo>
                  <a:pt x="50171" y="17134"/>
                </a:lnTo>
                <a:lnTo>
                  <a:pt x="56996" y="61879"/>
                </a:lnTo>
                <a:lnTo>
                  <a:pt x="37838" y="67303"/>
                </a:lnTo>
                <a:lnTo>
                  <a:pt x="41191" y="83327"/>
                </a:lnTo>
                <a:lnTo>
                  <a:pt x="12453" y="98365"/>
                </a:lnTo>
                <a:lnTo>
                  <a:pt x="0" y="108103"/>
                </a:lnTo>
                <a:lnTo>
                  <a:pt x="4191" y="117348"/>
                </a:lnTo>
                <a:lnTo>
                  <a:pt x="20595" y="110568"/>
                </a:lnTo>
                <a:lnTo>
                  <a:pt x="25744" y="115129"/>
                </a:lnTo>
                <a:lnTo>
                  <a:pt x="40951" y="10526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29" name="เทพประธาน"/>
          <p:cNvSpPr/>
          <p:nvPr/>
        </p:nvSpPr>
        <p:spPr>
          <a:xfrm>
            <a:off x="5576760" y="5718600"/>
            <a:ext cx="22680" cy="11520"/>
          </a:xfrm>
          <a:custGeom>
            <a:avLst/>
            <a:gdLst/>
            <a:ahLst/>
            <a:rect l="l" t="t" r="r" b="b"/>
            <a:pathLst>
              <a:path w="22870" h="11710">
                <a:moveTo>
                  <a:pt x="5987" y="247"/>
                </a:moveTo>
                <a:lnTo>
                  <a:pt x="0" y="0"/>
                </a:lnTo>
                <a:lnTo>
                  <a:pt x="0" y="11464"/>
                </a:lnTo>
                <a:lnTo>
                  <a:pt x="22870" y="11710"/>
                </a:lnTo>
                <a:lnTo>
                  <a:pt x="22870" y="616"/>
                </a:lnTo>
                <a:lnTo>
                  <a:pt x="5987" y="247"/>
                </a:lnTo>
                <a:close/>
              </a:path>
            </a:pathLst>
          </a:custGeom>
          <a:solidFill>
            <a:srgbClr val="ded5c5"/>
          </a:solidFill>
          <a:ln w="6191">
            <a:solidFill>
              <a:srgbClr val="b5a68d"/>
            </a:solidFill>
            <a:round/>
          </a:ln>
        </p:spPr>
        <p:style>
          <a:lnRef idx="0"/>
          <a:fillRef idx="0"/>
          <a:effectRef idx="0"/>
          <a:fontRef idx="minor"/>
        </p:style>
        <p:txBody>
          <a:bodyPr lIns="90000" rIns="90000" tIns="-33480" bIns="-33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30" name="นภาศัพท์แยก 4"/>
          <p:cNvSpPr/>
          <p:nvPr/>
        </p:nvSpPr>
        <p:spPr>
          <a:xfrm>
            <a:off x="5789880" y="5738760"/>
            <a:ext cx="20880" cy="26280"/>
          </a:xfrm>
          <a:custGeom>
            <a:avLst/>
            <a:gdLst/>
            <a:ahLst/>
            <a:rect l="l" t="t" r="r" b="b"/>
            <a:pathLst>
              <a:path w="21194" h="26502">
                <a:moveTo>
                  <a:pt x="1437" y="17627"/>
                </a:moveTo>
                <a:lnTo>
                  <a:pt x="1796" y="19722"/>
                </a:lnTo>
                <a:lnTo>
                  <a:pt x="6107" y="20708"/>
                </a:lnTo>
                <a:lnTo>
                  <a:pt x="5867" y="26502"/>
                </a:lnTo>
                <a:lnTo>
                  <a:pt x="13890" y="26502"/>
                </a:lnTo>
                <a:lnTo>
                  <a:pt x="16045" y="24899"/>
                </a:lnTo>
                <a:lnTo>
                  <a:pt x="15925" y="22064"/>
                </a:lnTo>
                <a:lnTo>
                  <a:pt x="19637" y="19229"/>
                </a:lnTo>
                <a:lnTo>
                  <a:pt x="21194" y="2095"/>
                </a:lnTo>
                <a:lnTo>
                  <a:pt x="11136" y="123"/>
                </a:lnTo>
                <a:lnTo>
                  <a:pt x="9100" y="0"/>
                </a:lnTo>
                <a:lnTo>
                  <a:pt x="8861" y="1726"/>
                </a:lnTo>
                <a:lnTo>
                  <a:pt x="3353" y="986"/>
                </a:lnTo>
                <a:lnTo>
                  <a:pt x="2754" y="6656"/>
                </a:lnTo>
                <a:lnTo>
                  <a:pt x="1317" y="6656"/>
                </a:lnTo>
                <a:lnTo>
                  <a:pt x="718" y="9738"/>
                </a:lnTo>
                <a:lnTo>
                  <a:pt x="0" y="17134"/>
                </a:lnTo>
                <a:lnTo>
                  <a:pt x="1437" y="17627"/>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31" name="ทรัพย์มโนทัย"/>
          <p:cNvSpPr/>
          <p:nvPr/>
        </p:nvSpPr>
        <p:spPr>
          <a:xfrm>
            <a:off x="5775480" y="5801040"/>
            <a:ext cx="96840" cy="58320"/>
          </a:xfrm>
          <a:custGeom>
            <a:avLst/>
            <a:gdLst/>
            <a:ahLst/>
            <a:rect l="l" t="t" r="r" b="b"/>
            <a:pathLst>
              <a:path w="97109" h="58797">
                <a:moveTo>
                  <a:pt x="5388" y="0"/>
                </a:moveTo>
                <a:lnTo>
                  <a:pt x="0" y="22064"/>
                </a:lnTo>
                <a:lnTo>
                  <a:pt x="16404" y="29584"/>
                </a:lnTo>
                <a:lnTo>
                  <a:pt x="83219" y="58797"/>
                </a:lnTo>
                <a:lnTo>
                  <a:pt x="84656" y="41047"/>
                </a:lnTo>
                <a:lnTo>
                  <a:pt x="97109" y="41294"/>
                </a:lnTo>
                <a:lnTo>
                  <a:pt x="5388" y="0"/>
                </a:lnTo>
                <a:close/>
              </a:path>
            </a:pathLst>
          </a:custGeom>
          <a:solidFill>
            <a:srgbClr val="ded5c5"/>
          </a:solidFill>
          <a:ln w="6191">
            <a:solidFill>
              <a:srgbClr val="b5a68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32" name="แสนสบาย - แสนสุข"/>
          <p:cNvSpPr/>
          <p:nvPr/>
        </p:nvSpPr>
        <p:spPr>
          <a:xfrm>
            <a:off x="5763960" y="5738760"/>
            <a:ext cx="76320" cy="77040"/>
          </a:xfrm>
          <a:custGeom>
            <a:avLst/>
            <a:gdLst/>
            <a:ahLst/>
            <a:rect l="l" t="t" r="r" b="b"/>
            <a:pathLst>
              <a:path w="76514" h="77410">
                <a:moveTo>
                  <a:pt x="26463" y="10231"/>
                </a:moveTo>
                <a:lnTo>
                  <a:pt x="29097" y="4191"/>
                </a:lnTo>
                <a:lnTo>
                  <a:pt x="27301" y="0"/>
                </a:lnTo>
                <a:lnTo>
                  <a:pt x="0" y="1233"/>
                </a:lnTo>
                <a:lnTo>
                  <a:pt x="239" y="5670"/>
                </a:lnTo>
                <a:lnTo>
                  <a:pt x="4311" y="6286"/>
                </a:lnTo>
                <a:lnTo>
                  <a:pt x="3832" y="14175"/>
                </a:lnTo>
                <a:lnTo>
                  <a:pt x="5388" y="14545"/>
                </a:lnTo>
                <a:lnTo>
                  <a:pt x="4790" y="23544"/>
                </a:lnTo>
                <a:lnTo>
                  <a:pt x="1676" y="30446"/>
                </a:lnTo>
                <a:lnTo>
                  <a:pt x="3472" y="30693"/>
                </a:lnTo>
                <a:lnTo>
                  <a:pt x="3712" y="33775"/>
                </a:lnTo>
                <a:lnTo>
                  <a:pt x="5149" y="34021"/>
                </a:lnTo>
                <a:lnTo>
                  <a:pt x="5149" y="39938"/>
                </a:lnTo>
                <a:lnTo>
                  <a:pt x="15207" y="40184"/>
                </a:lnTo>
                <a:lnTo>
                  <a:pt x="16524" y="52881"/>
                </a:lnTo>
                <a:lnTo>
                  <a:pt x="18679" y="52881"/>
                </a:lnTo>
                <a:lnTo>
                  <a:pt x="17362" y="60153"/>
                </a:lnTo>
                <a:lnTo>
                  <a:pt x="56637" y="77410"/>
                </a:lnTo>
                <a:lnTo>
                  <a:pt x="56158" y="46964"/>
                </a:lnTo>
                <a:lnTo>
                  <a:pt x="64779" y="45608"/>
                </a:lnTo>
                <a:lnTo>
                  <a:pt x="76514" y="46471"/>
                </a:lnTo>
                <a:lnTo>
                  <a:pt x="76035" y="42403"/>
                </a:lnTo>
                <a:lnTo>
                  <a:pt x="72562" y="37966"/>
                </a:lnTo>
                <a:lnTo>
                  <a:pt x="56996" y="38459"/>
                </a:lnTo>
                <a:lnTo>
                  <a:pt x="56757" y="31926"/>
                </a:lnTo>
                <a:lnTo>
                  <a:pt x="27420" y="31802"/>
                </a:lnTo>
                <a:lnTo>
                  <a:pt x="27540" y="18490"/>
                </a:lnTo>
                <a:lnTo>
                  <a:pt x="25864" y="17873"/>
                </a:lnTo>
                <a:lnTo>
                  <a:pt x="26463" y="10231"/>
                </a:lnTo>
                <a:close/>
              </a:path>
            </a:pathLst>
          </a:custGeom>
          <a:solidFill>
            <a:srgbClr val="ded5c5"/>
          </a:solidFill>
          <a:ln w="6191">
            <a:solidFill>
              <a:srgbClr val="b5a68d"/>
            </a:solidFill>
            <a:round/>
          </a:ln>
        </p:spPr>
        <p:style>
          <a:lnRef idx="0"/>
          <a:fillRef idx="0"/>
          <a:effectRef idx="0"/>
          <a:fontRef idx="minor"/>
        </p:style>
        <p:txBody>
          <a:bodyPr lIns="90000" rIns="90000" tIns="32040" bIns="32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33" name="ปิยะวัชร"/>
          <p:cNvSpPr/>
          <p:nvPr/>
        </p:nvSpPr>
        <p:spPr>
          <a:xfrm>
            <a:off x="6025680" y="5875920"/>
            <a:ext cx="6480" cy="5760"/>
          </a:xfrm>
          <a:custGeom>
            <a:avLst/>
            <a:gdLst/>
            <a:ahLst/>
            <a:rect l="l" t="t" r="r" b="b"/>
            <a:pathLst>
              <a:path w="6945" h="6040">
                <a:moveTo>
                  <a:pt x="3353" y="5793"/>
                </a:moveTo>
                <a:lnTo>
                  <a:pt x="6825" y="4931"/>
                </a:lnTo>
                <a:lnTo>
                  <a:pt x="6945" y="0"/>
                </a:lnTo>
                <a:lnTo>
                  <a:pt x="0" y="1972"/>
                </a:lnTo>
                <a:lnTo>
                  <a:pt x="718" y="6040"/>
                </a:lnTo>
                <a:lnTo>
                  <a:pt x="3353" y="5793"/>
                </a:lnTo>
                <a:close/>
              </a:path>
            </a:pathLst>
          </a:custGeom>
          <a:solidFill>
            <a:srgbClr val="ded5c5"/>
          </a:solidFill>
          <a:ln w="6191">
            <a:solidFill>
              <a:srgbClr val="b5a68d"/>
            </a:solidFill>
            <a:round/>
          </a:ln>
        </p:spPr>
        <p:style>
          <a:lnRef idx="0"/>
          <a:fillRef idx="0"/>
          <a:effectRef idx="0"/>
          <a:fontRef idx="minor"/>
        </p:style>
        <p:txBody>
          <a:bodyPr lIns="90000" rIns="90000" tIns="-39240" bIns="-39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34" name="ปิยะวัชร"/>
          <p:cNvSpPr/>
          <p:nvPr/>
        </p:nvSpPr>
        <p:spPr>
          <a:xfrm>
            <a:off x="6018840" y="5882040"/>
            <a:ext cx="6840" cy="3600"/>
          </a:xfrm>
          <a:custGeom>
            <a:avLst/>
            <a:gdLst/>
            <a:ahLst/>
            <a:rect l="l" t="t" r="r" b="b"/>
            <a:pathLst>
              <a:path w="7184" h="4068">
                <a:moveTo>
                  <a:pt x="0" y="616"/>
                </a:moveTo>
                <a:lnTo>
                  <a:pt x="359" y="3328"/>
                </a:lnTo>
                <a:lnTo>
                  <a:pt x="4071" y="2465"/>
                </a:lnTo>
                <a:lnTo>
                  <a:pt x="4550" y="4068"/>
                </a:lnTo>
                <a:lnTo>
                  <a:pt x="7184" y="3451"/>
                </a:lnTo>
                <a:lnTo>
                  <a:pt x="6346" y="0"/>
                </a:lnTo>
                <a:lnTo>
                  <a:pt x="0" y="616"/>
                </a:lnTo>
                <a:close/>
              </a:path>
            </a:pathLst>
          </a:custGeom>
          <a:solidFill>
            <a:srgbClr val="ded5c5"/>
          </a:solidFill>
          <a:ln w="6191">
            <a:solidFill>
              <a:srgbClr val="b5a68d"/>
            </a:solidFill>
            <a:round/>
          </a:ln>
        </p:spPr>
        <p:style>
          <a:lnRef idx="0"/>
          <a:fillRef idx="0"/>
          <a:effectRef idx="0"/>
          <a:fontRef idx="minor"/>
        </p:style>
        <p:txBody>
          <a:bodyPr lIns="90000" rIns="90000" tIns="-41400" bIns="-41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35" name="หมู่บ้านกัญจน์เพชรวิลล่า"/>
          <p:cNvSpPr/>
          <p:nvPr/>
        </p:nvSpPr>
        <p:spPr>
          <a:xfrm>
            <a:off x="5897880" y="3403440"/>
            <a:ext cx="24840" cy="18720"/>
          </a:xfrm>
          <a:custGeom>
            <a:avLst/>
            <a:gdLst/>
            <a:ahLst/>
            <a:rect l="l" t="t" r="r" b="b"/>
            <a:pathLst>
              <a:path w="25026" h="18983">
                <a:moveTo>
                  <a:pt x="1317" y="0"/>
                </a:moveTo>
                <a:lnTo>
                  <a:pt x="0" y="4191"/>
                </a:lnTo>
                <a:lnTo>
                  <a:pt x="2634" y="5917"/>
                </a:lnTo>
                <a:lnTo>
                  <a:pt x="479" y="9245"/>
                </a:lnTo>
                <a:lnTo>
                  <a:pt x="20835" y="18983"/>
                </a:lnTo>
                <a:lnTo>
                  <a:pt x="25026" y="10847"/>
                </a:lnTo>
                <a:lnTo>
                  <a:pt x="1317" y="0"/>
                </a:lnTo>
                <a:close/>
              </a:path>
            </a:pathLst>
          </a:custGeom>
          <a:solidFill>
            <a:srgbClr val="ded5c5"/>
          </a:solidFill>
          <a:ln w="6191">
            <a:solidFill>
              <a:srgbClr val="b5a68d"/>
            </a:solidFill>
            <a:round/>
          </a:ln>
        </p:spPr>
        <p:style>
          <a:lnRef idx="0"/>
          <a:fillRef idx="0"/>
          <a:effectRef idx="0"/>
          <a:fontRef idx="minor"/>
        </p:style>
        <p:txBody>
          <a:bodyPr lIns="90000" rIns="90000" tIns="-26280" bIns="-26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36" name="ป่ากล้วยพัฒนา"/>
          <p:cNvSpPr/>
          <p:nvPr/>
        </p:nvSpPr>
        <p:spPr>
          <a:xfrm>
            <a:off x="5908320" y="3305880"/>
            <a:ext cx="8280" cy="14040"/>
          </a:xfrm>
          <a:custGeom>
            <a:avLst/>
            <a:gdLst/>
            <a:ahLst/>
            <a:rect l="l" t="t" r="r" b="b"/>
            <a:pathLst>
              <a:path w="8741" h="14545">
                <a:moveTo>
                  <a:pt x="0" y="13313"/>
                </a:moveTo>
                <a:lnTo>
                  <a:pt x="4430" y="14545"/>
                </a:lnTo>
                <a:lnTo>
                  <a:pt x="6945" y="4438"/>
                </a:lnTo>
                <a:lnTo>
                  <a:pt x="8741" y="4931"/>
                </a:lnTo>
                <a:lnTo>
                  <a:pt x="7903" y="1233"/>
                </a:lnTo>
                <a:lnTo>
                  <a:pt x="3113" y="0"/>
                </a:lnTo>
                <a:lnTo>
                  <a:pt x="0" y="13313"/>
                </a:lnTo>
                <a:close/>
              </a:path>
            </a:pathLst>
          </a:custGeom>
          <a:solidFill>
            <a:srgbClr val="ded5c5"/>
          </a:solidFill>
          <a:ln w="6191">
            <a:solidFill>
              <a:srgbClr val="b5a68d"/>
            </a:solidFill>
            <a:round/>
          </a:ln>
        </p:spPr>
        <p:style>
          <a:lnRef idx="0"/>
          <a:fillRef idx="0"/>
          <a:effectRef idx="0"/>
          <a:fontRef idx="minor"/>
        </p:style>
        <p:txBody>
          <a:bodyPr lIns="90000" rIns="90000" tIns="-30960" bIns="-30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37" name="หมู่บ้านวิภาลัย"/>
          <p:cNvSpPr/>
          <p:nvPr/>
        </p:nvSpPr>
        <p:spPr>
          <a:xfrm>
            <a:off x="5776920" y="3205080"/>
            <a:ext cx="24480" cy="29880"/>
          </a:xfrm>
          <a:custGeom>
            <a:avLst/>
            <a:gdLst/>
            <a:ahLst/>
            <a:rect l="l" t="t" r="r" b="b"/>
            <a:pathLst>
              <a:path w="24786" h="30323">
                <a:moveTo>
                  <a:pt x="24786" y="3575"/>
                </a:moveTo>
                <a:lnTo>
                  <a:pt x="6226" y="0"/>
                </a:lnTo>
                <a:lnTo>
                  <a:pt x="1916" y="6903"/>
                </a:lnTo>
                <a:lnTo>
                  <a:pt x="0" y="17380"/>
                </a:lnTo>
                <a:lnTo>
                  <a:pt x="6945" y="18366"/>
                </a:lnTo>
                <a:lnTo>
                  <a:pt x="4311" y="28844"/>
                </a:lnTo>
                <a:lnTo>
                  <a:pt x="18799" y="30323"/>
                </a:lnTo>
                <a:lnTo>
                  <a:pt x="24786" y="3575"/>
                </a:lnTo>
                <a:close/>
              </a:path>
            </a:pathLst>
          </a:custGeom>
          <a:solidFill>
            <a:srgbClr val="ded5c5"/>
          </a:solidFill>
          <a:ln w="6191">
            <a:solidFill>
              <a:srgbClr val="b5a68d"/>
            </a:solidFill>
            <a:round/>
          </a:ln>
        </p:spPr>
        <p:style>
          <a:lnRef idx="0"/>
          <a:fillRef idx="0"/>
          <a:effectRef idx="0"/>
          <a:fontRef idx="minor"/>
        </p:style>
        <p:txBody>
          <a:bodyPr lIns="90000" rIns="90000" tIns="-15120" bIns="-15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38" name="หมู่บ้านเจริญสุข"/>
          <p:cNvSpPr/>
          <p:nvPr/>
        </p:nvSpPr>
        <p:spPr>
          <a:xfrm>
            <a:off x="5728680" y="3321720"/>
            <a:ext cx="17280" cy="24480"/>
          </a:xfrm>
          <a:custGeom>
            <a:avLst/>
            <a:gdLst/>
            <a:ahLst/>
            <a:rect l="l" t="t" r="r" b="b"/>
            <a:pathLst>
              <a:path w="17721" h="24776">
                <a:moveTo>
                  <a:pt x="0" y="24160"/>
                </a:moveTo>
                <a:lnTo>
                  <a:pt x="9579" y="24776"/>
                </a:lnTo>
                <a:lnTo>
                  <a:pt x="17721" y="2589"/>
                </a:lnTo>
                <a:lnTo>
                  <a:pt x="7184" y="0"/>
                </a:lnTo>
                <a:lnTo>
                  <a:pt x="0" y="24160"/>
                </a:lnTo>
                <a:close/>
              </a:path>
            </a:pathLst>
          </a:custGeom>
          <a:solidFill>
            <a:srgbClr val="ded5c5"/>
          </a:solidFill>
          <a:ln w="6191">
            <a:solidFill>
              <a:srgbClr val="b5a68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39" name="หมู่บ้านทับแก้วสามัคคี"/>
          <p:cNvSpPr/>
          <p:nvPr/>
        </p:nvSpPr>
        <p:spPr>
          <a:xfrm>
            <a:off x="5981760" y="3218760"/>
            <a:ext cx="45720" cy="19800"/>
          </a:xfrm>
          <a:custGeom>
            <a:avLst/>
            <a:gdLst/>
            <a:ahLst/>
            <a:rect l="l" t="t" r="r" b="b"/>
            <a:pathLst>
              <a:path w="46100" h="20215">
                <a:moveTo>
                  <a:pt x="1916" y="0"/>
                </a:moveTo>
                <a:lnTo>
                  <a:pt x="0" y="8629"/>
                </a:lnTo>
                <a:lnTo>
                  <a:pt x="43945" y="20215"/>
                </a:lnTo>
                <a:lnTo>
                  <a:pt x="46100" y="12080"/>
                </a:lnTo>
                <a:lnTo>
                  <a:pt x="1916" y="0"/>
                </a:lnTo>
                <a:close/>
              </a:path>
            </a:pathLst>
          </a:custGeom>
          <a:solidFill>
            <a:srgbClr val="ded5c5"/>
          </a:solidFill>
          <a:ln w="6191">
            <a:solidFill>
              <a:srgbClr val="b5a68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40" name="ธนินทร 1"/>
          <p:cNvSpPr/>
          <p:nvPr/>
        </p:nvSpPr>
        <p:spPr>
          <a:xfrm>
            <a:off x="6201000" y="2936520"/>
            <a:ext cx="57600" cy="113400"/>
          </a:xfrm>
          <a:custGeom>
            <a:avLst/>
            <a:gdLst/>
            <a:ahLst/>
            <a:rect l="l" t="t" r="r" b="b"/>
            <a:pathLst>
              <a:path w="57954" h="113650">
                <a:moveTo>
                  <a:pt x="599" y="4684"/>
                </a:moveTo>
                <a:lnTo>
                  <a:pt x="0" y="8382"/>
                </a:lnTo>
                <a:lnTo>
                  <a:pt x="2155" y="18120"/>
                </a:lnTo>
                <a:lnTo>
                  <a:pt x="17003" y="40431"/>
                </a:lnTo>
                <a:lnTo>
                  <a:pt x="19877" y="51771"/>
                </a:lnTo>
                <a:lnTo>
                  <a:pt x="25026" y="78027"/>
                </a:lnTo>
                <a:lnTo>
                  <a:pt x="23469" y="95653"/>
                </a:lnTo>
                <a:lnTo>
                  <a:pt x="25744" y="99475"/>
                </a:lnTo>
                <a:lnTo>
                  <a:pt x="33048" y="104652"/>
                </a:lnTo>
                <a:lnTo>
                  <a:pt x="49333" y="113650"/>
                </a:lnTo>
                <a:lnTo>
                  <a:pt x="57954" y="97009"/>
                </a:lnTo>
                <a:lnTo>
                  <a:pt x="31731" y="0"/>
                </a:lnTo>
                <a:lnTo>
                  <a:pt x="599" y="468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41" name="ธนินทร 2"/>
          <p:cNvSpPr/>
          <p:nvPr/>
        </p:nvSpPr>
        <p:spPr>
          <a:xfrm>
            <a:off x="6208200" y="3027600"/>
            <a:ext cx="24120" cy="24120"/>
          </a:xfrm>
          <a:custGeom>
            <a:avLst/>
            <a:gdLst/>
            <a:ahLst/>
            <a:rect l="l" t="t" r="r" b="b"/>
            <a:pathLst>
              <a:path w="24427" h="24653">
                <a:moveTo>
                  <a:pt x="2993" y="24653"/>
                </a:moveTo>
                <a:lnTo>
                  <a:pt x="24427" y="22064"/>
                </a:lnTo>
                <a:lnTo>
                  <a:pt x="19278" y="10971"/>
                </a:lnTo>
                <a:lnTo>
                  <a:pt x="14129" y="4314"/>
                </a:lnTo>
                <a:lnTo>
                  <a:pt x="0" y="0"/>
                </a:lnTo>
                <a:lnTo>
                  <a:pt x="2993" y="24653"/>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42" name="อยู่เจริญวิภาวดี"/>
          <p:cNvSpPr/>
          <p:nvPr/>
        </p:nvSpPr>
        <p:spPr>
          <a:xfrm>
            <a:off x="6233400" y="2935800"/>
            <a:ext cx="40680" cy="97920"/>
          </a:xfrm>
          <a:custGeom>
            <a:avLst/>
            <a:gdLst/>
            <a:ahLst/>
            <a:rect l="l" t="t" r="r" b="b"/>
            <a:pathLst>
              <a:path w="41191" h="98119">
                <a:moveTo>
                  <a:pt x="17961" y="15655"/>
                </a:moveTo>
                <a:lnTo>
                  <a:pt x="11016" y="0"/>
                </a:lnTo>
                <a:lnTo>
                  <a:pt x="0" y="1726"/>
                </a:lnTo>
                <a:lnTo>
                  <a:pt x="25984" y="98119"/>
                </a:lnTo>
                <a:lnTo>
                  <a:pt x="41191" y="71370"/>
                </a:lnTo>
                <a:lnTo>
                  <a:pt x="17961" y="1565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43" name="เจษฎา 1"/>
          <p:cNvSpPr/>
          <p:nvPr/>
        </p:nvSpPr>
        <p:spPr>
          <a:xfrm>
            <a:off x="6364800" y="3130200"/>
            <a:ext cx="32760" cy="15480"/>
          </a:xfrm>
          <a:custGeom>
            <a:avLst/>
            <a:gdLst/>
            <a:ahLst/>
            <a:rect l="l" t="t" r="r" b="b"/>
            <a:pathLst>
              <a:path w="33048" h="15901">
                <a:moveTo>
                  <a:pt x="359" y="0"/>
                </a:moveTo>
                <a:lnTo>
                  <a:pt x="0" y="8998"/>
                </a:lnTo>
                <a:lnTo>
                  <a:pt x="33048" y="15901"/>
                </a:lnTo>
                <a:lnTo>
                  <a:pt x="32689" y="6410"/>
                </a:lnTo>
                <a:lnTo>
                  <a:pt x="359" y="0"/>
                </a:lnTo>
                <a:close/>
              </a:path>
            </a:pathLst>
          </a:custGeom>
          <a:solidFill>
            <a:srgbClr val="ded5c5"/>
          </a:solidFill>
          <a:ln w="6191">
            <a:solidFill>
              <a:srgbClr val="b5a68d"/>
            </a:solidFill>
            <a:round/>
          </a:ln>
        </p:spPr>
        <p:style>
          <a:lnRef idx="0"/>
          <a:fillRef idx="0"/>
          <a:effectRef idx="0"/>
          <a:fontRef idx="minor"/>
        </p:style>
        <p:txBody>
          <a:bodyPr lIns="90000" rIns="90000" tIns="-29520" bIns="-29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44" name="วังทอง"/>
          <p:cNvSpPr/>
          <p:nvPr/>
        </p:nvSpPr>
        <p:spPr>
          <a:xfrm>
            <a:off x="6239520" y="2858040"/>
            <a:ext cx="83880" cy="44640"/>
          </a:xfrm>
          <a:custGeom>
            <a:avLst/>
            <a:gdLst/>
            <a:ahLst/>
            <a:rect l="l" t="t" r="r" b="b"/>
            <a:pathLst>
              <a:path w="84417" h="44868">
                <a:moveTo>
                  <a:pt x="0" y="1109"/>
                </a:moveTo>
                <a:lnTo>
                  <a:pt x="1078" y="14915"/>
                </a:lnTo>
                <a:lnTo>
                  <a:pt x="26223" y="13559"/>
                </a:lnTo>
                <a:lnTo>
                  <a:pt x="28498" y="26625"/>
                </a:lnTo>
                <a:lnTo>
                  <a:pt x="46220" y="25516"/>
                </a:lnTo>
                <a:lnTo>
                  <a:pt x="50770" y="44868"/>
                </a:lnTo>
                <a:lnTo>
                  <a:pt x="61786" y="40308"/>
                </a:lnTo>
                <a:lnTo>
                  <a:pt x="65138" y="44745"/>
                </a:lnTo>
                <a:lnTo>
                  <a:pt x="77352" y="38089"/>
                </a:lnTo>
                <a:lnTo>
                  <a:pt x="83459" y="39568"/>
                </a:lnTo>
                <a:lnTo>
                  <a:pt x="84417" y="34637"/>
                </a:lnTo>
                <a:lnTo>
                  <a:pt x="18440" y="0"/>
                </a:lnTo>
                <a:lnTo>
                  <a:pt x="0" y="1109"/>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45" name="เคหะชุมชนทุ่งสองห้อง 301"/>
          <p:cNvSpPr/>
          <p:nvPr/>
        </p:nvSpPr>
        <p:spPr>
          <a:xfrm>
            <a:off x="5801760" y="3475800"/>
            <a:ext cx="14400" cy="17640"/>
          </a:xfrm>
          <a:custGeom>
            <a:avLst/>
            <a:gdLst/>
            <a:ahLst/>
            <a:rect l="l" t="t" r="r" b="b"/>
            <a:pathLst>
              <a:path w="14728" h="17873">
                <a:moveTo>
                  <a:pt x="5388" y="0"/>
                </a:moveTo>
                <a:lnTo>
                  <a:pt x="0" y="15408"/>
                </a:lnTo>
                <a:lnTo>
                  <a:pt x="7663" y="17873"/>
                </a:lnTo>
                <a:lnTo>
                  <a:pt x="11854" y="5300"/>
                </a:lnTo>
                <a:lnTo>
                  <a:pt x="13770" y="5793"/>
                </a:lnTo>
                <a:lnTo>
                  <a:pt x="14728" y="2342"/>
                </a:lnTo>
                <a:lnTo>
                  <a:pt x="5388" y="0"/>
                </a:lnTo>
                <a:close/>
              </a:path>
            </a:pathLst>
          </a:custGeom>
          <a:solidFill>
            <a:srgbClr val="ded5c5"/>
          </a:solidFill>
          <a:ln w="6191">
            <a:solidFill>
              <a:srgbClr val="b5a68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46" name="เคหะชุมชนทุ่งสองห้อง 304"/>
          <p:cNvSpPr/>
          <p:nvPr/>
        </p:nvSpPr>
        <p:spPr>
          <a:xfrm>
            <a:off x="5838840" y="3486600"/>
            <a:ext cx="16560" cy="16560"/>
          </a:xfrm>
          <a:custGeom>
            <a:avLst/>
            <a:gdLst/>
            <a:ahLst/>
            <a:rect l="l" t="t" r="r" b="b"/>
            <a:pathLst>
              <a:path w="16883" h="16764">
                <a:moveTo>
                  <a:pt x="4071" y="0"/>
                </a:moveTo>
                <a:lnTo>
                  <a:pt x="0" y="12326"/>
                </a:lnTo>
                <a:lnTo>
                  <a:pt x="13411" y="16764"/>
                </a:lnTo>
                <a:lnTo>
                  <a:pt x="16883" y="4314"/>
                </a:lnTo>
                <a:lnTo>
                  <a:pt x="4071" y="0"/>
                </a:lnTo>
                <a:close/>
              </a:path>
            </a:pathLst>
          </a:custGeom>
          <a:solidFill>
            <a:srgbClr val="ded5c5"/>
          </a:solidFill>
          <a:ln w="6191">
            <a:solidFill>
              <a:srgbClr val="b5a68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47" name="เคหะชุมชนทุ่งสองห้อง 305"/>
          <p:cNvSpPr/>
          <p:nvPr/>
        </p:nvSpPr>
        <p:spPr>
          <a:xfrm>
            <a:off x="5796000" y="3491640"/>
            <a:ext cx="15840" cy="14040"/>
          </a:xfrm>
          <a:custGeom>
            <a:avLst/>
            <a:gdLst/>
            <a:ahLst/>
            <a:rect l="l" t="t" r="r" b="b"/>
            <a:pathLst>
              <a:path w="16285" h="14422">
                <a:moveTo>
                  <a:pt x="5508" y="0"/>
                </a:moveTo>
                <a:lnTo>
                  <a:pt x="0" y="10477"/>
                </a:lnTo>
                <a:lnTo>
                  <a:pt x="13171" y="14422"/>
                </a:lnTo>
                <a:lnTo>
                  <a:pt x="16285" y="3205"/>
                </a:lnTo>
                <a:lnTo>
                  <a:pt x="5508" y="0"/>
                </a:lnTo>
                <a:close/>
              </a:path>
            </a:pathLst>
          </a:custGeom>
          <a:solidFill>
            <a:srgbClr val="ded5c5"/>
          </a:solidFill>
          <a:ln w="6191">
            <a:solidFill>
              <a:srgbClr val="b5a68d"/>
            </a:solidFill>
            <a:round/>
          </a:ln>
        </p:spPr>
        <p:style>
          <a:lnRef idx="0"/>
          <a:fillRef idx="0"/>
          <a:effectRef idx="0"/>
          <a:fontRef idx="minor"/>
        </p:style>
        <p:txBody>
          <a:bodyPr lIns="90000" rIns="90000" tIns="-30960" bIns="-30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48" name="เคหะชุมชนทุ่งสองห้อง 306"/>
          <p:cNvSpPr/>
          <p:nvPr/>
        </p:nvSpPr>
        <p:spPr>
          <a:xfrm>
            <a:off x="5809680" y="3495240"/>
            <a:ext cx="16560" cy="14400"/>
          </a:xfrm>
          <a:custGeom>
            <a:avLst/>
            <a:gdLst/>
            <a:ahLst/>
            <a:rect l="l" t="t" r="r" b="b"/>
            <a:pathLst>
              <a:path w="16764" h="14915">
                <a:moveTo>
                  <a:pt x="3113" y="0"/>
                </a:moveTo>
                <a:lnTo>
                  <a:pt x="0" y="10847"/>
                </a:lnTo>
                <a:lnTo>
                  <a:pt x="13411" y="14915"/>
                </a:lnTo>
                <a:lnTo>
                  <a:pt x="16764" y="3944"/>
                </a:lnTo>
                <a:lnTo>
                  <a:pt x="3113" y="0"/>
                </a:lnTo>
                <a:close/>
              </a:path>
            </a:pathLst>
          </a:custGeom>
          <a:solidFill>
            <a:srgbClr val="ded5c5"/>
          </a:solidFill>
          <a:ln w="6191">
            <a:solidFill>
              <a:srgbClr val="b5a68d"/>
            </a:solidFill>
            <a:round/>
          </a:ln>
        </p:spPr>
        <p:style>
          <a:lnRef idx="0"/>
          <a:fillRef idx="0"/>
          <a:effectRef idx="0"/>
          <a:fontRef idx="minor"/>
        </p:style>
        <p:txBody>
          <a:bodyPr lIns="90000" rIns="90000" tIns="-30600" bIns="-30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49" name="เคหะชุมชนทุ่งสองห้อง 307"/>
          <p:cNvSpPr/>
          <p:nvPr/>
        </p:nvSpPr>
        <p:spPr>
          <a:xfrm>
            <a:off x="5794200" y="3502800"/>
            <a:ext cx="27360" cy="11520"/>
          </a:xfrm>
          <a:custGeom>
            <a:avLst/>
            <a:gdLst/>
            <a:ahLst/>
            <a:rect l="l" t="t" r="r" b="b"/>
            <a:pathLst>
              <a:path w="27540" h="11833">
                <a:moveTo>
                  <a:pt x="1557" y="0"/>
                </a:moveTo>
                <a:lnTo>
                  <a:pt x="0" y="7396"/>
                </a:lnTo>
                <a:lnTo>
                  <a:pt x="26582" y="11833"/>
                </a:lnTo>
                <a:lnTo>
                  <a:pt x="27540" y="7766"/>
                </a:lnTo>
                <a:lnTo>
                  <a:pt x="1557" y="0"/>
                </a:lnTo>
                <a:close/>
              </a:path>
            </a:pathLst>
          </a:custGeom>
          <a:solidFill>
            <a:srgbClr val="ded5c5"/>
          </a:solidFill>
          <a:ln w="6191">
            <a:solidFill>
              <a:srgbClr val="b5a68d"/>
            </a:solidFill>
            <a:round/>
          </a:ln>
        </p:spPr>
        <p:style>
          <a:lnRef idx="0"/>
          <a:fillRef idx="0"/>
          <a:effectRef idx="0"/>
          <a:fontRef idx="minor"/>
        </p:style>
        <p:txBody>
          <a:bodyPr lIns="90000" rIns="90000" tIns="-33480" bIns="-33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50" name="เคหะชุมชนทุ่งสองห้อง 308"/>
          <p:cNvSpPr/>
          <p:nvPr/>
        </p:nvSpPr>
        <p:spPr>
          <a:xfrm>
            <a:off x="5823720" y="3499560"/>
            <a:ext cx="23760" cy="12240"/>
          </a:xfrm>
          <a:custGeom>
            <a:avLst/>
            <a:gdLst/>
            <a:ahLst/>
            <a:rect l="l" t="t" r="r" b="b"/>
            <a:pathLst>
              <a:path w="24068" h="12696">
                <a:moveTo>
                  <a:pt x="3233" y="0"/>
                </a:moveTo>
                <a:lnTo>
                  <a:pt x="0" y="10354"/>
                </a:lnTo>
                <a:lnTo>
                  <a:pt x="7304" y="12696"/>
                </a:lnTo>
                <a:lnTo>
                  <a:pt x="8502" y="11094"/>
                </a:lnTo>
                <a:lnTo>
                  <a:pt x="24068" y="6040"/>
                </a:lnTo>
                <a:lnTo>
                  <a:pt x="3233" y="0"/>
                </a:lnTo>
                <a:close/>
              </a:path>
            </a:pathLst>
          </a:custGeom>
          <a:solidFill>
            <a:srgbClr val="ded5c5"/>
          </a:solidFill>
          <a:ln w="6191">
            <a:solidFill>
              <a:srgbClr val="b5a68d"/>
            </a:solidFill>
            <a:round/>
          </a:ln>
        </p:spPr>
        <p:style>
          <a:lnRef idx="0"/>
          <a:fillRef idx="0"/>
          <a:effectRef idx="0"/>
          <a:fontRef idx="minor"/>
        </p:style>
        <p:txBody>
          <a:bodyPr lIns="90000" rIns="90000" tIns="-32760" bIns="-32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51" name="เคหะชุมชนทุ่งสองห้อง 311"/>
          <p:cNvSpPr/>
          <p:nvPr/>
        </p:nvSpPr>
        <p:spPr>
          <a:xfrm>
            <a:off x="5852880" y="3491280"/>
            <a:ext cx="19440" cy="18000"/>
          </a:xfrm>
          <a:custGeom>
            <a:avLst/>
            <a:gdLst/>
            <a:ahLst/>
            <a:rect l="l" t="t" r="r" b="b"/>
            <a:pathLst>
              <a:path w="19637" h="18243">
                <a:moveTo>
                  <a:pt x="3832" y="0"/>
                </a:moveTo>
                <a:lnTo>
                  <a:pt x="0" y="12573"/>
                </a:lnTo>
                <a:lnTo>
                  <a:pt x="14967" y="18243"/>
                </a:lnTo>
                <a:lnTo>
                  <a:pt x="19637" y="9491"/>
                </a:lnTo>
                <a:lnTo>
                  <a:pt x="3832" y="0"/>
                </a:lnTo>
                <a:close/>
              </a:path>
            </a:pathLst>
          </a:custGeom>
          <a:solidFill>
            <a:srgbClr val="ded5c5"/>
          </a:solidFill>
          <a:ln w="6191">
            <a:solidFill>
              <a:srgbClr val="b5a68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52" name="เคหะชุมชนทุ่งสองห้อง 316"/>
          <p:cNvSpPr/>
          <p:nvPr/>
        </p:nvSpPr>
        <p:spPr>
          <a:xfrm>
            <a:off x="5879520" y="3519360"/>
            <a:ext cx="18000" cy="16920"/>
          </a:xfrm>
          <a:custGeom>
            <a:avLst/>
            <a:gdLst/>
            <a:ahLst/>
            <a:rect l="l" t="t" r="r" b="b"/>
            <a:pathLst>
              <a:path w="18320" h="17134">
                <a:moveTo>
                  <a:pt x="5269" y="0"/>
                </a:moveTo>
                <a:lnTo>
                  <a:pt x="0" y="9861"/>
                </a:lnTo>
                <a:lnTo>
                  <a:pt x="13052" y="17134"/>
                </a:lnTo>
                <a:lnTo>
                  <a:pt x="18320" y="7396"/>
                </a:lnTo>
                <a:lnTo>
                  <a:pt x="5269" y="0"/>
                </a:lnTo>
                <a:close/>
              </a:path>
            </a:pathLst>
          </a:custGeom>
          <a:solidFill>
            <a:srgbClr val="ded5c5"/>
          </a:solidFill>
          <a:ln w="6191">
            <a:solidFill>
              <a:srgbClr val="b5a68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53" name="เคหะชุมชนทุ่งสองห้อง 317"/>
          <p:cNvSpPr/>
          <p:nvPr/>
        </p:nvSpPr>
        <p:spPr>
          <a:xfrm>
            <a:off x="5850360" y="3519360"/>
            <a:ext cx="17280" cy="14760"/>
          </a:xfrm>
          <a:custGeom>
            <a:avLst/>
            <a:gdLst/>
            <a:ahLst/>
            <a:rect l="l" t="t" r="r" b="b"/>
            <a:pathLst>
              <a:path w="17721" h="15038">
                <a:moveTo>
                  <a:pt x="0" y="8382"/>
                </a:moveTo>
                <a:lnTo>
                  <a:pt x="13650" y="15038"/>
                </a:lnTo>
                <a:lnTo>
                  <a:pt x="17721" y="6533"/>
                </a:lnTo>
                <a:lnTo>
                  <a:pt x="4191" y="0"/>
                </a:lnTo>
                <a:lnTo>
                  <a:pt x="0" y="8382"/>
                </a:lnTo>
                <a:close/>
              </a:path>
            </a:pathLst>
          </a:custGeom>
          <a:solidFill>
            <a:srgbClr val="ded5c5"/>
          </a:solidFill>
          <a:ln w="6191">
            <a:solidFill>
              <a:srgbClr val="b5a68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54" name="เคหะชุมชนทุ่งสองห้อง 320"/>
          <p:cNvSpPr/>
          <p:nvPr/>
        </p:nvSpPr>
        <p:spPr>
          <a:xfrm>
            <a:off x="5892840" y="3526920"/>
            <a:ext cx="18360" cy="15480"/>
          </a:xfrm>
          <a:custGeom>
            <a:avLst/>
            <a:gdLst/>
            <a:ahLst/>
            <a:rect l="l" t="t" r="r" b="b"/>
            <a:pathLst>
              <a:path w="18799" h="15901">
                <a:moveTo>
                  <a:pt x="0" y="9368"/>
                </a:moveTo>
                <a:lnTo>
                  <a:pt x="11735" y="15901"/>
                </a:lnTo>
                <a:lnTo>
                  <a:pt x="18799" y="7273"/>
                </a:lnTo>
                <a:lnTo>
                  <a:pt x="5029" y="0"/>
                </a:lnTo>
                <a:lnTo>
                  <a:pt x="0" y="9368"/>
                </a:lnTo>
                <a:close/>
              </a:path>
            </a:pathLst>
          </a:custGeom>
          <a:solidFill>
            <a:srgbClr val="ded5c5"/>
          </a:solidFill>
          <a:ln w="6191">
            <a:solidFill>
              <a:srgbClr val="b5a68d"/>
            </a:solidFill>
            <a:round/>
          </a:ln>
        </p:spPr>
        <p:style>
          <a:lnRef idx="0"/>
          <a:fillRef idx="0"/>
          <a:effectRef idx="0"/>
          <a:fontRef idx="minor"/>
        </p:style>
        <p:txBody>
          <a:bodyPr lIns="90000" rIns="90000" tIns="-29520" bIns="-29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55" name="เคหะชุมชนทุ่งสองห้อง 322"/>
          <p:cNvSpPr/>
          <p:nvPr/>
        </p:nvSpPr>
        <p:spPr>
          <a:xfrm>
            <a:off x="5890680" y="3538800"/>
            <a:ext cx="16200" cy="14040"/>
          </a:xfrm>
          <a:custGeom>
            <a:avLst/>
            <a:gdLst/>
            <a:ahLst/>
            <a:rect l="l" t="t" r="r" b="b"/>
            <a:pathLst>
              <a:path w="16404" h="14545">
                <a:moveTo>
                  <a:pt x="3951" y="0"/>
                </a:moveTo>
                <a:lnTo>
                  <a:pt x="0" y="8505"/>
                </a:lnTo>
                <a:lnTo>
                  <a:pt x="12812" y="14545"/>
                </a:lnTo>
                <a:lnTo>
                  <a:pt x="16404" y="7149"/>
                </a:lnTo>
                <a:lnTo>
                  <a:pt x="3951" y="0"/>
                </a:lnTo>
                <a:close/>
              </a:path>
            </a:pathLst>
          </a:custGeom>
          <a:solidFill>
            <a:srgbClr val="ded5c5"/>
          </a:solidFill>
          <a:ln w="6191">
            <a:solidFill>
              <a:srgbClr val="b5a68d"/>
            </a:solidFill>
            <a:round/>
          </a:ln>
        </p:spPr>
        <p:style>
          <a:lnRef idx="0"/>
          <a:fillRef idx="0"/>
          <a:effectRef idx="0"/>
          <a:fontRef idx="minor"/>
        </p:style>
        <p:txBody>
          <a:bodyPr lIns="90000" rIns="90000" tIns="-30960" bIns="-30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56" name="ทับช้างนาลุ่ม"/>
          <p:cNvSpPr/>
          <p:nvPr/>
        </p:nvSpPr>
        <p:spPr>
          <a:xfrm>
            <a:off x="7153920" y="5360400"/>
            <a:ext cx="69840" cy="154440"/>
          </a:xfrm>
          <a:custGeom>
            <a:avLst/>
            <a:gdLst/>
            <a:ahLst/>
            <a:rect l="l" t="t" r="r" b="b"/>
            <a:pathLst>
              <a:path w="70168" h="154697">
                <a:moveTo>
                  <a:pt x="60109" y="30693"/>
                </a:moveTo>
                <a:lnTo>
                  <a:pt x="66456" y="28844"/>
                </a:lnTo>
                <a:lnTo>
                  <a:pt x="66575" y="20339"/>
                </a:lnTo>
                <a:lnTo>
                  <a:pt x="64899" y="18613"/>
                </a:lnTo>
                <a:lnTo>
                  <a:pt x="70168" y="7889"/>
                </a:lnTo>
                <a:lnTo>
                  <a:pt x="59271" y="986"/>
                </a:lnTo>
                <a:lnTo>
                  <a:pt x="60109" y="0"/>
                </a:lnTo>
                <a:lnTo>
                  <a:pt x="55919" y="123"/>
                </a:lnTo>
                <a:lnTo>
                  <a:pt x="52925" y="22434"/>
                </a:lnTo>
                <a:lnTo>
                  <a:pt x="31013" y="50539"/>
                </a:lnTo>
                <a:lnTo>
                  <a:pt x="13650" y="54730"/>
                </a:lnTo>
                <a:lnTo>
                  <a:pt x="3832" y="74329"/>
                </a:lnTo>
                <a:lnTo>
                  <a:pt x="13531" y="75315"/>
                </a:lnTo>
                <a:lnTo>
                  <a:pt x="8382" y="110938"/>
                </a:lnTo>
                <a:lnTo>
                  <a:pt x="10896" y="111555"/>
                </a:lnTo>
                <a:lnTo>
                  <a:pt x="9579" y="117841"/>
                </a:lnTo>
                <a:lnTo>
                  <a:pt x="3113" y="117471"/>
                </a:lnTo>
                <a:lnTo>
                  <a:pt x="0" y="144836"/>
                </a:lnTo>
                <a:lnTo>
                  <a:pt x="35682" y="154697"/>
                </a:lnTo>
                <a:lnTo>
                  <a:pt x="37838" y="146069"/>
                </a:lnTo>
                <a:lnTo>
                  <a:pt x="13531" y="141631"/>
                </a:lnTo>
                <a:lnTo>
                  <a:pt x="13770" y="139536"/>
                </a:lnTo>
                <a:lnTo>
                  <a:pt x="6825" y="138180"/>
                </a:lnTo>
                <a:lnTo>
                  <a:pt x="9938" y="120553"/>
                </a:lnTo>
                <a:lnTo>
                  <a:pt x="16764" y="94297"/>
                </a:lnTo>
                <a:lnTo>
                  <a:pt x="24547" y="77410"/>
                </a:lnTo>
                <a:lnTo>
                  <a:pt x="34006" y="79259"/>
                </a:lnTo>
                <a:lnTo>
                  <a:pt x="44184" y="62988"/>
                </a:lnTo>
                <a:lnTo>
                  <a:pt x="52925" y="42403"/>
                </a:lnTo>
                <a:lnTo>
                  <a:pt x="60109" y="3069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57" name="บ้านม้าเกาะบน"/>
          <p:cNvSpPr/>
          <p:nvPr/>
        </p:nvSpPr>
        <p:spPr>
          <a:xfrm>
            <a:off x="6981480" y="5482440"/>
            <a:ext cx="69480" cy="80640"/>
          </a:xfrm>
          <a:custGeom>
            <a:avLst/>
            <a:gdLst/>
            <a:ahLst/>
            <a:rect l="l" t="t" r="r" b="b"/>
            <a:pathLst>
              <a:path w="69808" h="80985">
                <a:moveTo>
                  <a:pt x="53164" y="42896"/>
                </a:moveTo>
                <a:lnTo>
                  <a:pt x="57236" y="27858"/>
                </a:lnTo>
                <a:lnTo>
                  <a:pt x="69808" y="26132"/>
                </a:lnTo>
                <a:lnTo>
                  <a:pt x="69569" y="22188"/>
                </a:lnTo>
                <a:lnTo>
                  <a:pt x="55320" y="24653"/>
                </a:lnTo>
                <a:lnTo>
                  <a:pt x="54601" y="1479"/>
                </a:lnTo>
                <a:lnTo>
                  <a:pt x="41071" y="0"/>
                </a:lnTo>
                <a:lnTo>
                  <a:pt x="39394" y="10601"/>
                </a:lnTo>
                <a:lnTo>
                  <a:pt x="32330" y="24776"/>
                </a:lnTo>
                <a:lnTo>
                  <a:pt x="24187" y="29584"/>
                </a:lnTo>
                <a:lnTo>
                  <a:pt x="17123" y="36979"/>
                </a:lnTo>
                <a:lnTo>
                  <a:pt x="16045" y="42280"/>
                </a:lnTo>
                <a:lnTo>
                  <a:pt x="6945" y="40677"/>
                </a:lnTo>
                <a:lnTo>
                  <a:pt x="5508" y="46594"/>
                </a:lnTo>
                <a:lnTo>
                  <a:pt x="958" y="45978"/>
                </a:lnTo>
                <a:lnTo>
                  <a:pt x="0" y="49552"/>
                </a:lnTo>
                <a:lnTo>
                  <a:pt x="9938" y="53250"/>
                </a:lnTo>
                <a:lnTo>
                  <a:pt x="3951" y="74205"/>
                </a:lnTo>
                <a:lnTo>
                  <a:pt x="46579" y="80985"/>
                </a:lnTo>
                <a:lnTo>
                  <a:pt x="53164" y="42896"/>
                </a:lnTo>
                <a:close/>
              </a:path>
            </a:pathLst>
          </a:custGeom>
          <a:solidFill>
            <a:srgbClr val="ded5c5"/>
          </a:solidFill>
          <a:ln w="6191">
            <a:solidFill>
              <a:srgbClr val="b5a68d"/>
            </a:solidFill>
            <a:round/>
          </a:ln>
        </p:spPr>
        <p:style>
          <a:lnRef idx="0"/>
          <a:fillRef idx="0"/>
          <a:effectRef idx="0"/>
          <a:fontRef idx="minor"/>
        </p:style>
        <p:txBody>
          <a:bodyPr lIns="90000" rIns="90000" tIns="35640" bIns="35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58" name="มุสลิมสัมพันธ์"/>
          <p:cNvSpPr/>
          <p:nvPr/>
        </p:nvSpPr>
        <p:spPr>
          <a:xfrm>
            <a:off x="7268040" y="5233320"/>
            <a:ext cx="37800" cy="57960"/>
          </a:xfrm>
          <a:custGeom>
            <a:avLst/>
            <a:gdLst/>
            <a:ahLst/>
            <a:rect l="l" t="t" r="r" b="b"/>
            <a:pathLst>
              <a:path w="38197" h="58427">
                <a:moveTo>
                  <a:pt x="0" y="24283"/>
                </a:moveTo>
                <a:lnTo>
                  <a:pt x="13052" y="48813"/>
                </a:lnTo>
                <a:lnTo>
                  <a:pt x="15087" y="47950"/>
                </a:lnTo>
                <a:lnTo>
                  <a:pt x="38197" y="58427"/>
                </a:lnTo>
                <a:lnTo>
                  <a:pt x="22511" y="0"/>
                </a:lnTo>
                <a:lnTo>
                  <a:pt x="8142" y="8752"/>
                </a:lnTo>
                <a:lnTo>
                  <a:pt x="5388" y="17257"/>
                </a:lnTo>
                <a:lnTo>
                  <a:pt x="0" y="24283"/>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59" name="สวนนกพัฒนา"/>
          <p:cNvSpPr/>
          <p:nvPr/>
        </p:nvSpPr>
        <p:spPr>
          <a:xfrm>
            <a:off x="7290720" y="5207760"/>
            <a:ext cx="74520" cy="41760"/>
          </a:xfrm>
          <a:custGeom>
            <a:avLst/>
            <a:gdLst/>
            <a:ahLst/>
            <a:rect l="l" t="t" r="r" b="b"/>
            <a:pathLst>
              <a:path w="74837" h="42157">
                <a:moveTo>
                  <a:pt x="66456" y="27488"/>
                </a:moveTo>
                <a:lnTo>
                  <a:pt x="74837" y="27488"/>
                </a:lnTo>
                <a:lnTo>
                  <a:pt x="74718" y="9738"/>
                </a:lnTo>
                <a:lnTo>
                  <a:pt x="67294" y="10108"/>
                </a:lnTo>
                <a:lnTo>
                  <a:pt x="51249" y="2096"/>
                </a:lnTo>
                <a:lnTo>
                  <a:pt x="42388" y="0"/>
                </a:lnTo>
                <a:lnTo>
                  <a:pt x="31971" y="4931"/>
                </a:lnTo>
                <a:lnTo>
                  <a:pt x="11495" y="8875"/>
                </a:lnTo>
                <a:lnTo>
                  <a:pt x="7903" y="11587"/>
                </a:lnTo>
                <a:lnTo>
                  <a:pt x="5748" y="17257"/>
                </a:lnTo>
                <a:lnTo>
                  <a:pt x="0" y="24776"/>
                </a:lnTo>
                <a:lnTo>
                  <a:pt x="9220" y="39075"/>
                </a:lnTo>
                <a:lnTo>
                  <a:pt x="22032" y="42157"/>
                </a:lnTo>
                <a:lnTo>
                  <a:pt x="35323" y="28967"/>
                </a:lnTo>
                <a:lnTo>
                  <a:pt x="41550" y="27118"/>
                </a:lnTo>
                <a:lnTo>
                  <a:pt x="42268" y="29584"/>
                </a:lnTo>
                <a:lnTo>
                  <a:pt x="66456" y="27488"/>
                </a:lnTo>
                <a:close/>
              </a:path>
            </a:pathLst>
          </a:custGeom>
          <a:solidFill>
            <a:srgbClr val="ded5c5"/>
          </a:solidFill>
          <a:ln w="6191">
            <a:solidFill>
              <a:srgbClr val="b5a68d"/>
            </a:solidFill>
            <a:round/>
          </a:ln>
        </p:spPr>
        <p:style>
          <a:lnRef idx="0"/>
          <a:fillRef idx="0"/>
          <a:effectRef idx="0"/>
          <a:fontRef idx="minor"/>
        </p:style>
        <p:txBody>
          <a:bodyPr lIns="90000" rIns="90000" tIns="-3240" bIns="-3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60" name="สะพานสูงหมู่ 14 พัฒนา"/>
          <p:cNvSpPr/>
          <p:nvPr/>
        </p:nvSpPr>
        <p:spPr>
          <a:xfrm>
            <a:off x="7352280" y="5216400"/>
            <a:ext cx="62280" cy="118800"/>
          </a:xfrm>
          <a:custGeom>
            <a:avLst/>
            <a:gdLst/>
            <a:ahLst/>
            <a:rect l="l" t="t" r="r" b="b"/>
            <a:pathLst>
              <a:path w="62504" h="119074">
                <a:moveTo>
                  <a:pt x="1078" y="95037"/>
                </a:moveTo>
                <a:lnTo>
                  <a:pt x="0" y="97872"/>
                </a:lnTo>
                <a:lnTo>
                  <a:pt x="5149" y="119074"/>
                </a:lnTo>
                <a:lnTo>
                  <a:pt x="23230" y="98858"/>
                </a:lnTo>
                <a:lnTo>
                  <a:pt x="41909" y="58674"/>
                </a:lnTo>
                <a:lnTo>
                  <a:pt x="62504" y="26255"/>
                </a:lnTo>
                <a:lnTo>
                  <a:pt x="61307" y="13559"/>
                </a:lnTo>
                <a:lnTo>
                  <a:pt x="59391" y="11217"/>
                </a:lnTo>
                <a:lnTo>
                  <a:pt x="42029" y="7149"/>
                </a:lnTo>
                <a:lnTo>
                  <a:pt x="27061" y="0"/>
                </a:lnTo>
                <a:lnTo>
                  <a:pt x="20595" y="370"/>
                </a:lnTo>
                <a:lnTo>
                  <a:pt x="21194" y="17011"/>
                </a:lnTo>
                <a:lnTo>
                  <a:pt x="4790" y="18860"/>
                </a:lnTo>
                <a:lnTo>
                  <a:pt x="10777" y="43636"/>
                </a:lnTo>
                <a:lnTo>
                  <a:pt x="8621" y="45361"/>
                </a:lnTo>
                <a:lnTo>
                  <a:pt x="10537" y="53250"/>
                </a:lnTo>
                <a:lnTo>
                  <a:pt x="29695" y="48813"/>
                </a:lnTo>
                <a:lnTo>
                  <a:pt x="32928" y="66933"/>
                </a:lnTo>
                <a:lnTo>
                  <a:pt x="27899" y="76671"/>
                </a:lnTo>
                <a:lnTo>
                  <a:pt x="16404" y="77287"/>
                </a:lnTo>
                <a:lnTo>
                  <a:pt x="16045" y="81355"/>
                </a:lnTo>
                <a:lnTo>
                  <a:pt x="4311" y="80615"/>
                </a:lnTo>
                <a:lnTo>
                  <a:pt x="1078" y="9503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61" name="รวมใจพัฒนาวังใหญ่"/>
          <p:cNvSpPr/>
          <p:nvPr/>
        </p:nvSpPr>
        <p:spPr>
          <a:xfrm>
            <a:off x="7058520" y="5401800"/>
            <a:ext cx="127080" cy="89280"/>
          </a:xfrm>
          <a:custGeom>
            <a:avLst/>
            <a:gdLst/>
            <a:ahLst/>
            <a:rect l="l" t="t" r="r" b="b"/>
            <a:pathLst>
              <a:path w="127283" h="89613">
                <a:moveTo>
                  <a:pt x="109203" y="13189"/>
                </a:moveTo>
                <a:lnTo>
                  <a:pt x="126565" y="8998"/>
                </a:lnTo>
                <a:lnTo>
                  <a:pt x="127283" y="5424"/>
                </a:lnTo>
                <a:lnTo>
                  <a:pt x="124170" y="1479"/>
                </a:lnTo>
                <a:lnTo>
                  <a:pt x="92918" y="0"/>
                </a:lnTo>
                <a:lnTo>
                  <a:pt x="85375" y="7889"/>
                </a:lnTo>
                <a:lnTo>
                  <a:pt x="64420" y="11340"/>
                </a:lnTo>
                <a:lnTo>
                  <a:pt x="35563" y="22434"/>
                </a:lnTo>
                <a:lnTo>
                  <a:pt x="14489" y="12943"/>
                </a:lnTo>
                <a:lnTo>
                  <a:pt x="3113" y="59167"/>
                </a:lnTo>
                <a:lnTo>
                  <a:pt x="1557" y="80369"/>
                </a:lnTo>
                <a:lnTo>
                  <a:pt x="0" y="83820"/>
                </a:lnTo>
                <a:lnTo>
                  <a:pt x="35802" y="89613"/>
                </a:lnTo>
                <a:lnTo>
                  <a:pt x="39155" y="61016"/>
                </a:lnTo>
                <a:lnTo>
                  <a:pt x="103934" y="69398"/>
                </a:lnTo>
                <a:lnTo>
                  <a:pt x="109083" y="33775"/>
                </a:lnTo>
                <a:lnTo>
                  <a:pt x="99384" y="32788"/>
                </a:lnTo>
                <a:lnTo>
                  <a:pt x="109203" y="13189"/>
                </a:lnTo>
                <a:close/>
              </a:path>
            </a:pathLst>
          </a:custGeom>
          <a:solidFill>
            <a:srgbClr val="ded5c5"/>
          </a:solidFill>
          <a:ln w="6191">
            <a:solidFill>
              <a:srgbClr val="b5a68d"/>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62" name="วังใหญ่พัฒนา"/>
          <p:cNvSpPr/>
          <p:nvPr/>
        </p:nvSpPr>
        <p:spPr>
          <a:xfrm>
            <a:off x="6973920" y="5328720"/>
            <a:ext cx="121320" cy="154440"/>
          </a:xfrm>
          <a:custGeom>
            <a:avLst/>
            <a:gdLst/>
            <a:ahLst/>
            <a:rect l="l" t="t" r="r" b="b"/>
            <a:pathLst>
              <a:path w="121536" h="154944">
                <a:moveTo>
                  <a:pt x="0" y="133496"/>
                </a:moveTo>
                <a:lnTo>
                  <a:pt x="18200" y="143234"/>
                </a:lnTo>
                <a:lnTo>
                  <a:pt x="33048" y="149027"/>
                </a:lnTo>
                <a:lnTo>
                  <a:pt x="83339" y="154944"/>
                </a:lnTo>
                <a:lnTo>
                  <a:pt x="98785" y="87888"/>
                </a:lnTo>
                <a:lnTo>
                  <a:pt x="98067" y="85915"/>
                </a:lnTo>
                <a:lnTo>
                  <a:pt x="108005" y="57072"/>
                </a:lnTo>
                <a:lnTo>
                  <a:pt x="101060" y="45238"/>
                </a:lnTo>
                <a:lnTo>
                  <a:pt x="97349" y="42896"/>
                </a:lnTo>
                <a:lnTo>
                  <a:pt x="121536" y="11957"/>
                </a:lnTo>
                <a:lnTo>
                  <a:pt x="91960" y="0"/>
                </a:lnTo>
                <a:lnTo>
                  <a:pt x="86213" y="16764"/>
                </a:lnTo>
                <a:lnTo>
                  <a:pt x="76873" y="33651"/>
                </a:lnTo>
                <a:lnTo>
                  <a:pt x="48974" y="21325"/>
                </a:lnTo>
                <a:lnTo>
                  <a:pt x="45381" y="29337"/>
                </a:lnTo>
                <a:lnTo>
                  <a:pt x="66935" y="40061"/>
                </a:lnTo>
                <a:lnTo>
                  <a:pt x="67054" y="54236"/>
                </a:lnTo>
                <a:lnTo>
                  <a:pt x="58673" y="68412"/>
                </a:lnTo>
                <a:lnTo>
                  <a:pt x="48854" y="73589"/>
                </a:lnTo>
                <a:lnTo>
                  <a:pt x="26463" y="75685"/>
                </a:lnTo>
                <a:lnTo>
                  <a:pt x="14129" y="71000"/>
                </a:lnTo>
                <a:lnTo>
                  <a:pt x="9340" y="91955"/>
                </a:lnTo>
                <a:lnTo>
                  <a:pt x="7783" y="91586"/>
                </a:lnTo>
                <a:lnTo>
                  <a:pt x="0" y="13349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63" name="หมู่บ้านเปรมฤทัย"/>
          <p:cNvSpPr/>
          <p:nvPr/>
        </p:nvSpPr>
        <p:spPr>
          <a:xfrm>
            <a:off x="5996160" y="5898600"/>
            <a:ext cx="23040" cy="33840"/>
          </a:xfrm>
          <a:custGeom>
            <a:avLst/>
            <a:gdLst/>
            <a:ahLst/>
            <a:rect l="l" t="t" r="r" b="b"/>
            <a:pathLst>
              <a:path w="23349" h="34268">
                <a:moveTo>
                  <a:pt x="5628" y="28474"/>
                </a:moveTo>
                <a:lnTo>
                  <a:pt x="9699" y="34268"/>
                </a:lnTo>
                <a:lnTo>
                  <a:pt x="13890" y="31679"/>
                </a:lnTo>
                <a:lnTo>
                  <a:pt x="9459" y="22927"/>
                </a:lnTo>
                <a:lnTo>
                  <a:pt x="8023" y="23790"/>
                </a:lnTo>
                <a:lnTo>
                  <a:pt x="5508" y="20092"/>
                </a:lnTo>
                <a:lnTo>
                  <a:pt x="9938" y="15778"/>
                </a:lnTo>
                <a:lnTo>
                  <a:pt x="16524" y="27118"/>
                </a:lnTo>
                <a:lnTo>
                  <a:pt x="17841" y="26255"/>
                </a:lnTo>
                <a:lnTo>
                  <a:pt x="19518" y="28228"/>
                </a:lnTo>
                <a:lnTo>
                  <a:pt x="23349" y="25886"/>
                </a:lnTo>
                <a:lnTo>
                  <a:pt x="17362" y="15901"/>
                </a:lnTo>
                <a:lnTo>
                  <a:pt x="22870" y="12573"/>
                </a:lnTo>
                <a:lnTo>
                  <a:pt x="16045" y="0"/>
                </a:lnTo>
                <a:lnTo>
                  <a:pt x="4909" y="11957"/>
                </a:lnTo>
                <a:lnTo>
                  <a:pt x="0" y="21078"/>
                </a:lnTo>
                <a:lnTo>
                  <a:pt x="5628" y="28474"/>
                </a:lnTo>
                <a:close/>
              </a:path>
            </a:pathLst>
          </a:custGeom>
          <a:solidFill>
            <a:srgbClr val="ded5c5"/>
          </a:solidFill>
          <a:ln w="6191">
            <a:solidFill>
              <a:srgbClr val="b5a68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64" name="สวนไทร"/>
          <p:cNvSpPr/>
          <p:nvPr/>
        </p:nvSpPr>
        <p:spPr>
          <a:xfrm>
            <a:off x="5971320" y="5939280"/>
            <a:ext cx="19440" cy="34200"/>
          </a:xfrm>
          <a:custGeom>
            <a:avLst/>
            <a:gdLst/>
            <a:ahLst/>
            <a:rect l="l" t="t" r="r" b="b"/>
            <a:pathLst>
              <a:path w="19757" h="34391">
                <a:moveTo>
                  <a:pt x="0" y="9738"/>
                </a:moveTo>
                <a:lnTo>
                  <a:pt x="3592" y="34391"/>
                </a:lnTo>
                <a:lnTo>
                  <a:pt x="12812" y="29830"/>
                </a:lnTo>
                <a:lnTo>
                  <a:pt x="11974" y="27858"/>
                </a:lnTo>
                <a:lnTo>
                  <a:pt x="16045" y="20955"/>
                </a:lnTo>
                <a:lnTo>
                  <a:pt x="17362" y="22188"/>
                </a:lnTo>
                <a:lnTo>
                  <a:pt x="9579" y="10354"/>
                </a:lnTo>
                <a:lnTo>
                  <a:pt x="11854" y="9491"/>
                </a:lnTo>
                <a:lnTo>
                  <a:pt x="13291" y="11710"/>
                </a:lnTo>
                <a:lnTo>
                  <a:pt x="19757" y="8505"/>
                </a:lnTo>
                <a:lnTo>
                  <a:pt x="15207" y="0"/>
                </a:lnTo>
                <a:lnTo>
                  <a:pt x="7663" y="4561"/>
                </a:lnTo>
                <a:lnTo>
                  <a:pt x="6945" y="7642"/>
                </a:lnTo>
                <a:lnTo>
                  <a:pt x="0" y="9738"/>
                </a:lnTo>
                <a:close/>
              </a:path>
            </a:pathLst>
          </a:custGeom>
          <a:solidFill>
            <a:srgbClr val="ded5c5"/>
          </a:solidFill>
          <a:ln w="6191">
            <a:solidFill>
              <a:srgbClr val="b5a68d"/>
            </a:solidFill>
            <a:round/>
          </a:ln>
        </p:spPr>
        <p:style>
          <a:lnRef idx="0"/>
          <a:fillRef idx="0"/>
          <a:effectRef idx="0"/>
          <a:fontRef idx="minor"/>
        </p:style>
        <p:txBody>
          <a:bodyPr lIns="90000" rIns="90000" tIns="-10800" bIns="-10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65" name="ประสาทศีล"/>
          <p:cNvSpPr/>
          <p:nvPr/>
        </p:nvSpPr>
        <p:spPr>
          <a:xfrm>
            <a:off x="6231240" y="5611680"/>
            <a:ext cx="54360" cy="67320"/>
          </a:xfrm>
          <a:custGeom>
            <a:avLst/>
            <a:gdLst/>
            <a:ahLst/>
            <a:rect l="l" t="t" r="r" b="b"/>
            <a:pathLst>
              <a:path w="54601" h="67796">
                <a:moveTo>
                  <a:pt x="37479" y="37103"/>
                </a:moveTo>
                <a:lnTo>
                  <a:pt x="39634" y="34021"/>
                </a:lnTo>
                <a:lnTo>
                  <a:pt x="45142" y="34761"/>
                </a:lnTo>
                <a:lnTo>
                  <a:pt x="45022" y="15655"/>
                </a:lnTo>
                <a:lnTo>
                  <a:pt x="41430" y="14299"/>
                </a:lnTo>
                <a:lnTo>
                  <a:pt x="41909" y="12326"/>
                </a:lnTo>
                <a:lnTo>
                  <a:pt x="46818" y="9122"/>
                </a:lnTo>
                <a:lnTo>
                  <a:pt x="52686" y="9491"/>
                </a:lnTo>
                <a:lnTo>
                  <a:pt x="54601" y="3575"/>
                </a:lnTo>
                <a:lnTo>
                  <a:pt x="50410" y="0"/>
                </a:lnTo>
                <a:lnTo>
                  <a:pt x="40831" y="6533"/>
                </a:lnTo>
                <a:lnTo>
                  <a:pt x="35802" y="15778"/>
                </a:lnTo>
                <a:lnTo>
                  <a:pt x="22751" y="21202"/>
                </a:lnTo>
                <a:lnTo>
                  <a:pt x="14848" y="28104"/>
                </a:lnTo>
                <a:lnTo>
                  <a:pt x="5987" y="32419"/>
                </a:lnTo>
                <a:lnTo>
                  <a:pt x="6346" y="35130"/>
                </a:lnTo>
                <a:lnTo>
                  <a:pt x="0" y="47950"/>
                </a:lnTo>
                <a:lnTo>
                  <a:pt x="8502" y="52018"/>
                </a:lnTo>
                <a:lnTo>
                  <a:pt x="18081" y="53867"/>
                </a:lnTo>
                <a:lnTo>
                  <a:pt x="19278" y="63974"/>
                </a:lnTo>
                <a:lnTo>
                  <a:pt x="34964" y="65947"/>
                </a:lnTo>
                <a:lnTo>
                  <a:pt x="34844" y="67303"/>
                </a:lnTo>
                <a:lnTo>
                  <a:pt x="39275" y="67796"/>
                </a:lnTo>
                <a:lnTo>
                  <a:pt x="35922" y="58058"/>
                </a:lnTo>
                <a:lnTo>
                  <a:pt x="37479" y="37103"/>
                </a:lnTo>
                <a:close/>
              </a:path>
            </a:pathLst>
          </a:custGeom>
          <a:solidFill>
            <a:srgbClr val="ded5c5"/>
          </a:solidFill>
          <a:ln w="6191">
            <a:solidFill>
              <a:srgbClr val="b5a68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66" name="ร่วมพัฒนาบ้านป่า"/>
          <p:cNvSpPr/>
          <p:nvPr/>
        </p:nvSpPr>
        <p:spPr>
          <a:xfrm>
            <a:off x="6199920" y="5653440"/>
            <a:ext cx="49320" cy="45360"/>
          </a:xfrm>
          <a:custGeom>
            <a:avLst/>
            <a:gdLst/>
            <a:ahLst/>
            <a:rect l="l" t="t" r="r" b="b"/>
            <a:pathLst>
              <a:path w="49572" h="45608">
                <a:moveTo>
                  <a:pt x="44304" y="29830"/>
                </a:moveTo>
                <a:lnTo>
                  <a:pt x="49572" y="21325"/>
                </a:lnTo>
                <a:lnTo>
                  <a:pt x="48974" y="11957"/>
                </a:lnTo>
                <a:lnTo>
                  <a:pt x="42029" y="11587"/>
                </a:lnTo>
                <a:lnTo>
                  <a:pt x="15446" y="0"/>
                </a:lnTo>
                <a:lnTo>
                  <a:pt x="9819" y="10231"/>
                </a:lnTo>
                <a:lnTo>
                  <a:pt x="3712" y="11217"/>
                </a:lnTo>
                <a:lnTo>
                  <a:pt x="0" y="16641"/>
                </a:lnTo>
                <a:lnTo>
                  <a:pt x="5029" y="20462"/>
                </a:lnTo>
                <a:lnTo>
                  <a:pt x="2874" y="25886"/>
                </a:lnTo>
                <a:lnTo>
                  <a:pt x="36760" y="45608"/>
                </a:lnTo>
                <a:lnTo>
                  <a:pt x="42268" y="39198"/>
                </a:lnTo>
                <a:lnTo>
                  <a:pt x="44304" y="29830"/>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67" name="แสงสันติ"/>
          <p:cNvSpPr/>
          <p:nvPr/>
        </p:nvSpPr>
        <p:spPr>
          <a:xfrm>
            <a:off x="6202080" y="5650920"/>
            <a:ext cx="7920" cy="7560"/>
          </a:xfrm>
          <a:custGeom>
            <a:avLst/>
            <a:gdLst/>
            <a:ahLst/>
            <a:rect l="l" t="t" r="r" b="b"/>
            <a:pathLst>
              <a:path w="8262" h="8012">
                <a:moveTo>
                  <a:pt x="3472" y="0"/>
                </a:moveTo>
                <a:lnTo>
                  <a:pt x="0" y="5177"/>
                </a:lnTo>
                <a:lnTo>
                  <a:pt x="5748" y="8012"/>
                </a:lnTo>
                <a:lnTo>
                  <a:pt x="8262" y="2465"/>
                </a:lnTo>
                <a:lnTo>
                  <a:pt x="3472" y="0"/>
                </a:lnTo>
                <a:close/>
              </a:path>
            </a:pathLst>
          </a:custGeom>
          <a:solidFill>
            <a:srgbClr val="ded5c5"/>
          </a:solidFill>
          <a:ln w="6191">
            <a:solidFill>
              <a:srgbClr val="b5a68d"/>
            </a:solidFill>
            <a:round/>
          </a:ln>
        </p:spPr>
        <p:style>
          <a:lnRef idx="0"/>
          <a:fillRef idx="0"/>
          <a:effectRef idx="0"/>
          <a:fontRef idx="minor"/>
        </p:style>
        <p:txBody>
          <a:bodyPr lIns="90000" rIns="90000" tIns="-37440" bIns="-37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68" name="แหลมทองพัฒนา"/>
          <p:cNvSpPr/>
          <p:nvPr/>
        </p:nvSpPr>
        <p:spPr>
          <a:xfrm>
            <a:off x="6236280" y="5553000"/>
            <a:ext cx="113400" cy="69480"/>
          </a:xfrm>
          <a:custGeom>
            <a:avLst/>
            <a:gdLst/>
            <a:ahLst/>
            <a:rect l="l" t="t" r="r" b="b"/>
            <a:pathLst>
              <a:path w="113633" h="69768">
                <a:moveTo>
                  <a:pt x="91960" y="62495"/>
                </a:moveTo>
                <a:lnTo>
                  <a:pt x="95552" y="57565"/>
                </a:lnTo>
                <a:lnTo>
                  <a:pt x="104174" y="56948"/>
                </a:lnTo>
                <a:lnTo>
                  <a:pt x="103934" y="45854"/>
                </a:lnTo>
                <a:lnTo>
                  <a:pt x="110520" y="43759"/>
                </a:lnTo>
                <a:lnTo>
                  <a:pt x="113633" y="37472"/>
                </a:lnTo>
                <a:lnTo>
                  <a:pt x="113394" y="29584"/>
                </a:lnTo>
                <a:lnTo>
                  <a:pt x="105611" y="0"/>
                </a:lnTo>
                <a:lnTo>
                  <a:pt x="75077" y="2465"/>
                </a:lnTo>
                <a:lnTo>
                  <a:pt x="76155" y="30693"/>
                </a:lnTo>
                <a:lnTo>
                  <a:pt x="69928" y="31186"/>
                </a:lnTo>
                <a:lnTo>
                  <a:pt x="69449" y="22188"/>
                </a:lnTo>
                <a:lnTo>
                  <a:pt x="48255" y="23051"/>
                </a:lnTo>
                <a:lnTo>
                  <a:pt x="47537" y="36117"/>
                </a:lnTo>
                <a:lnTo>
                  <a:pt x="14848" y="35377"/>
                </a:lnTo>
                <a:lnTo>
                  <a:pt x="1796" y="32419"/>
                </a:lnTo>
                <a:lnTo>
                  <a:pt x="0" y="38459"/>
                </a:lnTo>
                <a:lnTo>
                  <a:pt x="2874" y="45238"/>
                </a:lnTo>
                <a:lnTo>
                  <a:pt x="22032" y="53004"/>
                </a:lnTo>
                <a:lnTo>
                  <a:pt x="45022" y="56579"/>
                </a:lnTo>
                <a:lnTo>
                  <a:pt x="51249" y="62249"/>
                </a:lnTo>
                <a:lnTo>
                  <a:pt x="76634" y="69768"/>
                </a:lnTo>
                <a:lnTo>
                  <a:pt x="79507" y="64098"/>
                </a:lnTo>
                <a:lnTo>
                  <a:pt x="91960" y="62495"/>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69" name="ศุภลักษณ์"/>
          <p:cNvSpPr/>
          <p:nvPr/>
        </p:nvSpPr>
        <p:spPr>
          <a:xfrm>
            <a:off x="6288840" y="2990160"/>
            <a:ext cx="18360" cy="52200"/>
          </a:xfrm>
          <a:custGeom>
            <a:avLst/>
            <a:gdLst/>
            <a:ahLst/>
            <a:rect l="l" t="t" r="r" b="b"/>
            <a:pathLst>
              <a:path w="18799" h="52634">
                <a:moveTo>
                  <a:pt x="1078" y="7519"/>
                </a:moveTo>
                <a:lnTo>
                  <a:pt x="9819" y="42403"/>
                </a:lnTo>
                <a:lnTo>
                  <a:pt x="8382" y="52634"/>
                </a:lnTo>
                <a:lnTo>
                  <a:pt x="18799" y="51894"/>
                </a:lnTo>
                <a:lnTo>
                  <a:pt x="12812" y="4684"/>
                </a:lnTo>
                <a:lnTo>
                  <a:pt x="3472" y="0"/>
                </a:lnTo>
                <a:lnTo>
                  <a:pt x="0" y="6287"/>
                </a:lnTo>
                <a:lnTo>
                  <a:pt x="1078" y="7519"/>
                </a:lnTo>
                <a:close/>
              </a:path>
            </a:pathLst>
          </a:custGeom>
          <a:solidFill>
            <a:srgbClr val="ded5c5"/>
          </a:solidFill>
          <a:ln w="6191">
            <a:solidFill>
              <a:srgbClr val="b5a68d"/>
            </a:solidFill>
            <a:round/>
          </a:ln>
        </p:spPr>
        <p:style>
          <a:lnRef idx="0"/>
          <a:fillRef idx="0"/>
          <a:effectRef idx="0"/>
          <a:fontRef idx="minor"/>
        </p:style>
        <p:txBody>
          <a:bodyPr lIns="90000" rIns="90000" tIns="7200" bIns="7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70" name="ทัดชาวิลล่า"/>
          <p:cNvSpPr/>
          <p:nvPr/>
        </p:nvSpPr>
        <p:spPr>
          <a:xfrm>
            <a:off x="6343560" y="3100320"/>
            <a:ext cx="21960" cy="24480"/>
          </a:xfrm>
          <a:custGeom>
            <a:avLst/>
            <a:gdLst/>
            <a:ahLst/>
            <a:rect l="l" t="t" r="r" b="b"/>
            <a:pathLst>
              <a:path w="22272" h="24776">
                <a:moveTo>
                  <a:pt x="239" y="863"/>
                </a:moveTo>
                <a:lnTo>
                  <a:pt x="0" y="24776"/>
                </a:lnTo>
                <a:lnTo>
                  <a:pt x="22272" y="23667"/>
                </a:lnTo>
                <a:lnTo>
                  <a:pt x="22272" y="20215"/>
                </a:lnTo>
                <a:lnTo>
                  <a:pt x="18081" y="20462"/>
                </a:lnTo>
                <a:lnTo>
                  <a:pt x="17602" y="0"/>
                </a:lnTo>
                <a:lnTo>
                  <a:pt x="239" y="863"/>
                </a:lnTo>
                <a:close/>
              </a:path>
            </a:pathLst>
          </a:custGeom>
          <a:solidFill>
            <a:srgbClr val="ded5c5"/>
          </a:solidFill>
          <a:ln w="6191">
            <a:solidFill>
              <a:srgbClr val="b5a68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71" name="บัณฑิตโฮม"/>
          <p:cNvSpPr/>
          <p:nvPr/>
        </p:nvSpPr>
        <p:spPr>
          <a:xfrm>
            <a:off x="6246720" y="3058200"/>
            <a:ext cx="45360" cy="37800"/>
          </a:xfrm>
          <a:custGeom>
            <a:avLst/>
            <a:gdLst/>
            <a:ahLst/>
            <a:rect l="l" t="t" r="r" b="b"/>
            <a:pathLst>
              <a:path w="45741" h="38335">
                <a:moveTo>
                  <a:pt x="9100" y="0"/>
                </a:moveTo>
                <a:lnTo>
                  <a:pt x="0" y="15285"/>
                </a:lnTo>
                <a:lnTo>
                  <a:pt x="43226" y="38335"/>
                </a:lnTo>
                <a:lnTo>
                  <a:pt x="45741" y="33775"/>
                </a:lnTo>
                <a:lnTo>
                  <a:pt x="40592" y="22311"/>
                </a:lnTo>
                <a:lnTo>
                  <a:pt x="20835" y="6287"/>
                </a:lnTo>
                <a:lnTo>
                  <a:pt x="9100" y="0"/>
                </a:lnTo>
                <a:close/>
              </a:path>
            </a:pathLst>
          </a:custGeom>
          <a:solidFill>
            <a:srgbClr val="ded5c5"/>
          </a:solidFill>
          <a:ln w="6191">
            <a:solidFill>
              <a:srgbClr val="b5a68d"/>
            </a:solidFill>
            <a:round/>
          </a:ln>
        </p:spPr>
        <p:style>
          <a:lnRef idx="0"/>
          <a:fillRef idx="0"/>
          <a:effectRef idx="0"/>
          <a:fontRef idx="minor"/>
        </p:style>
        <p:txBody>
          <a:bodyPr lIns="90000" rIns="90000" tIns="-7200" bIns="-7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72" name="บดินทร์เฮาส์"/>
          <p:cNvSpPr/>
          <p:nvPr/>
        </p:nvSpPr>
        <p:spPr>
          <a:xfrm>
            <a:off x="6368040" y="3053880"/>
            <a:ext cx="27360" cy="11880"/>
          </a:xfrm>
          <a:custGeom>
            <a:avLst/>
            <a:gdLst/>
            <a:ahLst/>
            <a:rect l="l" t="t" r="r" b="b"/>
            <a:pathLst>
              <a:path w="27899" h="12326">
                <a:moveTo>
                  <a:pt x="25505" y="0"/>
                </a:moveTo>
                <a:lnTo>
                  <a:pt x="838" y="616"/>
                </a:lnTo>
                <a:lnTo>
                  <a:pt x="0" y="11833"/>
                </a:lnTo>
                <a:lnTo>
                  <a:pt x="27899" y="12326"/>
                </a:lnTo>
                <a:lnTo>
                  <a:pt x="27181" y="9122"/>
                </a:lnTo>
                <a:lnTo>
                  <a:pt x="11256" y="8875"/>
                </a:lnTo>
                <a:lnTo>
                  <a:pt x="11256" y="4438"/>
                </a:lnTo>
                <a:lnTo>
                  <a:pt x="25984" y="4068"/>
                </a:lnTo>
                <a:lnTo>
                  <a:pt x="25505" y="0"/>
                </a:lnTo>
                <a:close/>
              </a:path>
            </a:pathLst>
          </a:custGeom>
          <a:solidFill>
            <a:srgbClr val="ded5c5"/>
          </a:solidFill>
          <a:ln w="6191">
            <a:solidFill>
              <a:srgbClr val="b5a68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73" name="เสริมเพิ่มพูน"/>
          <p:cNvSpPr/>
          <p:nvPr/>
        </p:nvSpPr>
        <p:spPr>
          <a:xfrm>
            <a:off x="6233400" y="3050280"/>
            <a:ext cx="15840" cy="18360"/>
          </a:xfrm>
          <a:custGeom>
            <a:avLst/>
            <a:gdLst/>
            <a:ahLst/>
            <a:rect l="l" t="t" r="r" b="b"/>
            <a:pathLst>
              <a:path w="16285" h="18860">
                <a:moveTo>
                  <a:pt x="0" y="1233"/>
                </a:moveTo>
                <a:lnTo>
                  <a:pt x="7783" y="18860"/>
                </a:lnTo>
                <a:lnTo>
                  <a:pt x="16285" y="2096"/>
                </a:lnTo>
                <a:lnTo>
                  <a:pt x="13890" y="0"/>
                </a:lnTo>
                <a:lnTo>
                  <a:pt x="0" y="1233"/>
                </a:lnTo>
                <a:close/>
              </a:path>
            </a:pathLst>
          </a:custGeom>
          <a:solidFill>
            <a:srgbClr val="ded5c5"/>
          </a:solidFill>
          <a:ln w="6191">
            <a:solidFill>
              <a:srgbClr val="b5a68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74" name="พิพรพงษ์ 1"/>
          <p:cNvSpPr/>
          <p:nvPr/>
        </p:nvSpPr>
        <p:spPr>
          <a:xfrm>
            <a:off x="6194880" y="2865240"/>
            <a:ext cx="75240" cy="44280"/>
          </a:xfrm>
          <a:custGeom>
            <a:avLst/>
            <a:gdLst/>
            <a:ahLst/>
            <a:rect l="l" t="t" r="r" b="b"/>
            <a:pathLst>
              <a:path w="75676" h="44622">
                <a:moveTo>
                  <a:pt x="70168" y="6410"/>
                </a:moveTo>
                <a:lnTo>
                  <a:pt x="45381" y="7519"/>
                </a:lnTo>
                <a:lnTo>
                  <a:pt x="44783" y="0"/>
                </a:lnTo>
                <a:lnTo>
                  <a:pt x="41789" y="0"/>
                </a:lnTo>
                <a:lnTo>
                  <a:pt x="42388" y="13682"/>
                </a:lnTo>
                <a:lnTo>
                  <a:pt x="14129" y="15162"/>
                </a:lnTo>
                <a:lnTo>
                  <a:pt x="14010" y="9122"/>
                </a:lnTo>
                <a:lnTo>
                  <a:pt x="0" y="10231"/>
                </a:lnTo>
                <a:lnTo>
                  <a:pt x="2515" y="37226"/>
                </a:lnTo>
                <a:lnTo>
                  <a:pt x="43226" y="34268"/>
                </a:lnTo>
                <a:lnTo>
                  <a:pt x="44543" y="44622"/>
                </a:lnTo>
                <a:lnTo>
                  <a:pt x="73281" y="41047"/>
                </a:lnTo>
                <a:lnTo>
                  <a:pt x="72682" y="36486"/>
                </a:lnTo>
                <a:lnTo>
                  <a:pt x="75316" y="35993"/>
                </a:lnTo>
                <a:lnTo>
                  <a:pt x="75676" y="28351"/>
                </a:lnTo>
                <a:lnTo>
                  <a:pt x="70168" y="6410"/>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75" name="ยิ่งโอฬาร"/>
          <p:cNvSpPr/>
          <p:nvPr/>
        </p:nvSpPr>
        <p:spPr>
          <a:xfrm>
            <a:off x="6264000" y="2930400"/>
            <a:ext cx="24120" cy="54000"/>
          </a:xfrm>
          <a:custGeom>
            <a:avLst/>
            <a:gdLst/>
            <a:ahLst/>
            <a:rect l="l" t="t" r="r" b="b"/>
            <a:pathLst>
              <a:path w="24427" h="54236">
                <a:moveTo>
                  <a:pt x="23349" y="54236"/>
                </a:moveTo>
                <a:lnTo>
                  <a:pt x="18799" y="14052"/>
                </a:lnTo>
                <a:lnTo>
                  <a:pt x="24427" y="13436"/>
                </a:lnTo>
                <a:lnTo>
                  <a:pt x="22870" y="0"/>
                </a:lnTo>
                <a:lnTo>
                  <a:pt x="0" y="2712"/>
                </a:lnTo>
                <a:lnTo>
                  <a:pt x="3233" y="25762"/>
                </a:lnTo>
                <a:lnTo>
                  <a:pt x="23349" y="54236"/>
                </a:lnTo>
                <a:close/>
              </a:path>
            </a:pathLst>
          </a:custGeom>
          <a:solidFill>
            <a:srgbClr val="ded5c5"/>
          </a:solidFill>
          <a:ln w="6191">
            <a:solidFill>
              <a:srgbClr val="b5a68d"/>
            </a:solidFill>
            <a:round/>
          </a:ln>
        </p:spPr>
        <p:style>
          <a:lnRef idx="0"/>
          <a:fillRef idx="0"/>
          <a:effectRef idx="0"/>
          <a:fontRef idx="minor"/>
        </p:style>
        <p:txBody>
          <a:bodyPr lIns="90000" rIns="90000" tIns="9000" bIns="9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76" name="แสงไพฑูรย์"/>
          <p:cNvSpPr/>
          <p:nvPr/>
        </p:nvSpPr>
        <p:spPr>
          <a:xfrm>
            <a:off x="5995800" y="3097440"/>
            <a:ext cx="32760" cy="48600"/>
          </a:xfrm>
          <a:custGeom>
            <a:avLst/>
            <a:gdLst/>
            <a:ahLst/>
            <a:rect l="l" t="t" r="r" b="b"/>
            <a:pathLst>
              <a:path w="33288" h="48813">
                <a:moveTo>
                  <a:pt x="10178" y="16271"/>
                </a:moveTo>
                <a:lnTo>
                  <a:pt x="6825" y="22927"/>
                </a:lnTo>
                <a:lnTo>
                  <a:pt x="11256" y="25762"/>
                </a:lnTo>
                <a:lnTo>
                  <a:pt x="0" y="46224"/>
                </a:lnTo>
                <a:lnTo>
                  <a:pt x="9819" y="48813"/>
                </a:lnTo>
                <a:lnTo>
                  <a:pt x="33288" y="9615"/>
                </a:lnTo>
                <a:lnTo>
                  <a:pt x="18560" y="0"/>
                </a:lnTo>
                <a:lnTo>
                  <a:pt x="10178" y="16271"/>
                </a:lnTo>
                <a:close/>
              </a:path>
            </a:pathLst>
          </a:custGeom>
          <a:solidFill>
            <a:srgbClr val="ded5c5"/>
          </a:solidFill>
          <a:ln w="6191">
            <a:solidFill>
              <a:srgbClr val="b5a68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77" name="เคหะชุมชนทุ่งสองห้อง 328"/>
          <p:cNvSpPr/>
          <p:nvPr/>
        </p:nvSpPr>
        <p:spPr>
          <a:xfrm>
            <a:off x="5925960" y="3531600"/>
            <a:ext cx="17280" cy="14040"/>
          </a:xfrm>
          <a:custGeom>
            <a:avLst/>
            <a:gdLst/>
            <a:ahLst/>
            <a:rect l="l" t="t" r="r" b="b"/>
            <a:pathLst>
              <a:path w="17602" h="14299">
                <a:moveTo>
                  <a:pt x="3113" y="0"/>
                </a:moveTo>
                <a:lnTo>
                  <a:pt x="0" y="6040"/>
                </a:lnTo>
                <a:lnTo>
                  <a:pt x="14728" y="14299"/>
                </a:lnTo>
                <a:lnTo>
                  <a:pt x="17602" y="8382"/>
                </a:lnTo>
                <a:lnTo>
                  <a:pt x="3113" y="0"/>
                </a:lnTo>
                <a:close/>
              </a:path>
            </a:pathLst>
          </a:custGeom>
          <a:solidFill>
            <a:srgbClr val="ded5c5"/>
          </a:solidFill>
          <a:ln w="6191">
            <a:solidFill>
              <a:srgbClr val="b5a68d"/>
            </a:solidFill>
            <a:round/>
          </a:ln>
        </p:spPr>
        <p:style>
          <a:lnRef idx="0"/>
          <a:fillRef idx="0"/>
          <a:effectRef idx="0"/>
          <a:fontRef idx="minor"/>
        </p:style>
        <p:txBody>
          <a:bodyPr lIns="90000" rIns="90000" tIns="-30960" bIns="-30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78" name="เคหะชุมชนทุ่งสองห้อง 309"/>
          <p:cNvSpPr/>
          <p:nvPr/>
        </p:nvSpPr>
        <p:spPr>
          <a:xfrm>
            <a:off x="5831280" y="3504600"/>
            <a:ext cx="25920" cy="13680"/>
          </a:xfrm>
          <a:custGeom>
            <a:avLst/>
            <a:gdLst/>
            <a:ahLst/>
            <a:rect l="l" t="t" r="r" b="b"/>
            <a:pathLst>
              <a:path w="26223" h="14052">
                <a:moveTo>
                  <a:pt x="0" y="8012"/>
                </a:moveTo>
                <a:lnTo>
                  <a:pt x="22870" y="14052"/>
                </a:lnTo>
                <a:lnTo>
                  <a:pt x="26223" y="1479"/>
                </a:lnTo>
                <a:lnTo>
                  <a:pt x="21194" y="0"/>
                </a:lnTo>
                <a:lnTo>
                  <a:pt x="0" y="8012"/>
                </a:lnTo>
                <a:close/>
              </a:path>
            </a:pathLst>
          </a:custGeom>
          <a:solidFill>
            <a:srgbClr val="ded5c5"/>
          </a:solidFill>
          <a:ln w="6191">
            <a:solidFill>
              <a:srgbClr val="b5a68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79" name="เคหะชุมชนทุ่งสองห้อง 310"/>
          <p:cNvSpPr/>
          <p:nvPr/>
        </p:nvSpPr>
        <p:spPr>
          <a:xfrm>
            <a:off x="5821200" y="3510360"/>
            <a:ext cx="32400" cy="16560"/>
          </a:xfrm>
          <a:custGeom>
            <a:avLst/>
            <a:gdLst/>
            <a:ahLst/>
            <a:rect l="l" t="t" r="r" b="b"/>
            <a:pathLst>
              <a:path w="32689" h="16764">
                <a:moveTo>
                  <a:pt x="0" y="3082"/>
                </a:moveTo>
                <a:lnTo>
                  <a:pt x="3832" y="5054"/>
                </a:lnTo>
                <a:lnTo>
                  <a:pt x="3113" y="8382"/>
                </a:lnTo>
                <a:lnTo>
                  <a:pt x="27181" y="11587"/>
                </a:lnTo>
                <a:lnTo>
                  <a:pt x="25505" y="15162"/>
                </a:lnTo>
                <a:lnTo>
                  <a:pt x="28498" y="16764"/>
                </a:lnTo>
                <a:lnTo>
                  <a:pt x="32689" y="8752"/>
                </a:lnTo>
                <a:lnTo>
                  <a:pt x="838" y="0"/>
                </a:lnTo>
                <a:lnTo>
                  <a:pt x="0" y="3082"/>
                </a:lnTo>
                <a:close/>
              </a:path>
            </a:pathLst>
          </a:custGeom>
          <a:solidFill>
            <a:srgbClr val="ded5c5"/>
          </a:solidFill>
          <a:ln w="6191">
            <a:solidFill>
              <a:srgbClr val="b5a68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80" name="เคหะชุมชนทุ่งสองห้อง 313"/>
          <p:cNvSpPr/>
          <p:nvPr/>
        </p:nvSpPr>
        <p:spPr>
          <a:xfrm>
            <a:off x="5887800" y="3511800"/>
            <a:ext cx="17280" cy="15480"/>
          </a:xfrm>
          <a:custGeom>
            <a:avLst/>
            <a:gdLst/>
            <a:ahLst/>
            <a:rect l="l" t="t" r="r" b="b"/>
            <a:pathLst>
              <a:path w="17721" h="15901">
                <a:moveTo>
                  <a:pt x="5149" y="0"/>
                </a:moveTo>
                <a:lnTo>
                  <a:pt x="0" y="8752"/>
                </a:lnTo>
                <a:lnTo>
                  <a:pt x="12932" y="15901"/>
                </a:lnTo>
                <a:lnTo>
                  <a:pt x="17721" y="7396"/>
                </a:lnTo>
                <a:lnTo>
                  <a:pt x="5149" y="0"/>
                </a:lnTo>
                <a:close/>
              </a:path>
            </a:pathLst>
          </a:custGeom>
          <a:solidFill>
            <a:srgbClr val="ded5c5"/>
          </a:solidFill>
          <a:ln w="6191">
            <a:solidFill>
              <a:srgbClr val="b5a68d"/>
            </a:solidFill>
            <a:round/>
          </a:ln>
        </p:spPr>
        <p:style>
          <a:lnRef idx="0"/>
          <a:fillRef idx="0"/>
          <a:effectRef idx="0"/>
          <a:fontRef idx="minor"/>
        </p:style>
        <p:txBody>
          <a:bodyPr lIns="90000" rIns="90000" tIns="-29520" bIns="-29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81" name="เคหะชุมชนทุ่งสองห้อง 319"/>
          <p:cNvSpPr/>
          <p:nvPr/>
        </p:nvSpPr>
        <p:spPr>
          <a:xfrm>
            <a:off x="5877360" y="3531600"/>
            <a:ext cx="16560" cy="15120"/>
          </a:xfrm>
          <a:custGeom>
            <a:avLst/>
            <a:gdLst/>
            <a:ahLst/>
            <a:rect l="l" t="t" r="r" b="b"/>
            <a:pathLst>
              <a:path w="17003" h="15655">
                <a:moveTo>
                  <a:pt x="4550" y="0"/>
                </a:moveTo>
                <a:lnTo>
                  <a:pt x="0" y="9491"/>
                </a:lnTo>
                <a:lnTo>
                  <a:pt x="12932" y="15655"/>
                </a:lnTo>
                <a:lnTo>
                  <a:pt x="17003" y="6903"/>
                </a:lnTo>
                <a:lnTo>
                  <a:pt x="4550" y="0"/>
                </a:lnTo>
                <a:close/>
              </a:path>
            </a:pathLst>
          </a:custGeom>
          <a:solidFill>
            <a:srgbClr val="ded5c5"/>
          </a:solidFill>
          <a:ln w="6191">
            <a:solidFill>
              <a:srgbClr val="b5a68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82" name="ชุมชนเคหะชุมชนทุ่งสองห้อง321"/>
          <p:cNvSpPr/>
          <p:nvPr/>
        </p:nvSpPr>
        <p:spPr>
          <a:xfrm>
            <a:off x="5904360" y="3535560"/>
            <a:ext cx="14040" cy="15120"/>
          </a:xfrm>
          <a:custGeom>
            <a:avLst/>
            <a:gdLst/>
            <a:ahLst/>
            <a:rect l="l" t="t" r="r" b="b"/>
            <a:pathLst>
              <a:path w="14369" h="15531">
                <a:moveTo>
                  <a:pt x="14369" y="13066"/>
                </a:moveTo>
                <a:lnTo>
                  <a:pt x="7783" y="0"/>
                </a:lnTo>
                <a:lnTo>
                  <a:pt x="5508" y="986"/>
                </a:lnTo>
                <a:lnTo>
                  <a:pt x="0" y="8382"/>
                </a:lnTo>
                <a:lnTo>
                  <a:pt x="9938" y="15531"/>
                </a:lnTo>
                <a:lnTo>
                  <a:pt x="14369" y="13066"/>
                </a:lnTo>
                <a:close/>
              </a:path>
            </a:pathLst>
          </a:custGeom>
          <a:solidFill>
            <a:srgbClr val="ded5c5"/>
          </a:solidFill>
          <a:ln w="6191">
            <a:solidFill>
              <a:srgbClr val="b5a68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83" name="เคหะชุมชนทุ่งสองห้อง 323"/>
          <p:cNvSpPr/>
          <p:nvPr/>
        </p:nvSpPr>
        <p:spPr>
          <a:xfrm>
            <a:off x="5904000" y="3546360"/>
            <a:ext cx="16920" cy="13320"/>
          </a:xfrm>
          <a:custGeom>
            <a:avLst/>
            <a:gdLst/>
            <a:ahLst/>
            <a:rect l="l" t="t" r="r" b="b"/>
            <a:pathLst>
              <a:path w="17123" h="13559">
                <a:moveTo>
                  <a:pt x="0" y="7273"/>
                </a:moveTo>
                <a:lnTo>
                  <a:pt x="13052" y="13559"/>
                </a:lnTo>
                <a:lnTo>
                  <a:pt x="17123" y="4807"/>
                </a:lnTo>
                <a:lnTo>
                  <a:pt x="15327" y="2835"/>
                </a:lnTo>
                <a:lnTo>
                  <a:pt x="9699" y="5054"/>
                </a:lnTo>
                <a:lnTo>
                  <a:pt x="3712" y="0"/>
                </a:lnTo>
                <a:lnTo>
                  <a:pt x="0" y="7273"/>
                </a:lnTo>
                <a:close/>
              </a:path>
            </a:pathLst>
          </a:custGeom>
          <a:solidFill>
            <a:srgbClr val="ded5c5"/>
          </a:solidFill>
          <a:ln w="6191">
            <a:solidFill>
              <a:srgbClr val="b5a68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84" name="เคหะชุมชนทุ่งสองห้อง 327"/>
          <p:cNvSpPr/>
          <p:nvPr/>
        </p:nvSpPr>
        <p:spPr>
          <a:xfrm>
            <a:off x="5913720" y="3527640"/>
            <a:ext cx="14760" cy="16560"/>
          </a:xfrm>
          <a:custGeom>
            <a:avLst/>
            <a:gdLst/>
            <a:ahLst/>
            <a:rect l="l" t="t" r="r" b="b"/>
            <a:pathLst>
              <a:path w="14967" h="16764">
                <a:moveTo>
                  <a:pt x="0" y="10231"/>
                </a:moveTo>
                <a:lnTo>
                  <a:pt x="3472" y="16764"/>
                </a:lnTo>
                <a:lnTo>
                  <a:pt x="14010" y="10971"/>
                </a:lnTo>
                <a:lnTo>
                  <a:pt x="12213" y="9738"/>
                </a:lnTo>
                <a:lnTo>
                  <a:pt x="14967" y="4314"/>
                </a:lnTo>
                <a:lnTo>
                  <a:pt x="7663" y="0"/>
                </a:lnTo>
                <a:lnTo>
                  <a:pt x="2993" y="8629"/>
                </a:lnTo>
                <a:lnTo>
                  <a:pt x="0" y="10231"/>
                </a:lnTo>
                <a:close/>
              </a:path>
            </a:pathLst>
          </a:custGeom>
          <a:solidFill>
            <a:srgbClr val="ded5c5"/>
          </a:solidFill>
          <a:ln w="6191">
            <a:solidFill>
              <a:srgbClr val="b5a68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85" name="เคหะชุมชนทุ่งสองห้อง 302"/>
          <p:cNvSpPr/>
          <p:nvPr/>
        </p:nvSpPr>
        <p:spPr>
          <a:xfrm>
            <a:off x="5810040" y="3478320"/>
            <a:ext cx="18360" cy="19440"/>
          </a:xfrm>
          <a:custGeom>
            <a:avLst/>
            <a:gdLst/>
            <a:ahLst/>
            <a:rect l="l" t="t" r="r" b="b"/>
            <a:pathLst>
              <a:path w="18560" h="19722">
                <a:moveTo>
                  <a:pt x="6586" y="0"/>
                </a:moveTo>
                <a:lnTo>
                  <a:pt x="5388" y="3698"/>
                </a:lnTo>
                <a:lnTo>
                  <a:pt x="3712" y="3205"/>
                </a:lnTo>
                <a:lnTo>
                  <a:pt x="0" y="15285"/>
                </a:lnTo>
                <a:lnTo>
                  <a:pt x="13531" y="19722"/>
                </a:lnTo>
                <a:lnTo>
                  <a:pt x="18560" y="3575"/>
                </a:lnTo>
                <a:lnTo>
                  <a:pt x="6586" y="0"/>
                </a:lnTo>
                <a:close/>
              </a:path>
            </a:pathLst>
          </a:custGeom>
          <a:solidFill>
            <a:srgbClr val="ded5c5"/>
          </a:solidFill>
          <a:ln w="6191">
            <a:solidFill>
              <a:srgbClr val="b5a68d"/>
            </a:solidFill>
            <a:round/>
          </a:ln>
        </p:spPr>
        <p:style>
          <a:lnRef idx="0"/>
          <a:fillRef idx="0"/>
          <a:effectRef idx="0"/>
          <a:fontRef idx="minor"/>
        </p:style>
        <p:txBody>
          <a:bodyPr lIns="90000" rIns="90000" tIns="-25560" bIns="-25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86" name="ชุมชนลาดพร้าว 64"/>
          <p:cNvSpPr/>
          <p:nvPr/>
        </p:nvSpPr>
        <p:spPr>
          <a:xfrm>
            <a:off x="5990040" y="4913640"/>
            <a:ext cx="77400" cy="24120"/>
          </a:xfrm>
          <a:custGeom>
            <a:avLst/>
            <a:gdLst/>
            <a:ahLst/>
            <a:rect l="l" t="t" r="r" b="b"/>
            <a:pathLst>
              <a:path w="77831" h="24406">
                <a:moveTo>
                  <a:pt x="34844" y="20339"/>
                </a:moveTo>
                <a:lnTo>
                  <a:pt x="37479" y="20092"/>
                </a:lnTo>
                <a:lnTo>
                  <a:pt x="37479" y="21695"/>
                </a:lnTo>
                <a:lnTo>
                  <a:pt x="77831" y="18490"/>
                </a:lnTo>
                <a:lnTo>
                  <a:pt x="77352" y="4931"/>
                </a:lnTo>
                <a:lnTo>
                  <a:pt x="64300" y="5917"/>
                </a:lnTo>
                <a:lnTo>
                  <a:pt x="64061" y="0"/>
                </a:lnTo>
                <a:lnTo>
                  <a:pt x="55200" y="493"/>
                </a:lnTo>
                <a:lnTo>
                  <a:pt x="54482" y="3082"/>
                </a:lnTo>
                <a:lnTo>
                  <a:pt x="120" y="10354"/>
                </a:lnTo>
                <a:lnTo>
                  <a:pt x="0" y="17011"/>
                </a:lnTo>
                <a:lnTo>
                  <a:pt x="2155" y="22311"/>
                </a:lnTo>
                <a:lnTo>
                  <a:pt x="5388" y="22064"/>
                </a:lnTo>
                <a:lnTo>
                  <a:pt x="5987" y="24406"/>
                </a:lnTo>
                <a:lnTo>
                  <a:pt x="34844" y="20339"/>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87" name="ชุมชนหมู่บ้านอยู่เจริญ ลาดพร้าว 101"/>
          <p:cNvSpPr/>
          <p:nvPr/>
        </p:nvSpPr>
        <p:spPr>
          <a:xfrm>
            <a:off x="6424560" y="4961160"/>
            <a:ext cx="35640" cy="21600"/>
          </a:xfrm>
          <a:custGeom>
            <a:avLst/>
            <a:gdLst/>
            <a:ahLst/>
            <a:rect l="l" t="t" r="r" b="b"/>
            <a:pathLst>
              <a:path w="36042" h="21818">
                <a:moveTo>
                  <a:pt x="4550" y="1356"/>
                </a:moveTo>
                <a:lnTo>
                  <a:pt x="0" y="2096"/>
                </a:lnTo>
                <a:lnTo>
                  <a:pt x="2275" y="15531"/>
                </a:lnTo>
                <a:lnTo>
                  <a:pt x="4909" y="15162"/>
                </a:lnTo>
                <a:lnTo>
                  <a:pt x="6945" y="21818"/>
                </a:lnTo>
                <a:lnTo>
                  <a:pt x="29935" y="19722"/>
                </a:lnTo>
                <a:lnTo>
                  <a:pt x="30174" y="13066"/>
                </a:lnTo>
                <a:lnTo>
                  <a:pt x="31851" y="12943"/>
                </a:lnTo>
                <a:lnTo>
                  <a:pt x="31731" y="6533"/>
                </a:lnTo>
                <a:lnTo>
                  <a:pt x="36042" y="5917"/>
                </a:lnTo>
                <a:lnTo>
                  <a:pt x="35443" y="740"/>
                </a:lnTo>
                <a:lnTo>
                  <a:pt x="17961" y="1972"/>
                </a:lnTo>
                <a:lnTo>
                  <a:pt x="17841" y="123"/>
                </a:lnTo>
                <a:lnTo>
                  <a:pt x="14249" y="0"/>
                </a:lnTo>
                <a:lnTo>
                  <a:pt x="4550" y="1356"/>
                </a:lnTo>
                <a:close/>
              </a:path>
            </a:pathLst>
          </a:custGeom>
          <a:solidFill>
            <a:srgbClr val="ded5c5"/>
          </a:solidFill>
          <a:ln w="6191">
            <a:solidFill>
              <a:srgbClr val="b5a68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88" name="อัลกุ๊บรอ"/>
          <p:cNvSpPr/>
          <p:nvPr/>
        </p:nvSpPr>
        <p:spPr>
          <a:xfrm>
            <a:off x="6389280" y="5792760"/>
            <a:ext cx="52560" cy="57240"/>
          </a:xfrm>
          <a:custGeom>
            <a:avLst/>
            <a:gdLst/>
            <a:ahLst/>
            <a:rect l="l" t="t" r="r" b="b"/>
            <a:pathLst>
              <a:path w="52805" h="57565">
                <a:moveTo>
                  <a:pt x="24427" y="16024"/>
                </a:moveTo>
                <a:lnTo>
                  <a:pt x="20236" y="2096"/>
                </a:lnTo>
                <a:lnTo>
                  <a:pt x="16404" y="0"/>
                </a:lnTo>
                <a:lnTo>
                  <a:pt x="11495" y="5917"/>
                </a:lnTo>
                <a:lnTo>
                  <a:pt x="0" y="6533"/>
                </a:lnTo>
                <a:lnTo>
                  <a:pt x="2275" y="27241"/>
                </a:lnTo>
                <a:lnTo>
                  <a:pt x="8262" y="30693"/>
                </a:lnTo>
                <a:lnTo>
                  <a:pt x="12094" y="49306"/>
                </a:lnTo>
                <a:lnTo>
                  <a:pt x="24666" y="57565"/>
                </a:lnTo>
                <a:lnTo>
                  <a:pt x="49213" y="33528"/>
                </a:lnTo>
                <a:lnTo>
                  <a:pt x="52805" y="25023"/>
                </a:lnTo>
                <a:lnTo>
                  <a:pt x="49932" y="19846"/>
                </a:lnTo>
                <a:lnTo>
                  <a:pt x="46459" y="18366"/>
                </a:lnTo>
                <a:lnTo>
                  <a:pt x="33168" y="21818"/>
                </a:lnTo>
                <a:lnTo>
                  <a:pt x="24427" y="16024"/>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89" name="คลองจวน"/>
          <p:cNvSpPr/>
          <p:nvPr/>
        </p:nvSpPr>
        <p:spPr>
          <a:xfrm>
            <a:off x="6476040" y="5712120"/>
            <a:ext cx="86760" cy="110160"/>
          </a:xfrm>
          <a:custGeom>
            <a:avLst/>
            <a:gdLst/>
            <a:ahLst/>
            <a:rect l="l" t="t" r="r" b="b"/>
            <a:pathLst>
              <a:path w="87051" h="110568">
                <a:moveTo>
                  <a:pt x="73041" y="18983"/>
                </a:moveTo>
                <a:lnTo>
                  <a:pt x="39394" y="0"/>
                </a:lnTo>
                <a:lnTo>
                  <a:pt x="31731" y="3082"/>
                </a:lnTo>
                <a:lnTo>
                  <a:pt x="29336" y="5670"/>
                </a:lnTo>
                <a:lnTo>
                  <a:pt x="25505" y="20708"/>
                </a:lnTo>
                <a:lnTo>
                  <a:pt x="26582" y="24283"/>
                </a:lnTo>
                <a:lnTo>
                  <a:pt x="31611" y="27365"/>
                </a:lnTo>
                <a:lnTo>
                  <a:pt x="29695" y="35747"/>
                </a:lnTo>
                <a:lnTo>
                  <a:pt x="30893" y="49059"/>
                </a:lnTo>
                <a:lnTo>
                  <a:pt x="38556" y="82464"/>
                </a:lnTo>
                <a:lnTo>
                  <a:pt x="35084" y="83080"/>
                </a:lnTo>
                <a:lnTo>
                  <a:pt x="33288" y="85915"/>
                </a:lnTo>
                <a:lnTo>
                  <a:pt x="33048" y="92079"/>
                </a:lnTo>
                <a:lnTo>
                  <a:pt x="5269" y="94051"/>
                </a:lnTo>
                <a:lnTo>
                  <a:pt x="0" y="103049"/>
                </a:lnTo>
                <a:lnTo>
                  <a:pt x="19997" y="110075"/>
                </a:lnTo>
                <a:lnTo>
                  <a:pt x="38197" y="105515"/>
                </a:lnTo>
                <a:lnTo>
                  <a:pt x="53164" y="110568"/>
                </a:lnTo>
                <a:lnTo>
                  <a:pt x="87051" y="108719"/>
                </a:lnTo>
                <a:lnTo>
                  <a:pt x="73041" y="1898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90" name="มุสลิมพัฒนาบ้านป่า"/>
          <p:cNvSpPr/>
          <p:nvPr/>
        </p:nvSpPr>
        <p:spPr>
          <a:xfrm>
            <a:off x="6195960" y="5572800"/>
            <a:ext cx="43560" cy="47880"/>
          </a:xfrm>
          <a:custGeom>
            <a:avLst/>
            <a:gdLst/>
            <a:ahLst/>
            <a:rect l="l" t="t" r="r" b="b"/>
            <a:pathLst>
              <a:path w="43945" h="48320">
                <a:moveTo>
                  <a:pt x="599" y="12573"/>
                </a:moveTo>
                <a:lnTo>
                  <a:pt x="0" y="37103"/>
                </a:lnTo>
                <a:lnTo>
                  <a:pt x="25624" y="48320"/>
                </a:lnTo>
                <a:lnTo>
                  <a:pt x="29456" y="37103"/>
                </a:lnTo>
                <a:lnTo>
                  <a:pt x="35443" y="39815"/>
                </a:lnTo>
                <a:lnTo>
                  <a:pt x="42747" y="29584"/>
                </a:lnTo>
                <a:lnTo>
                  <a:pt x="43226" y="27488"/>
                </a:lnTo>
                <a:lnTo>
                  <a:pt x="39035" y="21078"/>
                </a:lnTo>
                <a:lnTo>
                  <a:pt x="40233" y="13929"/>
                </a:lnTo>
                <a:lnTo>
                  <a:pt x="43945" y="5547"/>
                </a:lnTo>
                <a:lnTo>
                  <a:pt x="35084" y="740"/>
                </a:lnTo>
                <a:lnTo>
                  <a:pt x="33407" y="0"/>
                </a:lnTo>
                <a:lnTo>
                  <a:pt x="28139" y="7519"/>
                </a:lnTo>
                <a:lnTo>
                  <a:pt x="30773" y="8012"/>
                </a:lnTo>
                <a:lnTo>
                  <a:pt x="28378" y="12943"/>
                </a:lnTo>
                <a:lnTo>
                  <a:pt x="29456" y="13806"/>
                </a:lnTo>
                <a:lnTo>
                  <a:pt x="28378" y="16764"/>
                </a:lnTo>
                <a:lnTo>
                  <a:pt x="30534" y="17750"/>
                </a:lnTo>
                <a:lnTo>
                  <a:pt x="28139" y="23420"/>
                </a:lnTo>
                <a:lnTo>
                  <a:pt x="599" y="12573"/>
                </a:lnTo>
                <a:close/>
              </a:path>
            </a:pathLst>
          </a:custGeom>
          <a:solidFill>
            <a:srgbClr val="ded5c5"/>
          </a:solidFill>
          <a:ln w="6191">
            <a:solidFill>
              <a:srgbClr val="b5a68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91" name="คลองสะแก"/>
          <p:cNvSpPr/>
          <p:nvPr/>
        </p:nvSpPr>
        <p:spPr>
          <a:xfrm>
            <a:off x="6209280" y="5491080"/>
            <a:ext cx="49680" cy="96480"/>
          </a:xfrm>
          <a:custGeom>
            <a:avLst/>
            <a:gdLst/>
            <a:ahLst/>
            <a:rect l="l" t="t" r="r" b="b"/>
            <a:pathLst>
              <a:path w="50051" h="96886">
                <a:moveTo>
                  <a:pt x="30414" y="92449"/>
                </a:moveTo>
                <a:lnTo>
                  <a:pt x="30055" y="94051"/>
                </a:lnTo>
                <a:lnTo>
                  <a:pt x="44543" y="96886"/>
                </a:lnTo>
                <a:lnTo>
                  <a:pt x="44783" y="86162"/>
                </a:lnTo>
                <a:lnTo>
                  <a:pt x="42268" y="85422"/>
                </a:lnTo>
                <a:lnTo>
                  <a:pt x="42747" y="77903"/>
                </a:lnTo>
                <a:lnTo>
                  <a:pt x="33407" y="75808"/>
                </a:lnTo>
                <a:lnTo>
                  <a:pt x="30653" y="70014"/>
                </a:lnTo>
                <a:lnTo>
                  <a:pt x="46938" y="70261"/>
                </a:lnTo>
                <a:lnTo>
                  <a:pt x="47776" y="66440"/>
                </a:lnTo>
                <a:lnTo>
                  <a:pt x="40712" y="64221"/>
                </a:lnTo>
                <a:lnTo>
                  <a:pt x="42388" y="59290"/>
                </a:lnTo>
                <a:lnTo>
                  <a:pt x="45142" y="60030"/>
                </a:lnTo>
                <a:lnTo>
                  <a:pt x="47417" y="47087"/>
                </a:lnTo>
                <a:lnTo>
                  <a:pt x="42148" y="45361"/>
                </a:lnTo>
                <a:lnTo>
                  <a:pt x="43346" y="40184"/>
                </a:lnTo>
                <a:lnTo>
                  <a:pt x="38796" y="39445"/>
                </a:lnTo>
                <a:lnTo>
                  <a:pt x="34725" y="33281"/>
                </a:lnTo>
                <a:lnTo>
                  <a:pt x="35563" y="29460"/>
                </a:lnTo>
                <a:lnTo>
                  <a:pt x="34485" y="29214"/>
                </a:lnTo>
                <a:lnTo>
                  <a:pt x="40592" y="7889"/>
                </a:lnTo>
                <a:lnTo>
                  <a:pt x="49572" y="7149"/>
                </a:lnTo>
                <a:lnTo>
                  <a:pt x="50051" y="3082"/>
                </a:lnTo>
                <a:lnTo>
                  <a:pt x="23828" y="0"/>
                </a:lnTo>
                <a:lnTo>
                  <a:pt x="23828" y="4684"/>
                </a:lnTo>
                <a:lnTo>
                  <a:pt x="37718" y="9861"/>
                </a:lnTo>
                <a:lnTo>
                  <a:pt x="35084" y="17011"/>
                </a:lnTo>
                <a:lnTo>
                  <a:pt x="34605" y="26009"/>
                </a:lnTo>
                <a:lnTo>
                  <a:pt x="33288" y="29584"/>
                </a:lnTo>
                <a:lnTo>
                  <a:pt x="30534" y="29337"/>
                </a:lnTo>
                <a:lnTo>
                  <a:pt x="29815" y="31432"/>
                </a:lnTo>
                <a:lnTo>
                  <a:pt x="35922" y="39075"/>
                </a:lnTo>
                <a:lnTo>
                  <a:pt x="33767" y="48443"/>
                </a:lnTo>
                <a:lnTo>
                  <a:pt x="38676" y="53620"/>
                </a:lnTo>
                <a:lnTo>
                  <a:pt x="37958" y="56948"/>
                </a:lnTo>
                <a:lnTo>
                  <a:pt x="34605" y="62249"/>
                </a:lnTo>
                <a:lnTo>
                  <a:pt x="6346" y="50415"/>
                </a:lnTo>
                <a:lnTo>
                  <a:pt x="0" y="65700"/>
                </a:lnTo>
                <a:lnTo>
                  <a:pt x="23110" y="77533"/>
                </a:lnTo>
                <a:lnTo>
                  <a:pt x="20595" y="81848"/>
                </a:lnTo>
                <a:lnTo>
                  <a:pt x="32090" y="87641"/>
                </a:lnTo>
                <a:lnTo>
                  <a:pt x="30414" y="9244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92" name="หมู่บ้านฮอลลีวู้ด"/>
          <p:cNvSpPr/>
          <p:nvPr/>
        </p:nvSpPr>
        <p:spPr>
          <a:xfrm>
            <a:off x="6221520" y="5707080"/>
            <a:ext cx="58320" cy="37800"/>
          </a:xfrm>
          <a:custGeom>
            <a:avLst/>
            <a:gdLst/>
            <a:ahLst/>
            <a:rect l="l" t="t" r="r" b="b"/>
            <a:pathLst>
              <a:path w="58673" h="38212">
                <a:moveTo>
                  <a:pt x="11375" y="0"/>
                </a:moveTo>
                <a:lnTo>
                  <a:pt x="5987" y="8382"/>
                </a:lnTo>
                <a:lnTo>
                  <a:pt x="0" y="10108"/>
                </a:lnTo>
                <a:lnTo>
                  <a:pt x="19039" y="22064"/>
                </a:lnTo>
                <a:lnTo>
                  <a:pt x="22272" y="21448"/>
                </a:lnTo>
                <a:lnTo>
                  <a:pt x="50770" y="38212"/>
                </a:lnTo>
                <a:lnTo>
                  <a:pt x="58673" y="26255"/>
                </a:lnTo>
                <a:lnTo>
                  <a:pt x="11375" y="0"/>
                </a:lnTo>
                <a:close/>
              </a:path>
            </a:pathLst>
          </a:custGeom>
          <a:solidFill>
            <a:srgbClr val="ded5c5"/>
          </a:solidFill>
          <a:ln w="6191">
            <a:solidFill>
              <a:srgbClr val="b5a68d"/>
            </a:solidFill>
            <a:round/>
          </a:ln>
        </p:spPr>
        <p:style>
          <a:lnRef idx="0"/>
          <a:fillRef idx="0"/>
          <a:effectRef idx="0"/>
          <a:fontRef idx="minor"/>
        </p:style>
        <p:txBody>
          <a:bodyPr lIns="90000" rIns="90000" tIns="-7200" bIns="-7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93" name="เจริญพัฒนา"/>
          <p:cNvSpPr/>
          <p:nvPr/>
        </p:nvSpPr>
        <p:spPr>
          <a:xfrm>
            <a:off x="6350040" y="5509440"/>
            <a:ext cx="137160" cy="186480"/>
          </a:xfrm>
          <a:custGeom>
            <a:avLst/>
            <a:gdLst/>
            <a:ahLst/>
            <a:rect l="l" t="t" r="r" b="b"/>
            <a:pathLst>
              <a:path w="137342" h="186993">
                <a:moveTo>
                  <a:pt x="67893" y="3451"/>
                </a:moveTo>
                <a:lnTo>
                  <a:pt x="42029" y="0"/>
                </a:lnTo>
                <a:lnTo>
                  <a:pt x="40592" y="14175"/>
                </a:lnTo>
                <a:lnTo>
                  <a:pt x="35682" y="14792"/>
                </a:lnTo>
                <a:lnTo>
                  <a:pt x="37838" y="40061"/>
                </a:lnTo>
                <a:lnTo>
                  <a:pt x="0" y="43389"/>
                </a:lnTo>
                <a:lnTo>
                  <a:pt x="6346" y="73712"/>
                </a:lnTo>
                <a:lnTo>
                  <a:pt x="15925" y="107857"/>
                </a:lnTo>
                <a:lnTo>
                  <a:pt x="48016" y="94914"/>
                </a:lnTo>
                <a:lnTo>
                  <a:pt x="55919" y="102926"/>
                </a:lnTo>
                <a:lnTo>
                  <a:pt x="63462" y="119320"/>
                </a:lnTo>
                <a:lnTo>
                  <a:pt x="74718" y="113527"/>
                </a:lnTo>
                <a:lnTo>
                  <a:pt x="80824" y="127949"/>
                </a:lnTo>
                <a:lnTo>
                  <a:pt x="85255" y="125730"/>
                </a:lnTo>
                <a:lnTo>
                  <a:pt x="90284" y="136207"/>
                </a:lnTo>
                <a:lnTo>
                  <a:pt x="88847" y="137070"/>
                </a:lnTo>
                <a:lnTo>
                  <a:pt x="98785" y="159135"/>
                </a:lnTo>
                <a:lnTo>
                  <a:pt x="96750" y="161107"/>
                </a:lnTo>
                <a:lnTo>
                  <a:pt x="97468" y="169735"/>
                </a:lnTo>
                <a:lnTo>
                  <a:pt x="94834" y="175406"/>
                </a:lnTo>
                <a:lnTo>
                  <a:pt x="88248" y="182678"/>
                </a:lnTo>
                <a:lnTo>
                  <a:pt x="93277" y="186993"/>
                </a:lnTo>
                <a:lnTo>
                  <a:pt x="113873" y="171831"/>
                </a:lnTo>
                <a:lnTo>
                  <a:pt x="122254" y="170598"/>
                </a:lnTo>
                <a:lnTo>
                  <a:pt x="121536" y="164065"/>
                </a:lnTo>
                <a:lnTo>
                  <a:pt x="118902" y="164065"/>
                </a:lnTo>
                <a:lnTo>
                  <a:pt x="112436" y="150999"/>
                </a:lnTo>
                <a:lnTo>
                  <a:pt x="107167" y="152355"/>
                </a:lnTo>
                <a:lnTo>
                  <a:pt x="95193" y="124251"/>
                </a:lnTo>
                <a:lnTo>
                  <a:pt x="99624" y="122525"/>
                </a:lnTo>
                <a:lnTo>
                  <a:pt x="99983" y="112171"/>
                </a:lnTo>
                <a:lnTo>
                  <a:pt x="97229" y="102926"/>
                </a:lnTo>
                <a:lnTo>
                  <a:pt x="137342" y="88258"/>
                </a:lnTo>
                <a:lnTo>
                  <a:pt x="125368" y="60276"/>
                </a:lnTo>
                <a:lnTo>
                  <a:pt x="122494" y="49306"/>
                </a:lnTo>
                <a:lnTo>
                  <a:pt x="101300" y="41787"/>
                </a:lnTo>
                <a:lnTo>
                  <a:pt x="88248" y="38952"/>
                </a:lnTo>
                <a:lnTo>
                  <a:pt x="75077" y="38089"/>
                </a:lnTo>
                <a:lnTo>
                  <a:pt x="67893" y="3451"/>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94" name="หมู่บ้านเกษมสันต์ 2"/>
          <p:cNvSpPr/>
          <p:nvPr/>
        </p:nvSpPr>
        <p:spPr>
          <a:xfrm>
            <a:off x="6287400" y="5703480"/>
            <a:ext cx="57600" cy="19080"/>
          </a:xfrm>
          <a:custGeom>
            <a:avLst/>
            <a:gdLst/>
            <a:ahLst/>
            <a:rect l="l" t="t" r="r" b="b"/>
            <a:pathLst>
              <a:path w="57834" h="19353">
                <a:moveTo>
                  <a:pt x="19757" y="18243"/>
                </a:moveTo>
                <a:lnTo>
                  <a:pt x="28738" y="17380"/>
                </a:lnTo>
                <a:lnTo>
                  <a:pt x="46938" y="19353"/>
                </a:lnTo>
                <a:lnTo>
                  <a:pt x="47058" y="14299"/>
                </a:lnTo>
                <a:lnTo>
                  <a:pt x="57834" y="14915"/>
                </a:lnTo>
                <a:lnTo>
                  <a:pt x="57715" y="9122"/>
                </a:lnTo>
                <a:lnTo>
                  <a:pt x="47417" y="9122"/>
                </a:lnTo>
                <a:lnTo>
                  <a:pt x="48016" y="3575"/>
                </a:lnTo>
                <a:lnTo>
                  <a:pt x="25145" y="3451"/>
                </a:lnTo>
                <a:lnTo>
                  <a:pt x="5029" y="0"/>
                </a:lnTo>
                <a:lnTo>
                  <a:pt x="0" y="13066"/>
                </a:lnTo>
                <a:lnTo>
                  <a:pt x="19757" y="18243"/>
                </a:lnTo>
                <a:close/>
              </a:path>
            </a:pathLst>
          </a:custGeom>
          <a:solidFill>
            <a:srgbClr val="ded5c5"/>
          </a:solidFill>
          <a:ln w="6191">
            <a:solidFill>
              <a:srgbClr val="b5a68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95" name="พัฒนาริมคลองบ้านป่า"/>
          <p:cNvSpPr/>
          <p:nvPr/>
        </p:nvSpPr>
        <p:spPr>
          <a:xfrm>
            <a:off x="6221520" y="5599080"/>
            <a:ext cx="58680" cy="44280"/>
          </a:xfrm>
          <a:custGeom>
            <a:avLst/>
            <a:gdLst/>
            <a:ahLst/>
            <a:rect l="l" t="t" r="r" b="b"/>
            <a:pathLst>
              <a:path w="59032" h="44622">
                <a:moveTo>
                  <a:pt x="0" y="21941"/>
                </a:moveTo>
                <a:lnTo>
                  <a:pt x="479" y="27981"/>
                </a:lnTo>
                <a:lnTo>
                  <a:pt x="4550" y="29214"/>
                </a:lnTo>
                <a:lnTo>
                  <a:pt x="1557" y="37719"/>
                </a:lnTo>
                <a:lnTo>
                  <a:pt x="14489" y="44622"/>
                </a:lnTo>
                <a:lnTo>
                  <a:pt x="23110" y="40554"/>
                </a:lnTo>
                <a:lnTo>
                  <a:pt x="32330" y="33035"/>
                </a:lnTo>
                <a:lnTo>
                  <a:pt x="45142" y="28474"/>
                </a:lnTo>
                <a:lnTo>
                  <a:pt x="49093" y="18243"/>
                </a:lnTo>
                <a:lnTo>
                  <a:pt x="55200" y="15162"/>
                </a:lnTo>
                <a:lnTo>
                  <a:pt x="59032" y="10477"/>
                </a:lnTo>
                <a:lnTo>
                  <a:pt x="34844" y="7766"/>
                </a:lnTo>
                <a:lnTo>
                  <a:pt x="19278" y="0"/>
                </a:lnTo>
                <a:lnTo>
                  <a:pt x="10178" y="13929"/>
                </a:lnTo>
                <a:lnTo>
                  <a:pt x="3832" y="11833"/>
                </a:lnTo>
                <a:lnTo>
                  <a:pt x="0" y="21941"/>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96" name="กองพลที่ 1 รักษาพระองค์"/>
          <p:cNvSpPr/>
          <p:nvPr/>
        </p:nvSpPr>
        <p:spPr>
          <a:xfrm>
            <a:off x="5301720" y="5226840"/>
            <a:ext cx="17280" cy="12240"/>
          </a:xfrm>
          <a:custGeom>
            <a:avLst/>
            <a:gdLst/>
            <a:ahLst/>
            <a:rect l="l" t="t" r="r" b="b"/>
            <a:pathLst>
              <a:path w="17482" h="12450">
                <a:moveTo>
                  <a:pt x="17482" y="1972"/>
                </a:moveTo>
                <a:lnTo>
                  <a:pt x="14010" y="247"/>
                </a:lnTo>
                <a:lnTo>
                  <a:pt x="12094" y="4191"/>
                </a:lnTo>
                <a:lnTo>
                  <a:pt x="3113" y="0"/>
                </a:lnTo>
                <a:lnTo>
                  <a:pt x="0" y="6287"/>
                </a:lnTo>
                <a:lnTo>
                  <a:pt x="12692" y="12450"/>
                </a:lnTo>
                <a:lnTo>
                  <a:pt x="17482" y="1972"/>
                </a:lnTo>
                <a:close/>
              </a:path>
            </a:pathLst>
          </a:custGeom>
          <a:solidFill>
            <a:srgbClr val="ded5c5"/>
          </a:solidFill>
          <a:ln w="6191">
            <a:solidFill>
              <a:srgbClr val="b5a68d"/>
            </a:solidFill>
            <a:round/>
          </a:ln>
        </p:spPr>
        <p:style>
          <a:lnRef idx="0"/>
          <a:fillRef idx="0"/>
          <a:effectRef idx="0"/>
          <a:fontRef idx="minor"/>
        </p:style>
        <p:txBody>
          <a:bodyPr lIns="90000" rIns="90000" tIns="-32760" bIns="-32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97" name="กรมแพทย์ทหารบก"/>
          <p:cNvSpPr/>
          <p:nvPr/>
        </p:nvSpPr>
        <p:spPr>
          <a:xfrm>
            <a:off x="5261040" y="5229000"/>
            <a:ext cx="78840" cy="38880"/>
          </a:xfrm>
          <a:custGeom>
            <a:avLst/>
            <a:gdLst/>
            <a:ahLst/>
            <a:rect l="l" t="t" r="r" b="b"/>
            <a:pathLst>
              <a:path w="79028" h="39321">
                <a:moveTo>
                  <a:pt x="57954" y="0"/>
                </a:moveTo>
                <a:lnTo>
                  <a:pt x="41310" y="33528"/>
                </a:lnTo>
                <a:lnTo>
                  <a:pt x="16165" y="21202"/>
                </a:lnTo>
                <a:lnTo>
                  <a:pt x="13291" y="26625"/>
                </a:lnTo>
                <a:lnTo>
                  <a:pt x="3832" y="24406"/>
                </a:lnTo>
                <a:lnTo>
                  <a:pt x="0" y="31432"/>
                </a:lnTo>
                <a:lnTo>
                  <a:pt x="15806" y="39321"/>
                </a:lnTo>
                <a:lnTo>
                  <a:pt x="19398" y="31063"/>
                </a:lnTo>
                <a:lnTo>
                  <a:pt x="34964" y="38089"/>
                </a:lnTo>
                <a:lnTo>
                  <a:pt x="37239" y="33281"/>
                </a:lnTo>
                <a:lnTo>
                  <a:pt x="49093" y="38089"/>
                </a:lnTo>
                <a:lnTo>
                  <a:pt x="55919" y="22681"/>
                </a:lnTo>
                <a:lnTo>
                  <a:pt x="65498" y="26995"/>
                </a:lnTo>
                <a:lnTo>
                  <a:pt x="64779" y="28844"/>
                </a:lnTo>
                <a:lnTo>
                  <a:pt x="72323" y="32419"/>
                </a:lnTo>
                <a:lnTo>
                  <a:pt x="77831" y="22557"/>
                </a:lnTo>
                <a:lnTo>
                  <a:pt x="74718" y="21202"/>
                </a:lnTo>
                <a:lnTo>
                  <a:pt x="79028" y="12450"/>
                </a:lnTo>
                <a:lnTo>
                  <a:pt x="62624" y="5917"/>
                </a:lnTo>
                <a:lnTo>
                  <a:pt x="64420" y="2712"/>
                </a:lnTo>
                <a:lnTo>
                  <a:pt x="57954" y="0"/>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98" name="แฟลตสถานีตำรวจนครบาลพญาไท"/>
          <p:cNvSpPr/>
          <p:nvPr/>
        </p:nvSpPr>
        <p:spPr>
          <a:xfrm>
            <a:off x="5262480" y="5266440"/>
            <a:ext cx="15840" cy="14400"/>
          </a:xfrm>
          <a:custGeom>
            <a:avLst/>
            <a:gdLst/>
            <a:ahLst/>
            <a:rect l="l" t="t" r="r" b="b"/>
            <a:pathLst>
              <a:path w="16285" h="14915">
                <a:moveTo>
                  <a:pt x="2754" y="0"/>
                </a:moveTo>
                <a:lnTo>
                  <a:pt x="0" y="11710"/>
                </a:lnTo>
                <a:lnTo>
                  <a:pt x="14010" y="14915"/>
                </a:lnTo>
                <a:lnTo>
                  <a:pt x="16285" y="5424"/>
                </a:lnTo>
                <a:lnTo>
                  <a:pt x="2754" y="0"/>
                </a:lnTo>
                <a:close/>
              </a:path>
            </a:pathLst>
          </a:custGeom>
          <a:solidFill>
            <a:srgbClr val="ded5c5"/>
          </a:solidFill>
          <a:ln w="6191">
            <a:solidFill>
              <a:srgbClr val="b5a68d"/>
            </a:solidFill>
            <a:round/>
          </a:ln>
        </p:spPr>
        <p:style>
          <a:lnRef idx="0"/>
          <a:fillRef idx="0"/>
          <a:effectRef idx="0"/>
          <a:fontRef idx="minor"/>
        </p:style>
        <p:txBody>
          <a:bodyPr lIns="90000" rIns="90000" tIns="-30600" bIns="-30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199" name="กองพันทหารสารวัตรที่ 11 ชุมชนที่ 1"/>
          <p:cNvSpPr/>
          <p:nvPr/>
        </p:nvSpPr>
        <p:spPr>
          <a:xfrm>
            <a:off x="5250240" y="5217480"/>
            <a:ext cx="22680" cy="29880"/>
          </a:xfrm>
          <a:custGeom>
            <a:avLst/>
            <a:gdLst/>
            <a:ahLst/>
            <a:rect l="l" t="t" r="r" b="b"/>
            <a:pathLst>
              <a:path w="22990" h="30077">
                <a:moveTo>
                  <a:pt x="10298" y="30077"/>
                </a:moveTo>
                <a:lnTo>
                  <a:pt x="12453" y="25269"/>
                </a:lnTo>
                <a:lnTo>
                  <a:pt x="18440" y="28228"/>
                </a:lnTo>
                <a:lnTo>
                  <a:pt x="22990" y="17011"/>
                </a:lnTo>
                <a:lnTo>
                  <a:pt x="14608" y="12326"/>
                </a:lnTo>
                <a:lnTo>
                  <a:pt x="21074" y="1849"/>
                </a:lnTo>
                <a:lnTo>
                  <a:pt x="17841" y="0"/>
                </a:lnTo>
                <a:lnTo>
                  <a:pt x="10896" y="14299"/>
                </a:lnTo>
                <a:lnTo>
                  <a:pt x="8980" y="13066"/>
                </a:lnTo>
                <a:lnTo>
                  <a:pt x="9699" y="10231"/>
                </a:lnTo>
                <a:lnTo>
                  <a:pt x="8142" y="9615"/>
                </a:lnTo>
                <a:lnTo>
                  <a:pt x="0" y="25639"/>
                </a:lnTo>
                <a:lnTo>
                  <a:pt x="10298" y="30077"/>
                </a:lnTo>
                <a:close/>
              </a:path>
            </a:pathLst>
          </a:custGeom>
          <a:solidFill>
            <a:srgbClr val="ded5c5"/>
          </a:solidFill>
          <a:ln w="6191">
            <a:solidFill>
              <a:srgbClr val="b5a68d"/>
            </a:solidFill>
            <a:round/>
          </a:ln>
        </p:spPr>
        <p:style>
          <a:lnRef idx="0"/>
          <a:fillRef idx="0"/>
          <a:effectRef idx="0"/>
          <a:fontRef idx="minor"/>
        </p:style>
        <p:txBody>
          <a:bodyPr lIns="90000" rIns="90000" tIns="-15120" bIns="-15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00" name="กองพันทหารสารวัตรที่ 11 ชุมชนที่ 2"/>
          <p:cNvSpPr/>
          <p:nvPr/>
        </p:nvSpPr>
        <p:spPr>
          <a:xfrm>
            <a:off x="5256000" y="5217480"/>
            <a:ext cx="32040" cy="42480"/>
          </a:xfrm>
          <a:custGeom>
            <a:avLst/>
            <a:gdLst/>
            <a:ahLst/>
            <a:rect l="l" t="t" r="r" b="b"/>
            <a:pathLst>
              <a:path w="32330" h="42773">
                <a:moveTo>
                  <a:pt x="15806" y="2219"/>
                </a:moveTo>
                <a:lnTo>
                  <a:pt x="14249" y="5670"/>
                </a:lnTo>
                <a:lnTo>
                  <a:pt x="12453" y="5177"/>
                </a:lnTo>
                <a:lnTo>
                  <a:pt x="8741" y="12326"/>
                </a:lnTo>
                <a:lnTo>
                  <a:pt x="17602" y="16887"/>
                </a:lnTo>
                <a:lnTo>
                  <a:pt x="12692" y="28721"/>
                </a:lnTo>
                <a:lnTo>
                  <a:pt x="6945" y="25762"/>
                </a:lnTo>
                <a:lnTo>
                  <a:pt x="0" y="40431"/>
                </a:lnTo>
                <a:lnTo>
                  <a:pt x="4790" y="42773"/>
                </a:lnTo>
                <a:lnTo>
                  <a:pt x="8741" y="35377"/>
                </a:lnTo>
                <a:lnTo>
                  <a:pt x="16045" y="37349"/>
                </a:lnTo>
                <a:lnTo>
                  <a:pt x="32330" y="6163"/>
                </a:lnTo>
                <a:lnTo>
                  <a:pt x="24786" y="3451"/>
                </a:lnTo>
                <a:lnTo>
                  <a:pt x="25385" y="1356"/>
                </a:lnTo>
                <a:lnTo>
                  <a:pt x="21433" y="0"/>
                </a:lnTo>
                <a:lnTo>
                  <a:pt x="18440" y="4068"/>
                </a:lnTo>
                <a:lnTo>
                  <a:pt x="15806" y="2219"/>
                </a:lnTo>
                <a:close/>
              </a:path>
            </a:pathLst>
          </a:custGeom>
          <a:solidFill>
            <a:srgbClr val="ded5c5"/>
          </a:solidFill>
          <a:ln w="6191">
            <a:solidFill>
              <a:srgbClr val="b5a68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01" name="หมู่บ้านพิบูลเวศม์"/>
          <p:cNvSpPr/>
          <p:nvPr/>
        </p:nvSpPr>
        <p:spPr>
          <a:xfrm>
            <a:off x="6006960" y="5718960"/>
            <a:ext cx="46800" cy="48240"/>
          </a:xfrm>
          <a:custGeom>
            <a:avLst/>
            <a:gdLst/>
            <a:ahLst/>
            <a:rect l="l" t="t" r="r" b="b"/>
            <a:pathLst>
              <a:path w="47297" h="48443">
                <a:moveTo>
                  <a:pt x="39394" y="0"/>
                </a:moveTo>
                <a:lnTo>
                  <a:pt x="2515" y="5670"/>
                </a:lnTo>
                <a:lnTo>
                  <a:pt x="3113" y="7766"/>
                </a:lnTo>
                <a:lnTo>
                  <a:pt x="0" y="8382"/>
                </a:lnTo>
                <a:lnTo>
                  <a:pt x="239" y="9738"/>
                </a:lnTo>
                <a:lnTo>
                  <a:pt x="2874" y="9368"/>
                </a:lnTo>
                <a:lnTo>
                  <a:pt x="5867" y="20092"/>
                </a:lnTo>
                <a:lnTo>
                  <a:pt x="7424" y="19846"/>
                </a:lnTo>
                <a:lnTo>
                  <a:pt x="8621" y="26379"/>
                </a:lnTo>
                <a:lnTo>
                  <a:pt x="6586" y="26379"/>
                </a:lnTo>
                <a:lnTo>
                  <a:pt x="5269" y="23913"/>
                </a:lnTo>
                <a:lnTo>
                  <a:pt x="3233" y="24899"/>
                </a:lnTo>
                <a:lnTo>
                  <a:pt x="8142" y="34761"/>
                </a:lnTo>
                <a:lnTo>
                  <a:pt x="12094" y="48443"/>
                </a:lnTo>
                <a:lnTo>
                  <a:pt x="47178" y="37719"/>
                </a:lnTo>
                <a:lnTo>
                  <a:pt x="47297" y="5424"/>
                </a:lnTo>
                <a:lnTo>
                  <a:pt x="39993" y="5300"/>
                </a:lnTo>
                <a:lnTo>
                  <a:pt x="39394" y="0"/>
                </a:lnTo>
                <a:close/>
              </a:path>
            </a:pathLst>
          </a:custGeom>
          <a:solidFill>
            <a:srgbClr val="ded5c5"/>
          </a:solidFill>
          <a:ln w="6191">
            <a:solidFill>
              <a:srgbClr val="b5a68d"/>
            </a:solidFill>
            <a:round/>
          </a:ln>
        </p:spPr>
        <p:style>
          <a:lnRef idx="0"/>
          <a:fillRef idx="0"/>
          <a:effectRef idx="0"/>
          <a:fontRef idx="minor"/>
        </p:style>
        <p:txBody>
          <a:bodyPr lIns="90000" rIns="90000" tIns="3240" bIns="3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02" name="เคหะชุมชนทุ่งสองห้อง 303"/>
          <p:cNvSpPr/>
          <p:nvPr/>
        </p:nvSpPr>
        <p:spPr>
          <a:xfrm>
            <a:off x="5825520" y="3482280"/>
            <a:ext cx="16920" cy="16560"/>
          </a:xfrm>
          <a:custGeom>
            <a:avLst/>
            <a:gdLst/>
            <a:ahLst/>
            <a:rect l="l" t="t" r="r" b="b"/>
            <a:pathLst>
              <a:path w="17243" h="16887">
                <a:moveTo>
                  <a:pt x="3832" y="0"/>
                </a:moveTo>
                <a:lnTo>
                  <a:pt x="0" y="12326"/>
                </a:lnTo>
                <a:lnTo>
                  <a:pt x="13531" y="16887"/>
                </a:lnTo>
                <a:lnTo>
                  <a:pt x="17243" y="4068"/>
                </a:lnTo>
                <a:lnTo>
                  <a:pt x="3832" y="0"/>
                </a:lnTo>
                <a:close/>
              </a:path>
            </a:pathLst>
          </a:custGeom>
          <a:solidFill>
            <a:srgbClr val="ded5c5"/>
          </a:solidFill>
          <a:ln w="6191">
            <a:solidFill>
              <a:srgbClr val="b5a68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03" name="เคหะชุมชนทุ่งสองห้อง 315"/>
          <p:cNvSpPr/>
          <p:nvPr/>
        </p:nvSpPr>
        <p:spPr>
          <a:xfrm>
            <a:off x="5865840" y="3512160"/>
            <a:ext cx="18360" cy="16560"/>
          </a:xfrm>
          <a:custGeom>
            <a:avLst/>
            <a:gdLst/>
            <a:ahLst/>
            <a:rect l="l" t="t" r="r" b="b"/>
            <a:pathLst>
              <a:path w="18560" h="17011">
                <a:moveTo>
                  <a:pt x="5269" y="0"/>
                </a:moveTo>
                <a:lnTo>
                  <a:pt x="0" y="9738"/>
                </a:lnTo>
                <a:lnTo>
                  <a:pt x="13291" y="17011"/>
                </a:lnTo>
                <a:lnTo>
                  <a:pt x="18560" y="7396"/>
                </a:lnTo>
                <a:lnTo>
                  <a:pt x="5269" y="0"/>
                </a:lnTo>
                <a:close/>
              </a:path>
            </a:pathLst>
          </a:custGeom>
          <a:solidFill>
            <a:srgbClr val="ded5c5"/>
          </a:solidFill>
          <a:ln w="6191">
            <a:solidFill>
              <a:srgbClr val="b5a68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04" name="เคหะชุมชนทุ่งสองห้อง 324"/>
          <p:cNvSpPr/>
          <p:nvPr/>
        </p:nvSpPr>
        <p:spPr>
          <a:xfrm>
            <a:off x="5916960" y="3551040"/>
            <a:ext cx="16920" cy="14400"/>
          </a:xfrm>
          <a:custGeom>
            <a:avLst/>
            <a:gdLst/>
            <a:ahLst/>
            <a:rect l="l" t="t" r="r" b="b"/>
            <a:pathLst>
              <a:path w="17243" h="14915">
                <a:moveTo>
                  <a:pt x="4191" y="0"/>
                </a:moveTo>
                <a:lnTo>
                  <a:pt x="0" y="8505"/>
                </a:lnTo>
                <a:lnTo>
                  <a:pt x="13291" y="14915"/>
                </a:lnTo>
                <a:lnTo>
                  <a:pt x="17243" y="6533"/>
                </a:lnTo>
                <a:lnTo>
                  <a:pt x="4191" y="0"/>
                </a:lnTo>
                <a:close/>
              </a:path>
            </a:pathLst>
          </a:custGeom>
          <a:solidFill>
            <a:srgbClr val="ded5c5"/>
          </a:solidFill>
          <a:ln w="6191">
            <a:solidFill>
              <a:srgbClr val="b5a68d"/>
            </a:solidFill>
            <a:round/>
          </a:ln>
        </p:spPr>
        <p:style>
          <a:lnRef idx="0"/>
          <a:fillRef idx="0"/>
          <a:effectRef idx="0"/>
          <a:fontRef idx="minor"/>
        </p:style>
        <p:txBody>
          <a:bodyPr lIns="90000" rIns="90000" tIns="-30600" bIns="-30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05" name="เคหะชุมชนทุ่งสองห้อง 329"/>
          <p:cNvSpPr/>
          <p:nvPr/>
        </p:nvSpPr>
        <p:spPr>
          <a:xfrm>
            <a:off x="5917680" y="3538800"/>
            <a:ext cx="22680" cy="19440"/>
          </a:xfrm>
          <a:custGeom>
            <a:avLst/>
            <a:gdLst/>
            <a:ahLst/>
            <a:rect l="l" t="t" r="r" b="b"/>
            <a:pathLst>
              <a:path w="23110" h="19722">
                <a:moveTo>
                  <a:pt x="0" y="6040"/>
                </a:moveTo>
                <a:lnTo>
                  <a:pt x="2634" y="11094"/>
                </a:lnTo>
                <a:lnTo>
                  <a:pt x="20954" y="19722"/>
                </a:lnTo>
                <a:lnTo>
                  <a:pt x="22272" y="17380"/>
                </a:lnTo>
                <a:lnTo>
                  <a:pt x="23110" y="7026"/>
                </a:lnTo>
                <a:lnTo>
                  <a:pt x="10777" y="0"/>
                </a:lnTo>
                <a:lnTo>
                  <a:pt x="0" y="6040"/>
                </a:lnTo>
                <a:close/>
              </a:path>
            </a:pathLst>
          </a:custGeom>
          <a:solidFill>
            <a:srgbClr val="ded5c5"/>
          </a:solidFill>
          <a:ln w="6191">
            <a:solidFill>
              <a:srgbClr val="b5a68d"/>
            </a:solidFill>
            <a:round/>
          </a:ln>
        </p:spPr>
        <p:style>
          <a:lnRef idx="0"/>
          <a:fillRef idx="0"/>
          <a:effectRef idx="0"/>
          <a:fontRef idx="minor"/>
        </p:style>
        <p:txBody>
          <a:bodyPr lIns="90000" rIns="90000" tIns="-25560" bIns="-25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06" name="เคหะชุมชนทุ่งสองห้อง 330"/>
          <p:cNvSpPr/>
          <p:nvPr/>
        </p:nvSpPr>
        <p:spPr>
          <a:xfrm>
            <a:off x="5939280" y="3540600"/>
            <a:ext cx="12600" cy="20520"/>
          </a:xfrm>
          <a:custGeom>
            <a:avLst/>
            <a:gdLst/>
            <a:ahLst/>
            <a:rect l="l" t="t" r="r" b="b"/>
            <a:pathLst>
              <a:path w="13052" h="20832">
                <a:moveTo>
                  <a:pt x="5149" y="0"/>
                </a:moveTo>
                <a:lnTo>
                  <a:pt x="1317" y="7149"/>
                </a:lnTo>
                <a:lnTo>
                  <a:pt x="1437" y="14669"/>
                </a:lnTo>
                <a:lnTo>
                  <a:pt x="0" y="18490"/>
                </a:lnTo>
                <a:lnTo>
                  <a:pt x="4550" y="20832"/>
                </a:lnTo>
                <a:lnTo>
                  <a:pt x="13052" y="4191"/>
                </a:lnTo>
                <a:lnTo>
                  <a:pt x="5149" y="0"/>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07" name="หมู่บ้านแสงธรรม"/>
          <p:cNvSpPr/>
          <p:nvPr/>
        </p:nvSpPr>
        <p:spPr>
          <a:xfrm>
            <a:off x="6853680" y="3421800"/>
            <a:ext cx="49680" cy="13320"/>
          </a:xfrm>
          <a:custGeom>
            <a:avLst/>
            <a:gdLst/>
            <a:ahLst/>
            <a:rect l="l" t="t" r="r" b="b"/>
            <a:pathLst>
              <a:path w="50051" h="13682">
                <a:moveTo>
                  <a:pt x="44304" y="13682"/>
                </a:moveTo>
                <a:lnTo>
                  <a:pt x="50051" y="8998"/>
                </a:lnTo>
                <a:lnTo>
                  <a:pt x="50051" y="1356"/>
                </a:lnTo>
                <a:lnTo>
                  <a:pt x="17003" y="0"/>
                </a:lnTo>
                <a:lnTo>
                  <a:pt x="16644" y="8012"/>
                </a:lnTo>
                <a:lnTo>
                  <a:pt x="0" y="7766"/>
                </a:lnTo>
                <a:lnTo>
                  <a:pt x="0" y="13066"/>
                </a:lnTo>
                <a:lnTo>
                  <a:pt x="44304" y="13682"/>
                </a:lnTo>
                <a:close/>
              </a:path>
            </a:pathLst>
          </a:custGeom>
          <a:solidFill>
            <a:srgbClr val="ded5c5"/>
          </a:solidFill>
          <a:ln w="6191">
            <a:solidFill>
              <a:srgbClr val="b5a68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08" name="เกาะแก้ววิลล่า"/>
          <p:cNvSpPr/>
          <p:nvPr/>
        </p:nvSpPr>
        <p:spPr>
          <a:xfrm>
            <a:off x="6529320" y="3436920"/>
            <a:ext cx="16560" cy="38160"/>
          </a:xfrm>
          <a:custGeom>
            <a:avLst/>
            <a:gdLst/>
            <a:ahLst/>
            <a:rect l="l" t="t" r="r" b="b"/>
            <a:pathLst>
              <a:path w="17003" h="38582">
                <a:moveTo>
                  <a:pt x="0" y="1849"/>
                </a:moveTo>
                <a:lnTo>
                  <a:pt x="9938" y="38582"/>
                </a:lnTo>
                <a:lnTo>
                  <a:pt x="17003" y="32295"/>
                </a:lnTo>
                <a:lnTo>
                  <a:pt x="14369" y="29214"/>
                </a:lnTo>
                <a:lnTo>
                  <a:pt x="16285" y="27735"/>
                </a:lnTo>
                <a:lnTo>
                  <a:pt x="11615" y="8012"/>
                </a:lnTo>
                <a:lnTo>
                  <a:pt x="8262" y="0"/>
                </a:lnTo>
                <a:lnTo>
                  <a:pt x="0" y="1849"/>
                </a:lnTo>
                <a:close/>
              </a:path>
            </a:pathLst>
          </a:custGeom>
          <a:solidFill>
            <a:srgbClr val="ded5c5"/>
          </a:solidFill>
          <a:ln w="6191">
            <a:solidFill>
              <a:srgbClr val="b5a68d"/>
            </a:solidFill>
            <a:round/>
          </a:ln>
        </p:spPr>
        <p:style>
          <a:lnRef idx="0"/>
          <a:fillRef idx="0"/>
          <a:effectRef idx="0"/>
          <a:fontRef idx="minor"/>
        </p:style>
        <p:txBody>
          <a:bodyPr lIns="90000" rIns="90000" tIns="-6840" bIns="-6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09" name="ดวงมณี "/>
          <p:cNvSpPr/>
          <p:nvPr/>
        </p:nvSpPr>
        <p:spPr>
          <a:xfrm>
            <a:off x="6485400" y="3427560"/>
            <a:ext cx="21960" cy="20880"/>
          </a:xfrm>
          <a:custGeom>
            <a:avLst/>
            <a:gdLst/>
            <a:ahLst/>
            <a:rect l="l" t="t" r="r" b="b"/>
            <a:pathLst>
              <a:path w="22272" h="21325">
                <a:moveTo>
                  <a:pt x="0" y="5054"/>
                </a:moveTo>
                <a:lnTo>
                  <a:pt x="1916" y="21325"/>
                </a:lnTo>
                <a:lnTo>
                  <a:pt x="22272" y="16271"/>
                </a:lnTo>
                <a:lnTo>
                  <a:pt x="19398" y="0"/>
                </a:lnTo>
                <a:lnTo>
                  <a:pt x="0" y="5054"/>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10" name="หมู่บ้านอรุณนิเวศน์"/>
          <p:cNvSpPr/>
          <p:nvPr/>
        </p:nvSpPr>
        <p:spPr>
          <a:xfrm>
            <a:off x="6464160" y="3447360"/>
            <a:ext cx="44280" cy="43920"/>
          </a:xfrm>
          <a:custGeom>
            <a:avLst/>
            <a:gdLst/>
            <a:ahLst/>
            <a:rect l="l" t="t" r="r" b="b"/>
            <a:pathLst>
              <a:path w="44663" h="44375">
                <a:moveTo>
                  <a:pt x="12333" y="18613"/>
                </a:moveTo>
                <a:lnTo>
                  <a:pt x="18081" y="43882"/>
                </a:lnTo>
                <a:lnTo>
                  <a:pt x="26941" y="42280"/>
                </a:lnTo>
                <a:lnTo>
                  <a:pt x="27181" y="44375"/>
                </a:lnTo>
                <a:lnTo>
                  <a:pt x="31492" y="43882"/>
                </a:lnTo>
                <a:lnTo>
                  <a:pt x="44663" y="38705"/>
                </a:lnTo>
                <a:lnTo>
                  <a:pt x="34844" y="0"/>
                </a:lnTo>
                <a:lnTo>
                  <a:pt x="0" y="9122"/>
                </a:lnTo>
                <a:lnTo>
                  <a:pt x="1916" y="15655"/>
                </a:lnTo>
                <a:lnTo>
                  <a:pt x="11495" y="13066"/>
                </a:lnTo>
                <a:lnTo>
                  <a:pt x="12333" y="18613"/>
                </a:lnTo>
                <a:close/>
              </a:path>
            </a:pathLst>
          </a:custGeom>
          <a:solidFill>
            <a:srgbClr val="ded5c5"/>
          </a:solidFill>
          <a:ln w="6191">
            <a:solidFill>
              <a:srgbClr val="b5a68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11" name="ทิมเรืองเวช (สะพานใหม่)"/>
          <p:cNvSpPr/>
          <p:nvPr/>
        </p:nvSpPr>
        <p:spPr>
          <a:xfrm>
            <a:off x="6318720" y="3637080"/>
            <a:ext cx="87120" cy="25560"/>
          </a:xfrm>
          <a:custGeom>
            <a:avLst/>
            <a:gdLst/>
            <a:ahLst/>
            <a:rect l="l" t="t" r="r" b="b"/>
            <a:pathLst>
              <a:path w="87410" h="26009">
                <a:moveTo>
                  <a:pt x="63582" y="22681"/>
                </a:moveTo>
                <a:lnTo>
                  <a:pt x="79028" y="26009"/>
                </a:lnTo>
                <a:lnTo>
                  <a:pt x="84417" y="25516"/>
                </a:lnTo>
                <a:lnTo>
                  <a:pt x="83219" y="21202"/>
                </a:lnTo>
                <a:lnTo>
                  <a:pt x="87410" y="21202"/>
                </a:lnTo>
                <a:lnTo>
                  <a:pt x="86332" y="11587"/>
                </a:lnTo>
                <a:lnTo>
                  <a:pt x="83818" y="10601"/>
                </a:lnTo>
                <a:lnTo>
                  <a:pt x="87171" y="10354"/>
                </a:lnTo>
                <a:lnTo>
                  <a:pt x="87410" y="5670"/>
                </a:lnTo>
                <a:lnTo>
                  <a:pt x="78190" y="5177"/>
                </a:lnTo>
                <a:lnTo>
                  <a:pt x="78310" y="2465"/>
                </a:lnTo>
                <a:lnTo>
                  <a:pt x="3712" y="0"/>
                </a:lnTo>
                <a:lnTo>
                  <a:pt x="0" y="3698"/>
                </a:lnTo>
                <a:lnTo>
                  <a:pt x="14848" y="18613"/>
                </a:lnTo>
                <a:lnTo>
                  <a:pt x="25744" y="18613"/>
                </a:lnTo>
                <a:lnTo>
                  <a:pt x="62384" y="24160"/>
                </a:lnTo>
                <a:lnTo>
                  <a:pt x="63582" y="22681"/>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12" name="หมู่บ้านชื่นกมลนิเวศน์ 4"/>
          <p:cNvSpPr/>
          <p:nvPr/>
        </p:nvSpPr>
        <p:spPr>
          <a:xfrm>
            <a:off x="6911280" y="4376520"/>
            <a:ext cx="27360" cy="66960"/>
          </a:xfrm>
          <a:custGeom>
            <a:avLst/>
            <a:gdLst/>
            <a:ahLst/>
            <a:rect l="l" t="t" r="r" b="b"/>
            <a:pathLst>
              <a:path w="27780" h="67426">
                <a:moveTo>
                  <a:pt x="7783" y="34268"/>
                </a:moveTo>
                <a:lnTo>
                  <a:pt x="20236" y="67426"/>
                </a:lnTo>
                <a:lnTo>
                  <a:pt x="25864" y="65207"/>
                </a:lnTo>
                <a:lnTo>
                  <a:pt x="12453" y="33775"/>
                </a:lnTo>
                <a:lnTo>
                  <a:pt x="9579" y="29830"/>
                </a:lnTo>
                <a:lnTo>
                  <a:pt x="17961" y="22311"/>
                </a:lnTo>
                <a:lnTo>
                  <a:pt x="17123" y="20339"/>
                </a:lnTo>
                <a:lnTo>
                  <a:pt x="27780" y="9738"/>
                </a:lnTo>
                <a:lnTo>
                  <a:pt x="19518" y="986"/>
                </a:lnTo>
                <a:lnTo>
                  <a:pt x="13052" y="6656"/>
                </a:lnTo>
                <a:lnTo>
                  <a:pt x="6107" y="0"/>
                </a:lnTo>
                <a:lnTo>
                  <a:pt x="0" y="5054"/>
                </a:lnTo>
                <a:lnTo>
                  <a:pt x="7783" y="34268"/>
                </a:lnTo>
                <a:close/>
                <a:moveTo>
                  <a:pt x="19398" y="1356"/>
                </a:moveTo>
                <a:lnTo>
                  <a:pt x="19398" y="1233"/>
                </a:lnTo>
                <a:lnTo>
                  <a:pt x="19398" y="1356"/>
                </a:lnTo>
                <a:lnTo>
                  <a:pt x="19398" y="1356"/>
                </a:lnTo>
                <a:close/>
              </a:path>
            </a:pathLst>
          </a:custGeom>
          <a:solidFill>
            <a:srgbClr val="ded5c5"/>
          </a:solidFill>
          <a:ln w="6191">
            <a:solidFill>
              <a:srgbClr val="b5a68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13" name="หมู่บ้านเฉลิมสุขนิเวศน์ 11"/>
          <p:cNvSpPr/>
          <p:nvPr/>
        </p:nvSpPr>
        <p:spPr>
          <a:xfrm>
            <a:off x="6833880" y="4195080"/>
            <a:ext cx="26640" cy="13320"/>
          </a:xfrm>
          <a:custGeom>
            <a:avLst/>
            <a:gdLst/>
            <a:ahLst/>
            <a:rect l="l" t="t" r="r" b="b"/>
            <a:pathLst>
              <a:path w="26822" h="13806">
                <a:moveTo>
                  <a:pt x="26822" y="8135"/>
                </a:moveTo>
                <a:lnTo>
                  <a:pt x="25624" y="1602"/>
                </a:lnTo>
                <a:lnTo>
                  <a:pt x="19278" y="2835"/>
                </a:lnTo>
                <a:lnTo>
                  <a:pt x="18560" y="0"/>
                </a:lnTo>
                <a:lnTo>
                  <a:pt x="8023" y="2712"/>
                </a:lnTo>
                <a:lnTo>
                  <a:pt x="8741" y="5547"/>
                </a:lnTo>
                <a:lnTo>
                  <a:pt x="0" y="8135"/>
                </a:lnTo>
                <a:lnTo>
                  <a:pt x="838" y="11710"/>
                </a:lnTo>
                <a:lnTo>
                  <a:pt x="4191" y="11587"/>
                </a:lnTo>
                <a:lnTo>
                  <a:pt x="4790" y="13806"/>
                </a:lnTo>
                <a:lnTo>
                  <a:pt x="26822" y="8135"/>
                </a:lnTo>
                <a:close/>
              </a:path>
            </a:pathLst>
          </a:custGeom>
          <a:solidFill>
            <a:srgbClr val="ded5c5"/>
          </a:solidFill>
          <a:ln w="6191">
            <a:solidFill>
              <a:srgbClr val="b5a68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14" name="ฟายน์โฮมส์ 3"/>
          <p:cNvSpPr/>
          <p:nvPr/>
        </p:nvSpPr>
        <p:spPr>
          <a:xfrm>
            <a:off x="6851160" y="4359960"/>
            <a:ext cx="34560" cy="21240"/>
          </a:xfrm>
          <a:custGeom>
            <a:avLst/>
            <a:gdLst/>
            <a:ahLst/>
            <a:rect l="l" t="t" r="r" b="b"/>
            <a:pathLst>
              <a:path w="34844" h="21571">
                <a:moveTo>
                  <a:pt x="12453" y="21571"/>
                </a:moveTo>
                <a:lnTo>
                  <a:pt x="34126" y="16517"/>
                </a:lnTo>
                <a:lnTo>
                  <a:pt x="34844" y="0"/>
                </a:lnTo>
                <a:lnTo>
                  <a:pt x="0" y="8382"/>
                </a:lnTo>
                <a:lnTo>
                  <a:pt x="2275" y="18243"/>
                </a:lnTo>
                <a:lnTo>
                  <a:pt x="4909" y="17627"/>
                </a:lnTo>
                <a:lnTo>
                  <a:pt x="5149" y="19106"/>
                </a:lnTo>
                <a:lnTo>
                  <a:pt x="11136" y="17873"/>
                </a:lnTo>
                <a:lnTo>
                  <a:pt x="12453" y="21571"/>
                </a:lnTo>
                <a:close/>
              </a:path>
            </a:pathLst>
          </a:custGeom>
          <a:solidFill>
            <a:srgbClr val="ded5c5"/>
          </a:solidFill>
          <a:ln w="6191">
            <a:solidFill>
              <a:srgbClr val="b5a68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15" name="หมู่บ้านอัมรินทร์นิเวศน์ 2"/>
          <p:cNvSpPr/>
          <p:nvPr/>
        </p:nvSpPr>
        <p:spPr>
          <a:xfrm>
            <a:off x="6842160" y="4407120"/>
            <a:ext cx="41040" cy="12600"/>
          </a:xfrm>
          <a:custGeom>
            <a:avLst/>
            <a:gdLst/>
            <a:ahLst/>
            <a:rect l="l" t="t" r="r" b="b"/>
            <a:pathLst>
              <a:path w="41430" h="13066">
                <a:moveTo>
                  <a:pt x="8023" y="5793"/>
                </a:moveTo>
                <a:lnTo>
                  <a:pt x="479" y="6780"/>
                </a:lnTo>
                <a:lnTo>
                  <a:pt x="0" y="13066"/>
                </a:lnTo>
                <a:lnTo>
                  <a:pt x="40592" y="9245"/>
                </a:lnTo>
                <a:lnTo>
                  <a:pt x="41430" y="0"/>
                </a:lnTo>
                <a:lnTo>
                  <a:pt x="8023" y="5793"/>
                </a:lnTo>
                <a:close/>
              </a:path>
            </a:pathLst>
          </a:custGeom>
          <a:solidFill>
            <a:srgbClr val="ded5c5"/>
          </a:solidFill>
          <a:ln w="6191">
            <a:solidFill>
              <a:srgbClr val="b5a68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16" name="หมู่บ้านปัฐวิกรณ์ 1 ผัง ก."/>
          <p:cNvSpPr/>
          <p:nvPr/>
        </p:nvSpPr>
        <p:spPr>
          <a:xfrm>
            <a:off x="6857280" y="4571280"/>
            <a:ext cx="69120" cy="55440"/>
          </a:xfrm>
          <a:custGeom>
            <a:avLst/>
            <a:gdLst/>
            <a:ahLst/>
            <a:rect l="l" t="t" r="r" b="b"/>
            <a:pathLst>
              <a:path w="69569" h="55962">
                <a:moveTo>
                  <a:pt x="64660" y="0"/>
                </a:moveTo>
                <a:lnTo>
                  <a:pt x="45142" y="5177"/>
                </a:lnTo>
                <a:lnTo>
                  <a:pt x="44304" y="3698"/>
                </a:lnTo>
                <a:lnTo>
                  <a:pt x="21433" y="8382"/>
                </a:lnTo>
                <a:lnTo>
                  <a:pt x="23110" y="17011"/>
                </a:lnTo>
                <a:lnTo>
                  <a:pt x="15925" y="18983"/>
                </a:lnTo>
                <a:lnTo>
                  <a:pt x="18081" y="27241"/>
                </a:lnTo>
                <a:lnTo>
                  <a:pt x="24427" y="25762"/>
                </a:lnTo>
                <a:lnTo>
                  <a:pt x="24786" y="28351"/>
                </a:lnTo>
                <a:lnTo>
                  <a:pt x="5269" y="32542"/>
                </a:lnTo>
                <a:lnTo>
                  <a:pt x="4790" y="30323"/>
                </a:lnTo>
                <a:lnTo>
                  <a:pt x="6825" y="28474"/>
                </a:lnTo>
                <a:lnTo>
                  <a:pt x="3472" y="30077"/>
                </a:lnTo>
                <a:lnTo>
                  <a:pt x="4071" y="32912"/>
                </a:lnTo>
                <a:lnTo>
                  <a:pt x="0" y="34144"/>
                </a:lnTo>
                <a:lnTo>
                  <a:pt x="2993" y="47087"/>
                </a:lnTo>
                <a:lnTo>
                  <a:pt x="2874" y="55962"/>
                </a:lnTo>
                <a:lnTo>
                  <a:pt x="52207" y="39321"/>
                </a:lnTo>
                <a:lnTo>
                  <a:pt x="48614" y="19969"/>
                </a:lnTo>
                <a:lnTo>
                  <a:pt x="69569" y="15285"/>
                </a:lnTo>
                <a:lnTo>
                  <a:pt x="64660" y="0"/>
                </a:lnTo>
                <a:close/>
              </a:path>
            </a:pathLst>
          </a:custGeom>
          <a:solidFill>
            <a:srgbClr val="ded5c5"/>
          </a:solidFill>
          <a:ln w="6191">
            <a:solidFill>
              <a:srgbClr val="b5a68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17" name="หมู่บ้านบก.ทหารสูงสุด"/>
          <p:cNvSpPr/>
          <p:nvPr/>
        </p:nvSpPr>
        <p:spPr>
          <a:xfrm>
            <a:off x="6698880" y="4285080"/>
            <a:ext cx="46080" cy="26640"/>
          </a:xfrm>
          <a:custGeom>
            <a:avLst/>
            <a:gdLst/>
            <a:ahLst/>
            <a:rect l="l" t="t" r="r" b="b"/>
            <a:pathLst>
              <a:path w="46339" h="27118">
                <a:moveTo>
                  <a:pt x="10298" y="6410"/>
                </a:moveTo>
                <a:lnTo>
                  <a:pt x="0" y="13189"/>
                </a:lnTo>
                <a:lnTo>
                  <a:pt x="2036" y="27118"/>
                </a:lnTo>
                <a:lnTo>
                  <a:pt x="42867" y="16148"/>
                </a:lnTo>
                <a:lnTo>
                  <a:pt x="41430" y="5793"/>
                </a:lnTo>
                <a:lnTo>
                  <a:pt x="46339" y="4191"/>
                </a:lnTo>
                <a:lnTo>
                  <a:pt x="45501" y="2219"/>
                </a:lnTo>
                <a:lnTo>
                  <a:pt x="40831" y="4068"/>
                </a:lnTo>
                <a:lnTo>
                  <a:pt x="39514" y="0"/>
                </a:lnTo>
                <a:lnTo>
                  <a:pt x="10298" y="6410"/>
                </a:lnTo>
                <a:close/>
              </a:path>
            </a:pathLst>
          </a:custGeom>
          <a:solidFill>
            <a:srgbClr val="ded5c5"/>
          </a:solidFill>
          <a:ln w="6191">
            <a:solidFill>
              <a:srgbClr val="b5a68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18" name="หมู่บ้านวาเลนไทน์"/>
          <p:cNvSpPr/>
          <p:nvPr/>
        </p:nvSpPr>
        <p:spPr>
          <a:xfrm>
            <a:off x="6702480" y="4325040"/>
            <a:ext cx="21960" cy="24120"/>
          </a:xfrm>
          <a:custGeom>
            <a:avLst/>
            <a:gdLst/>
            <a:ahLst/>
            <a:rect l="l" t="t" r="r" b="b"/>
            <a:pathLst>
              <a:path w="22391" h="24530">
                <a:moveTo>
                  <a:pt x="0" y="4561"/>
                </a:moveTo>
                <a:lnTo>
                  <a:pt x="1197" y="24530"/>
                </a:lnTo>
                <a:lnTo>
                  <a:pt x="22391" y="19106"/>
                </a:lnTo>
                <a:lnTo>
                  <a:pt x="17243" y="0"/>
                </a:lnTo>
                <a:lnTo>
                  <a:pt x="0" y="4561"/>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19" name="หมู่บ้านเกษรา-ฐิติพร"/>
          <p:cNvSpPr/>
          <p:nvPr/>
        </p:nvSpPr>
        <p:spPr>
          <a:xfrm>
            <a:off x="6301440" y="5502240"/>
            <a:ext cx="65160" cy="49680"/>
          </a:xfrm>
          <a:custGeom>
            <a:avLst/>
            <a:gdLst/>
            <a:ahLst/>
            <a:rect l="l" t="t" r="r" b="b"/>
            <a:pathLst>
              <a:path w="65378" h="49922">
                <a:moveTo>
                  <a:pt x="1916" y="49922"/>
                </a:moveTo>
                <a:lnTo>
                  <a:pt x="60109" y="46964"/>
                </a:lnTo>
                <a:lnTo>
                  <a:pt x="54721" y="18613"/>
                </a:lnTo>
                <a:lnTo>
                  <a:pt x="65378" y="17011"/>
                </a:lnTo>
                <a:lnTo>
                  <a:pt x="64181" y="4807"/>
                </a:lnTo>
                <a:lnTo>
                  <a:pt x="27420" y="0"/>
                </a:lnTo>
                <a:lnTo>
                  <a:pt x="27780" y="3821"/>
                </a:lnTo>
                <a:lnTo>
                  <a:pt x="0" y="7149"/>
                </a:lnTo>
                <a:lnTo>
                  <a:pt x="1916" y="49922"/>
                </a:lnTo>
                <a:close/>
              </a:path>
            </a:pathLst>
          </a:custGeom>
          <a:solidFill>
            <a:srgbClr val="ded5c5"/>
          </a:solidFill>
          <a:ln w="6191">
            <a:solidFill>
              <a:srgbClr val="b5a68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20" name="พัฒนาคลองสะแก"/>
          <p:cNvSpPr/>
          <p:nvPr/>
        </p:nvSpPr>
        <p:spPr>
          <a:xfrm>
            <a:off x="6179760" y="5545800"/>
            <a:ext cx="51120" cy="42480"/>
          </a:xfrm>
          <a:custGeom>
            <a:avLst/>
            <a:gdLst/>
            <a:ahLst/>
            <a:rect l="l" t="t" r="r" b="b"/>
            <a:pathLst>
              <a:path w="51608" h="42896">
                <a:moveTo>
                  <a:pt x="14129" y="17873"/>
                </a:moveTo>
                <a:lnTo>
                  <a:pt x="18081" y="19229"/>
                </a:lnTo>
                <a:lnTo>
                  <a:pt x="18799" y="17134"/>
                </a:lnTo>
                <a:lnTo>
                  <a:pt x="24307" y="19722"/>
                </a:lnTo>
                <a:lnTo>
                  <a:pt x="18560" y="32912"/>
                </a:lnTo>
                <a:lnTo>
                  <a:pt x="45022" y="42896"/>
                </a:lnTo>
                <a:lnTo>
                  <a:pt x="45860" y="41047"/>
                </a:lnTo>
                <a:lnTo>
                  <a:pt x="44663" y="40061"/>
                </a:lnTo>
                <a:lnTo>
                  <a:pt x="46579" y="35377"/>
                </a:lnTo>
                <a:lnTo>
                  <a:pt x="44423" y="34637"/>
                </a:lnTo>
                <a:lnTo>
                  <a:pt x="51608" y="23544"/>
                </a:lnTo>
                <a:lnTo>
                  <a:pt x="5269" y="0"/>
                </a:lnTo>
                <a:lnTo>
                  <a:pt x="0" y="13189"/>
                </a:lnTo>
                <a:lnTo>
                  <a:pt x="8980" y="15285"/>
                </a:lnTo>
                <a:lnTo>
                  <a:pt x="8980" y="19106"/>
                </a:lnTo>
                <a:lnTo>
                  <a:pt x="12692" y="19969"/>
                </a:lnTo>
                <a:lnTo>
                  <a:pt x="14129" y="17873"/>
                </a:lnTo>
                <a:close/>
              </a:path>
            </a:pathLst>
          </a:custGeom>
          <a:solidFill>
            <a:srgbClr val="ded5c5"/>
          </a:solidFill>
          <a:ln w="6191">
            <a:solidFill>
              <a:srgbClr val="b5a68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21" name="คลองเจ็ดขนัด"/>
          <p:cNvSpPr/>
          <p:nvPr/>
        </p:nvSpPr>
        <p:spPr>
          <a:xfrm>
            <a:off x="6327720" y="5823000"/>
            <a:ext cx="32760" cy="51480"/>
          </a:xfrm>
          <a:custGeom>
            <a:avLst/>
            <a:gdLst/>
            <a:ahLst/>
            <a:rect l="l" t="t" r="r" b="b"/>
            <a:pathLst>
              <a:path w="33288" h="51771">
                <a:moveTo>
                  <a:pt x="31731" y="34391"/>
                </a:moveTo>
                <a:lnTo>
                  <a:pt x="33288" y="27118"/>
                </a:lnTo>
                <a:lnTo>
                  <a:pt x="16045" y="28351"/>
                </a:lnTo>
                <a:lnTo>
                  <a:pt x="16883" y="1109"/>
                </a:lnTo>
                <a:lnTo>
                  <a:pt x="8741" y="0"/>
                </a:lnTo>
                <a:lnTo>
                  <a:pt x="5388" y="16271"/>
                </a:lnTo>
                <a:lnTo>
                  <a:pt x="9220" y="17504"/>
                </a:lnTo>
                <a:lnTo>
                  <a:pt x="10896" y="19969"/>
                </a:lnTo>
                <a:lnTo>
                  <a:pt x="10178" y="22804"/>
                </a:lnTo>
                <a:lnTo>
                  <a:pt x="4191" y="22434"/>
                </a:lnTo>
                <a:lnTo>
                  <a:pt x="0" y="41417"/>
                </a:lnTo>
                <a:lnTo>
                  <a:pt x="4550" y="38212"/>
                </a:lnTo>
                <a:lnTo>
                  <a:pt x="16883" y="38705"/>
                </a:lnTo>
                <a:lnTo>
                  <a:pt x="28857" y="51155"/>
                </a:lnTo>
                <a:lnTo>
                  <a:pt x="32210" y="51771"/>
                </a:lnTo>
                <a:lnTo>
                  <a:pt x="31731" y="34391"/>
                </a:lnTo>
                <a:close/>
              </a:path>
            </a:pathLst>
          </a:custGeom>
          <a:solidFill>
            <a:srgbClr val="ded5c5"/>
          </a:solidFill>
          <a:ln w="6191">
            <a:solidFill>
              <a:srgbClr val="b5a68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22" name="สวนหลวงก้าวหน้า"/>
          <p:cNvSpPr/>
          <p:nvPr/>
        </p:nvSpPr>
        <p:spPr>
          <a:xfrm>
            <a:off x="6199560" y="5742000"/>
            <a:ext cx="55800" cy="69120"/>
          </a:xfrm>
          <a:custGeom>
            <a:avLst/>
            <a:gdLst/>
            <a:ahLst/>
            <a:rect l="l" t="t" r="r" b="b"/>
            <a:pathLst>
              <a:path w="56278" h="69398">
                <a:moveTo>
                  <a:pt x="0" y="64837"/>
                </a:moveTo>
                <a:lnTo>
                  <a:pt x="39155" y="69398"/>
                </a:lnTo>
                <a:lnTo>
                  <a:pt x="50889" y="50785"/>
                </a:lnTo>
                <a:lnTo>
                  <a:pt x="46699" y="47210"/>
                </a:lnTo>
                <a:lnTo>
                  <a:pt x="56278" y="31556"/>
                </a:lnTo>
                <a:lnTo>
                  <a:pt x="30294" y="14299"/>
                </a:lnTo>
                <a:lnTo>
                  <a:pt x="24786" y="8135"/>
                </a:lnTo>
                <a:lnTo>
                  <a:pt x="26463" y="2958"/>
                </a:lnTo>
                <a:lnTo>
                  <a:pt x="22391" y="1233"/>
                </a:lnTo>
                <a:lnTo>
                  <a:pt x="10178" y="0"/>
                </a:lnTo>
                <a:lnTo>
                  <a:pt x="8980" y="7026"/>
                </a:lnTo>
                <a:lnTo>
                  <a:pt x="6346" y="6780"/>
                </a:lnTo>
                <a:lnTo>
                  <a:pt x="6107" y="8629"/>
                </a:lnTo>
                <a:lnTo>
                  <a:pt x="10178" y="10477"/>
                </a:lnTo>
                <a:lnTo>
                  <a:pt x="10178" y="18736"/>
                </a:lnTo>
                <a:lnTo>
                  <a:pt x="0" y="64837"/>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23" name="หมู่บ้านเกษมสันต์ 1"/>
          <p:cNvSpPr/>
          <p:nvPr/>
        </p:nvSpPr>
        <p:spPr>
          <a:xfrm>
            <a:off x="6263640" y="5712480"/>
            <a:ext cx="19080" cy="20160"/>
          </a:xfrm>
          <a:custGeom>
            <a:avLst/>
            <a:gdLst/>
            <a:ahLst/>
            <a:rect l="l" t="t" r="r" b="b"/>
            <a:pathLst>
              <a:path w="19398" h="20585">
                <a:moveTo>
                  <a:pt x="3951" y="0"/>
                </a:moveTo>
                <a:lnTo>
                  <a:pt x="0" y="10847"/>
                </a:lnTo>
                <a:lnTo>
                  <a:pt x="16764" y="20585"/>
                </a:lnTo>
                <a:lnTo>
                  <a:pt x="19398" y="13929"/>
                </a:lnTo>
                <a:lnTo>
                  <a:pt x="8142" y="1479"/>
                </a:lnTo>
                <a:lnTo>
                  <a:pt x="3951" y="0"/>
                </a:lnTo>
                <a:close/>
              </a:path>
            </a:pathLst>
          </a:custGeom>
          <a:solidFill>
            <a:srgbClr val="ded5c5"/>
          </a:solidFill>
          <a:ln w="6191">
            <a:solidFill>
              <a:srgbClr val="b5a68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24" name="สมานมิตรพัฒนา"/>
          <p:cNvSpPr/>
          <p:nvPr/>
        </p:nvSpPr>
        <p:spPr>
          <a:xfrm>
            <a:off x="6145920" y="5434200"/>
            <a:ext cx="84960" cy="53640"/>
          </a:xfrm>
          <a:custGeom>
            <a:avLst/>
            <a:gdLst/>
            <a:ahLst/>
            <a:rect l="l" t="t" r="r" b="b"/>
            <a:pathLst>
              <a:path w="85494" h="54113">
                <a:moveTo>
                  <a:pt x="34365" y="6656"/>
                </a:moveTo>
                <a:lnTo>
                  <a:pt x="19278" y="0"/>
                </a:lnTo>
                <a:lnTo>
                  <a:pt x="0" y="45485"/>
                </a:lnTo>
                <a:lnTo>
                  <a:pt x="82022" y="54113"/>
                </a:lnTo>
                <a:lnTo>
                  <a:pt x="83099" y="46101"/>
                </a:lnTo>
                <a:lnTo>
                  <a:pt x="84776" y="46471"/>
                </a:lnTo>
                <a:lnTo>
                  <a:pt x="85135" y="45238"/>
                </a:lnTo>
                <a:lnTo>
                  <a:pt x="85494" y="39075"/>
                </a:lnTo>
                <a:lnTo>
                  <a:pt x="82980" y="28597"/>
                </a:lnTo>
                <a:lnTo>
                  <a:pt x="34365" y="6656"/>
                </a:lnTo>
                <a:close/>
              </a:path>
            </a:pathLst>
          </a:custGeom>
          <a:solidFill>
            <a:srgbClr val="ded5c5"/>
          </a:solidFill>
          <a:ln w="6191">
            <a:solidFill>
              <a:srgbClr val="b5a68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25" name="มิตรไมตรี"/>
          <p:cNvSpPr/>
          <p:nvPr/>
        </p:nvSpPr>
        <p:spPr>
          <a:xfrm>
            <a:off x="6240240" y="5804640"/>
            <a:ext cx="87120" cy="82080"/>
          </a:xfrm>
          <a:custGeom>
            <a:avLst/>
            <a:gdLst/>
            <a:ahLst/>
            <a:rect l="l" t="t" r="r" b="b"/>
            <a:pathLst>
              <a:path w="87410" h="82341">
                <a:moveTo>
                  <a:pt x="38676" y="59290"/>
                </a:moveTo>
                <a:lnTo>
                  <a:pt x="39035" y="65084"/>
                </a:lnTo>
                <a:lnTo>
                  <a:pt x="37838" y="65207"/>
                </a:lnTo>
                <a:lnTo>
                  <a:pt x="36401" y="68905"/>
                </a:lnTo>
                <a:lnTo>
                  <a:pt x="33767" y="65823"/>
                </a:lnTo>
                <a:lnTo>
                  <a:pt x="29336" y="64960"/>
                </a:lnTo>
                <a:lnTo>
                  <a:pt x="27181" y="78766"/>
                </a:lnTo>
                <a:lnTo>
                  <a:pt x="42987" y="82341"/>
                </a:lnTo>
                <a:lnTo>
                  <a:pt x="43945" y="71863"/>
                </a:lnTo>
                <a:lnTo>
                  <a:pt x="45741" y="70754"/>
                </a:lnTo>
                <a:lnTo>
                  <a:pt x="52087" y="68782"/>
                </a:lnTo>
                <a:lnTo>
                  <a:pt x="57116" y="75191"/>
                </a:lnTo>
                <a:lnTo>
                  <a:pt x="63223" y="76547"/>
                </a:lnTo>
                <a:lnTo>
                  <a:pt x="80824" y="69768"/>
                </a:lnTo>
                <a:lnTo>
                  <a:pt x="85135" y="65700"/>
                </a:lnTo>
                <a:lnTo>
                  <a:pt x="87410" y="60153"/>
                </a:lnTo>
                <a:lnTo>
                  <a:pt x="68252" y="59537"/>
                </a:lnTo>
                <a:lnTo>
                  <a:pt x="65617" y="45978"/>
                </a:lnTo>
                <a:lnTo>
                  <a:pt x="58194" y="26625"/>
                </a:lnTo>
                <a:lnTo>
                  <a:pt x="43226" y="29460"/>
                </a:lnTo>
                <a:lnTo>
                  <a:pt x="39514" y="27981"/>
                </a:lnTo>
                <a:lnTo>
                  <a:pt x="38556" y="29707"/>
                </a:lnTo>
                <a:lnTo>
                  <a:pt x="29217" y="29830"/>
                </a:lnTo>
                <a:lnTo>
                  <a:pt x="29336" y="28597"/>
                </a:lnTo>
                <a:lnTo>
                  <a:pt x="26103" y="28228"/>
                </a:lnTo>
                <a:lnTo>
                  <a:pt x="25505" y="29830"/>
                </a:lnTo>
                <a:lnTo>
                  <a:pt x="22631" y="29953"/>
                </a:lnTo>
                <a:lnTo>
                  <a:pt x="16644" y="7273"/>
                </a:lnTo>
                <a:lnTo>
                  <a:pt x="18799" y="4561"/>
                </a:lnTo>
                <a:lnTo>
                  <a:pt x="11974" y="0"/>
                </a:lnTo>
                <a:lnTo>
                  <a:pt x="10178" y="2712"/>
                </a:lnTo>
                <a:lnTo>
                  <a:pt x="6705" y="370"/>
                </a:lnTo>
                <a:lnTo>
                  <a:pt x="4430" y="3082"/>
                </a:lnTo>
                <a:lnTo>
                  <a:pt x="2515" y="1479"/>
                </a:lnTo>
                <a:lnTo>
                  <a:pt x="0" y="5547"/>
                </a:lnTo>
                <a:lnTo>
                  <a:pt x="1317" y="8875"/>
                </a:lnTo>
                <a:lnTo>
                  <a:pt x="9579" y="10108"/>
                </a:lnTo>
                <a:lnTo>
                  <a:pt x="12453" y="28228"/>
                </a:lnTo>
                <a:lnTo>
                  <a:pt x="12213" y="36733"/>
                </a:lnTo>
                <a:lnTo>
                  <a:pt x="16404" y="43143"/>
                </a:lnTo>
                <a:lnTo>
                  <a:pt x="25744" y="45854"/>
                </a:lnTo>
                <a:lnTo>
                  <a:pt x="43106" y="36610"/>
                </a:lnTo>
                <a:lnTo>
                  <a:pt x="47896" y="37842"/>
                </a:lnTo>
                <a:lnTo>
                  <a:pt x="52446" y="41294"/>
                </a:lnTo>
                <a:lnTo>
                  <a:pt x="40233" y="51032"/>
                </a:lnTo>
                <a:lnTo>
                  <a:pt x="38676" y="59290"/>
                </a:lnTo>
                <a:close/>
              </a:path>
            </a:pathLst>
          </a:custGeom>
          <a:solidFill>
            <a:srgbClr val="ded5c5"/>
          </a:solidFill>
          <a:ln w="6191">
            <a:solidFill>
              <a:srgbClr val="b5a68d"/>
            </a:solidFill>
            <a:round/>
          </a:ln>
        </p:spPr>
        <p:style>
          <a:lnRef idx="0"/>
          <a:fillRef idx="0"/>
          <a:effectRef idx="0"/>
          <a:fontRef idx="minor"/>
        </p:style>
        <p:txBody>
          <a:bodyPr lIns="90000" rIns="90000" tIns="37080" bIns="37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26" name="ดาราฉาย"/>
          <p:cNvSpPr/>
          <p:nvPr/>
        </p:nvSpPr>
        <p:spPr>
          <a:xfrm>
            <a:off x="6498360" y="5954400"/>
            <a:ext cx="38160" cy="24840"/>
          </a:xfrm>
          <a:custGeom>
            <a:avLst/>
            <a:gdLst/>
            <a:ahLst/>
            <a:rect l="l" t="t" r="r" b="b"/>
            <a:pathLst>
              <a:path w="38676" h="25023">
                <a:moveTo>
                  <a:pt x="0" y="4684"/>
                </a:moveTo>
                <a:lnTo>
                  <a:pt x="2634" y="15162"/>
                </a:lnTo>
                <a:lnTo>
                  <a:pt x="7903" y="25023"/>
                </a:lnTo>
                <a:lnTo>
                  <a:pt x="38676" y="17997"/>
                </a:lnTo>
                <a:lnTo>
                  <a:pt x="33767" y="0"/>
                </a:lnTo>
                <a:lnTo>
                  <a:pt x="0" y="4684"/>
                </a:lnTo>
                <a:close/>
              </a:path>
            </a:pathLst>
          </a:custGeom>
          <a:solidFill>
            <a:srgbClr val="ded5c5"/>
          </a:solidFill>
          <a:ln w="6191">
            <a:solidFill>
              <a:srgbClr val="b5a68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27" name="ชุมชนหลังโรงเรียนสากลศึกษา"/>
          <p:cNvSpPr/>
          <p:nvPr/>
        </p:nvSpPr>
        <p:spPr>
          <a:xfrm>
            <a:off x="3991680" y="5898600"/>
            <a:ext cx="14400" cy="22320"/>
          </a:xfrm>
          <a:custGeom>
            <a:avLst/>
            <a:gdLst/>
            <a:ahLst/>
            <a:rect l="l" t="t" r="r" b="b"/>
            <a:pathLst>
              <a:path w="14608" h="22681">
                <a:moveTo>
                  <a:pt x="11854" y="8505"/>
                </a:moveTo>
                <a:lnTo>
                  <a:pt x="10178" y="8875"/>
                </a:lnTo>
                <a:lnTo>
                  <a:pt x="7783" y="0"/>
                </a:lnTo>
                <a:lnTo>
                  <a:pt x="0" y="863"/>
                </a:lnTo>
                <a:lnTo>
                  <a:pt x="3233" y="12080"/>
                </a:lnTo>
                <a:lnTo>
                  <a:pt x="5748" y="11464"/>
                </a:lnTo>
                <a:lnTo>
                  <a:pt x="8142" y="22681"/>
                </a:lnTo>
                <a:lnTo>
                  <a:pt x="14608" y="20215"/>
                </a:lnTo>
                <a:lnTo>
                  <a:pt x="11854" y="8505"/>
                </a:lnTo>
                <a:close/>
              </a:path>
            </a:pathLst>
          </a:custGeom>
          <a:solidFill>
            <a:srgbClr val="ded5c5"/>
          </a:solidFill>
          <a:ln w="6191">
            <a:solidFill>
              <a:srgbClr val="b5a68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28" name="หมู่บ้านระเบียงทอง 3"/>
          <p:cNvSpPr/>
          <p:nvPr/>
        </p:nvSpPr>
        <p:spPr>
          <a:xfrm>
            <a:off x="6316920" y="3659760"/>
            <a:ext cx="21960" cy="55440"/>
          </a:xfrm>
          <a:custGeom>
            <a:avLst/>
            <a:gdLst/>
            <a:ahLst/>
            <a:rect l="l" t="t" r="r" b="b"/>
            <a:pathLst>
              <a:path w="22391" h="55839">
                <a:moveTo>
                  <a:pt x="9819" y="55839"/>
                </a:moveTo>
                <a:lnTo>
                  <a:pt x="21673" y="16517"/>
                </a:lnTo>
                <a:lnTo>
                  <a:pt x="22391" y="3328"/>
                </a:lnTo>
                <a:lnTo>
                  <a:pt x="18560" y="0"/>
                </a:lnTo>
                <a:lnTo>
                  <a:pt x="13411" y="6163"/>
                </a:lnTo>
                <a:lnTo>
                  <a:pt x="12213" y="13189"/>
                </a:lnTo>
                <a:lnTo>
                  <a:pt x="7424" y="12943"/>
                </a:lnTo>
                <a:lnTo>
                  <a:pt x="6107" y="39075"/>
                </a:lnTo>
                <a:lnTo>
                  <a:pt x="5628" y="40554"/>
                </a:lnTo>
                <a:lnTo>
                  <a:pt x="3233" y="39815"/>
                </a:lnTo>
                <a:lnTo>
                  <a:pt x="0" y="51401"/>
                </a:lnTo>
                <a:lnTo>
                  <a:pt x="9819" y="55839"/>
                </a:lnTo>
                <a:close/>
              </a:path>
            </a:pathLst>
          </a:custGeom>
          <a:solidFill>
            <a:srgbClr val="ded5c5"/>
          </a:solidFill>
          <a:ln w="6191">
            <a:solidFill>
              <a:srgbClr val="b5a68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29" name="หมู่บ้านจิตรภาวรรณ 2 - 3"/>
          <p:cNvSpPr/>
          <p:nvPr/>
        </p:nvSpPr>
        <p:spPr>
          <a:xfrm>
            <a:off x="6499080" y="3444480"/>
            <a:ext cx="18360" cy="38880"/>
          </a:xfrm>
          <a:custGeom>
            <a:avLst/>
            <a:gdLst/>
            <a:ahLst/>
            <a:rect l="l" t="t" r="r" b="b"/>
            <a:pathLst>
              <a:path w="18560" h="39198">
                <a:moveTo>
                  <a:pt x="12812" y="8505"/>
                </a:moveTo>
                <a:lnTo>
                  <a:pt x="8741" y="0"/>
                </a:lnTo>
                <a:lnTo>
                  <a:pt x="0" y="2219"/>
                </a:lnTo>
                <a:lnTo>
                  <a:pt x="9459" y="39198"/>
                </a:lnTo>
                <a:lnTo>
                  <a:pt x="18560" y="36486"/>
                </a:lnTo>
                <a:lnTo>
                  <a:pt x="15806" y="16887"/>
                </a:lnTo>
                <a:lnTo>
                  <a:pt x="12812" y="8505"/>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30" name="ริมคลองลำเกร็ด"/>
          <p:cNvSpPr/>
          <p:nvPr/>
        </p:nvSpPr>
        <p:spPr>
          <a:xfrm>
            <a:off x="7022520" y="4372920"/>
            <a:ext cx="118440" cy="109080"/>
          </a:xfrm>
          <a:custGeom>
            <a:avLst/>
            <a:gdLst/>
            <a:ahLst/>
            <a:rect l="l" t="t" r="r" b="b"/>
            <a:pathLst>
              <a:path w="118662" h="109459">
                <a:moveTo>
                  <a:pt x="59391" y="100707"/>
                </a:moveTo>
                <a:lnTo>
                  <a:pt x="69329" y="90476"/>
                </a:lnTo>
                <a:lnTo>
                  <a:pt x="69928" y="91216"/>
                </a:lnTo>
                <a:lnTo>
                  <a:pt x="79986" y="79382"/>
                </a:lnTo>
                <a:lnTo>
                  <a:pt x="99264" y="102803"/>
                </a:lnTo>
                <a:lnTo>
                  <a:pt x="109322" y="94421"/>
                </a:lnTo>
                <a:lnTo>
                  <a:pt x="118662" y="89983"/>
                </a:lnTo>
                <a:lnTo>
                  <a:pt x="113154" y="85422"/>
                </a:lnTo>
                <a:lnTo>
                  <a:pt x="107287" y="91709"/>
                </a:lnTo>
                <a:lnTo>
                  <a:pt x="100222" y="87271"/>
                </a:lnTo>
                <a:lnTo>
                  <a:pt x="75436" y="59414"/>
                </a:lnTo>
                <a:lnTo>
                  <a:pt x="77232" y="54976"/>
                </a:lnTo>
                <a:lnTo>
                  <a:pt x="70766" y="47457"/>
                </a:lnTo>
                <a:lnTo>
                  <a:pt x="68491" y="41910"/>
                </a:lnTo>
                <a:lnTo>
                  <a:pt x="71724" y="37719"/>
                </a:lnTo>
                <a:lnTo>
                  <a:pt x="69210" y="32788"/>
                </a:lnTo>
                <a:lnTo>
                  <a:pt x="60828" y="39938"/>
                </a:lnTo>
                <a:lnTo>
                  <a:pt x="55799" y="34391"/>
                </a:lnTo>
                <a:lnTo>
                  <a:pt x="61427" y="26995"/>
                </a:lnTo>
                <a:lnTo>
                  <a:pt x="56158" y="21695"/>
                </a:lnTo>
                <a:lnTo>
                  <a:pt x="52087" y="19722"/>
                </a:lnTo>
                <a:lnTo>
                  <a:pt x="48854" y="21078"/>
                </a:lnTo>
                <a:lnTo>
                  <a:pt x="57715" y="12696"/>
                </a:lnTo>
                <a:lnTo>
                  <a:pt x="56158" y="10354"/>
                </a:lnTo>
                <a:lnTo>
                  <a:pt x="45501" y="6040"/>
                </a:lnTo>
                <a:lnTo>
                  <a:pt x="37958" y="0"/>
                </a:lnTo>
                <a:lnTo>
                  <a:pt x="30294" y="12080"/>
                </a:lnTo>
                <a:lnTo>
                  <a:pt x="0" y="46841"/>
                </a:lnTo>
                <a:lnTo>
                  <a:pt x="13890" y="61263"/>
                </a:lnTo>
                <a:lnTo>
                  <a:pt x="35682" y="35870"/>
                </a:lnTo>
                <a:lnTo>
                  <a:pt x="37838" y="37596"/>
                </a:lnTo>
                <a:lnTo>
                  <a:pt x="44184" y="31309"/>
                </a:lnTo>
                <a:lnTo>
                  <a:pt x="48734" y="34884"/>
                </a:lnTo>
                <a:lnTo>
                  <a:pt x="43106" y="42403"/>
                </a:lnTo>
                <a:lnTo>
                  <a:pt x="54721" y="51155"/>
                </a:lnTo>
                <a:lnTo>
                  <a:pt x="56637" y="50415"/>
                </a:lnTo>
                <a:lnTo>
                  <a:pt x="59032" y="54113"/>
                </a:lnTo>
                <a:lnTo>
                  <a:pt x="57116" y="57072"/>
                </a:lnTo>
                <a:lnTo>
                  <a:pt x="59271" y="59044"/>
                </a:lnTo>
                <a:lnTo>
                  <a:pt x="57236" y="61263"/>
                </a:lnTo>
                <a:lnTo>
                  <a:pt x="58553" y="64591"/>
                </a:lnTo>
                <a:lnTo>
                  <a:pt x="48255" y="80738"/>
                </a:lnTo>
                <a:lnTo>
                  <a:pt x="32928" y="97502"/>
                </a:lnTo>
                <a:lnTo>
                  <a:pt x="18560" y="103419"/>
                </a:lnTo>
                <a:lnTo>
                  <a:pt x="24068" y="109459"/>
                </a:lnTo>
                <a:lnTo>
                  <a:pt x="37479" y="100214"/>
                </a:lnTo>
                <a:lnTo>
                  <a:pt x="47297" y="90723"/>
                </a:lnTo>
                <a:lnTo>
                  <a:pt x="59391" y="10070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31" name="หมู่ 6,8 คันนายาว"/>
          <p:cNvSpPr/>
          <p:nvPr/>
        </p:nvSpPr>
        <p:spPr>
          <a:xfrm>
            <a:off x="6978960" y="4205520"/>
            <a:ext cx="81720" cy="57240"/>
          </a:xfrm>
          <a:custGeom>
            <a:avLst/>
            <a:gdLst/>
            <a:ahLst/>
            <a:rect l="l" t="t" r="r" b="b"/>
            <a:pathLst>
              <a:path w="82022" h="57441">
                <a:moveTo>
                  <a:pt x="1676" y="0"/>
                </a:moveTo>
                <a:lnTo>
                  <a:pt x="0" y="7149"/>
                </a:lnTo>
                <a:lnTo>
                  <a:pt x="3712" y="7889"/>
                </a:lnTo>
                <a:lnTo>
                  <a:pt x="3233" y="9861"/>
                </a:lnTo>
                <a:lnTo>
                  <a:pt x="7544" y="13559"/>
                </a:lnTo>
                <a:lnTo>
                  <a:pt x="43466" y="35254"/>
                </a:lnTo>
                <a:lnTo>
                  <a:pt x="46818" y="36856"/>
                </a:lnTo>
                <a:lnTo>
                  <a:pt x="48495" y="35747"/>
                </a:lnTo>
                <a:lnTo>
                  <a:pt x="49932" y="37719"/>
                </a:lnTo>
                <a:lnTo>
                  <a:pt x="59630" y="41540"/>
                </a:lnTo>
                <a:lnTo>
                  <a:pt x="63821" y="45361"/>
                </a:lnTo>
                <a:lnTo>
                  <a:pt x="63223" y="46471"/>
                </a:lnTo>
                <a:lnTo>
                  <a:pt x="75197" y="55839"/>
                </a:lnTo>
                <a:lnTo>
                  <a:pt x="78549" y="57441"/>
                </a:lnTo>
                <a:lnTo>
                  <a:pt x="80824" y="55962"/>
                </a:lnTo>
                <a:lnTo>
                  <a:pt x="82022" y="53867"/>
                </a:lnTo>
                <a:lnTo>
                  <a:pt x="72083" y="48443"/>
                </a:lnTo>
                <a:lnTo>
                  <a:pt x="70048" y="45238"/>
                </a:lnTo>
                <a:lnTo>
                  <a:pt x="37359" y="23913"/>
                </a:lnTo>
                <a:lnTo>
                  <a:pt x="34006" y="17380"/>
                </a:lnTo>
                <a:lnTo>
                  <a:pt x="17602" y="8259"/>
                </a:lnTo>
                <a:lnTo>
                  <a:pt x="18679" y="6040"/>
                </a:lnTo>
                <a:lnTo>
                  <a:pt x="17243" y="5424"/>
                </a:lnTo>
                <a:lnTo>
                  <a:pt x="16045" y="7396"/>
                </a:lnTo>
                <a:lnTo>
                  <a:pt x="1676" y="0"/>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32" name="ชุมชนอยู่ดีร่วมใจพัฒนา"/>
          <p:cNvSpPr/>
          <p:nvPr/>
        </p:nvSpPr>
        <p:spPr>
          <a:xfrm>
            <a:off x="4843080" y="4780440"/>
            <a:ext cx="57600" cy="46080"/>
          </a:xfrm>
          <a:custGeom>
            <a:avLst/>
            <a:gdLst/>
            <a:ahLst/>
            <a:rect l="l" t="t" r="r" b="b"/>
            <a:pathLst>
              <a:path w="58074" h="46594">
                <a:moveTo>
                  <a:pt x="0" y="16271"/>
                </a:moveTo>
                <a:lnTo>
                  <a:pt x="38197" y="45361"/>
                </a:lnTo>
                <a:lnTo>
                  <a:pt x="41669" y="46594"/>
                </a:lnTo>
                <a:lnTo>
                  <a:pt x="58074" y="22804"/>
                </a:lnTo>
                <a:lnTo>
                  <a:pt x="42268" y="12450"/>
                </a:lnTo>
                <a:lnTo>
                  <a:pt x="48135" y="2589"/>
                </a:lnTo>
                <a:lnTo>
                  <a:pt x="44663" y="0"/>
                </a:lnTo>
                <a:lnTo>
                  <a:pt x="0" y="16271"/>
                </a:lnTo>
                <a:close/>
              </a:path>
            </a:pathLst>
          </a:custGeom>
          <a:solidFill>
            <a:srgbClr val="ded5c5"/>
          </a:solidFill>
          <a:ln w="6191">
            <a:solidFill>
              <a:srgbClr val="b5a68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33" name="บ้านมั่นคงฟ้าใหม่"/>
          <p:cNvSpPr/>
          <p:nvPr/>
        </p:nvSpPr>
        <p:spPr>
          <a:xfrm>
            <a:off x="4915800" y="4828680"/>
            <a:ext cx="16560" cy="10440"/>
          </a:xfrm>
          <a:custGeom>
            <a:avLst/>
            <a:gdLst/>
            <a:ahLst/>
            <a:rect l="l" t="t" r="r" b="b"/>
            <a:pathLst>
              <a:path w="16883" h="10847">
                <a:moveTo>
                  <a:pt x="15686" y="10847"/>
                </a:moveTo>
                <a:lnTo>
                  <a:pt x="16883" y="7642"/>
                </a:lnTo>
                <a:lnTo>
                  <a:pt x="3353" y="0"/>
                </a:lnTo>
                <a:lnTo>
                  <a:pt x="2036" y="2219"/>
                </a:lnTo>
                <a:lnTo>
                  <a:pt x="599" y="1356"/>
                </a:lnTo>
                <a:lnTo>
                  <a:pt x="0" y="2465"/>
                </a:lnTo>
                <a:lnTo>
                  <a:pt x="15686" y="10847"/>
                </a:lnTo>
                <a:close/>
              </a:path>
            </a:pathLst>
          </a:custGeom>
          <a:solidFill>
            <a:srgbClr val="ded5c5"/>
          </a:solidFill>
          <a:ln w="6191">
            <a:solidFill>
              <a:srgbClr val="b5a68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34" name="ดารุ้ลอามีน"/>
          <p:cNvSpPr/>
          <p:nvPr/>
        </p:nvSpPr>
        <p:spPr>
          <a:xfrm>
            <a:off x="6620040" y="5916240"/>
            <a:ext cx="32400" cy="42480"/>
          </a:xfrm>
          <a:custGeom>
            <a:avLst/>
            <a:gdLst/>
            <a:ahLst/>
            <a:rect l="l" t="t" r="r" b="b"/>
            <a:pathLst>
              <a:path w="32928" h="43019">
                <a:moveTo>
                  <a:pt x="2993" y="15901"/>
                </a:moveTo>
                <a:lnTo>
                  <a:pt x="11375" y="43019"/>
                </a:lnTo>
                <a:lnTo>
                  <a:pt x="14249" y="42896"/>
                </a:lnTo>
                <a:lnTo>
                  <a:pt x="13890" y="37472"/>
                </a:lnTo>
                <a:lnTo>
                  <a:pt x="32928" y="35870"/>
                </a:lnTo>
                <a:lnTo>
                  <a:pt x="25864" y="6533"/>
                </a:lnTo>
                <a:lnTo>
                  <a:pt x="9579" y="10601"/>
                </a:lnTo>
                <a:lnTo>
                  <a:pt x="7304" y="0"/>
                </a:lnTo>
                <a:lnTo>
                  <a:pt x="0" y="2095"/>
                </a:lnTo>
                <a:lnTo>
                  <a:pt x="2993" y="15901"/>
                </a:lnTo>
                <a:close/>
              </a:path>
            </a:pathLst>
          </a:custGeom>
          <a:solidFill>
            <a:srgbClr val="ded5c5"/>
          </a:solidFill>
          <a:ln w="6191">
            <a:solidFill>
              <a:srgbClr val="b5a68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35" name="โมราวรรณ 2"/>
          <p:cNvSpPr/>
          <p:nvPr/>
        </p:nvSpPr>
        <p:spPr>
          <a:xfrm>
            <a:off x="6659640" y="5844960"/>
            <a:ext cx="55080" cy="122760"/>
          </a:xfrm>
          <a:custGeom>
            <a:avLst/>
            <a:gdLst/>
            <a:ahLst/>
            <a:rect l="l" t="t" r="r" b="b"/>
            <a:pathLst>
              <a:path w="55440" h="123265">
                <a:moveTo>
                  <a:pt x="13171" y="123265"/>
                </a:moveTo>
                <a:lnTo>
                  <a:pt x="44543" y="117348"/>
                </a:lnTo>
                <a:lnTo>
                  <a:pt x="55440" y="121169"/>
                </a:lnTo>
                <a:lnTo>
                  <a:pt x="52686" y="112294"/>
                </a:lnTo>
                <a:lnTo>
                  <a:pt x="46579" y="100707"/>
                </a:lnTo>
                <a:lnTo>
                  <a:pt x="42867" y="83820"/>
                </a:lnTo>
                <a:lnTo>
                  <a:pt x="33527" y="68905"/>
                </a:lnTo>
                <a:lnTo>
                  <a:pt x="40592" y="43266"/>
                </a:lnTo>
                <a:lnTo>
                  <a:pt x="40592" y="18983"/>
                </a:lnTo>
                <a:lnTo>
                  <a:pt x="17602" y="19106"/>
                </a:lnTo>
                <a:lnTo>
                  <a:pt x="16644" y="6780"/>
                </a:lnTo>
                <a:lnTo>
                  <a:pt x="9340" y="1233"/>
                </a:lnTo>
                <a:lnTo>
                  <a:pt x="0" y="0"/>
                </a:lnTo>
                <a:lnTo>
                  <a:pt x="5748" y="61632"/>
                </a:lnTo>
                <a:lnTo>
                  <a:pt x="6466" y="84067"/>
                </a:lnTo>
                <a:lnTo>
                  <a:pt x="13171" y="12326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36" name="ร่วมใจ"/>
          <p:cNvSpPr/>
          <p:nvPr/>
        </p:nvSpPr>
        <p:spPr>
          <a:xfrm>
            <a:off x="6576120" y="5808960"/>
            <a:ext cx="50400" cy="46080"/>
          </a:xfrm>
          <a:custGeom>
            <a:avLst/>
            <a:gdLst/>
            <a:ahLst/>
            <a:rect l="l" t="t" r="r" b="b"/>
            <a:pathLst>
              <a:path w="50770" h="46471">
                <a:moveTo>
                  <a:pt x="0" y="11464"/>
                </a:moveTo>
                <a:lnTo>
                  <a:pt x="1078" y="19476"/>
                </a:lnTo>
                <a:lnTo>
                  <a:pt x="9340" y="21078"/>
                </a:lnTo>
                <a:lnTo>
                  <a:pt x="20116" y="46471"/>
                </a:lnTo>
                <a:lnTo>
                  <a:pt x="49333" y="37596"/>
                </a:lnTo>
                <a:lnTo>
                  <a:pt x="50770" y="34884"/>
                </a:lnTo>
                <a:lnTo>
                  <a:pt x="45262" y="15655"/>
                </a:lnTo>
                <a:lnTo>
                  <a:pt x="42867" y="0"/>
                </a:lnTo>
                <a:lnTo>
                  <a:pt x="0" y="11464"/>
                </a:lnTo>
                <a:close/>
              </a:path>
            </a:pathLst>
          </a:custGeom>
          <a:solidFill>
            <a:srgbClr val="ded5c5"/>
          </a:solidFill>
          <a:ln w="6191">
            <a:solidFill>
              <a:srgbClr val="b5a68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37" name="สะและน้อย"/>
          <p:cNvSpPr/>
          <p:nvPr/>
        </p:nvSpPr>
        <p:spPr>
          <a:xfrm>
            <a:off x="6581880" y="5856480"/>
            <a:ext cx="52560" cy="114840"/>
          </a:xfrm>
          <a:custGeom>
            <a:avLst/>
            <a:gdLst/>
            <a:ahLst/>
            <a:rect l="l" t="t" r="r" b="b"/>
            <a:pathLst>
              <a:path w="53045" h="115129">
                <a:moveTo>
                  <a:pt x="14967" y="0"/>
                </a:moveTo>
                <a:lnTo>
                  <a:pt x="0" y="4068"/>
                </a:lnTo>
                <a:lnTo>
                  <a:pt x="9579" y="41170"/>
                </a:lnTo>
                <a:lnTo>
                  <a:pt x="10777" y="51278"/>
                </a:lnTo>
                <a:lnTo>
                  <a:pt x="14608" y="58181"/>
                </a:lnTo>
                <a:lnTo>
                  <a:pt x="22272" y="57318"/>
                </a:lnTo>
                <a:lnTo>
                  <a:pt x="22990" y="66070"/>
                </a:lnTo>
                <a:lnTo>
                  <a:pt x="21194" y="66563"/>
                </a:lnTo>
                <a:lnTo>
                  <a:pt x="22870" y="115006"/>
                </a:lnTo>
                <a:lnTo>
                  <a:pt x="53045" y="115129"/>
                </a:lnTo>
                <a:lnTo>
                  <a:pt x="39873" y="75561"/>
                </a:lnTo>
                <a:lnTo>
                  <a:pt x="36760" y="61509"/>
                </a:lnTo>
                <a:lnTo>
                  <a:pt x="14967"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38" name="หลังวัดปากบ่อ"/>
          <p:cNvSpPr/>
          <p:nvPr/>
        </p:nvSpPr>
        <p:spPr>
          <a:xfrm>
            <a:off x="6431040" y="5814000"/>
            <a:ext cx="99360" cy="61560"/>
          </a:xfrm>
          <a:custGeom>
            <a:avLst/>
            <a:gdLst/>
            <a:ahLst/>
            <a:rect l="l" t="t" r="r" b="b"/>
            <a:pathLst>
              <a:path w="99624" h="61879">
                <a:moveTo>
                  <a:pt x="27420" y="0"/>
                </a:moveTo>
                <a:lnTo>
                  <a:pt x="12692" y="5300"/>
                </a:lnTo>
                <a:lnTo>
                  <a:pt x="9340" y="14175"/>
                </a:lnTo>
                <a:lnTo>
                  <a:pt x="0" y="22557"/>
                </a:lnTo>
                <a:lnTo>
                  <a:pt x="27420" y="49059"/>
                </a:lnTo>
                <a:lnTo>
                  <a:pt x="39035" y="53004"/>
                </a:lnTo>
                <a:lnTo>
                  <a:pt x="42268" y="61879"/>
                </a:lnTo>
                <a:lnTo>
                  <a:pt x="99624" y="55716"/>
                </a:lnTo>
                <a:lnTo>
                  <a:pt x="98426" y="49429"/>
                </a:lnTo>
                <a:lnTo>
                  <a:pt x="93517" y="50045"/>
                </a:lnTo>
                <a:lnTo>
                  <a:pt x="85135" y="24899"/>
                </a:lnTo>
                <a:lnTo>
                  <a:pt x="85614" y="18243"/>
                </a:lnTo>
                <a:lnTo>
                  <a:pt x="82860" y="7642"/>
                </a:lnTo>
                <a:lnTo>
                  <a:pt x="76035" y="7519"/>
                </a:lnTo>
                <a:lnTo>
                  <a:pt x="62265" y="10601"/>
                </a:lnTo>
                <a:lnTo>
                  <a:pt x="57954" y="7026"/>
                </a:lnTo>
                <a:lnTo>
                  <a:pt x="27420" y="0"/>
                </a:lnTo>
                <a:close/>
              </a:path>
            </a:pathLst>
          </a:custGeom>
          <a:solidFill>
            <a:srgbClr val="ded5c5"/>
          </a:solidFill>
          <a:ln w="6191">
            <a:solidFill>
              <a:srgbClr val="b5a68d"/>
            </a:solidFill>
            <a:round/>
          </a:ln>
        </p:spPr>
        <p:style>
          <a:lnRef idx="0"/>
          <a:fillRef idx="0"/>
          <a:effectRef idx="0"/>
          <a:fontRef idx="minor"/>
        </p:style>
        <p:txBody>
          <a:bodyPr lIns="90000" rIns="90000" tIns="16560" bIns="16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39" name="หัวป่า"/>
          <p:cNvSpPr/>
          <p:nvPr/>
        </p:nvSpPr>
        <p:spPr>
          <a:xfrm>
            <a:off x="6536880" y="5820480"/>
            <a:ext cx="59040" cy="45360"/>
          </a:xfrm>
          <a:custGeom>
            <a:avLst/>
            <a:gdLst/>
            <a:ahLst/>
            <a:rect l="l" t="t" r="r" b="b"/>
            <a:pathLst>
              <a:path w="59391" h="45854">
                <a:moveTo>
                  <a:pt x="0" y="3451"/>
                </a:moveTo>
                <a:lnTo>
                  <a:pt x="12094" y="45854"/>
                </a:lnTo>
                <a:lnTo>
                  <a:pt x="59391" y="35500"/>
                </a:lnTo>
                <a:lnTo>
                  <a:pt x="47537" y="9984"/>
                </a:lnTo>
                <a:lnTo>
                  <a:pt x="39514" y="8259"/>
                </a:lnTo>
                <a:lnTo>
                  <a:pt x="39275" y="0"/>
                </a:lnTo>
                <a:lnTo>
                  <a:pt x="18440" y="3821"/>
                </a:lnTo>
                <a:lnTo>
                  <a:pt x="0" y="3451"/>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40" name="เอื้ออารีย์"/>
          <p:cNvSpPr/>
          <p:nvPr/>
        </p:nvSpPr>
        <p:spPr>
          <a:xfrm>
            <a:off x="6597000" y="5849640"/>
            <a:ext cx="46080" cy="68400"/>
          </a:xfrm>
          <a:custGeom>
            <a:avLst/>
            <a:gdLst/>
            <a:ahLst/>
            <a:rect l="l" t="t" r="r" b="b"/>
            <a:pathLst>
              <a:path w="46459" h="68782">
                <a:moveTo>
                  <a:pt x="26343" y="0"/>
                </a:moveTo>
                <a:lnTo>
                  <a:pt x="0" y="7026"/>
                </a:lnTo>
                <a:lnTo>
                  <a:pt x="23110" y="68782"/>
                </a:lnTo>
                <a:lnTo>
                  <a:pt x="46459" y="62125"/>
                </a:lnTo>
                <a:lnTo>
                  <a:pt x="26343" y="0"/>
                </a:lnTo>
                <a:close/>
              </a:path>
            </a:pathLst>
          </a:custGeom>
          <a:solidFill>
            <a:srgbClr val="ded5c5"/>
          </a:solidFill>
          <a:ln w="6191">
            <a:solidFill>
              <a:srgbClr val="b5a68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41" name="ภูมิสุข"/>
          <p:cNvSpPr/>
          <p:nvPr/>
        </p:nvSpPr>
        <p:spPr>
          <a:xfrm>
            <a:off x="6332760" y="5930280"/>
            <a:ext cx="39600" cy="18360"/>
          </a:xfrm>
          <a:custGeom>
            <a:avLst/>
            <a:gdLst/>
            <a:ahLst/>
            <a:rect l="l" t="t" r="r" b="b"/>
            <a:pathLst>
              <a:path w="39873" h="18613">
                <a:moveTo>
                  <a:pt x="21433" y="0"/>
                </a:moveTo>
                <a:lnTo>
                  <a:pt x="7304" y="1356"/>
                </a:lnTo>
                <a:lnTo>
                  <a:pt x="6346" y="2835"/>
                </a:lnTo>
                <a:lnTo>
                  <a:pt x="0" y="4191"/>
                </a:lnTo>
                <a:lnTo>
                  <a:pt x="3113" y="18613"/>
                </a:lnTo>
                <a:lnTo>
                  <a:pt x="39873" y="11957"/>
                </a:lnTo>
                <a:lnTo>
                  <a:pt x="39514" y="0"/>
                </a:lnTo>
                <a:lnTo>
                  <a:pt x="21433" y="0"/>
                </a:lnTo>
                <a:close/>
              </a:path>
            </a:pathLst>
          </a:custGeom>
          <a:solidFill>
            <a:srgbClr val="ded5c5"/>
          </a:solidFill>
          <a:ln w="6191">
            <a:solidFill>
              <a:srgbClr val="b5a68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42" name="ชุมชนหมู่บ้านชมเดือน"/>
          <p:cNvSpPr/>
          <p:nvPr/>
        </p:nvSpPr>
        <p:spPr>
          <a:xfrm>
            <a:off x="3566160" y="5693760"/>
            <a:ext cx="21600" cy="39960"/>
          </a:xfrm>
          <a:custGeom>
            <a:avLst/>
            <a:gdLst/>
            <a:ahLst/>
            <a:rect l="l" t="t" r="r" b="b"/>
            <a:pathLst>
              <a:path w="21912" h="40184">
                <a:moveTo>
                  <a:pt x="3353" y="0"/>
                </a:moveTo>
                <a:lnTo>
                  <a:pt x="0" y="40184"/>
                </a:lnTo>
                <a:lnTo>
                  <a:pt x="13890" y="38335"/>
                </a:lnTo>
                <a:lnTo>
                  <a:pt x="21912" y="740"/>
                </a:lnTo>
                <a:lnTo>
                  <a:pt x="3353" y="0"/>
                </a:lnTo>
                <a:close/>
              </a:path>
            </a:pathLst>
          </a:custGeom>
          <a:solidFill>
            <a:srgbClr val="ded5c5"/>
          </a:solidFill>
          <a:ln w="6191">
            <a:solidFill>
              <a:srgbClr val="b5a68d"/>
            </a:solidFill>
            <a:round/>
          </a:ln>
        </p:spPr>
        <p:style>
          <a:lnRef idx="0"/>
          <a:fillRef idx="0"/>
          <a:effectRef idx="0"/>
          <a:fontRef idx="minor"/>
        </p:style>
        <p:txBody>
          <a:bodyPr lIns="90000" rIns="90000" tIns="-5040" bIns="-5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43" name="ชุมชนหมู่บ้านพุทธมณฑล"/>
          <p:cNvSpPr/>
          <p:nvPr/>
        </p:nvSpPr>
        <p:spPr>
          <a:xfrm>
            <a:off x="3600720" y="5648400"/>
            <a:ext cx="12240" cy="45720"/>
          </a:xfrm>
          <a:custGeom>
            <a:avLst/>
            <a:gdLst/>
            <a:ahLst/>
            <a:rect l="l" t="t" r="r" b="b"/>
            <a:pathLst>
              <a:path w="12692" h="46101">
                <a:moveTo>
                  <a:pt x="0" y="26009"/>
                </a:moveTo>
                <a:lnTo>
                  <a:pt x="718" y="46101"/>
                </a:lnTo>
                <a:lnTo>
                  <a:pt x="12692" y="45978"/>
                </a:lnTo>
                <a:lnTo>
                  <a:pt x="11974" y="26009"/>
                </a:lnTo>
                <a:lnTo>
                  <a:pt x="9938" y="16764"/>
                </a:lnTo>
                <a:lnTo>
                  <a:pt x="11854" y="7766"/>
                </a:lnTo>
                <a:lnTo>
                  <a:pt x="10657" y="0"/>
                </a:lnTo>
                <a:lnTo>
                  <a:pt x="1437" y="986"/>
                </a:lnTo>
                <a:lnTo>
                  <a:pt x="0" y="26009"/>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44" name="ชุมชนฤทธิ์พัฒนา"/>
          <p:cNvSpPr/>
          <p:nvPr/>
        </p:nvSpPr>
        <p:spPr>
          <a:xfrm>
            <a:off x="3608640" y="5757480"/>
            <a:ext cx="49320" cy="68760"/>
          </a:xfrm>
          <a:custGeom>
            <a:avLst/>
            <a:gdLst/>
            <a:ahLst/>
            <a:rect l="l" t="t" r="r" b="b"/>
            <a:pathLst>
              <a:path w="49692" h="69028">
                <a:moveTo>
                  <a:pt x="6346" y="40677"/>
                </a:moveTo>
                <a:lnTo>
                  <a:pt x="13890" y="41170"/>
                </a:lnTo>
                <a:lnTo>
                  <a:pt x="19278" y="69028"/>
                </a:lnTo>
                <a:lnTo>
                  <a:pt x="49572" y="63605"/>
                </a:lnTo>
                <a:lnTo>
                  <a:pt x="49692" y="48566"/>
                </a:lnTo>
                <a:lnTo>
                  <a:pt x="39514" y="49552"/>
                </a:lnTo>
                <a:lnTo>
                  <a:pt x="35802" y="19969"/>
                </a:lnTo>
                <a:lnTo>
                  <a:pt x="14608" y="18613"/>
                </a:lnTo>
                <a:lnTo>
                  <a:pt x="13890" y="0"/>
                </a:lnTo>
                <a:lnTo>
                  <a:pt x="7424" y="123"/>
                </a:lnTo>
                <a:lnTo>
                  <a:pt x="4430" y="41170"/>
                </a:lnTo>
                <a:lnTo>
                  <a:pt x="0" y="41170"/>
                </a:lnTo>
                <a:lnTo>
                  <a:pt x="2754" y="55716"/>
                </a:lnTo>
                <a:lnTo>
                  <a:pt x="8741" y="54853"/>
                </a:lnTo>
                <a:lnTo>
                  <a:pt x="6346" y="40677"/>
                </a:lnTo>
                <a:close/>
              </a:path>
            </a:pathLst>
          </a:custGeom>
          <a:solidFill>
            <a:srgbClr val="ded5c5"/>
          </a:solidFill>
          <a:ln w="6191">
            <a:solidFill>
              <a:srgbClr val="b5a68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45" name="เศรษฐกิจร่วมใจพัฒนา"/>
          <p:cNvSpPr/>
          <p:nvPr/>
        </p:nvSpPr>
        <p:spPr>
          <a:xfrm>
            <a:off x="3417480" y="5795640"/>
            <a:ext cx="26640" cy="64440"/>
          </a:xfrm>
          <a:custGeom>
            <a:avLst/>
            <a:gdLst/>
            <a:ahLst/>
            <a:rect l="l" t="t" r="r" b="b"/>
            <a:pathLst>
              <a:path w="26822" h="64837">
                <a:moveTo>
                  <a:pt x="0" y="64837"/>
                </a:moveTo>
                <a:lnTo>
                  <a:pt x="26103" y="60646"/>
                </a:lnTo>
                <a:lnTo>
                  <a:pt x="26822" y="32295"/>
                </a:lnTo>
                <a:lnTo>
                  <a:pt x="7783" y="32049"/>
                </a:lnTo>
                <a:lnTo>
                  <a:pt x="9459" y="0"/>
                </a:lnTo>
                <a:lnTo>
                  <a:pt x="6226" y="0"/>
                </a:lnTo>
                <a:lnTo>
                  <a:pt x="4550" y="37719"/>
                </a:lnTo>
                <a:lnTo>
                  <a:pt x="1437" y="39198"/>
                </a:lnTo>
                <a:lnTo>
                  <a:pt x="0" y="64837"/>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46" name="ชุมชนจั่นแก้ว"/>
          <p:cNvSpPr/>
          <p:nvPr/>
        </p:nvSpPr>
        <p:spPr>
          <a:xfrm>
            <a:off x="3721680" y="5757840"/>
            <a:ext cx="37440" cy="53280"/>
          </a:xfrm>
          <a:custGeom>
            <a:avLst/>
            <a:gdLst/>
            <a:ahLst/>
            <a:rect l="l" t="t" r="r" b="b"/>
            <a:pathLst>
              <a:path w="37838" h="53620">
                <a:moveTo>
                  <a:pt x="0" y="2342"/>
                </a:moveTo>
                <a:lnTo>
                  <a:pt x="12932" y="50662"/>
                </a:lnTo>
                <a:lnTo>
                  <a:pt x="10417" y="51401"/>
                </a:lnTo>
                <a:lnTo>
                  <a:pt x="11136" y="53620"/>
                </a:lnTo>
                <a:lnTo>
                  <a:pt x="17721" y="52141"/>
                </a:lnTo>
                <a:lnTo>
                  <a:pt x="18200" y="50292"/>
                </a:lnTo>
                <a:lnTo>
                  <a:pt x="37838" y="46101"/>
                </a:lnTo>
                <a:lnTo>
                  <a:pt x="27899" y="24530"/>
                </a:lnTo>
                <a:lnTo>
                  <a:pt x="24786" y="22064"/>
                </a:lnTo>
                <a:lnTo>
                  <a:pt x="15446" y="123"/>
                </a:lnTo>
                <a:lnTo>
                  <a:pt x="3951" y="0"/>
                </a:lnTo>
                <a:lnTo>
                  <a:pt x="0" y="2342"/>
                </a:lnTo>
                <a:close/>
              </a:path>
            </a:pathLst>
          </a:custGeom>
          <a:solidFill>
            <a:srgbClr val="ded5c5"/>
          </a:solidFill>
          <a:ln w="6191">
            <a:solidFill>
              <a:srgbClr val="b5a68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47" name="ชุมชนเทวินรวมใจ"/>
          <p:cNvSpPr/>
          <p:nvPr/>
        </p:nvSpPr>
        <p:spPr>
          <a:xfrm>
            <a:off x="3499920" y="5652360"/>
            <a:ext cx="68400" cy="41040"/>
          </a:xfrm>
          <a:custGeom>
            <a:avLst/>
            <a:gdLst/>
            <a:ahLst/>
            <a:rect l="l" t="t" r="r" b="b"/>
            <a:pathLst>
              <a:path w="68731" h="41294">
                <a:moveTo>
                  <a:pt x="53883" y="41294"/>
                </a:moveTo>
                <a:lnTo>
                  <a:pt x="46579" y="8629"/>
                </a:lnTo>
                <a:lnTo>
                  <a:pt x="68731" y="6287"/>
                </a:lnTo>
                <a:lnTo>
                  <a:pt x="68611" y="0"/>
                </a:lnTo>
                <a:lnTo>
                  <a:pt x="0" y="7642"/>
                </a:lnTo>
                <a:lnTo>
                  <a:pt x="2395" y="38582"/>
                </a:lnTo>
                <a:lnTo>
                  <a:pt x="25984" y="38828"/>
                </a:lnTo>
                <a:lnTo>
                  <a:pt x="27181" y="36979"/>
                </a:lnTo>
                <a:lnTo>
                  <a:pt x="35802" y="37226"/>
                </a:lnTo>
                <a:lnTo>
                  <a:pt x="43106" y="40061"/>
                </a:lnTo>
                <a:lnTo>
                  <a:pt x="53883" y="41294"/>
                </a:lnTo>
                <a:close/>
              </a:path>
            </a:pathLst>
          </a:custGeom>
          <a:solidFill>
            <a:srgbClr val="ded5c5"/>
          </a:solidFill>
          <a:ln w="6191">
            <a:solidFill>
              <a:srgbClr val="b5a68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48" name="หมู่บ้านอมรพันธ์นครสวนสยาม"/>
          <p:cNvSpPr/>
          <p:nvPr/>
        </p:nvSpPr>
        <p:spPr>
          <a:xfrm>
            <a:off x="7181640" y="4730400"/>
            <a:ext cx="62640" cy="87120"/>
          </a:xfrm>
          <a:custGeom>
            <a:avLst/>
            <a:gdLst/>
            <a:ahLst/>
            <a:rect l="l" t="t" r="r" b="b"/>
            <a:pathLst>
              <a:path w="62863" h="87518">
                <a:moveTo>
                  <a:pt x="239" y="54853"/>
                </a:moveTo>
                <a:lnTo>
                  <a:pt x="6586" y="53497"/>
                </a:lnTo>
                <a:lnTo>
                  <a:pt x="3353" y="55223"/>
                </a:lnTo>
                <a:lnTo>
                  <a:pt x="0" y="54730"/>
                </a:lnTo>
                <a:lnTo>
                  <a:pt x="1197" y="61879"/>
                </a:lnTo>
                <a:lnTo>
                  <a:pt x="13531" y="87518"/>
                </a:lnTo>
                <a:lnTo>
                  <a:pt x="15446" y="86655"/>
                </a:lnTo>
                <a:lnTo>
                  <a:pt x="9459" y="75068"/>
                </a:lnTo>
                <a:lnTo>
                  <a:pt x="18560" y="70507"/>
                </a:lnTo>
                <a:lnTo>
                  <a:pt x="9340" y="52634"/>
                </a:lnTo>
                <a:lnTo>
                  <a:pt x="6466" y="53743"/>
                </a:lnTo>
                <a:lnTo>
                  <a:pt x="7304" y="52018"/>
                </a:lnTo>
                <a:lnTo>
                  <a:pt x="19637" y="44622"/>
                </a:lnTo>
                <a:lnTo>
                  <a:pt x="24906" y="53497"/>
                </a:lnTo>
                <a:lnTo>
                  <a:pt x="19278" y="56948"/>
                </a:lnTo>
                <a:lnTo>
                  <a:pt x="27780" y="72603"/>
                </a:lnTo>
                <a:lnTo>
                  <a:pt x="26822" y="74082"/>
                </a:lnTo>
                <a:lnTo>
                  <a:pt x="30055" y="80245"/>
                </a:lnTo>
                <a:lnTo>
                  <a:pt x="35682" y="77040"/>
                </a:lnTo>
                <a:lnTo>
                  <a:pt x="37598" y="80738"/>
                </a:lnTo>
                <a:lnTo>
                  <a:pt x="49093" y="75808"/>
                </a:lnTo>
                <a:lnTo>
                  <a:pt x="46699" y="74329"/>
                </a:lnTo>
                <a:lnTo>
                  <a:pt x="41789" y="65330"/>
                </a:lnTo>
                <a:lnTo>
                  <a:pt x="35084" y="48690"/>
                </a:lnTo>
                <a:lnTo>
                  <a:pt x="29576" y="39445"/>
                </a:lnTo>
                <a:lnTo>
                  <a:pt x="33288" y="37349"/>
                </a:lnTo>
                <a:lnTo>
                  <a:pt x="26343" y="23790"/>
                </a:lnTo>
                <a:lnTo>
                  <a:pt x="29815" y="21818"/>
                </a:lnTo>
                <a:lnTo>
                  <a:pt x="39873" y="30693"/>
                </a:lnTo>
                <a:lnTo>
                  <a:pt x="41430" y="30323"/>
                </a:lnTo>
                <a:lnTo>
                  <a:pt x="44304" y="34637"/>
                </a:lnTo>
                <a:lnTo>
                  <a:pt x="42029" y="39198"/>
                </a:lnTo>
                <a:lnTo>
                  <a:pt x="45501" y="42403"/>
                </a:lnTo>
                <a:lnTo>
                  <a:pt x="50171" y="50785"/>
                </a:lnTo>
                <a:lnTo>
                  <a:pt x="61307" y="43512"/>
                </a:lnTo>
                <a:lnTo>
                  <a:pt x="62863" y="40801"/>
                </a:lnTo>
                <a:lnTo>
                  <a:pt x="34725" y="17257"/>
                </a:lnTo>
                <a:lnTo>
                  <a:pt x="37958" y="15285"/>
                </a:lnTo>
                <a:lnTo>
                  <a:pt x="40831" y="8012"/>
                </a:lnTo>
                <a:lnTo>
                  <a:pt x="20356" y="0"/>
                </a:lnTo>
                <a:lnTo>
                  <a:pt x="239" y="54853"/>
                </a:lnTo>
                <a:close/>
                <a:moveTo>
                  <a:pt x="6466" y="53743"/>
                </a:moveTo>
                <a:lnTo>
                  <a:pt x="6586" y="53620"/>
                </a:lnTo>
                <a:lnTo>
                  <a:pt x="6466" y="53743"/>
                </a:lnTo>
                <a:lnTo>
                  <a:pt x="6466" y="53743"/>
                </a:lnTo>
                <a:close/>
              </a:path>
            </a:pathLst>
          </a:custGeom>
          <a:solidFill>
            <a:srgbClr val="ded5c5"/>
          </a:solidFill>
          <a:ln w="6191">
            <a:solidFill>
              <a:srgbClr val="b5a68d"/>
            </a:solidFill>
            <a:round/>
          </a:ln>
        </p:spPr>
        <p:style>
          <a:lnRef idx="0"/>
          <a:fillRef idx="0"/>
          <a:effectRef idx="0"/>
          <a:fontRef idx="minor"/>
        </p:style>
        <p:txBody>
          <a:bodyPr lIns="90000" rIns="90000" tIns="42120" bIns="42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49" name="หมู่บ้านรังสิยา"/>
          <p:cNvSpPr/>
          <p:nvPr/>
        </p:nvSpPr>
        <p:spPr>
          <a:xfrm>
            <a:off x="7200720" y="4615560"/>
            <a:ext cx="38160" cy="54360"/>
          </a:xfrm>
          <a:custGeom>
            <a:avLst/>
            <a:gdLst/>
            <a:ahLst/>
            <a:rect l="l" t="t" r="r" b="b"/>
            <a:pathLst>
              <a:path w="38556" h="54606">
                <a:moveTo>
                  <a:pt x="13052" y="54606"/>
                </a:moveTo>
                <a:lnTo>
                  <a:pt x="33048" y="26379"/>
                </a:lnTo>
                <a:lnTo>
                  <a:pt x="30893" y="24406"/>
                </a:lnTo>
                <a:lnTo>
                  <a:pt x="35323" y="18983"/>
                </a:lnTo>
                <a:lnTo>
                  <a:pt x="29097" y="14915"/>
                </a:lnTo>
                <a:lnTo>
                  <a:pt x="38556" y="0"/>
                </a:lnTo>
                <a:lnTo>
                  <a:pt x="28857" y="0"/>
                </a:lnTo>
                <a:lnTo>
                  <a:pt x="24786" y="8259"/>
                </a:lnTo>
                <a:lnTo>
                  <a:pt x="0" y="42403"/>
                </a:lnTo>
                <a:lnTo>
                  <a:pt x="13052" y="54606"/>
                </a:lnTo>
                <a:close/>
              </a:path>
            </a:pathLst>
          </a:custGeom>
          <a:solidFill>
            <a:srgbClr val="ded5c5"/>
          </a:solidFill>
          <a:ln w="6191">
            <a:solidFill>
              <a:srgbClr val="b5a68d"/>
            </a:solidFill>
            <a:round/>
          </a:ln>
        </p:spPr>
        <p:style>
          <a:lnRef idx="0"/>
          <a:fillRef idx="0"/>
          <a:effectRef idx="0"/>
          <a:fontRef idx="minor"/>
        </p:style>
        <p:txBody>
          <a:bodyPr lIns="90000" rIns="90000" tIns="9360" bIns="9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50" name="เคหะชุมชนทุ่งสองห้อง 312"/>
          <p:cNvSpPr/>
          <p:nvPr/>
        </p:nvSpPr>
        <p:spPr>
          <a:xfrm>
            <a:off x="5868000" y="3501000"/>
            <a:ext cx="24120" cy="19080"/>
          </a:xfrm>
          <a:custGeom>
            <a:avLst/>
            <a:gdLst/>
            <a:ahLst/>
            <a:rect l="l" t="t" r="r" b="b"/>
            <a:pathLst>
              <a:path w="24427" h="19353">
                <a:moveTo>
                  <a:pt x="0" y="8752"/>
                </a:moveTo>
                <a:lnTo>
                  <a:pt x="19398" y="19353"/>
                </a:lnTo>
                <a:lnTo>
                  <a:pt x="24427" y="10601"/>
                </a:lnTo>
                <a:lnTo>
                  <a:pt x="5029" y="0"/>
                </a:lnTo>
                <a:lnTo>
                  <a:pt x="0" y="8752"/>
                </a:lnTo>
                <a:close/>
              </a:path>
            </a:pathLst>
          </a:custGeom>
          <a:solidFill>
            <a:srgbClr val="ded5c5"/>
          </a:solidFill>
          <a:ln w="6191">
            <a:solidFill>
              <a:srgbClr val="b5a68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51" name="หมู่บ้านรัตนชัยวิลล่า"/>
          <p:cNvSpPr/>
          <p:nvPr/>
        </p:nvSpPr>
        <p:spPr>
          <a:xfrm>
            <a:off x="5895360" y="3581280"/>
            <a:ext cx="22680" cy="15120"/>
          </a:xfrm>
          <a:custGeom>
            <a:avLst/>
            <a:gdLst/>
            <a:ahLst/>
            <a:rect l="l" t="t" r="r" b="b"/>
            <a:pathLst>
              <a:path w="22990" h="15655">
                <a:moveTo>
                  <a:pt x="1676" y="0"/>
                </a:moveTo>
                <a:lnTo>
                  <a:pt x="0" y="11957"/>
                </a:lnTo>
                <a:lnTo>
                  <a:pt x="7544" y="15408"/>
                </a:lnTo>
                <a:lnTo>
                  <a:pt x="9100" y="15655"/>
                </a:lnTo>
                <a:lnTo>
                  <a:pt x="10417" y="8259"/>
                </a:lnTo>
                <a:lnTo>
                  <a:pt x="20356" y="11833"/>
                </a:lnTo>
                <a:lnTo>
                  <a:pt x="22990" y="6533"/>
                </a:lnTo>
                <a:lnTo>
                  <a:pt x="1676" y="0"/>
                </a:lnTo>
                <a:close/>
              </a:path>
            </a:pathLst>
          </a:custGeom>
          <a:solidFill>
            <a:srgbClr val="ded5c5"/>
          </a:solidFill>
          <a:ln w="6191">
            <a:solidFill>
              <a:srgbClr val="b5a68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52" name="อาคารสงเคราะห์ฯ บางคอแหลม"/>
          <p:cNvSpPr/>
          <p:nvPr/>
        </p:nvSpPr>
        <p:spPr>
          <a:xfrm>
            <a:off x="4936680" y="6078600"/>
            <a:ext cx="6840" cy="6120"/>
          </a:xfrm>
          <a:custGeom>
            <a:avLst/>
            <a:gdLst/>
            <a:ahLst/>
            <a:rect l="l" t="t" r="r" b="b"/>
            <a:pathLst>
              <a:path w="7184" h="6656">
                <a:moveTo>
                  <a:pt x="0" y="4438"/>
                </a:moveTo>
                <a:lnTo>
                  <a:pt x="5029" y="6656"/>
                </a:lnTo>
                <a:lnTo>
                  <a:pt x="7184" y="1849"/>
                </a:lnTo>
                <a:lnTo>
                  <a:pt x="1796" y="0"/>
                </a:lnTo>
                <a:lnTo>
                  <a:pt x="0" y="4438"/>
                </a:lnTo>
                <a:close/>
              </a:path>
            </a:pathLst>
          </a:custGeom>
          <a:solidFill>
            <a:srgbClr val="ded5c5"/>
          </a:solidFill>
          <a:ln w="6191">
            <a:solidFill>
              <a:srgbClr val="b5a68d"/>
            </a:solidFill>
            <a:round/>
          </a:ln>
        </p:spPr>
        <p:style>
          <a:lnRef idx="0"/>
          <a:fillRef idx="0"/>
          <a:effectRef idx="0"/>
          <a:fontRef idx="minor"/>
        </p:style>
        <p:txBody>
          <a:bodyPr lIns="90000" rIns="90000" tIns="-38880" bIns="-38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53" name="มหาพลสัมพันธ์"/>
          <p:cNvSpPr/>
          <p:nvPr/>
        </p:nvSpPr>
        <p:spPr>
          <a:xfrm>
            <a:off x="6573600" y="5860440"/>
            <a:ext cx="19800" cy="54720"/>
          </a:xfrm>
          <a:custGeom>
            <a:avLst/>
            <a:gdLst/>
            <a:ahLst/>
            <a:rect l="l" t="t" r="r" b="b"/>
            <a:pathLst>
              <a:path w="20116" h="54976">
                <a:moveTo>
                  <a:pt x="16764" y="37842"/>
                </a:moveTo>
                <a:lnTo>
                  <a:pt x="17721" y="37472"/>
                </a:lnTo>
                <a:lnTo>
                  <a:pt x="8142" y="0"/>
                </a:lnTo>
                <a:lnTo>
                  <a:pt x="0" y="1726"/>
                </a:lnTo>
                <a:lnTo>
                  <a:pt x="12812" y="54976"/>
                </a:lnTo>
                <a:lnTo>
                  <a:pt x="20116" y="52881"/>
                </a:lnTo>
                <a:lnTo>
                  <a:pt x="17841" y="42526"/>
                </a:lnTo>
                <a:lnTo>
                  <a:pt x="18799" y="42157"/>
                </a:lnTo>
                <a:lnTo>
                  <a:pt x="16764" y="37842"/>
                </a:lnTo>
                <a:close/>
              </a:path>
            </a:pathLst>
          </a:custGeom>
          <a:solidFill>
            <a:srgbClr val="ded5c5"/>
          </a:solidFill>
          <a:ln w="6191">
            <a:solidFill>
              <a:srgbClr val="b5a68d"/>
            </a:solidFill>
            <a:round/>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54" name="วัดทองเจ้าพัฒนา"/>
          <p:cNvSpPr/>
          <p:nvPr/>
        </p:nvSpPr>
        <p:spPr>
          <a:xfrm>
            <a:off x="6362640" y="5823000"/>
            <a:ext cx="46080" cy="62640"/>
          </a:xfrm>
          <a:custGeom>
            <a:avLst/>
            <a:gdLst/>
            <a:ahLst/>
            <a:rect l="l" t="t" r="r" b="b"/>
            <a:pathLst>
              <a:path w="46579" h="62865">
                <a:moveTo>
                  <a:pt x="41191" y="37966"/>
                </a:moveTo>
                <a:lnTo>
                  <a:pt x="42747" y="37226"/>
                </a:lnTo>
                <a:lnTo>
                  <a:pt x="46579" y="25886"/>
                </a:lnTo>
                <a:lnTo>
                  <a:pt x="37598" y="20708"/>
                </a:lnTo>
                <a:lnTo>
                  <a:pt x="31731" y="740"/>
                </a:lnTo>
                <a:lnTo>
                  <a:pt x="29815" y="0"/>
                </a:lnTo>
                <a:lnTo>
                  <a:pt x="19997" y="3575"/>
                </a:lnTo>
                <a:lnTo>
                  <a:pt x="12453" y="4191"/>
                </a:lnTo>
                <a:lnTo>
                  <a:pt x="8023" y="20339"/>
                </a:lnTo>
                <a:lnTo>
                  <a:pt x="0" y="30816"/>
                </a:lnTo>
                <a:lnTo>
                  <a:pt x="958" y="48443"/>
                </a:lnTo>
                <a:lnTo>
                  <a:pt x="17841" y="43882"/>
                </a:lnTo>
                <a:lnTo>
                  <a:pt x="20954" y="62865"/>
                </a:lnTo>
                <a:lnTo>
                  <a:pt x="38915" y="61016"/>
                </a:lnTo>
                <a:lnTo>
                  <a:pt x="37359" y="44499"/>
                </a:lnTo>
                <a:lnTo>
                  <a:pt x="37838" y="41417"/>
                </a:lnTo>
                <a:lnTo>
                  <a:pt x="41191" y="37966"/>
                </a:lnTo>
                <a:close/>
              </a:path>
            </a:pathLst>
          </a:custGeom>
          <a:solidFill>
            <a:srgbClr val="ded5c5"/>
          </a:solidFill>
          <a:ln w="6191">
            <a:solidFill>
              <a:srgbClr val="b5a68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55" name="หมู่บ้านอ่อนนุชทาวน์เฮ้าส์ 1"/>
          <p:cNvSpPr/>
          <p:nvPr/>
        </p:nvSpPr>
        <p:spPr>
          <a:xfrm>
            <a:off x="6561000" y="5862240"/>
            <a:ext cx="24840" cy="53280"/>
          </a:xfrm>
          <a:custGeom>
            <a:avLst/>
            <a:gdLst/>
            <a:ahLst/>
            <a:rect l="l" t="t" r="r" b="b"/>
            <a:pathLst>
              <a:path w="25145" h="53497">
                <a:moveTo>
                  <a:pt x="0" y="2958"/>
                </a:moveTo>
                <a:lnTo>
                  <a:pt x="2874" y="11710"/>
                </a:lnTo>
                <a:lnTo>
                  <a:pt x="4670" y="12943"/>
                </a:lnTo>
                <a:lnTo>
                  <a:pt x="15925" y="38705"/>
                </a:lnTo>
                <a:lnTo>
                  <a:pt x="20236" y="53497"/>
                </a:lnTo>
                <a:lnTo>
                  <a:pt x="25145" y="53250"/>
                </a:lnTo>
                <a:lnTo>
                  <a:pt x="12333" y="0"/>
                </a:lnTo>
                <a:lnTo>
                  <a:pt x="0" y="2958"/>
                </a:lnTo>
                <a:close/>
              </a:path>
            </a:pathLst>
          </a:custGeom>
          <a:solidFill>
            <a:srgbClr val="ded5c5"/>
          </a:solidFill>
          <a:ln w="6191">
            <a:solidFill>
              <a:srgbClr val="b5a68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56" name="ธรรมานุรักษ์"/>
          <p:cNvSpPr/>
          <p:nvPr/>
        </p:nvSpPr>
        <p:spPr>
          <a:xfrm>
            <a:off x="6403680" y="5414040"/>
            <a:ext cx="48240" cy="75240"/>
          </a:xfrm>
          <a:custGeom>
            <a:avLst/>
            <a:gdLst/>
            <a:ahLst/>
            <a:rect l="l" t="t" r="r" b="b"/>
            <a:pathLst>
              <a:path w="48734" h="75561">
                <a:moveTo>
                  <a:pt x="0" y="7149"/>
                </a:moveTo>
                <a:lnTo>
                  <a:pt x="13411" y="75561"/>
                </a:lnTo>
                <a:lnTo>
                  <a:pt x="48734" y="69028"/>
                </a:lnTo>
                <a:lnTo>
                  <a:pt x="36640" y="11833"/>
                </a:lnTo>
                <a:lnTo>
                  <a:pt x="32689" y="0"/>
                </a:lnTo>
                <a:lnTo>
                  <a:pt x="0" y="7149"/>
                </a:lnTo>
                <a:close/>
              </a:path>
            </a:pathLst>
          </a:custGeom>
          <a:solidFill>
            <a:srgbClr val="ded5c5"/>
          </a:solidFill>
          <a:ln w="6191">
            <a:solidFill>
              <a:srgbClr val="b5a68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57" name="นาคภาษิต"/>
          <p:cNvSpPr/>
          <p:nvPr/>
        </p:nvSpPr>
        <p:spPr>
          <a:xfrm>
            <a:off x="6451560" y="5403600"/>
            <a:ext cx="38160" cy="71640"/>
          </a:xfrm>
          <a:custGeom>
            <a:avLst/>
            <a:gdLst/>
            <a:ahLst/>
            <a:rect l="l" t="t" r="r" b="b"/>
            <a:pathLst>
              <a:path w="38556" h="72110">
                <a:moveTo>
                  <a:pt x="24307" y="54360"/>
                </a:moveTo>
                <a:lnTo>
                  <a:pt x="27899" y="72110"/>
                </a:lnTo>
                <a:lnTo>
                  <a:pt x="38556" y="69768"/>
                </a:lnTo>
                <a:lnTo>
                  <a:pt x="24906" y="0"/>
                </a:lnTo>
                <a:lnTo>
                  <a:pt x="0" y="5670"/>
                </a:lnTo>
                <a:lnTo>
                  <a:pt x="1916" y="13066"/>
                </a:lnTo>
                <a:lnTo>
                  <a:pt x="8502" y="15655"/>
                </a:lnTo>
                <a:lnTo>
                  <a:pt x="9938" y="18613"/>
                </a:lnTo>
                <a:lnTo>
                  <a:pt x="14369" y="42280"/>
                </a:lnTo>
                <a:lnTo>
                  <a:pt x="21433" y="41047"/>
                </a:lnTo>
                <a:lnTo>
                  <a:pt x="24307" y="54360"/>
                </a:lnTo>
                <a:close/>
              </a:path>
            </a:pathLst>
          </a:custGeom>
          <a:solidFill>
            <a:srgbClr val="ded5c5"/>
          </a:solidFill>
          <a:ln w="6191">
            <a:solidFill>
              <a:srgbClr val="b5a68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58" name="วิเศษสุข"/>
          <p:cNvSpPr/>
          <p:nvPr/>
        </p:nvSpPr>
        <p:spPr>
          <a:xfrm>
            <a:off x="6520320" y="5386680"/>
            <a:ext cx="20160" cy="22680"/>
          </a:xfrm>
          <a:custGeom>
            <a:avLst/>
            <a:gdLst/>
            <a:ahLst/>
            <a:rect l="l" t="t" r="r" b="b"/>
            <a:pathLst>
              <a:path w="20476" h="23051">
                <a:moveTo>
                  <a:pt x="0" y="4438"/>
                </a:moveTo>
                <a:lnTo>
                  <a:pt x="4430" y="23051"/>
                </a:lnTo>
                <a:lnTo>
                  <a:pt x="20476" y="18490"/>
                </a:lnTo>
                <a:lnTo>
                  <a:pt x="17123" y="3451"/>
                </a:lnTo>
                <a:lnTo>
                  <a:pt x="14129" y="0"/>
                </a:lnTo>
                <a:lnTo>
                  <a:pt x="0" y="4438"/>
                </a:lnTo>
                <a:close/>
              </a:path>
            </a:pathLst>
          </a:custGeom>
          <a:solidFill>
            <a:srgbClr val="ded5c5"/>
          </a:solidFill>
          <a:ln w="6191">
            <a:solidFill>
              <a:srgbClr val="b5a68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59" name="ชุมชนวัดพรหมสุวรรณสามัคคี"/>
          <p:cNvSpPr/>
          <p:nvPr/>
        </p:nvSpPr>
        <p:spPr>
          <a:xfrm>
            <a:off x="3279960" y="5611680"/>
            <a:ext cx="71640" cy="67320"/>
          </a:xfrm>
          <a:custGeom>
            <a:avLst/>
            <a:gdLst/>
            <a:ahLst/>
            <a:rect l="l" t="t" r="r" b="b"/>
            <a:pathLst>
              <a:path w="71964" h="67796">
                <a:moveTo>
                  <a:pt x="67533" y="53497"/>
                </a:moveTo>
                <a:lnTo>
                  <a:pt x="68132" y="48320"/>
                </a:lnTo>
                <a:lnTo>
                  <a:pt x="66096" y="48073"/>
                </a:lnTo>
                <a:lnTo>
                  <a:pt x="66216" y="40061"/>
                </a:lnTo>
                <a:lnTo>
                  <a:pt x="69090" y="40061"/>
                </a:lnTo>
                <a:lnTo>
                  <a:pt x="71964" y="616"/>
                </a:lnTo>
                <a:lnTo>
                  <a:pt x="60469" y="0"/>
                </a:lnTo>
                <a:lnTo>
                  <a:pt x="59271" y="17504"/>
                </a:lnTo>
                <a:lnTo>
                  <a:pt x="1437" y="23174"/>
                </a:lnTo>
                <a:lnTo>
                  <a:pt x="0" y="43389"/>
                </a:lnTo>
                <a:lnTo>
                  <a:pt x="10896" y="67796"/>
                </a:lnTo>
                <a:lnTo>
                  <a:pt x="67893" y="62125"/>
                </a:lnTo>
                <a:lnTo>
                  <a:pt x="67533" y="53497"/>
                </a:lnTo>
                <a:close/>
              </a:path>
            </a:pathLst>
          </a:custGeom>
          <a:solidFill>
            <a:srgbClr val="ded5c5"/>
          </a:solidFill>
          <a:ln w="6191">
            <a:solidFill>
              <a:srgbClr val="b5a68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60" name="ชุมชนข้างโรงพยาบาลราชพิพัฒน์"/>
          <p:cNvSpPr/>
          <p:nvPr/>
        </p:nvSpPr>
        <p:spPr>
          <a:xfrm>
            <a:off x="3279960" y="5598000"/>
            <a:ext cx="59040" cy="36360"/>
          </a:xfrm>
          <a:custGeom>
            <a:avLst/>
            <a:gdLst/>
            <a:ahLst/>
            <a:rect l="l" t="t" r="r" b="b"/>
            <a:pathLst>
              <a:path w="59391" h="36733">
                <a:moveTo>
                  <a:pt x="31013" y="34391"/>
                </a:moveTo>
                <a:lnTo>
                  <a:pt x="58553" y="31433"/>
                </a:lnTo>
                <a:lnTo>
                  <a:pt x="59391" y="7519"/>
                </a:lnTo>
                <a:lnTo>
                  <a:pt x="54003" y="7273"/>
                </a:lnTo>
                <a:lnTo>
                  <a:pt x="53763" y="5177"/>
                </a:lnTo>
                <a:lnTo>
                  <a:pt x="51249" y="5177"/>
                </a:lnTo>
                <a:lnTo>
                  <a:pt x="50650" y="123"/>
                </a:lnTo>
                <a:lnTo>
                  <a:pt x="49453" y="0"/>
                </a:lnTo>
                <a:lnTo>
                  <a:pt x="42268" y="740"/>
                </a:lnTo>
                <a:lnTo>
                  <a:pt x="42987" y="3328"/>
                </a:lnTo>
                <a:lnTo>
                  <a:pt x="35443" y="4068"/>
                </a:lnTo>
                <a:lnTo>
                  <a:pt x="35204" y="123"/>
                </a:lnTo>
                <a:lnTo>
                  <a:pt x="0" y="4314"/>
                </a:lnTo>
                <a:lnTo>
                  <a:pt x="1197" y="36733"/>
                </a:lnTo>
                <a:lnTo>
                  <a:pt x="31013" y="34391"/>
                </a:lnTo>
                <a:close/>
              </a:path>
            </a:pathLst>
          </a:custGeom>
          <a:solidFill>
            <a:srgbClr val="ded5c5"/>
          </a:solidFill>
          <a:ln w="6191">
            <a:solidFill>
              <a:srgbClr val="b5a68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61" name="กองพันทหารสารวัตรที่ 11 ชุมชนที่ 3"/>
          <p:cNvSpPr/>
          <p:nvPr/>
        </p:nvSpPr>
        <p:spPr>
          <a:xfrm>
            <a:off x="5247000" y="5203080"/>
            <a:ext cx="46080" cy="39600"/>
          </a:xfrm>
          <a:custGeom>
            <a:avLst/>
            <a:gdLst/>
            <a:ahLst/>
            <a:rect l="l" t="t" r="r" b="b"/>
            <a:pathLst>
              <a:path w="46339" h="40061">
                <a:moveTo>
                  <a:pt x="25864" y="17873"/>
                </a:moveTo>
                <a:lnTo>
                  <a:pt x="28618" y="17750"/>
                </a:lnTo>
                <a:lnTo>
                  <a:pt x="30534" y="14545"/>
                </a:lnTo>
                <a:lnTo>
                  <a:pt x="34844" y="15901"/>
                </a:lnTo>
                <a:lnTo>
                  <a:pt x="34246" y="17873"/>
                </a:lnTo>
                <a:lnTo>
                  <a:pt x="41550" y="20585"/>
                </a:lnTo>
                <a:lnTo>
                  <a:pt x="46339" y="13313"/>
                </a:lnTo>
                <a:lnTo>
                  <a:pt x="17721" y="0"/>
                </a:lnTo>
                <a:lnTo>
                  <a:pt x="0" y="38335"/>
                </a:lnTo>
                <a:lnTo>
                  <a:pt x="3113" y="40061"/>
                </a:lnTo>
                <a:lnTo>
                  <a:pt x="11495" y="24160"/>
                </a:lnTo>
                <a:lnTo>
                  <a:pt x="14010" y="28228"/>
                </a:lnTo>
                <a:lnTo>
                  <a:pt x="21433" y="14175"/>
                </a:lnTo>
                <a:lnTo>
                  <a:pt x="25864" y="17873"/>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62" name="กรมการสารวัตรทหารบก"/>
          <p:cNvSpPr/>
          <p:nvPr/>
        </p:nvSpPr>
        <p:spPr>
          <a:xfrm>
            <a:off x="5277240" y="5216760"/>
            <a:ext cx="36000" cy="45000"/>
          </a:xfrm>
          <a:custGeom>
            <a:avLst/>
            <a:gdLst/>
            <a:ahLst/>
            <a:rect l="l" t="t" r="r" b="b"/>
            <a:pathLst>
              <a:path w="36521" h="45238">
                <a:moveTo>
                  <a:pt x="28738" y="5917"/>
                </a:moveTo>
                <a:lnTo>
                  <a:pt x="16285" y="0"/>
                </a:lnTo>
                <a:lnTo>
                  <a:pt x="0" y="33281"/>
                </a:lnTo>
                <a:lnTo>
                  <a:pt x="25145" y="45238"/>
                </a:lnTo>
                <a:lnTo>
                  <a:pt x="36521" y="23174"/>
                </a:lnTo>
                <a:lnTo>
                  <a:pt x="23349" y="17011"/>
                </a:lnTo>
                <a:lnTo>
                  <a:pt x="28738" y="5917"/>
                </a:lnTo>
                <a:close/>
              </a:path>
            </a:pathLst>
          </a:custGeom>
          <a:solidFill>
            <a:srgbClr val="ded5c5"/>
          </a:solidFill>
          <a:ln w="6191">
            <a:solidFill>
              <a:srgbClr val="b5a68d"/>
            </a:solidFill>
            <a:round/>
          </a:ln>
        </p:spPr>
        <p:style>
          <a:lnRef idx="0"/>
          <a:fillRef idx="0"/>
          <a:effectRef idx="0"/>
          <a:fontRef idx="minor"/>
        </p:style>
        <p:txBody>
          <a:bodyPr lIns="90000" rIns="90000" tIns="0" bIns="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63" name="หมู่บ้านลออทิพย์"/>
          <p:cNvSpPr/>
          <p:nvPr/>
        </p:nvSpPr>
        <p:spPr>
          <a:xfrm>
            <a:off x="5804280" y="3515040"/>
            <a:ext cx="51480" cy="23760"/>
          </a:xfrm>
          <a:custGeom>
            <a:avLst/>
            <a:gdLst/>
            <a:ahLst/>
            <a:rect l="l" t="t" r="r" b="b"/>
            <a:pathLst>
              <a:path w="51967" h="24283">
                <a:moveTo>
                  <a:pt x="42508" y="17627"/>
                </a:moveTo>
                <a:lnTo>
                  <a:pt x="43106" y="11710"/>
                </a:lnTo>
                <a:lnTo>
                  <a:pt x="42029" y="9984"/>
                </a:lnTo>
                <a:lnTo>
                  <a:pt x="43705" y="7026"/>
                </a:lnTo>
                <a:lnTo>
                  <a:pt x="3832" y="1972"/>
                </a:lnTo>
                <a:lnTo>
                  <a:pt x="0" y="0"/>
                </a:lnTo>
                <a:lnTo>
                  <a:pt x="0" y="3205"/>
                </a:lnTo>
                <a:lnTo>
                  <a:pt x="8621" y="5547"/>
                </a:lnTo>
                <a:lnTo>
                  <a:pt x="8382" y="7273"/>
                </a:lnTo>
                <a:lnTo>
                  <a:pt x="27420" y="9615"/>
                </a:lnTo>
                <a:lnTo>
                  <a:pt x="25624" y="18120"/>
                </a:lnTo>
                <a:lnTo>
                  <a:pt x="36640" y="18736"/>
                </a:lnTo>
                <a:lnTo>
                  <a:pt x="36521" y="23667"/>
                </a:lnTo>
                <a:lnTo>
                  <a:pt x="41909" y="23051"/>
                </a:lnTo>
                <a:lnTo>
                  <a:pt x="42029" y="20215"/>
                </a:lnTo>
                <a:lnTo>
                  <a:pt x="50770" y="24283"/>
                </a:lnTo>
                <a:lnTo>
                  <a:pt x="51967" y="21818"/>
                </a:lnTo>
                <a:lnTo>
                  <a:pt x="42508" y="17627"/>
                </a:lnTo>
                <a:close/>
              </a:path>
            </a:pathLst>
          </a:custGeom>
          <a:solidFill>
            <a:srgbClr val="ded5c5"/>
          </a:solidFill>
          <a:ln w="6191">
            <a:solidFill>
              <a:srgbClr val="b5a68d"/>
            </a:solidFill>
            <a:round/>
          </a:ln>
        </p:spPr>
        <p:style>
          <a:lnRef idx="0"/>
          <a:fillRef idx="0"/>
          <a:effectRef idx="0"/>
          <a:fontRef idx="minor"/>
        </p:style>
        <p:txBody>
          <a:bodyPr lIns="90000" rIns="90000" tIns="-21240" bIns="-21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64" name="หมู่บ้าน กฟภ.นิเวศน์ 2"/>
          <p:cNvSpPr/>
          <p:nvPr/>
        </p:nvSpPr>
        <p:spPr>
          <a:xfrm>
            <a:off x="5511600" y="3814560"/>
            <a:ext cx="73800" cy="45720"/>
          </a:xfrm>
          <a:custGeom>
            <a:avLst/>
            <a:gdLst/>
            <a:ahLst/>
            <a:rect l="l" t="t" r="r" b="b"/>
            <a:pathLst>
              <a:path w="74119" h="45978">
                <a:moveTo>
                  <a:pt x="0" y="8259"/>
                </a:moveTo>
                <a:lnTo>
                  <a:pt x="14010" y="9122"/>
                </a:lnTo>
                <a:lnTo>
                  <a:pt x="13531" y="10601"/>
                </a:lnTo>
                <a:lnTo>
                  <a:pt x="14967" y="11094"/>
                </a:lnTo>
                <a:lnTo>
                  <a:pt x="13650" y="16148"/>
                </a:lnTo>
                <a:lnTo>
                  <a:pt x="15806" y="16887"/>
                </a:lnTo>
                <a:lnTo>
                  <a:pt x="15806" y="19106"/>
                </a:lnTo>
                <a:lnTo>
                  <a:pt x="20236" y="20339"/>
                </a:lnTo>
                <a:lnTo>
                  <a:pt x="19278" y="24530"/>
                </a:lnTo>
                <a:lnTo>
                  <a:pt x="16285" y="23790"/>
                </a:lnTo>
                <a:lnTo>
                  <a:pt x="12932" y="39198"/>
                </a:lnTo>
                <a:lnTo>
                  <a:pt x="13052" y="45608"/>
                </a:lnTo>
                <a:lnTo>
                  <a:pt x="15566" y="45978"/>
                </a:lnTo>
                <a:lnTo>
                  <a:pt x="15686" y="43389"/>
                </a:lnTo>
                <a:lnTo>
                  <a:pt x="20715" y="43759"/>
                </a:lnTo>
                <a:lnTo>
                  <a:pt x="21194" y="42280"/>
                </a:lnTo>
                <a:lnTo>
                  <a:pt x="35563" y="45854"/>
                </a:lnTo>
                <a:lnTo>
                  <a:pt x="37838" y="44005"/>
                </a:lnTo>
                <a:lnTo>
                  <a:pt x="44184" y="44499"/>
                </a:lnTo>
                <a:lnTo>
                  <a:pt x="45741" y="37349"/>
                </a:lnTo>
                <a:lnTo>
                  <a:pt x="49692" y="34637"/>
                </a:lnTo>
                <a:lnTo>
                  <a:pt x="52207" y="26872"/>
                </a:lnTo>
                <a:lnTo>
                  <a:pt x="65378" y="30446"/>
                </a:lnTo>
                <a:lnTo>
                  <a:pt x="70048" y="27858"/>
                </a:lnTo>
                <a:lnTo>
                  <a:pt x="74119" y="19476"/>
                </a:lnTo>
                <a:lnTo>
                  <a:pt x="34844" y="6533"/>
                </a:lnTo>
                <a:lnTo>
                  <a:pt x="2155" y="0"/>
                </a:lnTo>
                <a:lnTo>
                  <a:pt x="0" y="8259"/>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65" name="กองทหารพลาธิการ กองพลที่ 1 รักษาพระองค์"/>
          <p:cNvSpPr/>
          <p:nvPr/>
        </p:nvSpPr>
        <p:spPr>
          <a:xfrm>
            <a:off x="5762880" y="3608280"/>
            <a:ext cx="20160" cy="36360"/>
          </a:xfrm>
          <a:custGeom>
            <a:avLst/>
            <a:gdLst/>
            <a:ahLst/>
            <a:rect l="l" t="t" r="r" b="b"/>
            <a:pathLst>
              <a:path w="20356" h="36733">
                <a:moveTo>
                  <a:pt x="20236" y="12573"/>
                </a:moveTo>
                <a:lnTo>
                  <a:pt x="20356" y="2096"/>
                </a:lnTo>
                <a:lnTo>
                  <a:pt x="17602" y="1849"/>
                </a:lnTo>
                <a:lnTo>
                  <a:pt x="17841" y="123"/>
                </a:lnTo>
                <a:lnTo>
                  <a:pt x="11615" y="0"/>
                </a:lnTo>
                <a:lnTo>
                  <a:pt x="11495" y="2219"/>
                </a:lnTo>
                <a:lnTo>
                  <a:pt x="239" y="1972"/>
                </a:lnTo>
                <a:lnTo>
                  <a:pt x="0" y="35870"/>
                </a:lnTo>
                <a:lnTo>
                  <a:pt x="19518" y="36733"/>
                </a:lnTo>
                <a:lnTo>
                  <a:pt x="20236" y="12573"/>
                </a:lnTo>
                <a:close/>
              </a:path>
            </a:pathLst>
          </a:custGeom>
          <a:solidFill>
            <a:srgbClr val="ded5c5"/>
          </a:solidFill>
          <a:ln w="6191">
            <a:solidFill>
              <a:srgbClr val="b5a68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66" name="กองสรรพาวุธเบา พล.1 รอ."/>
          <p:cNvSpPr/>
          <p:nvPr/>
        </p:nvSpPr>
        <p:spPr>
          <a:xfrm>
            <a:off x="5782680" y="3600000"/>
            <a:ext cx="51120" cy="61200"/>
          </a:xfrm>
          <a:custGeom>
            <a:avLst/>
            <a:gdLst/>
            <a:ahLst/>
            <a:rect l="l" t="t" r="r" b="b"/>
            <a:pathLst>
              <a:path w="51488" h="61509">
                <a:moveTo>
                  <a:pt x="24307" y="61509"/>
                </a:moveTo>
                <a:lnTo>
                  <a:pt x="43106" y="61386"/>
                </a:lnTo>
                <a:lnTo>
                  <a:pt x="51488" y="27365"/>
                </a:lnTo>
                <a:lnTo>
                  <a:pt x="19158" y="21818"/>
                </a:lnTo>
                <a:lnTo>
                  <a:pt x="19518" y="13806"/>
                </a:lnTo>
                <a:lnTo>
                  <a:pt x="19278" y="10847"/>
                </a:lnTo>
                <a:lnTo>
                  <a:pt x="17721" y="10847"/>
                </a:lnTo>
                <a:lnTo>
                  <a:pt x="17602" y="0"/>
                </a:lnTo>
                <a:lnTo>
                  <a:pt x="4071" y="4068"/>
                </a:lnTo>
                <a:lnTo>
                  <a:pt x="3712" y="21078"/>
                </a:lnTo>
                <a:lnTo>
                  <a:pt x="718" y="20955"/>
                </a:lnTo>
                <a:lnTo>
                  <a:pt x="0" y="51032"/>
                </a:lnTo>
                <a:lnTo>
                  <a:pt x="17482" y="51401"/>
                </a:lnTo>
                <a:lnTo>
                  <a:pt x="16883" y="60400"/>
                </a:lnTo>
                <a:lnTo>
                  <a:pt x="24307" y="61509"/>
                </a:lnTo>
                <a:close/>
              </a:path>
            </a:pathLst>
          </a:custGeom>
          <a:solidFill>
            <a:srgbClr val="ded5c5"/>
          </a:solidFill>
          <a:ln w="6191">
            <a:solidFill>
              <a:srgbClr val="b5a68d"/>
            </a:solidFill>
            <a:round/>
          </a:ln>
        </p:spPr>
        <p:style>
          <a:lnRef idx="0"/>
          <a:fillRef idx="0"/>
          <a:effectRef idx="0"/>
          <a:fontRef idx="minor"/>
        </p:style>
        <p:txBody>
          <a:bodyPr lIns="90000" rIns="90000" tIns="16200" bIns="16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67" name="ปตอ. 1 (1)"/>
          <p:cNvSpPr/>
          <p:nvPr/>
        </p:nvSpPr>
        <p:spPr>
          <a:xfrm>
            <a:off x="5745240" y="3602880"/>
            <a:ext cx="20160" cy="24120"/>
          </a:xfrm>
          <a:custGeom>
            <a:avLst/>
            <a:gdLst/>
            <a:ahLst/>
            <a:rect l="l" t="t" r="r" b="b"/>
            <a:pathLst>
              <a:path w="20476" h="24653">
                <a:moveTo>
                  <a:pt x="120" y="24653"/>
                </a:moveTo>
                <a:lnTo>
                  <a:pt x="17602" y="24653"/>
                </a:lnTo>
                <a:lnTo>
                  <a:pt x="17841" y="7026"/>
                </a:lnTo>
                <a:lnTo>
                  <a:pt x="20476" y="7026"/>
                </a:lnTo>
                <a:lnTo>
                  <a:pt x="20476" y="0"/>
                </a:lnTo>
                <a:lnTo>
                  <a:pt x="0" y="370"/>
                </a:lnTo>
                <a:lnTo>
                  <a:pt x="120" y="24653"/>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68" name="ปตอ. 1 (2)"/>
          <p:cNvSpPr/>
          <p:nvPr/>
        </p:nvSpPr>
        <p:spPr>
          <a:xfrm>
            <a:off x="5747040" y="3627720"/>
            <a:ext cx="15480" cy="23760"/>
          </a:xfrm>
          <a:custGeom>
            <a:avLst/>
            <a:gdLst/>
            <a:ahLst/>
            <a:rect l="l" t="t" r="r" b="b"/>
            <a:pathLst>
              <a:path w="15806" h="24037">
                <a:moveTo>
                  <a:pt x="2155" y="24037"/>
                </a:moveTo>
                <a:lnTo>
                  <a:pt x="15327" y="23544"/>
                </a:lnTo>
                <a:lnTo>
                  <a:pt x="15806" y="123"/>
                </a:lnTo>
                <a:lnTo>
                  <a:pt x="0" y="0"/>
                </a:lnTo>
                <a:lnTo>
                  <a:pt x="2155" y="24037"/>
                </a:lnTo>
                <a:close/>
              </a:path>
            </a:pathLst>
          </a:custGeom>
          <a:solidFill>
            <a:srgbClr val="ded5c5"/>
          </a:solidFill>
          <a:ln w="6191">
            <a:solidFill>
              <a:srgbClr val="b5a68d"/>
            </a:solidFill>
            <a:round/>
          </a:ln>
        </p:spPr>
        <p:style>
          <a:lnRef idx="0"/>
          <a:fillRef idx="0"/>
          <a:effectRef idx="0"/>
          <a:fontRef idx="minor"/>
        </p:style>
        <p:txBody>
          <a:bodyPr lIns="90000" rIns="90000" tIns="-21240" bIns="-21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69" name="พงษ์เพชรพัฒนา&#10;"/>
          <p:cNvSpPr/>
          <p:nvPr/>
        </p:nvSpPr>
        <p:spPr>
          <a:xfrm>
            <a:off x="5459040" y="4025880"/>
            <a:ext cx="28080" cy="25560"/>
          </a:xfrm>
          <a:custGeom>
            <a:avLst/>
            <a:gdLst/>
            <a:ahLst/>
            <a:rect l="l" t="t" r="r" b="b"/>
            <a:pathLst>
              <a:path w="28378" h="25886">
                <a:moveTo>
                  <a:pt x="4430" y="25886"/>
                </a:moveTo>
                <a:lnTo>
                  <a:pt x="4790" y="23913"/>
                </a:lnTo>
                <a:lnTo>
                  <a:pt x="13291" y="21325"/>
                </a:lnTo>
                <a:lnTo>
                  <a:pt x="17961" y="17504"/>
                </a:lnTo>
                <a:lnTo>
                  <a:pt x="28378" y="15162"/>
                </a:lnTo>
                <a:lnTo>
                  <a:pt x="23469" y="0"/>
                </a:lnTo>
                <a:lnTo>
                  <a:pt x="3951" y="8012"/>
                </a:lnTo>
                <a:lnTo>
                  <a:pt x="0" y="25146"/>
                </a:lnTo>
                <a:lnTo>
                  <a:pt x="4430" y="25886"/>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70" name="เมืองอยู่ดี"/>
          <p:cNvSpPr/>
          <p:nvPr/>
        </p:nvSpPr>
        <p:spPr>
          <a:xfrm>
            <a:off x="5122440" y="5996520"/>
            <a:ext cx="30600" cy="37800"/>
          </a:xfrm>
          <a:custGeom>
            <a:avLst/>
            <a:gdLst/>
            <a:ahLst/>
            <a:rect l="l" t="t" r="r" b="b"/>
            <a:pathLst>
              <a:path w="30893" h="38335">
                <a:moveTo>
                  <a:pt x="479" y="33528"/>
                </a:moveTo>
                <a:lnTo>
                  <a:pt x="7424" y="38335"/>
                </a:lnTo>
                <a:lnTo>
                  <a:pt x="13531" y="31186"/>
                </a:lnTo>
                <a:lnTo>
                  <a:pt x="15207" y="32419"/>
                </a:lnTo>
                <a:lnTo>
                  <a:pt x="28378" y="15531"/>
                </a:lnTo>
                <a:lnTo>
                  <a:pt x="23230" y="12080"/>
                </a:lnTo>
                <a:lnTo>
                  <a:pt x="30893" y="3082"/>
                </a:lnTo>
                <a:lnTo>
                  <a:pt x="25864" y="0"/>
                </a:lnTo>
                <a:lnTo>
                  <a:pt x="21912" y="5300"/>
                </a:lnTo>
                <a:lnTo>
                  <a:pt x="19039" y="1972"/>
                </a:lnTo>
                <a:lnTo>
                  <a:pt x="9340" y="14669"/>
                </a:lnTo>
                <a:lnTo>
                  <a:pt x="2515" y="10108"/>
                </a:lnTo>
                <a:lnTo>
                  <a:pt x="0" y="14175"/>
                </a:lnTo>
                <a:lnTo>
                  <a:pt x="4670" y="17011"/>
                </a:lnTo>
                <a:lnTo>
                  <a:pt x="838" y="22064"/>
                </a:lnTo>
                <a:lnTo>
                  <a:pt x="2395" y="23174"/>
                </a:lnTo>
                <a:lnTo>
                  <a:pt x="7184" y="16641"/>
                </a:lnTo>
                <a:lnTo>
                  <a:pt x="9819" y="18490"/>
                </a:lnTo>
                <a:lnTo>
                  <a:pt x="479" y="33528"/>
                </a:lnTo>
                <a:close/>
              </a:path>
            </a:pathLst>
          </a:custGeom>
          <a:solidFill>
            <a:srgbClr val="ded5c5"/>
          </a:solidFill>
          <a:ln w="6191">
            <a:solidFill>
              <a:srgbClr val="b5a68d"/>
            </a:solidFill>
            <a:round/>
          </a:ln>
        </p:spPr>
        <p:style>
          <a:lnRef idx="0"/>
          <a:fillRef idx="0"/>
          <a:effectRef idx="0"/>
          <a:fontRef idx="minor"/>
        </p:style>
        <p:txBody>
          <a:bodyPr lIns="90000" rIns="90000" tIns="-7200" bIns="-7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71" name="หลังสถานีรถไฟหัวหมาก"/>
          <p:cNvSpPr/>
          <p:nvPr/>
        </p:nvSpPr>
        <p:spPr>
          <a:xfrm>
            <a:off x="6555960" y="5490720"/>
            <a:ext cx="48240" cy="39960"/>
          </a:xfrm>
          <a:custGeom>
            <a:avLst/>
            <a:gdLst/>
            <a:ahLst/>
            <a:rect l="l" t="t" r="r" b="b"/>
            <a:pathLst>
              <a:path w="48495" h="40308">
                <a:moveTo>
                  <a:pt x="0" y="34144"/>
                </a:moveTo>
                <a:lnTo>
                  <a:pt x="48135" y="40308"/>
                </a:lnTo>
                <a:lnTo>
                  <a:pt x="48495" y="32912"/>
                </a:lnTo>
                <a:lnTo>
                  <a:pt x="38436" y="22927"/>
                </a:lnTo>
                <a:lnTo>
                  <a:pt x="26822" y="4684"/>
                </a:lnTo>
                <a:lnTo>
                  <a:pt x="21433" y="1109"/>
                </a:lnTo>
                <a:lnTo>
                  <a:pt x="15925" y="0"/>
                </a:lnTo>
                <a:lnTo>
                  <a:pt x="12453" y="8629"/>
                </a:lnTo>
                <a:lnTo>
                  <a:pt x="10417" y="8012"/>
                </a:lnTo>
                <a:lnTo>
                  <a:pt x="9459" y="9491"/>
                </a:lnTo>
                <a:lnTo>
                  <a:pt x="0" y="34144"/>
                </a:lnTo>
                <a:close/>
              </a:path>
            </a:pathLst>
          </a:custGeom>
          <a:solidFill>
            <a:srgbClr val="ded5c5"/>
          </a:solidFill>
          <a:ln w="6191">
            <a:solidFill>
              <a:srgbClr val="b5a68d"/>
            </a:solidFill>
            <a:round/>
          </a:ln>
        </p:spPr>
        <p:style>
          <a:lnRef idx="0"/>
          <a:fillRef idx="0"/>
          <a:effectRef idx="0"/>
          <a:fontRef idx="minor"/>
        </p:style>
        <p:txBody>
          <a:bodyPr lIns="90000" rIns="90000" tIns="-5040" bIns="-5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72" name="หัวหมากเกาะกลาง"/>
          <p:cNvSpPr/>
          <p:nvPr/>
        </p:nvSpPr>
        <p:spPr>
          <a:xfrm>
            <a:off x="6621480" y="5478480"/>
            <a:ext cx="97200" cy="58680"/>
          </a:xfrm>
          <a:custGeom>
            <a:avLst/>
            <a:gdLst/>
            <a:ahLst/>
            <a:rect l="l" t="t" r="r" b="b"/>
            <a:pathLst>
              <a:path w="97708" h="59167">
                <a:moveTo>
                  <a:pt x="41789" y="59167"/>
                </a:moveTo>
                <a:lnTo>
                  <a:pt x="43106" y="41294"/>
                </a:lnTo>
                <a:lnTo>
                  <a:pt x="57116" y="33405"/>
                </a:lnTo>
                <a:lnTo>
                  <a:pt x="91601" y="35007"/>
                </a:lnTo>
                <a:lnTo>
                  <a:pt x="97708" y="22311"/>
                </a:lnTo>
                <a:lnTo>
                  <a:pt x="66216" y="10231"/>
                </a:lnTo>
                <a:lnTo>
                  <a:pt x="51847" y="0"/>
                </a:lnTo>
                <a:lnTo>
                  <a:pt x="39275" y="6533"/>
                </a:lnTo>
                <a:lnTo>
                  <a:pt x="36521" y="9491"/>
                </a:lnTo>
                <a:lnTo>
                  <a:pt x="32210" y="19969"/>
                </a:lnTo>
                <a:lnTo>
                  <a:pt x="26343" y="27611"/>
                </a:lnTo>
                <a:lnTo>
                  <a:pt x="20476" y="26132"/>
                </a:lnTo>
                <a:lnTo>
                  <a:pt x="18320" y="28474"/>
                </a:lnTo>
                <a:lnTo>
                  <a:pt x="17721" y="29953"/>
                </a:lnTo>
                <a:lnTo>
                  <a:pt x="21793" y="31556"/>
                </a:lnTo>
                <a:lnTo>
                  <a:pt x="18560" y="36979"/>
                </a:lnTo>
                <a:lnTo>
                  <a:pt x="0" y="42033"/>
                </a:lnTo>
                <a:lnTo>
                  <a:pt x="120" y="44745"/>
                </a:lnTo>
                <a:lnTo>
                  <a:pt x="11854" y="56579"/>
                </a:lnTo>
                <a:lnTo>
                  <a:pt x="41789" y="59167"/>
                </a:lnTo>
                <a:close/>
              </a:path>
            </a:pathLst>
          </a:custGeom>
          <a:solidFill>
            <a:srgbClr val="ded5c5"/>
          </a:solidFill>
          <a:ln w="6191">
            <a:solidFill>
              <a:srgbClr val="b5a68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73" name="อัลเอี๊ยะติซอม"/>
          <p:cNvSpPr/>
          <p:nvPr/>
        </p:nvSpPr>
        <p:spPr>
          <a:xfrm>
            <a:off x="6553080" y="5748480"/>
            <a:ext cx="64800" cy="71640"/>
          </a:xfrm>
          <a:custGeom>
            <a:avLst/>
            <a:gdLst/>
            <a:ahLst/>
            <a:rect l="l" t="t" r="r" b="b"/>
            <a:pathLst>
              <a:path w="65258" h="71863">
                <a:moveTo>
                  <a:pt x="0" y="2465"/>
                </a:moveTo>
                <a:lnTo>
                  <a:pt x="11016" y="71863"/>
                </a:lnTo>
                <a:lnTo>
                  <a:pt x="65258" y="57195"/>
                </a:lnTo>
                <a:lnTo>
                  <a:pt x="55919" y="1602"/>
                </a:lnTo>
                <a:lnTo>
                  <a:pt x="26343" y="6287"/>
                </a:lnTo>
                <a:lnTo>
                  <a:pt x="24547" y="740"/>
                </a:lnTo>
                <a:lnTo>
                  <a:pt x="17482" y="0"/>
                </a:lnTo>
                <a:lnTo>
                  <a:pt x="0" y="2465"/>
                </a:lnTo>
                <a:close/>
              </a:path>
            </a:pathLst>
          </a:custGeom>
          <a:solidFill>
            <a:srgbClr val="ded5c5"/>
          </a:solidFill>
          <a:ln w="6191">
            <a:solidFill>
              <a:srgbClr val="b5a68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74" name="หมู่บ้านเมืองทอง 2/3"/>
          <p:cNvSpPr/>
          <p:nvPr/>
        </p:nvSpPr>
        <p:spPr>
          <a:xfrm>
            <a:off x="6671520" y="5562720"/>
            <a:ext cx="72360" cy="55800"/>
          </a:xfrm>
          <a:custGeom>
            <a:avLst/>
            <a:gdLst/>
            <a:ahLst/>
            <a:rect l="l" t="t" r="r" b="b"/>
            <a:pathLst>
              <a:path w="72802" h="56332">
                <a:moveTo>
                  <a:pt x="0" y="29584"/>
                </a:moveTo>
                <a:lnTo>
                  <a:pt x="55799" y="56332"/>
                </a:lnTo>
                <a:lnTo>
                  <a:pt x="69689" y="37226"/>
                </a:lnTo>
                <a:lnTo>
                  <a:pt x="72802" y="28721"/>
                </a:lnTo>
                <a:lnTo>
                  <a:pt x="12573" y="0"/>
                </a:lnTo>
                <a:lnTo>
                  <a:pt x="0" y="29584"/>
                </a:lnTo>
                <a:close/>
              </a:path>
            </a:pathLst>
          </a:custGeom>
          <a:solidFill>
            <a:srgbClr val="ded5c5"/>
          </a:solidFill>
          <a:ln w="6191">
            <a:solidFill>
              <a:srgbClr val="b5a68d"/>
            </a:solidFill>
            <a:round/>
          </a:ln>
        </p:spPr>
        <p:style>
          <a:lnRef idx="0"/>
          <a:fillRef idx="0"/>
          <a:effectRef idx="0"/>
          <a:fontRef idx="minor"/>
        </p:style>
        <p:txBody>
          <a:bodyPr lIns="90000" rIns="90000" tIns="10800" bIns="10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75" name="คลองหัวหมาก"/>
          <p:cNvSpPr/>
          <p:nvPr/>
        </p:nvSpPr>
        <p:spPr>
          <a:xfrm>
            <a:off x="6533640" y="5630400"/>
            <a:ext cx="28080" cy="27000"/>
          </a:xfrm>
          <a:custGeom>
            <a:avLst/>
            <a:gdLst/>
            <a:ahLst/>
            <a:rect l="l" t="t" r="r" b="b"/>
            <a:pathLst>
              <a:path w="28378" h="27365">
                <a:moveTo>
                  <a:pt x="24187" y="25023"/>
                </a:moveTo>
                <a:lnTo>
                  <a:pt x="27181" y="27365"/>
                </a:lnTo>
                <a:lnTo>
                  <a:pt x="28378" y="26748"/>
                </a:lnTo>
                <a:lnTo>
                  <a:pt x="19877" y="11957"/>
                </a:lnTo>
                <a:lnTo>
                  <a:pt x="27061" y="10231"/>
                </a:lnTo>
                <a:lnTo>
                  <a:pt x="22391" y="0"/>
                </a:lnTo>
                <a:lnTo>
                  <a:pt x="0" y="9245"/>
                </a:lnTo>
                <a:lnTo>
                  <a:pt x="359" y="18736"/>
                </a:lnTo>
                <a:lnTo>
                  <a:pt x="13411" y="14669"/>
                </a:lnTo>
                <a:lnTo>
                  <a:pt x="17961" y="22927"/>
                </a:lnTo>
                <a:lnTo>
                  <a:pt x="24187" y="25023"/>
                </a:lnTo>
                <a:close/>
              </a:path>
            </a:pathLst>
          </a:custGeom>
          <a:solidFill>
            <a:srgbClr val="ded5c5"/>
          </a:solidFill>
          <a:ln w="6191">
            <a:solidFill>
              <a:srgbClr val="b5a68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76" name="ริมคลองหัวหมากใหญ่"/>
          <p:cNvSpPr/>
          <p:nvPr/>
        </p:nvSpPr>
        <p:spPr>
          <a:xfrm>
            <a:off x="6598080" y="5533920"/>
            <a:ext cx="72360" cy="58320"/>
          </a:xfrm>
          <a:custGeom>
            <a:avLst/>
            <a:gdLst/>
            <a:ahLst/>
            <a:rect l="l" t="t" r="r" b="b"/>
            <a:pathLst>
              <a:path w="72562" h="58551">
                <a:moveTo>
                  <a:pt x="41310" y="45361"/>
                </a:moveTo>
                <a:lnTo>
                  <a:pt x="42508" y="43019"/>
                </a:lnTo>
                <a:lnTo>
                  <a:pt x="41071" y="41170"/>
                </a:lnTo>
                <a:lnTo>
                  <a:pt x="42867" y="38582"/>
                </a:lnTo>
                <a:lnTo>
                  <a:pt x="44663" y="38582"/>
                </a:lnTo>
                <a:lnTo>
                  <a:pt x="46818" y="34021"/>
                </a:lnTo>
                <a:lnTo>
                  <a:pt x="57954" y="38828"/>
                </a:lnTo>
                <a:lnTo>
                  <a:pt x="57116" y="40677"/>
                </a:lnTo>
                <a:lnTo>
                  <a:pt x="60229" y="42157"/>
                </a:lnTo>
                <a:lnTo>
                  <a:pt x="62624" y="40924"/>
                </a:lnTo>
                <a:lnTo>
                  <a:pt x="65378" y="42157"/>
                </a:lnTo>
                <a:lnTo>
                  <a:pt x="68132" y="36610"/>
                </a:lnTo>
                <a:lnTo>
                  <a:pt x="49093" y="27488"/>
                </a:lnTo>
                <a:lnTo>
                  <a:pt x="51728" y="23667"/>
                </a:lnTo>
                <a:lnTo>
                  <a:pt x="55799" y="25393"/>
                </a:lnTo>
                <a:lnTo>
                  <a:pt x="64540" y="10108"/>
                </a:lnTo>
                <a:lnTo>
                  <a:pt x="72203" y="10477"/>
                </a:lnTo>
                <a:lnTo>
                  <a:pt x="72562" y="6903"/>
                </a:lnTo>
                <a:lnTo>
                  <a:pt x="7544" y="0"/>
                </a:lnTo>
                <a:lnTo>
                  <a:pt x="0" y="29707"/>
                </a:lnTo>
                <a:lnTo>
                  <a:pt x="2155" y="58551"/>
                </a:lnTo>
                <a:lnTo>
                  <a:pt x="21433" y="57441"/>
                </a:lnTo>
                <a:lnTo>
                  <a:pt x="26822" y="52018"/>
                </a:lnTo>
                <a:lnTo>
                  <a:pt x="29576" y="52141"/>
                </a:lnTo>
                <a:lnTo>
                  <a:pt x="30534" y="49676"/>
                </a:lnTo>
                <a:lnTo>
                  <a:pt x="42508" y="54236"/>
                </a:lnTo>
                <a:lnTo>
                  <a:pt x="45741" y="47457"/>
                </a:lnTo>
                <a:lnTo>
                  <a:pt x="41310" y="45361"/>
                </a:lnTo>
                <a:close/>
              </a:path>
            </a:pathLst>
          </a:custGeom>
          <a:solidFill>
            <a:srgbClr val="ded5c5"/>
          </a:solidFill>
          <a:ln w="6191">
            <a:solidFill>
              <a:srgbClr val="b5a68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77" name="ถนนพระราม 9 พัฒนา"/>
          <p:cNvSpPr/>
          <p:nvPr/>
        </p:nvSpPr>
        <p:spPr>
          <a:xfrm>
            <a:off x="6227640" y="5441040"/>
            <a:ext cx="102600" cy="49320"/>
          </a:xfrm>
          <a:custGeom>
            <a:avLst/>
            <a:gdLst/>
            <a:ahLst/>
            <a:rect l="l" t="t" r="r" b="b"/>
            <a:pathLst>
              <a:path w="102857" h="49799">
                <a:moveTo>
                  <a:pt x="958" y="41787"/>
                </a:moveTo>
                <a:lnTo>
                  <a:pt x="0" y="47334"/>
                </a:lnTo>
                <a:lnTo>
                  <a:pt x="33647" y="49799"/>
                </a:lnTo>
                <a:lnTo>
                  <a:pt x="33527" y="46594"/>
                </a:lnTo>
                <a:lnTo>
                  <a:pt x="22511" y="39815"/>
                </a:lnTo>
                <a:lnTo>
                  <a:pt x="26941" y="30446"/>
                </a:lnTo>
                <a:lnTo>
                  <a:pt x="45621" y="42403"/>
                </a:lnTo>
                <a:lnTo>
                  <a:pt x="68731" y="49429"/>
                </a:lnTo>
                <a:lnTo>
                  <a:pt x="72323" y="16887"/>
                </a:lnTo>
                <a:lnTo>
                  <a:pt x="87171" y="14052"/>
                </a:lnTo>
                <a:lnTo>
                  <a:pt x="89206" y="11957"/>
                </a:lnTo>
                <a:lnTo>
                  <a:pt x="102857" y="8875"/>
                </a:lnTo>
                <a:lnTo>
                  <a:pt x="101420" y="0"/>
                </a:lnTo>
                <a:lnTo>
                  <a:pt x="50410" y="14792"/>
                </a:lnTo>
                <a:lnTo>
                  <a:pt x="18440" y="22188"/>
                </a:lnTo>
                <a:lnTo>
                  <a:pt x="3592" y="23667"/>
                </a:lnTo>
                <a:lnTo>
                  <a:pt x="5867" y="32419"/>
                </a:lnTo>
                <a:lnTo>
                  <a:pt x="3472" y="32295"/>
                </a:lnTo>
                <a:lnTo>
                  <a:pt x="2754" y="39568"/>
                </a:lnTo>
                <a:lnTo>
                  <a:pt x="1078" y="39321"/>
                </a:lnTo>
                <a:lnTo>
                  <a:pt x="958" y="41787"/>
                </a:lnTo>
                <a:close/>
              </a:path>
            </a:pathLst>
          </a:custGeom>
          <a:solidFill>
            <a:srgbClr val="ded5c5"/>
          </a:solidFill>
          <a:ln w="6191">
            <a:solidFill>
              <a:srgbClr val="b5a68d"/>
            </a:solidFill>
            <a:round/>
          </a:ln>
        </p:spPr>
        <p:style>
          <a:lnRef idx="0"/>
          <a:fillRef idx="0"/>
          <a:effectRef idx="0"/>
          <a:fontRef idx="minor"/>
        </p:style>
        <p:txBody>
          <a:bodyPr lIns="90000" rIns="90000" tIns="4320" bIns="4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78" name="ซอยบุญอยู่"/>
          <p:cNvSpPr/>
          <p:nvPr/>
        </p:nvSpPr>
        <p:spPr>
          <a:xfrm>
            <a:off x="4319280" y="6156000"/>
            <a:ext cx="36360" cy="32040"/>
          </a:xfrm>
          <a:custGeom>
            <a:avLst/>
            <a:gdLst/>
            <a:ahLst/>
            <a:rect l="l" t="t" r="r" b="b"/>
            <a:pathLst>
              <a:path w="36760" h="32419">
                <a:moveTo>
                  <a:pt x="0" y="3451"/>
                </a:moveTo>
                <a:lnTo>
                  <a:pt x="32090" y="32419"/>
                </a:lnTo>
                <a:lnTo>
                  <a:pt x="36760" y="28474"/>
                </a:lnTo>
                <a:lnTo>
                  <a:pt x="2634" y="0"/>
                </a:lnTo>
                <a:lnTo>
                  <a:pt x="0" y="3451"/>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79" name="หมู่บ้านพัฒนาหมู่ 1, 5"/>
          <p:cNvSpPr/>
          <p:nvPr/>
        </p:nvSpPr>
        <p:spPr>
          <a:xfrm>
            <a:off x="6374160" y="4453920"/>
            <a:ext cx="22320" cy="17640"/>
          </a:xfrm>
          <a:custGeom>
            <a:avLst/>
            <a:gdLst/>
            <a:ahLst/>
            <a:rect l="l" t="t" r="r" b="b"/>
            <a:pathLst>
              <a:path w="22751" h="18120">
                <a:moveTo>
                  <a:pt x="838" y="16394"/>
                </a:moveTo>
                <a:lnTo>
                  <a:pt x="22751" y="18120"/>
                </a:lnTo>
                <a:lnTo>
                  <a:pt x="22751" y="0"/>
                </a:lnTo>
                <a:lnTo>
                  <a:pt x="0" y="863"/>
                </a:lnTo>
                <a:lnTo>
                  <a:pt x="838" y="16394"/>
                </a:lnTo>
                <a:close/>
              </a:path>
            </a:pathLst>
          </a:custGeom>
          <a:solidFill>
            <a:srgbClr val="ded5c5"/>
          </a:solidFill>
          <a:ln w="6191">
            <a:solidFill>
              <a:srgbClr val="b5a68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80" name="หมู่บ้านพัฒนาหมู่ 1, 5"/>
          <p:cNvSpPr/>
          <p:nvPr/>
        </p:nvSpPr>
        <p:spPr>
          <a:xfrm>
            <a:off x="6381360" y="4442760"/>
            <a:ext cx="33120" cy="14760"/>
          </a:xfrm>
          <a:custGeom>
            <a:avLst/>
            <a:gdLst/>
            <a:ahLst/>
            <a:rect l="l" t="t" r="r" b="b"/>
            <a:pathLst>
              <a:path w="33647" h="15038">
                <a:moveTo>
                  <a:pt x="0" y="2219"/>
                </a:moveTo>
                <a:lnTo>
                  <a:pt x="0" y="8135"/>
                </a:lnTo>
                <a:lnTo>
                  <a:pt x="15925" y="7519"/>
                </a:lnTo>
                <a:lnTo>
                  <a:pt x="16285" y="10847"/>
                </a:lnTo>
                <a:lnTo>
                  <a:pt x="28378" y="10354"/>
                </a:lnTo>
                <a:lnTo>
                  <a:pt x="28618" y="15038"/>
                </a:lnTo>
                <a:lnTo>
                  <a:pt x="30414" y="14669"/>
                </a:lnTo>
                <a:lnTo>
                  <a:pt x="30294" y="11340"/>
                </a:lnTo>
                <a:lnTo>
                  <a:pt x="33647" y="10847"/>
                </a:lnTo>
                <a:lnTo>
                  <a:pt x="33168" y="0"/>
                </a:lnTo>
                <a:lnTo>
                  <a:pt x="0" y="2219"/>
                </a:lnTo>
                <a:close/>
              </a:path>
            </a:pathLst>
          </a:custGeom>
          <a:solidFill>
            <a:srgbClr val="ded5c5"/>
          </a:solidFill>
          <a:ln w="6191">
            <a:solidFill>
              <a:srgbClr val="b5a68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81" name="หมู่บ้านพัฒนาหมู่ 1, 5"/>
          <p:cNvSpPr/>
          <p:nvPr/>
        </p:nvSpPr>
        <p:spPr>
          <a:xfrm>
            <a:off x="6378840" y="4428720"/>
            <a:ext cx="33480" cy="9360"/>
          </a:xfrm>
          <a:custGeom>
            <a:avLst/>
            <a:gdLst/>
            <a:ahLst/>
            <a:rect l="l" t="t" r="r" b="b"/>
            <a:pathLst>
              <a:path w="33886" h="9615">
                <a:moveTo>
                  <a:pt x="27420" y="8012"/>
                </a:moveTo>
                <a:lnTo>
                  <a:pt x="33886" y="7642"/>
                </a:lnTo>
                <a:lnTo>
                  <a:pt x="31611" y="0"/>
                </a:lnTo>
                <a:lnTo>
                  <a:pt x="1437" y="1233"/>
                </a:lnTo>
                <a:lnTo>
                  <a:pt x="0" y="9615"/>
                </a:lnTo>
                <a:lnTo>
                  <a:pt x="27420" y="8012"/>
                </a:lnTo>
                <a:close/>
              </a:path>
            </a:pathLst>
          </a:custGeom>
          <a:solidFill>
            <a:srgbClr val="ded5c5"/>
          </a:solidFill>
          <a:ln w="6191">
            <a:solidFill>
              <a:srgbClr val="b5a68d"/>
            </a:solidFill>
            <a:round/>
          </a:ln>
        </p:spPr>
        <p:style>
          <a:lnRef idx="0"/>
          <a:fillRef idx="0"/>
          <a:effectRef idx="0"/>
          <a:fontRef idx="minor"/>
        </p:style>
        <p:txBody>
          <a:bodyPr lIns="90000" rIns="90000" tIns="-35640" bIns="-35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82" name="หมู่บ้านพัฒนาหมู่ 1, 5"/>
          <p:cNvSpPr/>
          <p:nvPr/>
        </p:nvSpPr>
        <p:spPr>
          <a:xfrm>
            <a:off x="6469920" y="4331880"/>
            <a:ext cx="5760" cy="8280"/>
          </a:xfrm>
          <a:custGeom>
            <a:avLst/>
            <a:gdLst/>
            <a:ahLst/>
            <a:rect l="l" t="t" r="r" b="b"/>
            <a:pathLst>
              <a:path w="5987" h="8505">
                <a:moveTo>
                  <a:pt x="5987" y="0"/>
                </a:moveTo>
                <a:lnTo>
                  <a:pt x="359" y="0"/>
                </a:lnTo>
                <a:lnTo>
                  <a:pt x="0" y="8135"/>
                </a:lnTo>
                <a:lnTo>
                  <a:pt x="5508" y="8505"/>
                </a:lnTo>
                <a:lnTo>
                  <a:pt x="5987" y="0"/>
                </a:lnTo>
                <a:close/>
              </a:path>
            </a:pathLst>
          </a:custGeom>
          <a:solidFill>
            <a:srgbClr val="ded5c5"/>
          </a:solidFill>
          <a:ln w="6191">
            <a:solidFill>
              <a:srgbClr val="b5a68d"/>
            </a:solidFill>
            <a:round/>
          </a:ln>
        </p:spPr>
        <p:style>
          <a:lnRef idx="0"/>
          <a:fillRef idx="0"/>
          <a:effectRef idx="0"/>
          <a:fontRef idx="minor"/>
        </p:style>
        <p:txBody>
          <a:bodyPr lIns="90000" rIns="90000" tIns="-36720" bIns="-36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83" name="หมู่บ้านพัฒนาหมู่ 1, 5"/>
          <p:cNvSpPr/>
          <p:nvPr/>
        </p:nvSpPr>
        <p:spPr>
          <a:xfrm>
            <a:off x="6464160" y="4314960"/>
            <a:ext cx="11880" cy="15480"/>
          </a:xfrm>
          <a:custGeom>
            <a:avLst/>
            <a:gdLst/>
            <a:ahLst/>
            <a:rect l="l" t="t" r="r" b="b"/>
            <a:pathLst>
              <a:path w="12094" h="15778">
                <a:moveTo>
                  <a:pt x="11375" y="0"/>
                </a:moveTo>
                <a:lnTo>
                  <a:pt x="718" y="0"/>
                </a:lnTo>
                <a:lnTo>
                  <a:pt x="0" y="15655"/>
                </a:lnTo>
                <a:lnTo>
                  <a:pt x="12094" y="15778"/>
                </a:lnTo>
                <a:lnTo>
                  <a:pt x="11375" y="0"/>
                </a:lnTo>
                <a:close/>
              </a:path>
            </a:pathLst>
          </a:custGeom>
          <a:solidFill>
            <a:srgbClr val="ded5c5"/>
          </a:solidFill>
          <a:ln w="6191">
            <a:solidFill>
              <a:srgbClr val="b5a68d"/>
            </a:solidFill>
            <a:round/>
          </a:ln>
        </p:spPr>
        <p:style>
          <a:lnRef idx="0"/>
          <a:fillRef idx="0"/>
          <a:effectRef idx="0"/>
          <a:fontRef idx="minor"/>
        </p:style>
        <p:txBody>
          <a:bodyPr lIns="90000" rIns="90000" tIns="-29520" bIns="-29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84" name="หมู่บ้านพัฒนาหมู่ 1, 5"/>
          <p:cNvSpPr/>
          <p:nvPr/>
        </p:nvSpPr>
        <p:spPr>
          <a:xfrm>
            <a:off x="6453000" y="4275720"/>
            <a:ext cx="20160" cy="9000"/>
          </a:xfrm>
          <a:custGeom>
            <a:avLst/>
            <a:gdLst/>
            <a:ahLst/>
            <a:rect l="l" t="t" r="r" b="b"/>
            <a:pathLst>
              <a:path w="20476" h="9245">
                <a:moveTo>
                  <a:pt x="20476" y="7889"/>
                </a:moveTo>
                <a:lnTo>
                  <a:pt x="20236" y="247"/>
                </a:lnTo>
                <a:lnTo>
                  <a:pt x="0" y="0"/>
                </a:lnTo>
                <a:lnTo>
                  <a:pt x="3592" y="7766"/>
                </a:lnTo>
                <a:lnTo>
                  <a:pt x="11974" y="9245"/>
                </a:lnTo>
                <a:lnTo>
                  <a:pt x="20476" y="7889"/>
                </a:lnTo>
                <a:close/>
              </a:path>
            </a:pathLst>
          </a:custGeom>
          <a:solidFill>
            <a:srgbClr val="ded5c5"/>
          </a:solidFill>
          <a:ln w="6191">
            <a:solidFill>
              <a:srgbClr val="b5a68d"/>
            </a:solidFill>
            <a:round/>
          </a:ln>
        </p:spPr>
        <p:style>
          <a:lnRef idx="0"/>
          <a:fillRef idx="0"/>
          <a:effectRef idx="0"/>
          <a:fontRef idx="minor"/>
        </p:style>
        <p:txBody>
          <a:bodyPr lIns="90000" rIns="90000" tIns="-36000" bIns="-36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85" name="หมู่บ้านพัฒนาหมู่ 1, 5"/>
          <p:cNvSpPr/>
          <p:nvPr/>
        </p:nvSpPr>
        <p:spPr>
          <a:xfrm>
            <a:off x="6452280" y="4244400"/>
            <a:ext cx="19440" cy="11160"/>
          </a:xfrm>
          <a:custGeom>
            <a:avLst/>
            <a:gdLst/>
            <a:ahLst/>
            <a:rect l="l" t="t" r="r" b="b"/>
            <a:pathLst>
              <a:path w="19757" h="11587">
                <a:moveTo>
                  <a:pt x="8621" y="11587"/>
                </a:moveTo>
                <a:lnTo>
                  <a:pt x="9459" y="7889"/>
                </a:lnTo>
                <a:lnTo>
                  <a:pt x="16285" y="4561"/>
                </a:lnTo>
                <a:lnTo>
                  <a:pt x="19757" y="4807"/>
                </a:lnTo>
                <a:lnTo>
                  <a:pt x="19039" y="0"/>
                </a:lnTo>
                <a:lnTo>
                  <a:pt x="8023" y="370"/>
                </a:lnTo>
                <a:lnTo>
                  <a:pt x="8023" y="4561"/>
                </a:lnTo>
                <a:lnTo>
                  <a:pt x="0" y="5300"/>
                </a:lnTo>
                <a:lnTo>
                  <a:pt x="2275" y="11340"/>
                </a:lnTo>
                <a:lnTo>
                  <a:pt x="8621" y="11587"/>
                </a:lnTo>
                <a:close/>
              </a:path>
            </a:pathLst>
          </a:custGeom>
          <a:solidFill>
            <a:srgbClr val="ded5c5"/>
          </a:solidFill>
          <a:ln w="6191">
            <a:solidFill>
              <a:srgbClr val="b5a68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86" name="หมู่บ้านร่วมใจพัฒนา"/>
          <p:cNvSpPr/>
          <p:nvPr/>
        </p:nvSpPr>
        <p:spPr>
          <a:xfrm>
            <a:off x="6052680" y="4428720"/>
            <a:ext cx="85680" cy="51120"/>
          </a:xfrm>
          <a:custGeom>
            <a:avLst/>
            <a:gdLst/>
            <a:ahLst/>
            <a:rect l="l" t="t" r="r" b="b"/>
            <a:pathLst>
              <a:path w="86093" h="51401">
                <a:moveTo>
                  <a:pt x="9459" y="51401"/>
                </a:moveTo>
                <a:lnTo>
                  <a:pt x="28618" y="48073"/>
                </a:lnTo>
                <a:lnTo>
                  <a:pt x="27899" y="45485"/>
                </a:lnTo>
                <a:lnTo>
                  <a:pt x="55919" y="41170"/>
                </a:lnTo>
                <a:lnTo>
                  <a:pt x="55320" y="20215"/>
                </a:lnTo>
                <a:lnTo>
                  <a:pt x="86093" y="15901"/>
                </a:lnTo>
                <a:lnTo>
                  <a:pt x="85734" y="5917"/>
                </a:lnTo>
                <a:lnTo>
                  <a:pt x="66575" y="5917"/>
                </a:lnTo>
                <a:lnTo>
                  <a:pt x="66216" y="0"/>
                </a:lnTo>
                <a:lnTo>
                  <a:pt x="60828" y="247"/>
                </a:lnTo>
                <a:lnTo>
                  <a:pt x="60828" y="2835"/>
                </a:lnTo>
                <a:lnTo>
                  <a:pt x="56996" y="2835"/>
                </a:lnTo>
                <a:lnTo>
                  <a:pt x="56996" y="5917"/>
                </a:lnTo>
                <a:lnTo>
                  <a:pt x="16644" y="3944"/>
                </a:lnTo>
                <a:lnTo>
                  <a:pt x="15925" y="16887"/>
                </a:lnTo>
                <a:lnTo>
                  <a:pt x="0" y="16764"/>
                </a:lnTo>
                <a:lnTo>
                  <a:pt x="1078" y="40924"/>
                </a:lnTo>
                <a:lnTo>
                  <a:pt x="9699" y="40801"/>
                </a:lnTo>
                <a:lnTo>
                  <a:pt x="9459" y="51401"/>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87" name="หมู่บ้านเรือนทอง 2"/>
          <p:cNvSpPr/>
          <p:nvPr/>
        </p:nvSpPr>
        <p:spPr>
          <a:xfrm>
            <a:off x="6002640" y="4580640"/>
            <a:ext cx="15840" cy="20880"/>
          </a:xfrm>
          <a:custGeom>
            <a:avLst/>
            <a:gdLst/>
            <a:ahLst/>
            <a:rect l="l" t="t" r="r" b="b"/>
            <a:pathLst>
              <a:path w="16045" h="21202">
                <a:moveTo>
                  <a:pt x="4311" y="3328"/>
                </a:moveTo>
                <a:lnTo>
                  <a:pt x="5149" y="13189"/>
                </a:lnTo>
                <a:lnTo>
                  <a:pt x="359" y="13929"/>
                </a:lnTo>
                <a:lnTo>
                  <a:pt x="0" y="21202"/>
                </a:lnTo>
                <a:lnTo>
                  <a:pt x="15686" y="18366"/>
                </a:lnTo>
                <a:lnTo>
                  <a:pt x="16045" y="0"/>
                </a:lnTo>
                <a:lnTo>
                  <a:pt x="4790" y="1356"/>
                </a:lnTo>
                <a:lnTo>
                  <a:pt x="4311" y="3328"/>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88" name="หมู่บ้านเลิศอุบล 4"/>
          <p:cNvSpPr/>
          <p:nvPr/>
        </p:nvSpPr>
        <p:spPr>
          <a:xfrm>
            <a:off x="6298920" y="4603680"/>
            <a:ext cx="55080" cy="28800"/>
          </a:xfrm>
          <a:custGeom>
            <a:avLst/>
            <a:gdLst/>
            <a:ahLst/>
            <a:rect l="l" t="t" r="r" b="b"/>
            <a:pathLst>
              <a:path w="55559" h="29090">
                <a:moveTo>
                  <a:pt x="0" y="28597"/>
                </a:moveTo>
                <a:lnTo>
                  <a:pt x="19877" y="29090"/>
                </a:lnTo>
                <a:lnTo>
                  <a:pt x="19997" y="23051"/>
                </a:lnTo>
                <a:lnTo>
                  <a:pt x="22391" y="17011"/>
                </a:lnTo>
                <a:lnTo>
                  <a:pt x="25744" y="16148"/>
                </a:lnTo>
                <a:lnTo>
                  <a:pt x="25864" y="10477"/>
                </a:lnTo>
                <a:lnTo>
                  <a:pt x="38556" y="9738"/>
                </a:lnTo>
                <a:lnTo>
                  <a:pt x="38556" y="7149"/>
                </a:lnTo>
                <a:lnTo>
                  <a:pt x="43226" y="6903"/>
                </a:lnTo>
                <a:lnTo>
                  <a:pt x="42987" y="3328"/>
                </a:lnTo>
                <a:lnTo>
                  <a:pt x="48495" y="3451"/>
                </a:lnTo>
                <a:lnTo>
                  <a:pt x="49213" y="5424"/>
                </a:lnTo>
                <a:lnTo>
                  <a:pt x="55559" y="5300"/>
                </a:lnTo>
                <a:lnTo>
                  <a:pt x="54961" y="0"/>
                </a:lnTo>
                <a:lnTo>
                  <a:pt x="9579" y="247"/>
                </a:lnTo>
                <a:lnTo>
                  <a:pt x="8980" y="3205"/>
                </a:lnTo>
                <a:lnTo>
                  <a:pt x="1557" y="2835"/>
                </a:lnTo>
                <a:lnTo>
                  <a:pt x="0" y="28597"/>
                </a:lnTo>
                <a:close/>
              </a:path>
            </a:pathLst>
          </a:custGeom>
          <a:solidFill>
            <a:srgbClr val="ded5c5"/>
          </a:solidFill>
          <a:ln w="6191">
            <a:solidFill>
              <a:srgbClr val="b5a68d"/>
            </a:solidFill>
            <a:round/>
          </a:ln>
        </p:spPr>
        <p:style>
          <a:lnRef idx="0"/>
          <a:fillRef idx="0"/>
          <a:effectRef idx="0"/>
          <a:fontRef idx="minor"/>
        </p:style>
        <p:txBody>
          <a:bodyPr lIns="90000" rIns="90000" tIns="-16200" bIns="-16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89" name="หมู่บ้านสังสิทธิ์"/>
          <p:cNvSpPr/>
          <p:nvPr/>
        </p:nvSpPr>
        <p:spPr>
          <a:xfrm>
            <a:off x="6076080" y="4573800"/>
            <a:ext cx="60480" cy="48600"/>
          </a:xfrm>
          <a:custGeom>
            <a:avLst/>
            <a:gdLst/>
            <a:ahLst/>
            <a:rect l="l" t="t" r="r" b="b"/>
            <a:pathLst>
              <a:path w="60948" h="49059">
                <a:moveTo>
                  <a:pt x="30653" y="19106"/>
                </a:moveTo>
                <a:lnTo>
                  <a:pt x="34006" y="47087"/>
                </a:lnTo>
                <a:lnTo>
                  <a:pt x="50530" y="44375"/>
                </a:lnTo>
                <a:lnTo>
                  <a:pt x="51368" y="49059"/>
                </a:lnTo>
                <a:lnTo>
                  <a:pt x="60948" y="47210"/>
                </a:lnTo>
                <a:lnTo>
                  <a:pt x="54122" y="11587"/>
                </a:lnTo>
                <a:lnTo>
                  <a:pt x="41071" y="14422"/>
                </a:lnTo>
                <a:lnTo>
                  <a:pt x="38796" y="0"/>
                </a:lnTo>
                <a:lnTo>
                  <a:pt x="0" y="8752"/>
                </a:lnTo>
                <a:lnTo>
                  <a:pt x="838" y="17873"/>
                </a:lnTo>
                <a:lnTo>
                  <a:pt x="3951" y="17257"/>
                </a:lnTo>
                <a:lnTo>
                  <a:pt x="4191" y="22064"/>
                </a:lnTo>
                <a:lnTo>
                  <a:pt x="19278" y="20215"/>
                </a:lnTo>
                <a:lnTo>
                  <a:pt x="19518" y="21695"/>
                </a:lnTo>
                <a:lnTo>
                  <a:pt x="30653" y="19106"/>
                </a:lnTo>
                <a:close/>
              </a:path>
            </a:pathLst>
          </a:custGeom>
          <a:solidFill>
            <a:srgbClr val="ded5c5"/>
          </a:solidFill>
          <a:ln w="6191">
            <a:solidFill>
              <a:srgbClr val="b5a68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90" name="หมู่บ้านโอษธิศ 2"/>
          <p:cNvSpPr/>
          <p:nvPr/>
        </p:nvSpPr>
        <p:spPr>
          <a:xfrm>
            <a:off x="6328800" y="4435200"/>
            <a:ext cx="11880" cy="44280"/>
          </a:xfrm>
          <a:custGeom>
            <a:avLst/>
            <a:gdLst/>
            <a:ahLst/>
            <a:rect l="l" t="t" r="r" b="b"/>
            <a:pathLst>
              <a:path w="12094" h="44745">
                <a:moveTo>
                  <a:pt x="2874" y="40061"/>
                </a:moveTo>
                <a:lnTo>
                  <a:pt x="2874" y="44745"/>
                </a:lnTo>
                <a:lnTo>
                  <a:pt x="10058" y="44129"/>
                </a:lnTo>
                <a:lnTo>
                  <a:pt x="10657" y="21695"/>
                </a:lnTo>
                <a:lnTo>
                  <a:pt x="8502" y="22681"/>
                </a:lnTo>
                <a:lnTo>
                  <a:pt x="8621" y="19846"/>
                </a:lnTo>
                <a:lnTo>
                  <a:pt x="11016" y="19476"/>
                </a:lnTo>
                <a:lnTo>
                  <a:pt x="12094" y="493"/>
                </a:lnTo>
                <a:lnTo>
                  <a:pt x="1796" y="0"/>
                </a:lnTo>
                <a:lnTo>
                  <a:pt x="0" y="29214"/>
                </a:lnTo>
                <a:lnTo>
                  <a:pt x="838" y="30939"/>
                </a:lnTo>
                <a:lnTo>
                  <a:pt x="3353" y="30693"/>
                </a:lnTo>
                <a:lnTo>
                  <a:pt x="2874" y="40061"/>
                </a:lnTo>
                <a:close/>
              </a:path>
            </a:pathLst>
          </a:custGeom>
          <a:solidFill>
            <a:srgbClr val="ded5c5"/>
          </a:solidFill>
          <a:ln w="6191">
            <a:solidFill>
              <a:srgbClr val="b5a68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91" name="หมู่บ้านพูนศิริ"/>
          <p:cNvSpPr/>
          <p:nvPr/>
        </p:nvSpPr>
        <p:spPr>
          <a:xfrm>
            <a:off x="6317640" y="4403160"/>
            <a:ext cx="27360" cy="50040"/>
          </a:xfrm>
          <a:custGeom>
            <a:avLst/>
            <a:gdLst/>
            <a:ahLst/>
            <a:rect l="l" t="t" r="r" b="b"/>
            <a:pathLst>
              <a:path w="27780" h="50292">
                <a:moveTo>
                  <a:pt x="0" y="21941"/>
                </a:moveTo>
                <a:lnTo>
                  <a:pt x="239" y="27241"/>
                </a:lnTo>
                <a:lnTo>
                  <a:pt x="3113" y="27611"/>
                </a:lnTo>
                <a:lnTo>
                  <a:pt x="2634" y="32419"/>
                </a:lnTo>
                <a:lnTo>
                  <a:pt x="23230" y="32665"/>
                </a:lnTo>
                <a:lnTo>
                  <a:pt x="22152" y="49922"/>
                </a:lnTo>
                <a:lnTo>
                  <a:pt x="24427" y="50292"/>
                </a:lnTo>
                <a:lnTo>
                  <a:pt x="27780" y="0"/>
                </a:lnTo>
                <a:lnTo>
                  <a:pt x="24666" y="123"/>
                </a:lnTo>
                <a:lnTo>
                  <a:pt x="23708" y="9245"/>
                </a:lnTo>
                <a:lnTo>
                  <a:pt x="718" y="5793"/>
                </a:lnTo>
                <a:lnTo>
                  <a:pt x="0" y="21941"/>
                </a:lnTo>
                <a:close/>
              </a:path>
            </a:pathLst>
          </a:custGeom>
          <a:solidFill>
            <a:srgbClr val="ded5c5"/>
          </a:solidFill>
          <a:ln w="6191">
            <a:solidFill>
              <a:srgbClr val="b5a68d"/>
            </a:solidFill>
            <a:round/>
          </a:ln>
        </p:spPr>
        <p:style>
          <a:lnRef idx="0"/>
          <a:fillRef idx="0"/>
          <a:effectRef idx="0"/>
          <a:fontRef idx="minor"/>
        </p:style>
        <p:txBody>
          <a:bodyPr lIns="90000" rIns="90000" tIns="5040" bIns="5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92" name="หมู่บ้าน ช. อมรพันธ์ 9"/>
          <p:cNvSpPr/>
          <p:nvPr/>
        </p:nvSpPr>
        <p:spPr>
          <a:xfrm>
            <a:off x="6008040" y="4384440"/>
            <a:ext cx="155520" cy="72720"/>
          </a:xfrm>
          <a:custGeom>
            <a:avLst/>
            <a:gdLst/>
            <a:ahLst/>
            <a:rect l="l" t="t" r="r" b="b"/>
            <a:pathLst>
              <a:path w="156021" h="72973">
                <a:moveTo>
                  <a:pt x="131355" y="69028"/>
                </a:moveTo>
                <a:lnTo>
                  <a:pt x="155303" y="66563"/>
                </a:lnTo>
                <a:lnTo>
                  <a:pt x="156021" y="56702"/>
                </a:lnTo>
                <a:lnTo>
                  <a:pt x="142011" y="57688"/>
                </a:lnTo>
                <a:lnTo>
                  <a:pt x="142969" y="33281"/>
                </a:lnTo>
                <a:lnTo>
                  <a:pt x="130995" y="33775"/>
                </a:lnTo>
                <a:lnTo>
                  <a:pt x="130995" y="30816"/>
                </a:lnTo>
                <a:lnTo>
                  <a:pt x="127762" y="30200"/>
                </a:lnTo>
                <a:lnTo>
                  <a:pt x="127044" y="14668"/>
                </a:lnTo>
                <a:lnTo>
                  <a:pt x="123572" y="14915"/>
                </a:lnTo>
                <a:lnTo>
                  <a:pt x="122135" y="9861"/>
                </a:lnTo>
                <a:lnTo>
                  <a:pt x="74957" y="12203"/>
                </a:lnTo>
                <a:lnTo>
                  <a:pt x="75436" y="123"/>
                </a:lnTo>
                <a:lnTo>
                  <a:pt x="69210" y="0"/>
                </a:lnTo>
                <a:lnTo>
                  <a:pt x="69329" y="10477"/>
                </a:lnTo>
                <a:lnTo>
                  <a:pt x="44423" y="9615"/>
                </a:lnTo>
                <a:lnTo>
                  <a:pt x="43945" y="20092"/>
                </a:lnTo>
                <a:lnTo>
                  <a:pt x="64181" y="21078"/>
                </a:lnTo>
                <a:lnTo>
                  <a:pt x="63582" y="28474"/>
                </a:lnTo>
                <a:lnTo>
                  <a:pt x="0" y="29584"/>
                </a:lnTo>
                <a:lnTo>
                  <a:pt x="0" y="34761"/>
                </a:lnTo>
                <a:lnTo>
                  <a:pt x="14489" y="34884"/>
                </a:lnTo>
                <a:lnTo>
                  <a:pt x="14489" y="38335"/>
                </a:lnTo>
                <a:lnTo>
                  <a:pt x="44064" y="39691"/>
                </a:lnTo>
                <a:lnTo>
                  <a:pt x="44064" y="43266"/>
                </a:lnTo>
                <a:lnTo>
                  <a:pt x="67054" y="44252"/>
                </a:lnTo>
                <a:lnTo>
                  <a:pt x="66815" y="48196"/>
                </a:lnTo>
                <a:lnTo>
                  <a:pt x="101539" y="50169"/>
                </a:lnTo>
                <a:lnTo>
                  <a:pt x="101539" y="46964"/>
                </a:lnTo>
                <a:lnTo>
                  <a:pt x="105371" y="46964"/>
                </a:lnTo>
                <a:lnTo>
                  <a:pt x="105371" y="44499"/>
                </a:lnTo>
                <a:lnTo>
                  <a:pt x="110759" y="44252"/>
                </a:lnTo>
                <a:lnTo>
                  <a:pt x="111119" y="50169"/>
                </a:lnTo>
                <a:lnTo>
                  <a:pt x="130277" y="50415"/>
                </a:lnTo>
                <a:lnTo>
                  <a:pt x="130636" y="60153"/>
                </a:lnTo>
                <a:lnTo>
                  <a:pt x="99983" y="64591"/>
                </a:lnTo>
                <a:lnTo>
                  <a:pt x="99983" y="72973"/>
                </a:lnTo>
                <a:lnTo>
                  <a:pt x="131355" y="69028"/>
                </a:lnTo>
                <a:close/>
              </a:path>
            </a:pathLst>
          </a:custGeom>
          <a:solidFill>
            <a:srgbClr val="ded5c5"/>
          </a:solidFill>
          <a:ln w="6191">
            <a:solidFill>
              <a:srgbClr val="b5a68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93" name="หมู่บ้านสมิทธิโชติ"/>
          <p:cNvSpPr/>
          <p:nvPr/>
        </p:nvSpPr>
        <p:spPr>
          <a:xfrm>
            <a:off x="6018480" y="4406760"/>
            <a:ext cx="52920" cy="7200"/>
          </a:xfrm>
          <a:custGeom>
            <a:avLst/>
            <a:gdLst/>
            <a:ahLst/>
            <a:rect l="l" t="t" r="r" b="b"/>
            <a:pathLst>
              <a:path w="53164" h="7642">
                <a:moveTo>
                  <a:pt x="50770" y="6410"/>
                </a:moveTo>
                <a:lnTo>
                  <a:pt x="53164" y="6163"/>
                </a:lnTo>
                <a:lnTo>
                  <a:pt x="53164" y="1356"/>
                </a:lnTo>
                <a:lnTo>
                  <a:pt x="239" y="0"/>
                </a:lnTo>
                <a:lnTo>
                  <a:pt x="0" y="7642"/>
                </a:lnTo>
                <a:lnTo>
                  <a:pt x="50770" y="6410"/>
                </a:lnTo>
                <a:close/>
              </a:path>
            </a:pathLst>
          </a:custGeom>
          <a:solidFill>
            <a:srgbClr val="ded5c5"/>
          </a:solidFill>
          <a:ln w="6191">
            <a:solidFill>
              <a:srgbClr val="b5a68d"/>
            </a:solidFill>
            <a:round/>
          </a:ln>
        </p:spPr>
        <p:style>
          <a:lnRef idx="0"/>
          <a:fillRef idx="0"/>
          <a:effectRef idx="0"/>
          <a:fontRef idx="minor"/>
        </p:style>
        <p:txBody>
          <a:bodyPr lIns="90000" rIns="90000" tIns="-37800" bIns="-37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94" name="ทหารเสือ"/>
          <p:cNvSpPr/>
          <p:nvPr/>
        </p:nvSpPr>
        <p:spPr>
          <a:xfrm>
            <a:off x="5536080" y="3600000"/>
            <a:ext cx="64080" cy="123480"/>
          </a:xfrm>
          <a:custGeom>
            <a:avLst/>
            <a:gdLst/>
            <a:ahLst/>
            <a:rect l="l" t="t" r="r" b="b"/>
            <a:pathLst>
              <a:path w="64540" h="124004">
                <a:moveTo>
                  <a:pt x="0" y="122279"/>
                </a:moveTo>
                <a:lnTo>
                  <a:pt x="14608" y="124004"/>
                </a:lnTo>
                <a:lnTo>
                  <a:pt x="16524" y="114636"/>
                </a:lnTo>
                <a:lnTo>
                  <a:pt x="29935" y="116239"/>
                </a:lnTo>
                <a:lnTo>
                  <a:pt x="31132" y="110815"/>
                </a:lnTo>
                <a:lnTo>
                  <a:pt x="37000" y="112294"/>
                </a:lnTo>
                <a:lnTo>
                  <a:pt x="44304" y="80985"/>
                </a:lnTo>
                <a:lnTo>
                  <a:pt x="49692" y="81601"/>
                </a:lnTo>
                <a:lnTo>
                  <a:pt x="62983" y="26502"/>
                </a:lnTo>
                <a:lnTo>
                  <a:pt x="64540" y="13929"/>
                </a:lnTo>
                <a:lnTo>
                  <a:pt x="26941" y="0"/>
                </a:lnTo>
                <a:lnTo>
                  <a:pt x="0" y="12227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95" name="อยู่แล้วรวย"/>
          <p:cNvSpPr/>
          <p:nvPr/>
        </p:nvSpPr>
        <p:spPr>
          <a:xfrm>
            <a:off x="5732280" y="3835440"/>
            <a:ext cx="56520" cy="36360"/>
          </a:xfrm>
          <a:custGeom>
            <a:avLst/>
            <a:gdLst/>
            <a:ahLst/>
            <a:rect l="l" t="t" r="r" b="b"/>
            <a:pathLst>
              <a:path w="56757" h="36610">
                <a:moveTo>
                  <a:pt x="56757" y="20339"/>
                </a:moveTo>
                <a:lnTo>
                  <a:pt x="32689" y="12450"/>
                </a:lnTo>
                <a:lnTo>
                  <a:pt x="29935" y="9491"/>
                </a:lnTo>
                <a:lnTo>
                  <a:pt x="20954" y="7026"/>
                </a:lnTo>
                <a:lnTo>
                  <a:pt x="22391" y="2219"/>
                </a:lnTo>
                <a:lnTo>
                  <a:pt x="13411" y="0"/>
                </a:lnTo>
                <a:lnTo>
                  <a:pt x="12213" y="10847"/>
                </a:lnTo>
                <a:lnTo>
                  <a:pt x="0" y="20832"/>
                </a:lnTo>
                <a:lnTo>
                  <a:pt x="7304" y="29953"/>
                </a:lnTo>
                <a:lnTo>
                  <a:pt x="12573" y="33898"/>
                </a:lnTo>
                <a:lnTo>
                  <a:pt x="21194" y="36610"/>
                </a:lnTo>
                <a:lnTo>
                  <a:pt x="25624" y="26872"/>
                </a:lnTo>
                <a:lnTo>
                  <a:pt x="50051" y="32665"/>
                </a:lnTo>
                <a:lnTo>
                  <a:pt x="56757" y="20339"/>
                </a:lnTo>
                <a:close/>
              </a:path>
            </a:pathLst>
          </a:custGeom>
          <a:solidFill>
            <a:srgbClr val="ded5c5"/>
          </a:solidFill>
          <a:ln w="6191">
            <a:solidFill>
              <a:srgbClr val="b5a68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96" name="ชาวลาดตระเวน"/>
          <p:cNvSpPr/>
          <p:nvPr/>
        </p:nvSpPr>
        <p:spPr>
          <a:xfrm>
            <a:off x="5712840" y="3632040"/>
            <a:ext cx="33840" cy="20880"/>
          </a:xfrm>
          <a:custGeom>
            <a:avLst/>
            <a:gdLst/>
            <a:ahLst/>
            <a:rect l="l" t="t" r="r" b="b"/>
            <a:pathLst>
              <a:path w="34246" h="21078">
                <a:moveTo>
                  <a:pt x="2275" y="18736"/>
                </a:moveTo>
                <a:lnTo>
                  <a:pt x="8142" y="21078"/>
                </a:lnTo>
                <a:lnTo>
                  <a:pt x="11016" y="16271"/>
                </a:lnTo>
                <a:lnTo>
                  <a:pt x="18679" y="19969"/>
                </a:lnTo>
                <a:lnTo>
                  <a:pt x="33647" y="19599"/>
                </a:lnTo>
                <a:lnTo>
                  <a:pt x="34246" y="2589"/>
                </a:lnTo>
                <a:lnTo>
                  <a:pt x="32689" y="0"/>
                </a:lnTo>
                <a:lnTo>
                  <a:pt x="6586" y="1109"/>
                </a:lnTo>
                <a:lnTo>
                  <a:pt x="120" y="123"/>
                </a:lnTo>
                <a:lnTo>
                  <a:pt x="0" y="3575"/>
                </a:lnTo>
                <a:lnTo>
                  <a:pt x="6226" y="4068"/>
                </a:lnTo>
                <a:lnTo>
                  <a:pt x="2275" y="18736"/>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97" name="หลักสี่"/>
          <p:cNvSpPr/>
          <p:nvPr/>
        </p:nvSpPr>
        <p:spPr>
          <a:xfrm>
            <a:off x="5843520" y="3681360"/>
            <a:ext cx="5760" cy="1440"/>
          </a:xfrm>
          <a:custGeom>
            <a:avLst/>
            <a:gdLst/>
            <a:ahLst/>
            <a:rect l="l" t="t" r="r" b="b"/>
            <a:pathLst>
              <a:path w="5987" h="1972">
                <a:moveTo>
                  <a:pt x="120" y="0"/>
                </a:moveTo>
                <a:lnTo>
                  <a:pt x="0" y="1109"/>
                </a:lnTo>
                <a:lnTo>
                  <a:pt x="5748" y="1972"/>
                </a:lnTo>
                <a:lnTo>
                  <a:pt x="5987" y="740"/>
                </a:lnTo>
                <a:lnTo>
                  <a:pt x="120" y="0"/>
                </a:lnTo>
                <a:close/>
              </a:path>
            </a:pathLst>
          </a:custGeom>
          <a:solidFill>
            <a:srgbClr val="ded5c5"/>
          </a:solidFill>
          <a:ln w="6191">
            <a:solidFill>
              <a:srgbClr val="b5a68d"/>
            </a:solidFill>
            <a:round/>
          </a:ln>
        </p:spPr>
        <p:style>
          <a:lnRef idx="0"/>
          <a:fillRef idx="0"/>
          <a:effectRef idx="0"/>
          <a:fontRef idx="minor"/>
        </p:style>
        <p:txBody>
          <a:bodyPr lIns="90000" rIns="90000" tIns="-43560" bIns="-43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98" name="หมู่บ้านราชพฤกษ์"/>
          <p:cNvSpPr/>
          <p:nvPr/>
        </p:nvSpPr>
        <p:spPr>
          <a:xfrm>
            <a:off x="5475240" y="3962520"/>
            <a:ext cx="29160" cy="20880"/>
          </a:xfrm>
          <a:custGeom>
            <a:avLst/>
            <a:gdLst/>
            <a:ahLst/>
            <a:rect l="l" t="t" r="r" b="b"/>
            <a:pathLst>
              <a:path w="29576" h="21078">
                <a:moveTo>
                  <a:pt x="0" y="19229"/>
                </a:moveTo>
                <a:lnTo>
                  <a:pt x="6107" y="19476"/>
                </a:lnTo>
                <a:lnTo>
                  <a:pt x="6346" y="21078"/>
                </a:lnTo>
                <a:lnTo>
                  <a:pt x="18679" y="21078"/>
                </a:lnTo>
                <a:lnTo>
                  <a:pt x="18679" y="19846"/>
                </a:lnTo>
                <a:lnTo>
                  <a:pt x="29576" y="17134"/>
                </a:lnTo>
                <a:lnTo>
                  <a:pt x="28977" y="10354"/>
                </a:lnTo>
                <a:lnTo>
                  <a:pt x="18440" y="10601"/>
                </a:lnTo>
                <a:lnTo>
                  <a:pt x="19278" y="3821"/>
                </a:lnTo>
                <a:lnTo>
                  <a:pt x="21673" y="3205"/>
                </a:lnTo>
                <a:lnTo>
                  <a:pt x="21673" y="247"/>
                </a:lnTo>
                <a:lnTo>
                  <a:pt x="14967" y="370"/>
                </a:lnTo>
                <a:lnTo>
                  <a:pt x="14489" y="2712"/>
                </a:lnTo>
                <a:lnTo>
                  <a:pt x="5748" y="1356"/>
                </a:lnTo>
                <a:lnTo>
                  <a:pt x="4430" y="0"/>
                </a:lnTo>
                <a:lnTo>
                  <a:pt x="0" y="19229"/>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299" name="กระทุ่มเสือปลา"/>
          <p:cNvSpPr/>
          <p:nvPr/>
        </p:nvSpPr>
        <p:spPr>
          <a:xfrm>
            <a:off x="7083360" y="5709240"/>
            <a:ext cx="73440" cy="39960"/>
          </a:xfrm>
          <a:custGeom>
            <a:avLst/>
            <a:gdLst/>
            <a:ahLst/>
            <a:rect l="l" t="t" r="r" b="b"/>
            <a:pathLst>
              <a:path w="73640" h="40308">
                <a:moveTo>
                  <a:pt x="0" y="616"/>
                </a:moveTo>
                <a:lnTo>
                  <a:pt x="3233" y="40308"/>
                </a:lnTo>
                <a:lnTo>
                  <a:pt x="8861" y="39938"/>
                </a:lnTo>
                <a:lnTo>
                  <a:pt x="8262" y="30077"/>
                </a:lnTo>
                <a:lnTo>
                  <a:pt x="24906" y="28474"/>
                </a:lnTo>
                <a:lnTo>
                  <a:pt x="24547" y="25886"/>
                </a:lnTo>
                <a:lnTo>
                  <a:pt x="41909" y="24037"/>
                </a:lnTo>
                <a:lnTo>
                  <a:pt x="41191" y="18983"/>
                </a:lnTo>
                <a:lnTo>
                  <a:pt x="73640" y="15162"/>
                </a:lnTo>
                <a:lnTo>
                  <a:pt x="72443" y="0"/>
                </a:lnTo>
                <a:lnTo>
                  <a:pt x="0" y="616"/>
                </a:lnTo>
                <a:close/>
              </a:path>
            </a:pathLst>
          </a:custGeom>
          <a:solidFill>
            <a:srgbClr val="ded5c5"/>
          </a:solidFill>
          <a:ln w="6191">
            <a:solidFill>
              <a:srgbClr val="b5a68d"/>
            </a:solidFill>
            <a:round/>
          </a:ln>
        </p:spPr>
        <p:style>
          <a:lnRef idx="0"/>
          <a:fillRef idx="0"/>
          <a:effectRef idx="0"/>
          <a:fontRef idx="minor"/>
        </p:style>
        <p:txBody>
          <a:bodyPr lIns="90000" rIns="90000" tIns="-5040" bIns="-5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00" name="คลองมอญ"/>
          <p:cNvSpPr/>
          <p:nvPr/>
        </p:nvSpPr>
        <p:spPr>
          <a:xfrm>
            <a:off x="7041600" y="5685120"/>
            <a:ext cx="19440" cy="13320"/>
          </a:xfrm>
          <a:custGeom>
            <a:avLst/>
            <a:gdLst/>
            <a:ahLst/>
            <a:rect l="l" t="t" r="r" b="b"/>
            <a:pathLst>
              <a:path w="19877" h="13682">
                <a:moveTo>
                  <a:pt x="3832" y="7889"/>
                </a:moveTo>
                <a:lnTo>
                  <a:pt x="7184" y="13682"/>
                </a:lnTo>
                <a:lnTo>
                  <a:pt x="19039" y="13066"/>
                </a:lnTo>
                <a:lnTo>
                  <a:pt x="18799" y="6533"/>
                </a:lnTo>
                <a:lnTo>
                  <a:pt x="9699" y="8382"/>
                </a:lnTo>
                <a:lnTo>
                  <a:pt x="9100" y="5917"/>
                </a:lnTo>
                <a:lnTo>
                  <a:pt x="19877" y="4561"/>
                </a:lnTo>
                <a:lnTo>
                  <a:pt x="19518" y="0"/>
                </a:lnTo>
                <a:lnTo>
                  <a:pt x="0" y="2219"/>
                </a:lnTo>
                <a:lnTo>
                  <a:pt x="3832" y="7889"/>
                </a:lnTo>
                <a:close/>
              </a:path>
            </a:pathLst>
          </a:custGeom>
          <a:solidFill>
            <a:srgbClr val="ded5c5"/>
          </a:solidFill>
          <a:ln w="6191">
            <a:solidFill>
              <a:srgbClr val="b5a68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01" name="ทับช้างล่างฝั่งธน"/>
          <p:cNvSpPr/>
          <p:nvPr/>
        </p:nvSpPr>
        <p:spPr>
          <a:xfrm>
            <a:off x="7129080" y="5596200"/>
            <a:ext cx="87480" cy="56160"/>
          </a:xfrm>
          <a:custGeom>
            <a:avLst/>
            <a:gdLst/>
            <a:ahLst/>
            <a:rect l="l" t="t" r="r" b="b"/>
            <a:pathLst>
              <a:path w="88009" h="56455">
                <a:moveTo>
                  <a:pt x="0" y="18243"/>
                </a:moveTo>
                <a:lnTo>
                  <a:pt x="1676" y="25762"/>
                </a:lnTo>
                <a:lnTo>
                  <a:pt x="8382" y="31186"/>
                </a:lnTo>
                <a:lnTo>
                  <a:pt x="6346" y="41170"/>
                </a:lnTo>
                <a:lnTo>
                  <a:pt x="13531" y="41540"/>
                </a:lnTo>
                <a:lnTo>
                  <a:pt x="16285" y="30570"/>
                </a:lnTo>
                <a:lnTo>
                  <a:pt x="68611" y="40184"/>
                </a:lnTo>
                <a:lnTo>
                  <a:pt x="65378" y="55839"/>
                </a:lnTo>
                <a:lnTo>
                  <a:pt x="72922" y="56455"/>
                </a:lnTo>
                <a:lnTo>
                  <a:pt x="79747" y="43636"/>
                </a:lnTo>
                <a:lnTo>
                  <a:pt x="83578" y="44252"/>
                </a:lnTo>
                <a:lnTo>
                  <a:pt x="88009" y="39445"/>
                </a:lnTo>
                <a:lnTo>
                  <a:pt x="86452" y="36610"/>
                </a:lnTo>
                <a:lnTo>
                  <a:pt x="83698" y="36240"/>
                </a:lnTo>
                <a:lnTo>
                  <a:pt x="79388" y="40184"/>
                </a:lnTo>
                <a:lnTo>
                  <a:pt x="12812" y="29090"/>
                </a:lnTo>
                <a:lnTo>
                  <a:pt x="12932" y="22804"/>
                </a:lnTo>
                <a:lnTo>
                  <a:pt x="10537" y="21078"/>
                </a:lnTo>
                <a:lnTo>
                  <a:pt x="11735" y="17134"/>
                </a:lnTo>
                <a:lnTo>
                  <a:pt x="20715" y="8629"/>
                </a:lnTo>
                <a:lnTo>
                  <a:pt x="43466" y="11464"/>
                </a:lnTo>
                <a:lnTo>
                  <a:pt x="44064" y="5547"/>
                </a:lnTo>
                <a:lnTo>
                  <a:pt x="45381" y="4807"/>
                </a:lnTo>
                <a:lnTo>
                  <a:pt x="64420" y="5670"/>
                </a:lnTo>
                <a:lnTo>
                  <a:pt x="64779" y="16024"/>
                </a:lnTo>
                <a:lnTo>
                  <a:pt x="76035" y="17134"/>
                </a:lnTo>
                <a:lnTo>
                  <a:pt x="76993" y="6903"/>
                </a:lnTo>
                <a:lnTo>
                  <a:pt x="53284" y="3328"/>
                </a:lnTo>
                <a:lnTo>
                  <a:pt x="9819" y="0"/>
                </a:lnTo>
                <a:lnTo>
                  <a:pt x="4430" y="12450"/>
                </a:lnTo>
                <a:lnTo>
                  <a:pt x="0" y="18243"/>
                </a:lnTo>
                <a:close/>
              </a:path>
            </a:pathLst>
          </a:custGeom>
          <a:solidFill>
            <a:srgbClr val="ded5c5"/>
          </a:solidFill>
          <a:ln w="6191">
            <a:solidFill>
              <a:srgbClr val="b5a68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02" name="บ้านบึง"/>
          <p:cNvSpPr/>
          <p:nvPr/>
        </p:nvSpPr>
        <p:spPr>
          <a:xfrm>
            <a:off x="6701040" y="5860800"/>
            <a:ext cx="37080" cy="32760"/>
          </a:xfrm>
          <a:custGeom>
            <a:avLst/>
            <a:gdLst/>
            <a:ahLst/>
            <a:rect l="l" t="t" r="r" b="b"/>
            <a:pathLst>
              <a:path w="37479" h="33158">
                <a:moveTo>
                  <a:pt x="24427" y="0"/>
                </a:moveTo>
                <a:lnTo>
                  <a:pt x="23589" y="2712"/>
                </a:lnTo>
                <a:lnTo>
                  <a:pt x="12094" y="2835"/>
                </a:lnTo>
                <a:lnTo>
                  <a:pt x="12453" y="616"/>
                </a:lnTo>
                <a:lnTo>
                  <a:pt x="9819" y="123"/>
                </a:lnTo>
                <a:lnTo>
                  <a:pt x="8861" y="2958"/>
                </a:lnTo>
                <a:lnTo>
                  <a:pt x="2036" y="3328"/>
                </a:lnTo>
                <a:lnTo>
                  <a:pt x="239" y="12450"/>
                </a:lnTo>
                <a:lnTo>
                  <a:pt x="0" y="28104"/>
                </a:lnTo>
                <a:lnTo>
                  <a:pt x="8980" y="33158"/>
                </a:lnTo>
                <a:lnTo>
                  <a:pt x="37479" y="28597"/>
                </a:lnTo>
                <a:lnTo>
                  <a:pt x="34844" y="21818"/>
                </a:lnTo>
                <a:lnTo>
                  <a:pt x="33168" y="986"/>
                </a:lnTo>
                <a:lnTo>
                  <a:pt x="24427" y="0"/>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03" name="เปรมฤทัย 72-74"/>
          <p:cNvSpPr/>
          <p:nvPr/>
        </p:nvSpPr>
        <p:spPr>
          <a:xfrm>
            <a:off x="6756120" y="5801760"/>
            <a:ext cx="136080" cy="88560"/>
          </a:xfrm>
          <a:custGeom>
            <a:avLst/>
            <a:gdLst/>
            <a:ahLst/>
            <a:rect l="l" t="t" r="r" b="b"/>
            <a:pathLst>
              <a:path w="136384" h="88751">
                <a:moveTo>
                  <a:pt x="0" y="1726"/>
                </a:moveTo>
                <a:lnTo>
                  <a:pt x="16883" y="16764"/>
                </a:lnTo>
                <a:lnTo>
                  <a:pt x="77112" y="55592"/>
                </a:lnTo>
                <a:lnTo>
                  <a:pt x="76274" y="57318"/>
                </a:lnTo>
                <a:lnTo>
                  <a:pt x="78070" y="58427"/>
                </a:lnTo>
                <a:lnTo>
                  <a:pt x="79028" y="56948"/>
                </a:lnTo>
                <a:lnTo>
                  <a:pt x="82261" y="58674"/>
                </a:lnTo>
                <a:lnTo>
                  <a:pt x="130037" y="88751"/>
                </a:lnTo>
                <a:lnTo>
                  <a:pt x="136384" y="81355"/>
                </a:lnTo>
                <a:lnTo>
                  <a:pt x="46699" y="25639"/>
                </a:lnTo>
                <a:lnTo>
                  <a:pt x="8861" y="0"/>
                </a:lnTo>
                <a:lnTo>
                  <a:pt x="0" y="1726"/>
                </a:lnTo>
                <a:close/>
              </a:path>
            </a:pathLst>
          </a:custGeom>
          <a:solidFill>
            <a:srgbClr val="ded5c5"/>
          </a:solidFill>
          <a:ln w="6191">
            <a:solidFill>
              <a:srgbClr val="b5a68d"/>
            </a:solidFill>
            <a:round/>
          </a:ln>
        </p:spPr>
        <p:style>
          <a:lnRef idx="0"/>
          <a:fillRef idx="0"/>
          <a:effectRef idx="0"/>
          <a:fontRef idx="minor"/>
        </p:style>
        <p:txBody>
          <a:bodyPr lIns="90000" rIns="90000" tIns="43560" bIns="43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04" name="สุขาภิบาล2 ซอยโรงถ่าน"/>
          <p:cNvSpPr/>
          <p:nvPr/>
        </p:nvSpPr>
        <p:spPr>
          <a:xfrm>
            <a:off x="7307640" y="5916600"/>
            <a:ext cx="68040" cy="50040"/>
          </a:xfrm>
          <a:custGeom>
            <a:avLst/>
            <a:gdLst/>
            <a:ahLst/>
            <a:rect l="l" t="t" r="r" b="b"/>
            <a:pathLst>
              <a:path w="68252" h="50415">
                <a:moveTo>
                  <a:pt x="0" y="17627"/>
                </a:moveTo>
                <a:lnTo>
                  <a:pt x="55200" y="37842"/>
                </a:lnTo>
                <a:lnTo>
                  <a:pt x="53045" y="46348"/>
                </a:lnTo>
                <a:lnTo>
                  <a:pt x="62624" y="50415"/>
                </a:lnTo>
                <a:lnTo>
                  <a:pt x="68252" y="22557"/>
                </a:lnTo>
                <a:lnTo>
                  <a:pt x="2993" y="0"/>
                </a:lnTo>
                <a:lnTo>
                  <a:pt x="0" y="17627"/>
                </a:lnTo>
                <a:close/>
              </a:path>
            </a:pathLst>
          </a:custGeom>
          <a:solidFill>
            <a:srgbClr val="ded5c5"/>
          </a:solidFill>
          <a:ln w="6191">
            <a:solidFill>
              <a:srgbClr val="b5a68d"/>
            </a:solidFill>
            <a:round/>
          </a:ln>
        </p:spPr>
        <p:style>
          <a:lnRef idx="0"/>
          <a:fillRef idx="0"/>
          <a:effectRef idx="0"/>
          <a:fontRef idx="minor"/>
        </p:style>
        <p:txBody>
          <a:bodyPr lIns="90000" rIns="90000" tIns="5040" bIns="5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05" name="ซอยวาสนา"/>
          <p:cNvSpPr/>
          <p:nvPr/>
        </p:nvSpPr>
        <p:spPr>
          <a:xfrm>
            <a:off x="4333680" y="6140520"/>
            <a:ext cx="21240" cy="18360"/>
          </a:xfrm>
          <a:custGeom>
            <a:avLst/>
            <a:gdLst/>
            <a:ahLst/>
            <a:rect l="l" t="t" r="r" b="b"/>
            <a:pathLst>
              <a:path w="21433" h="18736">
                <a:moveTo>
                  <a:pt x="0" y="12450"/>
                </a:moveTo>
                <a:lnTo>
                  <a:pt x="7663" y="18736"/>
                </a:lnTo>
                <a:lnTo>
                  <a:pt x="21433" y="7889"/>
                </a:lnTo>
                <a:lnTo>
                  <a:pt x="12094" y="0"/>
                </a:lnTo>
                <a:lnTo>
                  <a:pt x="0" y="12450"/>
                </a:lnTo>
                <a:close/>
              </a:path>
            </a:pathLst>
          </a:custGeom>
          <a:solidFill>
            <a:srgbClr val="ded5c5"/>
          </a:solidFill>
          <a:ln w="6191">
            <a:solidFill>
              <a:srgbClr val="b5a68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06" name="บางระแนะใหญ่"/>
          <p:cNvSpPr/>
          <p:nvPr/>
        </p:nvSpPr>
        <p:spPr>
          <a:xfrm>
            <a:off x="4343760" y="6149160"/>
            <a:ext cx="29160" cy="27000"/>
          </a:xfrm>
          <a:custGeom>
            <a:avLst/>
            <a:gdLst/>
            <a:ahLst/>
            <a:rect l="l" t="t" r="r" b="b"/>
            <a:pathLst>
              <a:path w="29695" h="27241">
                <a:moveTo>
                  <a:pt x="25145" y="9861"/>
                </a:moveTo>
                <a:lnTo>
                  <a:pt x="11854" y="0"/>
                </a:lnTo>
                <a:lnTo>
                  <a:pt x="0" y="9861"/>
                </a:lnTo>
                <a:lnTo>
                  <a:pt x="13650" y="22188"/>
                </a:lnTo>
                <a:lnTo>
                  <a:pt x="21553" y="27241"/>
                </a:lnTo>
                <a:lnTo>
                  <a:pt x="25984" y="22064"/>
                </a:lnTo>
                <a:lnTo>
                  <a:pt x="29097" y="15655"/>
                </a:lnTo>
                <a:lnTo>
                  <a:pt x="29695" y="12203"/>
                </a:lnTo>
                <a:lnTo>
                  <a:pt x="25145" y="9861"/>
                </a:lnTo>
                <a:close/>
              </a:path>
            </a:pathLst>
          </a:custGeom>
          <a:solidFill>
            <a:srgbClr val="ded5c5"/>
          </a:solidFill>
          <a:ln w="6191">
            <a:solidFill>
              <a:srgbClr val="b5a68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07" name="วิสุทธิจิตร"/>
          <p:cNvSpPr/>
          <p:nvPr/>
        </p:nvSpPr>
        <p:spPr>
          <a:xfrm>
            <a:off x="4414320" y="5966280"/>
            <a:ext cx="18000" cy="18360"/>
          </a:xfrm>
          <a:custGeom>
            <a:avLst/>
            <a:gdLst/>
            <a:ahLst/>
            <a:rect l="l" t="t" r="r" b="b"/>
            <a:pathLst>
              <a:path w="18320" h="18613">
                <a:moveTo>
                  <a:pt x="0" y="15285"/>
                </a:moveTo>
                <a:lnTo>
                  <a:pt x="5748" y="18613"/>
                </a:lnTo>
                <a:lnTo>
                  <a:pt x="7304" y="16271"/>
                </a:lnTo>
                <a:lnTo>
                  <a:pt x="9100" y="17380"/>
                </a:lnTo>
                <a:lnTo>
                  <a:pt x="18320" y="3944"/>
                </a:lnTo>
                <a:lnTo>
                  <a:pt x="10657" y="0"/>
                </a:lnTo>
                <a:lnTo>
                  <a:pt x="0" y="15285"/>
                </a:lnTo>
                <a:close/>
              </a:path>
            </a:pathLst>
          </a:custGeom>
          <a:solidFill>
            <a:srgbClr val="ded5c5"/>
          </a:solidFill>
          <a:ln w="6191">
            <a:solidFill>
              <a:srgbClr val="b5a68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08" name="หมู่บ้านพัฒนา หมู่11"/>
          <p:cNvSpPr/>
          <p:nvPr/>
        </p:nvSpPr>
        <p:spPr>
          <a:xfrm>
            <a:off x="4387320" y="5914080"/>
            <a:ext cx="47880" cy="39960"/>
          </a:xfrm>
          <a:custGeom>
            <a:avLst/>
            <a:gdLst/>
            <a:ahLst/>
            <a:rect l="l" t="t" r="r" b="b"/>
            <a:pathLst>
              <a:path w="48255" h="40431">
                <a:moveTo>
                  <a:pt x="40472" y="12820"/>
                </a:moveTo>
                <a:lnTo>
                  <a:pt x="25505" y="3328"/>
                </a:lnTo>
                <a:lnTo>
                  <a:pt x="15925" y="0"/>
                </a:lnTo>
                <a:lnTo>
                  <a:pt x="0" y="19722"/>
                </a:lnTo>
                <a:lnTo>
                  <a:pt x="32569" y="40431"/>
                </a:lnTo>
                <a:lnTo>
                  <a:pt x="48255" y="16764"/>
                </a:lnTo>
                <a:lnTo>
                  <a:pt x="40472" y="12820"/>
                </a:lnTo>
                <a:close/>
              </a:path>
            </a:pathLst>
          </a:custGeom>
          <a:solidFill>
            <a:srgbClr val="ded5c5"/>
          </a:solidFill>
          <a:ln w="6191">
            <a:solidFill>
              <a:srgbClr val="b5a68d"/>
            </a:solidFill>
            <a:round/>
          </a:ln>
        </p:spPr>
        <p:style>
          <a:lnRef idx="0"/>
          <a:fillRef idx="0"/>
          <a:effectRef idx="0"/>
          <a:fontRef idx="minor"/>
        </p:style>
        <p:txBody>
          <a:bodyPr lIns="90000" rIns="90000" tIns="-5040" bIns="-5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09" name="วัดสิงห์"/>
          <p:cNvSpPr/>
          <p:nvPr/>
        </p:nvSpPr>
        <p:spPr>
          <a:xfrm>
            <a:off x="4266720" y="6205320"/>
            <a:ext cx="14760" cy="12240"/>
          </a:xfrm>
          <a:custGeom>
            <a:avLst/>
            <a:gdLst/>
            <a:ahLst/>
            <a:rect l="l" t="t" r="r" b="b"/>
            <a:pathLst>
              <a:path w="15087" h="12696">
                <a:moveTo>
                  <a:pt x="120" y="4807"/>
                </a:moveTo>
                <a:lnTo>
                  <a:pt x="0" y="8012"/>
                </a:lnTo>
                <a:lnTo>
                  <a:pt x="4191" y="12696"/>
                </a:lnTo>
                <a:lnTo>
                  <a:pt x="15087" y="2958"/>
                </a:lnTo>
                <a:lnTo>
                  <a:pt x="12213" y="0"/>
                </a:lnTo>
                <a:lnTo>
                  <a:pt x="4909" y="6163"/>
                </a:lnTo>
                <a:lnTo>
                  <a:pt x="120" y="4807"/>
                </a:lnTo>
                <a:close/>
              </a:path>
            </a:pathLst>
          </a:custGeom>
          <a:solidFill>
            <a:srgbClr val="ded5c5"/>
          </a:solidFill>
          <a:ln w="6191">
            <a:solidFill>
              <a:srgbClr val="b5a68d"/>
            </a:solidFill>
            <a:round/>
          </a:ln>
        </p:spPr>
        <p:style>
          <a:lnRef idx="0"/>
          <a:fillRef idx="0"/>
          <a:effectRef idx="0"/>
          <a:fontRef idx="minor"/>
        </p:style>
        <p:txBody>
          <a:bodyPr lIns="90000" rIns="90000" tIns="-32760" bIns="-32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10" name="คุ้งข้าวหลาม"/>
          <p:cNvSpPr/>
          <p:nvPr/>
        </p:nvSpPr>
        <p:spPr>
          <a:xfrm>
            <a:off x="4321800" y="6172560"/>
            <a:ext cx="20880" cy="17280"/>
          </a:xfrm>
          <a:custGeom>
            <a:avLst/>
            <a:gdLst/>
            <a:ahLst/>
            <a:rect l="l" t="t" r="r" b="b"/>
            <a:pathLst>
              <a:path w="21194" h="17627">
                <a:moveTo>
                  <a:pt x="0" y="3944"/>
                </a:moveTo>
                <a:lnTo>
                  <a:pt x="11974" y="15655"/>
                </a:lnTo>
                <a:lnTo>
                  <a:pt x="19997" y="17627"/>
                </a:lnTo>
                <a:lnTo>
                  <a:pt x="21194" y="14052"/>
                </a:lnTo>
                <a:lnTo>
                  <a:pt x="4790" y="0"/>
                </a:lnTo>
                <a:lnTo>
                  <a:pt x="0" y="3944"/>
                </a:lnTo>
                <a:close/>
              </a:path>
            </a:pathLst>
          </a:custGeom>
          <a:solidFill>
            <a:srgbClr val="ded5c5"/>
          </a:solidFill>
          <a:ln w="6191">
            <a:solidFill>
              <a:srgbClr val="b5a68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11" name="ซอยร่วมสุข"/>
          <p:cNvSpPr/>
          <p:nvPr/>
        </p:nvSpPr>
        <p:spPr>
          <a:xfrm>
            <a:off x="4364280" y="5980680"/>
            <a:ext cx="56160" cy="53280"/>
          </a:xfrm>
          <a:custGeom>
            <a:avLst/>
            <a:gdLst/>
            <a:ahLst/>
            <a:rect l="l" t="t" r="r" b="b"/>
            <a:pathLst>
              <a:path w="56517" h="53743">
                <a:moveTo>
                  <a:pt x="20835" y="0"/>
                </a:moveTo>
                <a:lnTo>
                  <a:pt x="0" y="25393"/>
                </a:lnTo>
                <a:lnTo>
                  <a:pt x="17482" y="31802"/>
                </a:lnTo>
                <a:lnTo>
                  <a:pt x="10178" y="42650"/>
                </a:lnTo>
                <a:lnTo>
                  <a:pt x="13770" y="44868"/>
                </a:lnTo>
                <a:lnTo>
                  <a:pt x="19039" y="37349"/>
                </a:lnTo>
                <a:lnTo>
                  <a:pt x="22990" y="39938"/>
                </a:lnTo>
                <a:lnTo>
                  <a:pt x="25624" y="35623"/>
                </a:lnTo>
                <a:lnTo>
                  <a:pt x="31971" y="39075"/>
                </a:lnTo>
                <a:lnTo>
                  <a:pt x="28738" y="44499"/>
                </a:lnTo>
                <a:lnTo>
                  <a:pt x="35443" y="48320"/>
                </a:lnTo>
                <a:lnTo>
                  <a:pt x="38796" y="43019"/>
                </a:lnTo>
                <a:lnTo>
                  <a:pt x="52566" y="51648"/>
                </a:lnTo>
                <a:lnTo>
                  <a:pt x="51608" y="52757"/>
                </a:lnTo>
                <a:lnTo>
                  <a:pt x="53045" y="53743"/>
                </a:lnTo>
                <a:lnTo>
                  <a:pt x="56517" y="49552"/>
                </a:lnTo>
                <a:lnTo>
                  <a:pt x="49812" y="43882"/>
                </a:lnTo>
                <a:lnTo>
                  <a:pt x="50530" y="42526"/>
                </a:lnTo>
                <a:lnTo>
                  <a:pt x="37119" y="35377"/>
                </a:lnTo>
                <a:lnTo>
                  <a:pt x="48974" y="17380"/>
                </a:lnTo>
                <a:lnTo>
                  <a:pt x="42987" y="13806"/>
                </a:lnTo>
                <a:lnTo>
                  <a:pt x="42029" y="15038"/>
                </a:lnTo>
                <a:lnTo>
                  <a:pt x="40472" y="14052"/>
                </a:lnTo>
                <a:lnTo>
                  <a:pt x="41550" y="12573"/>
                </a:lnTo>
                <a:lnTo>
                  <a:pt x="40592" y="11217"/>
                </a:lnTo>
                <a:lnTo>
                  <a:pt x="20835" y="0"/>
                </a:lnTo>
                <a:close/>
              </a:path>
            </a:pathLst>
          </a:custGeom>
          <a:solidFill>
            <a:srgbClr val="ded5c5"/>
          </a:solidFill>
          <a:ln w="6191">
            <a:solidFill>
              <a:srgbClr val="b5a68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12" name="หมู่บ้านภาวนา"/>
          <p:cNvSpPr/>
          <p:nvPr/>
        </p:nvSpPr>
        <p:spPr>
          <a:xfrm>
            <a:off x="5933160" y="4710960"/>
            <a:ext cx="9360" cy="23040"/>
          </a:xfrm>
          <a:custGeom>
            <a:avLst/>
            <a:gdLst/>
            <a:ahLst/>
            <a:rect l="l" t="t" r="r" b="b"/>
            <a:pathLst>
              <a:path w="9579" h="23297">
                <a:moveTo>
                  <a:pt x="1557" y="123"/>
                </a:moveTo>
                <a:lnTo>
                  <a:pt x="0" y="22804"/>
                </a:lnTo>
                <a:lnTo>
                  <a:pt x="9220" y="23297"/>
                </a:lnTo>
                <a:lnTo>
                  <a:pt x="9579" y="16271"/>
                </a:lnTo>
                <a:lnTo>
                  <a:pt x="3951" y="15778"/>
                </a:lnTo>
                <a:lnTo>
                  <a:pt x="5628" y="4684"/>
                </a:lnTo>
                <a:lnTo>
                  <a:pt x="6945" y="4684"/>
                </a:lnTo>
                <a:lnTo>
                  <a:pt x="8262" y="0"/>
                </a:lnTo>
                <a:lnTo>
                  <a:pt x="1557" y="123"/>
                </a:lnTo>
                <a:close/>
              </a:path>
            </a:pathLst>
          </a:custGeom>
          <a:solidFill>
            <a:srgbClr val="ded5c5"/>
          </a:solidFill>
          <a:ln w="6191">
            <a:solidFill>
              <a:srgbClr val="b5a68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13" name="หมู่บ้านเรือนทอง 3"/>
          <p:cNvSpPr/>
          <p:nvPr/>
        </p:nvSpPr>
        <p:spPr>
          <a:xfrm>
            <a:off x="6121440" y="4680360"/>
            <a:ext cx="62640" cy="9360"/>
          </a:xfrm>
          <a:custGeom>
            <a:avLst/>
            <a:gdLst/>
            <a:ahLst/>
            <a:rect l="l" t="t" r="r" b="b"/>
            <a:pathLst>
              <a:path w="63103" h="9738">
                <a:moveTo>
                  <a:pt x="34725" y="8382"/>
                </a:moveTo>
                <a:lnTo>
                  <a:pt x="62504" y="7149"/>
                </a:lnTo>
                <a:lnTo>
                  <a:pt x="63103" y="0"/>
                </a:lnTo>
                <a:lnTo>
                  <a:pt x="0" y="3205"/>
                </a:lnTo>
                <a:lnTo>
                  <a:pt x="120" y="9738"/>
                </a:lnTo>
                <a:lnTo>
                  <a:pt x="34725" y="8382"/>
                </a:lnTo>
                <a:close/>
              </a:path>
            </a:pathLst>
          </a:custGeom>
          <a:solidFill>
            <a:srgbClr val="ded5c5"/>
          </a:solidFill>
          <a:ln w="6191">
            <a:solidFill>
              <a:srgbClr val="b5a68d"/>
            </a:solidFill>
            <a:round/>
          </a:ln>
        </p:spPr>
        <p:style>
          <a:lnRef idx="0"/>
          <a:fillRef idx="0"/>
          <a:effectRef idx="0"/>
          <a:fontRef idx="minor"/>
        </p:style>
        <p:txBody>
          <a:bodyPr lIns="90000" rIns="90000" tIns="-35640" bIns="-35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14" name="หมู่บ้านเอื้อประชา"/>
          <p:cNvSpPr/>
          <p:nvPr/>
        </p:nvSpPr>
        <p:spPr>
          <a:xfrm>
            <a:off x="6074280" y="4726080"/>
            <a:ext cx="20520" cy="38160"/>
          </a:xfrm>
          <a:custGeom>
            <a:avLst/>
            <a:gdLst/>
            <a:ahLst/>
            <a:rect l="l" t="t" r="r" b="b"/>
            <a:pathLst>
              <a:path w="20954" h="38459">
                <a:moveTo>
                  <a:pt x="13890" y="0"/>
                </a:moveTo>
                <a:lnTo>
                  <a:pt x="0" y="34268"/>
                </a:lnTo>
                <a:lnTo>
                  <a:pt x="6107" y="38459"/>
                </a:lnTo>
                <a:lnTo>
                  <a:pt x="20954" y="3082"/>
                </a:lnTo>
                <a:lnTo>
                  <a:pt x="13890" y="0"/>
                </a:lnTo>
                <a:close/>
              </a:path>
            </a:pathLst>
          </a:custGeom>
          <a:solidFill>
            <a:srgbClr val="ded5c5"/>
          </a:solidFill>
          <a:ln w="6191">
            <a:solidFill>
              <a:srgbClr val="b5a68d"/>
            </a:solidFill>
            <a:round/>
          </a:ln>
        </p:spPr>
        <p:style>
          <a:lnRef idx="0"/>
          <a:fillRef idx="0"/>
          <a:effectRef idx="0"/>
          <a:fontRef idx="minor"/>
        </p:style>
        <p:txBody>
          <a:bodyPr lIns="90000" rIns="90000" tIns="-6840" bIns="-6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15" name="หมู่บ้านเฟรนชิพ"/>
          <p:cNvSpPr/>
          <p:nvPr/>
        </p:nvSpPr>
        <p:spPr>
          <a:xfrm>
            <a:off x="6306480" y="4317840"/>
            <a:ext cx="61920" cy="67320"/>
          </a:xfrm>
          <a:custGeom>
            <a:avLst/>
            <a:gdLst/>
            <a:ahLst/>
            <a:rect l="l" t="t" r="r" b="b"/>
            <a:pathLst>
              <a:path w="62145" h="67672">
                <a:moveTo>
                  <a:pt x="33647" y="0"/>
                </a:moveTo>
                <a:lnTo>
                  <a:pt x="31851" y="3575"/>
                </a:lnTo>
                <a:lnTo>
                  <a:pt x="28259" y="3082"/>
                </a:lnTo>
                <a:lnTo>
                  <a:pt x="24187" y="9861"/>
                </a:lnTo>
                <a:lnTo>
                  <a:pt x="15686" y="8752"/>
                </a:lnTo>
                <a:lnTo>
                  <a:pt x="16165" y="5424"/>
                </a:lnTo>
                <a:lnTo>
                  <a:pt x="9220" y="4438"/>
                </a:lnTo>
                <a:lnTo>
                  <a:pt x="4550" y="27858"/>
                </a:lnTo>
                <a:lnTo>
                  <a:pt x="24187" y="29953"/>
                </a:lnTo>
                <a:lnTo>
                  <a:pt x="23230" y="34637"/>
                </a:lnTo>
                <a:lnTo>
                  <a:pt x="25145" y="34761"/>
                </a:lnTo>
                <a:lnTo>
                  <a:pt x="25026" y="36733"/>
                </a:lnTo>
                <a:lnTo>
                  <a:pt x="29456" y="37349"/>
                </a:lnTo>
                <a:lnTo>
                  <a:pt x="28618" y="43636"/>
                </a:lnTo>
                <a:lnTo>
                  <a:pt x="30773" y="43882"/>
                </a:lnTo>
                <a:lnTo>
                  <a:pt x="30055" y="49183"/>
                </a:lnTo>
                <a:lnTo>
                  <a:pt x="479" y="45854"/>
                </a:lnTo>
                <a:lnTo>
                  <a:pt x="0" y="49306"/>
                </a:lnTo>
                <a:lnTo>
                  <a:pt x="28498" y="52141"/>
                </a:lnTo>
                <a:lnTo>
                  <a:pt x="28738" y="49799"/>
                </a:lnTo>
                <a:lnTo>
                  <a:pt x="45621" y="51771"/>
                </a:lnTo>
                <a:lnTo>
                  <a:pt x="45860" y="56825"/>
                </a:lnTo>
                <a:lnTo>
                  <a:pt x="40592" y="58181"/>
                </a:lnTo>
                <a:lnTo>
                  <a:pt x="41071" y="62988"/>
                </a:lnTo>
                <a:lnTo>
                  <a:pt x="50410" y="62372"/>
                </a:lnTo>
                <a:lnTo>
                  <a:pt x="49572" y="67672"/>
                </a:lnTo>
                <a:lnTo>
                  <a:pt x="57595" y="66933"/>
                </a:lnTo>
                <a:lnTo>
                  <a:pt x="57355" y="65084"/>
                </a:lnTo>
                <a:lnTo>
                  <a:pt x="50530" y="65330"/>
                </a:lnTo>
                <a:lnTo>
                  <a:pt x="51847" y="57688"/>
                </a:lnTo>
                <a:lnTo>
                  <a:pt x="59151" y="57441"/>
                </a:lnTo>
                <a:lnTo>
                  <a:pt x="59032" y="52264"/>
                </a:lnTo>
                <a:lnTo>
                  <a:pt x="56397" y="52388"/>
                </a:lnTo>
                <a:lnTo>
                  <a:pt x="56397" y="56825"/>
                </a:lnTo>
                <a:lnTo>
                  <a:pt x="46699" y="56948"/>
                </a:lnTo>
                <a:lnTo>
                  <a:pt x="45621" y="51155"/>
                </a:lnTo>
                <a:lnTo>
                  <a:pt x="30893" y="49429"/>
                </a:lnTo>
                <a:lnTo>
                  <a:pt x="31492" y="43759"/>
                </a:lnTo>
                <a:lnTo>
                  <a:pt x="33767" y="44129"/>
                </a:lnTo>
                <a:lnTo>
                  <a:pt x="35204" y="28844"/>
                </a:lnTo>
                <a:lnTo>
                  <a:pt x="58673" y="31556"/>
                </a:lnTo>
                <a:lnTo>
                  <a:pt x="60588" y="29337"/>
                </a:lnTo>
                <a:lnTo>
                  <a:pt x="62145" y="13806"/>
                </a:lnTo>
                <a:lnTo>
                  <a:pt x="48974" y="11464"/>
                </a:lnTo>
                <a:lnTo>
                  <a:pt x="44184" y="1356"/>
                </a:lnTo>
                <a:lnTo>
                  <a:pt x="33647" y="0"/>
                </a:lnTo>
                <a:close/>
              </a:path>
            </a:pathLst>
          </a:custGeom>
          <a:solidFill>
            <a:srgbClr val="ded5c5"/>
          </a:solidFill>
          <a:ln w="6191">
            <a:solidFill>
              <a:srgbClr val="b5a68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16" name="หมู่บ้านรวมโชค"/>
          <p:cNvSpPr/>
          <p:nvPr/>
        </p:nvSpPr>
        <p:spPr>
          <a:xfrm>
            <a:off x="6063840" y="4534920"/>
            <a:ext cx="141840" cy="101520"/>
          </a:xfrm>
          <a:custGeom>
            <a:avLst/>
            <a:gdLst/>
            <a:ahLst/>
            <a:rect l="l" t="t" r="r" b="b"/>
            <a:pathLst>
              <a:path w="142251" h="101940">
                <a:moveTo>
                  <a:pt x="112915" y="13313"/>
                </a:moveTo>
                <a:lnTo>
                  <a:pt x="113034" y="31433"/>
                </a:lnTo>
                <a:lnTo>
                  <a:pt x="89925" y="33281"/>
                </a:lnTo>
                <a:lnTo>
                  <a:pt x="89446" y="28474"/>
                </a:lnTo>
                <a:lnTo>
                  <a:pt x="96031" y="27981"/>
                </a:lnTo>
                <a:lnTo>
                  <a:pt x="95672" y="22681"/>
                </a:lnTo>
                <a:lnTo>
                  <a:pt x="73999" y="25023"/>
                </a:lnTo>
                <a:lnTo>
                  <a:pt x="73041" y="18366"/>
                </a:lnTo>
                <a:lnTo>
                  <a:pt x="75197" y="16887"/>
                </a:lnTo>
                <a:lnTo>
                  <a:pt x="75197" y="0"/>
                </a:lnTo>
                <a:lnTo>
                  <a:pt x="39394" y="1726"/>
                </a:lnTo>
                <a:lnTo>
                  <a:pt x="40233" y="10971"/>
                </a:lnTo>
                <a:lnTo>
                  <a:pt x="34844" y="11340"/>
                </a:lnTo>
                <a:lnTo>
                  <a:pt x="35802" y="17750"/>
                </a:lnTo>
                <a:lnTo>
                  <a:pt x="21194" y="19846"/>
                </a:lnTo>
                <a:lnTo>
                  <a:pt x="20476" y="15778"/>
                </a:lnTo>
                <a:lnTo>
                  <a:pt x="12812" y="16764"/>
                </a:lnTo>
                <a:lnTo>
                  <a:pt x="13052" y="18613"/>
                </a:lnTo>
                <a:lnTo>
                  <a:pt x="10537" y="18736"/>
                </a:lnTo>
                <a:lnTo>
                  <a:pt x="10178" y="17011"/>
                </a:lnTo>
                <a:lnTo>
                  <a:pt x="5388" y="17011"/>
                </a:lnTo>
                <a:lnTo>
                  <a:pt x="5029" y="33035"/>
                </a:lnTo>
                <a:lnTo>
                  <a:pt x="0" y="33775"/>
                </a:lnTo>
                <a:lnTo>
                  <a:pt x="0" y="47580"/>
                </a:lnTo>
                <a:lnTo>
                  <a:pt x="21074" y="45731"/>
                </a:lnTo>
                <a:lnTo>
                  <a:pt x="51967" y="38705"/>
                </a:lnTo>
                <a:lnTo>
                  <a:pt x="53763" y="53250"/>
                </a:lnTo>
                <a:lnTo>
                  <a:pt x="76394" y="48197"/>
                </a:lnTo>
                <a:lnTo>
                  <a:pt x="78909" y="62618"/>
                </a:lnTo>
                <a:lnTo>
                  <a:pt x="86692" y="61386"/>
                </a:lnTo>
                <a:lnTo>
                  <a:pt x="84776" y="47457"/>
                </a:lnTo>
                <a:lnTo>
                  <a:pt x="93397" y="45608"/>
                </a:lnTo>
                <a:lnTo>
                  <a:pt x="92679" y="34514"/>
                </a:lnTo>
                <a:lnTo>
                  <a:pt x="109442" y="32788"/>
                </a:lnTo>
                <a:lnTo>
                  <a:pt x="109801" y="72110"/>
                </a:lnTo>
                <a:lnTo>
                  <a:pt x="112436" y="101940"/>
                </a:lnTo>
                <a:lnTo>
                  <a:pt x="119141" y="101324"/>
                </a:lnTo>
                <a:lnTo>
                  <a:pt x="119740" y="94914"/>
                </a:lnTo>
                <a:lnTo>
                  <a:pt x="134827" y="91709"/>
                </a:lnTo>
                <a:lnTo>
                  <a:pt x="137940" y="89613"/>
                </a:lnTo>
                <a:lnTo>
                  <a:pt x="139018" y="51525"/>
                </a:lnTo>
                <a:lnTo>
                  <a:pt x="142251" y="50785"/>
                </a:lnTo>
                <a:lnTo>
                  <a:pt x="141652" y="34391"/>
                </a:lnTo>
                <a:lnTo>
                  <a:pt x="139856" y="33528"/>
                </a:lnTo>
                <a:lnTo>
                  <a:pt x="139018" y="21695"/>
                </a:lnTo>
                <a:lnTo>
                  <a:pt x="126326" y="22188"/>
                </a:lnTo>
                <a:lnTo>
                  <a:pt x="125966" y="12326"/>
                </a:lnTo>
                <a:lnTo>
                  <a:pt x="112915" y="1331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17" name="อาคารสงเคราะห์ ลาดพร้าว 71"/>
          <p:cNvSpPr/>
          <p:nvPr/>
        </p:nvSpPr>
        <p:spPr>
          <a:xfrm>
            <a:off x="6229800" y="4487400"/>
            <a:ext cx="4320" cy="10080"/>
          </a:xfrm>
          <a:custGeom>
            <a:avLst/>
            <a:gdLst/>
            <a:ahLst/>
            <a:rect l="l" t="t" r="r" b="b"/>
            <a:pathLst>
              <a:path w="4670" h="10477">
                <a:moveTo>
                  <a:pt x="0" y="9861"/>
                </a:moveTo>
                <a:lnTo>
                  <a:pt x="2395" y="10477"/>
                </a:lnTo>
                <a:lnTo>
                  <a:pt x="4670" y="493"/>
                </a:lnTo>
                <a:lnTo>
                  <a:pt x="1796" y="0"/>
                </a:lnTo>
                <a:lnTo>
                  <a:pt x="0" y="9861"/>
                </a:lnTo>
                <a:close/>
              </a:path>
            </a:pathLst>
          </a:custGeom>
          <a:solidFill>
            <a:srgbClr val="ded5c5"/>
          </a:solidFill>
          <a:ln w="6191">
            <a:solidFill>
              <a:srgbClr val="b5a68d"/>
            </a:solidFill>
            <a:round/>
          </a:ln>
        </p:spPr>
        <p:style>
          <a:lnRef idx="0"/>
          <a:fillRef idx="0"/>
          <a:effectRef idx="0"/>
          <a:fontRef idx="minor"/>
        </p:style>
        <p:txBody>
          <a:bodyPr lIns="90000" rIns="90000" tIns="-34920" bIns="-34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18" name="หมู่บ้านมหาลาภ"/>
          <p:cNvSpPr/>
          <p:nvPr/>
        </p:nvSpPr>
        <p:spPr>
          <a:xfrm>
            <a:off x="6063840" y="4711680"/>
            <a:ext cx="25560" cy="48240"/>
          </a:xfrm>
          <a:custGeom>
            <a:avLst/>
            <a:gdLst/>
            <a:ahLst/>
            <a:rect l="l" t="t" r="r" b="b"/>
            <a:pathLst>
              <a:path w="25744" h="48566">
                <a:moveTo>
                  <a:pt x="18320" y="29830"/>
                </a:moveTo>
                <a:lnTo>
                  <a:pt x="25744" y="11833"/>
                </a:lnTo>
                <a:lnTo>
                  <a:pt x="18679" y="9984"/>
                </a:lnTo>
                <a:lnTo>
                  <a:pt x="20116" y="0"/>
                </a:lnTo>
                <a:lnTo>
                  <a:pt x="7544" y="247"/>
                </a:lnTo>
                <a:lnTo>
                  <a:pt x="8023" y="15285"/>
                </a:lnTo>
                <a:lnTo>
                  <a:pt x="5149" y="14668"/>
                </a:lnTo>
                <a:lnTo>
                  <a:pt x="1676" y="34391"/>
                </a:lnTo>
                <a:lnTo>
                  <a:pt x="2993" y="34637"/>
                </a:lnTo>
                <a:lnTo>
                  <a:pt x="0" y="44005"/>
                </a:lnTo>
                <a:lnTo>
                  <a:pt x="10417" y="48566"/>
                </a:lnTo>
                <a:lnTo>
                  <a:pt x="18320" y="29830"/>
                </a:lnTo>
                <a:close/>
              </a:path>
            </a:pathLst>
          </a:custGeom>
          <a:solidFill>
            <a:srgbClr val="ded5c5"/>
          </a:solidFill>
          <a:ln w="6191">
            <a:solidFill>
              <a:srgbClr val="b5a68d"/>
            </a:solidFill>
            <a:round/>
          </a:ln>
        </p:spPr>
        <p:style>
          <a:lnRef idx="0"/>
          <a:fillRef idx="0"/>
          <a:effectRef idx="0"/>
          <a:fontRef idx="minor"/>
        </p:style>
        <p:txBody>
          <a:bodyPr lIns="90000" rIns="90000" tIns="3240" bIns="3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19" name="พุ่มโพธิ์กลาง"/>
          <p:cNvSpPr/>
          <p:nvPr/>
        </p:nvSpPr>
        <p:spPr>
          <a:xfrm>
            <a:off x="6110640" y="4691880"/>
            <a:ext cx="75960" cy="9360"/>
          </a:xfrm>
          <a:custGeom>
            <a:avLst/>
            <a:gdLst/>
            <a:ahLst/>
            <a:rect l="l" t="t" r="r" b="b"/>
            <a:pathLst>
              <a:path w="76394" h="9738">
                <a:moveTo>
                  <a:pt x="50889" y="6656"/>
                </a:moveTo>
                <a:lnTo>
                  <a:pt x="64779" y="5547"/>
                </a:lnTo>
                <a:lnTo>
                  <a:pt x="64899" y="8382"/>
                </a:lnTo>
                <a:lnTo>
                  <a:pt x="66815" y="8382"/>
                </a:lnTo>
                <a:lnTo>
                  <a:pt x="66575" y="5177"/>
                </a:lnTo>
                <a:lnTo>
                  <a:pt x="76035" y="3944"/>
                </a:lnTo>
                <a:lnTo>
                  <a:pt x="76394" y="0"/>
                </a:lnTo>
                <a:lnTo>
                  <a:pt x="7184" y="4068"/>
                </a:lnTo>
                <a:lnTo>
                  <a:pt x="7304" y="6163"/>
                </a:lnTo>
                <a:lnTo>
                  <a:pt x="0" y="6533"/>
                </a:lnTo>
                <a:lnTo>
                  <a:pt x="239" y="9245"/>
                </a:lnTo>
                <a:lnTo>
                  <a:pt x="18679" y="9738"/>
                </a:lnTo>
                <a:lnTo>
                  <a:pt x="50889" y="6656"/>
                </a:lnTo>
                <a:close/>
              </a:path>
            </a:pathLst>
          </a:custGeom>
          <a:solidFill>
            <a:srgbClr val="ded5c5"/>
          </a:solidFill>
          <a:ln w="6191">
            <a:solidFill>
              <a:srgbClr val="b5a68d"/>
            </a:solidFill>
            <a:round/>
          </a:ln>
        </p:spPr>
        <p:style>
          <a:lnRef idx="0"/>
          <a:fillRef idx="0"/>
          <a:effectRef idx="0"/>
          <a:fontRef idx="minor"/>
        </p:style>
        <p:txBody>
          <a:bodyPr lIns="90000" rIns="90000" tIns="-35640" bIns="-35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20" name="หมู่บ้านเพิ่มพูน"/>
          <p:cNvSpPr/>
          <p:nvPr/>
        </p:nvSpPr>
        <p:spPr>
          <a:xfrm>
            <a:off x="6189840" y="4546440"/>
            <a:ext cx="19080" cy="10080"/>
          </a:xfrm>
          <a:custGeom>
            <a:avLst/>
            <a:gdLst/>
            <a:ahLst/>
            <a:rect l="l" t="t" r="r" b="b"/>
            <a:pathLst>
              <a:path w="19278" h="10354">
                <a:moveTo>
                  <a:pt x="18799" y="9861"/>
                </a:moveTo>
                <a:lnTo>
                  <a:pt x="19278" y="0"/>
                </a:lnTo>
                <a:lnTo>
                  <a:pt x="0" y="740"/>
                </a:lnTo>
                <a:lnTo>
                  <a:pt x="599" y="10354"/>
                </a:lnTo>
                <a:lnTo>
                  <a:pt x="18799" y="9861"/>
                </a:lnTo>
                <a:close/>
              </a:path>
            </a:pathLst>
          </a:custGeom>
          <a:solidFill>
            <a:srgbClr val="ded5c5"/>
          </a:solidFill>
          <a:ln w="6191">
            <a:solidFill>
              <a:srgbClr val="b5a68d"/>
            </a:solidFill>
            <a:round/>
          </a:ln>
        </p:spPr>
        <p:style>
          <a:lnRef idx="0"/>
          <a:fillRef idx="0"/>
          <a:effectRef idx="0"/>
          <a:fontRef idx="minor"/>
        </p:style>
        <p:txBody>
          <a:bodyPr lIns="90000" rIns="90000" tIns="-34920" bIns="-34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21" name="หมู่บ้านธนะธานี"/>
          <p:cNvSpPr/>
          <p:nvPr/>
        </p:nvSpPr>
        <p:spPr>
          <a:xfrm>
            <a:off x="6361560" y="4449240"/>
            <a:ext cx="7920" cy="28800"/>
          </a:xfrm>
          <a:custGeom>
            <a:avLst/>
            <a:gdLst/>
            <a:ahLst/>
            <a:rect l="l" t="t" r="r" b="b"/>
            <a:pathLst>
              <a:path w="8142" h="29337">
                <a:moveTo>
                  <a:pt x="8142" y="0"/>
                </a:moveTo>
                <a:lnTo>
                  <a:pt x="1557" y="863"/>
                </a:lnTo>
                <a:lnTo>
                  <a:pt x="0" y="29090"/>
                </a:lnTo>
                <a:lnTo>
                  <a:pt x="2874" y="29337"/>
                </a:lnTo>
                <a:lnTo>
                  <a:pt x="2874" y="26995"/>
                </a:lnTo>
                <a:lnTo>
                  <a:pt x="6945" y="26995"/>
                </a:lnTo>
                <a:lnTo>
                  <a:pt x="8142" y="0"/>
                </a:lnTo>
                <a:close/>
              </a:path>
            </a:pathLst>
          </a:custGeom>
          <a:solidFill>
            <a:srgbClr val="ded5c5"/>
          </a:solidFill>
          <a:ln w="6191">
            <a:solidFill>
              <a:srgbClr val="b5a68d"/>
            </a:solidFill>
            <a:round/>
          </a:ln>
        </p:spPr>
        <p:style>
          <a:lnRef idx="0"/>
          <a:fillRef idx="0"/>
          <a:effectRef idx="0"/>
          <a:fontRef idx="minor"/>
        </p:style>
        <p:txBody>
          <a:bodyPr lIns="90000" rIns="90000" tIns="-16200" bIns="-16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22" name="หมู่บ้านเจริญสุขนิเวศน์ 1"/>
          <p:cNvSpPr/>
          <p:nvPr/>
        </p:nvSpPr>
        <p:spPr>
          <a:xfrm>
            <a:off x="6011280" y="4350960"/>
            <a:ext cx="43920" cy="7560"/>
          </a:xfrm>
          <a:custGeom>
            <a:avLst/>
            <a:gdLst/>
            <a:ahLst/>
            <a:rect l="l" t="t" r="r" b="b"/>
            <a:pathLst>
              <a:path w="44304" h="8012">
                <a:moveTo>
                  <a:pt x="2515" y="0"/>
                </a:moveTo>
                <a:lnTo>
                  <a:pt x="1078" y="123"/>
                </a:lnTo>
                <a:lnTo>
                  <a:pt x="0" y="6410"/>
                </a:lnTo>
                <a:lnTo>
                  <a:pt x="42867" y="8012"/>
                </a:lnTo>
                <a:lnTo>
                  <a:pt x="44304" y="2342"/>
                </a:lnTo>
                <a:lnTo>
                  <a:pt x="2515" y="0"/>
                </a:lnTo>
                <a:close/>
              </a:path>
            </a:pathLst>
          </a:custGeom>
          <a:solidFill>
            <a:srgbClr val="ded5c5"/>
          </a:solidFill>
          <a:ln w="6191">
            <a:solidFill>
              <a:srgbClr val="b5a68d"/>
            </a:solidFill>
            <a:round/>
          </a:ln>
        </p:spPr>
        <p:style>
          <a:lnRef idx="0"/>
          <a:fillRef idx="0"/>
          <a:effectRef idx="0"/>
          <a:fontRef idx="minor"/>
        </p:style>
        <p:txBody>
          <a:bodyPr lIns="90000" rIns="90000" tIns="-37440" bIns="-37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23" name="หมู่บ้านราณี 5"/>
          <p:cNvSpPr/>
          <p:nvPr/>
        </p:nvSpPr>
        <p:spPr>
          <a:xfrm>
            <a:off x="6256440" y="4409640"/>
            <a:ext cx="28080" cy="30960"/>
          </a:xfrm>
          <a:custGeom>
            <a:avLst/>
            <a:gdLst/>
            <a:ahLst/>
            <a:rect l="l" t="t" r="r" b="b"/>
            <a:pathLst>
              <a:path w="28498" h="31432">
                <a:moveTo>
                  <a:pt x="120" y="31432"/>
                </a:moveTo>
                <a:lnTo>
                  <a:pt x="19039" y="31186"/>
                </a:lnTo>
                <a:lnTo>
                  <a:pt x="18679" y="21818"/>
                </a:lnTo>
                <a:lnTo>
                  <a:pt x="28498" y="22188"/>
                </a:lnTo>
                <a:lnTo>
                  <a:pt x="28378" y="2835"/>
                </a:lnTo>
                <a:lnTo>
                  <a:pt x="2993" y="0"/>
                </a:lnTo>
                <a:lnTo>
                  <a:pt x="1557" y="10601"/>
                </a:lnTo>
                <a:lnTo>
                  <a:pt x="14010" y="11464"/>
                </a:lnTo>
                <a:lnTo>
                  <a:pt x="14129" y="22434"/>
                </a:lnTo>
                <a:lnTo>
                  <a:pt x="0" y="23174"/>
                </a:lnTo>
                <a:lnTo>
                  <a:pt x="120" y="31432"/>
                </a:lnTo>
                <a:close/>
              </a:path>
            </a:pathLst>
          </a:custGeom>
          <a:solidFill>
            <a:srgbClr val="ded5c5"/>
          </a:solidFill>
          <a:ln w="6191">
            <a:solidFill>
              <a:srgbClr val="b5a68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24" name="หมู่บ้านอยู่เจริญ 3"/>
          <p:cNvSpPr/>
          <p:nvPr/>
        </p:nvSpPr>
        <p:spPr>
          <a:xfrm>
            <a:off x="6121080" y="4687200"/>
            <a:ext cx="65880" cy="8640"/>
          </a:xfrm>
          <a:custGeom>
            <a:avLst/>
            <a:gdLst/>
            <a:ahLst/>
            <a:rect l="l" t="t" r="r" b="b"/>
            <a:pathLst>
              <a:path w="66096" h="8875">
                <a:moveTo>
                  <a:pt x="479" y="3451"/>
                </a:moveTo>
                <a:lnTo>
                  <a:pt x="0" y="8875"/>
                </a:lnTo>
                <a:lnTo>
                  <a:pt x="66096" y="4931"/>
                </a:lnTo>
                <a:lnTo>
                  <a:pt x="63941" y="370"/>
                </a:lnTo>
                <a:lnTo>
                  <a:pt x="59990" y="0"/>
                </a:lnTo>
                <a:lnTo>
                  <a:pt x="479" y="3451"/>
                </a:lnTo>
                <a:close/>
              </a:path>
            </a:pathLst>
          </a:custGeom>
          <a:solidFill>
            <a:srgbClr val="ded5c5"/>
          </a:solidFill>
          <a:ln w="6191">
            <a:solidFill>
              <a:srgbClr val="b5a68d"/>
            </a:solidFill>
            <a:round/>
          </a:ln>
        </p:spPr>
        <p:style>
          <a:lnRef idx="0"/>
          <a:fillRef idx="0"/>
          <a:effectRef idx="0"/>
          <a:fontRef idx="minor"/>
        </p:style>
        <p:txBody>
          <a:bodyPr lIns="90000" rIns="90000" tIns="-36360" bIns="-36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25" name="ลาดพร้าววิลเลจ"/>
          <p:cNvSpPr/>
          <p:nvPr/>
        </p:nvSpPr>
        <p:spPr>
          <a:xfrm>
            <a:off x="6233400" y="4557240"/>
            <a:ext cx="32040" cy="37800"/>
          </a:xfrm>
          <a:custGeom>
            <a:avLst/>
            <a:gdLst/>
            <a:ahLst/>
            <a:rect l="l" t="t" r="r" b="b"/>
            <a:pathLst>
              <a:path w="32330" h="38212">
                <a:moveTo>
                  <a:pt x="2275" y="31063"/>
                </a:moveTo>
                <a:lnTo>
                  <a:pt x="958" y="31186"/>
                </a:lnTo>
                <a:lnTo>
                  <a:pt x="1197" y="34268"/>
                </a:lnTo>
                <a:lnTo>
                  <a:pt x="14129" y="34391"/>
                </a:lnTo>
                <a:lnTo>
                  <a:pt x="14249" y="37719"/>
                </a:lnTo>
                <a:lnTo>
                  <a:pt x="22870" y="38212"/>
                </a:lnTo>
                <a:lnTo>
                  <a:pt x="22990" y="33898"/>
                </a:lnTo>
                <a:lnTo>
                  <a:pt x="31731" y="35377"/>
                </a:lnTo>
                <a:lnTo>
                  <a:pt x="32330" y="493"/>
                </a:lnTo>
                <a:lnTo>
                  <a:pt x="22631" y="0"/>
                </a:lnTo>
                <a:lnTo>
                  <a:pt x="22870" y="11587"/>
                </a:lnTo>
                <a:lnTo>
                  <a:pt x="14489" y="11710"/>
                </a:lnTo>
                <a:lnTo>
                  <a:pt x="14010" y="26872"/>
                </a:lnTo>
                <a:lnTo>
                  <a:pt x="0" y="26502"/>
                </a:lnTo>
                <a:lnTo>
                  <a:pt x="0" y="28967"/>
                </a:lnTo>
                <a:lnTo>
                  <a:pt x="2515" y="28721"/>
                </a:lnTo>
                <a:lnTo>
                  <a:pt x="2275" y="31063"/>
                </a:lnTo>
                <a:close/>
              </a:path>
            </a:pathLst>
          </a:custGeom>
          <a:solidFill>
            <a:srgbClr val="ded5c5"/>
          </a:solidFill>
          <a:ln w="6191">
            <a:solidFill>
              <a:srgbClr val="b5a68d"/>
            </a:solidFill>
            <a:round/>
          </a:ln>
        </p:spPr>
        <p:style>
          <a:lnRef idx="0"/>
          <a:fillRef idx="0"/>
          <a:effectRef idx="0"/>
          <a:fontRef idx="minor"/>
        </p:style>
        <p:txBody>
          <a:bodyPr lIns="90000" rIns="90000" tIns="-7200" bIns="-7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26" name="หมู่บ้านชื่นกมลนิเวศน์ 1"/>
          <p:cNvSpPr/>
          <p:nvPr/>
        </p:nvSpPr>
        <p:spPr>
          <a:xfrm>
            <a:off x="5506920" y="3831120"/>
            <a:ext cx="20160" cy="21600"/>
          </a:xfrm>
          <a:custGeom>
            <a:avLst/>
            <a:gdLst/>
            <a:ahLst/>
            <a:rect l="l" t="t" r="r" b="b"/>
            <a:pathLst>
              <a:path w="20476" h="22064">
                <a:moveTo>
                  <a:pt x="838" y="7766"/>
                </a:moveTo>
                <a:lnTo>
                  <a:pt x="0" y="11340"/>
                </a:lnTo>
                <a:lnTo>
                  <a:pt x="5987" y="11833"/>
                </a:lnTo>
                <a:lnTo>
                  <a:pt x="5748" y="15531"/>
                </a:lnTo>
                <a:lnTo>
                  <a:pt x="11256" y="16271"/>
                </a:lnTo>
                <a:lnTo>
                  <a:pt x="10657" y="19846"/>
                </a:lnTo>
                <a:lnTo>
                  <a:pt x="15087" y="20339"/>
                </a:lnTo>
                <a:lnTo>
                  <a:pt x="16165" y="22064"/>
                </a:lnTo>
                <a:lnTo>
                  <a:pt x="17961" y="20462"/>
                </a:lnTo>
                <a:lnTo>
                  <a:pt x="20476" y="7642"/>
                </a:lnTo>
                <a:lnTo>
                  <a:pt x="17003" y="5793"/>
                </a:lnTo>
                <a:lnTo>
                  <a:pt x="17243" y="4068"/>
                </a:lnTo>
                <a:lnTo>
                  <a:pt x="19278" y="4684"/>
                </a:lnTo>
                <a:lnTo>
                  <a:pt x="19637" y="3082"/>
                </a:lnTo>
                <a:lnTo>
                  <a:pt x="17482" y="2712"/>
                </a:lnTo>
                <a:lnTo>
                  <a:pt x="17721" y="1109"/>
                </a:lnTo>
                <a:lnTo>
                  <a:pt x="14129" y="0"/>
                </a:lnTo>
                <a:lnTo>
                  <a:pt x="12094" y="10354"/>
                </a:lnTo>
                <a:lnTo>
                  <a:pt x="838" y="7766"/>
                </a:lnTo>
                <a:close/>
              </a:path>
            </a:pathLst>
          </a:custGeom>
          <a:solidFill>
            <a:srgbClr val="ded5c5"/>
          </a:solidFill>
          <a:ln w="6191">
            <a:solidFill>
              <a:srgbClr val="b5a68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27" name="ร่มเย็นพัฒนา"/>
          <p:cNvSpPr/>
          <p:nvPr/>
        </p:nvSpPr>
        <p:spPr>
          <a:xfrm>
            <a:off x="5736960" y="3532320"/>
            <a:ext cx="22680" cy="10440"/>
          </a:xfrm>
          <a:custGeom>
            <a:avLst/>
            <a:gdLst/>
            <a:ahLst/>
            <a:rect l="l" t="t" r="r" b="b"/>
            <a:pathLst>
              <a:path w="23110" h="10971">
                <a:moveTo>
                  <a:pt x="479" y="4438"/>
                </a:moveTo>
                <a:lnTo>
                  <a:pt x="0" y="10477"/>
                </a:lnTo>
                <a:lnTo>
                  <a:pt x="18560" y="10971"/>
                </a:lnTo>
                <a:lnTo>
                  <a:pt x="18799" y="5670"/>
                </a:lnTo>
                <a:lnTo>
                  <a:pt x="22870" y="5424"/>
                </a:lnTo>
                <a:lnTo>
                  <a:pt x="23110" y="1356"/>
                </a:lnTo>
                <a:lnTo>
                  <a:pt x="8502" y="0"/>
                </a:lnTo>
                <a:lnTo>
                  <a:pt x="8262" y="5177"/>
                </a:lnTo>
                <a:lnTo>
                  <a:pt x="479" y="4438"/>
                </a:lnTo>
                <a:close/>
              </a:path>
            </a:pathLst>
          </a:custGeom>
          <a:solidFill>
            <a:srgbClr val="ded5c5"/>
          </a:solidFill>
          <a:ln w="6191">
            <a:solidFill>
              <a:srgbClr val="b5a68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28" name="ยิ้มสยาม"/>
          <p:cNvSpPr/>
          <p:nvPr/>
        </p:nvSpPr>
        <p:spPr>
          <a:xfrm>
            <a:off x="5848560" y="3537720"/>
            <a:ext cx="76320" cy="46440"/>
          </a:xfrm>
          <a:custGeom>
            <a:avLst/>
            <a:gdLst/>
            <a:ahLst/>
            <a:rect l="l" t="t" r="r" b="b"/>
            <a:pathLst>
              <a:path w="76634" h="46964">
                <a:moveTo>
                  <a:pt x="20715" y="11710"/>
                </a:moveTo>
                <a:lnTo>
                  <a:pt x="21912" y="9368"/>
                </a:lnTo>
                <a:lnTo>
                  <a:pt x="359" y="0"/>
                </a:lnTo>
                <a:lnTo>
                  <a:pt x="0" y="9491"/>
                </a:lnTo>
                <a:lnTo>
                  <a:pt x="2275" y="19476"/>
                </a:lnTo>
                <a:lnTo>
                  <a:pt x="15327" y="27611"/>
                </a:lnTo>
                <a:lnTo>
                  <a:pt x="16883" y="24899"/>
                </a:lnTo>
                <a:lnTo>
                  <a:pt x="23469" y="27611"/>
                </a:lnTo>
                <a:lnTo>
                  <a:pt x="25505" y="24530"/>
                </a:lnTo>
                <a:lnTo>
                  <a:pt x="67054" y="43266"/>
                </a:lnTo>
                <a:lnTo>
                  <a:pt x="66336" y="44622"/>
                </a:lnTo>
                <a:lnTo>
                  <a:pt x="71964" y="46964"/>
                </a:lnTo>
                <a:lnTo>
                  <a:pt x="76634" y="37596"/>
                </a:lnTo>
                <a:lnTo>
                  <a:pt x="20715" y="11710"/>
                </a:lnTo>
                <a:close/>
              </a:path>
            </a:pathLst>
          </a:custGeom>
          <a:solidFill>
            <a:srgbClr val="ded5c5"/>
          </a:solidFill>
          <a:ln w="6191">
            <a:solidFill>
              <a:srgbClr val="b5a68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29" name="มีสุข"/>
          <p:cNvSpPr/>
          <p:nvPr/>
        </p:nvSpPr>
        <p:spPr>
          <a:xfrm>
            <a:off x="5800320" y="3568680"/>
            <a:ext cx="35280" cy="56880"/>
          </a:xfrm>
          <a:custGeom>
            <a:avLst/>
            <a:gdLst/>
            <a:ahLst/>
            <a:rect l="l" t="t" r="r" b="b"/>
            <a:pathLst>
              <a:path w="35563" h="57072">
                <a:moveTo>
                  <a:pt x="27061" y="7026"/>
                </a:moveTo>
                <a:lnTo>
                  <a:pt x="8980" y="8135"/>
                </a:lnTo>
                <a:lnTo>
                  <a:pt x="8621" y="15038"/>
                </a:lnTo>
                <a:lnTo>
                  <a:pt x="5269" y="25516"/>
                </a:lnTo>
                <a:lnTo>
                  <a:pt x="1317" y="26255"/>
                </a:lnTo>
                <a:lnTo>
                  <a:pt x="0" y="31926"/>
                </a:lnTo>
                <a:lnTo>
                  <a:pt x="239" y="41910"/>
                </a:lnTo>
                <a:lnTo>
                  <a:pt x="1676" y="42157"/>
                </a:lnTo>
                <a:lnTo>
                  <a:pt x="2155" y="45115"/>
                </a:lnTo>
                <a:lnTo>
                  <a:pt x="1676" y="53004"/>
                </a:lnTo>
                <a:lnTo>
                  <a:pt x="24547" y="57072"/>
                </a:lnTo>
                <a:lnTo>
                  <a:pt x="25265" y="48813"/>
                </a:lnTo>
                <a:lnTo>
                  <a:pt x="28618" y="47087"/>
                </a:lnTo>
                <a:lnTo>
                  <a:pt x="29456" y="33898"/>
                </a:lnTo>
                <a:lnTo>
                  <a:pt x="23349" y="33281"/>
                </a:lnTo>
                <a:lnTo>
                  <a:pt x="27540" y="11094"/>
                </a:lnTo>
                <a:lnTo>
                  <a:pt x="34605" y="11094"/>
                </a:lnTo>
                <a:lnTo>
                  <a:pt x="35563" y="8875"/>
                </a:lnTo>
                <a:lnTo>
                  <a:pt x="35563" y="6780"/>
                </a:lnTo>
                <a:lnTo>
                  <a:pt x="31492" y="7026"/>
                </a:lnTo>
                <a:lnTo>
                  <a:pt x="31132" y="0"/>
                </a:lnTo>
                <a:lnTo>
                  <a:pt x="26463" y="370"/>
                </a:lnTo>
                <a:lnTo>
                  <a:pt x="27061" y="7026"/>
                </a:lnTo>
                <a:close/>
              </a:path>
            </a:pathLst>
          </a:custGeom>
          <a:solidFill>
            <a:srgbClr val="ded5c5"/>
          </a:solidFill>
          <a:ln w="6191">
            <a:solidFill>
              <a:srgbClr val="b5a68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30" name="หมู่บ้านพงษ์เพชรวิลล่า"/>
          <p:cNvSpPr/>
          <p:nvPr/>
        </p:nvSpPr>
        <p:spPr>
          <a:xfrm>
            <a:off x="5717880" y="3552480"/>
            <a:ext cx="37800" cy="12240"/>
          </a:xfrm>
          <a:custGeom>
            <a:avLst/>
            <a:gdLst/>
            <a:ahLst/>
            <a:rect l="l" t="t" r="r" b="b"/>
            <a:pathLst>
              <a:path w="38317" h="12573">
                <a:moveTo>
                  <a:pt x="0" y="3451"/>
                </a:moveTo>
                <a:lnTo>
                  <a:pt x="0" y="4931"/>
                </a:lnTo>
                <a:lnTo>
                  <a:pt x="10896" y="5300"/>
                </a:lnTo>
                <a:lnTo>
                  <a:pt x="9938" y="11957"/>
                </a:lnTo>
                <a:lnTo>
                  <a:pt x="22391" y="12573"/>
                </a:lnTo>
                <a:lnTo>
                  <a:pt x="37838" y="10477"/>
                </a:lnTo>
                <a:lnTo>
                  <a:pt x="38317" y="0"/>
                </a:lnTo>
                <a:lnTo>
                  <a:pt x="1437" y="493"/>
                </a:lnTo>
                <a:lnTo>
                  <a:pt x="0" y="3451"/>
                </a:lnTo>
                <a:close/>
              </a:path>
            </a:pathLst>
          </a:custGeom>
          <a:solidFill>
            <a:srgbClr val="ded5c5"/>
          </a:solidFill>
          <a:ln w="6191">
            <a:solidFill>
              <a:srgbClr val="b5a68d"/>
            </a:solidFill>
            <a:round/>
          </a:ln>
        </p:spPr>
        <p:style>
          <a:lnRef idx="0"/>
          <a:fillRef idx="0"/>
          <a:effectRef idx="0"/>
          <a:fontRef idx="minor"/>
        </p:style>
        <p:txBody>
          <a:bodyPr lIns="90000" rIns="90000" tIns="-32760" bIns="-32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31" name="พินิจสินละออ"/>
          <p:cNvSpPr/>
          <p:nvPr/>
        </p:nvSpPr>
        <p:spPr>
          <a:xfrm>
            <a:off x="5869080" y="3541320"/>
            <a:ext cx="60840" cy="33840"/>
          </a:xfrm>
          <a:custGeom>
            <a:avLst/>
            <a:gdLst/>
            <a:ahLst/>
            <a:rect l="l" t="t" r="r" b="b"/>
            <a:pathLst>
              <a:path w="61067" h="34144">
                <a:moveTo>
                  <a:pt x="11016" y="986"/>
                </a:moveTo>
                <a:lnTo>
                  <a:pt x="8741" y="0"/>
                </a:lnTo>
                <a:lnTo>
                  <a:pt x="7783" y="1726"/>
                </a:lnTo>
                <a:lnTo>
                  <a:pt x="2874" y="3698"/>
                </a:lnTo>
                <a:lnTo>
                  <a:pt x="0" y="8012"/>
                </a:lnTo>
                <a:lnTo>
                  <a:pt x="56158" y="34144"/>
                </a:lnTo>
                <a:lnTo>
                  <a:pt x="61067" y="24776"/>
                </a:lnTo>
                <a:lnTo>
                  <a:pt x="11016" y="986"/>
                </a:lnTo>
                <a:close/>
              </a:path>
            </a:pathLst>
          </a:custGeom>
          <a:solidFill>
            <a:srgbClr val="ded5c5"/>
          </a:solidFill>
          <a:ln w="6191">
            <a:solidFill>
              <a:srgbClr val="b5a68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32" name="เคหะชุมชนบางบัว"/>
          <p:cNvSpPr/>
          <p:nvPr/>
        </p:nvSpPr>
        <p:spPr>
          <a:xfrm>
            <a:off x="5879160" y="3999240"/>
            <a:ext cx="30600" cy="51480"/>
          </a:xfrm>
          <a:custGeom>
            <a:avLst/>
            <a:gdLst/>
            <a:ahLst/>
            <a:rect l="l" t="t" r="r" b="b"/>
            <a:pathLst>
              <a:path w="31132" h="52018">
                <a:moveTo>
                  <a:pt x="11495" y="24776"/>
                </a:moveTo>
                <a:lnTo>
                  <a:pt x="10537" y="17011"/>
                </a:lnTo>
                <a:lnTo>
                  <a:pt x="8980" y="15655"/>
                </a:lnTo>
                <a:lnTo>
                  <a:pt x="8621" y="863"/>
                </a:lnTo>
                <a:lnTo>
                  <a:pt x="0" y="0"/>
                </a:lnTo>
                <a:lnTo>
                  <a:pt x="2395" y="23297"/>
                </a:lnTo>
                <a:lnTo>
                  <a:pt x="3592" y="23297"/>
                </a:lnTo>
                <a:lnTo>
                  <a:pt x="3233" y="28228"/>
                </a:lnTo>
                <a:lnTo>
                  <a:pt x="4430" y="28351"/>
                </a:lnTo>
                <a:lnTo>
                  <a:pt x="5987" y="41047"/>
                </a:lnTo>
                <a:lnTo>
                  <a:pt x="5388" y="44868"/>
                </a:lnTo>
                <a:lnTo>
                  <a:pt x="14369" y="45485"/>
                </a:lnTo>
                <a:lnTo>
                  <a:pt x="15087" y="51032"/>
                </a:lnTo>
                <a:lnTo>
                  <a:pt x="29935" y="52018"/>
                </a:lnTo>
                <a:lnTo>
                  <a:pt x="31132" y="31679"/>
                </a:lnTo>
                <a:lnTo>
                  <a:pt x="24187" y="31186"/>
                </a:lnTo>
                <a:lnTo>
                  <a:pt x="24427" y="25023"/>
                </a:lnTo>
                <a:lnTo>
                  <a:pt x="11495" y="24776"/>
                </a:lnTo>
                <a:close/>
              </a:path>
            </a:pathLst>
          </a:custGeom>
          <a:solidFill>
            <a:srgbClr val="ded5c5"/>
          </a:solidFill>
          <a:ln w="6191">
            <a:solidFill>
              <a:srgbClr val="b5a68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33" name="บางบัวหมู่บ้านอาทิตย์"/>
          <p:cNvSpPr/>
          <p:nvPr/>
        </p:nvSpPr>
        <p:spPr>
          <a:xfrm>
            <a:off x="5906160" y="3994200"/>
            <a:ext cx="34560" cy="18000"/>
          </a:xfrm>
          <a:custGeom>
            <a:avLst/>
            <a:gdLst/>
            <a:ahLst/>
            <a:rect l="l" t="t" r="r" b="b"/>
            <a:pathLst>
              <a:path w="34844" h="18366">
                <a:moveTo>
                  <a:pt x="359" y="4931"/>
                </a:moveTo>
                <a:lnTo>
                  <a:pt x="34365" y="18366"/>
                </a:lnTo>
                <a:lnTo>
                  <a:pt x="34844" y="13559"/>
                </a:lnTo>
                <a:lnTo>
                  <a:pt x="0" y="0"/>
                </a:lnTo>
                <a:lnTo>
                  <a:pt x="359" y="4931"/>
                </a:lnTo>
                <a:close/>
              </a:path>
            </a:pathLst>
          </a:custGeom>
          <a:solidFill>
            <a:srgbClr val="ded5c5"/>
          </a:solidFill>
          <a:ln w="6191">
            <a:solidFill>
              <a:srgbClr val="b5a68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34" name="สุเหร่าจรเข้ขบ"/>
          <p:cNvSpPr/>
          <p:nvPr/>
        </p:nvSpPr>
        <p:spPr>
          <a:xfrm>
            <a:off x="7196760" y="5914440"/>
            <a:ext cx="58320" cy="43200"/>
          </a:xfrm>
          <a:custGeom>
            <a:avLst/>
            <a:gdLst/>
            <a:ahLst/>
            <a:rect l="l" t="t" r="r" b="b"/>
            <a:pathLst>
              <a:path w="58792" h="43512">
                <a:moveTo>
                  <a:pt x="718" y="36486"/>
                </a:moveTo>
                <a:lnTo>
                  <a:pt x="0" y="37719"/>
                </a:lnTo>
                <a:lnTo>
                  <a:pt x="2395" y="43019"/>
                </a:lnTo>
                <a:lnTo>
                  <a:pt x="4071" y="43512"/>
                </a:lnTo>
                <a:lnTo>
                  <a:pt x="16524" y="33158"/>
                </a:lnTo>
                <a:lnTo>
                  <a:pt x="15087" y="30446"/>
                </a:lnTo>
                <a:lnTo>
                  <a:pt x="31132" y="30693"/>
                </a:lnTo>
                <a:lnTo>
                  <a:pt x="40712" y="34514"/>
                </a:lnTo>
                <a:lnTo>
                  <a:pt x="46339" y="26748"/>
                </a:lnTo>
                <a:lnTo>
                  <a:pt x="56637" y="29584"/>
                </a:lnTo>
                <a:lnTo>
                  <a:pt x="58792" y="24653"/>
                </a:lnTo>
                <a:lnTo>
                  <a:pt x="55559" y="19969"/>
                </a:lnTo>
                <a:lnTo>
                  <a:pt x="58673" y="11957"/>
                </a:lnTo>
                <a:lnTo>
                  <a:pt x="36760" y="4068"/>
                </a:lnTo>
                <a:lnTo>
                  <a:pt x="33886" y="16024"/>
                </a:lnTo>
                <a:lnTo>
                  <a:pt x="8741" y="0"/>
                </a:lnTo>
                <a:lnTo>
                  <a:pt x="2874" y="10231"/>
                </a:lnTo>
                <a:lnTo>
                  <a:pt x="18320" y="20585"/>
                </a:lnTo>
                <a:lnTo>
                  <a:pt x="16524" y="27118"/>
                </a:lnTo>
                <a:lnTo>
                  <a:pt x="10657" y="27488"/>
                </a:lnTo>
                <a:lnTo>
                  <a:pt x="4670" y="38089"/>
                </a:lnTo>
                <a:lnTo>
                  <a:pt x="718" y="36486"/>
                </a:lnTo>
                <a:close/>
              </a:path>
            </a:pathLst>
          </a:custGeom>
          <a:solidFill>
            <a:srgbClr val="ded5c5"/>
          </a:solidFill>
          <a:ln w="6191">
            <a:solidFill>
              <a:srgbClr val="b5a68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35" name="หมู่บ้านพัฒนาศาลาลอย"/>
          <p:cNvSpPr/>
          <p:nvPr/>
        </p:nvSpPr>
        <p:spPr>
          <a:xfrm>
            <a:off x="6853320" y="5779800"/>
            <a:ext cx="73800" cy="112680"/>
          </a:xfrm>
          <a:custGeom>
            <a:avLst/>
            <a:gdLst/>
            <a:ahLst/>
            <a:rect l="l" t="t" r="r" b="b"/>
            <a:pathLst>
              <a:path w="74239" h="113034">
                <a:moveTo>
                  <a:pt x="31372" y="0"/>
                </a:moveTo>
                <a:lnTo>
                  <a:pt x="12333" y="3328"/>
                </a:lnTo>
                <a:lnTo>
                  <a:pt x="17123" y="39445"/>
                </a:lnTo>
                <a:lnTo>
                  <a:pt x="6945" y="40308"/>
                </a:lnTo>
                <a:lnTo>
                  <a:pt x="0" y="66193"/>
                </a:lnTo>
                <a:lnTo>
                  <a:pt x="68371" y="113034"/>
                </a:lnTo>
                <a:lnTo>
                  <a:pt x="74239" y="92942"/>
                </a:lnTo>
                <a:lnTo>
                  <a:pt x="40352" y="71863"/>
                </a:lnTo>
                <a:lnTo>
                  <a:pt x="44423" y="64714"/>
                </a:lnTo>
                <a:lnTo>
                  <a:pt x="30653" y="58921"/>
                </a:lnTo>
                <a:lnTo>
                  <a:pt x="29097" y="64467"/>
                </a:lnTo>
                <a:lnTo>
                  <a:pt x="22990" y="60893"/>
                </a:lnTo>
                <a:lnTo>
                  <a:pt x="24307" y="52264"/>
                </a:lnTo>
                <a:lnTo>
                  <a:pt x="20356" y="50292"/>
                </a:lnTo>
                <a:lnTo>
                  <a:pt x="22152" y="46717"/>
                </a:lnTo>
                <a:lnTo>
                  <a:pt x="26463" y="47950"/>
                </a:lnTo>
                <a:lnTo>
                  <a:pt x="26223" y="29830"/>
                </a:lnTo>
                <a:lnTo>
                  <a:pt x="33168" y="29460"/>
                </a:lnTo>
                <a:lnTo>
                  <a:pt x="31372"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36" name="หลัง สน. เก่าประเวศ"/>
          <p:cNvSpPr/>
          <p:nvPr/>
        </p:nvSpPr>
        <p:spPr>
          <a:xfrm>
            <a:off x="7282800" y="5685480"/>
            <a:ext cx="27000" cy="20520"/>
          </a:xfrm>
          <a:custGeom>
            <a:avLst/>
            <a:gdLst/>
            <a:ahLst/>
            <a:rect l="l" t="t" r="r" b="b"/>
            <a:pathLst>
              <a:path w="27181" h="20955">
                <a:moveTo>
                  <a:pt x="0" y="16394"/>
                </a:moveTo>
                <a:lnTo>
                  <a:pt x="0" y="20955"/>
                </a:lnTo>
                <a:lnTo>
                  <a:pt x="13411" y="20955"/>
                </a:lnTo>
                <a:lnTo>
                  <a:pt x="24666" y="13066"/>
                </a:lnTo>
                <a:lnTo>
                  <a:pt x="26941" y="7889"/>
                </a:lnTo>
                <a:lnTo>
                  <a:pt x="27181" y="0"/>
                </a:lnTo>
                <a:lnTo>
                  <a:pt x="22511" y="2342"/>
                </a:lnTo>
                <a:lnTo>
                  <a:pt x="21793" y="14422"/>
                </a:lnTo>
                <a:lnTo>
                  <a:pt x="18560" y="16271"/>
                </a:lnTo>
                <a:lnTo>
                  <a:pt x="0" y="16394"/>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37" name="อ่อนนุช 40 ไร่"/>
          <p:cNvSpPr/>
          <p:nvPr/>
        </p:nvSpPr>
        <p:spPr>
          <a:xfrm>
            <a:off x="7398000" y="5967000"/>
            <a:ext cx="32760" cy="36720"/>
          </a:xfrm>
          <a:custGeom>
            <a:avLst/>
            <a:gdLst/>
            <a:ahLst/>
            <a:rect l="l" t="t" r="r" b="b"/>
            <a:pathLst>
              <a:path w="33168" h="37103">
                <a:moveTo>
                  <a:pt x="13411" y="0"/>
                </a:moveTo>
                <a:lnTo>
                  <a:pt x="11735" y="19722"/>
                </a:lnTo>
                <a:lnTo>
                  <a:pt x="7903" y="19229"/>
                </a:lnTo>
                <a:lnTo>
                  <a:pt x="7304" y="22681"/>
                </a:lnTo>
                <a:lnTo>
                  <a:pt x="2036" y="22064"/>
                </a:lnTo>
                <a:lnTo>
                  <a:pt x="0" y="35130"/>
                </a:lnTo>
                <a:lnTo>
                  <a:pt x="12213" y="37103"/>
                </a:lnTo>
                <a:lnTo>
                  <a:pt x="14728" y="20832"/>
                </a:lnTo>
                <a:lnTo>
                  <a:pt x="31971" y="21325"/>
                </a:lnTo>
                <a:lnTo>
                  <a:pt x="33168" y="1109"/>
                </a:lnTo>
                <a:lnTo>
                  <a:pt x="13411" y="0"/>
                </a:lnTo>
                <a:close/>
              </a:path>
            </a:pathLst>
          </a:custGeom>
          <a:solidFill>
            <a:srgbClr val="ded5c5"/>
          </a:solidFill>
          <a:ln w="6191">
            <a:solidFill>
              <a:srgbClr val="b5a68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38" name="บ้านม้า"/>
          <p:cNvSpPr/>
          <p:nvPr/>
        </p:nvSpPr>
        <p:spPr>
          <a:xfrm>
            <a:off x="6857280" y="5548320"/>
            <a:ext cx="62640" cy="97560"/>
          </a:xfrm>
          <a:custGeom>
            <a:avLst/>
            <a:gdLst/>
            <a:ahLst/>
            <a:rect l="l" t="t" r="r" b="b"/>
            <a:pathLst>
              <a:path w="62863" h="97872">
                <a:moveTo>
                  <a:pt x="0" y="10724"/>
                </a:moveTo>
                <a:lnTo>
                  <a:pt x="18320" y="12450"/>
                </a:lnTo>
                <a:lnTo>
                  <a:pt x="18081" y="28474"/>
                </a:lnTo>
                <a:lnTo>
                  <a:pt x="30294" y="31063"/>
                </a:lnTo>
                <a:lnTo>
                  <a:pt x="20595" y="73712"/>
                </a:lnTo>
                <a:lnTo>
                  <a:pt x="3353" y="76178"/>
                </a:lnTo>
                <a:lnTo>
                  <a:pt x="1557" y="95900"/>
                </a:lnTo>
                <a:lnTo>
                  <a:pt x="17721" y="91709"/>
                </a:lnTo>
                <a:lnTo>
                  <a:pt x="17721" y="97379"/>
                </a:lnTo>
                <a:lnTo>
                  <a:pt x="19518" y="97872"/>
                </a:lnTo>
                <a:lnTo>
                  <a:pt x="23828" y="86532"/>
                </a:lnTo>
                <a:lnTo>
                  <a:pt x="31611" y="39568"/>
                </a:lnTo>
                <a:lnTo>
                  <a:pt x="34006" y="41663"/>
                </a:lnTo>
                <a:lnTo>
                  <a:pt x="36640" y="38582"/>
                </a:lnTo>
                <a:lnTo>
                  <a:pt x="44064" y="43512"/>
                </a:lnTo>
                <a:lnTo>
                  <a:pt x="47178" y="39198"/>
                </a:lnTo>
                <a:lnTo>
                  <a:pt x="55679" y="46101"/>
                </a:lnTo>
                <a:lnTo>
                  <a:pt x="62145" y="40554"/>
                </a:lnTo>
                <a:lnTo>
                  <a:pt x="49093" y="32295"/>
                </a:lnTo>
                <a:lnTo>
                  <a:pt x="45860" y="27118"/>
                </a:lnTo>
                <a:lnTo>
                  <a:pt x="48854" y="23667"/>
                </a:lnTo>
                <a:lnTo>
                  <a:pt x="48135" y="17011"/>
                </a:lnTo>
                <a:lnTo>
                  <a:pt x="60469" y="17134"/>
                </a:lnTo>
                <a:lnTo>
                  <a:pt x="62863" y="5424"/>
                </a:lnTo>
                <a:lnTo>
                  <a:pt x="120" y="0"/>
                </a:lnTo>
                <a:lnTo>
                  <a:pt x="0" y="1072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39" name="คลองมะขามเทศพัฒนา"/>
          <p:cNvSpPr/>
          <p:nvPr/>
        </p:nvSpPr>
        <p:spPr>
          <a:xfrm>
            <a:off x="6926400" y="5979960"/>
            <a:ext cx="45360" cy="37080"/>
          </a:xfrm>
          <a:custGeom>
            <a:avLst/>
            <a:gdLst/>
            <a:ahLst/>
            <a:rect l="l" t="t" r="r" b="b"/>
            <a:pathLst>
              <a:path w="45860" h="37349">
                <a:moveTo>
                  <a:pt x="120" y="0"/>
                </a:moveTo>
                <a:lnTo>
                  <a:pt x="0" y="12203"/>
                </a:lnTo>
                <a:lnTo>
                  <a:pt x="19518" y="8875"/>
                </a:lnTo>
                <a:lnTo>
                  <a:pt x="20595" y="13806"/>
                </a:lnTo>
                <a:lnTo>
                  <a:pt x="22152" y="13806"/>
                </a:lnTo>
                <a:lnTo>
                  <a:pt x="22032" y="15778"/>
                </a:lnTo>
                <a:lnTo>
                  <a:pt x="20715" y="15531"/>
                </a:lnTo>
                <a:lnTo>
                  <a:pt x="22272" y="37349"/>
                </a:lnTo>
                <a:lnTo>
                  <a:pt x="45860" y="35870"/>
                </a:lnTo>
                <a:lnTo>
                  <a:pt x="45741" y="14422"/>
                </a:lnTo>
                <a:lnTo>
                  <a:pt x="37479" y="12820"/>
                </a:lnTo>
                <a:lnTo>
                  <a:pt x="36161" y="7026"/>
                </a:lnTo>
                <a:lnTo>
                  <a:pt x="23589" y="5547"/>
                </a:lnTo>
                <a:lnTo>
                  <a:pt x="11016" y="123"/>
                </a:lnTo>
                <a:lnTo>
                  <a:pt x="120" y="0"/>
                </a:lnTo>
                <a:close/>
              </a:path>
            </a:pathLst>
          </a:custGeom>
          <a:solidFill>
            <a:srgbClr val="ded5c5"/>
          </a:solidFill>
          <a:ln w="6191">
            <a:solidFill>
              <a:srgbClr val="b5a68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40" name="19 ไร่"/>
          <p:cNvSpPr/>
          <p:nvPr/>
        </p:nvSpPr>
        <p:spPr>
          <a:xfrm>
            <a:off x="7391160" y="6002640"/>
            <a:ext cx="19080" cy="50400"/>
          </a:xfrm>
          <a:custGeom>
            <a:avLst/>
            <a:gdLst/>
            <a:ahLst/>
            <a:rect l="l" t="t" r="r" b="b"/>
            <a:pathLst>
              <a:path w="19518" h="50908">
                <a:moveTo>
                  <a:pt x="17123" y="1726"/>
                </a:moveTo>
                <a:lnTo>
                  <a:pt x="7065" y="0"/>
                </a:lnTo>
                <a:lnTo>
                  <a:pt x="0" y="47457"/>
                </a:lnTo>
                <a:lnTo>
                  <a:pt x="11495" y="50908"/>
                </a:lnTo>
                <a:lnTo>
                  <a:pt x="19518" y="1849"/>
                </a:lnTo>
                <a:lnTo>
                  <a:pt x="17123" y="1726"/>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41" name="อ่อนนุช 14 ไร่"/>
          <p:cNvSpPr/>
          <p:nvPr/>
        </p:nvSpPr>
        <p:spPr>
          <a:xfrm>
            <a:off x="7403400" y="6032520"/>
            <a:ext cx="19080" cy="20160"/>
          </a:xfrm>
          <a:custGeom>
            <a:avLst/>
            <a:gdLst/>
            <a:ahLst/>
            <a:rect l="l" t="t" r="r" b="b"/>
            <a:pathLst>
              <a:path w="19398" h="20585">
                <a:moveTo>
                  <a:pt x="0" y="19106"/>
                </a:moveTo>
                <a:lnTo>
                  <a:pt x="10537" y="20585"/>
                </a:lnTo>
                <a:lnTo>
                  <a:pt x="11495" y="14915"/>
                </a:lnTo>
                <a:lnTo>
                  <a:pt x="17003" y="15531"/>
                </a:lnTo>
                <a:lnTo>
                  <a:pt x="19398" y="2589"/>
                </a:lnTo>
                <a:lnTo>
                  <a:pt x="3472" y="0"/>
                </a:lnTo>
                <a:lnTo>
                  <a:pt x="0" y="19106"/>
                </a:lnTo>
                <a:close/>
              </a:path>
            </a:pathLst>
          </a:custGeom>
          <a:solidFill>
            <a:srgbClr val="ded5c5"/>
          </a:solidFill>
          <a:ln w="6191">
            <a:solidFill>
              <a:srgbClr val="b5a68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42" name="นครหลวง"/>
          <p:cNvSpPr/>
          <p:nvPr/>
        </p:nvSpPr>
        <p:spPr>
          <a:xfrm>
            <a:off x="5878080" y="4403520"/>
            <a:ext cx="24480" cy="23040"/>
          </a:xfrm>
          <a:custGeom>
            <a:avLst/>
            <a:gdLst/>
            <a:ahLst/>
            <a:rect l="l" t="t" r="r" b="b"/>
            <a:pathLst>
              <a:path w="24666" h="23544">
                <a:moveTo>
                  <a:pt x="7304" y="3451"/>
                </a:moveTo>
                <a:lnTo>
                  <a:pt x="7783" y="7396"/>
                </a:lnTo>
                <a:lnTo>
                  <a:pt x="0" y="8629"/>
                </a:lnTo>
                <a:lnTo>
                  <a:pt x="1557" y="23544"/>
                </a:lnTo>
                <a:lnTo>
                  <a:pt x="23948" y="20585"/>
                </a:lnTo>
                <a:lnTo>
                  <a:pt x="24666" y="0"/>
                </a:lnTo>
                <a:lnTo>
                  <a:pt x="7304" y="1109"/>
                </a:lnTo>
                <a:lnTo>
                  <a:pt x="7304" y="3451"/>
                </a:lnTo>
                <a:close/>
              </a:path>
            </a:pathLst>
          </a:custGeom>
          <a:solidFill>
            <a:srgbClr val="ded5c5"/>
          </a:solidFill>
          <a:ln w="6191">
            <a:solidFill>
              <a:srgbClr val="b5a68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43" name="หมู่บ้านรุ่งเจริญ"/>
          <p:cNvSpPr/>
          <p:nvPr/>
        </p:nvSpPr>
        <p:spPr>
          <a:xfrm>
            <a:off x="5855400" y="4619160"/>
            <a:ext cx="21240" cy="42120"/>
          </a:xfrm>
          <a:custGeom>
            <a:avLst/>
            <a:gdLst/>
            <a:ahLst/>
            <a:rect l="l" t="t" r="r" b="b"/>
            <a:pathLst>
              <a:path w="21673" h="42526">
                <a:moveTo>
                  <a:pt x="0" y="11710"/>
                </a:moveTo>
                <a:lnTo>
                  <a:pt x="2155" y="42526"/>
                </a:lnTo>
                <a:lnTo>
                  <a:pt x="10058" y="42157"/>
                </a:lnTo>
                <a:lnTo>
                  <a:pt x="9579" y="33035"/>
                </a:lnTo>
                <a:lnTo>
                  <a:pt x="4790" y="33528"/>
                </a:lnTo>
                <a:lnTo>
                  <a:pt x="4311" y="28721"/>
                </a:lnTo>
                <a:lnTo>
                  <a:pt x="9459" y="28351"/>
                </a:lnTo>
                <a:lnTo>
                  <a:pt x="8980" y="13682"/>
                </a:lnTo>
                <a:lnTo>
                  <a:pt x="21673" y="12696"/>
                </a:lnTo>
                <a:lnTo>
                  <a:pt x="21553" y="2712"/>
                </a:lnTo>
                <a:lnTo>
                  <a:pt x="19997" y="0"/>
                </a:lnTo>
                <a:lnTo>
                  <a:pt x="11974" y="740"/>
                </a:lnTo>
                <a:lnTo>
                  <a:pt x="11974" y="3082"/>
                </a:lnTo>
                <a:lnTo>
                  <a:pt x="2155" y="3821"/>
                </a:lnTo>
                <a:lnTo>
                  <a:pt x="2634" y="8998"/>
                </a:lnTo>
                <a:lnTo>
                  <a:pt x="599" y="9368"/>
                </a:lnTo>
                <a:lnTo>
                  <a:pt x="0" y="11710"/>
                </a:lnTo>
                <a:close/>
              </a:path>
            </a:pathLst>
          </a:custGeom>
          <a:solidFill>
            <a:srgbClr val="ded5c5"/>
          </a:solidFill>
          <a:ln w="6191">
            <a:solidFill>
              <a:srgbClr val="b5a68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44" name="อยู่เจริญพัฒนา"/>
          <p:cNvSpPr/>
          <p:nvPr/>
        </p:nvSpPr>
        <p:spPr>
          <a:xfrm>
            <a:off x="5718960" y="4722120"/>
            <a:ext cx="37440" cy="31320"/>
          </a:xfrm>
          <a:custGeom>
            <a:avLst/>
            <a:gdLst/>
            <a:ahLst/>
            <a:rect l="l" t="t" r="r" b="b"/>
            <a:pathLst>
              <a:path w="37958" h="31802">
                <a:moveTo>
                  <a:pt x="36281" y="986"/>
                </a:moveTo>
                <a:lnTo>
                  <a:pt x="18560" y="0"/>
                </a:lnTo>
                <a:lnTo>
                  <a:pt x="17721" y="1972"/>
                </a:lnTo>
                <a:lnTo>
                  <a:pt x="13171" y="2958"/>
                </a:lnTo>
                <a:lnTo>
                  <a:pt x="1916" y="2219"/>
                </a:lnTo>
                <a:lnTo>
                  <a:pt x="0" y="11340"/>
                </a:lnTo>
                <a:lnTo>
                  <a:pt x="2993" y="31802"/>
                </a:lnTo>
                <a:lnTo>
                  <a:pt x="37958" y="23297"/>
                </a:lnTo>
                <a:lnTo>
                  <a:pt x="35922" y="13436"/>
                </a:lnTo>
                <a:lnTo>
                  <a:pt x="35682" y="10724"/>
                </a:lnTo>
                <a:lnTo>
                  <a:pt x="37239" y="9245"/>
                </a:lnTo>
                <a:lnTo>
                  <a:pt x="36281" y="986"/>
                </a:lnTo>
                <a:close/>
              </a:path>
            </a:pathLst>
          </a:custGeom>
          <a:solidFill>
            <a:srgbClr val="ded5c5"/>
          </a:solidFill>
          <a:ln w="6191">
            <a:solidFill>
              <a:srgbClr val="b5a68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45" name="หมู่บ้านเจริญสุข 4"/>
          <p:cNvSpPr/>
          <p:nvPr/>
        </p:nvSpPr>
        <p:spPr>
          <a:xfrm>
            <a:off x="6111720" y="4261680"/>
            <a:ext cx="27360" cy="56880"/>
          </a:xfrm>
          <a:custGeom>
            <a:avLst/>
            <a:gdLst/>
            <a:ahLst/>
            <a:rect l="l" t="t" r="r" b="b"/>
            <a:pathLst>
              <a:path w="27899" h="57318">
                <a:moveTo>
                  <a:pt x="8262" y="32542"/>
                </a:moveTo>
                <a:lnTo>
                  <a:pt x="14010" y="57318"/>
                </a:lnTo>
                <a:lnTo>
                  <a:pt x="27899" y="54976"/>
                </a:lnTo>
                <a:lnTo>
                  <a:pt x="24547" y="46471"/>
                </a:lnTo>
                <a:lnTo>
                  <a:pt x="19877" y="43882"/>
                </a:lnTo>
                <a:lnTo>
                  <a:pt x="18919" y="39568"/>
                </a:lnTo>
                <a:lnTo>
                  <a:pt x="22870" y="40184"/>
                </a:lnTo>
                <a:lnTo>
                  <a:pt x="14129" y="14052"/>
                </a:lnTo>
                <a:lnTo>
                  <a:pt x="17602" y="12820"/>
                </a:lnTo>
                <a:lnTo>
                  <a:pt x="17003" y="10601"/>
                </a:lnTo>
                <a:lnTo>
                  <a:pt x="11854" y="0"/>
                </a:lnTo>
                <a:lnTo>
                  <a:pt x="0" y="4314"/>
                </a:lnTo>
                <a:lnTo>
                  <a:pt x="8262" y="32542"/>
                </a:lnTo>
                <a:close/>
              </a:path>
            </a:pathLst>
          </a:custGeom>
          <a:solidFill>
            <a:srgbClr val="ded5c5"/>
          </a:solidFill>
          <a:ln w="6191">
            <a:solidFill>
              <a:srgbClr val="b5a68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46" name="หมู่บ้านเนียมกล่ำสามัคคี"/>
          <p:cNvSpPr/>
          <p:nvPr/>
        </p:nvSpPr>
        <p:spPr>
          <a:xfrm>
            <a:off x="6330600" y="4230360"/>
            <a:ext cx="77760" cy="65880"/>
          </a:xfrm>
          <a:custGeom>
            <a:avLst/>
            <a:gdLst/>
            <a:ahLst/>
            <a:rect l="l" t="t" r="r" b="b"/>
            <a:pathLst>
              <a:path w="78070" h="66193">
                <a:moveTo>
                  <a:pt x="49453" y="12450"/>
                </a:moveTo>
                <a:lnTo>
                  <a:pt x="51368" y="19969"/>
                </a:lnTo>
                <a:lnTo>
                  <a:pt x="49692" y="20215"/>
                </a:lnTo>
                <a:lnTo>
                  <a:pt x="50530" y="23051"/>
                </a:lnTo>
                <a:lnTo>
                  <a:pt x="46100" y="25269"/>
                </a:lnTo>
                <a:lnTo>
                  <a:pt x="37239" y="24160"/>
                </a:lnTo>
                <a:lnTo>
                  <a:pt x="38077" y="6903"/>
                </a:lnTo>
                <a:lnTo>
                  <a:pt x="35443" y="7519"/>
                </a:lnTo>
                <a:lnTo>
                  <a:pt x="37119" y="8259"/>
                </a:lnTo>
                <a:lnTo>
                  <a:pt x="36521" y="13436"/>
                </a:lnTo>
                <a:lnTo>
                  <a:pt x="19039" y="9861"/>
                </a:lnTo>
                <a:lnTo>
                  <a:pt x="20236" y="4191"/>
                </a:lnTo>
                <a:lnTo>
                  <a:pt x="10298" y="1109"/>
                </a:lnTo>
                <a:lnTo>
                  <a:pt x="8861" y="2589"/>
                </a:lnTo>
                <a:lnTo>
                  <a:pt x="6586" y="1109"/>
                </a:lnTo>
                <a:lnTo>
                  <a:pt x="5748" y="2095"/>
                </a:lnTo>
                <a:lnTo>
                  <a:pt x="3233" y="0"/>
                </a:lnTo>
                <a:lnTo>
                  <a:pt x="0" y="5793"/>
                </a:lnTo>
                <a:lnTo>
                  <a:pt x="15925" y="14792"/>
                </a:lnTo>
                <a:lnTo>
                  <a:pt x="14010" y="28104"/>
                </a:lnTo>
                <a:lnTo>
                  <a:pt x="20116" y="29090"/>
                </a:lnTo>
                <a:lnTo>
                  <a:pt x="36401" y="24037"/>
                </a:lnTo>
                <a:lnTo>
                  <a:pt x="36521" y="27241"/>
                </a:lnTo>
                <a:lnTo>
                  <a:pt x="32450" y="28351"/>
                </a:lnTo>
                <a:lnTo>
                  <a:pt x="33048" y="30446"/>
                </a:lnTo>
                <a:lnTo>
                  <a:pt x="25864" y="33035"/>
                </a:lnTo>
                <a:lnTo>
                  <a:pt x="28618" y="35500"/>
                </a:lnTo>
                <a:lnTo>
                  <a:pt x="13650" y="43759"/>
                </a:lnTo>
                <a:lnTo>
                  <a:pt x="14967" y="47457"/>
                </a:lnTo>
                <a:lnTo>
                  <a:pt x="5508" y="53004"/>
                </a:lnTo>
                <a:lnTo>
                  <a:pt x="11735" y="66193"/>
                </a:lnTo>
                <a:lnTo>
                  <a:pt x="19039" y="64221"/>
                </a:lnTo>
                <a:lnTo>
                  <a:pt x="16285" y="57441"/>
                </a:lnTo>
                <a:lnTo>
                  <a:pt x="40113" y="44622"/>
                </a:lnTo>
                <a:lnTo>
                  <a:pt x="59990" y="38705"/>
                </a:lnTo>
                <a:lnTo>
                  <a:pt x="62744" y="48320"/>
                </a:lnTo>
                <a:lnTo>
                  <a:pt x="78070" y="41170"/>
                </a:lnTo>
                <a:lnTo>
                  <a:pt x="73401" y="17504"/>
                </a:lnTo>
                <a:lnTo>
                  <a:pt x="65977" y="13929"/>
                </a:lnTo>
                <a:lnTo>
                  <a:pt x="64181" y="14422"/>
                </a:lnTo>
                <a:lnTo>
                  <a:pt x="60588" y="9984"/>
                </a:lnTo>
                <a:lnTo>
                  <a:pt x="51967" y="11957"/>
                </a:lnTo>
                <a:lnTo>
                  <a:pt x="51129" y="10601"/>
                </a:lnTo>
                <a:lnTo>
                  <a:pt x="49453" y="12450"/>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47" name="หมู่บ้านธันยกานต์ มัยลาภ"/>
          <p:cNvSpPr/>
          <p:nvPr/>
        </p:nvSpPr>
        <p:spPr>
          <a:xfrm>
            <a:off x="6311880" y="4217040"/>
            <a:ext cx="19440" cy="39960"/>
          </a:xfrm>
          <a:custGeom>
            <a:avLst/>
            <a:gdLst/>
            <a:ahLst/>
            <a:rect l="l" t="t" r="r" b="b"/>
            <a:pathLst>
              <a:path w="19637" h="40184">
                <a:moveTo>
                  <a:pt x="14129" y="0"/>
                </a:moveTo>
                <a:lnTo>
                  <a:pt x="0" y="24037"/>
                </a:lnTo>
                <a:lnTo>
                  <a:pt x="7065" y="27981"/>
                </a:lnTo>
                <a:lnTo>
                  <a:pt x="2036" y="38212"/>
                </a:lnTo>
                <a:lnTo>
                  <a:pt x="5628" y="40184"/>
                </a:lnTo>
                <a:lnTo>
                  <a:pt x="13291" y="24530"/>
                </a:lnTo>
                <a:lnTo>
                  <a:pt x="14728" y="25146"/>
                </a:lnTo>
                <a:lnTo>
                  <a:pt x="15446" y="23667"/>
                </a:lnTo>
                <a:lnTo>
                  <a:pt x="9220" y="21202"/>
                </a:lnTo>
                <a:lnTo>
                  <a:pt x="19637" y="3328"/>
                </a:lnTo>
                <a:lnTo>
                  <a:pt x="14129" y="0"/>
                </a:lnTo>
                <a:close/>
              </a:path>
            </a:pathLst>
          </a:custGeom>
          <a:solidFill>
            <a:srgbClr val="ded5c5"/>
          </a:solidFill>
          <a:ln w="6191">
            <a:solidFill>
              <a:srgbClr val="b5a68d"/>
            </a:solidFill>
            <a:round/>
          </a:ln>
        </p:spPr>
        <p:style>
          <a:lnRef idx="0"/>
          <a:fillRef idx="0"/>
          <a:effectRef idx="0"/>
          <a:fontRef idx="minor"/>
        </p:style>
        <p:txBody>
          <a:bodyPr lIns="90000" rIns="90000" tIns="-5040" bIns="-5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48" name="หมู่บ้านเพรชหทัย"/>
          <p:cNvSpPr/>
          <p:nvPr/>
        </p:nvSpPr>
        <p:spPr>
          <a:xfrm>
            <a:off x="6282360" y="4170600"/>
            <a:ext cx="11520" cy="12600"/>
          </a:xfrm>
          <a:custGeom>
            <a:avLst/>
            <a:gdLst/>
            <a:ahLst/>
            <a:rect l="l" t="t" r="r" b="b"/>
            <a:pathLst>
              <a:path w="11854" h="13066">
                <a:moveTo>
                  <a:pt x="10417" y="10971"/>
                </a:moveTo>
                <a:lnTo>
                  <a:pt x="11854" y="986"/>
                </a:lnTo>
                <a:lnTo>
                  <a:pt x="1796" y="0"/>
                </a:lnTo>
                <a:lnTo>
                  <a:pt x="0" y="11710"/>
                </a:lnTo>
                <a:lnTo>
                  <a:pt x="10178" y="13066"/>
                </a:lnTo>
                <a:lnTo>
                  <a:pt x="10417" y="10971"/>
                </a:lnTo>
                <a:close/>
              </a:path>
            </a:pathLst>
          </a:custGeom>
          <a:solidFill>
            <a:srgbClr val="ded5c5"/>
          </a:solidFill>
          <a:ln w="6191">
            <a:solidFill>
              <a:srgbClr val="b5a68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49" name="หมู่บ้านเสนานิเวศน์ โครงการ 1"/>
          <p:cNvSpPr/>
          <p:nvPr/>
        </p:nvSpPr>
        <p:spPr>
          <a:xfrm>
            <a:off x="6129720" y="4366800"/>
            <a:ext cx="140760" cy="119880"/>
          </a:xfrm>
          <a:custGeom>
            <a:avLst/>
            <a:gdLst/>
            <a:ahLst/>
            <a:rect l="l" t="t" r="r" b="b"/>
            <a:pathLst>
              <a:path w="141173" h="120306">
                <a:moveTo>
                  <a:pt x="2395" y="13929"/>
                </a:moveTo>
                <a:lnTo>
                  <a:pt x="2395" y="26255"/>
                </a:lnTo>
                <a:lnTo>
                  <a:pt x="16404" y="27241"/>
                </a:lnTo>
                <a:lnTo>
                  <a:pt x="16045" y="32295"/>
                </a:lnTo>
                <a:lnTo>
                  <a:pt x="5748" y="32295"/>
                </a:lnTo>
                <a:lnTo>
                  <a:pt x="6466" y="47950"/>
                </a:lnTo>
                <a:lnTo>
                  <a:pt x="9459" y="48196"/>
                </a:lnTo>
                <a:lnTo>
                  <a:pt x="9699" y="51525"/>
                </a:lnTo>
                <a:lnTo>
                  <a:pt x="21673" y="51032"/>
                </a:lnTo>
                <a:lnTo>
                  <a:pt x="20595" y="75315"/>
                </a:lnTo>
                <a:lnTo>
                  <a:pt x="39514" y="74205"/>
                </a:lnTo>
                <a:lnTo>
                  <a:pt x="37958" y="85546"/>
                </a:lnTo>
                <a:lnTo>
                  <a:pt x="34964" y="85546"/>
                </a:lnTo>
                <a:lnTo>
                  <a:pt x="35084" y="88874"/>
                </a:lnTo>
                <a:lnTo>
                  <a:pt x="38796" y="88874"/>
                </a:lnTo>
                <a:lnTo>
                  <a:pt x="39275" y="93681"/>
                </a:lnTo>
                <a:lnTo>
                  <a:pt x="35922" y="93928"/>
                </a:lnTo>
                <a:lnTo>
                  <a:pt x="36760" y="116485"/>
                </a:lnTo>
                <a:lnTo>
                  <a:pt x="38676" y="116485"/>
                </a:lnTo>
                <a:lnTo>
                  <a:pt x="38676" y="118827"/>
                </a:lnTo>
                <a:lnTo>
                  <a:pt x="48854" y="120306"/>
                </a:lnTo>
                <a:lnTo>
                  <a:pt x="57715" y="120183"/>
                </a:lnTo>
                <a:lnTo>
                  <a:pt x="57595" y="118704"/>
                </a:lnTo>
                <a:lnTo>
                  <a:pt x="75436" y="118704"/>
                </a:lnTo>
                <a:lnTo>
                  <a:pt x="75316" y="115992"/>
                </a:lnTo>
                <a:lnTo>
                  <a:pt x="81902" y="115992"/>
                </a:lnTo>
                <a:lnTo>
                  <a:pt x="79986" y="106008"/>
                </a:lnTo>
                <a:lnTo>
                  <a:pt x="105251" y="104282"/>
                </a:lnTo>
                <a:lnTo>
                  <a:pt x="104413" y="89490"/>
                </a:lnTo>
                <a:lnTo>
                  <a:pt x="127044" y="88627"/>
                </a:lnTo>
                <a:lnTo>
                  <a:pt x="127044" y="65823"/>
                </a:lnTo>
                <a:lnTo>
                  <a:pt x="141173" y="65207"/>
                </a:lnTo>
                <a:lnTo>
                  <a:pt x="140934" y="54236"/>
                </a:lnTo>
                <a:lnTo>
                  <a:pt x="128601" y="53497"/>
                </a:lnTo>
                <a:lnTo>
                  <a:pt x="128840" y="52018"/>
                </a:lnTo>
                <a:lnTo>
                  <a:pt x="127283" y="51648"/>
                </a:lnTo>
                <a:lnTo>
                  <a:pt x="132672" y="32295"/>
                </a:lnTo>
                <a:lnTo>
                  <a:pt x="126086" y="29584"/>
                </a:lnTo>
                <a:lnTo>
                  <a:pt x="123931" y="34761"/>
                </a:lnTo>
                <a:lnTo>
                  <a:pt x="105371" y="25886"/>
                </a:lnTo>
                <a:lnTo>
                  <a:pt x="101300" y="14422"/>
                </a:lnTo>
                <a:lnTo>
                  <a:pt x="81064" y="19846"/>
                </a:lnTo>
                <a:lnTo>
                  <a:pt x="84656" y="24653"/>
                </a:lnTo>
                <a:lnTo>
                  <a:pt x="62145" y="18613"/>
                </a:lnTo>
                <a:lnTo>
                  <a:pt x="61786" y="13806"/>
                </a:lnTo>
                <a:lnTo>
                  <a:pt x="60109" y="13682"/>
                </a:lnTo>
                <a:lnTo>
                  <a:pt x="60469" y="17380"/>
                </a:lnTo>
                <a:lnTo>
                  <a:pt x="48375" y="14052"/>
                </a:lnTo>
                <a:lnTo>
                  <a:pt x="48135" y="16148"/>
                </a:lnTo>
                <a:lnTo>
                  <a:pt x="46220" y="15901"/>
                </a:lnTo>
                <a:lnTo>
                  <a:pt x="45980" y="17380"/>
                </a:lnTo>
                <a:lnTo>
                  <a:pt x="22272" y="11833"/>
                </a:lnTo>
                <a:lnTo>
                  <a:pt x="15446" y="12203"/>
                </a:lnTo>
                <a:lnTo>
                  <a:pt x="15327" y="9615"/>
                </a:lnTo>
                <a:lnTo>
                  <a:pt x="13650" y="9738"/>
                </a:lnTo>
                <a:lnTo>
                  <a:pt x="12692" y="247"/>
                </a:lnTo>
                <a:lnTo>
                  <a:pt x="10058" y="0"/>
                </a:lnTo>
                <a:lnTo>
                  <a:pt x="2155" y="0"/>
                </a:lnTo>
                <a:lnTo>
                  <a:pt x="0" y="13806"/>
                </a:lnTo>
                <a:lnTo>
                  <a:pt x="2395" y="13929"/>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50" name="หมู่บ้านราณี 2"/>
          <p:cNvSpPr/>
          <p:nvPr/>
        </p:nvSpPr>
        <p:spPr>
          <a:xfrm>
            <a:off x="6102720" y="4221000"/>
            <a:ext cx="39600" cy="49680"/>
          </a:xfrm>
          <a:custGeom>
            <a:avLst/>
            <a:gdLst/>
            <a:ahLst/>
            <a:rect l="l" t="t" r="r" b="b"/>
            <a:pathLst>
              <a:path w="39993" h="50169">
                <a:moveTo>
                  <a:pt x="0" y="1849"/>
                </a:moveTo>
                <a:lnTo>
                  <a:pt x="4550" y="14668"/>
                </a:lnTo>
                <a:lnTo>
                  <a:pt x="7663" y="13189"/>
                </a:lnTo>
                <a:lnTo>
                  <a:pt x="9220" y="17750"/>
                </a:lnTo>
                <a:lnTo>
                  <a:pt x="11375" y="17134"/>
                </a:lnTo>
                <a:lnTo>
                  <a:pt x="14728" y="27488"/>
                </a:lnTo>
                <a:lnTo>
                  <a:pt x="25864" y="50169"/>
                </a:lnTo>
                <a:lnTo>
                  <a:pt x="39993" y="40061"/>
                </a:lnTo>
                <a:lnTo>
                  <a:pt x="29695" y="27118"/>
                </a:lnTo>
                <a:lnTo>
                  <a:pt x="26103" y="29953"/>
                </a:lnTo>
                <a:lnTo>
                  <a:pt x="14489" y="14668"/>
                </a:lnTo>
                <a:lnTo>
                  <a:pt x="11375" y="16024"/>
                </a:lnTo>
                <a:lnTo>
                  <a:pt x="4550" y="0"/>
                </a:lnTo>
                <a:lnTo>
                  <a:pt x="0" y="1849"/>
                </a:lnTo>
                <a:close/>
              </a:path>
            </a:pathLst>
          </a:custGeom>
          <a:solidFill>
            <a:srgbClr val="ded5c5"/>
          </a:solidFill>
          <a:ln w="6191">
            <a:solidFill>
              <a:srgbClr val="b5a68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51" name="ซอยลาดปลาเค้า 24"/>
          <p:cNvSpPr/>
          <p:nvPr/>
        </p:nvSpPr>
        <p:spPr>
          <a:xfrm>
            <a:off x="6043680" y="4267080"/>
            <a:ext cx="75600" cy="86040"/>
          </a:xfrm>
          <a:custGeom>
            <a:avLst/>
            <a:gdLst/>
            <a:ahLst/>
            <a:rect l="l" t="t" r="r" b="b"/>
            <a:pathLst>
              <a:path w="75795" h="86285">
                <a:moveTo>
                  <a:pt x="72562" y="84683"/>
                </a:moveTo>
                <a:lnTo>
                  <a:pt x="75077" y="83820"/>
                </a:lnTo>
                <a:lnTo>
                  <a:pt x="75795" y="75315"/>
                </a:lnTo>
                <a:lnTo>
                  <a:pt x="67773" y="36240"/>
                </a:lnTo>
                <a:lnTo>
                  <a:pt x="62863" y="35623"/>
                </a:lnTo>
                <a:lnTo>
                  <a:pt x="51368" y="38828"/>
                </a:lnTo>
                <a:lnTo>
                  <a:pt x="47776" y="15778"/>
                </a:lnTo>
                <a:lnTo>
                  <a:pt x="42987" y="11340"/>
                </a:lnTo>
                <a:lnTo>
                  <a:pt x="23230" y="0"/>
                </a:lnTo>
                <a:lnTo>
                  <a:pt x="17482" y="1972"/>
                </a:lnTo>
                <a:lnTo>
                  <a:pt x="18440" y="5300"/>
                </a:lnTo>
                <a:lnTo>
                  <a:pt x="14489" y="6410"/>
                </a:lnTo>
                <a:lnTo>
                  <a:pt x="14129" y="4314"/>
                </a:lnTo>
                <a:lnTo>
                  <a:pt x="2874" y="4561"/>
                </a:lnTo>
                <a:lnTo>
                  <a:pt x="2874" y="6533"/>
                </a:lnTo>
                <a:lnTo>
                  <a:pt x="0" y="6533"/>
                </a:lnTo>
                <a:lnTo>
                  <a:pt x="14129" y="6903"/>
                </a:lnTo>
                <a:lnTo>
                  <a:pt x="14608" y="10354"/>
                </a:lnTo>
                <a:lnTo>
                  <a:pt x="3951" y="11833"/>
                </a:lnTo>
                <a:lnTo>
                  <a:pt x="5029" y="16271"/>
                </a:lnTo>
                <a:lnTo>
                  <a:pt x="17003" y="15655"/>
                </a:lnTo>
                <a:lnTo>
                  <a:pt x="19997" y="29337"/>
                </a:lnTo>
                <a:lnTo>
                  <a:pt x="24427" y="28597"/>
                </a:lnTo>
                <a:lnTo>
                  <a:pt x="25744" y="35254"/>
                </a:lnTo>
                <a:lnTo>
                  <a:pt x="31492" y="34514"/>
                </a:lnTo>
                <a:lnTo>
                  <a:pt x="36640" y="70754"/>
                </a:lnTo>
                <a:lnTo>
                  <a:pt x="72562" y="68535"/>
                </a:lnTo>
                <a:lnTo>
                  <a:pt x="73041" y="71247"/>
                </a:lnTo>
                <a:lnTo>
                  <a:pt x="69449" y="81108"/>
                </a:lnTo>
                <a:lnTo>
                  <a:pt x="66216" y="81108"/>
                </a:lnTo>
                <a:lnTo>
                  <a:pt x="66695" y="85422"/>
                </a:lnTo>
                <a:lnTo>
                  <a:pt x="72562" y="86285"/>
                </a:lnTo>
                <a:lnTo>
                  <a:pt x="72562" y="84683"/>
                </a:lnTo>
                <a:close/>
              </a:path>
            </a:pathLst>
          </a:custGeom>
          <a:solidFill>
            <a:srgbClr val="ded5c5"/>
          </a:solidFill>
          <a:ln w="6191">
            <a:solidFill>
              <a:srgbClr val="b5a68d"/>
            </a:solidFill>
            <a:round/>
          </a:ln>
        </p:spPr>
        <p:style>
          <a:lnRef idx="0"/>
          <a:fillRef idx="0"/>
          <a:effectRef idx="0"/>
          <a:fontRef idx="minor"/>
        </p:style>
        <p:txBody>
          <a:bodyPr lIns="90000" rIns="90000" tIns="41040" bIns="41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52" name="หมู่บ้านเสนานิเวศน์ โครงการ 2"/>
          <p:cNvSpPr/>
          <p:nvPr/>
        </p:nvSpPr>
        <p:spPr>
          <a:xfrm>
            <a:off x="6176520" y="4260960"/>
            <a:ext cx="102240" cy="55080"/>
          </a:xfrm>
          <a:custGeom>
            <a:avLst/>
            <a:gdLst/>
            <a:ahLst/>
            <a:rect l="l" t="t" r="r" b="b"/>
            <a:pathLst>
              <a:path w="102617" h="55469">
                <a:moveTo>
                  <a:pt x="479" y="5424"/>
                </a:moveTo>
                <a:lnTo>
                  <a:pt x="7544" y="22064"/>
                </a:lnTo>
                <a:lnTo>
                  <a:pt x="9220" y="30200"/>
                </a:lnTo>
                <a:lnTo>
                  <a:pt x="7304" y="43019"/>
                </a:lnTo>
                <a:lnTo>
                  <a:pt x="7663" y="51155"/>
                </a:lnTo>
                <a:lnTo>
                  <a:pt x="9579" y="55469"/>
                </a:lnTo>
                <a:lnTo>
                  <a:pt x="58553" y="46348"/>
                </a:lnTo>
                <a:lnTo>
                  <a:pt x="59870" y="53127"/>
                </a:lnTo>
                <a:lnTo>
                  <a:pt x="81303" y="49676"/>
                </a:lnTo>
                <a:lnTo>
                  <a:pt x="81902" y="53374"/>
                </a:lnTo>
                <a:lnTo>
                  <a:pt x="102617" y="50415"/>
                </a:lnTo>
                <a:lnTo>
                  <a:pt x="97827" y="12573"/>
                </a:lnTo>
                <a:lnTo>
                  <a:pt x="61786" y="7273"/>
                </a:lnTo>
                <a:lnTo>
                  <a:pt x="52207" y="8135"/>
                </a:lnTo>
                <a:lnTo>
                  <a:pt x="49692" y="6287"/>
                </a:lnTo>
                <a:lnTo>
                  <a:pt x="26463" y="3205"/>
                </a:lnTo>
                <a:lnTo>
                  <a:pt x="19039" y="0"/>
                </a:lnTo>
                <a:lnTo>
                  <a:pt x="0" y="4068"/>
                </a:lnTo>
                <a:lnTo>
                  <a:pt x="479" y="5424"/>
                </a:lnTo>
                <a:close/>
              </a:path>
            </a:pathLst>
          </a:custGeom>
          <a:solidFill>
            <a:srgbClr val="ded5c5"/>
          </a:solidFill>
          <a:ln w="6191">
            <a:solidFill>
              <a:srgbClr val="b5a68d"/>
            </a:solidFill>
            <a:round/>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53" name="หมู่บ้านเรือนแก้ว"/>
          <p:cNvSpPr/>
          <p:nvPr/>
        </p:nvSpPr>
        <p:spPr>
          <a:xfrm>
            <a:off x="6125760" y="4225320"/>
            <a:ext cx="36360" cy="32040"/>
          </a:xfrm>
          <a:custGeom>
            <a:avLst/>
            <a:gdLst/>
            <a:ahLst/>
            <a:rect l="l" t="t" r="r" b="b"/>
            <a:pathLst>
              <a:path w="36640" h="32419">
                <a:moveTo>
                  <a:pt x="7424" y="0"/>
                </a:moveTo>
                <a:lnTo>
                  <a:pt x="0" y="6410"/>
                </a:lnTo>
                <a:lnTo>
                  <a:pt x="19997" y="32419"/>
                </a:lnTo>
                <a:lnTo>
                  <a:pt x="34844" y="21078"/>
                </a:lnTo>
                <a:lnTo>
                  <a:pt x="36640" y="18243"/>
                </a:lnTo>
                <a:lnTo>
                  <a:pt x="32809" y="15285"/>
                </a:lnTo>
                <a:lnTo>
                  <a:pt x="30534" y="17627"/>
                </a:lnTo>
                <a:lnTo>
                  <a:pt x="25026" y="11094"/>
                </a:lnTo>
                <a:lnTo>
                  <a:pt x="19637" y="15655"/>
                </a:lnTo>
                <a:lnTo>
                  <a:pt x="7424" y="0"/>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54" name="หมู่บ้านจิรัฐติกร 7"/>
          <p:cNvSpPr/>
          <p:nvPr/>
        </p:nvSpPr>
        <p:spPr>
          <a:xfrm>
            <a:off x="6103800" y="4316760"/>
            <a:ext cx="50040" cy="49680"/>
          </a:xfrm>
          <a:custGeom>
            <a:avLst/>
            <a:gdLst/>
            <a:ahLst/>
            <a:rect l="l" t="t" r="r" b="b"/>
            <a:pathLst>
              <a:path w="50410" h="50169">
                <a:moveTo>
                  <a:pt x="36281" y="0"/>
                </a:moveTo>
                <a:lnTo>
                  <a:pt x="22272" y="2219"/>
                </a:lnTo>
                <a:lnTo>
                  <a:pt x="25984" y="29584"/>
                </a:lnTo>
                <a:lnTo>
                  <a:pt x="34246" y="28474"/>
                </a:lnTo>
                <a:lnTo>
                  <a:pt x="34725" y="35254"/>
                </a:lnTo>
                <a:lnTo>
                  <a:pt x="25984" y="35747"/>
                </a:lnTo>
                <a:lnTo>
                  <a:pt x="25026" y="29214"/>
                </a:lnTo>
                <a:lnTo>
                  <a:pt x="16883" y="30200"/>
                </a:lnTo>
                <a:lnTo>
                  <a:pt x="14848" y="31802"/>
                </a:lnTo>
                <a:lnTo>
                  <a:pt x="14967" y="34884"/>
                </a:lnTo>
                <a:lnTo>
                  <a:pt x="10058" y="36486"/>
                </a:lnTo>
                <a:lnTo>
                  <a:pt x="10058" y="40184"/>
                </a:lnTo>
                <a:lnTo>
                  <a:pt x="4790" y="40184"/>
                </a:lnTo>
                <a:lnTo>
                  <a:pt x="4909" y="42896"/>
                </a:lnTo>
                <a:lnTo>
                  <a:pt x="0" y="43143"/>
                </a:lnTo>
                <a:lnTo>
                  <a:pt x="239" y="48443"/>
                </a:lnTo>
                <a:lnTo>
                  <a:pt x="5628" y="48320"/>
                </a:lnTo>
                <a:lnTo>
                  <a:pt x="5628" y="49799"/>
                </a:lnTo>
                <a:lnTo>
                  <a:pt x="16045" y="49306"/>
                </a:lnTo>
                <a:lnTo>
                  <a:pt x="15806" y="39691"/>
                </a:lnTo>
                <a:lnTo>
                  <a:pt x="25624" y="38582"/>
                </a:lnTo>
                <a:lnTo>
                  <a:pt x="25624" y="36610"/>
                </a:lnTo>
                <a:lnTo>
                  <a:pt x="34725" y="35993"/>
                </a:lnTo>
                <a:lnTo>
                  <a:pt x="35323" y="49799"/>
                </a:lnTo>
                <a:lnTo>
                  <a:pt x="50410" y="50169"/>
                </a:lnTo>
                <a:lnTo>
                  <a:pt x="39634" y="10601"/>
                </a:lnTo>
                <a:lnTo>
                  <a:pt x="40712" y="8259"/>
                </a:lnTo>
                <a:lnTo>
                  <a:pt x="36281" y="0"/>
                </a:lnTo>
                <a:close/>
              </a:path>
            </a:pathLst>
          </a:custGeom>
          <a:solidFill>
            <a:srgbClr val="ded5c5"/>
          </a:solidFill>
          <a:ln w="6191">
            <a:solidFill>
              <a:srgbClr val="b5a68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55" name="ตรีเพชร 2"/>
          <p:cNvSpPr/>
          <p:nvPr/>
        </p:nvSpPr>
        <p:spPr>
          <a:xfrm>
            <a:off x="5880240" y="3923280"/>
            <a:ext cx="11160" cy="11880"/>
          </a:xfrm>
          <a:custGeom>
            <a:avLst/>
            <a:gdLst/>
            <a:ahLst/>
            <a:rect l="l" t="t" r="r" b="b"/>
            <a:pathLst>
              <a:path w="11495" h="12080">
                <a:moveTo>
                  <a:pt x="2874" y="12080"/>
                </a:moveTo>
                <a:lnTo>
                  <a:pt x="11495" y="9368"/>
                </a:lnTo>
                <a:lnTo>
                  <a:pt x="8382" y="0"/>
                </a:lnTo>
                <a:lnTo>
                  <a:pt x="0" y="2712"/>
                </a:lnTo>
                <a:lnTo>
                  <a:pt x="2874" y="12080"/>
                </a:lnTo>
                <a:close/>
              </a:path>
            </a:pathLst>
          </a:custGeom>
          <a:solidFill>
            <a:srgbClr val="ded5c5"/>
          </a:solidFill>
          <a:ln w="6191">
            <a:solidFill>
              <a:srgbClr val="b5a68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56" name="อาคารบ้านพักตำรวจส่วนกลาง (อุดมสุข)"/>
          <p:cNvSpPr/>
          <p:nvPr/>
        </p:nvSpPr>
        <p:spPr>
          <a:xfrm>
            <a:off x="7085160" y="6288480"/>
            <a:ext cx="22680" cy="46080"/>
          </a:xfrm>
          <a:custGeom>
            <a:avLst/>
            <a:gdLst/>
            <a:ahLst/>
            <a:rect l="l" t="t" r="r" b="b"/>
            <a:pathLst>
              <a:path w="22990" h="46471">
                <a:moveTo>
                  <a:pt x="22990" y="2589"/>
                </a:moveTo>
                <a:lnTo>
                  <a:pt x="13890" y="0"/>
                </a:lnTo>
                <a:lnTo>
                  <a:pt x="0" y="42773"/>
                </a:lnTo>
                <a:lnTo>
                  <a:pt x="9938" y="46471"/>
                </a:lnTo>
                <a:lnTo>
                  <a:pt x="22990" y="2589"/>
                </a:lnTo>
                <a:close/>
              </a:path>
            </a:pathLst>
          </a:custGeom>
          <a:solidFill>
            <a:srgbClr val="ded5c5"/>
          </a:solidFill>
          <a:ln w="6191">
            <a:solidFill>
              <a:srgbClr val="b5a68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57" name="เปรมฤทัย ล๊อค 17"/>
          <p:cNvSpPr/>
          <p:nvPr/>
        </p:nvSpPr>
        <p:spPr>
          <a:xfrm>
            <a:off x="6947280" y="6372000"/>
            <a:ext cx="42840" cy="28080"/>
          </a:xfrm>
          <a:custGeom>
            <a:avLst/>
            <a:gdLst/>
            <a:ahLst/>
            <a:rect l="l" t="t" r="r" b="b"/>
            <a:pathLst>
              <a:path w="43346" h="28597">
                <a:moveTo>
                  <a:pt x="0" y="12696"/>
                </a:moveTo>
                <a:lnTo>
                  <a:pt x="38436" y="28597"/>
                </a:lnTo>
                <a:lnTo>
                  <a:pt x="43346" y="15531"/>
                </a:lnTo>
                <a:lnTo>
                  <a:pt x="4909" y="0"/>
                </a:lnTo>
                <a:lnTo>
                  <a:pt x="0" y="12696"/>
                </a:lnTo>
                <a:close/>
              </a:path>
            </a:pathLst>
          </a:custGeom>
          <a:solidFill>
            <a:srgbClr val="ded5c5"/>
          </a:solidFill>
          <a:ln w="6191">
            <a:solidFill>
              <a:srgbClr val="b5a68d"/>
            </a:solidFill>
            <a:round/>
          </a:ln>
        </p:spPr>
        <p:style>
          <a:lnRef idx="0"/>
          <a:fillRef idx="0"/>
          <a:effectRef idx="0"/>
          <a:fontRef idx="minor"/>
        </p:style>
        <p:txBody>
          <a:bodyPr lIns="90000" rIns="90000" tIns="-16920" bIns="-16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58" name="กระทุ่มแจ้พัฒนา"/>
          <p:cNvSpPr/>
          <p:nvPr/>
        </p:nvSpPr>
        <p:spPr>
          <a:xfrm>
            <a:off x="7093800" y="6204600"/>
            <a:ext cx="42120" cy="55440"/>
          </a:xfrm>
          <a:custGeom>
            <a:avLst/>
            <a:gdLst/>
            <a:ahLst/>
            <a:rect l="l" t="t" r="r" b="b"/>
            <a:pathLst>
              <a:path w="42508" h="55962">
                <a:moveTo>
                  <a:pt x="0" y="42526"/>
                </a:moveTo>
                <a:lnTo>
                  <a:pt x="7184" y="46594"/>
                </a:lnTo>
                <a:lnTo>
                  <a:pt x="3832" y="53374"/>
                </a:lnTo>
                <a:lnTo>
                  <a:pt x="9819" y="55962"/>
                </a:lnTo>
                <a:lnTo>
                  <a:pt x="12453" y="49922"/>
                </a:lnTo>
                <a:lnTo>
                  <a:pt x="13411" y="50785"/>
                </a:lnTo>
                <a:lnTo>
                  <a:pt x="13171" y="48566"/>
                </a:lnTo>
                <a:lnTo>
                  <a:pt x="20476" y="32295"/>
                </a:lnTo>
                <a:lnTo>
                  <a:pt x="23948" y="34514"/>
                </a:lnTo>
                <a:lnTo>
                  <a:pt x="23828" y="39938"/>
                </a:lnTo>
                <a:lnTo>
                  <a:pt x="20476" y="51278"/>
                </a:lnTo>
                <a:lnTo>
                  <a:pt x="29695" y="54483"/>
                </a:lnTo>
                <a:lnTo>
                  <a:pt x="42508" y="21202"/>
                </a:lnTo>
                <a:lnTo>
                  <a:pt x="39275" y="17380"/>
                </a:lnTo>
                <a:lnTo>
                  <a:pt x="41909" y="7396"/>
                </a:lnTo>
                <a:lnTo>
                  <a:pt x="16404" y="0"/>
                </a:lnTo>
                <a:lnTo>
                  <a:pt x="0" y="42526"/>
                </a:lnTo>
                <a:close/>
              </a:path>
            </a:pathLst>
          </a:custGeom>
          <a:solidFill>
            <a:srgbClr val="ded5c5"/>
          </a:solidFill>
          <a:ln w="6191">
            <a:solidFill>
              <a:srgbClr val="b5a68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59" name="สหกรณ์เคหสถานชุมชนบัวหลวงจำกัด"/>
          <p:cNvSpPr/>
          <p:nvPr/>
        </p:nvSpPr>
        <p:spPr>
          <a:xfrm>
            <a:off x="7142400" y="6216840"/>
            <a:ext cx="20880" cy="19080"/>
          </a:xfrm>
          <a:custGeom>
            <a:avLst/>
            <a:gdLst/>
            <a:ahLst/>
            <a:rect l="l" t="t" r="r" b="b"/>
            <a:pathLst>
              <a:path w="21314" h="19476">
                <a:moveTo>
                  <a:pt x="5029" y="0"/>
                </a:moveTo>
                <a:lnTo>
                  <a:pt x="0" y="10847"/>
                </a:lnTo>
                <a:lnTo>
                  <a:pt x="3712" y="14299"/>
                </a:lnTo>
                <a:lnTo>
                  <a:pt x="5628" y="12326"/>
                </a:lnTo>
                <a:lnTo>
                  <a:pt x="9100" y="14299"/>
                </a:lnTo>
                <a:lnTo>
                  <a:pt x="7424" y="17504"/>
                </a:lnTo>
                <a:lnTo>
                  <a:pt x="11615" y="19476"/>
                </a:lnTo>
                <a:lnTo>
                  <a:pt x="21314" y="4684"/>
                </a:lnTo>
                <a:lnTo>
                  <a:pt x="5029" y="0"/>
                </a:lnTo>
                <a:close/>
              </a:path>
            </a:pathLst>
          </a:custGeom>
          <a:solidFill>
            <a:srgbClr val="ded5c5"/>
          </a:solidFill>
          <a:ln w="6191">
            <a:solidFill>
              <a:srgbClr val="b5a68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60" name="ตลาดท่าเรือคลองเตย"/>
          <p:cNvSpPr/>
          <p:nvPr/>
        </p:nvSpPr>
        <p:spPr>
          <a:xfrm>
            <a:off x="5607000" y="5757480"/>
            <a:ext cx="75600" cy="44640"/>
          </a:xfrm>
          <a:custGeom>
            <a:avLst/>
            <a:gdLst/>
            <a:ahLst/>
            <a:rect l="l" t="t" r="r" b="b"/>
            <a:pathLst>
              <a:path w="76035" h="44868">
                <a:moveTo>
                  <a:pt x="70287" y="34144"/>
                </a:moveTo>
                <a:lnTo>
                  <a:pt x="71964" y="30446"/>
                </a:lnTo>
                <a:lnTo>
                  <a:pt x="76035" y="26748"/>
                </a:lnTo>
                <a:lnTo>
                  <a:pt x="10777" y="0"/>
                </a:lnTo>
                <a:lnTo>
                  <a:pt x="8262" y="2589"/>
                </a:lnTo>
                <a:lnTo>
                  <a:pt x="0" y="27488"/>
                </a:lnTo>
                <a:lnTo>
                  <a:pt x="599" y="29090"/>
                </a:lnTo>
                <a:lnTo>
                  <a:pt x="37239" y="44868"/>
                </a:lnTo>
                <a:lnTo>
                  <a:pt x="44902" y="26995"/>
                </a:lnTo>
                <a:lnTo>
                  <a:pt x="69808" y="37842"/>
                </a:lnTo>
                <a:lnTo>
                  <a:pt x="70287" y="34144"/>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61" name="ตลาดท่าเรือคลองเตย"/>
          <p:cNvSpPr/>
          <p:nvPr/>
        </p:nvSpPr>
        <p:spPr>
          <a:xfrm>
            <a:off x="5606640" y="5796720"/>
            <a:ext cx="3240" cy="6840"/>
          </a:xfrm>
          <a:custGeom>
            <a:avLst/>
            <a:gdLst/>
            <a:ahLst/>
            <a:rect l="l" t="t" r="r" b="b"/>
            <a:pathLst>
              <a:path w="3592" h="7273">
                <a:moveTo>
                  <a:pt x="0" y="0"/>
                </a:moveTo>
                <a:lnTo>
                  <a:pt x="1078" y="6903"/>
                </a:lnTo>
                <a:lnTo>
                  <a:pt x="3592" y="7273"/>
                </a:lnTo>
                <a:lnTo>
                  <a:pt x="2515" y="0"/>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38160" bIns="-38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62" name="ตลาดท่าเรือคลองเตย"/>
          <p:cNvSpPr/>
          <p:nvPr/>
        </p:nvSpPr>
        <p:spPr>
          <a:xfrm>
            <a:off x="5609880" y="5791680"/>
            <a:ext cx="7920" cy="4320"/>
          </a:xfrm>
          <a:custGeom>
            <a:avLst/>
            <a:gdLst/>
            <a:ahLst/>
            <a:rect l="l" t="t" r="r" b="b"/>
            <a:pathLst>
              <a:path w="8262" h="4561">
                <a:moveTo>
                  <a:pt x="0" y="0"/>
                </a:moveTo>
                <a:lnTo>
                  <a:pt x="7903" y="4561"/>
                </a:lnTo>
                <a:lnTo>
                  <a:pt x="8262" y="3698"/>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40680" bIns="-40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63" name="ตลาดท่าเรือคลองเตย"/>
          <p:cNvSpPr/>
          <p:nvPr/>
        </p:nvSpPr>
        <p:spPr>
          <a:xfrm>
            <a:off x="5601960" y="5764320"/>
            <a:ext cx="6840" cy="9000"/>
          </a:xfrm>
          <a:custGeom>
            <a:avLst/>
            <a:gdLst/>
            <a:ahLst/>
            <a:rect l="l" t="t" r="r" b="b"/>
            <a:pathLst>
              <a:path w="7065" h="9245">
                <a:moveTo>
                  <a:pt x="3233" y="986"/>
                </a:moveTo>
                <a:lnTo>
                  <a:pt x="0" y="0"/>
                </a:lnTo>
                <a:lnTo>
                  <a:pt x="1317" y="7766"/>
                </a:lnTo>
                <a:lnTo>
                  <a:pt x="4670" y="9245"/>
                </a:lnTo>
                <a:lnTo>
                  <a:pt x="7065" y="2589"/>
                </a:lnTo>
                <a:lnTo>
                  <a:pt x="3233" y="986"/>
                </a:lnTo>
                <a:close/>
              </a:path>
            </a:pathLst>
          </a:custGeom>
          <a:solidFill>
            <a:srgbClr val="ded5c5"/>
          </a:solidFill>
          <a:ln w="6191">
            <a:solidFill>
              <a:srgbClr val="b5a68d"/>
            </a:solidFill>
            <a:round/>
          </a:ln>
        </p:spPr>
        <p:style>
          <a:lnRef idx="0"/>
          <a:fillRef idx="0"/>
          <a:effectRef idx="0"/>
          <a:fontRef idx="minor"/>
        </p:style>
        <p:txBody>
          <a:bodyPr lIns="90000" rIns="90000" tIns="-36000" bIns="-36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64" name="ตลาดท่าเรือคลองเตย"/>
          <p:cNvSpPr/>
          <p:nvPr/>
        </p:nvSpPr>
        <p:spPr>
          <a:xfrm>
            <a:off x="5599800" y="5749920"/>
            <a:ext cx="12240" cy="16200"/>
          </a:xfrm>
          <a:custGeom>
            <a:avLst/>
            <a:gdLst/>
            <a:ahLst/>
            <a:rect l="l" t="t" r="r" b="b"/>
            <a:pathLst>
              <a:path w="12573" h="16641">
                <a:moveTo>
                  <a:pt x="479" y="4438"/>
                </a:moveTo>
                <a:lnTo>
                  <a:pt x="2155" y="13682"/>
                </a:lnTo>
                <a:lnTo>
                  <a:pt x="9819" y="16641"/>
                </a:lnTo>
                <a:lnTo>
                  <a:pt x="12573" y="5793"/>
                </a:lnTo>
                <a:lnTo>
                  <a:pt x="0" y="0"/>
                </a:lnTo>
                <a:lnTo>
                  <a:pt x="479" y="4438"/>
                </a:lnTo>
                <a:close/>
              </a:path>
            </a:pathLst>
          </a:custGeom>
          <a:solidFill>
            <a:srgbClr val="ded5c5"/>
          </a:solidFill>
          <a:ln w="6191">
            <a:solidFill>
              <a:srgbClr val="b5a68d"/>
            </a:solidFill>
            <a:round/>
          </a:ln>
        </p:spPr>
        <p:style>
          <a:lnRef idx="0"/>
          <a:fillRef idx="0"/>
          <a:effectRef idx="0"/>
          <a:fontRef idx="minor"/>
        </p:style>
        <p:txBody>
          <a:bodyPr lIns="90000" rIns="90000" tIns="-28800" bIns="-28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65" name="ตลาดท่าเรือคลองเตย"/>
          <p:cNvSpPr/>
          <p:nvPr/>
        </p:nvSpPr>
        <p:spPr>
          <a:xfrm>
            <a:off x="5592240" y="5747040"/>
            <a:ext cx="6480" cy="19080"/>
          </a:xfrm>
          <a:custGeom>
            <a:avLst/>
            <a:gdLst/>
            <a:ahLst/>
            <a:rect l="l" t="t" r="r" b="b"/>
            <a:pathLst>
              <a:path w="6825" h="19476">
                <a:moveTo>
                  <a:pt x="2155" y="493"/>
                </a:moveTo>
                <a:lnTo>
                  <a:pt x="0" y="0"/>
                </a:lnTo>
                <a:lnTo>
                  <a:pt x="1796" y="18243"/>
                </a:lnTo>
                <a:lnTo>
                  <a:pt x="5029" y="19476"/>
                </a:lnTo>
                <a:lnTo>
                  <a:pt x="6825" y="18366"/>
                </a:lnTo>
                <a:lnTo>
                  <a:pt x="3832" y="1726"/>
                </a:lnTo>
                <a:lnTo>
                  <a:pt x="2155" y="493"/>
                </a:lnTo>
                <a:close/>
              </a:path>
            </a:pathLst>
          </a:custGeom>
          <a:solidFill>
            <a:srgbClr val="ded5c5"/>
          </a:solidFill>
          <a:ln w="6191">
            <a:solidFill>
              <a:srgbClr val="b5a68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66" name="แฟลต 1 - 10"/>
          <p:cNvSpPr/>
          <p:nvPr/>
        </p:nvSpPr>
        <p:spPr>
          <a:xfrm>
            <a:off x="5734440" y="5820840"/>
            <a:ext cx="43560" cy="22320"/>
          </a:xfrm>
          <a:custGeom>
            <a:avLst/>
            <a:gdLst/>
            <a:ahLst/>
            <a:rect l="l" t="t" r="r" b="b"/>
            <a:pathLst>
              <a:path w="44064" h="22557">
                <a:moveTo>
                  <a:pt x="20356" y="0"/>
                </a:moveTo>
                <a:lnTo>
                  <a:pt x="8262" y="2465"/>
                </a:lnTo>
                <a:lnTo>
                  <a:pt x="0" y="21448"/>
                </a:lnTo>
                <a:lnTo>
                  <a:pt x="17602" y="18490"/>
                </a:lnTo>
                <a:lnTo>
                  <a:pt x="18560" y="22557"/>
                </a:lnTo>
                <a:lnTo>
                  <a:pt x="44064" y="17011"/>
                </a:lnTo>
                <a:lnTo>
                  <a:pt x="43346" y="13436"/>
                </a:lnTo>
                <a:lnTo>
                  <a:pt x="39754" y="10477"/>
                </a:lnTo>
                <a:lnTo>
                  <a:pt x="32330" y="11957"/>
                </a:lnTo>
                <a:lnTo>
                  <a:pt x="31013" y="7273"/>
                </a:lnTo>
                <a:lnTo>
                  <a:pt x="20356" y="0"/>
                </a:lnTo>
                <a:close/>
              </a:path>
            </a:pathLst>
          </a:custGeom>
          <a:solidFill>
            <a:srgbClr val="ded5c5"/>
          </a:solidFill>
          <a:ln w="6191">
            <a:solidFill>
              <a:srgbClr val="b5a68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67" name="พหลโยธิน 24"/>
          <p:cNvSpPr/>
          <p:nvPr/>
        </p:nvSpPr>
        <p:spPr>
          <a:xfrm>
            <a:off x="5718240" y="4466520"/>
            <a:ext cx="74160" cy="52560"/>
          </a:xfrm>
          <a:custGeom>
            <a:avLst/>
            <a:gdLst/>
            <a:ahLst/>
            <a:rect l="l" t="t" r="r" b="b"/>
            <a:pathLst>
              <a:path w="74478" h="53004">
                <a:moveTo>
                  <a:pt x="2993" y="46964"/>
                </a:moveTo>
                <a:lnTo>
                  <a:pt x="3472" y="53004"/>
                </a:lnTo>
                <a:lnTo>
                  <a:pt x="30174" y="48443"/>
                </a:lnTo>
                <a:lnTo>
                  <a:pt x="31971" y="46101"/>
                </a:lnTo>
                <a:lnTo>
                  <a:pt x="74478" y="37349"/>
                </a:lnTo>
                <a:lnTo>
                  <a:pt x="73879" y="34144"/>
                </a:lnTo>
                <a:lnTo>
                  <a:pt x="71365" y="31926"/>
                </a:lnTo>
                <a:lnTo>
                  <a:pt x="63941" y="32049"/>
                </a:lnTo>
                <a:lnTo>
                  <a:pt x="63462" y="17997"/>
                </a:lnTo>
                <a:lnTo>
                  <a:pt x="46459" y="0"/>
                </a:lnTo>
                <a:lnTo>
                  <a:pt x="28618" y="493"/>
                </a:lnTo>
                <a:lnTo>
                  <a:pt x="27899" y="4314"/>
                </a:lnTo>
                <a:lnTo>
                  <a:pt x="10178" y="5300"/>
                </a:lnTo>
                <a:lnTo>
                  <a:pt x="2036" y="9245"/>
                </a:lnTo>
                <a:lnTo>
                  <a:pt x="0" y="19229"/>
                </a:lnTo>
                <a:lnTo>
                  <a:pt x="2993" y="46964"/>
                </a:lnTo>
                <a:close/>
              </a:path>
            </a:pathLst>
          </a:custGeom>
          <a:solidFill>
            <a:srgbClr val="ded5c5"/>
          </a:solidFill>
          <a:ln w="6191">
            <a:solidFill>
              <a:srgbClr val="b5a68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68" name="สวนผัก"/>
          <p:cNvSpPr/>
          <p:nvPr/>
        </p:nvSpPr>
        <p:spPr>
          <a:xfrm>
            <a:off x="5473440" y="4424400"/>
            <a:ext cx="35280" cy="33840"/>
          </a:xfrm>
          <a:custGeom>
            <a:avLst/>
            <a:gdLst/>
            <a:ahLst/>
            <a:rect l="l" t="t" r="r" b="b"/>
            <a:pathLst>
              <a:path w="35563" h="34268">
                <a:moveTo>
                  <a:pt x="0" y="34268"/>
                </a:moveTo>
                <a:lnTo>
                  <a:pt x="19877" y="28228"/>
                </a:lnTo>
                <a:lnTo>
                  <a:pt x="35563" y="0"/>
                </a:lnTo>
                <a:lnTo>
                  <a:pt x="17961" y="3205"/>
                </a:lnTo>
                <a:lnTo>
                  <a:pt x="16045" y="2342"/>
                </a:lnTo>
                <a:lnTo>
                  <a:pt x="0" y="34268"/>
                </a:lnTo>
                <a:close/>
              </a:path>
            </a:pathLst>
          </a:custGeom>
          <a:solidFill>
            <a:srgbClr val="ded5c5"/>
          </a:solidFill>
          <a:ln w="6191">
            <a:solidFill>
              <a:srgbClr val="b5a68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69" name="เคหะสถานเจริญชัย"/>
          <p:cNvSpPr/>
          <p:nvPr/>
        </p:nvSpPr>
        <p:spPr>
          <a:xfrm>
            <a:off x="5469480" y="4452840"/>
            <a:ext cx="23400" cy="19080"/>
          </a:xfrm>
          <a:custGeom>
            <a:avLst/>
            <a:gdLst/>
            <a:ahLst/>
            <a:rect l="l" t="t" r="r" b="b"/>
            <a:pathLst>
              <a:path w="23828" h="19353">
                <a:moveTo>
                  <a:pt x="3353" y="7026"/>
                </a:moveTo>
                <a:lnTo>
                  <a:pt x="0" y="14668"/>
                </a:lnTo>
                <a:lnTo>
                  <a:pt x="4909" y="19353"/>
                </a:lnTo>
                <a:lnTo>
                  <a:pt x="13291" y="18613"/>
                </a:lnTo>
                <a:lnTo>
                  <a:pt x="16165" y="16641"/>
                </a:lnTo>
                <a:lnTo>
                  <a:pt x="23828" y="0"/>
                </a:lnTo>
                <a:lnTo>
                  <a:pt x="3951" y="5547"/>
                </a:lnTo>
                <a:lnTo>
                  <a:pt x="3353" y="7026"/>
                </a:lnTo>
                <a:close/>
              </a:path>
            </a:pathLst>
          </a:custGeom>
          <a:solidFill>
            <a:srgbClr val="ded5c5"/>
          </a:solidFill>
          <a:ln w="6191">
            <a:solidFill>
              <a:srgbClr val="b5a68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70" name="หมู่บ้านไพฑูรย์นิเวศน์"/>
          <p:cNvSpPr/>
          <p:nvPr/>
        </p:nvSpPr>
        <p:spPr>
          <a:xfrm>
            <a:off x="5446800" y="4425480"/>
            <a:ext cx="37800" cy="25560"/>
          </a:xfrm>
          <a:custGeom>
            <a:avLst/>
            <a:gdLst/>
            <a:ahLst/>
            <a:rect l="l" t="t" r="r" b="b"/>
            <a:pathLst>
              <a:path w="38077" h="25762">
                <a:moveTo>
                  <a:pt x="7304" y="6287"/>
                </a:moveTo>
                <a:lnTo>
                  <a:pt x="7424" y="8012"/>
                </a:lnTo>
                <a:lnTo>
                  <a:pt x="0" y="9861"/>
                </a:lnTo>
                <a:lnTo>
                  <a:pt x="1078" y="17380"/>
                </a:lnTo>
                <a:lnTo>
                  <a:pt x="4071" y="20462"/>
                </a:lnTo>
                <a:lnTo>
                  <a:pt x="4550" y="25762"/>
                </a:lnTo>
                <a:lnTo>
                  <a:pt x="27061" y="21695"/>
                </a:lnTo>
                <a:lnTo>
                  <a:pt x="38077" y="1849"/>
                </a:lnTo>
                <a:lnTo>
                  <a:pt x="34006" y="0"/>
                </a:lnTo>
                <a:lnTo>
                  <a:pt x="7663" y="4807"/>
                </a:lnTo>
                <a:lnTo>
                  <a:pt x="7304" y="6287"/>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71" name="เกษมสำราญ"/>
          <p:cNvSpPr/>
          <p:nvPr/>
        </p:nvSpPr>
        <p:spPr>
          <a:xfrm>
            <a:off x="6106320" y="5626440"/>
            <a:ext cx="32760" cy="23040"/>
          </a:xfrm>
          <a:custGeom>
            <a:avLst/>
            <a:gdLst/>
            <a:ahLst/>
            <a:rect l="l" t="t" r="r" b="b"/>
            <a:pathLst>
              <a:path w="33048" h="23544">
                <a:moveTo>
                  <a:pt x="33048" y="0"/>
                </a:moveTo>
                <a:lnTo>
                  <a:pt x="7544" y="3082"/>
                </a:lnTo>
                <a:lnTo>
                  <a:pt x="7663" y="6040"/>
                </a:lnTo>
                <a:lnTo>
                  <a:pt x="120" y="6410"/>
                </a:lnTo>
                <a:lnTo>
                  <a:pt x="0" y="11710"/>
                </a:lnTo>
                <a:lnTo>
                  <a:pt x="2874" y="11710"/>
                </a:lnTo>
                <a:lnTo>
                  <a:pt x="2993" y="14422"/>
                </a:lnTo>
                <a:lnTo>
                  <a:pt x="8741" y="13559"/>
                </a:lnTo>
                <a:lnTo>
                  <a:pt x="10178" y="23297"/>
                </a:lnTo>
                <a:lnTo>
                  <a:pt x="16883" y="23544"/>
                </a:lnTo>
                <a:lnTo>
                  <a:pt x="24427" y="22064"/>
                </a:lnTo>
                <a:lnTo>
                  <a:pt x="27301" y="19969"/>
                </a:lnTo>
                <a:lnTo>
                  <a:pt x="32450" y="21202"/>
                </a:lnTo>
                <a:lnTo>
                  <a:pt x="33048" y="0"/>
                </a:lnTo>
                <a:close/>
              </a:path>
            </a:pathLst>
          </a:custGeom>
          <a:solidFill>
            <a:srgbClr val="ded5c5"/>
          </a:solidFill>
          <a:ln w="6191">
            <a:solidFill>
              <a:srgbClr val="b5a68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72" name="บางบัวเชิงสะพานไม้ 1"/>
          <p:cNvSpPr/>
          <p:nvPr/>
        </p:nvSpPr>
        <p:spPr>
          <a:xfrm>
            <a:off x="5937840" y="4019040"/>
            <a:ext cx="5400" cy="28080"/>
          </a:xfrm>
          <a:custGeom>
            <a:avLst/>
            <a:gdLst/>
            <a:ahLst/>
            <a:rect l="l" t="t" r="r" b="b"/>
            <a:pathLst>
              <a:path w="5867" h="28474">
                <a:moveTo>
                  <a:pt x="3951" y="25269"/>
                </a:moveTo>
                <a:lnTo>
                  <a:pt x="5867" y="493"/>
                </a:lnTo>
                <a:lnTo>
                  <a:pt x="958" y="0"/>
                </a:lnTo>
                <a:lnTo>
                  <a:pt x="0" y="1602"/>
                </a:lnTo>
                <a:lnTo>
                  <a:pt x="1557" y="2342"/>
                </a:lnTo>
                <a:lnTo>
                  <a:pt x="958" y="8875"/>
                </a:lnTo>
                <a:lnTo>
                  <a:pt x="2874" y="9615"/>
                </a:lnTo>
                <a:lnTo>
                  <a:pt x="2515" y="12080"/>
                </a:lnTo>
                <a:lnTo>
                  <a:pt x="599" y="13313"/>
                </a:lnTo>
                <a:lnTo>
                  <a:pt x="120" y="28474"/>
                </a:lnTo>
                <a:lnTo>
                  <a:pt x="3951" y="25269"/>
                </a:lnTo>
                <a:close/>
              </a:path>
            </a:pathLst>
          </a:custGeom>
          <a:solidFill>
            <a:srgbClr val="ded5c5"/>
          </a:solidFill>
          <a:ln w="6191">
            <a:solidFill>
              <a:srgbClr val="b5a68d"/>
            </a:solidFill>
            <a:round/>
          </a:ln>
        </p:spPr>
        <p:style>
          <a:lnRef idx="0"/>
          <a:fillRef idx="0"/>
          <a:effectRef idx="0"/>
          <a:fontRef idx="minor"/>
        </p:style>
        <p:txBody>
          <a:bodyPr lIns="90000" rIns="90000" tIns="-16920" bIns="-16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73" name="ซอยพัชราภา"/>
          <p:cNvSpPr/>
          <p:nvPr/>
        </p:nvSpPr>
        <p:spPr>
          <a:xfrm>
            <a:off x="5931000" y="3663720"/>
            <a:ext cx="35280" cy="16560"/>
          </a:xfrm>
          <a:custGeom>
            <a:avLst/>
            <a:gdLst/>
            <a:ahLst/>
            <a:rect l="l" t="t" r="r" b="b"/>
            <a:pathLst>
              <a:path w="35802" h="17011">
                <a:moveTo>
                  <a:pt x="24906" y="6040"/>
                </a:moveTo>
                <a:lnTo>
                  <a:pt x="23230" y="4684"/>
                </a:lnTo>
                <a:lnTo>
                  <a:pt x="23110" y="6163"/>
                </a:lnTo>
                <a:lnTo>
                  <a:pt x="21673" y="6040"/>
                </a:lnTo>
                <a:lnTo>
                  <a:pt x="21912" y="4314"/>
                </a:lnTo>
                <a:lnTo>
                  <a:pt x="23708" y="4561"/>
                </a:lnTo>
                <a:lnTo>
                  <a:pt x="21912" y="3328"/>
                </a:lnTo>
                <a:lnTo>
                  <a:pt x="19757" y="3698"/>
                </a:lnTo>
                <a:lnTo>
                  <a:pt x="19398" y="5670"/>
                </a:lnTo>
                <a:lnTo>
                  <a:pt x="13291" y="4931"/>
                </a:lnTo>
                <a:lnTo>
                  <a:pt x="13531" y="3205"/>
                </a:lnTo>
                <a:lnTo>
                  <a:pt x="17123" y="2219"/>
                </a:lnTo>
                <a:lnTo>
                  <a:pt x="16883" y="0"/>
                </a:lnTo>
                <a:lnTo>
                  <a:pt x="16285" y="1972"/>
                </a:lnTo>
                <a:lnTo>
                  <a:pt x="12573" y="2835"/>
                </a:lnTo>
                <a:lnTo>
                  <a:pt x="12094" y="8505"/>
                </a:lnTo>
                <a:lnTo>
                  <a:pt x="8621" y="7889"/>
                </a:lnTo>
                <a:lnTo>
                  <a:pt x="8861" y="6287"/>
                </a:lnTo>
                <a:lnTo>
                  <a:pt x="5987" y="6163"/>
                </a:lnTo>
                <a:lnTo>
                  <a:pt x="5748" y="7519"/>
                </a:lnTo>
                <a:lnTo>
                  <a:pt x="838" y="6780"/>
                </a:lnTo>
                <a:lnTo>
                  <a:pt x="0" y="12080"/>
                </a:lnTo>
                <a:lnTo>
                  <a:pt x="2395" y="12203"/>
                </a:lnTo>
                <a:lnTo>
                  <a:pt x="2634" y="9122"/>
                </a:lnTo>
                <a:lnTo>
                  <a:pt x="5748" y="9491"/>
                </a:lnTo>
                <a:lnTo>
                  <a:pt x="5867" y="7889"/>
                </a:lnTo>
                <a:lnTo>
                  <a:pt x="12094" y="8752"/>
                </a:lnTo>
                <a:lnTo>
                  <a:pt x="11615" y="12326"/>
                </a:lnTo>
                <a:lnTo>
                  <a:pt x="16524" y="13189"/>
                </a:lnTo>
                <a:lnTo>
                  <a:pt x="16285" y="15038"/>
                </a:lnTo>
                <a:lnTo>
                  <a:pt x="18919" y="14792"/>
                </a:lnTo>
                <a:lnTo>
                  <a:pt x="18919" y="9861"/>
                </a:lnTo>
                <a:lnTo>
                  <a:pt x="25624" y="11094"/>
                </a:lnTo>
                <a:lnTo>
                  <a:pt x="25385" y="12696"/>
                </a:lnTo>
                <a:lnTo>
                  <a:pt x="23230" y="12696"/>
                </a:lnTo>
                <a:lnTo>
                  <a:pt x="24187" y="14792"/>
                </a:lnTo>
                <a:lnTo>
                  <a:pt x="35084" y="17011"/>
                </a:lnTo>
                <a:lnTo>
                  <a:pt x="35802" y="13066"/>
                </a:lnTo>
                <a:lnTo>
                  <a:pt x="28139" y="11340"/>
                </a:lnTo>
                <a:lnTo>
                  <a:pt x="28019" y="8382"/>
                </a:lnTo>
                <a:lnTo>
                  <a:pt x="31851" y="9738"/>
                </a:lnTo>
                <a:lnTo>
                  <a:pt x="32450" y="6287"/>
                </a:lnTo>
                <a:lnTo>
                  <a:pt x="26223" y="4684"/>
                </a:lnTo>
                <a:lnTo>
                  <a:pt x="24906" y="6040"/>
                </a:lnTo>
                <a:close/>
              </a:path>
            </a:pathLst>
          </a:custGeom>
          <a:solidFill>
            <a:srgbClr val="ded5c5"/>
          </a:solidFill>
          <a:ln w="6191">
            <a:solidFill>
              <a:srgbClr val="b5a68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74" name="หมู่บ้านมหานครนิเวศน์"/>
          <p:cNvSpPr/>
          <p:nvPr/>
        </p:nvSpPr>
        <p:spPr>
          <a:xfrm>
            <a:off x="5854320" y="3819960"/>
            <a:ext cx="33840" cy="58680"/>
          </a:xfrm>
          <a:custGeom>
            <a:avLst/>
            <a:gdLst/>
            <a:ahLst/>
            <a:rect l="l" t="t" r="r" b="b"/>
            <a:pathLst>
              <a:path w="34365" h="59167">
                <a:moveTo>
                  <a:pt x="20236" y="863"/>
                </a:moveTo>
                <a:lnTo>
                  <a:pt x="14608" y="0"/>
                </a:lnTo>
                <a:lnTo>
                  <a:pt x="13291" y="1726"/>
                </a:lnTo>
                <a:lnTo>
                  <a:pt x="12333" y="1109"/>
                </a:lnTo>
                <a:lnTo>
                  <a:pt x="7903" y="8752"/>
                </a:lnTo>
                <a:lnTo>
                  <a:pt x="19637" y="16148"/>
                </a:lnTo>
                <a:lnTo>
                  <a:pt x="16644" y="21325"/>
                </a:lnTo>
                <a:lnTo>
                  <a:pt x="15087" y="20585"/>
                </a:lnTo>
                <a:lnTo>
                  <a:pt x="12213" y="23297"/>
                </a:lnTo>
                <a:lnTo>
                  <a:pt x="9819" y="33775"/>
                </a:lnTo>
                <a:lnTo>
                  <a:pt x="4071" y="34144"/>
                </a:lnTo>
                <a:lnTo>
                  <a:pt x="0" y="41540"/>
                </a:lnTo>
                <a:lnTo>
                  <a:pt x="5987" y="44499"/>
                </a:lnTo>
                <a:lnTo>
                  <a:pt x="2395" y="50785"/>
                </a:lnTo>
                <a:lnTo>
                  <a:pt x="5987" y="59167"/>
                </a:lnTo>
                <a:lnTo>
                  <a:pt x="14010" y="57072"/>
                </a:lnTo>
                <a:lnTo>
                  <a:pt x="28019" y="32295"/>
                </a:lnTo>
                <a:lnTo>
                  <a:pt x="19997" y="32419"/>
                </a:lnTo>
                <a:lnTo>
                  <a:pt x="19398" y="26255"/>
                </a:lnTo>
                <a:lnTo>
                  <a:pt x="25145" y="24776"/>
                </a:lnTo>
                <a:lnTo>
                  <a:pt x="22152" y="22927"/>
                </a:lnTo>
                <a:lnTo>
                  <a:pt x="21553" y="24283"/>
                </a:lnTo>
                <a:lnTo>
                  <a:pt x="18679" y="21941"/>
                </a:lnTo>
                <a:lnTo>
                  <a:pt x="21433" y="17257"/>
                </a:lnTo>
                <a:lnTo>
                  <a:pt x="31611" y="22311"/>
                </a:lnTo>
                <a:lnTo>
                  <a:pt x="33168" y="18983"/>
                </a:lnTo>
                <a:lnTo>
                  <a:pt x="34365" y="3205"/>
                </a:lnTo>
                <a:lnTo>
                  <a:pt x="20236" y="863"/>
                </a:lnTo>
                <a:close/>
              </a:path>
            </a:pathLst>
          </a:custGeom>
          <a:solidFill>
            <a:srgbClr val="ded5c5"/>
          </a:solidFill>
          <a:ln w="6191">
            <a:solidFill>
              <a:srgbClr val="b5a68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75" name="หมู่บ้านมหานครนิเวศน์"/>
          <p:cNvSpPr/>
          <p:nvPr/>
        </p:nvSpPr>
        <p:spPr>
          <a:xfrm>
            <a:off x="5873760" y="3873600"/>
            <a:ext cx="19800" cy="15480"/>
          </a:xfrm>
          <a:custGeom>
            <a:avLst/>
            <a:gdLst/>
            <a:ahLst/>
            <a:rect l="l" t="t" r="r" b="b"/>
            <a:pathLst>
              <a:path w="19997" h="15901">
                <a:moveTo>
                  <a:pt x="18200" y="7149"/>
                </a:moveTo>
                <a:lnTo>
                  <a:pt x="19997" y="4438"/>
                </a:lnTo>
                <a:lnTo>
                  <a:pt x="18200" y="1849"/>
                </a:lnTo>
                <a:lnTo>
                  <a:pt x="8621" y="0"/>
                </a:lnTo>
                <a:lnTo>
                  <a:pt x="1676" y="2589"/>
                </a:lnTo>
                <a:lnTo>
                  <a:pt x="1796" y="6163"/>
                </a:lnTo>
                <a:lnTo>
                  <a:pt x="0" y="8135"/>
                </a:lnTo>
                <a:lnTo>
                  <a:pt x="14010" y="15901"/>
                </a:lnTo>
                <a:lnTo>
                  <a:pt x="18200" y="7149"/>
                </a:lnTo>
                <a:close/>
              </a:path>
            </a:pathLst>
          </a:custGeom>
          <a:solidFill>
            <a:srgbClr val="ded5c5"/>
          </a:solidFill>
          <a:ln w="6191">
            <a:solidFill>
              <a:srgbClr val="b5a68d"/>
            </a:solidFill>
            <a:round/>
          </a:ln>
        </p:spPr>
        <p:style>
          <a:lnRef idx="0"/>
          <a:fillRef idx="0"/>
          <a:effectRef idx="0"/>
          <a:fontRef idx="minor"/>
        </p:style>
        <p:txBody>
          <a:bodyPr lIns="90000" rIns="90000" tIns="-29520" bIns="-29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76" name="หมู่บ้านมัณฑวรรณ"/>
          <p:cNvSpPr/>
          <p:nvPr/>
        </p:nvSpPr>
        <p:spPr>
          <a:xfrm>
            <a:off x="6781680" y="3162960"/>
            <a:ext cx="9720" cy="110880"/>
          </a:xfrm>
          <a:custGeom>
            <a:avLst/>
            <a:gdLst/>
            <a:ahLst/>
            <a:rect l="l" t="t" r="r" b="b"/>
            <a:pathLst>
              <a:path w="10058" h="111061">
                <a:moveTo>
                  <a:pt x="3472" y="28967"/>
                </a:moveTo>
                <a:lnTo>
                  <a:pt x="0" y="110815"/>
                </a:lnTo>
                <a:lnTo>
                  <a:pt x="4670" y="111061"/>
                </a:lnTo>
                <a:lnTo>
                  <a:pt x="10058" y="0"/>
                </a:lnTo>
                <a:lnTo>
                  <a:pt x="6705" y="123"/>
                </a:lnTo>
                <a:lnTo>
                  <a:pt x="6466" y="4684"/>
                </a:lnTo>
                <a:lnTo>
                  <a:pt x="4191" y="4931"/>
                </a:lnTo>
                <a:lnTo>
                  <a:pt x="3472" y="2896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77" name="หมู่บ้านทัพฟ้า"/>
          <p:cNvSpPr/>
          <p:nvPr/>
        </p:nvSpPr>
        <p:spPr>
          <a:xfrm>
            <a:off x="6706800" y="3272760"/>
            <a:ext cx="14760" cy="65880"/>
          </a:xfrm>
          <a:custGeom>
            <a:avLst/>
            <a:gdLst/>
            <a:ahLst/>
            <a:rect l="l" t="t" r="r" b="b"/>
            <a:pathLst>
              <a:path w="14967" h="66193">
                <a:moveTo>
                  <a:pt x="2874" y="0"/>
                </a:moveTo>
                <a:lnTo>
                  <a:pt x="0" y="65577"/>
                </a:lnTo>
                <a:lnTo>
                  <a:pt x="13531" y="66193"/>
                </a:lnTo>
                <a:lnTo>
                  <a:pt x="14967" y="493"/>
                </a:lnTo>
                <a:lnTo>
                  <a:pt x="2874" y="0"/>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78" name="ชุมชนแฟลต 11-18"/>
          <p:cNvSpPr/>
          <p:nvPr/>
        </p:nvSpPr>
        <p:spPr>
          <a:xfrm>
            <a:off x="5711760" y="5861520"/>
            <a:ext cx="39240" cy="25560"/>
          </a:xfrm>
          <a:custGeom>
            <a:avLst/>
            <a:gdLst/>
            <a:ahLst/>
            <a:rect l="l" t="t" r="r" b="b"/>
            <a:pathLst>
              <a:path w="39634" h="26009">
                <a:moveTo>
                  <a:pt x="30055" y="2219"/>
                </a:moveTo>
                <a:lnTo>
                  <a:pt x="27660" y="3698"/>
                </a:lnTo>
                <a:lnTo>
                  <a:pt x="32210" y="14175"/>
                </a:lnTo>
                <a:lnTo>
                  <a:pt x="29935" y="15408"/>
                </a:lnTo>
                <a:lnTo>
                  <a:pt x="9340" y="9368"/>
                </a:lnTo>
                <a:lnTo>
                  <a:pt x="838" y="12696"/>
                </a:lnTo>
                <a:lnTo>
                  <a:pt x="0" y="15531"/>
                </a:lnTo>
                <a:lnTo>
                  <a:pt x="8861" y="18736"/>
                </a:lnTo>
                <a:lnTo>
                  <a:pt x="13052" y="17380"/>
                </a:lnTo>
                <a:lnTo>
                  <a:pt x="15446" y="21325"/>
                </a:lnTo>
                <a:lnTo>
                  <a:pt x="19637" y="19722"/>
                </a:lnTo>
                <a:lnTo>
                  <a:pt x="22272" y="23297"/>
                </a:lnTo>
                <a:lnTo>
                  <a:pt x="25984" y="21695"/>
                </a:lnTo>
                <a:lnTo>
                  <a:pt x="28498" y="26009"/>
                </a:lnTo>
                <a:lnTo>
                  <a:pt x="36401" y="22311"/>
                </a:lnTo>
                <a:lnTo>
                  <a:pt x="35323" y="17257"/>
                </a:lnTo>
                <a:lnTo>
                  <a:pt x="39394" y="15408"/>
                </a:lnTo>
                <a:lnTo>
                  <a:pt x="37718" y="10724"/>
                </a:lnTo>
                <a:lnTo>
                  <a:pt x="39634" y="9861"/>
                </a:lnTo>
                <a:lnTo>
                  <a:pt x="34964" y="0"/>
                </a:lnTo>
                <a:lnTo>
                  <a:pt x="30055" y="2219"/>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79" name="แฟลต 19-22"/>
          <p:cNvSpPr/>
          <p:nvPr/>
        </p:nvSpPr>
        <p:spPr>
          <a:xfrm>
            <a:off x="5756040" y="5863680"/>
            <a:ext cx="15840" cy="11160"/>
          </a:xfrm>
          <a:custGeom>
            <a:avLst/>
            <a:gdLst/>
            <a:ahLst/>
            <a:rect l="l" t="t" r="r" b="b"/>
            <a:pathLst>
              <a:path w="16045" h="11587">
                <a:moveTo>
                  <a:pt x="0" y="7273"/>
                </a:moveTo>
                <a:lnTo>
                  <a:pt x="13531" y="11587"/>
                </a:lnTo>
                <a:lnTo>
                  <a:pt x="16045" y="4561"/>
                </a:lnTo>
                <a:lnTo>
                  <a:pt x="1197" y="0"/>
                </a:lnTo>
                <a:lnTo>
                  <a:pt x="0" y="7273"/>
                </a:lnTo>
                <a:close/>
              </a:path>
            </a:pathLst>
          </a:custGeom>
          <a:solidFill>
            <a:srgbClr val="ded5c5"/>
          </a:solidFill>
          <a:ln w="6191">
            <a:solidFill>
              <a:srgbClr val="b5a68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80" name="โรงพักเก่าบางขุนเทียน"/>
          <p:cNvSpPr/>
          <p:nvPr/>
        </p:nvSpPr>
        <p:spPr>
          <a:xfrm>
            <a:off x="4447440" y="6009120"/>
            <a:ext cx="22680" cy="22320"/>
          </a:xfrm>
          <a:custGeom>
            <a:avLst/>
            <a:gdLst/>
            <a:ahLst/>
            <a:rect l="l" t="t" r="r" b="b"/>
            <a:pathLst>
              <a:path w="22990" h="22804">
                <a:moveTo>
                  <a:pt x="9220" y="0"/>
                </a:moveTo>
                <a:lnTo>
                  <a:pt x="0" y="16641"/>
                </a:lnTo>
                <a:lnTo>
                  <a:pt x="7304" y="21078"/>
                </a:lnTo>
                <a:lnTo>
                  <a:pt x="9459" y="17873"/>
                </a:lnTo>
                <a:lnTo>
                  <a:pt x="18081" y="22804"/>
                </a:lnTo>
                <a:lnTo>
                  <a:pt x="22990" y="15778"/>
                </a:lnTo>
                <a:lnTo>
                  <a:pt x="11615" y="8505"/>
                </a:lnTo>
                <a:lnTo>
                  <a:pt x="14728" y="2589"/>
                </a:lnTo>
                <a:lnTo>
                  <a:pt x="9220" y="0"/>
                </a:lnTo>
                <a:close/>
              </a:path>
            </a:pathLst>
          </a:custGeom>
          <a:solidFill>
            <a:srgbClr val="ded5c5"/>
          </a:solidFill>
          <a:ln w="6191">
            <a:solidFill>
              <a:srgbClr val="b5a68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81" name="แก้วกลม"/>
          <p:cNvSpPr/>
          <p:nvPr/>
        </p:nvSpPr>
        <p:spPr>
          <a:xfrm>
            <a:off x="4130280" y="5959080"/>
            <a:ext cx="37800" cy="51840"/>
          </a:xfrm>
          <a:custGeom>
            <a:avLst/>
            <a:gdLst/>
            <a:ahLst/>
            <a:rect l="l" t="t" r="r" b="b"/>
            <a:pathLst>
              <a:path w="38197" h="52141">
                <a:moveTo>
                  <a:pt x="9579" y="28844"/>
                </a:moveTo>
                <a:lnTo>
                  <a:pt x="6466" y="27611"/>
                </a:lnTo>
                <a:lnTo>
                  <a:pt x="0" y="47334"/>
                </a:lnTo>
                <a:lnTo>
                  <a:pt x="11256" y="52141"/>
                </a:lnTo>
                <a:lnTo>
                  <a:pt x="14728" y="44375"/>
                </a:lnTo>
                <a:lnTo>
                  <a:pt x="16764" y="45238"/>
                </a:lnTo>
                <a:lnTo>
                  <a:pt x="23589" y="28351"/>
                </a:lnTo>
                <a:lnTo>
                  <a:pt x="25864" y="28721"/>
                </a:lnTo>
                <a:lnTo>
                  <a:pt x="38197" y="7273"/>
                </a:lnTo>
                <a:lnTo>
                  <a:pt x="24906" y="0"/>
                </a:lnTo>
                <a:lnTo>
                  <a:pt x="9579" y="28844"/>
                </a:lnTo>
                <a:close/>
              </a:path>
            </a:pathLst>
          </a:custGeom>
          <a:solidFill>
            <a:srgbClr val="ded5c5"/>
          </a:solidFill>
          <a:ln w="6191">
            <a:solidFill>
              <a:srgbClr val="b5a68d"/>
            </a:solidFill>
            <a:round/>
          </a:ln>
        </p:spPr>
        <p:style>
          <a:lnRef idx="0"/>
          <a:fillRef idx="0"/>
          <a:effectRef idx="0"/>
          <a:fontRef idx="minor"/>
        </p:style>
        <p:txBody>
          <a:bodyPr lIns="90000" rIns="90000" tIns="6840" bIns="6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82" name="รวมมิตร (ลุงเป้ง)"/>
          <p:cNvSpPr/>
          <p:nvPr/>
        </p:nvSpPr>
        <p:spPr>
          <a:xfrm>
            <a:off x="4302360" y="6168600"/>
            <a:ext cx="25560" cy="36360"/>
          </a:xfrm>
          <a:custGeom>
            <a:avLst/>
            <a:gdLst/>
            <a:ahLst/>
            <a:rect l="l" t="t" r="r" b="b"/>
            <a:pathLst>
              <a:path w="25984" h="36610">
                <a:moveTo>
                  <a:pt x="9819" y="0"/>
                </a:moveTo>
                <a:lnTo>
                  <a:pt x="6705" y="2712"/>
                </a:lnTo>
                <a:lnTo>
                  <a:pt x="14728" y="9615"/>
                </a:lnTo>
                <a:lnTo>
                  <a:pt x="0" y="23174"/>
                </a:lnTo>
                <a:lnTo>
                  <a:pt x="14848" y="36610"/>
                </a:lnTo>
                <a:lnTo>
                  <a:pt x="25984" y="20585"/>
                </a:lnTo>
                <a:lnTo>
                  <a:pt x="16165" y="10601"/>
                </a:lnTo>
                <a:lnTo>
                  <a:pt x="19039" y="7642"/>
                </a:lnTo>
                <a:lnTo>
                  <a:pt x="9819" y="0"/>
                </a:lnTo>
                <a:close/>
              </a:path>
            </a:pathLst>
          </a:custGeom>
          <a:solidFill>
            <a:srgbClr val="ded5c5"/>
          </a:solidFill>
          <a:ln w="6191">
            <a:solidFill>
              <a:srgbClr val="b5a68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83" name="ร่วมพัฒนาเอกชัย 31"/>
          <p:cNvSpPr/>
          <p:nvPr/>
        </p:nvSpPr>
        <p:spPr>
          <a:xfrm>
            <a:off x="4347000" y="6132600"/>
            <a:ext cx="21960" cy="19800"/>
          </a:xfrm>
          <a:custGeom>
            <a:avLst/>
            <a:gdLst/>
            <a:ahLst/>
            <a:rect l="l" t="t" r="r" b="b"/>
            <a:pathLst>
              <a:path w="22152" h="20215">
                <a:moveTo>
                  <a:pt x="15207" y="6656"/>
                </a:moveTo>
                <a:lnTo>
                  <a:pt x="6825" y="0"/>
                </a:lnTo>
                <a:lnTo>
                  <a:pt x="0" y="8012"/>
                </a:lnTo>
                <a:lnTo>
                  <a:pt x="14369" y="20215"/>
                </a:lnTo>
                <a:lnTo>
                  <a:pt x="22152" y="12203"/>
                </a:lnTo>
                <a:lnTo>
                  <a:pt x="15207" y="6656"/>
                </a:lnTo>
                <a:close/>
              </a:path>
            </a:pathLst>
          </a:custGeom>
          <a:solidFill>
            <a:srgbClr val="ded5c5"/>
          </a:solidFill>
          <a:ln w="6191">
            <a:solidFill>
              <a:srgbClr val="b5a68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84" name="สุขสันต์พัฒนาเอกชัย 26"/>
          <p:cNvSpPr/>
          <p:nvPr/>
        </p:nvSpPr>
        <p:spPr>
          <a:xfrm>
            <a:off x="4340520" y="6094440"/>
            <a:ext cx="22680" cy="17640"/>
          </a:xfrm>
          <a:custGeom>
            <a:avLst/>
            <a:gdLst/>
            <a:ahLst/>
            <a:rect l="l" t="t" r="r" b="b"/>
            <a:pathLst>
              <a:path w="22990" h="17873">
                <a:moveTo>
                  <a:pt x="0" y="12203"/>
                </a:moveTo>
                <a:lnTo>
                  <a:pt x="8142" y="17873"/>
                </a:lnTo>
                <a:lnTo>
                  <a:pt x="14608" y="9368"/>
                </a:lnTo>
                <a:lnTo>
                  <a:pt x="20236" y="13682"/>
                </a:lnTo>
                <a:lnTo>
                  <a:pt x="22990" y="9491"/>
                </a:lnTo>
                <a:lnTo>
                  <a:pt x="8502" y="0"/>
                </a:lnTo>
                <a:lnTo>
                  <a:pt x="0" y="12203"/>
                </a:lnTo>
                <a:close/>
              </a:path>
            </a:pathLst>
          </a:custGeom>
          <a:solidFill>
            <a:srgbClr val="ded5c5"/>
          </a:solidFill>
          <a:ln w="6191">
            <a:solidFill>
              <a:srgbClr val="b5a68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85" name="ตลาดน้ำวัดไทร"/>
          <p:cNvSpPr/>
          <p:nvPr/>
        </p:nvSpPr>
        <p:spPr>
          <a:xfrm>
            <a:off x="4349160" y="6090480"/>
            <a:ext cx="60840" cy="47880"/>
          </a:xfrm>
          <a:custGeom>
            <a:avLst/>
            <a:gdLst/>
            <a:ahLst/>
            <a:rect l="l" t="t" r="r" b="b"/>
            <a:pathLst>
              <a:path w="61307" h="48196">
                <a:moveTo>
                  <a:pt x="47417" y="22188"/>
                </a:moveTo>
                <a:lnTo>
                  <a:pt x="41669" y="27611"/>
                </a:lnTo>
                <a:lnTo>
                  <a:pt x="2275" y="0"/>
                </a:lnTo>
                <a:lnTo>
                  <a:pt x="0" y="3328"/>
                </a:lnTo>
                <a:lnTo>
                  <a:pt x="14608" y="13559"/>
                </a:lnTo>
                <a:lnTo>
                  <a:pt x="15327" y="14545"/>
                </a:lnTo>
                <a:lnTo>
                  <a:pt x="12932" y="18120"/>
                </a:lnTo>
                <a:lnTo>
                  <a:pt x="47417" y="42033"/>
                </a:lnTo>
                <a:lnTo>
                  <a:pt x="53883" y="48196"/>
                </a:lnTo>
                <a:lnTo>
                  <a:pt x="58194" y="44005"/>
                </a:lnTo>
                <a:lnTo>
                  <a:pt x="61307" y="31556"/>
                </a:lnTo>
                <a:lnTo>
                  <a:pt x="47417" y="22188"/>
                </a:lnTo>
                <a:close/>
              </a:path>
            </a:pathLst>
          </a:custGeom>
          <a:solidFill>
            <a:srgbClr val="ded5c5"/>
          </a:solidFill>
          <a:ln w="6191">
            <a:solidFill>
              <a:srgbClr val="b5a68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86" name="หลังตลาดวัดไทร"/>
          <p:cNvSpPr/>
          <p:nvPr/>
        </p:nvSpPr>
        <p:spPr>
          <a:xfrm>
            <a:off x="4368960" y="6124680"/>
            <a:ext cx="33480" cy="27360"/>
          </a:xfrm>
          <a:custGeom>
            <a:avLst/>
            <a:gdLst/>
            <a:ahLst/>
            <a:rect l="l" t="t" r="r" b="b"/>
            <a:pathLst>
              <a:path w="34006" h="27611">
                <a:moveTo>
                  <a:pt x="25385" y="6656"/>
                </a:moveTo>
                <a:lnTo>
                  <a:pt x="15327" y="0"/>
                </a:lnTo>
                <a:lnTo>
                  <a:pt x="0" y="12573"/>
                </a:lnTo>
                <a:lnTo>
                  <a:pt x="11375" y="21695"/>
                </a:lnTo>
                <a:lnTo>
                  <a:pt x="11136" y="22804"/>
                </a:lnTo>
                <a:lnTo>
                  <a:pt x="16404" y="27611"/>
                </a:lnTo>
                <a:lnTo>
                  <a:pt x="34006" y="14052"/>
                </a:lnTo>
                <a:lnTo>
                  <a:pt x="25385" y="6656"/>
                </a:lnTo>
                <a:close/>
              </a:path>
            </a:pathLst>
          </a:custGeom>
          <a:solidFill>
            <a:srgbClr val="ded5c5"/>
          </a:solidFill>
          <a:ln w="6191">
            <a:solidFill>
              <a:srgbClr val="b5a68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87" name="ซอยสุดเขต"/>
          <p:cNvSpPr/>
          <p:nvPr/>
        </p:nvSpPr>
        <p:spPr>
          <a:xfrm>
            <a:off x="4695480" y="6175800"/>
            <a:ext cx="34200" cy="25920"/>
          </a:xfrm>
          <a:custGeom>
            <a:avLst/>
            <a:gdLst/>
            <a:ahLst/>
            <a:rect l="l" t="t" r="r" b="b"/>
            <a:pathLst>
              <a:path w="34605" h="26379">
                <a:moveTo>
                  <a:pt x="0" y="7889"/>
                </a:moveTo>
                <a:lnTo>
                  <a:pt x="4311" y="26379"/>
                </a:lnTo>
                <a:lnTo>
                  <a:pt x="18440" y="23544"/>
                </a:lnTo>
                <a:lnTo>
                  <a:pt x="24786" y="20708"/>
                </a:lnTo>
                <a:lnTo>
                  <a:pt x="25505" y="22804"/>
                </a:lnTo>
                <a:lnTo>
                  <a:pt x="27899" y="22064"/>
                </a:lnTo>
                <a:lnTo>
                  <a:pt x="27420" y="20708"/>
                </a:lnTo>
                <a:lnTo>
                  <a:pt x="34605" y="18120"/>
                </a:lnTo>
                <a:lnTo>
                  <a:pt x="29935" y="370"/>
                </a:lnTo>
                <a:lnTo>
                  <a:pt x="16524" y="3821"/>
                </a:lnTo>
                <a:lnTo>
                  <a:pt x="16045" y="0"/>
                </a:lnTo>
                <a:lnTo>
                  <a:pt x="3233" y="4314"/>
                </a:lnTo>
                <a:lnTo>
                  <a:pt x="3712" y="6903"/>
                </a:lnTo>
                <a:lnTo>
                  <a:pt x="0" y="7889"/>
                </a:lnTo>
                <a:close/>
              </a:path>
            </a:pathLst>
          </a:custGeom>
          <a:solidFill>
            <a:srgbClr val="ded5c5"/>
          </a:solidFill>
          <a:ln w="6191">
            <a:solidFill>
              <a:srgbClr val="b5a68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88" name="ภาณุมาภรณ์พัฒนา"/>
          <p:cNvSpPr/>
          <p:nvPr/>
        </p:nvSpPr>
        <p:spPr>
          <a:xfrm>
            <a:off x="4597560" y="6065280"/>
            <a:ext cx="38880" cy="40680"/>
          </a:xfrm>
          <a:custGeom>
            <a:avLst/>
            <a:gdLst/>
            <a:ahLst/>
            <a:rect l="l" t="t" r="r" b="b"/>
            <a:pathLst>
              <a:path w="39275" h="41170">
                <a:moveTo>
                  <a:pt x="0" y="12080"/>
                </a:moveTo>
                <a:lnTo>
                  <a:pt x="3712" y="20462"/>
                </a:lnTo>
                <a:lnTo>
                  <a:pt x="14010" y="26625"/>
                </a:lnTo>
                <a:lnTo>
                  <a:pt x="16524" y="24530"/>
                </a:lnTo>
                <a:lnTo>
                  <a:pt x="26103" y="41170"/>
                </a:lnTo>
                <a:lnTo>
                  <a:pt x="39275" y="33035"/>
                </a:lnTo>
                <a:lnTo>
                  <a:pt x="30055" y="16148"/>
                </a:lnTo>
                <a:lnTo>
                  <a:pt x="36042" y="12450"/>
                </a:lnTo>
                <a:lnTo>
                  <a:pt x="30055" y="2096"/>
                </a:lnTo>
                <a:lnTo>
                  <a:pt x="17961" y="0"/>
                </a:lnTo>
                <a:lnTo>
                  <a:pt x="14967" y="2096"/>
                </a:lnTo>
                <a:lnTo>
                  <a:pt x="14249" y="863"/>
                </a:lnTo>
                <a:lnTo>
                  <a:pt x="11974" y="4561"/>
                </a:lnTo>
                <a:lnTo>
                  <a:pt x="0" y="12080"/>
                </a:lnTo>
                <a:close/>
              </a:path>
            </a:pathLst>
          </a:custGeom>
          <a:solidFill>
            <a:srgbClr val="ded5c5"/>
          </a:solidFill>
          <a:ln w="6191">
            <a:solidFill>
              <a:srgbClr val="b5a68d"/>
            </a:solidFill>
            <a:round/>
          </a:ln>
        </p:spPr>
        <p:style>
          <a:lnRef idx="0"/>
          <a:fillRef idx="0"/>
          <a:effectRef idx="0"/>
          <a:fontRef idx="minor"/>
        </p:style>
        <p:txBody>
          <a:bodyPr lIns="90000" rIns="90000" tIns="-4320" bIns="-4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89" name="ซอยปลั่งอนุสรณ์"/>
          <p:cNvSpPr/>
          <p:nvPr/>
        </p:nvSpPr>
        <p:spPr>
          <a:xfrm>
            <a:off x="4535640" y="6132960"/>
            <a:ext cx="42120" cy="39240"/>
          </a:xfrm>
          <a:custGeom>
            <a:avLst/>
            <a:gdLst/>
            <a:ahLst/>
            <a:rect l="l" t="t" r="r" b="b"/>
            <a:pathLst>
              <a:path w="42508" h="39691">
                <a:moveTo>
                  <a:pt x="4311" y="32419"/>
                </a:moveTo>
                <a:lnTo>
                  <a:pt x="9459" y="39691"/>
                </a:lnTo>
                <a:lnTo>
                  <a:pt x="42508" y="29953"/>
                </a:lnTo>
                <a:lnTo>
                  <a:pt x="34605" y="18243"/>
                </a:lnTo>
                <a:lnTo>
                  <a:pt x="31492" y="19106"/>
                </a:lnTo>
                <a:lnTo>
                  <a:pt x="27061" y="0"/>
                </a:lnTo>
                <a:lnTo>
                  <a:pt x="0" y="6656"/>
                </a:lnTo>
                <a:lnTo>
                  <a:pt x="6226" y="23544"/>
                </a:lnTo>
                <a:lnTo>
                  <a:pt x="4311" y="32419"/>
                </a:lnTo>
                <a:close/>
              </a:path>
            </a:pathLst>
          </a:custGeom>
          <a:solidFill>
            <a:srgbClr val="ded5c5"/>
          </a:solidFill>
          <a:ln w="6191">
            <a:solidFill>
              <a:srgbClr val="b5a68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90" name="เรือนไทยพัฒนา"/>
          <p:cNvSpPr/>
          <p:nvPr/>
        </p:nvSpPr>
        <p:spPr>
          <a:xfrm>
            <a:off x="4409640" y="6093720"/>
            <a:ext cx="45000" cy="37800"/>
          </a:xfrm>
          <a:custGeom>
            <a:avLst/>
            <a:gdLst/>
            <a:ahLst/>
            <a:rect l="l" t="t" r="r" b="b"/>
            <a:pathLst>
              <a:path w="45262" h="38212">
                <a:moveTo>
                  <a:pt x="14728" y="25393"/>
                </a:moveTo>
                <a:lnTo>
                  <a:pt x="24068" y="10108"/>
                </a:lnTo>
                <a:lnTo>
                  <a:pt x="44543" y="22927"/>
                </a:lnTo>
                <a:lnTo>
                  <a:pt x="45262" y="21818"/>
                </a:lnTo>
                <a:lnTo>
                  <a:pt x="25385" y="8998"/>
                </a:lnTo>
                <a:lnTo>
                  <a:pt x="27899" y="4684"/>
                </a:lnTo>
                <a:lnTo>
                  <a:pt x="19518" y="0"/>
                </a:lnTo>
                <a:lnTo>
                  <a:pt x="5269" y="21571"/>
                </a:lnTo>
                <a:lnTo>
                  <a:pt x="1796" y="29337"/>
                </a:lnTo>
                <a:lnTo>
                  <a:pt x="0" y="38212"/>
                </a:lnTo>
                <a:lnTo>
                  <a:pt x="6226" y="38089"/>
                </a:lnTo>
                <a:lnTo>
                  <a:pt x="14728" y="25393"/>
                </a:lnTo>
                <a:close/>
              </a:path>
            </a:pathLst>
          </a:custGeom>
          <a:solidFill>
            <a:srgbClr val="ded5c5"/>
          </a:solidFill>
          <a:ln w="6191">
            <a:solidFill>
              <a:srgbClr val="b5a68d"/>
            </a:solidFill>
            <a:round/>
          </a:ln>
        </p:spPr>
        <p:style>
          <a:lnRef idx="0"/>
          <a:fillRef idx="0"/>
          <a:effectRef idx="0"/>
          <a:fontRef idx="minor"/>
        </p:style>
        <p:txBody>
          <a:bodyPr lIns="90000" rIns="90000" tIns="-7200" bIns="-7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91" name="สามง่ามพัฒนา"/>
          <p:cNvSpPr/>
          <p:nvPr/>
        </p:nvSpPr>
        <p:spPr>
          <a:xfrm>
            <a:off x="4520880" y="6119280"/>
            <a:ext cx="18360" cy="47520"/>
          </a:xfrm>
          <a:custGeom>
            <a:avLst/>
            <a:gdLst/>
            <a:ahLst/>
            <a:rect l="l" t="t" r="r" b="b"/>
            <a:pathLst>
              <a:path w="18679" h="47827">
                <a:moveTo>
                  <a:pt x="18679" y="38089"/>
                </a:moveTo>
                <a:lnTo>
                  <a:pt x="18560" y="34761"/>
                </a:lnTo>
                <a:lnTo>
                  <a:pt x="16404" y="32912"/>
                </a:lnTo>
                <a:lnTo>
                  <a:pt x="12333" y="22188"/>
                </a:lnTo>
                <a:lnTo>
                  <a:pt x="11136" y="15408"/>
                </a:lnTo>
                <a:lnTo>
                  <a:pt x="8382" y="11340"/>
                </a:lnTo>
                <a:lnTo>
                  <a:pt x="6466" y="0"/>
                </a:lnTo>
                <a:lnTo>
                  <a:pt x="718" y="1233"/>
                </a:lnTo>
                <a:lnTo>
                  <a:pt x="7424" y="28228"/>
                </a:lnTo>
                <a:lnTo>
                  <a:pt x="0" y="30446"/>
                </a:lnTo>
                <a:lnTo>
                  <a:pt x="2036" y="39075"/>
                </a:lnTo>
                <a:lnTo>
                  <a:pt x="3951" y="39198"/>
                </a:lnTo>
                <a:lnTo>
                  <a:pt x="5748" y="47827"/>
                </a:lnTo>
                <a:lnTo>
                  <a:pt x="15686" y="47334"/>
                </a:lnTo>
                <a:lnTo>
                  <a:pt x="18679" y="38089"/>
                </a:lnTo>
                <a:close/>
              </a:path>
            </a:pathLst>
          </a:custGeom>
          <a:solidFill>
            <a:srgbClr val="ded5c5"/>
          </a:solidFill>
          <a:ln w="6191">
            <a:solidFill>
              <a:srgbClr val="b5a68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92" name="หมู่บ้านเทพทิพย์นิเวศน์"/>
          <p:cNvSpPr/>
          <p:nvPr/>
        </p:nvSpPr>
        <p:spPr>
          <a:xfrm>
            <a:off x="6557040" y="3268080"/>
            <a:ext cx="27000" cy="64080"/>
          </a:xfrm>
          <a:custGeom>
            <a:avLst/>
            <a:gdLst/>
            <a:ahLst/>
            <a:rect l="l" t="t" r="r" b="b"/>
            <a:pathLst>
              <a:path w="27420" h="64344">
                <a:moveTo>
                  <a:pt x="0" y="63974"/>
                </a:moveTo>
                <a:lnTo>
                  <a:pt x="26822" y="64344"/>
                </a:lnTo>
                <a:lnTo>
                  <a:pt x="27420" y="57934"/>
                </a:lnTo>
                <a:lnTo>
                  <a:pt x="12333" y="56702"/>
                </a:lnTo>
                <a:lnTo>
                  <a:pt x="12692" y="48936"/>
                </a:lnTo>
                <a:lnTo>
                  <a:pt x="16045" y="49059"/>
                </a:lnTo>
                <a:lnTo>
                  <a:pt x="16524" y="37596"/>
                </a:lnTo>
                <a:lnTo>
                  <a:pt x="19757" y="37103"/>
                </a:lnTo>
                <a:lnTo>
                  <a:pt x="19637" y="30323"/>
                </a:lnTo>
                <a:lnTo>
                  <a:pt x="16524" y="30200"/>
                </a:lnTo>
                <a:lnTo>
                  <a:pt x="17003" y="15162"/>
                </a:lnTo>
                <a:lnTo>
                  <a:pt x="20236" y="15038"/>
                </a:lnTo>
                <a:lnTo>
                  <a:pt x="20476" y="1356"/>
                </a:lnTo>
                <a:lnTo>
                  <a:pt x="2754" y="0"/>
                </a:lnTo>
                <a:lnTo>
                  <a:pt x="0" y="63974"/>
                </a:lnTo>
                <a:close/>
              </a:path>
            </a:pathLst>
          </a:custGeom>
          <a:solidFill>
            <a:srgbClr val="ded5c5"/>
          </a:solidFill>
          <a:ln w="6191">
            <a:solidFill>
              <a:srgbClr val="b5a68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93" name="หมู่บ้านพลายรัตนะ"/>
          <p:cNvSpPr/>
          <p:nvPr/>
        </p:nvSpPr>
        <p:spPr>
          <a:xfrm>
            <a:off x="6451560" y="3145680"/>
            <a:ext cx="122760" cy="93240"/>
          </a:xfrm>
          <a:custGeom>
            <a:avLst/>
            <a:gdLst/>
            <a:ahLst/>
            <a:rect l="l" t="t" r="r" b="b"/>
            <a:pathLst>
              <a:path w="122973" h="93558">
                <a:moveTo>
                  <a:pt x="0" y="87518"/>
                </a:moveTo>
                <a:lnTo>
                  <a:pt x="10777" y="93558"/>
                </a:lnTo>
                <a:lnTo>
                  <a:pt x="39155" y="73096"/>
                </a:lnTo>
                <a:lnTo>
                  <a:pt x="37718" y="70877"/>
                </a:lnTo>
                <a:lnTo>
                  <a:pt x="76753" y="42773"/>
                </a:lnTo>
                <a:lnTo>
                  <a:pt x="74957" y="41047"/>
                </a:lnTo>
                <a:lnTo>
                  <a:pt x="121177" y="7026"/>
                </a:lnTo>
                <a:lnTo>
                  <a:pt x="122973" y="0"/>
                </a:lnTo>
                <a:lnTo>
                  <a:pt x="0" y="8751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94" name="หมู่บ้านอัมรินทร์นิเวศน์ 3 ผัง 1 ม.5"/>
          <p:cNvSpPr/>
          <p:nvPr/>
        </p:nvSpPr>
        <p:spPr>
          <a:xfrm>
            <a:off x="6585480" y="3156840"/>
            <a:ext cx="30600" cy="106560"/>
          </a:xfrm>
          <a:custGeom>
            <a:avLst/>
            <a:gdLst/>
            <a:ahLst/>
            <a:rect l="l" t="t" r="r" b="b"/>
            <a:pathLst>
              <a:path w="31132" h="106994">
                <a:moveTo>
                  <a:pt x="3472" y="106747"/>
                </a:moveTo>
                <a:lnTo>
                  <a:pt x="26343" y="106994"/>
                </a:lnTo>
                <a:lnTo>
                  <a:pt x="31132" y="247"/>
                </a:lnTo>
                <a:lnTo>
                  <a:pt x="26103" y="0"/>
                </a:lnTo>
                <a:lnTo>
                  <a:pt x="18320" y="38089"/>
                </a:lnTo>
                <a:lnTo>
                  <a:pt x="16644" y="37596"/>
                </a:lnTo>
                <a:lnTo>
                  <a:pt x="0" y="106254"/>
                </a:lnTo>
                <a:lnTo>
                  <a:pt x="3472" y="106747"/>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95" name="หมู่บ้านอัมรินทร์นิเวศน์ 3 ผัง 2 ม.1&#10;"/>
          <p:cNvSpPr/>
          <p:nvPr/>
        </p:nvSpPr>
        <p:spPr>
          <a:xfrm>
            <a:off x="7114320" y="3160440"/>
            <a:ext cx="11880" cy="105840"/>
          </a:xfrm>
          <a:custGeom>
            <a:avLst/>
            <a:gdLst/>
            <a:ahLst/>
            <a:rect l="l" t="t" r="r" b="b"/>
            <a:pathLst>
              <a:path w="12094" h="106377">
                <a:moveTo>
                  <a:pt x="3113" y="102310"/>
                </a:moveTo>
                <a:lnTo>
                  <a:pt x="3113" y="106131"/>
                </a:lnTo>
                <a:lnTo>
                  <a:pt x="12094" y="106377"/>
                </a:lnTo>
                <a:lnTo>
                  <a:pt x="8980" y="0"/>
                </a:lnTo>
                <a:lnTo>
                  <a:pt x="0" y="493"/>
                </a:lnTo>
                <a:lnTo>
                  <a:pt x="3113" y="10231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96" name="หมู่บ้านแอนเน็กซ์"/>
          <p:cNvSpPr/>
          <p:nvPr/>
        </p:nvSpPr>
        <p:spPr>
          <a:xfrm>
            <a:off x="6401520" y="3072240"/>
            <a:ext cx="176400" cy="46440"/>
          </a:xfrm>
          <a:custGeom>
            <a:avLst/>
            <a:gdLst/>
            <a:ahLst/>
            <a:rect l="l" t="t" r="r" b="b"/>
            <a:pathLst>
              <a:path w="176736" h="46841">
                <a:moveTo>
                  <a:pt x="93277" y="44745"/>
                </a:moveTo>
                <a:lnTo>
                  <a:pt x="149076" y="46841"/>
                </a:lnTo>
                <a:lnTo>
                  <a:pt x="149555" y="40554"/>
                </a:lnTo>
                <a:lnTo>
                  <a:pt x="160212" y="40431"/>
                </a:lnTo>
                <a:lnTo>
                  <a:pt x="161409" y="35993"/>
                </a:lnTo>
                <a:lnTo>
                  <a:pt x="175179" y="35624"/>
                </a:lnTo>
                <a:lnTo>
                  <a:pt x="176736" y="6040"/>
                </a:lnTo>
                <a:lnTo>
                  <a:pt x="0" y="0"/>
                </a:lnTo>
                <a:lnTo>
                  <a:pt x="6945" y="39568"/>
                </a:lnTo>
                <a:lnTo>
                  <a:pt x="62624" y="41787"/>
                </a:lnTo>
                <a:lnTo>
                  <a:pt x="93277" y="44745"/>
                </a:lnTo>
                <a:close/>
              </a:path>
            </a:pathLst>
          </a:custGeom>
          <a:solidFill>
            <a:srgbClr val="ded5c5"/>
          </a:solidFill>
          <a:ln w="6191">
            <a:solidFill>
              <a:srgbClr val="b5a68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97" name="หมู่บ้านเจริญวงศ์"/>
          <p:cNvSpPr/>
          <p:nvPr/>
        </p:nvSpPr>
        <p:spPr>
          <a:xfrm>
            <a:off x="6513840" y="3295440"/>
            <a:ext cx="28800" cy="7200"/>
          </a:xfrm>
          <a:custGeom>
            <a:avLst/>
            <a:gdLst/>
            <a:ahLst/>
            <a:rect l="l" t="t" r="r" b="b"/>
            <a:pathLst>
              <a:path w="29097" h="7642">
                <a:moveTo>
                  <a:pt x="120" y="0"/>
                </a:moveTo>
                <a:lnTo>
                  <a:pt x="0" y="6533"/>
                </a:lnTo>
                <a:lnTo>
                  <a:pt x="29097" y="7642"/>
                </a:lnTo>
                <a:lnTo>
                  <a:pt x="29097" y="1233"/>
                </a:lnTo>
                <a:lnTo>
                  <a:pt x="120" y="0"/>
                </a:lnTo>
                <a:close/>
              </a:path>
            </a:pathLst>
          </a:custGeom>
          <a:solidFill>
            <a:srgbClr val="ded5c5"/>
          </a:solidFill>
          <a:ln w="6191">
            <a:solidFill>
              <a:srgbClr val="b5a68d"/>
            </a:solidFill>
            <a:round/>
          </a:ln>
        </p:spPr>
        <p:style>
          <a:lnRef idx="0"/>
          <a:fillRef idx="0"/>
          <a:effectRef idx="0"/>
          <a:fontRef idx="minor"/>
        </p:style>
        <p:txBody>
          <a:bodyPr lIns="90000" rIns="90000" tIns="-37800" bIns="-37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98" name="หมู่บ้านอัมรินทร์นิเวศน์ 3 ผัง 4"/>
          <p:cNvSpPr/>
          <p:nvPr/>
        </p:nvSpPr>
        <p:spPr>
          <a:xfrm>
            <a:off x="6626520" y="3156840"/>
            <a:ext cx="21600" cy="110160"/>
          </a:xfrm>
          <a:custGeom>
            <a:avLst/>
            <a:gdLst/>
            <a:ahLst/>
            <a:rect l="l" t="t" r="r" b="b"/>
            <a:pathLst>
              <a:path w="21793" h="110445">
                <a:moveTo>
                  <a:pt x="16524" y="110445"/>
                </a:moveTo>
                <a:lnTo>
                  <a:pt x="21793" y="986"/>
                </a:lnTo>
                <a:lnTo>
                  <a:pt x="5748" y="0"/>
                </a:lnTo>
                <a:lnTo>
                  <a:pt x="0" y="110445"/>
                </a:lnTo>
                <a:lnTo>
                  <a:pt x="16524" y="110445"/>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399" name="หมู่บ้านชลลดา"/>
          <p:cNvSpPr/>
          <p:nvPr/>
        </p:nvSpPr>
        <p:spPr>
          <a:xfrm>
            <a:off x="6605640" y="3337920"/>
            <a:ext cx="73080" cy="78480"/>
          </a:xfrm>
          <a:custGeom>
            <a:avLst/>
            <a:gdLst/>
            <a:ahLst/>
            <a:rect l="l" t="t" r="r" b="b"/>
            <a:pathLst>
              <a:path w="73281" h="79013">
                <a:moveTo>
                  <a:pt x="42627" y="61756"/>
                </a:moveTo>
                <a:lnTo>
                  <a:pt x="46579" y="73836"/>
                </a:lnTo>
                <a:lnTo>
                  <a:pt x="52686" y="74082"/>
                </a:lnTo>
                <a:lnTo>
                  <a:pt x="52805" y="78889"/>
                </a:lnTo>
                <a:lnTo>
                  <a:pt x="58792" y="79013"/>
                </a:lnTo>
                <a:lnTo>
                  <a:pt x="59032" y="75808"/>
                </a:lnTo>
                <a:lnTo>
                  <a:pt x="68850" y="75561"/>
                </a:lnTo>
                <a:lnTo>
                  <a:pt x="73281" y="7273"/>
                </a:lnTo>
                <a:lnTo>
                  <a:pt x="56158" y="7396"/>
                </a:lnTo>
                <a:lnTo>
                  <a:pt x="21673" y="0"/>
                </a:lnTo>
                <a:lnTo>
                  <a:pt x="18320" y="7519"/>
                </a:lnTo>
                <a:lnTo>
                  <a:pt x="12333" y="9245"/>
                </a:lnTo>
                <a:lnTo>
                  <a:pt x="8861" y="18243"/>
                </a:lnTo>
                <a:lnTo>
                  <a:pt x="2993" y="35007"/>
                </a:lnTo>
                <a:lnTo>
                  <a:pt x="2754" y="54236"/>
                </a:lnTo>
                <a:lnTo>
                  <a:pt x="0" y="53990"/>
                </a:lnTo>
                <a:lnTo>
                  <a:pt x="120" y="58181"/>
                </a:lnTo>
                <a:lnTo>
                  <a:pt x="17123" y="58674"/>
                </a:lnTo>
                <a:lnTo>
                  <a:pt x="17123" y="62372"/>
                </a:lnTo>
                <a:lnTo>
                  <a:pt x="42627" y="61756"/>
                </a:lnTo>
                <a:close/>
              </a:path>
            </a:pathLst>
          </a:custGeom>
          <a:solidFill>
            <a:srgbClr val="ded5c5"/>
          </a:solidFill>
          <a:ln w="6191">
            <a:solidFill>
              <a:srgbClr val="b5a68d"/>
            </a:solidFill>
            <a:round/>
          </a:ln>
        </p:spPr>
        <p:style>
          <a:lnRef idx="0"/>
          <a:fillRef idx="0"/>
          <a:effectRef idx="0"/>
          <a:fontRef idx="minor"/>
        </p:style>
        <p:txBody>
          <a:bodyPr lIns="90000" rIns="90000" tIns="33480" bIns="33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00" name="หมู่บ้านอัมรินทร์นิเวศน์ 3 ผัง 3"/>
          <p:cNvSpPr/>
          <p:nvPr/>
        </p:nvSpPr>
        <p:spPr>
          <a:xfrm>
            <a:off x="6603480" y="3268800"/>
            <a:ext cx="11160" cy="65520"/>
          </a:xfrm>
          <a:custGeom>
            <a:avLst/>
            <a:gdLst/>
            <a:ahLst/>
            <a:rect l="l" t="t" r="r" b="b"/>
            <a:pathLst>
              <a:path w="11615" h="65947">
                <a:moveTo>
                  <a:pt x="2634" y="0"/>
                </a:moveTo>
                <a:lnTo>
                  <a:pt x="0" y="65330"/>
                </a:lnTo>
                <a:lnTo>
                  <a:pt x="8621" y="65947"/>
                </a:lnTo>
                <a:lnTo>
                  <a:pt x="11615" y="247"/>
                </a:lnTo>
                <a:lnTo>
                  <a:pt x="2634" y="0"/>
                </a:lnTo>
                <a:close/>
              </a:path>
            </a:pathLst>
          </a:custGeom>
          <a:solidFill>
            <a:srgbClr val="ded5c5"/>
          </a:solidFill>
          <a:ln w="6191">
            <a:solidFill>
              <a:srgbClr val="b5a68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01" name="หมู่บ้านสายทิพย์"/>
          <p:cNvSpPr/>
          <p:nvPr/>
        </p:nvSpPr>
        <p:spPr>
          <a:xfrm>
            <a:off x="6513840" y="3276720"/>
            <a:ext cx="35280" cy="19440"/>
          </a:xfrm>
          <a:custGeom>
            <a:avLst/>
            <a:gdLst/>
            <a:ahLst/>
            <a:rect l="l" t="t" r="r" b="b"/>
            <a:pathLst>
              <a:path w="35682" h="19969">
                <a:moveTo>
                  <a:pt x="33288" y="863"/>
                </a:moveTo>
                <a:lnTo>
                  <a:pt x="16404" y="0"/>
                </a:lnTo>
                <a:lnTo>
                  <a:pt x="16524" y="3821"/>
                </a:lnTo>
                <a:lnTo>
                  <a:pt x="13890" y="3698"/>
                </a:lnTo>
                <a:lnTo>
                  <a:pt x="14010" y="9368"/>
                </a:lnTo>
                <a:lnTo>
                  <a:pt x="1557" y="9245"/>
                </a:lnTo>
                <a:lnTo>
                  <a:pt x="0" y="18613"/>
                </a:lnTo>
                <a:lnTo>
                  <a:pt x="26702" y="19969"/>
                </a:lnTo>
                <a:lnTo>
                  <a:pt x="26463" y="16887"/>
                </a:lnTo>
                <a:lnTo>
                  <a:pt x="35682" y="17011"/>
                </a:lnTo>
                <a:lnTo>
                  <a:pt x="35563" y="14052"/>
                </a:lnTo>
                <a:lnTo>
                  <a:pt x="32928" y="14422"/>
                </a:lnTo>
                <a:lnTo>
                  <a:pt x="33288" y="863"/>
                </a:lnTo>
                <a:close/>
              </a:path>
            </a:pathLst>
          </a:custGeom>
          <a:solidFill>
            <a:srgbClr val="ded5c5"/>
          </a:solidFill>
          <a:ln w="6191">
            <a:solidFill>
              <a:srgbClr val="b5a68d"/>
            </a:solidFill>
            <a:round/>
          </a:ln>
        </p:spPr>
        <p:style>
          <a:lnRef idx="0"/>
          <a:fillRef idx="0"/>
          <a:effectRef idx="0"/>
          <a:fontRef idx="minor"/>
        </p:style>
        <p:txBody>
          <a:bodyPr lIns="90000" rIns="90000" tIns="-25560" bIns="-25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02" name="หมู่บ้าน ทอส.10&#10;หมู่บ้าน ทอส.10&#10;"/>
          <p:cNvSpPr/>
          <p:nvPr/>
        </p:nvSpPr>
        <p:spPr>
          <a:xfrm>
            <a:off x="6685200" y="3159000"/>
            <a:ext cx="18720" cy="110880"/>
          </a:xfrm>
          <a:custGeom>
            <a:avLst/>
            <a:gdLst/>
            <a:ahLst/>
            <a:rect l="l" t="t" r="r" b="b"/>
            <a:pathLst>
              <a:path w="19039" h="111061">
                <a:moveTo>
                  <a:pt x="11016" y="111061"/>
                </a:moveTo>
                <a:lnTo>
                  <a:pt x="14608" y="13436"/>
                </a:lnTo>
                <a:lnTo>
                  <a:pt x="17721" y="13559"/>
                </a:lnTo>
                <a:lnTo>
                  <a:pt x="19039" y="863"/>
                </a:lnTo>
                <a:lnTo>
                  <a:pt x="0" y="0"/>
                </a:lnTo>
                <a:lnTo>
                  <a:pt x="359" y="7766"/>
                </a:lnTo>
                <a:lnTo>
                  <a:pt x="7065" y="10354"/>
                </a:lnTo>
                <a:lnTo>
                  <a:pt x="3832" y="108843"/>
                </a:lnTo>
                <a:lnTo>
                  <a:pt x="6945" y="108966"/>
                </a:lnTo>
                <a:lnTo>
                  <a:pt x="7424" y="111061"/>
                </a:lnTo>
                <a:lnTo>
                  <a:pt x="11016" y="111061"/>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03" name="หมู่บ้านศิรินคร"/>
          <p:cNvSpPr/>
          <p:nvPr/>
        </p:nvSpPr>
        <p:spPr>
          <a:xfrm>
            <a:off x="6483600" y="3215520"/>
            <a:ext cx="42840" cy="37440"/>
          </a:xfrm>
          <a:custGeom>
            <a:avLst/>
            <a:gdLst/>
            <a:ahLst/>
            <a:rect l="l" t="t" r="r" b="b"/>
            <a:pathLst>
              <a:path w="43226" h="37966">
                <a:moveTo>
                  <a:pt x="0" y="29830"/>
                </a:moveTo>
                <a:lnTo>
                  <a:pt x="4550" y="33281"/>
                </a:lnTo>
                <a:lnTo>
                  <a:pt x="12453" y="26009"/>
                </a:lnTo>
                <a:lnTo>
                  <a:pt x="16764" y="29830"/>
                </a:lnTo>
                <a:lnTo>
                  <a:pt x="11495" y="35870"/>
                </a:lnTo>
                <a:lnTo>
                  <a:pt x="13531" y="37966"/>
                </a:lnTo>
                <a:lnTo>
                  <a:pt x="43226" y="6903"/>
                </a:lnTo>
                <a:lnTo>
                  <a:pt x="36521" y="0"/>
                </a:lnTo>
                <a:lnTo>
                  <a:pt x="26582" y="9738"/>
                </a:lnTo>
                <a:lnTo>
                  <a:pt x="24906" y="8382"/>
                </a:lnTo>
                <a:lnTo>
                  <a:pt x="0" y="29830"/>
                </a:lnTo>
                <a:close/>
              </a:path>
            </a:pathLst>
          </a:custGeom>
          <a:solidFill>
            <a:srgbClr val="ded5c5"/>
          </a:solidFill>
          <a:ln w="6191">
            <a:solidFill>
              <a:srgbClr val="b5a68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04" name="ซอยสวนหลวง"/>
          <p:cNvSpPr/>
          <p:nvPr/>
        </p:nvSpPr>
        <p:spPr>
          <a:xfrm>
            <a:off x="4460400" y="5902920"/>
            <a:ext cx="28080" cy="20160"/>
          </a:xfrm>
          <a:custGeom>
            <a:avLst/>
            <a:gdLst/>
            <a:ahLst/>
            <a:rect l="l" t="t" r="r" b="b"/>
            <a:pathLst>
              <a:path w="28378" h="20462">
                <a:moveTo>
                  <a:pt x="1676" y="0"/>
                </a:moveTo>
                <a:lnTo>
                  <a:pt x="0" y="7149"/>
                </a:lnTo>
                <a:lnTo>
                  <a:pt x="958" y="13066"/>
                </a:lnTo>
                <a:lnTo>
                  <a:pt x="26702" y="20462"/>
                </a:lnTo>
                <a:lnTo>
                  <a:pt x="28378" y="8012"/>
                </a:lnTo>
                <a:lnTo>
                  <a:pt x="1676" y="0"/>
                </a:lnTo>
                <a:close/>
              </a:path>
            </a:pathLst>
          </a:custGeom>
          <a:solidFill>
            <a:srgbClr val="ded5c5"/>
          </a:solidFill>
          <a:ln w="6191">
            <a:solidFill>
              <a:srgbClr val="b5a68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05" name="นางนอง 2 สันติสุข"/>
          <p:cNvSpPr/>
          <p:nvPr/>
        </p:nvSpPr>
        <p:spPr>
          <a:xfrm>
            <a:off x="4502160" y="5859360"/>
            <a:ext cx="48240" cy="58320"/>
          </a:xfrm>
          <a:custGeom>
            <a:avLst/>
            <a:gdLst/>
            <a:ahLst/>
            <a:rect l="l" t="t" r="r" b="b"/>
            <a:pathLst>
              <a:path w="48495" h="58551">
                <a:moveTo>
                  <a:pt x="18200" y="32788"/>
                </a:moveTo>
                <a:lnTo>
                  <a:pt x="36880" y="42280"/>
                </a:lnTo>
                <a:lnTo>
                  <a:pt x="41669" y="31802"/>
                </a:lnTo>
                <a:lnTo>
                  <a:pt x="39754" y="30323"/>
                </a:lnTo>
                <a:lnTo>
                  <a:pt x="41550" y="27735"/>
                </a:lnTo>
                <a:lnTo>
                  <a:pt x="43106" y="28597"/>
                </a:lnTo>
                <a:lnTo>
                  <a:pt x="43585" y="27488"/>
                </a:lnTo>
                <a:lnTo>
                  <a:pt x="41550" y="26009"/>
                </a:lnTo>
                <a:lnTo>
                  <a:pt x="48495" y="12820"/>
                </a:lnTo>
                <a:lnTo>
                  <a:pt x="18919" y="0"/>
                </a:lnTo>
                <a:lnTo>
                  <a:pt x="11136" y="3575"/>
                </a:lnTo>
                <a:lnTo>
                  <a:pt x="6945" y="8505"/>
                </a:lnTo>
                <a:lnTo>
                  <a:pt x="958" y="23420"/>
                </a:lnTo>
                <a:lnTo>
                  <a:pt x="0" y="42280"/>
                </a:lnTo>
                <a:lnTo>
                  <a:pt x="2155" y="53743"/>
                </a:lnTo>
                <a:lnTo>
                  <a:pt x="12453" y="58551"/>
                </a:lnTo>
                <a:lnTo>
                  <a:pt x="16045" y="45485"/>
                </a:lnTo>
                <a:lnTo>
                  <a:pt x="32330" y="53620"/>
                </a:lnTo>
                <a:lnTo>
                  <a:pt x="33527" y="50539"/>
                </a:lnTo>
                <a:lnTo>
                  <a:pt x="13531" y="40431"/>
                </a:lnTo>
                <a:lnTo>
                  <a:pt x="18200" y="32788"/>
                </a:lnTo>
                <a:close/>
              </a:path>
            </a:pathLst>
          </a:custGeom>
          <a:solidFill>
            <a:srgbClr val="ded5c5"/>
          </a:solidFill>
          <a:ln w="6191">
            <a:solidFill>
              <a:srgbClr val="b5a68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06" name="ริมคลองบางค้อ"/>
          <p:cNvSpPr/>
          <p:nvPr/>
        </p:nvSpPr>
        <p:spPr>
          <a:xfrm>
            <a:off x="4612320" y="6005880"/>
            <a:ext cx="49680" cy="38520"/>
          </a:xfrm>
          <a:custGeom>
            <a:avLst/>
            <a:gdLst/>
            <a:ahLst/>
            <a:rect l="l" t="t" r="r" b="b"/>
            <a:pathLst>
              <a:path w="50051" h="38705">
                <a:moveTo>
                  <a:pt x="9220" y="17134"/>
                </a:moveTo>
                <a:lnTo>
                  <a:pt x="0" y="26379"/>
                </a:lnTo>
                <a:lnTo>
                  <a:pt x="14967" y="38705"/>
                </a:lnTo>
                <a:lnTo>
                  <a:pt x="36042" y="26132"/>
                </a:lnTo>
                <a:lnTo>
                  <a:pt x="39275" y="31556"/>
                </a:lnTo>
                <a:lnTo>
                  <a:pt x="42388" y="30077"/>
                </a:lnTo>
                <a:lnTo>
                  <a:pt x="39993" y="24653"/>
                </a:lnTo>
                <a:lnTo>
                  <a:pt x="49572" y="20708"/>
                </a:lnTo>
                <a:lnTo>
                  <a:pt x="50051" y="16641"/>
                </a:lnTo>
                <a:lnTo>
                  <a:pt x="45381" y="0"/>
                </a:lnTo>
                <a:lnTo>
                  <a:pt x="25744" y="6903"/>
                </a:lnTo>
                <a:lnTo>
                  <a:pt x="9220" y="17134"/>
                </a:lnTo>
                <a:close/>
              </a:path>
            </a:pathLst>
          </a:custGeom>
          <a:solidFill>
            <a:srgbClr val="ded5c5"/>
          </a:solidFill>
          <a:ln w="6191">
            <a:solidFill>
              <a:srgbClr val="b5a68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07" name="วัดมงคลวราราม"/>
          <p:cNvSpPr/>
          <p:nvPr/>
        </p:nvSpPr>
        <p:spPr>
          <a:xfrm>
            <a:off x="4648320" y="6035040"/>
            <a:ext cx="46800" cy="42480"/>
          </a:xfrm>
          <a:custGeom>
            <a:avLst/>
            <a:gdLst/>
            <a:ahLst/>
            <a:rect l="l" t="t" r="r" b="b"/>
            <a:pathLst>
              <a:path w="47297" h="42773">
                <a:moveTo>
                  <a:pt x="47297" y="26009"/>
                </a:moveTo>
                <a:lnTo>
                  <a:pt x="30773" y="19599"/>
                </a:lnTo>
                <a:lnTo>
                  <a:pt x="24307" y="13189"/>
                </a:lnTo>
                <a:lnTo>
                  <a:pt x="22391" y="8998"/>
                </a:lnTo>
                <a:lnTo>
                  <a:pt x="17841" y="10477"/>
                </a:lnTo>
                <a:lnTo>
                  <a:pt x="14010" y="0"/>
                </a:lnTo>
                <a:lnTo>
                  <a:pt x="6346" y="3451"/>
                </a:lnTo>
                <a:lnTo>
                  <a:pt x="11735" y="18613"/>
                </a:lnTo>
                <a:lnTo>
                  <a:pt x="0" y="22064"/>
                </a:lnTo>
                <a:lnTo>
                  <a:pt x="1916" y="26132"/>
                </a:lnTo>
                <a:lnTo>
                  <a:pt x="6346" y="24653"/>
                </a:lnTo>
                <a:lnTo>
                  <a:pt x="7065" y="31432"/>
                </a:lnTo>
                <a:lnTo>
                  <a:pt x="30653" y="42157"/>
                </a:lnTo>
                <a:lnTo>
                  <a:pt x="41310" y="42773"/>
                </a:lnTo>
                <a:lnTo>
                  <a:pt x="47297" y="26009"/>
                </a:lnTo>
                <a:close/>
              </a:path>
            </a:pathLst>
          </a:custGeom>
          <a:solidFill>
            <a:srgbClr val="ded5c5"/>
          </a:solidFill>
          <a:ln w="6191">
            <a:solidFill>
              <a:srgbClr val="b5a68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08" name="จันกลิ่นพัฒนา"/>
          <p:cNvSpPr/>
          <p:nvPr/>
        </p:nvSpPr>
        <p:spPr>
          <a:xfrm>
            <a:off x="4590720" y="5905440"/>
            <a:ext cx="48600" cy="29520"/>
          </a:xfrm>
          <a:custGeom>
            <a:avLst/>
            <a:gdLst/>
            <a:ahLst/>
            <a:rect l="l" t="t" r="r" b="b"/>
            <a:pathLst>
              <a:path w="48974" h="29707">
                <a:moveTo>
                  <a:pt x="18560" y="29707"/>
                </a:moveTo>
                <a:lnTo>
                  <a:pt x="48974" y="21941"/>
                </a:lnTo>
                <a:lnTo>
                  <a:pt x="48135" y="16764"/>
                </a:lnTo>
                <a:lnTo>
                  <a:pt x="37838" y="19229"/>
                </a:lnTo>
                <a:lnTo>
                  <a:pt x="32450" y="0"/>
                </a:lnTo>
                <a:lnTo>
                  <a:pt x="13291" y="4068"/>
                </a:lnTo>
                <a:lnTo>
                  <a:pt x="12453" y="7273"/>
                </a:lnTo>
                <a:lnTo>
                  <a:pt x="0" y="8998"/>
                </a:lnTo>
                <a:lnTo>
                  <a:pt x="0" y="23913"/>
                </a:lnTo>
                <a:lnTo>
                  <a:pt x="18560" y="29707"/>
                </a:lnTo>
                <a:close/>
              </a:path>
            </a:pathLst>
          </a:custGeom>
          <a:solidFill>
            <a:srgbClr val="ded5c5"/>
          </a:solidFill>
          <a:ln w="6191">
            <a:solidFill>
              <a:srgbClr val="b5a68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09" name="วัดนางนอง"/>
          <p:cNvSpPr/>
          <p:nvPr/>
        </p:nvSpPr>
        <p:spPr>
          <a:xfrm>
            <a:off x="4492440" y="5965920"/>
            <a:ext cx="23760" cy="14400"/>
          </a:xfrm>
          <a:custGeom>
            <a:avLst/>
            <a:gdLst/>
            <a:ahLst/>
            <a:rect l="l" t="t" r="r" b="b"/>
            <a:pathLst>
              <a:path w="24068" h="14669">
                <a:moveTo>
                  <a:pt x="14608" y="4931"/>
                </a:moveTo>
                <a:lnTo>
                  <a:pt x="3832" y="1849"/>
                </a:lnTo>
                <a:lnTo>
                  <a:pt x="0" y="14669"/>
                </a:lnTo>
                <a:lnTo>
                  <a:pt x="12932" y="9984"/>
                </a:lnTo>
                <a:lnTo>
                  <a:pt x="24068" y="3451"/>
                </a:lnTo>
                <a:lnTo>
                  <a:pt x="22152" y="616"/>
                </a:lnTo>
                <a:lnTo>
                  <a:pt x="20236" y="1479"/>
                </a:lnTo>
                <a:lnTo>
                  <a:pt x="16285" y="0"/>
                </a:lnTo>
                <a:lnTo>
                  <a:pt x="14608" y="4931"/>
                </a:lnTo>
                <a:close/>
              </a:path>
            </a:pathLst>
          </a:custGeom>
          <a:solidFill>
            <a:srgbClr val="ded5c5"/>
          </a:solidFill>
          <a:ln w="6191">
            <a:solidFill>
              <a:srgbClr val="b5a68d"/>
            </a:solidFill>
            <a:round/>
          </a:ln>
        </p:spPr>
        <p:style>
          <a:lnRef idx="0"/>
          <a:fillRef idx="0"/>
          <a:effectRef idx="0"/>
          <a:fontRef idx="minor"/>
        </p:style>
        <p:txBody>
          <a:bodyPr lIns="90000" rIns="90000" tIns="-30600" bIns="-30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10" name="ซอยชัยวัฒน์10"/>
          <p:cNvSpPr/>
          <p:nvPr/>
        </p:nvSpPr>
        <p:spPr>
          <a:xfrm>
            <a:off x="4566600" y="5958360"/>
            <a:ext cx="16920" cy="28080"/>
          </a:xfrm>
          <a:custGeom>
            <a:avLst/>
            <a:gdLst/>
            <a:ahLst/>
            <a:rect l="l" t="t" r="r" b="b"/>
            <a:pathLst>
              <a:path w="17243" h="28351">
                <a:moveTo>
                  <a:pt x="0" y="23174"/>
                </a:moveTo>
                <a:lnTo>
                  <a:pt x="11256" y="28351"/>
                </a:lnTo>
                <a:lnTo>
                  <a:pt x="17243" y="13682"/>
                </a:lnTo>
                <a:lnTo>
                  <a:pt x="8741" y="0"/>
                </a:lnTo>
                <a:lnTo>
                  <a:pt x="0" y="23174"/>
                </a:lnTo>
                <a:close/>
              </a:path>
            </a:pathLst>
          </a:custGeom>
          <a:solidFill>
            <a:srgbClr val="ded5c5"/>
          </a:solidFill>
          <a:ln w="6191">
            <a:solidFill>
              <a:srgbClr val="b5a68d"/>
            </a:solidFill>
            <a:round/>
          </a:ln>
        </p:spPr>
        <p:style>
          <a:lnRef idx="0"/>
          <a:fillRef idx="0"/>
          <a:effectRef idx="0"/>
          <a:fontRef idx="minor"/>
        </p:style>
        <p:txBody>
          <a:bodyPr lIns="90000" rIns="90000" tIns="-16920" bIns="-16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11" name="จอมทอง"/>
          <p:cNvSpPr/>
          <p:nvPr/>
        </p:nvSpPr>
        <p:spPr>
          <a:xfrm>
            <a:off x="4435200" y="6132960"/>
            <a:ext cx="57240" cy="44640"/>
          </a:xfrm>
          <a:custGeom>
            <a:avLst/>
            <a:gdLst/>
            <a:ahLst/>
            <a:rect l="l" t="t" r="r" b="b"/>
            <a:pathLst>
              <a:path w="57715" h="44868">
                <a:moveTo>
                  <a:pt x="52087" y="20339"/>
                </a:moveTo>
                <a:lnTo>
                  <a:pt x="32090" y="23051"/>
                </a:lnTo>
                <a:lnTo>
                  <a:pt x="1796" y="0"/>
                </a:lnTo>
                <a:lnTo>
                  <a:pt x="0" y="1726"/>
                </a:lnTo>
                <a:lnTo>
                  <a:pt x="8741" y="24037"/>
                </a:lnTo>
                <a:lnTo>
                  <a:pt x="29935" y="38582"/>
                </a:lnTo>
                <a:lnTo>
                  <a:pt x="40113" y="34144"/>
                </a:lnTo>
                <a:lnTo>
                  <a:pt x="43705" y="44868"/>
                </a:lnTo>
                <a:lnTo>
                  <a:pt x="57715" y="39815"/>
                </a:lnTo>
                <a:lnTo>
                  <a:pt x="52087" y="20339"/>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12" name="วัดบางขุนเทียนนอก"/>
          <p:cNvSpPr/>
          <p:nvPr/>
        </p:nvSpPr>
        <p:spPr>
          <a:xfrm>
            <a:off x="4458600" y="6021720"/>
            <a:ext cx="48600" cy="32400"/>
          </a:xfrm>
          <a:custGeom>
            <a:avLst/>
            <a:gdLst/>
            <a:ahLst/>
            <a:rect l="l" t="t" r="r" b="b"/>
            <a:pathLst>
              <a:path w="49093" h="32912">
                <a:moveTo>
                  <a:pt x="32809" y="16148"/>
                </a:moveTo>
                <a:lnTo>
                  <a:pt x="49093" y="12326"/>
                </a:lnTo>
                <a:lnTo>
                  <a:pt x="48016" y="7396"/>
                </a:lnTo>
                <a:lnTo>
                  <a:pt x="35922" y="5547"/>
                </a:lnTo>
                <a:lnTo>
                  <a:pt x="30414" y="0"/>
                </a:lnTo>
                <a:lnTo>
                  <a:pt x="14848" y="3328"/>
                </a:lnTo>
                <a:lnTo>
                  <a:pt x="11136" y="9491"/>
                </a:lnTo>
                <a:lnTo>
                  <a:pt x="0" y="21448"/>
                </a:lnTo>
                <a:lnTo>
                  <a:pt x="26223" y="32912"/>
                </a:lnTo>
                <a:lnTo>
                  <a:pt x="32809" y="16148"/>
                </a:lnTo>
                <a:close/>
              </a:path>
            </a:pathLst>
          </a:custGeom>
          <a:solidFill>
            <a:srgbClr val="ded5c5"/>
          </a:solidFill>
          <a:ln w="6191">
            <a:solidFill>
              <a:srgbClr val="b5a68d"/>
            </a:solidFill>
            <a:round/>
          </a:ln>
        </p:spPr>
        <p:style>
          <a:lnRef idx="0"/>
          <a:fillRef idx="0"/>
          <a:effectRef idx="0"/>
          <a:fontRef idx="minor"/>
        </p:style>
        <p:txBody>
          <a:bodyPr lIns="90000" rIns="90000" tIns="-12600" bIns="-12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13" name="คุณยายวัน"/>
          <p:cNvSpPr/>
          <p:nvPr/>
        </p:nvSpPr>
        <p:spPr>
          <a:xfrm>
            <a:off x="4444560" y="6043320"/>
            <a:ext cx="39960" cy="34560"/>
          </a:xfrm>
          <a:custGeom>
            <a:avLst/>
            <a:gdLst/>
            <a:ahLst/>
            <a:rect l="l" t="t" r="r" b="b"/>
            <a:pathLst>
              <a:path w="40352" h="34761">
                <a:moveTo>
                  <a:pt x="8262" y="6410"/>
                </a:moveTo>
                <a:lnTo>
                  <a:pt x="0" y="21078"/>
                </a:lnTo>
                <a:lnTo>
                  <a:pt x="21433" y="34761"/>
                </a:lnTo>
                <a:lnTo>
                  <a:pt x="32090" y="33898"/>
                </a:lnTo>
                <a:lnTo>
                  <a:pt x="40352" y="11464"/>
                </a:lnTo>
                <a:lnTo>
                  <a:pt x="13890" y="0"/>
                </a:lnTo>
                <a:lnTo>
                  <a:pt x="8262" y="6410"/>
                </a:lnTo>
                <a:close/>
              </a:path>
            </a:pathLst>
          </a:custGeom>
          <a:solidFill>
            <a:srgbClr val="ded5c5"/>
          </a:solidFill>
          <a:ln w="6191">
            <a:solidFill>
              <a:srgbClr val="b5a68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14" name="บางระแนะน้อย"/>
          <p:cNvSpPr/>
          <p:nvPr/>
        </p:nvSpPr>
        <p:spPr>
          <a:xfrm>
            <a:off x="4394160" y="6256800"/>
            <a:ext cx="25200" cy="19800"/>
          </a:xfrm>
          <a:custGeom>
            <a:avLst/>
            <a:gdLst/>
            <a:ahLst/>
            <a:rect l="l" t="t" r="r" b="b"/>
            <a:pathLst>
              <a:path w="25505" h="20339">
                <a:moveTo>
                  <a:pt x="2155" y="19846"/>
                </a:moveTo>
                <a:lnTo>
                  <a:pt x="13650" y="20339"/>
                </a:lnTo>
                <a:lnTo>
                  <a:pt x="21433" y="17380"/>
                </a:lnTo>
                <a:lnTo>
                  <a:pt x="25505" y="12943"/>
                </a:lnTo>
                <a:lnTo>
                  <a:pt x="19398" y="0"/>
                </a:lnTo>
                <a:lnTo>
                  <a:pt x="0" y="8505"/>
                </a:lnTo>
                <a:lnTo>
                  <a:pt x="2155" y="19846"/>
                </a:lnTo>
                <a:close/>
              </a:path>
            </a:pathLst>
          </a:custGeom>
          <a:solidFill>
            <a:srgbClr val="ded5c5"/>
          </a:solidFill>
          <a:ln w="6191">
            <a:solidFill>
              <a:srgbClr val="b5a68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15" name="ปิ่นเจริญ 2"/>
          <p:cNvSpPr/>
          <p:nvPr/>
        </p:nvSpPr>
        <p:spPr>
          <a:xfrm>
            <a:off x="6052680" y="3081600"/>
            <a:ext cx="101520" cy="52920"/>
          </a:xfrm>
          <a:custGeom>
            <a:avLst/>
            <a:gdLst/>
            <a:ahLst/>
            <a:rect l="l" t="t" r="r" b="b"/>
            <a:pathLst>
              <a:path w="101899" h="53127">
                <a:moveTo>
                  <a:pt x="80705" y="47703"/>
                </a:moveTo>
                <a:lnTo>
                  <a:pt x="95552" y="53127"/>
                </a:lnTo>
                <a:lnTo>
                  <a:pt x="101899" y="36856"/>
                </a:lnTo>
                <a:lnTo>
                  <a:pt x="1796" y="0"/>
                </a:lnTo>
                <a:lnTo>
                  <a:pt x="0" y="3082"/>
                </a:lnTo>
                <a:lnTo>
                  <a:pt x="7424" y="5177"/>
                </a:lnTo>
                <a:lnTo>
                  <a:pt x="5269" y="7889"/>
                </a:lnTo>
                <a:lnTo>
                  <a:pt x="6825" y="8875"/>
                </a:lnTo>
                <a:lnTo>
                  <a:pt x="1197" y="18366"/>
                </a:lnTo>
                <a:lnTo>
                  <a:pt x="80705" y="47703"/>
                </a:lnTo>
                <a:close/>
              </a:path>
            </a:pathLst>
          </a:custGeom>
          <a:solidFill>
            <a:srgbClr val="ded5c5"/>
          </a:solidFill>
          <a:ln w="6191">
            <a:solidFill>
              <a:srgbClr val="b5a68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16" name="ฝั่งโขงดอนเมือง"/>
          <p:cNvSpPr/>
          <p:nvPr/>
        </p:nvSpPr>
        <p:spPr>
          <a:xfrm>
            <a:off x="6012000" y="3192120"/>
            <a:ext cx="113400" cy="39600"/>
          </a:xfrm>
          <a:custGeom>
            <a:avLst/>
            <a:gdLst/>
            <a:ahLst/>
            <a:rect l="l" t="t" r="r" b="b"/>
            <a:pathLst>
              <a:path w="113873" h="39938">
                <a:moveTo>
                  <a:pt x="6346" y="0"/>
                </a:moveTo>
                <a:lnTo>
                  <a:pt x="0" y="11587"/>
                </a:lnTo>
                <a:lnTo>
                  <a:pt x="53763" y="26379"/>
                </a:lnTo>
                <a:lnTo>
                  <a:pt x="108005" y="39938"/>
                </a:lnTo>
                <a:lnTo>
                  <a:pt x="113873" y="27488"/>
                </a:lnTo>
                <a:lnTo>
                  <a:pt x="6346" y="0"/>
                </a:lnTo>
                <a:close/>
              </a:path>
            </a:pathLst>
          </a:custGeom>
          <a:solidFill>
            <a:srgbClr val="ded5c5"/>
          </a:solidFill>
          <a:ln w="6191">
            <a:solidFill>
              <a:srgbClr val="b5a68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17" name="วังไพรเวช"/>
          <p:cNvSpPr/>
          <p:nvPr/>
        </p:nvSpPr>
        <p:spPr>
          <a:xfrm>
            <a:off x="5906160" y="3125880"/>
            <a:ext cx="66600" cy="79560"/>
          </a:xfrm>
          <a:custGeom>
            <a:avLst/>
            <a:gdLst/>
            <a:ahLst/>
            <a:rect l="l" t="t" r="r" b="b"/>
            <a:pathLst>
              <a:path w="67054" h="79999">
                <a:moveTo>
                  <a:pt x="30653" y="75438"/>
                </a:moveTo>
                <a:lnTo>
                  <a:pt x="46100" y="79999"/>
                </a:lnTo>
                <a:lnTo>
                  <a:pt x="67054" y="12326"/>
                </a:lnTo>
                <a:lnTo>
                  <a:pt x="20476" y="0"/>
                </a:lnTo>
                <a:lnTo>
                  <a:pt x="0" y="64714"/>
                </a:lnTo>
                <a:lnTo>
                  <a:pt x="30653" y="75438"/>
                </a:lnTo>
                <a:close/>
              </a:path>
            </a:pathLst>
          </a:custGeom>
          <a:solidFill>
            <a:srgbClr val="ded5c5"/>
          </a:solidFill>
          <a:ln w="6191">
            <a:solidFill>
              <a:srgbClr val="b5a68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18" name="นิเวศน์ชาวฟ้า"/>
          <p:cNvSpPr/>
          <p:nvPr/>
        </p:nvSpPr>
        <p:spPr>
          <a:xfrm>
            <a:off x="5937840" y="3295080"/>
            <a:ext cx="123120" cy="59760"/>
          </a:xfrm>
          <a:custGeom>
            <a:avLst/>
            <a:gdLst/>
            <a:ahLst/>
            <a:rect l="l" t="t" r="r" b="b"/>
            <a:pathLst>
              <a:path w="123572" h="60153">
                <a:moveTo>
                  <a:pt x="123572" y="44005"/>
                </a:moveTo>
                <a:lnTo>
                  <a:pt x="9100" y="247"/>
                </a:lnTo>
                <a:lnTo>
                  <a:pt x="8621" y="1602"/>
                </a:lnTo>
                <a:lnTo>
                  <a:pt x="1317" y="0"/>
                </a:lnTo>
                <a:lnTo>
                  <a:pt x="0" y="5917"/>
                </a:lnTo>
                <a:lnTo>
                  <a:pt x="1796" y="9615"/>
                </a:lnTo>
                <a:lnTo>
                  <a:pt x="1557" y="17380"/>
                </a:lnTo>
                <a:lnTo>
                  <a:pt x="6945" y="18366"/>
                </a:lnTo>
                <a:lnTo>
                  <a:pt x="7065" y="15531"/>
                </a:lnTo>
                <a:lnTo>
                  <a:pt x="116148" y="60153"/>
                </a:lnTo>
                <a:lnTo>
                  <a:pt x="123572" y="44005"/>
                </a:lnTo>
                <a:close/>
              </a:path>
            </a:pathLst>
          </a:custGeom>
          <a:solidFill>
            <a:srgbClr val="ded5c5"/>
          </a:solidFill>
          <a:ln w="6191">
            <a:solidFill>
              <a:srgbClr val="b5a68d"/>
            </a:solidFill>
            <a:round/>
          </a:ln>
        </p:spPr>
        <p:style>
          <a:lnRef idx="0"/>
          <a:fillRef idx="0"/>
          <a:effectRef idx="0"/>
          <a:fontRef idx="minor"/>
        </p:style>
        <p:txBody>
          <a:bodyPr lIns="90000" rIns="90000" tIns="14760" bIns="14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19" name="เคหะสถานครูไทย"/>
          <p:cNvSpPr/>
          <p:nvPr/>
        </p:nvSpPr>
        <p:spPr>
          <a:xfrm>
            <a:off x="6097680" y="3174480"/>
            <a:ext cx="44280" cy="29520"/>
          </a:xfrm>
          <a:custGeom>
            <a:avLst/>
            <a:gdLst/>
            <a:ahLst/>
            <a:rect l="l" t="t" r="r" b="b"/>
            <a:pathLst>
              <a:path w="44543" h="29953">
                <a:moveTo>
                  <a:pt x="0" y="20339"/>
                </a:moveTo>
                <a:lnTo>
                  <a:pt x="35682" y="29953"/>
                </a:lnTo>
                <a:lnTo>
                  <a:pt x="44543" y="13806"/>
                </a:lnTo>
                <a:lnTo>
                  <a:pt x="5748" y="0"/>
                </a:lnTo>
                <a:lnTo>
                  <a:pt x="0" y="20339"/>
                </a:lnTo>
                <a:close/>
              </a:path>
            </a:pathLst>
          </a:custGeom>
          <a:solidFill>
            <a:srgbClr val="ded5c5"/>
          </a:solidFill>
          <a:ln w="6191">
            <a:solidFill>
              <a:srgbClr val="b5a68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20" name="ปิ่นเจริญ 3"/>
          <p:cNvSpPr/>
          <p:nvPr/>
        </p:nvSpPr>
        <p:spPr>
          <a:xfrm>
            <a:off x="5966640" y="3142800"/>
            <a:ext cx="52920" cy="75240"/>
          </a:xfrm>
          <a:custGeom>
            <a:avLst/>
            <a:gdLst/>
            <a:ahLst/>
            <a:rect l="l" t="t" r="r" b="b"/>
            <a:pathLst>
              <a:path w="53284" h="75438">
                <a:moveTo>
                  <a:pt x="18919" y="0"/>
                </a:moveTo>
                <a:lnTo>
                  <a:pt x="0" y="66686"/>
                </a:lnTo>
                <a:lnTo>
                  <a:pt x="30174" y="75438"/>
                </a:lnTo>
                <a:lnTo>
                  <a:pt x="41909" y="41787"/>
                </a:lnTo>
                <a:lnTo>
                  <a:pt x="40712" y="41417"/>
                </a:lnTo>
                <a:lnTo>
                  <a:pt x="49213" y="10971"/>
                </a:lnTo>
                <a:lnTo>
                  <a:pt x="52686" y="11464"/>
                </a:lnTo>
                <a:lnTo>
                  <a:pt x="53284" y="8629"/>
                </a:lnTo>
                <a:lnTo>
                  <a:pt x="18919" y="0"/>
                </a:lnTo>
                <a:close/>
              </a:path>
            </a:pathLst>
          </a:custGeom>
          <a:solidFill>
            <a:srgbClr val="ded5c5"/>
          </a:solidFill>
          <a:ln w="6191">
            <a:solidFill>
              <a:srgbClr val="b5a68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21" name="อยู่เจริญ 9 ไร่"/>
          <p:cNvSpPr/>
          <p:nvPr/>
        </p:nvSpPr>
        <p:spPr>
          <a:xfrm>
            <a:off x="6087240" y="2959560"/>
            <a:ext cx="11880" cy="36720"/>
          </a:xfrm>
          <a:custGeom>
            <a:avLst/>
            <a:gdLst/>
            <a:ahLst/>
            <a:rect l="l" t="t" r="r" b="b"/>
            <a:pathLst>
              <a:path w="12333" h="36979">
                <a:moveTo>
                  <a:pt x="11854" y="36979"/>
                </a:moveTo>
                <a:lnTo>
                  <a:pt x="12333" y="34268"/>
                </a:lnTo>
                <a:lnTo>
                  <a:pt x="5149" y="32788"/>
                </a:lnTo>
                <a:lnTo>
                  <a:pt x="8741" y="1602"/>
                </a:lnTo>
                <a:lnTo>
                  <a:pt x="5149" y="0"/>
                </a:lnTo>
                <a:lnTo>
                  <a:pt x="0" y="34637"/>
                </a:lnTo>
                <a:lnTo>
                  <a:pt x="11854" y="36979"/>
                </a:lnTo>
                <a:close/>
              </a:path>
            </a:pathLst>
          </a:custGeom>
          <a:solidFill>
            <a:srgbClr val="ded5c5"/>
          </a:solidFill>
          <a:ln w="6191">
            <a:solidFill>
              <a:srgbClr val="b5a68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22" name="ศรีสุขญาดาร่วมพัฒนา"/>
          <p:cNvSpPr/>
          <p:nvPr/>
        </p:nvSpPr>
        <p:spPr>
          <a:xfrm>
            <a:off x="6015240" y="2936520"/>
            <a:ext cx="48960" cy="82440"/>
          </a:xfrm>
          <a:custGeom>
            <a:avLst/>
            <a:gdLst/>
            <a:ahLst/>
            <a:rect l="l" t="t" r="r" b="b"/>
            <a:pathLst>
              <a:path w="49333" h="82711">
                <a:moveTo>
                  <a:pt x="0" y="77164"/>
                </a:moveTo>
                <a:lnTo>
                  <a:pt x="26582" y="82711"/>
                </a:lnTo>
                <a:lnTo>
                  <a:pt x="34964" y="43266"/>
                </a:lnTo>
                <a:lnTo>
                  <a:pt x="43945" y="45361"/>
                </a:lnTo>
                <a:lnTo>
                  <a:pt x="49333" y="10231"/>
                </a:lnTo>
                <a:lnTo>
                  <a:pt x="25505" y="0"/>
                </a:lnTo>
                <a:lnTo>
                  <a:pt x="0" y="77164"/>
                </a:lnTo>
                <a:close/>
                <a:moveTo>
                  <a:pt x="16883" y="44005"/>
                </a:moveTo>
                <a:lnTo>
                  <a:pt x="28857" y="9245"/>
                </a:lnTo>
                <a:lnTo>
                  <a:pt x="38077" y="13066"/>
                </a:lnTo>
                <a:lnTo>
                  <a:pt x="29576" y="46717"/>
                </a:lnTo>
                <a:lnTo>
                  <a:pt x="16883" y="44005"/>
                </a:lnTo>
                <a:close/>
              </a:path>
            </a:pathLst>
          </a:custGeom>
          <a:solidFill>
            <a:srgbClr val="ded5c5"/>
          </a:solidFill>
          <a:ln w="6191">
            <a:solidFill>
              <a:srgbClr val="b5a68d"/>
            </a:solidFill>
            <a:round/>
          </a:ln>
        </p:spPr>
        <p:style>
          <a:lnRef idx="0"/>
          <a:fillRef idx="0"/>
          <a:effectRef idx="0"/>
          <a:fontRef idx="minor"/>
        </p:style>
        <p:txBody>
          <a:bodyPr lIns="90000" rIns="90000" tIns="37440" bIns="37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23" name="แหลมทองนิเวศน์"/>
          <p:cNvSpPr/>
          <p:nvPr/>
        </p:nvSpPr>
        <p:spPr>
          <a:xfrm>
            <a:off x="6021360" y="3211560"/>
            <a:ext cx="58680" cy="28080"/>
          </a:xfrm>
          <a:custGeom>
            <a:avLst/>
            <a:gdLst/>
            <a:ahLst/>
            <a:rect l="l" t="t" r="r" b="b"/>
            <a:pathLst>
              <a:path w="59151" h="28351">
                <a:moveTo>
                  <a:pt x="0" y="12203"/>
                </a:moveTo>
                <a:lnTo>
                  <a:pt x="55080" y="28351"/>
                </a:lnTo>
                <a:lnTo>
                  <a:pt x="59151" y="14422"/>
                </a:lnTo>
                <a:lnTo>
                  <a:pt x="3113" y="0"/>
                </a:lnTo>
                <a:lnTo>
                  <a:pt x="0" y="12203"/>
                </a:lnTo>
                <a:close/>
              </a:path>
            </a:pathLst>
          </a:custGeom>
          <a:solidFill>
            <a:srgbClr val="ded5c5"/>
          </a:solidFill>
          <a:ln w="6191">
            <a:solidFill>
              <a:srgbClr val="b5a68d"/>
            </a:solidFill>
            <a:round/>
          </a:ln>
        </p:spPr>
        <p:style>
          <a:lnRef idx="0"/>
          <a:fillRef idx="0"/>
          <a:effectRef idx="0"/>
          <a:fontRef idx="minor"/>
        </p:style>
        <p:txBody>
          <a:bodyPr lIns="90000" rIns="90000" tIns="-16920" bIns="-16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24" name="ธนิกา"/>
          <p:cNvSpPr/>
          <p:nvPr/>
        </p:nvSpPr>
        <p:spPr>
          <a:xfrm>
            <a:off x="5823720" y="2880720"/>
            <a:ext cx="39960" cy="86400"/>
          </a:xfrm>
          <a:custGeom>
            <a:avLst/>
            <a:gdLst/>
            <a:ahLst/>
            <a:rect l="l" t="t" r="r" b="b"/>
            <a:pathLst>
              <a:path w="40472" h="86778">
                <a:moveTo>
                  <a:pt x="12812" y="86778"/>
                </a:moveTo>
                <a:lnTo>
                  <a:pt x="40472" y="3821"/>
                </a:lnTo>
                <a:lnTo>
                  <a:pt x="26463" y="0"/>
                </a:lnTo>
                <a:lnTo>
                  <a:pt x="0" y="83327"/>
                </a:lnTo>
                <a:lnTo>
                  <a:pt x="12812" y="86778"/>
                </a:lnTo>
                <a:close/>
              </a:path>
            </a:pathLst>
          </a:custGeom>
          <a:solidFill>
            <a:srgbClr val="ded5c5"/>
          </a:solidFill>
          <a:ln w="6191">
            <a:solidFill>
              <a:srgbClr val="b5a68d"/>
            </a:solidFill>
            <a:round/>
          </a:ln>
        </p:spPr>
        <p:style>
          <a:lnRef idx="0"/>
          <a:fillRef idx="0"/>
          <a:effectRef idx="0"/>
          <a:fontRef idx="minor"/>
        </p:style>
        <p:txBody>
          <a:bodyPr lIns="90000" rIns="90000" tIns="41400" bIns="41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25" name="ศศิวัลเมื่องใหม่"/>
          <p:cNvSpPr/>
          <p:nvPr/>
        </p:nvSpPr>
        <p:spPr>
          <a:xfrm>
            <a:off x="5888160" y="3075480"/>
            <a:ext cx="41400" cy="41040"/>
          </a:xfrm>
          <a:custGeom>
            <a:avLst/>
            <a:gdLst/>
            <a:ahLst/>
            <a:rect l="l" t="t" r="r" b="b"/>
            <a:pathLst>
              <a:path w="41789" h="41417">
                <a:moveTo>
                  <a:pt x="0" y="31186"/>
                </a:moveTo>
                <a:lnTo>
                  <a:pt x="31492" y="41417"/>
                </a:lnTo>
                <a:lnTo>
                  <a:pt x="41789" y="10108"/>
                </a:lnTo>
                <a:lnTo>
                  <a:pt x="11016" y="0"/>
                </a:lnTo>
                <a:lnTo>
                  <a:pt x="0" y="31186"/>
                </a:lnTo>
                <a:close/>
              </a:path>
            </a:pathLst>
          </a:custGeom>
          <a:solidFill>
            <a:srgbClr val="ded5c5"/>
          </a:solidFill>
          <a:ln w="6191">
            <a:solidFill>
              <a:srgbClr val="b5a68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26" name="บ้านไทยเมืองใหม่ดอนเมือง"/>
          <p:cNvSpPr/>
          <p:nvPr/>
        </p:nvSpPr>
        <p:spPr>
          <a:xfrm>
            <a:off x="5838120" y="3026880"/>
            <a:ext cx="25560" cy="26640"/>
          </a:xfrm>
          <a:custGeom>
            <a:avLst/>
            <a:gdLst/>
            <a:ahLst/>
            <a:rect l="l" t="t" r="r" b="b"/>
            <a:pathLst>
              <a:path w="25984" h="27118">
                <a:moveTo>
                  <a:pt x="11854" y="0"/>
                </a:moveTo>
                <a:lnTo>
                  <a:pt x="0" y="20955"/>
                </a:lnTo>
                <a:lnTo>
                  <a:pt x="19039" y="27118"/>
                </a:lnTo>
                <a:lnTo>
                  <a:pt x="25984" y="4191"/>
                </a:lnTo>
                <a:lnTo>
                  <a:pt x="11854" y="0"/>
                </a:lnTo>
                <a:close/>
              </a:path>
            </a:pathLst>
          </a:custGeom>
          <a:solidFill>
            <a:srgbClr val="ded5c5"/>
          </a:solidFill>
          <a:ln w="6191">
            <a:solidFill>
              <a:srgbClr val="b5a68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27" name="โกสุมรวมใจ 1"/>
          <p:cNvSpPr/>
          <p:nvPr/>
        </p:nvSpPr>
        <p:spPr>
          <a:xfrm>
            <a:off x="5774400" y="3394800"/>
            <a:ext cx="115200" cy="82800"/>
          </a:xfrm>
          <a:custGeom>
            <a:avLst/>
            <a:gdLst/>
            <a:ahLst/>
            <a:rect l="l" t="t" r="r" b="b"/>
            <a:pathLst>
              <a:path w="115429" h="83204">
                <a:moveTo>
                  <a:pt x="90164" y="81355"/>
                </a:moveTo>
                <a:lnTo>
                  <a:pt x="92559" y="80615"/>
                </a:lnTo>
                <a:lnTo>
                  <a:pt x="91960" y="78643"/>
                </a:lnTo>
                <a:lnTo>
                  <a:pt x="95552" y="65700"/>
                </a:lnTo>
                <a:lnTo>
                  <a:pt x="101420" y="65700"/>
                </a:lnTo>
                <a:lnTo>
                  <a:pt x="115429" y="34144"/>
                </a:lnTo>
                <a:lnTo>
                  <a:pt x="113034" y="29953"/>
                </a:lnTo>
                <a:lnTo>
                  <a:pt x="112436" y="17134"/>
                </a:lnTo>
                <a:lnTo>
                  <a:pt x="2155" y="0"/>
                </a:lnTo>
                <a:lnTo>
                  <a:pt x="0" y="7889"/>
                </a:lnTo>
                <a:lnTo>
                  <a:pt x="12812" y="11217"/>
                </a:lnTo>
                <a:lnTo>
                  <a:pt x="39873" y="14545"/>
                </a:lnTo>
                <a:lnTo>
                  <a:pt x="38436" y="23913"/>
                </a:lnTo>
                <a:lnTo>
                  <a:pt x="56158" y="27118"/>
                </a:lnTo>
                <a:lnTo>
                  <a:pt x="56038" y="34268"/>
                </a:lnTo>
                <a:lnTo>
                  <a:pt x="29695" y="31432"/>
                </a:lnTo>
                <a:lnTo>
                  <a:pt x="31013" y="22681"/>
                </a:lnTo>
                <a:lnTo>
                  <a:pt x="26822" y="21941"/>
                </a:lnTo>
                <a:lnTo>
                  <a:pt x="24666" y="31063"/>
                </a:lnTo>
                <a:lnTo>
                  <a:pt x="16644" y="29584"/>
                </a:lnTo>
                <a:lnTo>
                  <a:pt x="14129" y="35007"/>
                </a:lnTo>
                <a:lnTo>
                  <a:pt x="11974" y="34391"/>
                </a:lnTo>
                <a:lnTo>
                  <a:pt x="5269" y="50539"/>
                </a:lnTo>
                <a:lnTo>
                  <a:pt x="48495" y="65454"/>
                </a:lnTo>
                <a:lnTo>
                  <a:pt x="48016" y="72480"/>
                </a:lnTo>
                <a:lnTo>
                  <a:pt x="86332" y="83204"/>
                </a:lnTo>
                <a:lnTo>
                  <a:pt x="90164" y="81355"/>
                </a:lnTo>
                <a:close/>
              </a:path>
            </a:pathLst>
          </a:custGeom>
          <a:solidFill>
            <a:srgbClr val="ded5c5"/>
          </a:solidFill>
          <a:ln w="6191">
            <a:solidFill>
              <a:srgbClr val="b5a68d"/>
            </a:solidFill>
            <a:round/>
          </a:ln>
        </p:spPr>
        <p:style>
          <a:lnRef idx="0"/>
          <a:fillRef idx="0"/>
          <a:effectRef idx="0"/>
          <a:fontRef idx="minor"/>
        </p:style>
        <p:txBody>
          <a:bodyPr lIns="90000" rIns="90000" tIns="37800" bIns="37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28" name="โกสุมรวมใจ 2"/>
          <p:cNvSpPr/>
          <p:nvPr/>
        </p:nvSpPr>
        <p:spPr>
          <a:xfrm>
            <a:off x="5793120" y="3342240"/>
            <a:ext cx="93240" cy="69120"/>
          </a:xfrm>
          <a:custGeom>
            <a:avLst/>
            <a:gdLst/>
            <a:ahLst/>
            <a:rect l="l" t="t" r="r" b="b"/>
            <a:pathLst>
              <a:path w="93756" h="69398">
                <a:moveTo>
                  <a:pt x="90523" y="38582"/>
                </a:moveTo>
                <a:lnTo>
                  <a:pt x="75197" y="35870"/>
                </a:lnTo>
                <a:lnTo>
                  <a:pt x="76394" y="29090"/>
                </a:lnTo>
                <a:lnTo>
                  <a:pt x="56278" y="25023"/>
                </a:lnTo>
                <a:lnTo>
                  <a:pt x="57715" y="15285"/>
                </a:lnTo>
                <a:lnTo>
                  <a:pt x="22751" y="9738"/>
                </a:lnTo>
                <a:lnTo>
                  <a:pt x="6346" y="5300"/>
                </a:lnTo>
                <a:lnTo>
                  <a:pt x="7424" y="863"/>
                </a:lnTo>
                <a:lnTo>
                  <a:pt x="3832" y="0"/>
                </a:lnTo>
                <a:lnTo>
                  <a:pt x="0" y="12080"/>
                </a:lnTo>
                <a:lnTo>
                  <a:pt x="5149" y="13436"/>
                </a:lnTo>
                <a:lnTo>
                  <a:pt x="120" y="32172"/>
                </a:lnTo>
                <a:lnTo>
                  <a:pt x="4430" y="32912"/>
                </a:lnTo>
                <a:lnTo>
                  <a:pt x="5388" y="29090"/>
                </a:lnTo>
                <a:lnTo>
                  <a:pt x="29695" y="35007"/>
                </a:lnTo>
                <a:lnTo>
                  <a:pt x="27780" y="41787"/>
                </a:lnTo>
                <a:lnTo>
                  <a:pt x="33407" y="44252"/>
                </a:lnTo>
                <a:lnTo>
                  <a:pt x="29456" y="58921"/>
                </a:lnTo>
                <a:lnTo>
                  <a:pt x="92439" y="69398"/>
                </a:lnTo>
                <a:lnTo>
                  <a:pt x="93756" y="62249"/>
                </a:lnTo>
                <a:lnTo>
                  <a:pt x="93158" y="58304"/>
                </a:lnTo>
                <a:lnTo>
                  <a:pt x="91002" y="58058"/>
                </a:lnTo>
                <a:lnTo>
                  <a:pt x="91002" y="56332"/>
                </a:lnTo>
                <a:lnTo>
                  <a:pt x="69210" y="52141"/>
                </a:lnTo>
                <a:lnTo>
                  <a:pt x="69808" y="49799"/>
                </a:lnTo>
                <a:lnTo>
                  <a:pt x="73161" y="49922"/>
                </a:lnTo>
                <a:lnTo>
                  <a:pt x="73520" y="47950"/>
                </a:lnTo>
                <a:lnTo>
                  <a:pt x="53643" y="44375"/>
                </a:lnTo>
                <a:lnTo>
                  <a:pt x="55679" y="35993"/>
                </a:lnTo>
                <a:lnTo>
                  <a:pt x="90523" y="43512"/>
                </a:lnTo>
                <a:lnTo>
                  <a:pt x="90523" y="38582"/>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29" name="บุญมาก"/>
          <p:cNvSpPr/>
          <p:nvPr/>
        </p:nvSpPr>
        <p:spPr>
          <a:xfrm>
            <a:off x="5952240" y="3249000"/>
            <a:ext cx="88560" cy="35640"/>
          </a:xfrm>
          <a:custGeom>
            <a:avLst/>
            <a:gdLst/>
            <a:ahLst/>
            <a:rect l="l" t="t" r="r" b="b"/>
            <a:pathLst>
              <a:path w="89086" h="36117">
                <a:moveTo>
                  <a:pt x="0" y="13806"/>
                </a:moveTo>
                <a:lnTo>
                  <a:pt x="84057" y="36117"/>
                </a:lnTo>
                <a:lnTo>
                  <a:pt x="89086" y="22311"/>
                </a:lnTo>
                <a:lnTo>
                  <a:pt x="1676" y="0"/>
                </a:lnTo>
                <a:lnTo>
                  <a:pt x="0" y="13806"/>
                </a:lnTo>
                <a:close/>
              </a:path>
            </a:pathLst>
          </a:custGeom>
          <a:solidFill>
            <a:srgbClr val="ded5c5"/>
          </a:solidFill>
          <a:ln w="6191">
            <a:solidFill>
              <a:srgbClr val="b5a68d"/>
            </a:solidFill>
            <a:round/>
          </a:ln>
        </p:spPr>
        <p:style>
          <a:lnRef idx="0"/>
          <a:fillRef idx="0"/>
          <a:effectRef idx="0"/>
          <a:fontRef idx="minor"/>
        </p:style>
        <p:txBody>
          <a:bodyPr lIns="90000" rIns="90000" tIns="-9360" bIns="-9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30" name="หมู่บ้านเลิศปิยะวรรณ"/>
          <p:cNvSpPr/>
          <p:nvPr/>
        </p:nvSpPr>
        <p:spPr>
          <a:xfrm>
            <a:off x="6940800" y="3205440"/>
            <a:ext cx="6120" cy="69840"/>
          </a:xfrm>
          <a:custGeom>
            <a:avLst/>
            <a:gdLst/>
            <a:ahLst/>
            <a:rect l="l" t="t" r="r" b="b"/>
            <a:pathLst>
              <a:path w="6346" h="70261">
                <a:moveTo>
                  <a:pt x="5508" y="44745"/>
                </a:moveTo>
                <a:lnTo>
                  <a:pt x="4790" y="0"/>
                </a:lnTo>
                <a:lnTo>
                  <a:pt x="0" y="0"/>
                </a:lnTo>
                <a:lnTo>
                  <a:pt x="2036" y="70261"/>
                </a:lnTo>
                <a:lnTo>
                  <a:pt x="6346" y="70261"/>
                </a:lnTo>
                <a:lnTo>
                  <a:pt x="5508" y="44745"/>
                </a:lnTo>
                <a:close/>
              </a:path>
            </a:pathLst>
          </a:custGeom>
          <a:solidFill>
            <a:srgbClr val="ded5c5"/>
          </a:solidFill>
          <a:ln w="6191">
            <a:solidFill>
              <a:srgbClr val="b5a68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31" name="หมู่บ้านอภินคร 2000"/>
          <p:cNvSpPr/>
          <p:nvPr/>
        </p:nvSpPr>
        <p:spPr>
          <a:xfrm>
            <a:off x="7132680" y="3159360"/>
            <a:ext cx="9720" cy="111960"/>
          </a:xfrm>
          <a:custGeom>
            <a:avLst/>
            <a:gdLst/>
            <a:ahLst/>
            <a:rect l="l" t="t" r="r" b="b"/>
            <a:pathLst>
              <a:path w="10178" h="112294">
                <a:moveTo>
                  <a:pt x="2395" y="112294"/>
                </a:moveTo>
                <a:lnTo>
                  <a:pt x="10178" y="112048"/>
                </a:lnTo>
                <a:lnTo>
                  <a:pt x="7663" y="58921"/>
                </a:lnTo>
                <a:lnTo>
                  <a:pt x="5628" y="58921"/>
                </a:lnTo>
                <a:lnTo>
                  <a:pt x="3472" y="0"/>
                </a:lnTo>
                <a:lnTo>
                  <a:pt x="0" y="370"/>
                </a:lnTo>
                <a:lnTo>
                  <a:pt x="2395" y="112294"/>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32" name="สายไหมพัฒนา"/>
          <p:cNvSpPr/>
          <p:nvPr/>
        </p:nvSpPr>
        <p:spPr>
          <a:xfrm>
            <a:off x="6519240" y="3143160"/>
            <a:ext cx="71640" cy="120240"/>
          </a:xfrm>
          <a:custGeom>
            <a:avLst/>
            <a:gdLst/>
            <a:ahLst/>
            <a:rect l="l" t="t" r="r" b="b"/>
            <a:pathLst>
              <a:path w="72083" h="120676">
                <a:moveTo>
                  <a:pt x="9340" y="120676"/>
                </a:moveTo>
                <a:lnTo>
                  <a:pt x="15686" y="107980"/>
                </a:lnTo>
                <a:lnTo>
                  <a:pt x="16883" y="108473"/>
                </a:lnTo>
                <a:lnTo>
                  <a:pt x="16524" y="106254"/>
                </a:lnTo>
                <a:lnTo>
                  <a:pt x="54362" y="30570"/>
                </a:lnTo>
                <a:lnTo>
                  <a:pt x="57236" y="27611"/>
                </a:lnTo>
                <a:lnTo>
                  <a:pt x="56278" y="26748"/>
                </a:lnTo>
                <a:lnTo>
                  <a:pt x="64779" y="9738"/>
                </a:lnTo>
                <a:lnTo>
                  <a:pt x="67294" y="10477"/>
                </a:lnTo>
                <a:lnTo>
                  <a:pt x="68371" y="8259"/>
                </a:lnTo>
                <a:lnTo>
                  <a:pt x="71125" y="9491"/>
                </a:lnTo>
                <a:lnTo>
                  <a:pt x="72083" y="6533"/>
                </a:lnTo>
                <a:lnTo>
                  <a:pt x="62145" y="0"/>
                </a:lnTo>
                <a:lnTo>
                  <a:pt x="0" y="117841"/>
                </a:lnTo>
                <a:lnTo>
                  <a:pt x="9340" y="12067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33" name="หมู่บ้านซิลค์วิลเลจ"/>
          <p:cNvSpPr/>
          <p:nvPr/>
        </p:nvSpPr>
        <p:spPr>
          <a:xfrm>
            <a:off x="6796440" y="3276360"/>
            <a:ext cx="18000" cy="65520"/>
          </a:xfrm>
          <a:custGeom>
            <a:avLst/>
            <a:gdLst/>
            <a:ahLst/>
            <a:rect l="l" t="t" r="r" b="b"/>
            <a:pathLst>
              <a:path w="18200" h="65700">
                <a:moveTo>
                  <a:pt x="12932" y="2465"/>
                </a:moveTo>
                <a:lnTo>
                  <a:pt x="11016" y="2342"/>
                </a:lnTo>
                <a:lnTo>
                  <a:pt x="9340" y="15408"/>
                </a:lnTo>
                <a:lnTo>
                  <a:pt x="3832" y="15531"/>
                </a:lnTo>
                <a:lnTo>
                  <a:pt x="2036" y="61016"/>
                </a:lnTo>
                <a:lnTo>
                  <a:pt x="239" y="61139"/>
                </a:lnTo>
                <a:lnTo>
                  <a:pt x="0" y="65700"/>
                </a:lnTo>
                <a:lnTo>
                  <a:pt x="2634" y="65700"/>
                </a:lnTo>
                <a:lnTo>
                  <a:pt x="2874" y="61756"/>
                </a:lnTo>
                <a:lnTo>
                  <a:pt x="6705" y="62372"/>
                </a:lnTo>
                <a:lnTo>
                  <a:pt x="6945" y="64960"/>
                </a:lnTo>
                <a:lnTo>
                  <a:pt x="15686" y="65207"/>
                </a:lnTo>
                <a:lnTo>
                  <a:pt x="18200" y="2095"/>
                </a:lnTo>
                <a:lnTo>
                  <a:pt x="16404" y="2095"/>
                </a:lnTo>
                <a:lnTo>
                  <a:pt x="16524" y="0"/>
                </a:lnTo>
                <a:lnTo>
                  <a:pt x="15207" y="2712"/>
                </a:lnTo>
                <a:lnTo>
                  <a:pt x="12932" y="2465"/>
                </a:lnTo>
                <a:close/>
              </a:path>
            </a:pathLst>
          </a:custGeom>
          <a:solidFill>
            <a:srgbClr val="ded5c5"/>
          </a:solidFill>
          <a:ln w="6191">
            <a:solidFill>
              <a:srgbClr val="b5a68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34" name="ประชานุกูล"/>
          <p:cNvSpPr/>
          <p:nvPr/>
        </p:nvSpPr>
        <p:spPr>
          <a:xfrm>
            <a:off x="6481800" y="3299040"/>
            <a:ext cx="66600" cy="32040"/>
          </a:xfrm>
          <a:custGeom>
            <a:avLst/>
            <a:gdLst/>
            <a:ahLst/>
            <a:rect l="l" t="t" r="r" b="b"/>
            <a:pathLst>
              <a:path w="66815" h="32542">
                <a:moveTo>
                  <a:pt x="0" y="28104"/>
                </a:moveTo>
                <a:lnTo>
                  <a:pt x="4670" y="29953"/>
                </a:lnTo>
                <a:lnTo>
                  <a:pt x="66336" y="32542"/>
                </a:lnTo>
                <a:lnTo>
                  <a:pt x="66815" y="6410"/>
                </a:lnTo>
                <a:lnTo>
                  <a:pt x="50291" y="6040"/>
                </a:lnTo>
                <a:lnTo>
                  <a:pt x="50291" y="3575"/>
                </a:lnTo>
                <a:lnTo>
                  <a:pt x="47656" y="3451"/>
                </a:lnTo>
                <a:lnTo>
                  <a:pt x="47417" y="4931"/>
                </a:lnTo>
                <a:lnTo>
                  <a:pt x="31851" y="4191"/>
                </a:lnTo>
                <a:lnTo>
                  <a:pt x="22511" y="2835"/>
                </a:lnTo>
                <a:lnTo>
                  <a:pt x="15207" y="0"/>
                </a:lnTo>
                <a:lnTo>
                  <a:pt x="0" y="28104"/>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35" name="หมู่บ้านสายไหม"/>
          <p:cNvSpPr/>
          <p:nvPr/>
        </p:nvSpPr>
        <p:spPr>
          <a:xfrm>
            <a:off x="6548400" y="3268080"/>
            <a:ext cx="11160" cy="63720"/>
          </a:xfrm>
          <a:custGeom>
            <a:avLst/>
            <a:gdLst/>
            <a:ahLst/>
            <a:rect l="l" t="t" r="r" b="b"/>
            <a:pathLst>
              <a:path w="11375" h="64098">
                <a:moveTo>
                  <a:pt x="5628" y="30077"/>
                </a:moveTo>
                <a:lnTo>
                  <a:pt x="3951" y="47334"/>
                </a:lnTo>
                <a:lnTo>
                  <a:pt x="239" y="47457"/>
                </a:lnTo>
                <a:lnTo>
                  <a:pt x="0" y="63851"/>
                </a:lnTo>
                <a:lnTo>
                  <a:pt x="8621" y="64098"/>
                </a:lnTo>
                <a:lnTo>
                  <a:pt x="11375" y="123"/>
                </a:lnTo>
                <a:lnTo>
                  <a:pt x="6226" y="0"/>
                </a:lnTo>
                <a:lnTo>
                  <a:pt x="5628" y="30077"/>
                </a:lnTo>
                <a:close/>
              </a:path>
            </a:pathLst>
          </a:custGeom>
          <a:solidFill>
            <a:srgbClr val="ded5c5"/>
          </a:solidFill>
          <a:ln w="6191">
            <a:solidFill>
              <a:srgbClr val="b5a68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36" name="หมู่บ้าน กม.24"/>
          <p:cNvSpPr/>
          <p:nvPr/>
        </p:nvSpPr>
        <p:spPr>
          <a:xfrm>
            <a:off x="6423840" y="3152520"/>
            <a:ext cx="126360" cy="79920"/>
          </a:xfrm>
          <a:custGeom>
            <a:avLst/>
            <a:gdLst/>
            <a:ahLst/>
            <a:rect l="l" t="t" r="r" b="b"/>
            <a:pathLst>
              <a:path w="126565" h="80122">
                <a:moveTo>
                  <a:pt x="0" y="66809"/>
                </a:moveTo>
                <a:lnTo>
                  <a:pt x="27660" y="80122"/>
                </a:lnTo>
                <a:lnTo>
                  <a:pt x="126565" y="9245"/>
                </a:lnTo>
                <a:lnTo>
                  <a:pt x="122015" y="0"/>
                </a:lnTo>
                <a:lnTo>
                  <a:pt x="115549" y="4314"/>
                </a:lnTo>
                <a:lnTo>
                  <a:pt x="116866" y="7273"/>
                </a:lnTo>
                <a:lnTo>
                  <a:pt x="120339" y="5917"/>
                </a:lnTo>
                <a:lnTo>
                  <a:pt x="120937" y="8259"/>
                </a:lnTo>
                <a:lnTo>
                  <a:pt x="25864" y="71863"/>
                </a:lnTo>
                <a:lnTo>
                  <a:pt x="1916" y="62988"/>
                </a:lnTo>
                <a:lnTo>
                  <a:pt x="0" y="66809"/>
                </a:lnTo>
                <a:close/>
              </a:path>
            </a:pathLst>
          </a:custGeom>
          <a:solidFill>
            <a:srgbClr val="ded5c5"/>
          </a:solidFill>
          <a:ln w="6191">
            <a:solidFill>
              <a:srgbClr val="b5a68d"/>
            </a:solidFill>
            <a:round/>
          </a:ln>
        </p:spPr>
        <p:style>
          <a:lnRef idx="0"/>
          <a:fillRef idx="0"/>
          <a:effectRef idx="0"/>
          <a:fontRef idx="minor"/>
        </p:style>
        <p:txBody>
          <a:bodyPr lIns="90000" rIns="90000" tIns="34920" bIns="34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37" name="หมู่บ้าน กม.24"/>
          <p:cNvSpPr/>
          <p:nvPr/>
        </p:nvSpPr>
        <p:spPr>
          <a:xfrm>
            <a:off x="6548400" y="3141000"/>
            <a:ext cx="26640" cy="20880"/>
          </a:xfrm>
          <a:custGeom>
            <a:avLst/>
            <a:gdLst/>
            <a:ahLst/>
            <a:rect l="l" t="t" r="r" b="b"/>
            <a:pathLst>
              <a:path w="26822" h="21078">
                <a:moveTo>
                  <a:pt x="12453" y="10354"/>
                </a:moveTo>
                <a:lnTo>
                  <a:pt x="11615" y="8752"/>
                </a:lnTo>
                <a:lnTo>
                  <a:pt x="0" y="15531"/>
                </a:lnTo>
                <a:lnTo>
                  <a:pt x="1916" y="21078"/>
                </a:lnTo>
                <a:lnTo>
                  <a:pt x="26822" y="3944"/>
                </a:lnTo>
                <a:lnTo>
                  <a:pt x="26582" y="0"/>
                </a:lnTo>
                <a:lnTo>
                  <a:pt x="12453" y="10354"/>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38" name="หมู่บ้านอรุณวรรณ"/>
          <p:cNvSpPr/>
          <p:nvPr/>
        </p:nvSpPr>
        <p:spPr>
          <a:xfrm>
            <a:off x="7059240" y="3202920"/>
            <a:ext cx="11520" cy="69840"/>
          </a:xfrm>
          <a:custGeom>
            <a:avLst/>
            <a:gdLst/>
            <a:ahLst/>
            <a:rect l="l" t="t" r="r" b="b"/>
            <a:pathLst>
              <a:path w="11974" h="70261">
                <a:moveTo>
                  <a:pt x="3353" y="37226"/>
                </a:moveTo>
                <a:lnTo>
                  <a:pt x="4191" y="65330"/>
                </a:lnTo>
                <a:lnTo>
                  <a:pt x="0" y="65947"/>
                </a:lnTo>
                <a:lnTo>
                  <a:pt x="239" y="68412"/>
                </a:lnTo>
                <a:lnTo>
                  <a:pt x="11974" y="70261"/>
                </a:lnTo>
                <a:lnTo>
                  <a:pt x="8502" y="247"/>
                </a:lnTo>
                <a:lnTo>
                  <a:pt x="1317" y="0"/>
                </a:lnTo>
                <a:lnTo>
                  <a:pt x="3353" y="37226"/>
                </a:lnTo>
                <a:close/>
              </a:path>
            </a:pathLst>
          </a:custGeom>
          <a:solidFill>
            <a:srgbClr val="ded5c5"/>
          </a:solidFill>
          <a:ln w="6191">
            <a:solidFill>
              <a:srgbClr val="b5a68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39" name="หมู่บ้านสายไหมวิลล่า"/>
          <p:cNvSpPr/>
          <p:nvPr/>
        </p:nvSpPr>
        <p:spPr>
          <a:xfrm>
            <a:off x="7087320" y="3162960"/>
            <a:ext cx="7920" cy="107280"/>
          </a:xfrm>
          <a:custGeom>
            <a:avLst/>
            <a:gdLst/>
            <a:ahLst/>
            <a:rect l="l" t="t" r="r" b="b"/>
            <a:pathLst>
              <a:path w="8142" h="107733">
                <a:moveTo>
                  <a:pt x="0" y="0"/>
                </a:moveTo>
                <a:lnTo>
                  <a:pt x="3353" y="107733"/>
                </a:lnTo>
                <a:lnTo>
                  <a:pt x="8142" y="107610"/>
                </a:lnTo>
                <a:lnTo>
                  <a:pt x="4550" y="0"/>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40" name="หหลโยธิน 66 รวมใจพัฒนา"/>
          <p:cNvSpPr/>
          <p:nvPr/>
        </p:nvSpPr>
        <p:spPr>
          <a:xfrm>
            <a:off x="6376320" y="2919960"/>
            <a:ext cx="27360" cy="25560"/>
          </a:xfrm>
          <a:custGeom>
            <a:avLst/>
            <a:gdLst/>
            <a:ahLst/>
            <a:rect l="l" t="t" r="r" b="b"/>
            <a:pathLst>
              <a:path w="27660" h="25762">
                <a:moveTo>
                  <a:pt x="0" y="0"/>
                </a:moveTo>
                <a:lnTo>
                  <a:pt x="4909" y="25762"/>
                </a:lnTo>
                <a:lnTo>
                  <a:pt x="27660" y="24776"/>
                </a:lnTo>
                <a:lnTo>
                  <a:pt x="21912" y="14915"/>
                </a:lnTo>
                <a:lnTo>
                  <a:pt x="15087" y="8135"/>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41" name="กม. 25 - 26"/>
          <p:cNvSpPr/>
          <p:nvPr/>
        </p:nvSpPr>
        <p:spPr>
          <a:xfrm>
            <a:off x="6408360" y="3112560"/>
            <a:ext cx="168120" cy="69840"/>
          </a:xfrm>
          <a:custGeom>
            <a:avLst/>
            <a:gdLst/>
            <a:ahLst/>
            <a:rect l="l" t="t" r="r" b="b"/>
            <a:pathLst>
              <a:path w="168474" h="70138">
                <a:moveTo>
                  <a:pt x="0" y="0"/>
                </a:moveTo>
                <a:lnTo>
                  <a:pt x="12453" y="68905"/>
                </a:lnTo>
                <a:lnTo>
                  <a:pt x="75436" y="70138"/>
                </a:lnTo>
                <a:lnTo>
                  <a:pt x="151591" y="27488"/>
                </a:lnTo>
                <a:lnTo>
                  <a:pt x="150513" y="18983"/>
                </a:lnTo>
                <a:lnTo>
                  <a:pt x="168474" y="18366"/>
                </a:lnTo>
                <a:lnTo>
                  <a:pt x="168115" y="8135"/>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42" name="วุฒากาศ 46 (อพยพ 2)"/>
          <p:cNvSpPr/>
          <p:nvPr/>
        </p:nvSpPr>
        <p:spPr>
          <a:xfrm>
            <a:off x="4488840" y="5973840"/>
            <a:ext cx="36000" cy="32040"/>
          </a:xfrm>
          <a:custGeom>
            <a:avLst/>
            <a:gdLst/>
            <a:ahLst/>
            <a:rect l="l" t="t" r="r" b="b"/>
            <a:pathLst>
              <a:path w="36401" h="32295">
                <a:moveTo>
                  <a:pt x="9699" y="31432"/>
                </a:moveTo>
                <a:lnTo>
                  <a:pt x="20595" y="32295"/>
                </a:lnTo>
                <a:lnTo>
                  <a:pt x="28019" y="8382"/>
                </a:lnTo>
                <a:lnTo>
                  <a:pt x="35084" y="11833"/>
                </a:lnTo>
                <a:lnTo>
                  <a:pt x="36401" y="7642"/>
                </a:lnTo>
                <a:lnTo>
                  <a:pt x="28857" y="4931"/>
                </a:lnTo>
                <a:lnTo>
                  <a:pt x="23230" y="0"/>
                </a:lnTo>
                <a:lnTo>
                  <a:pt x="6586" y="7889"/>
                </a:lnTo>
                <a:lnTo>
                  <a:pt x="3233" y="8012"/>
                </a:lnTo>
                <a:lnTo>
                  <a:pt x="2874" y="9738"/>
                </a:lnTo>
                <a:lnTo>
                  <a:pt x="4550" y="10108"/>
                </a:lnTo>
                <a:lnTo>
                  <a:pt x="2634" y="13559"/>
                </a:lnTo>
                <a:lnTo>
                  <a:pt x="1557" y="13189"/>
                </a:lnTo>
                <a:lnTo>
                  <a:pt x="0" y="17750"/>
                </a:lnTo>
                <a:lnTo>
                  <a:pt x="11256" y="21818"/>
                </a:lnTo>
                <a:lnTo>
                  <a:pt x="9699" y="31432"/>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43" name="ศาลาครืนรวมใจ"/>
          <p:cNvSpPr/>
          <p:nvPr/>
        </p:nvSpPr>
        <p:spPr>
          <a:xfrm>
            <a:off x="4393440" y="5874840"/>
            <a:ext cx="54360" cy="51120"/>
          </a:xfrm>
          <a:custGeom>
            <a:avLst/>
            <a:gdLst/>
            <a:ahLst/>
            <a:rect l="l" t="t" r="r" b="b"/>
            <a:pathLst>
              <a:path w="54841" h="51648">
                <a:moveTo>
                  <a:pt x="45501" y="0"/>
                </a:moveTo>
                <a:lnTo>
                  <a:pt x="10058" y="3575"/>
                </a:lnTo>
                <a:lnTo>
                  <a:pt x="10896" y="14792"/>
                </a:lnTo>
                <a:lnTo>
                  <a:pt x="479" y="15655"/>
                </a:lnTo>
                <a:lnTo>
                  <a:pt x="0" y="32172"/>
                </a:lnTo>
                <a:lnTo>
                  <a:pt x="9220" y="38582"/>
                </a:lnTo>
                <a:lnTo>
                  <a:pt x="37359" y="51648"/>
                </a:lnTo>
                <a:lnTo>
                  <a:pt x="54841" y="48073"/>
                </a:lnTo>
                <a:lnTo>
                  <a:pt x="45501" y="0"/>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44" name="วัดโพธิ์แก้ว"/>
          <p:cNvSpPr/>
          <p:nvPr/>
        </p:nvSpPr>
        <p:spPr>
          <a:xfrm>
            <a:off x="4713840" y="6199560"/>
            <a:ext cx="54720" cy="77760"/>
          </a:xfrm>
          <a:custGeom>
            <a:avLst/>
            <a:gdLst/>
            <a:ahLst/>
            <a:rect l="l" t="t" r="r" b="b"/>
            <a:pathLst>
              <a:path w="55080" h="78150">
                <a:moveTo>
                  <a:pt x="38796" y="73712"/>
                </a:moveTo>
                <a:lnTo>
                  <a:pt x="55080" y="55839"/>
                </a:lnTo>
                <a:lnTo>
                  <a:pt x="38556" y="8752"/>
                </a:lnTo>
                <a:lnTo>
                  <a:pt x="41310" y="8629"/>
                </a:lnTo>
                <a:lnTo>
                  <a:pt x="39634" y="0"/>
                </a:lnTo>
                <a:lnTo>
                  <a:pt x="20356" y="6656"/>
                </a:lnTo>
                <a:lnTo>
                  <a:pt x="24068" y="21695"/>
                </a:lnTo>
                <a:lnTo>
                  <a:pt x="8262" y="26009"/>
                </a:lnTo>
                <a:lnTo>
                  <a:pt x="10058" y="35377"/>
                </a:lnTo>
                <a:lnTo>
                  <a:pt x="359" y="37966"/>
                </a:lnTo>
                <a:lnTo>
                  <a:pt x="0" y="45238"/>
                </a:lnTo>
                <a:lnTo>
                  <a:pt x="0" y="49799"/>
                </a:lnTo>
                <a:lnTo>
                  <a:pt x="21553" y="44129"/>
                </a:lnTo>
                <a:lnTo>
                  <a:pt x="27420" y="60893"/>
                </a:lnTo>
                <a:lnTo>
                  <a:pt x="29695" y="62618"/>
                </a:lnTo>
                <a:lnTo>
                  <a:pt x="30055" y="67303"/>
                </a:lnTo>
                <a:lnTo>
                  <a:pt x="32210" y="66686"/>
                </a:lnTo>
                <a:lnTo>
                  <a:pt x="34485" y="78150"/>
                </a:lnTo>
                <a:lnTo>
                  <a:pt x="38796" y="73712"/>
                </a:lnTo>
                <a:close/>
              </a:path>
            </a:pathLst>
          </a:custGeom>
          <a:solidFill>
            <a:srgbClr val="ded5c5"/>
          </a:solidFill>
          <a:ln w="6191">
            <a:solidFill>
              <a:srgbClr val="b5a68d"/>
            </a:solidFill>
            <a:round/>
          </a:ln>
        </p:spPr>
        <p:style>
          <a:lnRef idx="0"/>
          <a:fillRef idx="0"/>
          <a:effectRef idx="0"/>
          <a:fontRef idx="minor"/>
        </p:style>
        <p:txBody>
          <a:bodyPr lIns="90000" rIns="90000" tIns="32760" bIns="32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45" name="วัดสีสุก"/>
          <p:cNvSpPr/>
          <p:nvPr/>
        </p:nvSpPr>
        <p:spPr>
          <a:xfrm>
            <a:off x="4455360" y="6237720"/>
            <a:ext cx="19080" cy="16200"/>
          </a:xfrm>
          <a:custGeom>
            <a:avLst/>
            <a:gdLst/>
            <a:ahLst/>
            <a:rect l="l" t="t" r="r" b="b"/>
            <a:pathLst>
              <a:path w="19398" h="16394">
                <a:moveTo>
                  <a:pt x="19398" y="15901"/>
                </a:moveTo>
                <a:lnTo>
                  <a:pt x="18320" y="740"/>
                </a:lnTo>
                <a:lnTo>
                  <a:pt x="0" y="0"/>
                </a:lnTo>
                <a:lnTo>
                  <a:pt x="120" y="4314"/>
                </a:lnTo>
                <a:lnTo>
                  <a:pt x="3353" y="4684"/>
                </a:lnTo>
                <a:lnTo>
                  <a:pt x="3353" y="9861"/>
                </a:lnTo>
                <a:lnTo>
                  <a:pt x="11136" y="10601"/>
                </a:lnTo>
                <a:lnTo>
                  <a:pt x="11016" y="16394"/>
                </a:lnTo>
                <a:lnTo>
                  <a:pt x="19398" y="15901"/>
                </a:lnTo>
                <a:close/>
              </a:path>
            </a:pathLst>
          </a:custGeom>
          <a:solidFill>
            <a:srgbClr val="ded5c5"/>
          </a:solidFill>
          <a:ln w="6191">
            <a:solidFill>
              <a:srgbClr val="b5a68d"/>
            </a:solidFill>
            <a:round/>
          </a:ln>
        </p:spPr>
        <p:style>
          <a:lnRef idx="0"/>
          <a:fillRef idx="0"/>
          <a:effectRef idx="0"/>
          <a:fontRef idx="minor"/>
        </p:style>
        <p:txBody>
          <a:bodyPr lIns="90000" rIns="90000" tIns="-28800" bIns="-28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46" name="บางมดพัฒนาหมู่ 7"/>
          <p:cNvSpPr/>
          <p:nvPr/>
        </p:nvSpPr>
        <p:spPr>
          <a:xfrm>
            <a:off x="4508640" y="6323400"/>
            <a:ext cx="23400" cy="18720"/>
          </a:xfrm>
          <a:custGeom>
            <a:avLst/>
            <a:gdLst/>
            <a:ahLst/>
            <a:rect l="l" t="t" r="r" b="b"/>
            <a:pathLst>
              <a:path w="23589" h="19229">
                <a:moveTo>
                  <a:pt x="0" y="5300"/>
                </a:moveTo>
                <a:lnTo>
                  <a:pt x="3113" y="16271"/>
                </a:lnTo>
                <a:lnTo>
                  <a:pt x="11136" y="19229"/>
                </a:lnTo>
                <a:lnTo>
                  <a:pt x="23589" y="16148"/>
                </a:lnTo>
                <a:lnTo>
                  <a:pt x="18440" y="0"/>
                </a:lnTo>
                <a:lnTo>
                  <a:pt x="0" y="5300"/>
                </a:lnTo>
                <a:close/>
              </a:path>
            </a:pathLst>
          </a:custGeom>
          <a:solidFill>
            <a:srgbClr val="ded5c5"/>
          </a:solidFill>
          <a:ln w="6191">
            <a:solidFill>
              <a:srgbClr val="b5a68d"/>
            </a:solidFill>
            <a:round/>
          </a:ln>
        </p:spPr>
        <p:style>
          <a:lnRef idx="0"/>
          <a:fillRef idx="0"/>
          <a:effectRef idx="0"/>
          <a:fontRef idx="minor"/>
        </p:style>
        <p:txBody>
          <a:bodyPr lIns="90000" rIns="90000" tIns="-26280" bIns="-26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47" name="บ้านบางมด"/>
          <p:cNvSpPr/>
          <p:nvPr/>
        </p:nvSpPr>
        <p:spPr>
          <a:xfrm>
            <a:off x="4442400" y="6298920"/>
            <a:ext cx="16920" cy="30960"/>
          </a:xfrm>
          <a:custGeom>
            <a:avLst/>
            <a:gdLst/>
            <a:ahLst/>
            <a:rect l="l" t="t" r="r" b="b"/>
            <a:pathLst>
              <a:path w="17362" h="31309">
                <a:moveTo>
                  <a:pt x="3592" y="8382"/>
                </a:moveTo>
                <a:lnTo>
                  <a:pt x="0" y="30939"/>
                </a:lnTo>
                <a:lnTo>
                  <a:pt x="3113" y="31309"/>
                </a:lnTo>
                <a:lnTo>
                  <a:pt x="3233" y="28967"/>
                </a:lnTo>
                <a:lnTo>
                  <a:pt x="12333" y="29953"/>
                </a:lnTo>
                <a:lnTo>
                  <a:pt x="17362" y="0"/>
                </a:lnTo>
                <a:lnTo>
                  <a:pt x="3592" y="8382"/>
                </a:lnTo>
                <a:close/>
              </a:path>
            </a:pathLst>
          </a:custGeom>
          <a:solidFill>
            <a:srgbClr val="ded5c5"/>
          </a:solidFill>
          <a:ln w="6191">
            <a:solidFill>
              <a:srgbClr val="b5a68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48" name="สินทวีวิลล่า"/>
          <p:cNvSpPr/>
          <p:nvPr/>
        </p:nvSpPr>
        <p:spPr>
          <a:xfrm>
            <a:off x="4398120" y="6356880"/>
            <a:ext cx="28440" cy="38160"/>
          </a:xfrm>
          <a:custGeom>
            <a:avLst/>
            <a:gdLst/>
            <a:ahLst/>
            <a:rect l="l" t="t" r="r" b="b"/>
            <a:pathLst>
              <a:path w="28738" h="38582">
                <a:moveTo>
                  <a:pt x="0" y="3944"/>
                </a:moveTo>
                <a:lnTo>
                  <a:pt x="3353" y="19106"/>
                </a:lnTo>
                <a:lnTo>
                  <a:pt x="19039" y="16517"/>
                </a:lnTo>
                <a:lnTo>
                  <a:pt x="20835" y="38582"/>
                </a:lnTo>
                <a:lnTo>
                  <a:pt x="28738" y="37966"/>
                </a:lnTo>
                <a:lnTo>
                  <a:pt x="25026" y="0"/>
                </a:lnTo>
                <a:lnTo>
                  <a:pt x="0" y="3944"/>
                </a:lnTo>
                <a:close/>
              </a:path>
            </a:pathLst>
          </a:custGeom>
          <a:solidFill>
            <a:srgbClr val="ded5c5"/>
          </a:solidFill>
          <a:ln w="6191">
            <a:solidFill>
              <a:srgbClr val="b5a68d"/>
            </a:solidFill>
            <a:round/>
          </a:ln>
        </p:spPr>
        <p:style>
          <a:lnRef idx="0"/>
          <a:fillRef idx="0"/>
          <a:effectRef idx="0"/>
          <a:fontRef idx="minor"/>
        </p:style>
        <p:txBody>
          <a:bodyPr lIns="90000" rIns="90000" tIns="-6840" bIns="-6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49" name="ข้าราชการตำรวจ บก.น.9"/>
          <p:cNvSpPr/>
          <p:nvPr/>
        </p:nvSpPr>
        <p:spPr>
          <a:xfrm>
            <a:off x="4402440" y="6374160"/>
            <a:ext cx="14400" cy="10800"/>
          </a:xfrm>
          <a:custGeom>
            <a:avLst/>
            <a:gdLst/>
            <a:ahLst/>
            <a:rect l="l" t="t" r="r" b="b"/>
            <a:pathLst>
              <a:path w="14728" h="11217">
                <a:moveTo>
                  <a:pt x="0" y="1972"/>
                </a:moveTo>
                <a:lnTo>
                  <a:pt x="1317" y="11217"/>
                </a:lnTo>
                <a:lnTo>
                  <a:pt x="14728" y="9245"/>
                </a:lnTo>
                <a:lnTo>
                  <a:pt x="13052" y="0"/>
                </a:lnTo>
                <a:lnTo>
                  <a:pt x="0" y="1972"/>
                </a:lnTo>
                <a:close/>
              </a:path>
            </a:pathLst>
          </a:custGeom>
          <a:solidFill>
            <a:srgbClr val="ded5c5"/>
          </a:solidFill>
          <a:ln w="6191">
            <a:solidFill>
              <a:srgbClr val="b5a68d"/>
            </a:solidFill>
            <a:round/>
          </a:ln>
        </p:spPr>
        <p:style>
          <a:lnRef idx="0"/>
          <a:fillRef idx="0"/>
          <a:effectRef idx="0"/>
          <a:fontRef idx="minor"/>
        </p:style>
        <p:txBody>
          <a:bodyPr lIns="90000" rIns="90000" tIns="-34200" bIns="-34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50" name="เปรมประชา"/>
          <p:cNvSpPr/>
          <p:nvPr/>
        </p:nvSpPr>
        <p:spPr>
          <a:xfrm>
            <a:off x="6167160" y="2938680"/>
            <a:ext cx="30240" cy="74160"/>
          </a:xfrm>
          <a:custGeom>
            <a:avLst/>
            <a:gdLst/>
            <a:ahLst/>
            <a:rect l="l" t="t" r="r" b="b"/>
            <a:pathLst>
              <a:path w="30534" h="74452">
                <a:moveTo>
                  <a:pt x="0" y="0"/>
                </a:moveTo>
                <a:lnTo>
                  <a:pt x="8023" y="56209"/>
                </a:lnTo>
                <a:lnTo>
                  <a:pt x="26223" y="74452"/>
                </a:lnTo>
                <a:lnTo>
                  <a:pt x="29097" y="74329"/>
                </a:lnTo>
                <a:lnTo>
                  <a:pt x="30534" y="72480"/>
                </a:lnTo>
                <a:lnTo>
                  <a:pt x="23349" y="2835"/>
                </a:lnTo>
                <a:lnTo>
                  <a:pt x="0" y="0"/>
                </a:lnTo>
                <a:close/>
              </a:path>
            </a:pathLst>
          </a:custGeom>
          <a:solidFill>
            <a:srgbClr val="ded5c5"/>
          </a:solidFill>
          <a:ln w="6191">
            <a:solidFill>
              <a:srgbClr val="b5a68d"/>
            </a:solidFill>
            <a:round/>
          </a:ln>
        </p:spPr>
        <p:style>
          <a:lnRef idx="0"/>
          <a:fillRef idx="0"/>
          <a:effectRef idx="0"/>
          <a:fontRef idx="minor"/>
        </p:style>
        <p:txBody>
          <a:bodyPr lIns="90000" rIns="90000" tIns="29160" bIns="29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51" name="ปิ่นเจริญ 1"/>
          <p:cNvSpPr/>
          <p:nvPr/>
        </p:nvSpPr>
        <p:spPr>
          <a:xfrm>
            <a:off x="6019560" y="3099960"/>
            <a:ext cx="108000" cy="77040"/>
          </a:xfrm>
          <a:custGeom>
            <a:avLst/>
            <a:gdLst/>
            <a:ahLst/>
            <a:rect l="l" t="t" r="r" b="b"/>
            <a:pathLst>
              <a:path w="108245" h="77533">
                <a:moveTo>
                  <a:pt x="15327" y="12696"/>
                </a:moveTo>
                <a:lnTo>
                  <a:pt x="13531" y="14175"/>
                </a:lnTo>
                <a:lnTo>
                  <a:pt x="20835" y="17873"/>
                </a:lnTo>
                <a:lnTo>
                  <a:pt x="16883" y="24899"/>
                </a:lnTo>
                <a:lnTo>
                  <a:pt x="26941" y="28104"/>
                </a:lnTo>
                <a:lnTo>
                  <a:pt x="21074" y="46101"/>
                </a:lnTo>
                <a:lnTo>
                  <a:pt x="6226" y="40431"/>
                </a:lnTo>
                <a:lnTo>
                  <a:pt x="0" y="49922"/>
                </a:lnTo>
                <a:lnTo>
                  <a:pt x="8861" y="53497"/>
                </a:lnTo>
                <a:lnTo>
                  <a:pt x="9220" y="52387"/>
                </a:lnTo>
                <a:lnTo>
                  <a:pt x="101180" y="77533"/>
                </a:lnTo>
                <a:lnTo>
                  <a:pt x="108245" y="58058"/>
                </a:lnTo>
                <a:lnTo>
                  <a:pt x="98067" y="54113"/>
                </a:lnTo>
                <a:lnTo>
                  <a:pt x="107646" y="27241"/>
                </a:lnTo>
                <a:lnTo>
                  <a:pt x="34126" y="0"/>
                </a:lnTo>
                <a:lnTo>
                  <a:pt x="28259" y="9122"/>
                </a:lnTo>
                <a:lnTo>
                  <a:pt x="15327" y="12696"/>
                </a:lnTo>
                <a:close/>
              </a:path>
            </a:pathLst>
          </a:custGeom>
          <a:solidFill>
            <a:srgbClr val="ded5c5"/>
          </a:solidFill>
          <a:ln w="6191">
            <a:solidFill>
              <a:srgbClr val="b5a68d"/>
            </a:solidFill>
            <a:round/>
          </a:ln>
        </p:spPr>
        <p:style>
          <a:lnRef idx="0"/>
          <a:fillRef idx="0"/>
          <a:effectRef idx="0"/>
          <a:fontRef idx="minor"/>
        </p:style>
        <p:txBody>
          <a:bodyPr lIns="90000" rIns="90000" tIns="32040" bIns="32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52" name="หมู่บ้านสินวงศ์"/>
          <p:cNvSpPr/>
          <p:nvPr/>
        </p:nvSpPr>
        <p:spPr>
          <a:xfrm>
            <a:off x="6045120" y="3159720"/>
            <a:ext cx="56520" cy="33840"/>
          </a:xfrm>
          <a:custGeom>
            <a:avLst/>
            <a:gdLst/>
            <a:ahLst/>
            <a:rect l="l" t="t" r="r" b="b"/>
            <a:pathLst>
              <a:path w="56996" h="34268">
                <a:moveTo>
                  <a:pt x="5867" y="0"/>
                </a:moveTo>
                <a:lnTo>
                  <a:pt x="0" y="20215"/>
                </a:lnTo>
                <a:lnTo>
                  <a:pt x="51368" y="34268"/>
                </a:lnTo>
                <a:lnTo>
                  <a:pt x="56996" y="14175"/>
                </a:lnTo>
                <a:lnTo>
                  <a:pt x="5867" y="0"/>
                </a:lnTo>
                <a:close/>
              </a:path>
            </a:pathLst>
          </a:custGeom>
          <a:solidFill>
            <a:srgbClr val="ded5c5"/>
          </a:solidFill>
          <a:ln w="6191">
            <a:solidFill>
              <a:srgbClr val="b5a68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53" name="ดาวทอง"/>
          <p:cNvSpPr/>
          <p:nvPr/>
        </p:nvSpPr>
        <p:spPr>
          <a:xfrm>
            <a:off x="5905800" y="2900160"/>
            <a:ext cx="74160" cy="95400"/>
          </a:xfrm>
          <a:custGeom>
            <a:avLst/>
            <a:gdLst/>
            <a:ahLst/>
            <a:rect l="l" t="t" r="r" b="b"/>
            <a:pathLst>
              <a:path w="74358" h="95653">
                <a:moveTo>
                  <a:pt x="45501" y="95653"/>
                </a:moveTo>
                <a:lnTo>
                  <a:pt x="74358" y="10108"/>
                </a:lnTo>
                <a:lnTo>
                  <a:pt x="27899" y="0"/>
                </a:lnTo>
                <a:lnTo>
                  <a:pt x="0" y="85176"/>
                </a:lnTo>
                <a:lnTo>
                  <a:pt x="45501" y="95653"/>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54" name="ร่วมใจพัฒนา กรป.กลาง"/>
          <p:cNvSpPr/>
          <p:nvPr/>
        </p:nvSpPr>
        <p:spPr>
          <a:xfrm>
            <a:off x="5951160" y="2910960"/>
            <a:ext cx="63360" cy="89640"/>
          </a:xfrm>
          <a:custGeom>
            <a:avLst/>
            <a:gdLst/>
            <a:ahLst/>
            <a:rect l="l" t="t" r="r" b="b"/>
            <a:pathLst>
              <a:path w="63582" h="89983">
                <a:moveTo>
                  <a:pt x="39275" y="53990"/>
                </a:moveTo>
                <a:lnTo>
                  <a:pt x="63582" y="12696"/>
                </a:lnTo>
                <a:lnTo>
                  <a:pt x="56876" y="9122"/>
                </a:lnTo>
                <a:lnTo>
                  <a:pt x="28498" y="0"/>
                </a:lnTo>
                <a:lnTo>
                  <a:pt x="0" y="84929"/>
                </a:lnTo>
                <a:lnTo>
                  <a:pt x="19158" y="89983"/>
                </a:lnTo>
                <a:lnTo>
                  <a:pt x="39275" y="53990"/>
                </a:lnTo>
                <a:close/>
              </a:path>
            </a:pathLst>
          </a:custGeom>
          <a:solidFill>
            <a:srgbClr val="ded5c5"/>
          </a:solidFill>
          <a:ln w="6191">
            <a:solidFill>
              <a:srgbClr val="b5a68d"/>
            </a:solidFill>
            <a:round/>
          </a:ln>
        </p:spPr>
        <p:style>
          <a:lnRef idx="0"/>
          <a:fillRef idx="0"/>
          <a:effectRef idx="0"/>
          <a:fontRef idx="minor"/>
        </p:style>
        <p:txBody>
          <a:bodyPr lIns="90000" rIns="90000" tIns="44640" bIns="44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55" name="สวนฝรั่ง"/>
          <p:cNvSpPr/>
          <p:nvPr/>
        </p:nvSpPr>
        <p:spPr>
          <a:xfrm>
            <a:off x="6004440" y="3207960"/>
            <a:ext cx="19800" cy="14400"/>
          </a:xfrm>
          <a:custGeom>
            <a:avLst/>
            <a:gdLst/>
            <a:ahLst/>
            <a:rect l="l" t="t" r="r" b="b"/>
            <a:pathLst>
              <a:path w="19997" h="14669">
                <a:moveTo>
                  <a:pt x="0" y="9861"/>
                </a:moveTo>
                <a:lnTo>
                  <a:pt x="17123" y="14669"/>
                </a:lnTo>
                <a:lnTo>
                  <a:pt x="19997" y="3698"/>
                </a:lnTo>
                <a:lnTo>
                  <a:pt x="4909" y="0"/>
                </a:lnTo>
                <a:lnTo>
                  <a:pt x="0" y="9861"/>
                </a:lnTo>
                <a:close/>
              </a:path>
            </a:pathLst>
          </a:custGeom>
          <a:solidFill>
            <a:srgbClr val="ded5c5"/>
          </a:solidFill>
          <a:ln w="6191">
            <a:solidFill>
              <a:srgbClr val="b5a68d"/>
            </a:solidFill>
            <a:round/>
          </a:ln>
        </p:spPr>
        <p:style>
          <a:lnRef idx="0"/>
          <a:fillRef idx="0"/>
          <a:effectRef idx="0"/>
          <a:fontRef idx="minor"/>
        </p:style>
        <p:txBody>
          <a:bodyPr lIns="90000" rIns="90000" tIns="-30600" bIns="-30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56" name="ปิ่นเจริญ 4"/>
          <p:cNvSpPr/>
          <p:nvPr/>
        </p:nvSpPr>
        <p:spPr>
          <a:xfrm>
            <a:off x="5745600" y="2909520"/>
            <a:ext cx="30960" cy="38880"/>
          </a:xfrm>
          <a:custGeom>
            <a:avLst/>
            <a:gdLst/>
            <a:ahLst/>
            <a:rect l="l" t="t" r="r" b="b"/>
            <a:pathLst>
              <a:path w="31252" h="39198">
                <a:moveTo>
                  <a:pt x="21194" y="39198"/>
                </a:moveTo>
                <a:lnTo>
                  <a:pt x="30174" y="13929"/>
                </a:lnTo>
                <a:lnTo>
                  <a:pt x="27780" y="12820"/>
                </a:lnTo>
                <a:lnTo>
                  <a:pt x="31252" y="3328"/>
                </a:lnTo>
                <a:lnTo>
                  <a:pt x="3113" y="0"/>
                </a:lnTo>
                <a:lnTo>
                  <a:pt x="1437" y="18366"/>
                </a:lnTo>
                <a:lnTo>
                  <a:pt x="0" y="21818"/>
                </a:lnTo>
                <a:lnTo>
                  <a:pt x="1916" y="22804"/>
                </a:lnTo>
                <a:lnTo>
                  <a:pt x="599" y="33158"/>
                </a:lnTo>
                <a:lnTo>
                  <a:pt x="21194" y="39198"/>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57" name="อยู่เจริญ-บุญมา"/>
          <p:cNvSpPr/>
          <p:nvPr/>
        </p:nvSpPr>
        <p:spPr>
          <a:xfrm>
            <a:off x="6041880" y="2946600"/>
            <a:ext cx="42120" cy="79200"/>
          </a:xfrm>
          <a:custGeom>
            <a:avLst/>
            <a:gdLst/>
            <a:ahLst/>
            <a:rect l="l" t="t" r="r" b="b"/>
            <a:pathLst>
              <a:path w="42508" h="79506">
                <a:moveTo>
                  <a:pt x="0" y="72480"/>
                </a:moveTo>
                <a:lnTo>
                  <a:pt x="31013" y="79506"/>
                </a:lnTo>
                <a:lnTo>
                  <a:pt x="42508" y="9491"/>
                </a:lnTo>
                <a:lnTo>
                  <a:pt x="22751" y="0"/>
                </a:lnTo>
                <a:lnTo>
                  <a:pt x="17362" y="35130"/>
                </a:lnTo>
                <a:lnTo>
                  <a:pt x="8382" y="33035"/>
                </a:lnTo>
                <a:lnTo>
                  <a:pt x="0" y="72480"/>
                </a:lnTo>
                <a:close/>
              </a:path>
            </a:pathLst>
          </a:custGeom>
          <a:solidFill>
            <a:srgbClr val="ded5c5"/>
          </a:solidFill>
          <a:ln w="6191">
            <a:solidFill>
              <a:srgbClr val="b5a68d"/>
            </a:solidFill>
            <a:round/>
          </a:ln>
        </p:spPr>
        <p:style>
          <a:lnRef idx="0"/>
          <a:fillRef idx="0"/>
          <a:effectRef idx="0"/>
          <a:fontRef idx="minor"/>
        </p:style>
        <p:txBody>
          <a:bodyPr lIns="90000" rIns="90000" tIns="34200" bIns="34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58" name="ประชาอุทิศม่วงมณีร่วมใจ"/>
          <p:cNvSpPr/>
          <p:nvPr/>
        </p:nvSpPr>
        <p:spPr>
          <a:xfrm>
            <a:off x="5909400" y="3277800"/>
            <a:ext cx="34200" cy="63360"/>
          </a:xfrm>
          <a:custGeom>
            <a:avLst/>
            <a:gdLst/>
            <a:ahLst/>
            <a:rect l="l" t="t" r="r" b="b"/>
            <a:pathLst>
              <a:path w="34605" h="63728">
                <a:moveTo>
                  <a:pt x="3712" y="42280"/>
                </a:moveTo>
                <a:lnTo>
                  <a:pt x="0" y="59660"/>
                </a:lnTo>
                <a:lnTo>
                  <a:pt x="7663" y="63728"/>
                </a:lnTo>
                <a:lnTo>
                  <a:pt x="9938" y="58921"/>
                </a:lnTo>
                <a:lnTo>
                  <a:pt x="17362" y="60769"/>
                </a:lnTo>
                <a:lnTo>
                  <a:pt x="21673" y="45608"/>
                </a:lnTo>
                <a:lnTo>
                  <a:pt x="32928" y="47950"/>
                </a:lnTo>
                <a:lnTo>
                  <a:pt x="34246" y="39198"/>
                </a:lnTo>
                <a:lnTo>
                  <a:pt x="24068" y="37842"/>
                </a:lnTo>
                <a:lnTo>
                  <a:pt x="25026" y="34021"/>
                </a:lnTo>
                <a:lnTo>
                  <a:pt x="29815" y="34761"/>
                </a:lnTo>
                <a:lnTo>
                  <a:pt x="30055" y="27118"/>
                </a:lnTo>
                <a:lnTo>
                  <a:pt x="28139" y="23297"/>
                </a:lnTo>
                <a:lnTo>
                  <a:pt x="34605" y="0"/>
                </a:lnTo>
                <a:lnTo>
                  <a:pt x="12692" y="1109"/>
                </a:lnTo>
                <a:lnTo>
                  <a:pt x="6945" y="27365"/>
                </a:lnTo>
                <a:lnTo>
                  <a:pt x="6466" y="31556"/>
                </a:lnTo>
                <a:lnTo>
                  <a:pt x="8262" y="31556"/>
                </a:lnTo>
                <a:lnTo>
                  <a:pt x="7544" y="34391"/>
                </a:lnTo>
                <a:lnTo>
                  <a:pt x="5628" y="33898"/>
                </a:lnTo>
                <a:lnTo>
                  <a:pt x="3712" y="42280"/>
                </a:lnTo>
                <a:close/>
              </a:path>
            </a:pathLst>
          </a:custGeom>
          <a:solidFill>
            <a:srgbClr val="ded5c5"/>
          </a:solidFill>
          <a:ln w="6191">
            <a:solidFill>
              <a:srgbClr val="b5a68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59" name="แม่ทองก้อน"/>
          <p:cNvSpPr/>
          <p:nvPr/>
        </p:nvSpPr>
        <p:spPr>
          <a:xfrm>
            <a:off x="5984280" y="3251520"/>
            <a:ext cx="106200" cy="31680"/>
          </a:xfrm>
          <a:custGeom>
            <a:avLst/>
            <a:gdLst/>
            <a:ahLst/>
            <a:rect l="l" t="t" r="r" b="b"/>
            <a:pathLst>
              <a:path w="106688" h="31926">
                <a:moveTo>
                  <a:pt x="14608" y="8629"/>
                </a:moveTo>
                <a:lnTo>
                  <a:pt x="105132" y="31926"/>
                </a:lnTo>
                <a:lnTo>
                  <a:pt x="106688" y="27981"/>
                </a:lnTo>
                <a:lnTo>
                  <a:pt x="84057" y="22188"/>
                </a:lnTo>
                <a:lnTo>
                  <a:pt x="85375" y="17873"/>
                </a:lnTo>
                <a:lnTo>
                  <a:pt x="81423" y="16641"/>
                </a:lnTo>
                <a:lnTo>
                  <a:pt x="79627" y="21078"/>
                </a:lnTo>
                <a:lnTo>
                  <a:pt x="76753" y="20585"/>
                </a:lnTo>
                <a:lnTo>
                  <a:pt x="56278" y="15038"/>
                </a:lnTo>
                <a:lnTo>
                  <a:pt x="57715" y="10478"/>
                </a:lnTo>
                <a:lnTo>
                  <a:pt x="44543" y="7026"/>
                </a:lnTo>
                <a:lnTo>
                  <a:pt x="43346" y="11464"/>
                </a:lnTo>
                <a:lnTo>
                  <a:pt x="1557" y="0"/>
                </a:lnTo>
                <a:lnTo>
                  <a:pt x="0" y="4931"/>
                </a:lnTo>
                <a:lnTo>
                  <a:pt x="14608" y="8629"/>
                </a:lnTo>
                <a:close/>
              </a:path>
            </a:pathLst>
          </a:custGeom>
          <a:solidFill>
            <a:srgbClr val="ded5c5"/>
          </a:solidFill>
          <a:ln w="6191">
            <a:solidFill>
              <a:srgbClr val="b5a68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60" name="ศรีดอนเมือง"/>
          <p:cNvSpPr/>
          <p:nvPr/>
        </p:nvSpPr>
        <p:spPr>
          <a:xfrm>
            <a:off x="5975640" y="3227040"/>
            <a:ext cx="126000" cy="44640"/>
          </a:xfrm>
          <a:custGeom>
            <a:avLst/>
            <a:gdLst/>
            <a:ahLst/>
            <a:rect l="l" t="t" r="r" b="b"/>
            <a:pathLst>
              <a:path w="126445" h="45115">
                <a:moveTo>
                  <a:pt x="123093" y="43759"/>
                </a:moveTo>
                <a:lnTo>
                  <a:pt x="126445" y="37103"/>
                </a:lnTo>
                <a:lnTo>
                  <a:pt x="121656" y="35747"/>
                </a:lnTo>
                <a:lnTo>
                  <a:pt x="123572" y="31432"/>
                </a:lnTo>
                <a:lnTo>
                  <a:pt x="121057" y="30570"/>
                </a:lnTo>
                <a:lnTo>
                  <a:pt x="7065" y="493"/>
                </a:lnTo>
                <a:lnTo>
                  <a:pt x="4550" y="0"/>
                </a:lnTo>
                <a:lnTo>
                  <a:pt x="1796" y="4438"/>
                </a:lnTo>
                <a:lnTo>
                  <a:pt x="0" y="13066"/>
                </a:lnTo>
                <a:lnTo>
                  <a:pt x="117106" y="44005"/>
                </a:lnTo>
                <a:lnTo>
                  <a:pt x="122254" y="45115"/>
                </a:lnTo>
                <a:lnTo>
                  <a:pt x="123093" y="43759"/>
                </a:lnTo>
                <a:close/>
              </a:path>
            </a:pathLst>
          </a:custGeom>
          <a:solidFill>
            <a:srgbClr val="ded5c5"/>
          </a:solidFill>
          <a:ln w="6191">
            <a:solidFill>
              <a:srgbClr val="b5a68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61" name="ชุมชนศิริสุข"/>
          <p:cNvSpPr/>
          <p:nvPr/>
        </p:nvSpPr>
        <p:spPr>
          <a:xfrm>
            <a:off x="5771880" y="3263040"/>
            <a:ext cx="81000" cy="72000"/>
          </a:xfrm>
          <a:custGeom>
            <a:avLst/>
            <a:gdLst/>
            <a:ahLst/>
            <a:rect l="l" t="t" r="r" b="b"/>
            <a:pathLst>
              <a:path w="81184" h="72233">
                <a:moveTo>
                  <a:pt x="62863" y="56825"/>
                </a:moveTo>
                <a:lnTo>
                  <a:pt x="64300" y="54113"/>
                </a:lnTo>
                <a:lnTo>
                  <a:pt x="65498" y="54606"/>
                </a:lnTo>
                <a:lnTo>
                  <a:pt x="64899" y="52634"/>
                </a:lnTo>
                <a:lnTo>
                  <a:pt x="81184" y="14545"/>
                </a:lnTo>
                <a:lnTo>
                  <a:pt x="70048" y="10601"/>
                </a:lnTo>
                <a:lnTo>
                  <a:pt x="72083" y="1602"/>
                </a:lnTo>
                <a:lnTo>
                  <a:pt x="67174" y="0"/>
                </a:lnTo>
                <a:lnTo>
                  <a:pt x="56278" y="4561"/>
                </a:lnTo>
                <a:lnTo>
                  <a:pt x="54003" y="9984"/>
                </a:lnTo>
                <a:lnTo>
                  <a:pt x="46818" y="17997"/>
                </a:lnTo>
                <a:lnTo>
                  <a:pt x="43825" y="25886"/>
                </a:lnTo>
                <a:lnTo>
                  <a:pt x="41191" y="24653"/>
                </a:lnTo>
                <a:lnTo>
                  <a:pt x="25505" y="44622"/>
                </a:lnTo>
                <a:lnTo>
                  <a:pt x="15327" y="39075"/>
                </a:lnTo>
                <a:lnTo>
                  <a:pt x="6466" y="50539"/>
                </a:lnTo>
                <a:lnTo>
                  <a:pt x="0" y="62002"/>
                </a:lnTo>
                <a:lnTo>
                  <a:pt x="14249" y="68412"/>
                </a:lnTo>
                <a:lnTo>
                  <a:pt x="18679" y="58427"/>
                </a:lnTo>
                <a:lnTo>
                  <a:pt x="28857" y="62865"/>
                </a:lnTo>
                <a:lnTo>
                  <a:pt x="25145" y="71617"/>
                </a:lnTo>
                <a:lnTo>
                  <a:pt x="27899" y="72233"/>
                </a:lnTo>
                <a:lnTo>
                  <a:pt x="29097" y="70014"/>
                </a:lnTo>
                <a:lnTo>
                  <a:pt x="31851" y="71617"/>
                </a:lnTo>
                <a:lnTo>
                  <a:pt x="37119" y="61632"/>
                </a:lnTo>
                <a:lnTo>
                  <a:pt x="33288" y="58427"/>
                </a:lnTo>
                <a:lnTo>
                  <a:pt x="41310" y="46224"/>
                </a:lnTo>
                <a:lnTo>
                  <a:pt x="43466" y="45608"/>
                </a:lnTo>
                <a:lnTo>
                  <a:pt x="62863" y="56825"/>
                </a:lnTo>
                <a:close/>
              </a:path>
            </a:pathLst>
          </a:custGeom>
          <a:solidFill>
            <a:srgbClr val="ded5c5"/>
          </a:solidFill>
          <a:ln w="6191">
            <a:solidFill>
              <a:srgbClr val="b5a68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62" name="หลังวัดไผ่เขียง"/>
          <p:cNvSpPr/>
          <p:nvPr/>
        </p:nvSpPr>
        <p:spPr>
          <a:xfrm>
            <a:off x="5616720" y="3280680"/>
            <a:ext cx="74520" cy="89280"/>
          </a:xfrm>
          <a:custGeom>
            <a:avLst/>
            <a:gdLst/>
            <a:ahLst/>
            <a:rect l="l" t="t" r="r" b="b"/>
            <a:pathLst>
              <a:path w="74957" h="89490">
                <a:moveTo>
                  <a:pt x="18440" y="0"/>
                </a:moveTo>
                <a:lnTo>
                  <a:pt x="0" y="80738"/>
                </a:lnTo>
                <a:lnTo>
                  <a:pt x="35802" y="89490"/>
                </a:lnTo>
                <a:lnTo>
                  <a:pt x="46579" y="69398"/>
                </a:lnTo>
                <a:lnTo>
                  <a:pt x="61427" y="78520"/>
                </a:lnTo>
                <a:lnTo>
                  <a:pt x="74957" y="61756"/>
                </a:lnTo>
                <a:lnTo>
                  <a:pt x="65258" y="53374"/>
                </a:lnTo>
                <a:lnTo>
                  <a:pt x="65737" y="50539"/>
                </a:lnTo>
                <a:lnTo>
                  <a:pt x="55080" y="43266"/>
                </a:lnTo>
                <a:lnTo>
                  <a:pt x="59391" y="35500"/>
                </a:lnTo>
                <a:lnTo>
                  <a:pt x="48135" y="28597"/>
                </a:lnTo>
                <a:lnTo>
                  <a:pt x="51608" y="15408"/>
                </a:lnTo>
                <a:lnTo>
                  <a:pt x="43945" y="9368"/>
                </a:lnTo>
                <a:lnTo>
                  <a:pt x="18440" y="0"/>
                </a:lnTo>
                <a:close/>
              </a:path>
            </a:pathLst>
          </a:custGeom>
          <a:solidFill>
            <a:srgbClr val="ded5c5"/>
          </a:solidFill>
          <a:ln w="6191">
            <a:solidFill>
              <a:srgbClr val="b5a68d"/>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63" name="สายอำพันธ์เอมสาร"/>
          <p:cNvSpPr/>
          <p:nvPr/>
        </p:nvSpPr>
        <p:spPr>
          <a:xfrm>
            <a:off x="5834520" y="3206520"/>
            <a:ext cx="33840" cy="30960"/>
          </a:xfrm>
          <a:custGeom>
            <a:avLst/>
            <a:gdLst/>
            <a:ahLst/>
            <a:rect l="l" t="t" r="r" b="b"/>
            <a:pathLst>
              <a:path w="34126" h="31186">
                <a:moveTo>
                  <a:pt x="0" y="28597"/>
                </a:moveTo>
                <a:lnTo>
                  <a:pt x="12932" y="31186"/>
                </a:lnTo>
                <a:lnTo>
                  <a:pt x="14728" y="24899"/>
                </a:lnTo>
                <a:lnTo>
                  <a:pt x="31252" y="28228"/>
                </a:lnTo>
                <a:lnTo>
                  <a:pt x="34126" y="1726"/>
                </a:lnTo>
                <a:lnTo>
                  <a:pt x="20476" y="0"/>
                </a:lnTo>
                <a:lnTo>
                  <a:pt x="17961" y="8382"/>
                </a:lnTo>
                <a:lnTo>
                  <a:pt x="6586" y="5917"/>
                </a:lnTo>
                <a:lnTo>
                  <a:pt x="0" y="28597"/>
                </a:lnTo>
                <a:close/>
              </a:path>
            </a:pathLst>
          </a:custGeom>
          <a:solidFill>
            <a:srgbClr val="ded5c5"/>
          </a:solidFill>
          <a:ln w="6191">
            <a:solidFill>
              <a:srgbClr val="b5a68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64" name="สุวรรณี"/>
          <p:cNvSpPr/>
          <p:nvPr/>
        </p:nvSpPr>
        <p:spPr>
          <a:xfrm>
            <a:off x="6018480" y="3280680"/>
            <a:ext cx="64800" cy="21240"/>
          </a:xfrm>
          <a:custGeom>
            <a:avLst/>
            <a:gdLst/>
            <a:ahLst/>
            <a:rect l="l" t="t" r="r" b="b"/>
            <a:pathLst>
              <a:path w="65019" h="21448">
                <a:moveTo>
                  <a:pt x="19518" y="4807"/>
                </a:moveTo>
                <a:lnTo>
                  <a:pt x="1557" y="0"/>
                </a:lnTo>
                <a:lnTo>
                  <a:pt x="0" y="4438"/>
                </a:lnTo>
                <a:lnTo>
                  <a:pt x="62744" y="21448"/>
                </a:lnTo>
                <a:lnTo>
                  <a:pt x="65019" y="16887"/>
                </a:lnTo>
                <a:lnTo>
                  <a:pt x="19518" y="4807"/>
                </a:lnTo>
                <a:close/>
              </a:path>
            </a:pathLst>
          </a:custGeom>
          <a:solidFill>
            <a:srgbClr val="ded5c5"/>
          </a:solidFill>
          <a:ln w="6191">
            <a:solidFill>
              <a:srgbClr val="b5a68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65" name="แก้วงาน"/>
          <p:cNvSpPr/>
          <p:nvPr/>
        </p:nvSpPr>
        <p:spPr>
          <a:xfrm>
            <a:off x="5907960" y="3218040"/>
            <a:ext cx="17280" cy="20880"/>
          </a:xfrm>
          <a:custGeom>
            <a:avLst/>
            <a:gdLst/>
            <a:ahLst/>
            <a:rect l="l" t="t" r="r" b="b"/>
            <a:pathLst>
              <a:path w="17721" h="21202">
                <a:moveTo>
                  <a:pt x="13650" y="21202"/>
                </a:moveTo>
                <a:lnTo>
                  <a:pt x="17721" y="3821"/>
                </a:lnTo>
                <a:lnTo>
                  <a:pt x="3233" y="0"/>
                </a:lnTo>
                <a:lnTo>
                  <a:pt x="0" y="18490"/>
                </a:lnTo>
                <a:lnTo>
                  <a:pt x="13650" y="21202"/>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66" name="ไผ่เขียววิลล่า"/>
          <p:cNvSpPr/>
          <p:nvPr/>
        </p:nvSpPr>
        <p:spPr>
          <a:xfrm>
            <a:off x="5675040" y="3360960"/>
            <a:ext cx="25920" cy="29160"/>
          </a:xfrm>
          <a:custGeom>
            <a:avLst/>
            <a:gdLst/>
            <a:ahLst/>
            <a:rect l="l" t="t" r="r" b="b"/>
            <a:pathLst>
              <a:path w="26223" h="29584">
                <a:moveTo>
                  <a:pt x="0" y="20955"/>
                </a:moveTo>
                <a:lnTo>
                  <a:pt x="11854" y="29584"/>
                </a:lnTo>
                <a:lnTo>
                  <a:pt x="22631" y="12080"/>
                </a:lnTo>
                <a:lnTo>
                  <a:pt x="24307" y="13066"/>
                </a:lnTo>
                <a:lnTo>
                  <a:pt x="26223" y="10601"/>
                </a:lnTo>
                <a:lnTo>
                  <a:pt x="24906" y="9491"/>
                </a:lnTo>
                <a:lnTo>
                  <a:pt x="26223" y="8135"/>
                </a:lnTo>
                <a:lnTo>
                  <a:pt x="15925" y="0"/>
                </a:lnTo>
                <a:lnTo>
                  <a:pt x="0" y="20955"/>
                </a:lnTo>
                <a:close/>
              </a:path>
            </a:pathLst>
          </a:custGeom>
          <a:solidFill>
            <a:srgbClr val="ded5c5"/>
          </a:solidFill>
          <a:ln w="6191">
            <a:solidFill>
              <a:srgbClr val="b5a68d"/>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67" name="หมู่บ้านมารวย 1"/>
          <p:cNvSpPr/>
          <p:nvPr/>
        </p:nvSpPr>
        <p:spPr>
          <a:xfrm>
            <a:off x="6642360" y="3428280"/>
            <a:ext cx="26640" cy="18720"/>
          </a:xfrm>
          <a:custGeom>
            <a:avLst/>
            <a:gdLst/>
            <a:ahLst/>
            <a:rect l="l" t="t" r="r" b="b"/>
            <a:pathLst>
              <a:path w="27061" h="19106">
                <a:moveTo>
                  <a:pt x="12213" y="0"/>
                </a:moveTo>
                <a:lnTo>
                  <a:pt x="11256" y="4314"/>
                </a:lnTo>
                <a:lnTo>
                  <a:pt x="8262" y="4931"/>
                </a:lnTo>
                <a:lnTo>
                  <a:pt x="8502" y="7273"/>
                </a:lnTo>
                <a:lnTo>
                  <a:pt x="11974" y="7149"/>
                </a:lnTo>
                <a:lnTo>
                  <a:pt x="11735" y="8135"/>
                </a:lnTo>
                <a:lnTo>
                  <a:pt x="8621" y="8135"/>
                </a:lnTo>
                <a:lnTo>
                  <a:pt x="8262" y="10971"/>
                </a:lnTo>
                <a:lnTo>
                  <a:pt x="838" y="11094"/>
                </a:lnTo>
                <a:lnTo>
                  <a:pt x="0" y="18120"/>
                </a:lnTo>
                <a:lnTo>
                  <a:pt x="18919" y="19106"/>
                </a:lnTo>
                <a:lnTo>
                  <a:pt x="18919" y="16517"/>
                </a:lnTo>
                <a:lnTo>
                  <a:pt x="23589" y="17257"/>
                </a:lnTo>
                <a:lnTo>
                  <a:pt x="23589" y="12820"/>
                </a:lnTo>
                <a:lnTo>
                  <a:pt x="22272" y="12080"/>
                </a:lnTo>
                <a:lnTo>
                  <a:pt x="27061" y="2465"/>
                </a:lnTo>
                <a:lnTo>
                  <a:pt x="12213" y="0"/>
                </a:lnTo>
                <a:close/>
              </a:path>
            </a:pathLst>
          </a:custGeom>
          <a:solidFill>
            <a:srgbClr val="ded5c5"/>
          </a:solidFill>
          <a:ln w="6191">
            <a:solidFill>
              <a:srgbClr val="b5a68d"/>
            </a:solidFill>
            <a:round/>
          </a:ln>
        </p:spPr>
        <p:style>
          <a:lnRef idx="0"/>
          <a:fillRef idx="0"/>
          <a:effectRef idx="0"/>
          <a:fontRef idx="minor"/>
        </p:style>
        <p:txBody>
          <a:bodyPr lIns="90000" rIns="90000" tIns="-26280" bIns="-26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68" name="เคหะรัชดา - ออเงิน"/>
          <p:cNvSpPr/>
          <p:nvPr/>
        </p:nvSpPr>
        <p:spPr>
          <a:xfrm>
            <a:off x="6948720" y="3371040"/>
            <a:ext cx="18360" cy="20880"/>
          </a:xfrm>
          <a:custGeom>
            <a:avLst/>
            <a:gdLst/>
            <a:ahLst/>
            <a:rect l="l" t="t" r="r" b="b"/>
            <a:pathLst>
              <a:path w="18679" h="21202">
                <a:moveTo>
                  <a:pt x="17961" y="13436"/>
                </a:moveTo>
                <a:lnTo>
                  <a:pt x="18679" y="247"/>
                </a:lnTo>
                <a:lnTo>
                  <a:pt x="10896" y="0"/>
                </a:lnTo>
                <a:lnTo>
                  <a:pt x="10777" y="6410"/>
                </a:lnTo>
                <a:lnTo>
                  <a:pt x="0" y="6656"/>
                </a:lnTo>
                <a:lnTo>
                  <a:pt x="120" y="21202"/>
                </a:lnTo>
                <a:lnTo>
                  <a:pt x="2036" y="21078"/>
                </a:lnTo>
                <a:lnTo>
                  <a:pt x="2036" y="14915"/>
                </a:lnTo>
                <a:lnTo>
                  <a:pt x="18320" y="16024"/>
                </a:lnTo>
                <a:lnTo>
                  <a:pt x="17961" y="13436"/>
                </a:lnTo>
                <a:close/>
              </a:path>
            </a:pathLst>
          </a:custGeom>
          <a:solidFill>
            <a:srgbClr val="ded5c5"/>
          </a:solidFill>
          <a:ln w="6191">
            <a:solidFill>
              <a:srgbClr val="b5a68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69" name="พรพระร่วงพัฒนา"/>
          <p:cNvSpPr/>
          <p:nvPr/>
        </p:nvSpPr>
        <p:spPr>
          <a:xfrm>
            <a:off x="6880680" y="3698640"/>
            <a:ext cx="14760" cy="19800"/>
          </a:xfrm>
          <a:custGeom>
            <a:avLst/>
            <a:gdLst/>
            <a:ahLst/>
            <a:rect l="l" t="t" r="r" b="b"/>
            <a:pathLst>
              <a:path w="15087" h="20092">
                <a:moveTo>
                  <a:pt x="5149" y="0"/>
                </a:moveTo>
                <a:lnTo>
                  <a:pt x="2275" y="15162"/>
                </a:lnTo>
                <a:lnTo>
                  <a:pt x="479" y="15655"/>
                </a:lnTo>
                <a:lnTo>
                  <a:pt x="0" y="19599"/>
                </a:lnTo>
                <a:lnTo>
                  <a:pt x="10178" y="20092"/>
                </a:lnTo>
                <a:lnTo>
                  <a:pt x="11854" y="13436"/>
                </a:lnTo>
                <a:lnTo>
                  <a:pt x="14848" y="12450"/>
                </a:lnTo>
                <a:lnTo>
                  <a:pt x="15087" y="8998"/>
                </a:lnTo>
                <a:lnTo>
                  <a:pt x="12094" y="9122"/>
                </a:lnTo>
                <a:lnTo>
                  <a:pt x="13291" y="1356"/>
                </a:lnTo>
                <a:lnTo>
                  <a:pt x="5149" y="0"/>
                </a:lnTo>
                <a:close/>
              </a:path>
            </a:pathLst>
          </a:custGeom>
          <a:solidFill>
            <a:srgbClr val="ded5c5"/>
          </a:solidFill>
          <a:ln w="6191">
            <a:solidFill>
              <a:srgbClr val="b5a68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70" name="วัดหนองใหญ่"/>
          <p:cNvSpPr/>
          <p:nvPr/>
        </p:nvSpPr>
        <p:spPr>
          <a:xfrm>
            <a:off x="6930720" y="3384720"/>
            <a:ext cx="17640" cy="8280"/>
          </a:xfrm>
          <a:custGeom>
            <a:avLst/>
            <a:gdLst/>
            <a:ahLst/>
            <a:rect l="l" t="t" r="r" b="b"/>
            <a:pathLst>
              <a:path w="18081" h="8752">
                <a:moveTo>
                  <a:pt x="2275" y="0"/>
                </a:moveTo>
                <a:lnTo>
                  <a:pt x="0" y="1356"/>
                </a:lnTo>
                <a:lnTo>
                  <a:pt x="0" y="8752"/>
                </a:lnTo>
                <a:lnTo>
                  <a:pt x="18081" y="7889"/>
                </a:lnTo>
                <a:lnTo>
                  <a:pt x="17961" y="247"/>
                </a:lnTo>
                <a:lnTo>
                  <a:pt x="2275" y="0"/>
                </a:lnTo>
                <a:close/>
              </a:path>
            </a:pathLst>
          </a:custGeom>
          <a:solidFill>
            <a:srgbClr val="ded5c5"/>
          </a:solidFill>
          <a:ln w="6191">
            <a:solidFill>
              <a:srgbClr val="b5a68d"/>
            </a:solidFill>
            <a:round/>
          </a:ln>
        </p:spPr>
        <p:style>
          <a:lnRef idx="0"/>
          <a:fillRef idx="0"/>
          <a:effectRef idx="0"/>
          <a:fontRef idx="minor"/>
        </p:style>
        <p:txBody>
          <a:bodyPr lIns="90000" rIns="90000" tIns="-36720" bIns="-36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71" name="สหชุมชนโครงการ 1"/>
          <p:cNvSpPr/>
          <p:nvPr/>
        </p:nvSpPr>
        <p:spPr>
          <a:xfrm>
            <a:off x="6912000" y="3703680"/>
            <a:ext cx="9720" cy="7560"/>
          </a:xfrm>
          <a:custGeom>
            <a:avLst/>
            <a:gdLst/>
            <a:ahLst/>
            <a:rect l="l" t="t" r="r" b="b"/>
            <a:pathLst>
              <a:path w="10178" h="8012">
                <a:moveTo>
                  <a:pt x="0" y="1109"/>
                </a:moveTo>
                <a:lnTo>
                  <a:pt x="599" y="8012"/>
                </a:lnTo>
                <a:lnTo>
                  <a:pt x="10178" y="6903"/>
                </a:lnTo>
                <a:lnTo>
                  <a:pt x="9819" y="0"/>
                </a:lnTo>
                <a:lnTo>
                  <a:pt x="0" y="1109"/>
                </a:lnTo>
                <a:close/>
              </a:path>
            </a:pathLst>
          </a:custGeom>
          <a:solidFill>
            <a:srgbClr val="ded5c5"/>
          </a:solidFill>
          <a:ln w="6191">
            <a:solidFill>
              <a:srgbClr val="b5a68d"/>
            </a:solidFill>
            <a:round/>
          </a:ln>
        </p:spPr>
        <p:style>
          <a:lnRef idx="0"/>
          <a:fillRef idx="0"/>
          <a:effectRef idx="0"/>
          <a:fontRef idx="minor"/>
        </p:style>
        <p:txBody>
          <a:bodyPr lIns="90000" rIns="90000" tIns="-37440" bIns="-37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72" name="การเคหะชุมชนพรพระร่วงประสิทธิ์"/>
          <p:cNvSpPr/>
          <p:nvPr/>
        </p:nvSpPr>
        <p:spPr>
          <a:xfrm>
            <a:off x="6860160" y="3757680"/>
            <a:ext cx="20520" cy="36720"/>
          </a:xfrm>
          <a:custGeom>
            <a:avLst/>
            <a:gdLst/>
            <a:ahLst/>
            <a:rect l="l" t="t" r="r" b="b"/>
            <a:pathLst>
              <a:path w="20715" h="37226">
                <a:moveTo>
                  <a:pt x="6107" y="0"/>
                </a:moveTo>
                <a:lnTo>
                  <a:pt x="0" y="33158"/>
                </a:lnTo>
                <a:lnTo>
                  <a:pt x="5748" y="37226"/>
                </a:lnTo>
                <a:lnTo>
                  <a:pt x="17721" y="30200"/>
                </a:lnTo>
                <a:lnTo>
                  <a:pt x="19997" y="22311"/>
                </a:lnTo>
                <a:lnTo>
                  <a:pt x="20715" y="8259"/>
                </a:lnTo>
                <a:lnTo>
                  <a:pt x="8741" y="7519"/>
                </a:lnTo>
                <a:lnTo>
                  <a:pt x="9220" y="370"/>
                </a:lnTo>
                <a:lnTo>
                  <a:pt x="6107" y="0"/>
                </a:lnTo>
                <a:close/>
              </a:path>
            </a:pathLst>
          </a:custGeom>
          <a:solidFill>
            <a:srgbClr val="ded5c5"/>
          </a:solidFill>
          <a:ln w="6191">
            <a:solidFill>
              <a:srgbClr val="b5a68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73" name="วัชรพล 3"/>
          <p:cNvSpPr/>
          <p:nvPr/>
        </p:nvSpPr>
        <p:spPr>
          <a:xfrm>
            <a:off x="7064640" y="3632400"/>
            <a:ext cx="66600" cy="34200"/>
          </a:xfrm>
          <a:custGeom>
            <a:avLst/>
            <a:gdLst/>
            <a:ahLst/>
            <a:rect l="l" t="t" r="r" b="b"/>
            <a:pathLst>
              <a:path w="66815" h="34391">
                <a:moveTo>
                  <a:pt x="64660" y="17380"/>
                </a:moveTo>
                <a:lnTo>
                  <a:pt x="65019" y="15038"/>
                </a:lnTo>
                <a:lnTo>
                  <a:pt x="61786" y="14915"/>
                </a:lnTo>
                <a:lnTo>
                  <a:pt x="61906" y="12203"/>
                </a:lnTo>
                <a:lnTo>
                  <a:pt x="59511" y="11587"/>
                </a:lnTo>
                <a:lnTo>
                  <a:pt x="56637" y="21571"/>
                </a:lnTo>
                <a:lnTo>
                  <a:pt x="49692" y="21571"/>
                </a:lnTo>
                <a:lnTo>
                  <a:pt x="50291" y="12080"/>
                </a:lnTo>
                <a:lnTo>
                  <a:pt x="57715" y="12943"/>
                </a:lnTo>
                <a:lnTo>
                  <a:pt x="57715" y="11094"/>
                </a:lnTo>
                <a:lnTo>
                  <a:pt x="55320" y="10477"/>
                </a:lnTo>
                <a:lnTo>
                  <a:pt x="55799" y="5547"/>
                </a:lnTo>
                <a:lnTo>
                  <a:pt x="51249" y="2465"/>
                </a:lnTo>
                <a:lnTo>
                  <a:pt x="36640" y="5547"/>
                </a:lnTo>
                <a:lnTo>
                  <a:pt x="36042" y="10231"/>
                </a:lnTo>
                <a:lnTo>
                  <a:pt x="24187" y="8875"/>
                </a:lnTo>
                <a:lnTo>
                  <a:pt x="24307" y="2589"/>
                </a:lnTo>
                <a:lnTo>
                  <a:pt x="14967" y="1602"/>
                </a:lnTo>
                <a:lnTo>
                  <a:pt x="14848" y="493"/>
                </a:lnTo>
                <a:lnTo>
                  <a:pt x="1197" y="0"/>
                </a:lnTo>
                <a:lnTo>
                  <a:pt x="0" y="19722"/>
                </a:lnTo>
                <a:lnTo>
                  <a:pt x="2395" y="21695"/>
                </a:lnTo>
                <a:lnTo>
                  <a:pt x="10417" y="21941"/>
                </a:lnTo>
                <a:lnTo>
                  <a:pt x="10058" y="25886"/>
                </a:lnTo>
                <a:lnTo>
                  <a:pt x="13052" y="26132"/>
                </a:lnTo>
                <a:lnTo>
                  <a:pt x="13052" y="23174"/>
                </a:lnTo>
                <a:lnTo>
                  <a:pt x="14967" y="23420"/>
                </a:lnTo>
                <a:lnTo>
                  <a:pt x="15566" y="21571"/>
                </a:lnTo>
                <a:lnTo>
                  <a:pt x="18320" y="21571"/>
                </a:lnTo>
                <a:lnTo>
                  <a:pt x="17961" y="27118"/>
                </a:lnTo>
                <a:lnTo>
                  <a:pt x="20715" y="27611"/>
                </a:lnTo>
                <a:lnTo>
                  <a:pt x="21553" y="23297"/>
                </a:lnTo>
                <a:lnTo>
                  <a:pt x="33767" y="23297"/>
                </a:lnTo>
                <a:lnTo>
                  <a:pt x="34964" y="25762"/>
                </a:lnTo>
                <a:lnTo>
                  <a:pt x="33048" y="25516"/>
                </a:lnTo>
                <a:lnTo>
                  <a:pt x="33048" y="26995"/>
                </a:lnTo>
                <a:lnTo>
                  <a:pt x="29935" y="28228"/>
                </a:lnTo>
                <a:lnTo>
                  <a:pt x="29815" y="30446"/>
                </a:lnTo>
                <a:lnTo>
                  <a:pt x="35682" y="30693"/>
                </a:lnTo>
                <a:lnTo>
                  <a:pt x="35323" y="32665"/>
                </a:lnTo>
                <a:lnTo>
                  <a:pt x="57116" y="34391"/>
                </a:lnTo>
                <a:lnTo>
                  <a:pt x="57355" y="33158"/>
                </a:lnTo>
                <a:lnTo>
                  <a:pt x="59511" y="34391"/>
                </a:lnTo>
                <a:lnTo>
                  <a:pt x="65019" y="29214"/>
                </a:lnTo>
                <a:lnTo>
                  <a:pt x="64181" y="20462"/>
                </a:lnTo>
                <a:lnTo>
                  <a:pt x="66336" y="20708"/>
                </a:lnTo>
                <a:lnTo>
                  <a:pt x="66815" y="19106"/>
                </a:lnTo>
                <a:lnTo>
                  <a:pt x="64779" y="18860"/>
                </a:lnTo>
                <a:lnTo>
                  <a:pt x="64660" y="17380"/>
                </a:lnTo>
                <a:close/>
              </a:path>
            </a:pathLst>
          </a:custGeom>
          <a:solidFill>
            <a:srgbClr val="ded5c5"/>
          </a:solidFill>
          <a:ln w="6191">
            <a:solidFill>
              <a:srgbClr val="b5a68d"/>
            </a:solidFill>
            <a:round/>
          </a:ln>
        </p:spPr>
        <p:style>
          <a:lnRef idx="0"/>
          <a:fillRef idx="0"/>
          <a:effectRef idx="0"/>
          <a:fontRef idx="minor"/>
        </p:style>
        <p:txBody>
          <a:bodyPr lIns="90000" rIns="90000" tIns="-10800" bIns="-10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74" name="อัมพรเพลส 1"/>
          <p:cNvSpPr/>
          <p:nvPr/>
        </p:nvSpPr>
        <p:spPr>
          <a:xfrm>
            <a:off x="6761880" y="3571560"/>
            <a:ext cx="43200" cy="25920"/>
          </a:xfrm>
          <a:custGeom>
            <a:avLst/>
            <a:gdLst/>
            <a:ahLst/>
            <a:rect l="l" t="t" r="r" b="b"/>
            <a:pathLst>
              <a:path w="43705" h="26132">
                <a:moveTo>
                  <a:pt x="0" y="20092"/>
                </a:moveTo>
                <a:lnTo>
                  <a:pt x="718" y="26132"/>
                </a:lnTo>
                <a:lnTo>
                  <a:pt x="43705" y="13313"/>
                </a:lnTo>
                <a:lnTo>
                  <a:pt x="42627" y="8012"/>
                </a:lnTo>
                <a:lnTo>
                  <a:pt x="22751" y="14422"/>
                </a:lnTo>
                <a:lnTo>
                  <a:pt x="19518" y="0"/>
                </a:lnTo>
                <a:lnTo>
                  <a:pt x="16045" y="247"/>
                </a:lnTo>
                <a:lnTo>
                  <a:pt x="16524" y="3328"/>
                </a:lnTo>
                <a:lnTo>
                  <a:pt x="13531" y="4068"/>
                </a:lnTo>
                <a:lnTo>
                  <a:pt x="14129" y="6533"/>
                </a:lnTo>
                <a:lnTo>
                  <a:pt x="10417" y="7273"/>
                </a:lnTo>
                <a:lnTo>
                  <a:pt x="12213" y="16641"/>
                </a:lnTo>
                <a:lnTo>
                  <a:pt x="0" y="20092"/>
                </a:lnTo>
                <a:close/>
              </a:path>
            </a:pathLst>
          </a:custGeom>
          <a:solidFill>
            <a:srgbClr val="ded5c5"/>
          </a:solidFill>
          <a:ln w="6191">
            <a:solidFill>
              <a:srgbClr val="b5a68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75" name="หมู่บ้านริมอินทรา"/>
          <p:cNvSpPr/>
          <p:nvPr/>
        </p:nvSpPr>
        <p:spPr>
          <a:xfrm>
            <a:off x="6959880" y="3611520"/>
            <a:ext cx="35280" cy="33120"/>
          </a:xfrm>
          <a:custGeom>
            <a:avLst/>
            <a:gdLst/>
            <a:ahLst/>
            <a:rect l="l" t="t" r="r" b="b"/>
            <a:pathLst>
              <a:path w="35682" h="33651">
                <a:moveTo>
                  <a:pt x="0" y="3944"/>
                </a:moveTo>
                <a:lnTo>
                  <a:pt x="1317" y="21818"/>
                </a:lnTo>
                <a:lnTo>
                  <a:pt x="8621" y="22188"/>
                </a:lnTo>
                <a:lnTo>
                  <a:pt x="11375" y="23913"/>
                </a:lnTo>
                <a:lnTo>
                  <a:pt x="17123" y="33651"/>
                </a:lnTo>
                <a:lnTo>
                  <a:pt x="26343" y="21818"/>
                </a:lnTo>
                <a:lnTo>
                  <a:pt x="35682" y="13436"/>
                </a:lnTo>
                <a:lnTo>
                  <a:pt x="34126" y="9368"/>
                </a:lnTo>
                <a:lnTo>
                  <a:pt x="30773" y="7766"/>
                </a:lnTo>
                <a:lnTo>
                  <a:pt x="24906" y="0"/>
                </a:lnTo>
                <a:lnTo>
                  <a:pt x="0" y="3944"/>
                </a:lnTo>
                <a:close/>
              </a:path>
            </a:pathLst>
          </a:custGeom>
          <a:solidFill>
            <a:srgbClr val="ded5c5"/>
          </a:solidFill>
          <a:ln w="6191">
            <a:solidFill>
              <a:srgbClr val="b5a68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76" name="เสือใหญ่"/>
          <p:cNvSpPr/>
          <p:nvPr/>
        </p:nvSpPr>
        <p:spPr>
          <a:xfrm>
            <a:off x="6757200" y="3619080"/>
            <a:ext cx="21960" cy="14760"/>
          </a:xfrm>
          <a:custGeom>
            <a:avLst/>
            <a:gdLst/>
            <a:ahLst/>
            <a:rect l="l" t="t" r="r" b="b"/>
            <a:pathLst>
              <a:path w="22272" h="15285">
                <a:moveTo>
                  <a:pt x="0" y="5177"/>
                </a:moveTo>
                <a:lnTo>
                  <a:pt x="2036" y="15285"/>
                </a:lnTo>
                <a:lnTo>
                  <a:pt x="18679" y="8875"/>
                </a:lnTo>
                <a:lnTo>
                  <a:pt x="17243" y="5300"/>
                </a:lnTo>
                <a:lnTo>
                  <a:pt x="22272" y="4314"/>
                </a:lnTo>
                <a:lnTo>
                  <a:pt x="20116" y="0"/>
                </a:lnTo>
                <a:lnTo>
                  <a:pt x="0" y="5177"/>
                </a:lnTo>
                <a:close/>
              </a:path>
            </a:pathLst>
          </a:custGeom>
          <a:solidFill>
            <a:srgbClr val="ded5c5"/>
          </a:solidFill>
          <a:ln w="6191">
            <a:solidFill>
              <a:srgbClr val="b5a68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77" name="ชาวสวนสัมพันธ์"/>
          <p:cNvSpPr/>
          <p:nvPr/>
        </p:nvSpPr>
        <p:spPr>
          <a:xfrm>
            <a:off x="4574520" y="6104880"/>
            <a:ext cx="48600" cy="43200"/>
          </a:xfrm>
          <a:custGeom>
            <a:avLst/>
            <a:gdLst/>
            <a:ahLst/>
            <a:rect l="l" t="t" r="r" b="b"/>
            <a:pathLst>
              <a:path w="48974" h="43389">
                <a:moveTo>
                  <a:pt x="120" y="23297"/>
                </a:moveTo>
                <a:lnTo>
                  <a:pt x="7783" y="34637"/>
                </a:lnTo>
                <a:lnTo>
                  <a:pt x="15925" y="43389"/>
                </a:lnTo>
                <a:lnTo>
                  <a:pt x="36880" y="29830"/>
                </a:lnTo>
                <a:lnTo>
                  <a:pt x="48974" y="18366"/>
                </a:lnTo>
                <a:lnTo>
                  <a:pt x="40352" y="8382"/>
                </a:lnTo>
                <a:lnTo>
                  <a:pt x="33288" y="12573"/>
                </a:lnTo>
                <a:lnTo>
                  <a:pt x="22152" y="0"/>
                </a:lnTo>
                <a:lnTo>
                  <a:pt x="17602" y="3082"/>
                </a:lnTo>
                <a:lnTo>
                  <a:pt x="18679" y="4561"/>
                </a:lnTo>
                <a:lnTo>
                  <a:pt x="0" y="18859"/>
                </a:lnTo>
                <a:lnTo>
                  <a:pt x="1317" y="20215"/>
                </a:lnTo>
                <a:lnTo>
                  <a:pt x="120" y="23297"/>
                </a:lnTo>
                <a:close/>
              </a:path>
            </a:pathLst>
          </a:custGeom>
          <a:solidFill>
            <a:srgbClr val="ded5c5"/>
          </a:solidFill>
          <a:ln w="6191">
            <a:solidFill>
              <a:srgbClr val="b5a68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78" name="ซอยเทียนทรัพย์"/>
          <p:cNvSpPr/>
          <p:nvPr/>
        </p:nvSpPr>
        <p:spPr>
          <a:xfrm>
            <a:off x="4586400" y="6043680"/>
            <a:ext cx="25200" cy="28080"/>
          </a:xfrm>
          <a:custGeom>
            <a:avLst/>
            <a:gdLst/>
            <a:ahLst/>
            <a:rect l="l" t="t" r="r" b="b"/>
            <a:pathLst>
              <a:path w="25385" h="28597">
                <a:moveTo>
                  <a:pt x="17602" y="28597"/>
                </a:moveTo>
                <a:lnTo>
                  <a:pt x="25385" y="22434"/>
                </a:lnTo>
                <a:lnTo>
                  <a:pt x="6825" y="0"/>
                </a:lnTo>
                <a:lnTo>
                  <a:pt x="0" y="5670"/>
                </a:lnTo>
                <a:lnTo>
                  <a:pt x="17602" y="28597"/>
                </a:lnTo>
                <a:close/>
              </a:path>
            </a:pathLst>
          </a:custGeom>
          <a:solidFill>
            <a:srgbClr val="ded5c5"/>
          </a:solidFill>
          <a:ln w="6191">
            <a:solidFill>
              <a:srgbClr val="b5a68d"/>
            </a:solidFill>
            <a:round/>
          </a:ln>
        </p:spPr>
        <p:style>
          <a:lnRef idx="0"/>
          <a:fillRef idx="0"/>
          <a:effectRef idx="0"/>
          <a:fontRef idx="minor"/>
        </p:style>
        <p:txBody>
          <a:bodyPr lIns="90000" rIns="90000" tIns="-16920" bIns="-16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79" name="บ้านสวน"/>
          <p:cNvSpPr/>
          <p:nvPr/>
        </p:nvSpPr>
        <p:spPr>
          <a:xfrm>
            <a:off x="4390200" y="6134400"/>
            <a:ext cx="38160" cy="34200"/>
          </a:xfrm>
          <a:custGeom>
            <a:avLst/>
            <a:gdLst/>
            <a:ahLst/>
            <a:rect l="l" t="t" r="r" b="b"/>
            <a:pathLst>
              <a:path w="38436" h="34391">
                <a:moveTo>
                  <a:pt x="24068" y="2096"/>
                </a:moveTo>
                <a:lnTo>
                  <a:pt x="19398" y="0"/>
                </a:lnTo>
                <a:lnTo>
                  <a:pt x="6226" y="10354"/>
                </a:lnTo>
                <a:lnTo>
                  <a:pt x="0" y="17627"/>
                </a:lnTo>
                <a:lnTo>
                  <a:pt x="16045" y="34391"/>
                </a:lnTo>
                <a:lnTo>
                  <a:pt x="22152" y="27488"/>
                </a:lnTo>
                <a:lnTo>
                  <a:pt x="23708" y="28844"/>
                </a:lnTo>
                <a:lnTo>
                  <a:pt x="26463" y="25762"/>
                </a:lnTo>
                <a:lnTo>
                  <a:pt x="28857" y="27241"/>
                </a:lnTo>
                <a:lnTo>
                  <a:pt x="38436" y="11710"/>
                </a:lnTo>
                <a:lnTo>
                  <a:pt x="24068" y="2096"/>
                </a:lnTo>
                <a:close/>
              </a:path>
            </a:pathLst>
          </a:custGeom>
          <a:solidFill>
            <a:srgbClr val="ded5c5"/>
          </a:solidFill>
          <a:ln w="6191">
            <a:solidFill>
              <a:srgbClr val="b5a68d"/>
            </a:solidFill>
            <a:round/>
          </a:ln>
        </p:spPr>
        <p:style>
          <a:lnRef idx="0"/>
          <a:fillRef idx="0"/>
          <a:effectRef idx="0"/>
          <a:fontRef idx="minor"/>
        </p:style>
        <p:txBody>
          <a:bodyPr lIns="90000" rIns="90000" tIns="-10800" bIns="-10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80" name="ชุมชนมัสยิดนูรู้ลยากีน"/>
          <p:cNvSpPr/>
          <p:nvPr/>
        </p:nvSpPr>
        <p:spPr>
          <a:xfrm>
            <a:off x="4618440" y="6183000"/>
            <a:ext cx="29160" cy="32760"/>
          </a:xfrm>
          <a:custGeom>
            <a:avLst/>
            <a:gdLst/>
            <a:ahLst/>
            <a:rect l="l" t="t" r="r" b="b"/>
            <a:pathLst>
              <a:path w="29695" h="33035">
                <a:moveTo>
                  <a:pt x="26223" y="24530"/>
                </a:moveTo>
                <a:lnTo>
                  <a:pt x="22391" y="12820"/>
                </a:lnTo>
                <a:lnTo>
                  <a:pt x="26822" y="10971"/>
                </a:lnTo>
                <a:lnTo>
                  <a:pt x="24666" y="6287"/>
                </a:lnTo>
                <a:lnTo>
                  <a:pt x="16764" y="8382"/>
                </a:lnTo>
                <a:lnTo>
                  <a:pt x="14489" y="0"/>
                </a:lnTo>
                <a:lnTo>
                  <a:pt x="7544" y="2096"/>
                </a:lnTo>
                <a:lnTo>
                  <a:pt x="8861" y="6163"/>
                </a:lnTo>
                <a:lnTo>
                  <a:pt x="10657" y="5670"/>
                </a:lnTo>
                <a:lnTo>
                  <a:pt x="12333" y="9615"/>
                </a:lnTo>
                <a:lnTo>
                  <a:pt x="5867" y="11710"/>
                </a:lnTo>
                <a:lnTo>
                  <a:pt x="6586" y="13682"/>
                </a:lnTo>
                <a:lnTo>
                  <a:pt x="0" y="27241"/>
                </a:lnTo>
                <a:lnTo>
                  <a:pt x="8861" y="27981"/>
                </a:lnTo>
                <a:lnTo>
                  <a:pt x="18799" y="32542"/>
                </a:lnTo>
                <a:lnTo>
                  <a:pt x="24427" y="33035"/>
                </a:lnTo>
                <a:lnTo>
                  <a:pt x="28498" y="31679"/>
                </a:lnTo>
                <a:lnTo>
                  <a:pt x="29695" y="26132"/>
                </a:lnTo>
                <a:lnTo>
                  <a:pt x="26223" y="24530"/>
                </a:lnTo>
                <a:close/>
              </a:path>
            </a:pathLst>
          </a:custGeom>
          <a:solidFill>
            <a:srgbClr val="ded5c5"/>
          </a:solidFill>
          <a:ln w="6191">
            <a:solidFill>
              <a:srgbClr val="b5a68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81" name="รวมใจ"/>
          <p:cNvSpPr/>
          <p:nvPr/>
        </p:nvSpPr>
        <p:spPr>
          <a:xfrm>
            <a:off x="4299120" y="6221520"/>
            <a:ext cx="17640" cy="24120"/>
          </a:xfrm>
          <a:custGeom>
            <a:avLst/>
            <a:gdLst/>
            <a:ahLst/>
            <a:rect l="l" t="t" r="r" b="b"/>
            <a:pathLst>
              <a:path w="17961" h="24653">
                <a:moveTo>
                  <a:pt x="0" y="4807"/>
                </a:moveTo>
                <a:lnTo>
                  <a:pt x="9938" y="24653"/>
                </a:lnTo>
                <a:lnTo>
                  <a:pt x="17961" y="20585"/>
                </a:lnTo>
                <a:lnTo>
                  <a:pt x="6825" y="0"/>
                </a:lnTo>
                <a:lnTo>
                  <a:pt x="0" y="4807"/>
                </a:lnTo>
                <a:close/>
              </a:path>
            </a:pathLst>
          </a:custGeom>
          <a:solidFill>
            <a:srgbClr val="ded5c5"/>
          </a:solidFill>
          <a:ln w="6191">
            <a:solidFill>
              <a:srgbClr val="b5a68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82" name="อุดมสิน 2"/>
          <p:cNvSpPr/>
          <p:nvPr/>
        </p:nvSpPr>
        <p:spPr>
          <a:xfrm>
            <a:off x="4437720" y="6071400"/>
            <a:ext cx="34200" cy="23400"/>
          </a:xfrm>
          <a:custGeom>
            <a:avLst/>
            <a:gdLst/>
            <a:ahLst/>
            <a:rect l="l" t="t" r="r" b="b"/>
            <a:pathLst>
              <a:path w="34605" h="23790">
                <a:moveTo>
                  <a:pt x="0" y="6656"/>
                </a:moveTo>
                <a:lnTo>
                  <a:pt x="31971" y="23790"/>
                </a:lnTo>
                <a:lnTo>
                  <a:pt x="34605" y="19106"/>
                </a:lnTo>
                <a:lnTo>
                  <a:pt x="4191" y="0"/>
                </a:lnTo>
                <a:lnTo>
                  <a:pt x="0" y="6656"/>
                </a:lnTo>
                <a:close/>
              </a:path>
            </a:pathLst>
          </a:custGeom>
          <a:solidFill>
            <a:srgbClr val="ded5c5"/>
          </a:solidFill>
          <a:ln w="6191">
            <a:solidFill>
              <a:srgbClr val="b5a68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83" name="ซอยเจริญสุข"/>
          <p:cNvSpPr/>
          <p:nvPr/>
        </p:nvSpPr>
        <p:spPr>
          <a:xfrm>
            <a:off x="5643720" y="5688360"/>
            <a:ext cx="43920" cy="80280"/>
          </a:xfrm>
          <a:custGeom>
            <a:avLst/>
            <a:gdLst/>
            <a:ahLst/>
            <a:rect l="l" t="t" r="r" b="b"/>
            <a:pathLst>
              <a:path w="44184" h="80615">
                <a:moveTo>
                  <a:pt x="0" y="35007"/>
                </a:moveTo>
                <a:lnTo>
                  <a:pt x="479" y="50539"/>
                </a:lnTo>
                <a:lnTo>
                  <a:pt x="8142" y="46717"/>
                </a:lnTo>
                <a:lnTo>
                  <a:pt x="10537" y="68782"/>
                </a:lnTo>
                <a:lnTo>
                  <a:pt x="8861" y="79999"/>
                </a:lnTo>
                <a:lnTo>
                  <a:pt x="21194" y="80615"/>
                </a:lnTo>
                <a:lnTo>
                  <a:pt x="39873" y="72973"/>
                </a:lnTo>
                <a:lnTo>
                  <a:pt x="40472" y="66316"/>
                </a:lnTo>
                <a:lnTo>
                  <a:pt x="38436" y="63481"/>
                </a:lnTo>
                <a:lnTo>
                  <a:pt x="38796" y="57318"/>
                </a:lnTo>
                <a:lnTo>
                  <a:pt x="43825" y="57934"/>
                </a:lnTo>
                <a:lnTo>
                  <a:pt x="44184" y="53374"/>
                </a:lnTo>
                <a:lnTo>
                  <a:pt x="37958" y="48320"/>
                </a:lnTo>
                <a:lnTo>
                  <a:pt x="39155" y="26132"/>
                </a:lnTo>
                <a:lnTo>
                  <a:pt x="10896" y="0"/>
                </a:lnTo>
                <a:lnTo>
                  <a:pt x="7184" y="25516"/>
                </a:lnTo>
                <a:lnTo>
                  <a:pt x="2395" y="25639"/>
                </a:lnTo>
                <a:lnTo>
                  <a:pt x="1916" y="35007"/>
                </a:lnTo>
                <a:lnTo>
                  <a:pt x="0" y="35007"/>
                </a:lnTo>
                <a:close/>
              </a:path>
            </a:pathLst>
          </a:custGeom>
          <a:solidFill>
            <a:srgbClr val="ded5c5"/>
          </a:solidFill>
          <a:ln w="6191">
            <a:solidFill>
              <a:srgbClr val="b5a68d"/>
            </a:solidFill>
            <a:round/>
          </a:ln>
        </p:spPr>
        <p:style>
          <a:lnRef idx="0"/>
          <a:fillRef idx="0"/>
          <a:effectRef idx="0"/>
          <a:fontRef idx="minor"/>
        </p:style>
        <p:txBody>
          <a:bodyPr lIns="90000" rIns="90000" tIns="35280" bIns="35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84" name="ชุมชนหมู่บ้านวัฒนานนท์"/>
          <p:cNvSpPr/>
          <p:nvPr/>
        </p:nvSpPr>
        <p:spPr>
          <a:xfrm>
            <a:off x="6009480" y="3204000"/>
            <a:ext cx="109440" cy="31320"/>
          </a:xfrm>
          <a:custGeom>
            <a:avLst/>
            <a:gdLst/>
            <a:ahLst/>
            <a:rect l="l" t="t" r="r" b="b"/>
            <a:pathLst>
              <a:path w="109682" h="31556">
                <a:moveTo>
                  <a:pt x="2275" y="0"/>
                </a:moveTo>
                <a:lnTo>
                  <a:pt x="0" y="3821"/>
                </a:lnTo>
                <a:lnTo>
                  <a:pt x="107407" y="31556"/>
                </a:lnTo>
                <a:lnTo>
                  <a:pt x="109682" y="27981"/>
                </a:lnTo>
                <a:lnTo>
                  <a:pt x="2275" y="0"/>
                </a:lnTo>
                <a:close/>
              </a:path>
            </a:pathLst>
          </a:custGeom>
          <a:solidFill>
            <a:srgbClr val="ded5c5"/>
          </a:solidFill>
          <a:ln w="6191">
            <a:solidFill>
              <a:srgbClr val="b5a68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85" name="นปอ."/>
          <p:cNvSpPr/>
          <p:nvPr/>
        </p:nvSpPr>
        <p:spPr>
          <a:xfrm>
            <a:off x="5790240" y="3050280"/>
            <a:ext cx="37080" cy="34200"/>
          </a:xfrm>
          <a:custGeom>
            <a:avLst/>
            <a:gdLst/>
            <a:ahLst/>
            <a:rect l="l" t="t" r="r" b="b"/>
            <a:pathLst>
              <a:path w="37359" h="34637">
                <a:moveTo>
                  <a:pt x="9459" y="0"/>
                </a:moveTo>
                <a:lnTo>
                  <a:pt x="0" y="27365"/>
                </a:lnTo>
                <a:lnTo>
                  <a:pt x="23828" y="34637"/>
                </a:lnTo>
                <a:lnTo>
                  <a:pt x="29815" y="24653"/>
                </a:lnTo>
                <a:lnTo>
                  <a:pt x="28139" y="23913"/>
                </a:lnTo>
                <a:lnTo>
                  <a:pt x="37359" y="8505"/>
                </a:lnTo>
                <a:lnTo>
                  <a:pt x="9459" y="0"/>
                </a:lnTo>
                <a:close/>
              </a:path>
            </a:pathLst>
          </a:custGeom>
          <a:solidFill>
            <a:srgbClr val="ded5c5"/>
          </a:solidFill>
          <a:ln w="6191">
            <a:solidFill>
              <a:srgbClr val="b5a68d"/>
            </a:solidFill>
            <a:round/>
          </a:ln>
        </p:spPr>
        <p:style>
          <a:lnRef idx="0"/>
          <a:fillRef idx="0"/>
          <a:effectRef idx="0"/>
          <a:fontRef idx="minor"/>
        </p:style>
        <p:txBody>
          <a:bodyPr lIns="90000" rIns="90000" tIns="-10800" bIns="-10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86" name="ดอนเมืองวิลล่า"/>
          <p:cNvSpPr/>
          <p:nvPr/>
        </p:nvSpPr>
        <p:spPr>
          <a:xfrm>
            <a:off x="5952960" y="3139200"/>
            <a:ext cx="32040" cy="70200"/>
          </a:xfrm>
          <a:custGeom>
            <a:avLst/>
            <a:gdLst/>
            <a:ahLst/>
            <a:rect l="l" t="t" r="r" b="b"/>
            <a:pathLst>
              <a:path w="32569" h="70384">
                <a:moveTo>
                  <a:pt x="19757" y="0"/>
                </a:moveTo>
                <a:lnTo>
                  <a:pt x="0" y="66193"/>
                </a:lnTo>
                <a:lnTo>
                  <a:pt x="13770" y="70384"/>
                </a:lnTo>
                <a:lnTo>
                  <a:pt x="32569" y="3698"/>
                </a:lnTo>
                <a:lnTo>
                  <a:pt x="19757" y="0"/>
                </a:lnTo>
                <a:close/>
              </a:path>
            </a:pathLst>
          </a:custGeom>
          <a:solidFill>
            <a:srgbClr val="ded5c5"/>
          </a:solidFill>
          <a:ln w="6191">
            <a:solidFill>
              <a:srgbClr val="b5a68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87" name="อมรพันธุ์"/>
          <p:cNvSpPr/>
          <p:nvPr/>
        </p:nvSpPr>
        <p:spPr>
          <a:xfrm>
            <a:off x="5877360" y="2892960"/>
            <a:ext cx="32760" cy="86400"/>
          </a:xfrm>
          <a:custGeom>
            <a:avLst/>
            <a:gdLst/>
            <a:ahLst/>
            <a:rect l="l" t="t" r="r" b="b"/>
            <a:pathLst>
              <a:path w="33048" h="86902">
                <a:moveTo>
                  <a:pt x="27540" y="0"/>
                </a:moveTo>
                <a:lnTo>
                  <a:pt x="0" y="86039"/>
                </a:lnTo>
                <a:lnTo>
                  <a:pt x="4430" y="86902"/>
                </a:lnTo>
                <a:lnTo>
                  <a:pt x="33048" y="1849"/>
                </a:lnTo>
                <a:lnTo>
                  <a:pt x="27540" y="0"/>
                </a:lnTo>
                <a:close/>
              </a:path>
            </a:pathLst>
          </a:custGeom>
          <a:solidFill>
            <a:srgbClr val="ded5c5"/>
          </a:solidFill>
          <a:ln w="6191">
            <a:solidFill>
              <a:srgbClr val="b5a68d"/>
            </a:solidFill>
            <a:round/>
          </a:ln>
        </p:spPr>
        <p:style>
          <a:lnRef idx="0"/>
          <a:fillRef idx="0"/>
          <a:effectRef idx="0"/>
          <a:fontRef idx="minor"/>
        </p:style>
        <p:txBody>
          <a:bodyPr lIns="90000" rIns="90000" tIns="41400" bIns="41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88" name="โกสุมสามัคคี 1"/>
          <p:cNvSpPr/>
          <p:nvPr/>
        </p:nvSpPr>
        <p:spPr>
          <a:xfrm>
            <a:off x="5749920" y="3359160"/>
            <a:ext cx="45360" cy="86760"/>
          </a:xfrm>
          <a:custGeom>
            <a:avLst/>
            <a:gdLst/>
            <a:ahLst/>
            <a:rect l="l" t="t" r="r" b="b"/>
            <a:pathLst>
              <a:path w="45621" h="87271">
                <a:moveTo>
                  <a:pt x="25505" y="0"/>
                </a:moveTo>
                <a:lnTo>
                  <a:pt x="9340" y="52387"/>
                </a:lnTo>
                <a:lnTo>
                  <a:pt x="0" y="77410"/>
                </a:lnTo>
                <a:lnTo>
                  <a:pt x="23349" y="87271"/>
                </a:lnTo>
                <a:lnTo>
                  <a:pt x="29217" y="65700"/>
                </a:lnTo>
                <a:lnTo>
                  <a:pt x="15566" y="60153"/>
                </a:lnTo>
                <a:lnTo>
                  <a:pt x="18799" y="50292"/>
                </a:lnTo>
                <a:lnTo>
                  <a:pt x="35204" y="55839"/>
                </a:lnTo>
                <a:lnTo>
                  <a:pt x="37598" y="46717"/>
                </a:lnTo>
                <a:lnTo>
                  <a:pt x="24666" y="43512"/>
                </a:lnTo>
                <a:lnTo>
                  <a:pt x="26822" y="35500"/>
                </a:lnTo>
                <a:lnTo>
                  <a:pt x="39035" y="37226"/>
                </a:lnTo>
                <a:lnTo>
                  <a:pt x="45621" y="4931"/>
                </a:lnTo>
                <a:lnTo>
                  <a:pt x="25505" y="0"/>
                </a:lnTo>
                <a:close/>
              </a:path>
            </a:pathLst>
          </a:custGeom>
          <a:solidFill>
            <a:srgbClr val="ded5c5"/>
          </a:solidFill>
          <a:ln w="6191">
            <a:solidFill>
              <a:srgbClr val="b5a68d"/>
            </a:solidFill>
            <a:round/>
          </a:ln>
        </p:spPr>
        <p:style>
          <a:lnRef idx="0"/>
          <a:fillRef idx="0"/>
          <a:effectRef idx="0"/>
          <a:fontRef idx="minor"/>
        </p:style>
        <p:txBody>
          <a:bodyPr lIns="90000" rIns="90000" tIns="41760" bIns="41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89" name="โกสุมสามัคคี 2"/>
          <p:cNvSpPr/>
          <p:nvPr/>
        </p:nvSpPr>
        <p:spPr>
          <a:xfrm>
            <a:off x="5725800" y="3360960"/>
            <a:ext cx="48240" cy="60120"/>
          </a:xfrm>
          <a:custGeom>
            <a:avLst/>
            <a:gdLst/>
            <a:ahLst/>
            <a:rect l="l" t="t" r="r" b="b"/>
            <a:pathLst>
              <a:path w="48614" h="60646">
                <a:moveTo>
                  <a:pt x="13052" y="17380"/>
                </a:moveTo>
                <a:lnTo>
                  <a:pt x="0" y="49676"/>
                </a:lnTo>
                <a:lnTo>
                  <a:pt x="28977" y="60646"/>
                </a:lnTo>
                <a:lnTo>
                  <a:pt x="48614" y="863"/>
                </a:lnTo>
                <a:lnTo>
                  <a:pt x="46339" y="0"/>
                </a:lnTo>
                <a:lnTo>
                  <a:pt x="41430" y="16394"/>
                </a:lnTo>
                <a:lnTo>
                  <a:pt x="43226" y="16887"/>
                </a:lnTo>
                <a:lnTo>
                  <a:pt x="39754" y="27365"/>
                </a:lnTo>
                <a:lnTo>
                  <a:pt x="13052" y="17380"/>
                </a:lnTo>
                <a:close/>
              </a:path>
            </a:pathLst>
          </a:custGeom>
          <a:solidFill>
            <a:srgbClr val="ded5c5"/>
          </a:solidFill>
          <a:ln w="6191">
            <a:solidFill>
              <a:srgbClr val="b5a68d"/>
            </a:solidFill>
            <a:round/>
          </a:ln>
        </p:spPr>
        <p:style>
          <a:lnRef idx="0"/>
          <a:fillRef idx="0"/>
          <a:effectRef idx="0"/>
          <a:fontRef idx="minor"/>
        </p:style>
        <p:txBody>
          <a:bodyPr lIns="90000" rIns="90000" tIns="15120" bIns="15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90" name="พลอยไพลิน"/>
          <p:cNvSpPr/>
          <p:nvPr/>
        </p:nvSpPr>
        <p:spPr>
          <a:xfrm>
            <a:off x="5950440" y="3267360"/>
            <a:ext cx="62640" cy="21960"/>
          </a:xfrm>
          <a:custGeom>
            <a:avLst/>
            <a:gdLst/>
            <a:ahLst/>
            <a:rect l="l" t="t" r="r" b="b"/>
            <a:pathLst>
              <a:path w="62863" h="22434">
                <a:moveTo>
                  <a:pt x="62863" y="16517"/>
                </a:moveTo>
                <a:lnTo>
                  <a:pt x="958" y="0"/>
                </a:lnTo>
                <a:lnTo>
                  <a:pt x="0" y="6163"/>
                </a:lnTo>
                <a:lnTo>
                  <a:pt x="61187" y="22434"/>
                </a:lnTo>
                <a:lnTo>
                  <a:pt x="62863" y="16517"/>
                </a:lnTo>
                <a:close/>
              </a:path>
            </a:pathLst>
          </a:custGeom>
          <a:solidFill>
            <a:srgbClr val="ded5c5"/>
          </a:solidFill>
          <a:ln w="6191">
            <a:solidFill>
              <a:srgbClr val="b5a68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91" name="บูรพา 7"/>
          <p:cNvSpPr/>
          <p:nvPr/>
        </p:nvSpPr>
        <p:spPr>
          <a:xfrm>
            <a:off x="5719320" y="3245040"/>
            <a:ext cx="23040" cy="29520"/>
          </a:xfrm>
          <a:custGeom>
            <a:avLst/>
            <a:gdLst/>
            <a:ahLst/>
            <a:rect l="l" t="t" r="r" b="b"/>
            <a:pathLst>
              <a:path w="23230" h="29953">
                <a:moveTo>
                  <a:pt x="0" y="23420"/>
                </a:moveTo>
                <a:lnTo>
                  <a:pt x="19278" y="29953"/>
                </a:lnTo>
                <a:lnTo>
                  <a:pt x="23230" y="19846"/>
                </a:lnTo>
                <a:lnTo>
                  <a:pt x="14010" y="15901"/>
                </a:lnTo>
                <a:lnTo>
                  <a:pt x="18200" y="6040"/>
                </a:lnTo>
                <a:lnTo>
                  <a:pt x="4191" y="0"/>
                </a:lnTo>
                <a:lnTo>
                  <a:pt x="0" y="23420"/>
                </a:lnTo>
                <a:close/>
              </a:path>
            </a:pathLst>
          </a:custGeom>
          <a:solidFill>
            <a:srgbClr val="ded5c5"/>
          </a:solidFill>
          <a:ln w="6191">
            <a:solidFill>
              <a:srgbClr val="b5a68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92" name="บูรพา 19"/>
          <p:cNvSpPr/>
          <p:nvPr/>
        </p:nvSpPr>
        <p:spPr>
          <a:xfrm>
            <a:off x="5699160" y="3251880"/>
            <a:ext cx="20520" cy="15120"/>
          </a:xfrm>
          <a:custGeom>
            <a:avLst/>
            <a:gdLst/>
            <a:ahLst/>
            <a:rect l="l" t="t" r="r" b="b"/>
            <a:pathLst>
              <a:path w="20715" h="15531">
                <a:moveTo>
                  <a:pt x="4430" y="1109"/>
                </a:moveTo>
                <a:lnTo>
                  <a:pt x="0" y="13436"/>
                </a:lnTo>
                <a:lnTo>
                  <a:pt x="9340" y="14915"/>
                </a:lnTo>
                <a:lnTo>
                  <a:pt x="11136" y="13436"/>
                </a:lnTo>
                <a:lnTo>
                  <a:pt x="19398" y="15531"/>
                </a:lnTo>
                <a:lnTo>
                  <a:pt x="20715" y="6903"/>
                </a:lnTo>
                <a:lnTo>
                  <a:pt x="5029" y="0"/>
                </a:lnTo>
                <a:lnTo>
                  <a:pt x="4430" y="1109"/>
                </a:lnTo>
                <a:close/>
                <a:moveTo>
                  <a:pt x="5029" y="247"/>
                </a:moveTo>
                <a:lnTo>
                  <a:pt x="5029" y="123"/>
                </a:lnTo>
                <a:lnTo>
                  <a:pt x="5029" y="123"/>
                </a:lnTo>
                <a:lnTo>
                  <a:pt x="5029" y="247"/>
                </a:lnTo>
                <a:close/>
              </a:path>
            </a:pathLst>
          </a:custGeom>
          <a:solidFill>
            <a:srgbClr val="ded5c5"/>
          </a:solidFill>
          <a:ln w="6191">
            <a:solidFill>
              <a:srgbClr val="b5a68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93" name="รัตนาวลัย"/>
          <p:cNvSpPr/>
          <p:nvPr/>
        </p:nvSpPr>
        <p:spPr>
          <a:xfrm>
            <a:off x="5904360" y="3400920"/>
            <a:ext cx="101520" cy="51120"/>
          </a:xfrm>
          <a:custGeom>
            <a:avLst/>
            <a:gdLst/>
            <a:ahLst/>
            <a:rect l="l" t="t" r="r" b="b"/>
            <a:pathLst>
              <a:path w="101899" h="51401">
                <a:moveTo>
                  <a:pt x="0" y="4438"/>
                </a:moveTo>
                <a:lnTo>
                  <a:pt x="97708" y="51401"/>
                </a:lnTo>
                <a:lnTo>
                  <a:pt x="101899" y="42896"/>
                </a:lnTo>
                <a:lnTo>
                  <a:pt x="11854" y="493"/>
                </a:lnTo>
                <a:lnTo>
                  <a:pt x="11016" y="1972"/>
                </a:lnTo>
                <a:lnTo>
                  <a:pt x="6346" y="0"/>
                </a:lnTo>
                <a:lnTo>
                  <a:pt x="5029" y="3575"/>
                </a:lnTo>
                <a:lnTo>
                  <a:pt x="359" y="3328"/>
                </a:lnTo>
                <a:lnTo>
                  <a:pt x="0" y="4438"/>
                </a:lnTo>
                <a:close/>
              </a:path>
            </a:pathLst>
          </a:custGeom>
          <a:solidFill>
            <a:srgbClr val="ded5c5"/>
          </a:solidFill>
          <a:ln w="6191">
            <a:solidFill>
              <a:srgbClr val="b5a68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94" name="ศรีกาญจน์"/>
          <p:cNvSpPr/>
          <p:nvPr/>
        </p:nvSpPr>
        <p:spPr>
          <a:xfrm>
            <a:off x="5756040" y="3155040"/>
            <a:ext cx="53280" cy="39960"/>
          </a:xfrm>
          <a:custGeom>
            <a:avLst/>
            <a:gdLst/>
            <a:ahLst/>
            <a:rect l="l" t="t" r="r" b="b"/>
            <a:pathLst>
              <a:path w="53524" h="40431">
                <a:moveTo>
                  <a:pt x="23349" y="0"/>
                </a:moveTo>
                <a:lnTo>
                  <a:pt x="18320" y="14422"/>
                </a:lnTo>
                <a:lnTo>
                  <a:pt x="8382" y="11217"/>
                </a:lnTo>
                <a:lnTo>
                  <a:pt x="0" y="34144"/>
                </a:lnTo>
                <a:lnTo>
                  <a:pt x="27420" y="39938"/>
                </a:lnTo>
                <a:lnTo>
                  <a:pt x="28857" y="33405"/>
                </a:lnTo>
                <a:lnTo>
                  <a:pt x="50171" y="40431"/>
                </a:lnTo>
                <a:lnTo>
                  <a:pt x="53524" y="19846"/>
                </a:lnTo>
                <a:lnTo>
                  <a:pt x="35323" y="11094"/>
                </a:lnTo>
                <a:lnTo>
                  <a:pt x="37718" y="4684"/>
                </a:lnTo>
                <a:lnTo>
                  <a:pt x="23349" y="0"/>
                </a:lnTo>
                <a:close/>
              </a:path>
            </a:pathLst>
          </a:custGeom>
          <a:solidFill>
            <a:srgbClr val="ded5c5"/>
          </a:solidFill>
          <a:ln w="6191">
            <a:solidFill>
              <a:srgbClr val="b5a68d"/>
            </a:solidFill>
            <a:round/>
          </a:ln>
        </p:spPr>
        <p:style>
          <a:lnRef idx="0"/>
          <a:fillRef idx="0"/>
          <a:effectRef idx="0"/>
          <a:fontRef idx="minor"/>
        </p:style>
        <p:txBody>
          <a:bodyPr lIns="90000" rIns="90000" tIns="-5040" bIns="-5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95" name="ชินเขต"/>
          <p:cNvSpPr/>
          <p:nvPr/>
        </p:nvSpPr>
        <p:spPr>
          <a:xfrm>
            <a:off x="5463000" y="3879360"/>
            <a:ext cx="176760" cy="242640"/>
          </a:xfrm>
          <a:custGeom>
            <a:avLst/>
            <a:gdLst/>
            <a:ahLst/>
            <a:rect l="l" t="t" r="r" b="b"/>
            <a:pathLst>
              <a:path w="177215" h="242955">
                <a:moveTo>
                  <a:pt x="166558" y="187486"/>
                </a:moveTo>
                <a:lnTo>
                  <a:pt x="171827" y="169242"/>
                </a:lnTo>
                <a:lnTo>
                  <a:pt x="177215" y="135221"/>
                </a:lnTo>
                <a:lnTo>
                  <a:pt x="164044" y="128565"/>
                </a:lnTo>
                <a:lnTo>
                  <a:pt x="151710" y="128812"/>
                </a:lnTo>
                <a:lnTo>
                  <a:pt x="151112" y="101693"/>
                </a:lnTo>
                <a:lnTo>
                  <a:pt x="170869" y="100337"/>
                </a:lnTo>
                <a:lnTo>
                  <a:pt x="162966" y="69891"/>
                </a:lnTo>
                <a:lnTo>
                  <a:pt x="163565" y="44005"/>
                </a:lnTo>
                <a:lnTo>
                  <a:pt x="171228" y="43512"/>
                </a:lnTo>
                <a:lnTo>
                  <a:pt x="170869" y="24406"/>
                </a:lnTo>
                <a:lnTo>
                  <a:pt x="159733" y="25639"/>
                </a:lnTo>
                <a:lnTo>
                  <a:pt x="158296" y="12820"/>
                </a:lnTo>
                <a:lnTo>
                  <a:pt x="148597" y="12943"/>
                </a:lnTo>
                <a:lnTo>
                  <a:pt x="147879" y="6287"/>
                </a:lnTo>
                <a:lnTo>
                  <a:pt x="145364" y="4807"/>
                </a:lnTo>
                <a:lnTo>
                  <a:pt x="135067" y="3451"/>
                </a:lnTo>
                <a:lnTo>
                  <a:pt x="133510" y="1233"/>
                </a:lnTo>
                <a:lnTo>
                  <a:pt x="117345" y="1233"/>
                </a:lnTo>
                <a:lnTo>
                  <a:pt x="117465" y="2342"/>
                </a:lnTo>
                <a:lnTo>
                  <a:pt x="114352" y="2096"/>
                </a:lnTo>
                <a:lnTo>
                  <a:pt x="114352" y="0"/>
                </a:lnTo>
                <a:lnTo>
                  <a:pt x="112077" y="247"/>
                </a:lnTo>
                <a:lnTo>
                  <a:pt x="111837" y="21818"/>
                </a:lnTo>
                <a:lnTo>
                  <a:pt x="108963" y="21818"/>
                </a:lnTo>
                <a:lnTo>
                  <a:pt x="108844" y="17750"/>
                </a:lnTo>
                <a:lnTo>
                  <a:pt x="84297" y="18860"/>
                </a:lnTo>
                <a:lnTo>
                  <a:pt x="83698" y="30693"/>
                </a:lnTo>
                <a:lnTo>
                  <a:pt x="86692" y="31063"/>
                </a:lnTo>
                <a:lnTo>
                  <a:pt x="85853" y="35870"/>
                </a:lnTo>
                <a:lnTo>
                  <a:pt x="87650" y="36240"/>
                </a:lnTo>
                <a:lnTo>
                  <a:pt x="90164" y="41540"/>
                </a:lnTo>
                <a:lnTo>
                  <a:pt x="91960" y="41910"/>
                </a:lnTo>
                <a:lnTo>
                  <a:pt x="92080" y="54853"/>
                </a:lnTo>
                <a:lnTo>
                  <a:pt x="96151" y="58304"/>
                </a:lnTo>
                <a:lnTo>
                  <a:pt x="97109" y="61386"/>
                </a:lnTo>
                <a:lnTo>
                  <a:pt x="98905" y="97009"/>
                </a:lnTo>
                <a:lnTo>
                  <a:pt x="57355" y="101077"/>
                </a:lnTo>
                <a:lnTo>
                  <a:pt x="46339" y="99598"/>
                </a:lnTo>
                <a:lnTo>
                  <a:pt x="31013" y="104282"/>
                </a:lnTo>
                <a:lnTo>
                  <a:pt x="23948" y="104405"/>
                </a:lnTo>
                <a:lnTo>
                  <a:pt x="24307" y="110938"/>
                </a:lnTo>
                <a:lnTo>
                  <a:pt x="28378" y="126100"/>
                </a:lnTo>
                <a:lnTo>
                  <a:pt x="28019" y="132016"/>
                </a:lnTo>
                <a:lnTo>
                  <a:pt x="4909" y="133372"/>
                </a:lnTo>
                <a:lnTo>
                  <a:pt x="0" y="154574"/>
                </a:lnTo>
                <a:lnTo>
                  <a:pt x="19518" y="146685"/>
                </a:lnTo>
                <a:lnTo>
                  <a:pt x="24666" y="161847"/>
                </a:lnTo>
                <a:lnTo>
                  <a:pt x="15207" y="163696"/>
                </a:lnTo>
                <a:lnTo>
                  <a:pt x="3951" y="170598"/>
                </a:lnTo>
                <a:lnTo>
                  <a:pt x="15446" y="200059"/>
                </a:lnTo>
                <a:lnTo>
                  <a:pt x="19039" y="201415"/>
                </a:lnTo>
                <a:lnTo>
                  <a:pt x="22990" y="210043"/>
                </a:lnTo>
                <a:lnTo>
                  <a:pt x="21912" y="212015"/>
                </a:lnTo>
                <a:lnTo>
                  <a:pt x="74598" y="242955"/>
                </a:lnTo>
                <a:lnTo>
                  <a:pt x="99624" y="237038"/>
                </a:lnTo>
                <a:lnTo>
                  <a:pt x="123931" y="228286"/>
                </a:lnTo>
                <a:lnTo>
                  <a:pt x="161649" y="219658"/>
                </a:lnTo>
                <a:lnTo>
                  <a:pt x="166558" y="187486"/>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96" name="พงษ์เพชรแจ้งวัฒนะ 14"/>
          <p:cNvSpPr/>
          <p:nvPr/>
        </p:nvSpPr>
        <p:spPr>
          <a:xfrm>
            <a:off x="5689080" y="3563280"/>
            <a:ext cx="49320" cy="18720"/>
          </a:xfrm>
          <a:custGeom>
            <a:avLst/>
            <a:gdLst/>
            <a:ahLst/>
            <a:rect l="l" t="t" r="r" b="b"/>
            <a:pathLst>
              <a:path w="49692" h="18983">
                <a:moveTo>
                  <a:pt x="0" y="18120"/>
                </a:moveTo>
                <a:lnTo>
                  <a:pt x="29815" y="18983"/>
                </a:lnTo>
                <a:lnTo>
                  <a:pt x="44064" y="17873"/>
                </a:lnTo>
                <a:lnTo>
                  <a:pt x="49093" y="16271"/>
                </a:lnTo>
                <a:lnTo>
                  <a:pt x="49692" y="2342"/>
                </a:lnTo>
                <a:lnTo>
                  <a:pt x="5628" y="0"/>
                </a:lnTo>
                <a:lnTo>
                  <a:pt x="3353" y="6410"/>
                </a:lnTo>
                <a:lnTo>
                  <a:pt x="1317" y="6040"/>
                </a:lnTo>
                <a:lnTo>
                  <a:pt x="0" y="18120"/>
                </a:lnTo>
                <a:close/>
              </a:path>
            </a:pathLst>
          </a:custGeom>
          <a:solidFill>
            <a:srgbClr val="ded5c5"/>
          </a:solidFill>
          <a:ln w="6191">
            <a:solidFill>
              <a:srgbClr val="b5a68d"/>
            </a:solidFill>
            <a:round/>
          </a:ln>
        </p:spPr>
        <p:style>
          <a:lnRef idx="0"/>
          <a:fillRef idx="0"/>
          <a:effectRef idx="0"/>
          <a:fontRef idx="minor"/>
        </p:style>
        <p:txBody>
          <a:bodyPr lIns="90000" rIns="90000" tIns="-26280" bIns="-26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97" name="ร่วมกิจกรุงศรีพัฒนา"/>
          <p:cNvSpPr/>
          <p:nvPr/>
        </p:nvSpPr>
        <p:spPr>
          <a:xfrm>
            <a:off x="5878800" y="3569400"/>
            <a:ext cx="36360" cy="33120"/>
          </a:xfrm>
          <a:custGeom>
            <a:avLst/>
            <a:gdLst/>
            <a:ahLst/>
            <a:rect l="l" t="t" r="r" b="b"/>
            <a:pathLst>
              <a:path w="36640" h="33405">
                <a:moveTo>
                  <a:pt x="0" y="5177"/>
                </a:moveTo>
                <a:lnTo>
                  <a:pt x="10298" y="8998"/>
                </a:lnTo>
                <a:lnTo>
                  <a:pt x="6945" y="30693"/>
                </a:lnTo>
                <a:lnTo>
                  <a:pt x="16285" y="33405"/>
                </a:lnTo>
                <a:lnTo>
                  <a:pt x="18440" y="28104"/>
                </a:lnTo>
                <a:lnTo>
                  <a:pt x="16883" y="27735"/>
                </a:lnTo>
                <a:lnTo>
                  <a:pt x="16764" y="23790"/>
                </a:lnTo>
                <a:lnTo>
                  <a:pt x="18440" y="11217"/>
                </a:lnTo>
                <a:lnTo>
                  <a:pt x="34725" y="16024"/>
                </a:lnTo>
                <a:lnTo>
                  <a:pt x="36640" y="11710"/>
                </a:lnTo>
                <a:lnTo>
                  <a:pt x="16764" y="2712"/>
                </a:lnTo>
                <a:lnTo>
                  <a:pt x="3712" y="0"/>
                </a:lnTo>
                <a:lnTo>
                  <a:pt x="1796" y="0"/>
                </a:lnTo>
                <a:lnTo>
                  <a:pt x="0" y="5177"/>
                </a:lnTo>
                <a:close/>
              </a:path>
            </a:pathLst>
          </a:custGeom>
          <a:solidFill>
            <a:srgbClr val="ded5c5"/>
          </a:solidFill>
          <a:ln w="6191">
            <a:solidFill>
              <a:srgbClr val="b5a68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98" name="ชุมชนทองพูนพัฒนา"/>
          <p:cNvSpPr/>
          <p:nvPr/>
        </p:nvSpPr>
        <p:spPr>
          <a:xfrm>
            <a:off x="3687480" y="5377680"/>
            <a:ext cx="87480" cy="78120"/>
          </a:xfrm>
          <a:custGeom>
            <a:avLst/>
            <a:gdLst/>
            <a:ahLst/>
            <a:rect l="l" t="t" r="r" b="b"/>
            <a:pathLst>
              <a:path w="88009" h="78643">
                <a:moveTo>
                  <a:pt x="41071" y="5670"/>
                </a:moveTo>
                <a:lnTo>
                  <a:pt x="2993" y="0"/>
                </a:lnTo>
                <a:lnTo>
                  <a:pt x="479" y="19106"/>
                </a:lnTo>
                <a:lnTo>
                  <a:pt x="0" y="48196"/>
                </a:lnTo>
                <a:lnTo>
                  <a:pt x="1916" y="58674"/>
                </a:lnTo>
                <a:lnTo>
                  <a:pt x="599" y="68289"/>
                </a:lnTo>
                <a:lnTo>
                  <a:pt x="8621" y="69028"/>
                </a:lnTo>
                <a:lnTo>
                  <a:pt x="7783" y="76671"/>
                </a:lnTo>
                <a:lnTo>
                  <a:pt x="39155" y="78643"/>
                </a:lnTo>
                <a:lnTo>
                  <a:pt x="59870" y="78027"/>
                </a:lnTo>
                <a:lnTo>
                  <a:pt x="60948" y="62742"/>
                </a:lnTo>
                <a:lnTo>
                  <a:pt x="69689" y="41170"/>
                </a:lnTo>
                <a:lnTo>
                  <a:pt x="81184" y="39568"/>
                </a:lnTo>
                <a:lnTo>
                  <a:pt x="88009" y="15901"/>
                </a:lnTo>
                <a:lnTo>
                  <a:pt x="41071" y="5670"/>
                </a:lnTo>
                <a:close/>
              </a:path>
            </a:pathLst>
          </a:custGeom>
          <a:solidFill>
            <a:srgbClr val="ded5c5"/>
          </a:solidFill>
          <a:ln w="6191">
            <a:solidFill>
              <a:srgbClr val="b5a68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499" name="ชุมชนศิริเกษม 1"/>
          <p:cNvSpPr/>
          <p:nvPr/>
        </p:nvSpPr>
        <p:spPr>
          <a:xfrm>
            <a:off x="3241800" y="5531040"/>
            <a:ext cx="34560" cy="20520"/>
          </a:xfrm>
          <a:custGeom>
            <a:avLst/>
            <a:gdLst/>
            <a:ahLst/>
            <a:rect l="l" t="t" r="r" b="b"/>
            <a:pathLst>
              <a:path w="34844" h="20832">
                <a:moveTo>
                  <a:pt x="0" y="3575"/>
                </a:moveTo>
                <a:lnTo>
                  <a:pt x="838" y="20832"/>
                </a:lnTo>
                <a:lnTo>
                  <a:pt x="34844" y="18736"/>
                </a:lnTo>
                <a:lnTo>
                  <a:pt x="34844" y="0"/>
                </a:lnTo>
                <a:lnTo>
                  <a:pt x="0" y="3575"/>
                </a:lnTo>
                <a:close/>
              </a:path>
            </a:pathLst>
          </a:custGeom>
          <a:solidFill>
            <a:srgbClr val="ded5c5"/>
          </a:solidFill>
          <a:ln w="6191">
            <a:solidFill>
              <a:srgbClr val="b5a68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00" name="ชุมชนศิริเกษมพัฒนา"/>
          <p:cNvSpPr/>
          <p:nvPr/>
        </p:nvSpPr>
        <p:spPr>
          <a:xfrm>
            <a:off x="3319920" y="5520600"/>
            <a:ext cx="71640" cy="57960"/>
          </a:xfrm>
          <a:custGeom>
            <a:avLst/>
            <a:gdLst/>
            <a:ahLst/>
            <a:rect l="l" t="t" r="r" b="b"/>
            <a:pathLst>
              <a:path w="71964" h="58427">
                <a:moveTo>
                  <a:pt x="53763" y="54606"/>
                </a:moveTo>
                <a:lnTo>
                  <a:pt x="54003" y="58427"/>
                </a:lnTo>
                <a:lnTo>
                  <a:pt x="60948" y="57934"/>
                </a:lnTo>
                <a:lnTo>
                  <a:pt x="61067" y="56332"/>
                </a:lnTo>
                <a:lnTo>
                  <a:pt x="69928" y="56455"/>
                </a:lnTo>
                <a:lnTo>
                  <a:pt x="71964" y="42157"/>
                </a:lnTo>
                <a:lnTo>
                  <a:pt x="69689" y="0"/>
                </a:lnTo>
                <a:lnTo>
                  <a:pt x="0" y="6533"/>
                </a:lnTo>
                <a:lnTo>
                  <a:pt x="1197" y="14175"/>
                </a:lnTo>
                <a:lnTo>
                  <a:pt x="4191" y="14052"/>
                </a:lnTo>
                <a:lnTo>
                  <a:pt x="4670" y="17257"/>
                </a:lnTo>
                <a:lnTo>
                  <a:pt x="3472" y="17627"/>
                </a:lnTo>
                <a:lnTo>
                  <a:pt x="6825" y="48936"/>
                </a:lnTo>
                <a:lnTo>
                  <a:pt x="9819" y="48936"/>
                </a:lnTo>
                <a:lnTo>
                  <a:pt x="10298" y="52264"/>
                </a:lnTo>
                <a:lnTo>
                  <a:pt x="53404" y="46841"/>
                </a:lnTo>
                <a:lnTo>
                  <a:pt x="53763" y="54606"/>
                </a:lnTo>
                <a:close/>
              </a:path>
            </a:pathLst>
          </a:custGeom>
          <a:solidFill>
            <a:srgbClr val="ded5c5"/>
          </a:solidFill>
          <a:ln w="6191">
            <a:solidFill>
              <a:srgbClr val="b5a68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01" name="ชุมชนรักษ์พัฒนา"/>
          <p:cNvSpPr/>
          <p:nvPr/>
        </p:nvSpPr>
        <p:spPr>
          <a:xfrm>
            <a:off x="3424680" y="5521320"/>
            <a:ext cx="42120" cy="59400"/>
          </a:xfrm>
          <a:custGeom>
            <a:avLst/>
            <a:gdLst/>
            <a:ahLst/>
            <a:rect l="l" t="t" r="r" b="b"/>
            <a:pathLst>
              <a:path w="42508" h="59907">
                <a:moveTo>
                  <a:pt x="3712" y="9861"/>
                </a:moveTo>
                <a:lnTo>
                  <a:pt x="3233" y="17134"/>
                </a:lnTo>
                <a:lnTo>
                  <a:pt x="12573" y="17873"/>
                </a:lnTo>
                <a:lnTo>
                  <a:pt x="13411" y="36979"/>
                </a:lnTo>
                <a:lnTo>
                  <a:pt x="1437" y="36979"/>
                </a:lnTo>
                <a:lnTo>
                  <a:pt x="0" y="40308"/>
                </a:lnTo>
                <a:lnTo>
                  <a:pt x="5269" y="47580"/>
                </a:lnTo>
                <a:lnTo>
                  <a:pt x="30294" y="46471"/>
                </a:lnTo>
                <a:lnTo>
                  <a:pt x="31492" y="59537"/>
                </a:lnTo>
                <a:lnTo>
                  <a:pt x="42508" y="59907"/>
                </a:lnTo>
                <a:lnTo>
                  <a:pt x="41191" y="33528"/>
                </a:lnTo>
                <a:lnTo>
                  <a:pt x="38796" y="33775"/>
                </a:lnTo>
                <a:lnTo>
                  <a:pt x="36401" y="863"/>
                </a:lnTo>
                <a:lnTo>
                  <a:pt x="12812" y="0"/>
                </a:lnTo>
                <a:lnTo>
                  <a:pt x="14489" y="8505"/>
                </a:lnTo>
                <a:lnTo>
                  <a:pt x="3712" y="9861"/>
                </a:lnTo>
                <a:close/>
              </a:path>
            </a:pathLst>
          </a:custGeom>
          <a:solidFill>
            <a:srgbClr val="ded5c5"/>
          </a:solidFill>
          <a:ln w="6191">
            <a:solidFill>
              <a:srgbClr val="b5a68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02" name="ชุมชนศิริเกษมรวมใจ 50"/>
          <p:cNvSpPr/>
          <p:nvPr/>
        </p:nvSpPr>
        <p:spPr>
          <a:xfrm>
            <a:off x="3283200" y="5527080"/>
            <a:ext cx="46440" cy="67680"/>
          </a:xfrm>
          <a:custGeom>
            <a:avLst/>
            <a:gdLst/>
            <a:ahLst/>
            <a:rect l="l" t="t" r="r" b="b"/>
            <a:pathLst>
              <a:path w="46938" h="68042">
                <a:moveTo>
                  <a:pt x="28857" y="47334"/>
                </a:moveTo>
                <a:lnTo>
                  <a:pt x="46938" y="45731"/>
                </a:lnTo>
                <a:lnTo>
                  <a:pt x="46220" y="42280"/>
                </a:lnTo>
                <a:lnTo>
                  <a:pt x="43226" y="42403"/>
                </a:lnTo>
                <a:lnTo>
                  <a:pt x="40113" y="11094"/>
                </a:lnTo>
                <a:lnTo>
                  <a:pt x="41310" y="10724"/>
                </a:lnTo>
                <a:lnTo>
                  <a:pt x="40831" y="7519"/>
                </a:lnTo>
                <a:lnTo>
                  <a:pt x="37718" y="7766"/>
                </a:lnTo>
                <a:lnTo>
                  <a:pt x="36640" y="0"/>
                </a:lnTo>
                <a:lnTo>
                  <a:pt x="239" y="3575"/>
                </a:lnTo>
                <a:lnTo>
                  <a:pt x="0" y="11464"/>
                </a:lnTo>
                <a:lnTo>
                  <a:pt x="3472" y="11464"/>
                </a:lnTo>
                <a:lnTo>
                  <a:pt x="3951" y="21078"/>
                </a:lnTo>
                <a:lnTo>
                  <a:pt x="6705" y="20832"/>
                </a:lnTo>
                <a:lnTo>
                  <a:pt x="12692" y="68042"/>
                </a:lnTo>
                <a:lnTo>
                  <a:pt x="30773" y="66809"/>
                </a:lnTo>
                <a:lnTo>
                  <a:pt x="29456" y="63605"/>
                </a:lnTo>
                <a:lnTo>
                  <a:pt x="28857" y="47334"/>
                </a:lnTo>
                <a:close/>
              </a:path>
            </a:pathLst>
          </a:custGeom>
          <a:solidFill>
            <a:srgbClr val="ded5c5"/>
          </a:solidFill>
          <a:ln w="6191">
            <a:solidFill>
              <a:srgbClr val="b5a68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03" name="ชุมชนสามัคคีศิริเกษม 2"/>
          <p:cNvSpPr/>
          <p:nvPr/>
        </p:nvSpPr>
        <p:spPr>
          <a:xfrm>
            <a:off x="3370680" y="5472360"/>
            <a:ext cx="27720" cy="48600"/>
          </a:xfrm>
          <a:custGeom>
            <a:avLst/>
            <a:gdLst/>
            <a:ahLst/>
            <a:rect l="l" t="t" r="r" b="b"/>
            <a:pathLst>
              <a:path w="28019" h="48936">
                <a:moveTo>
                  <a:pt x="359" y="48936"/>
                </a:moveTo>
                <a:lnTo>
                  <a:pt x="28019" y="45978"/>
                </a:lnTo>
                <a:lnTo>
                  <a:pt x="26702" y="0"/>
                </a:lnTo>
                <a:lnTo>
                  <a:pt x="0" y="247"/>
                </a:lnTo>
                <a:lnTo>
                  <a:pt x="359" y="48936"/>
                </a:lnTo>
                <a:close/>
              </a:path>
            </a:pathLst>
          </a:custGeom>
          <a:solidFill>
            <a:srgbClr val="ded5c5"/>
          </a:solidFill>
          <a:ln w="6191">
            <a:solidFill>
              <a:srgbClr val="b5a68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04" name="ชุมชนอัสสัมชัญพัฒนา"/>
          <p:cNvSpPr/>
          <p:nvPr/>
        </p:nvSpPr>
        <p:spPr>
          <a:xfrm>
            <a:off x="3348360" y="5613120"/>
            <a:ext cx="28440" cy="60480"/>
          </a:xfrm>
          <a:custGeom>
            <a:avLst/>
            <a:gdLst/>
            <a:ahLst/>
            <a:rect l="l" t="t" r="r" b="b"/>
            <a:pathLst>
              <a:path w="28738" h="61016">
                <a:moveTo>
                  <a:pt x="23349" y="20832"/>
                </a:moveTo>
                <a:lnTo>
                  <a:pt x="25145" y="11217"/>
                </a:lnTo>
                <a:lnTo>
                  <a:pt x="27899" y="10724"/>
                </a:lnTo>
                <a:lnTo>
                  <a:pt x="28738" y="1109"/>
                </a:lnTo>
                <a:lnTo>
                  <a:pt x="12453" y="0"/>
                </a:lnTo>
                <a:lnTo>
                  <a:pt x="8980" y="50908"/>
                </a:lnTo>
                <a:lnTo>
                  <a:pt x="8382" y="53127"/>
                </a:lnTo>
                <a:lnTo>
                  <a:pt x="359" y="53004"/>
                </a:lnTo>
                <a:lnTo>
                  <a:pt x="0" y="61016"/>
                </a:lnTo>
                <a:lnTo>
                  <a:pt x="28498" y="57688"/>
                </a:lnTo>
                <a:lnTo>
                  <a:pt x="28378" y="53743"/>
                </a:lnTo>
                <a:lnTo>
                  <a:pt x="26463" y="53867"/>
                </a:lnTo>
                <a:lnTo>
                  <a:pt x="26463" y="38952"/>
                </a:lnTo>
                <a:lnTo>
                  <a:pt x="25505" y="30693"/>
                </a:lnTo>
                <a:lnTo>
                  <a:pt x="23469" y="30816"/>
                </a:lnTo>
                <a:lnTo>
                  <a:pt x="24427" y="23544"/>
                </a:lnTo>
                <a:lnTo>
                  <a:pt x="23349" y="20832"/>
                </a:lnTo>
                <a:close/>
              </a:path>
            </a:pathLst>
          </a:custGeom>
          <a:solidFill>
            <a:srgbClr val="ded5c5"/>
          </a:solidFill>
          <a:ln w="6191">
            <a:solidFill>
              <a:srgbClr val="b5a68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05" name="รวมใจพัฒนา"/>
          <p:cNvSpPr/>
          <p:nvPr/>
        </p:nvSpPr>
        <p:spPr>
          <a:xfrm>
            <a:off x="6012000" y="6055920"/>
            <a:ext cx="22680" cy="21240"/>
          </a:xfrm>
          <a:custGeom>
            <a:avLst/>
            <a:gdLst/>
            <a:ahLst/>
            <a:rect l="l" t="t" r="r" b="b"/>
            <a:pathLst>
              <a:path w="22870" h="21448">
                <a:moveTo>
                  <a:pt x="0" y="7396"/>
                </a:moveTo>
                <a:lnTo>
                  <a:pt x="1437" y="21448"/>
                </a:lnTo>
                <a:lnTo>
                  <a:pt x="22870" y="20215"/>
                </a:lnTo>
                <a:lnTo>
                  <a:pt x="20356" y="0"/>
                </a:lnTo>
                <a:lnTo>
                  <a:pt x="11615" y="4807"/>
                </a:lnTo>
                <a:lnTo>
                  <a:pt x="0" y="7396"/>
                </a:lnTo>
                <a:close/>
              </a:path>
            </a:pathLst>
          </a:custGeom>
          <a:solidFill>
            <a:srgbClr val="ded5c5"/>
          </a:solidFill>
          <a:ln w="6191">
            <a:solidFill>
              <a:srgbClr val="b5a68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06" name="หมู่บ้านพระปิ่นนคร 2 (ศาลาธรรมสพน์ 17)"/>
          <p:cNvSpPr/>
          <p:nvPr/>
        </p:nvSpPr>
        <p:spPr>
          <a:xfrm>
            <a:off x="3384720" y="4802040"/>
            <a:ext cx="23040" cy="55440"/>
          </a:xfrm>
          <a:custGeom>
            <a:avLst/>
            <a:gdLst/>
            <a:ahLst/>
            <a:rect l="l" t="t" r="r" b="b"/>
            <a:pathLst>
              <a:path w="23230" h="55962">
                <a:moveTo>
                  <a:pt x="11615" y="0"/>
                </a:moveTo>
                <a:lnTo>
                  <a:pt x="13052" y="6656"/>
                </a:lnTo>
                <a:lnTo>
                  <a:pt x="7783" y="8259"/>
                </a:lnTo>
                <a:lnTo>
                  <a:pt x="9220" y="25023"/>
                </a:lnTo>
                <a:lnTo>
                  <a:pt x="0" y="27365"/>
                </a:lnTo>
                <a:lnTo>
                  <a:pt x="6945" y="55962"/>
                </a:lnTo>
                <a:lnTo>
                  <a:pt x="17841" y="55962"/>
                </a:lnTo>
                <a:lnTo>
                  <a:pt x="11136" y="27488"/>
                </a:lnTo>
                <a:lnTo>
                  <a:pt x="23230" y="25762"/>
                </a:lnTo>
                <a:lnTo>
                  <a:pt x="22272" y="863"/>
                </a:lnTo>
                <a:lnTo>
                  <a:pt x="11615" y="0"/>
                </a:lnTo>
                <a:close/>
              </a:path>
            </a:pathLst>
          </a:custGeom>
          <a:solidFill>
            <a:srgbClr val="ded5c5"/>
          </a:solidFill>
          <a:ln w="6191">
            <a:solidFill>
              <a:srgbClr val="b5a68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07" name="หลังวัดบุณยประดิษฐ์"/>
          <p:cNvSpPr/>
          <p:nvPr/>
        </p:nvSpPr>
        <p:spPr>
          <a:xfrm>
            <a:off x="3500280" y="5581800"/>
            <a:ext cx="63720" cy="77040"/>
          </a:xfrm>
          <a:custGeom>
            <a:avLst/>
            <a:gdLst/>
            <a:ahLst/>
            <a:rect l="l" t="t" r="r" b="b"/>
            <a:pathLst>
              <a:path w="63941" h="77410">
                <a:moveTo>
                  <a:pt x="63941" y="42157"/>
                </a:moveTo>
                <a:lnTo>
                  <a:pt x="41789" y="37966"/>
                </a:lnTo>
                <a:lnTo>
                  <a:pt x="40113" y="29460"/>
                </a:lnTo>
                <a:lnTo>
                  <a:pt x="26343" y="29337"/>
                </a:lnTo>
                <a:lnTo>
                  <a:pt x="27540" y="1479"/>
                </a:lnTo>
                <a:lnTo>
                  <a:pt x="5987" y="0"/>
                </a:lnTo>
                <a:lnTo>
                  <a:pt x="0" y="77410"/>
                </a:lnTo>
                <a:lnTo>
                  <a:pt x="55919" y="71370"/>
                </a:lnTo>
                <a:lnTo>
                  <a:pt x="63941" y="42157"/>
                </a:lnTo>
                <a:close/>
              </a:path>
            </a:pathLst>
          </a:custGeom>
          <a:solidFill>
            <a:srgbClr val="ded5c5"/>
          </a:solidFill>
          <a:ln w="6191">
            <a:solidFill>
              <a:srgbClr val="b5a68d"/>
            </a:solidFill>
            <a:round/>
          </a:ln>
        </p:spPr>
        <p:style>
          <a:lnRef idx="0"/>
          <a:fillRef idx="0"/>
          <a:effectRef idx="0"/>
          <a:fontRef idx="minor"/>
        </p:style>
        <p:txBody>
          <a:bodyPr lIns="90000" rIns="90000" tIns="32040" bIns="32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08" name="นิมิตใหม่เมืองมีน"/>
          <p:cNvSpPr/>
          <p:nvPr/>
        </p:nvSpPr>
        <p:spPr>
          <a:xfrm>
            <a:off x="7480800" y="3515040"/>
            <a:ext cx="6120" cy="11520"/>
          </a:xfrm>
          <a:custGeom>
            <a:avLst/>
            <a:gdLst/>
            <a:ahLst/>
            <a:rect l="l" t="t" r="r" b="b"/>
            <a:pathLst>
              <a:path w="6466" h="11833">
                <a:moveTo>
                  <a:pt x="0" y="1233"/>
                </a:moveTo>
                <a:lnTo>
                  <a:pt x="599" y="11833"/>
                </a:lnTo>
                <a:lnTo>
                  <a:pt x="6466" y="11094"/>
                </a:lnTo>
                <a:lnTo>
                  <a:pt x="5748" y="0"/>
                </a:lnTo>
                <a:lnTo>
                  <a:pt x="0" y="1233"/>
                </a:lnTo>
                <a:close/>
              </a:path>
            </a:pathLst>
          </a:custGeom>
          <a:solidFill>
            <a:srgbClr val="ded5c5"/>
          </a:solidFill>
          <a:ln w="6191">
            <a:solidFill>
              <a:srgbClr val="b5a68d"/>
            </a:solidFill>
            <a:round/>
          </a:ln>
        </p:spPr>
        <p:style>
          <a:lnRef idx="0"/>
          <a:fillRef idx="0"/>
          <a:effectRef idx="0"/>
          <a:fontRef idx="minor"/>
        </p:style>
        <p:txBody>
          <a:bodyPr lIns="90000" rIns="90000" tIns="-33480" bIns="-33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09" name="หมู่บ้านนพบุรินทร์"/>
          <p:cNvSpPr/>
          <p:nvPr/>
        </p:nvSpPr>
        <p:spPr>
          <a:xfrm>
            <a:off x="7950600" y="4338000"/>
            <a:ext cx="51840" cy="76320"/>
          </a:xfrm>
          <a:custGeom>
            <a:avLst/>
            <a:gdLst/>
            <a:ahLst/>
            <a:rect l="l" t="t" r="r" b="b"/>
            <a:pathLst>
              <a:path w="52087" h="76547">
                <a:moveTo>
                  <a:pt x="52087" y="69398"/>
                </a:moveTo>
                <a:lnTo>
                  <a:pt x="10777" y="0"/>
                </a:lnTo>
                <a:lnTo>
                  <a:pt x="0" y="5670"/>
                </a:lnTo>
                <a:lnTo>
                  <a:pt x="40592" y="76547"/>
                </a:lnTo>
                <a:lnTo>
                  <a:pt x="52087" y="69398"/>
                </a:lnTo>
                <a:close/>
              </a:path>
            </a:pathLst>
          </a:custGeom>
          <a:solidFill>
            <a:srgbClr val="ded5c5"/>
          </a:solidFill>
          <a:ln w="6191">
            <a:solidFill>
              <a:srgbClr val="b5a68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10" name="ภูมิจิตร"/>
          <p:cNvSpPr/>
          <p:nvPr/>
        </p:nvSpPr>
        <p:spPr>
          <a:xfrm>
            <a:off x="5965560" y="5867280"/>
            <a:ext cx="34560" cy="36000"/>
          </a:xfrm>
          <a:custGeom>
            <a:avLst/>
            <a:gdLst/>
            <a:ahLst/>
            <a:rect l="l" t="t" r="r" b="b"/>
            <a:pathLst>
              <a:path w="34964" h="36240">
                <a:moveTo>
                  <a:pt x="21553" y="0"/>
                </a:moveTo>
                <a:lnTo>
                  <a:pt x="10298" y="6040"/>
                </a:lnTo>
                <a:lnTo>
                  <a:pt x="6586" y="1109"/>
                </a:lnTo>
                <a:lnTo>
                  <a:pt x="0" y="4068"/>
                </a:lnTo>
                <a:lnTo>
                  <a:pt x="10058" y="22927"/>
                </a:lnTo>
                <a:lnTo>
                  <a:pt x="12094" y="21695"/>
                </a:lnTo>
                <a:lnTo>
                  <a:pt x="22272" y="36240"/>
                </a:lnTo>
                <a:lnTo>
                  <a:pt x="27540" y="27118"/>
                </a:lnTo>
                <a:lnTo>
                  <a:pt x="34964" y="20955"/>
                </a:lnTo>
                <a:lnTo>
                  <a:pt x="21553" y="0"/>
                </a:lnTo>
                <a:close/>
              </a:path>
            </a:pathLst>
          </a:custGeom>
          <a:solidFill>
            <a:srgbClr val="ded5c5"/>
          </a:solidFill>
          <a:ln w="6191">
            <a:solidFill>
              <a:srgbClr val="b5a68d"/>
            </a:solidFill>
            <a:round/>
          </a:ln>
        </p:spPr>
        <p:style>
          <a:lnRef idx="0"/>
          <a:fillRef idx="0"/>
          <a:effectRef idx="0"/>
          <a:fontRef idx="minor"/>
        </p:style>
        <p:txBody>
          <a:bodyPr lIns="90000" rIns="90000" tIns="-9000" bIns="-9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11" name="เมืองใหม่มาลัยทอง"/>
          <p:cNvSpPr/>
          <p:nvPr/>
        </p:nvSpPr>
        <p:spPr>
          <a:xfrm>
            <a:off x="7818840" y="4083120"/>
            <a:ext cx="37440" cy="71280"/>
          </a:xfrm>
          <a:custGeom>
            <a:avLst/>
            <a:gdLst/>
            <a:ahLst/>
            <a:rect l="l" t="t" r="r" b="b"/>
            <a:pathLst>
              <a:path w="37838" h="71617">
                <a:moveTo>
                  <a:pt x="0" y="6410"/>
                </a:moveTo>
                <a:lnTo>
                  <a:pt x="22751" y="71617"/>
                </a:lnTo>
                <a:lnTo>
                  <a:pt x="37838" y="63974"/>
                </a:lnTo>
                <a:lnTo>
                  <a:pt x="12573" y="0"/>
                </a:lnTo>
                <a:lnTo>
                  <a:pt x="0" y="6410"/>
                </a:lnTo>
                <a:close/>
              </a:path>
            </a:pathLst>
          </a:custGeom>
          <a:solidFill>
            <a:srgbClr val="ded5c5"/>
          </a:solidFill>
          <a:ln w="6191">
            <a:solidFill>
              <a:srgbClr val="b5a68d"/>
            </a:solidFill>
            <a:round/>
          </a:ln>
        </p:spPr>
        <p:style>
          <a:lnRef idx="0"/>
          <a:fillRef idx="0"/>
          <a:effectRef idx="0"/>
          <a:fontRef idx="minor"/>
        </p:style>
        <p:txBody>
          <a:bodyPr lIns="90000" rIns="90000" tIns="26280" bIns="26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12" name="ภูมิใจ"/>
          <p:cNvSpPr/>
          <p:nvPr/>
        </p:nvSpPr>
        <p:spPr>
          <a:xfrm>
            <a:off x="8201160" y="4166280"/>
            <a:ext cx="54360" cy="95040"/>
          </a:xfrm>
          <a:custGeom>
            <a:avLst/>
            <a:gdLst/>
            <a:ahLst/>
            <a:rect l="l" t="t" r="r" b="b"/>
            <a:pathLst>
              <a:path w="54721" h="95407">
                <a:moveTo>
                  <a:pt x="54721" y="87518"/>
                </a:moveTo>
                <a:lnTo>
                  <a:pt x="11136" y="0"/>
                </a:lnTo>
                <a:lnTo>
                  <a:pt x="0" y="6780"/>
                </a:lnTo>
                <a:lnTo>
                  <a:pt x="3951" y="17380"/>
                </a:lnTo>
                <a:lnTo>
                  <a:pt x="2036" y="22311"/>
                </a:lnTo>
                <a:lnTo>
                  <a:pt x="38436" y="95407"/>
                </a:lnTo>
                <a:lnTo>
                  <a:pt x="54721" y="8751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13" name="หมู่บ้านอยู่เจริญพหลโยธิน 40"/>
          <p:cNvSpPr/>
          <p:nvPr/>
        </p:nvSpPr>
        <p:spPr>
          <a:xfrm>
            <a:off x="5842800" y="4230720"/>
            <a:ext cx="41040" cy="37440"/>
          </a:xfrm>
          <a:custGeom>
            <a:avLst/>
            <a:gdLst/>
            <a:ahLst/>
            <a:rect l="l" t="t" r="r" b="b"/>
            <a:pathLst>
              <a:path w="41550" h="37842">
                <a:moveTo>
                  <a:pt x="40712" y="33405"/>
                </a:moveTo>
                <a:lnTo>
                  <a:pt x="38436" y="18983"/>
                </a:lnTo>
                <a:lnTo>
                  <a:pt x="25744" y="5793"/>
                </a:lnTo>
                <a:lnTo>
                  <a:pt x="19398" y="5793"/>
                </a:lnTo>
                <a:lnTo>
                  <a:pt x="19398" y="123"/>
                </a:lnTo>
                <a:lnTo>
                  <a:pt x="16165" y="0"/>
                </a:lnTo>
                <a:lnTo>
                  <a:pt x="16045" y="3082"/>
                </a:lnTo>
                <a:lnTo>
                  <a:pt x="479" y="3205"/>
                </a:lnTo>
                <a:lnTo>
                  <a:pt x="0" y="4314"/>
                </a:lnTo>
                <a:lnTo>
                  <a:pt x="3353" y="4561"/>
                </a:lnTo>
                <a:lnTo>
                  <a:pt x="3353" y="7026"/>
                </a:lnTo>
                <a:lnTo>
                  <a:pt x="4550" y="6903"/>
                </a:lnTo>
                <a:lnTo>
                  <a:pt x="8023" y="37103"/>
                </a:lnTo>
                <a:lnTo>
                  <a:pt x="30055" y="37842"/>
                </a:lnTo>
                <a:lnTo>
                  <a:pt x="30055" y="36240"/>
                </a:lnTo>
                <a:lnTo>
                  <a:pt x="41550" y="35870"/>
                </a:lnTo>
                <a:lnTo>
                  <a:pt x="40712" y="33405"/>
                </a:lnTo>
                <a:close/>
              </a:path>
            </a:pathLst>
          </a:custGeom>
          <a:solidFill>
            <a:srgbClr val="ded5c5"/>
          </a:solidFill>
          <a:ln w="6191">
            <a:solidFill>
              <a:srgbClr val="b5a68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14" name="รวป. สามัคคี"/>
          <p:cNvSpPr/>
          <p:nvPr/>
        </p:nvSpPr>
        <p:spPr>
          <a:xfrm>
            <a:off x="6032160" y="2945520"/>
            <a:ext cx="20880" cy="37080"/>
          </a:xfrm>
          <a:custGeom>
            <a:avLst/>
            <a:gdLst/>
            <a:ahLst/>
            <a:rect l="l" t="t" r="r" b="b"/>
            <a:pathLst>
              <a:path w="21194" h="37472">
                <a:moveTo>
                  <a:pt x="11974" y="0"/>
                </a:moveTo>
                <a:lnTo>
                  <a:pt x="0" y="34761"/>
                </a:lnTo>
                <a:lnTo>
                  <a:pt x="12692" y="37472"/>
                </a:lnTo>
                <a:lnTo>
                  <a:pt x="21194" y="3821"/>
                </a:lnTo>
                <a:lnTo>
                  <a:pt x="11974" y="0"/>
                </a:lnTo>
                <a:close/>
              </a:path>
            </a:pathLst>
          </a:custGeom>
          <a:solidFill>
            <a:srgbClr val="ded5c5"/>
          </a:solidFill>
          <a:ln w="6191">
            <a:solidFill>
              <a:srgbClr val="b5a68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15" name="วัดลาดกระบังขุมทอง"/>
          <p:cNvSpPr/>
          <p:nvPr/>
        </p:nvSpPr>
        <p:spPr>
          <a:xfrm>
            <a:off x="9222840" y="5626440"/>
            <a:ext cx="88920" cy="63360"/>
          </a:xfrm>
          <a:custGeom>
            <a:avLst/>
            <a:gdLst/>
            <a:ahLst/>
            <a:rect l="l" t="t" r="r" b="b"/>
            <a:pathLst>
              <a:path w="89326" h="63728">
                <a:moveTo>
                  <a:pt x="24068" y="9861"/>
                </a:moveTo>
                <a:lnTo>
                  <a:pt x="7544" y="0"/>
                </a:lnTo>
                <a:lnTo>
                  <a:pt x="0" y="11217"/>
                </a:lnTo>
                <a:lnTo>
                  <a:pt x="77591" y="63728"/>
                </a:lnTo>
                <a:lnTo>
                  <a:pt x="89326" y="48196"/>
                </a:lnTo>
                <a:lnTo>
                  <a:pt x="24068" y="9861"/>
                </a:lnTo>
                <a:close/>
              </a:path>
            </a:pathLst>
          </a:custGeom>
          <a:solidFill>
            <a:srgbClr val="ded5c5"/>
          </a:solidFill>
          <a:ln w="6191">
            <a:solidFill>
              <a:srgbClr val="b5a68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16" name="นันทวันเซนต์ 2"/>
          <p:cNvSpPr/>
          <p:nvPr/>
        </p:nvSpPr>
        <p:spPr>
          <a:xfrm>
            <a:off x="9450360" y="4145040"/>
            <a:ext cx="38160" cy="141120"/>
          </a:xfrm>
          <a:custGeom>
            <a:avLst/>
            <a:gdLst/>
            <a:ahLst/>
            <a:rect l="l" t="t" r="r" b="b"/>
            <a:pathLst>
              <a:path w="38556" h="141508">
                <a:moveTo>
                  <a:pt x="7663" y="141508"/>
                </a:moveTo>
                <a:lnTo>
                  <a:pt x="38556" y="2465"/>
                </a:lnTo>
                <a:lnTo>
                  <a:pt x="28977" y="0"/>
                </a:lnTo>
                <a:lnTo>
                  <a:pt x="0" y="138426"/>
                </a:lnTo>
                <a:lnTo>
                  <a:pt x="7663" y="141508"/>
                </a:lnTo>
                <a:close/>
              </a:path>
            </a:pathLst>
          </a:custGeom>
          <a:solidFill>
            <a:srgbClr val="ded5c5"/>
          </a:solidFill>
          <a:ln w="6191">
            <a:solidFill>
              <a:srgbClr val="b5a68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17" name="เธียรทอง 1"/>
          <p:cNvSpPr/>
          <p:nvPr/>
        </p:nvSpPr>
        <p:spPr>
          <a:xfrm>
            <a:off x="9334440" y="4204800"/>
            <a:ext cx="13320" cy="66240"/>
          </a:xfrm>
          <a:custGeom>
            <a:avLst/>
            <a:gdLst/>
            <a:ahLst/>
            <a:rect l="l" t="t" r="r" b="b"/>
            <a:pathLst>
              <a:path w="13531" h="66563">
                <a:moveTo>
                  <a:pt x="0" y="66563"/>
                </a:moveTo>
                <a:lnTo>
                  <a:pt x="5987" y="63235"/>
                </a:lnTo>
                <a:lnTo>
                  <a:pt x="13531" y="740"/>
                </a:lnTo>
                <a:lnTo>
                  <a:pt x="8980" y="0"/>
                </a:lnTo>
                <a:lnTo>
                  <a:pt x="0" y="66563"/>
                </a:lnTo>
                <a:close/>
              </a:path>
            </a:pathLst>
          </a:custGeom>
          <a:solidFill>
            <a:srgbClr val="ded5c5"/>
          </a:solidFill>
          <a:ln w="6191">
            <a:solidFill>
              <a:srgbClr val="b5a68d"/>
            </a:solidFill>
            <a:round/>
          </a:ln>
        </p:spPr>
        <p:style>
          <a:lnRef idx="0"/>
          <a:fillRef idx="0"/>
          <a:effectRef idx="0"/>
          <a:fontRef idx="minor"/>
        </p:style>
        <p:txBody>
          <a:bodyPr lIns="90000" rIns="90000" tIns="21240" bIns="21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18" name="โรงช้าง"/>
          <p:cNvSpPr/>
          <p:nvPr/>
        </p:nvSpPr>
        <p:spPr>
          <a:xfrm>
            <a:off x="8181000" y="4168800"/>
            <a:ext cx="12960" cy="14040"/>
          </a:xfrm>
          <a:custGeom>
            <a:avLst/>
            <a:gdLst/>
            <a:ahLst/>
            <a:rect l="l" t="t" r="r" b="b"/>
            <a:pathLst>
              <a:path w="13411" h="14299">
                <a:moveTo>
                  <a:pt x="4790" y="14299"/>
                </a:moveTo>
                <a:lnTo>
                  <a:pt x="12812" y="11217"/>
                </a:lnTo>
                <a:lnTo>
                  <a:pt x="13411" y="0"/>
                </a:lnTo>
                <a:lnTo>
                  <a:pt x="0" y="4561"/>
                </a:lnTo>
                <a:lnTo>
                  <a:pt x="4790" y="14299"/>
                </a:lnTo>
                <a:close/>
              </a:path>
            </a:pathLst>
          </a:custGeom>
          <a:solidFill>
            <a:srgbClr val="ded5c5"/>
          </a:solidFill>
          <a:ln w="6191">
            <a:solidFill>
              <a:srgbClr val="b5a68d"/>
            </a:solidFill>
            <a:round/>
          </a:ln>
        </p:spPr>
        <p:style>
          <a:lnRef idx="0"/>
          <a:fillRef idx="0"/>
          <a:effectRef idx="0"/>
          <a:fontRef idx="minor"/>
        </p:style>
        <p:txBody>
          <a:bodyPr lIns="90000" rIns="90000" tIns="-30960" bIns="-30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19" name="ชุมชนวัดสามพระยา"/>
          <p:cNvSpPr/>
          <p:nvPr/>
        </p:nvSpPr>
        <p:spPr>
          <a:xfrm>
            <a:off x="4876200" y="5171400"/>
            <a:ext cx="13320" cy="24120"/>
          </a:xfrm>
          <a:custGeom>
            <a:avLst/>
            <a:gdLst/>
            <a:ahLst/>
            <a:rect l="l" t="t" r="r" b="b"/>
            <a:pathLst>
              <a:path w="13650" h="24406">
                <a:moveTo>
                  <a:pt x="6825" y="24406"/>
                </a:moveTo>
                <a:lnTo>
                  <a:pt x="10417" y="16024"/>
                </a:lnTo>
                <a:lnTo>
                  <a:pt x="9340" y="14299"/>
                </a:lnTo>
                <a:lnTo>
                  <a:pt x="13650" y="7519"/>
                </a:lnTo>
                <a:lnTo>
                  <a:pt x="3712" y="0"/>
                </a:lnTo>
                <a:lnTo>
                  <a:pt x="0" y="4931"/>
                </a:lnTo>
                <a:lnTo>
                  <a:pt x="4790" y="13559"/>
                </a:lnTo>
                <a:lnTo>
                  <a:pt x="2993" y="16024"/>
                </a:lnTo>
                <a:lnTo>
                  <a:pt x="4430" y="17257"/>
                </a:lnTo>
                <a:lnTo>
                  <a:pt x="2036" y="21202"/>
                </a:lnTo>
                <a:lnTo>
                  <a:pt x="6825" y="24406"/>
                </a:lnTo>
                <a:close/>
              </a:path>
            </a:pathLst>
          </a:custGeom>
          <a:solidFill>
            <a:srgbClr val="f2c8ad"/>
          </a:solidFill>
          <a:ln w="6191">
            <a:solidFill>
              <a:srgbClr val="b7633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20" name="ซอยโซดา"/>
          <p:cNvSpPr/>
          <p:nvPr/>
        </p:nvSpPr>
        <p:spPr>
          <a:xfrm>
            <a:off x="5069160" y="5005080"/>
            <a:ext cx="30960" cy="16920"/>
          </a:xfrm>
          <a:custGeom>
            <a:avLst/>
            <a:gdLst/>
            <a:ahLst/>
            <a:rect l="l" t="t" r="r" b="b"/>
            <a:pathLst>
              <a:path w="31492" h="17134">
                <a:moveTo>
                  <a:pt x="1317" y="4684"/>
                </a:moveTo>
                <a:lnTo>
                  <a:pt x="0" y="8135"/>
                </a:lnTo>
                <a:lnTo>
                  <a:pt x="3951" y="9738"/>
                </a:lnTo>
                <a:lnTo>
                  <a:pt x="1437" y="15038"/>
                </a:lnTo>
                <a:lnTo>
                  <a:pt x="6466" y="17134"/>
                </a:lnTo>
                <a:lnTo>
                  <a:pt x="8382" y="10724"/>
                </a:lnTo>
                <a:lnTo>
                  <a:pt x="26822" y="17134"/>
                </a:lnTo>
                <a:lnTo>
                  <a:pt x="31492" y="6780"/>
                </a:lnTo>
                <a:lnTo>
                  <a:pt x="25624" y="6410"/>
                </a:lnTo>
                <a:lnTo>
                  <a:pt x="16764" y="0"/>
                </a:lnTo>
                <a:lnTo>
                  <a:pt x="12213" y="8875"/>
                </a:lnTo>
                <a:lnTo>
                  <a:pt x="1317" y="4684"/>
                </a:lnTo>
                <a:close/>
              </a:path>
            </a:pathLst>
          </a:custGeom>
          <a:solidFill>
            <a:srgbClr val="f2c8ad"/>
          </a:solidFill>
          <a:ln w="6191">
            <a:solidFill>
              <a:srgbClr val="b7633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21" name="ท่าน้ำสามเสน"/>
          <p:cNvSpPr/>
          <p:nvPr/>
        </p:nvSpPr>
        <p:spPr>
          <a:xfrm>
            <a:off x="4967280" y="4955400"/>
            <a:ext cx="36720" cy="31320"/>
          </a:xfrm>
          <a:custGeom>
            <a:avLst/>
            <a:gdLst/>
            <a:ahLst/>
            <a:rect l="l" t="t" r="r" b="b"/>
            <a:pathLst>
              <a:path w="37119" h="31679">
                <a:moveTo>
                  <a:pt x="14608" y="24776"/>
                </a:moveTo>
                <a:lnTo>
                  <a:pt x="29935" y="31679"/>
                </a:lnTo>
                <a:lnTo>
                  <a:pt x="37119" y="18366"/>
                </a:lnTo>
                <a:lnTo>
                  <a:pt x="29456" y="14422"/>
                </a:lnTo>
                <a:lnTo>
                  <a:pt x="27540" y="7519"/>
                </a:lnTo>
                <a:lnTo>
                  <a:pt x="15087" y="0"/>
                </a:lnTo>
                <a:lnTo>
                  <a:pt x="0" y="26872"/>
                </a:lnTo>
                <a:lnTo>
                  <a:pt x="7663" y="30939"/>
                </a:lnTo>
                <a:lnTo>
                  <a:pt x="9100" y="27488"/>
                </a:lnTo>
                <a:lnTo>
                  <a:pt x="13171" y="27981"/>
                </a:lnTo>
                <a:lnTo>
                  <a:pt x="14608" y="24776"/>
                </a:lnTo>
                <a:close/>
              </a:path>
            </a:pathLst>
          </a:custGeom>
          <a:solidFill>
            <a:srgbClr val="f2c8ad"/>
          </a:solidFill>
          <a:ln w="6191">
            <a:solidFill>
              <a:srgbClr val="b7633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22" name="ชาววัดราชา"/>
          <p:cNvSpPr/>
          <p:nvPr/>
        </p:nvSpPr>
        <p:spPr>
          <a:xfrm>
            <a:off x="4969440" y="5070960"/>
            <a:ext cx="18720" cy="11880"/>
          </a:xfrm>
          <a:custGeom>
            <a:avLst/>
            <a:gdLst/>
            <a:ahLst/>
            <a:rect l="l" t="t" r="r" b="b"/>
            <a:pathLst>
              <a:path w="19039" h="12203">
                <a:moveTo>
                  <a:pt x="0" y="5917"/>
                </a:moveTo>
                <a:lnTo>
                  <a:pt x="17123" y="12203"/>
                </a:lnTo>
                <a:lnTo>
                  <a:pt x="19039" y="6410"/>
                </a:lnTo>
                <a:lnTo>
                  <a:pt x="1676" y="0"/>
                </a:lnTo>
                <a:lnTo>
                  <a:pt x="0" y="5917"/>
                </a:lnTo>
                <a:close/>
              </a:path>
            </a:pathLst>
          </a:custGeom>
          <a:solidFill>
            <a:srgbClr val="f2c8ad"/>
          </a:solidFill>
          <a:ln w="6191">
            <a:solidFill>
              <a:srgbClr val="b7633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23" name="ราชผาทับทิมร่วมใจ"/>
          <p:cNvSpPr/>
          <p:nvPr/>
        </p:nvSpPr>
        <p:spPr>
          <a:xfrm>
            <a:off x="4953240" y="5006520"/>
            <a:ext cx="21240" cy="20520"/>
          </a:xfrm>
          <a:custGeom>
            <a:avLst/>
            <a:gdLst/>
            <a:ahLst/>
            <a:rect l="l" t="t" r="r" b="b"/>
            <a:pathLst>
              <a:path w="21553" h="20832">
                <a:moveTo>
                  <a:pt x="1557" y="6903"/>
                </a:moveTo>
                <a:lnTo>
                  <a:pt x="0" y="14668"/>
                </a:lnTo>
                <a:lnTo>
                  <a:pt x="10417" y="16887"/>
                </a:lnTo>
                <a:lnTo>
                  <a:pt x="9459" y="19106"/>
                </a:lnTo>
                <a:lnTo>
                  <a:pt x="12812" y="20832"/>
                </a:lnTo>
                <a:lnTo>
                  <a:pt x="19398" y="20462"/>
                </a:lnTo>
                <a:lnTo>
                  <a:pt x="21553" y="16148"/>
                </a:lnTo>
                <a:lnTo>
                  <a:pt x="5269" y="7889"/>
                </a:lnTo>
                <a:lnTo>
                  <a:pt x="7903" y="1849"/>
                </a:lnTo>
                <a:lnTo>
                  <a:pt x="3712" y="0"/>
                </a:lnTo>
                <a:lnTo>
                  <a:pt x="1557" y="6903"/>
                </a:lnTo>
                <a:close/>
              </a:path>
            </a:pathLst>
          </a:custGeom>
          <a:solidFill>
            <a:srgbClr val="f2c8ad"/>
          </a:solidFill>
          <a:ln w="6191">
            <a:solidFill>
              <a:srgbClr val="b7633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24" name="ข้างวัดสุคันธาราม"/>
          <p:cNvSpPr/>
          <p:nvPr/>
        </p:nvSpPr>
        <p:spPr>
          <a:xfrm>
            <a:off x="5185080" y="5048280"/>
            <a:ext cx="13320" cy="19800"/>
          </a:xfrm>
          <a:custGeom>
            <a:avLst/>
            <a:gdLst/>
            <a:ahLst/>
            <a:rect l="l" t="t" r="r" b="b"/>
            <a:pathLst>
              <a:path w="13650" h="20092">
                <a:moveTo>
                  <a:pt x="11974" y="17997"/>
                </a:moveTo>
                <a:lnTo>
                  <a:pt x="13650" y="9861"/>
                </a:lnTo>
                <a:lnTo>
                  <a:pt x="8980" y="1109"/>
                </a:lnTo>
                <a:lnTo>
                  <a:pt x="5029" y="0"/>
                </a:lnTo>
                <a:lnTo>
                  <a:pt x="1437" y="10231"/>
                </a:lnTo>
                <a:lnTo>
                  <a:pt x="120" y="9861"/>
                </a:lnTo>
                <a:lnTo>
                  <a:pt x="0" y="14545"/>
                </a:lnTo>
                <a:lnTo>
                  <a:pt x="11256" y="20092"/>
                </a:lnTo>
                <a:lnTo>
                  <a:pt x="11974" y="17997"/>
                </a:lnTo>
                <a:close/>
              </a:path>
            </a:pathLst>
          </a:custGeom>
          <a:solidFill>
            <a:srgbClr val="f2c8ad"/>
          </a:solidFill>
          <a:ln w="6191">
            <a:solidFill>
              <a:srgbClr val="b7633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25" name="ท่าวัง"/>
          <p:cNvSpPr/>
          <p:nvPr/>
        </p:nvSpPr>
        <p:spPr>
          <a:xfrm>
            <a:off x="4769280" y="5342040"/>
            <a:ext cx="12240" cy="4320"/>
          </a:xfrm>
          <a:custGeom>
            <a:avLst/>
            <a:gdLst/>
            <a:ahLst/>
            <a:rect l="l" t="t" r="r" b="b"/>
            <a:pathLst>
              <a:path w="12573" h="4684">
                <a:moveTo>
                  <a:pt x="0" y="1972"/>
                </a:moveTo>
                <a:lnTo>
                  <a:pt x="120" y="3205"/>
                </a:lnTo>
                <a:lnTo>
                  <a:pt x="3712" y="4684"/>
                </a:lnTo>
                <a:lnTo>
                  <a:pt x="11495" y="4684"/>
                </a:lnTo>
                <a:lnTo>
                  <a:pt x="12573" y="3451"/>
                </a:lnTo>
                <a:lnTo>
                  <a:pt x="12573" y="1602"/>
                </a:lnTo>
                <a:lnTo>
                  <a:pt x="4311" y="1233"/>
                </a:lnTo>
                <a:lnTo>
                  <a:pt x="2874" y="0"/>
                </a:lnTo>
                <a:lnTo>
                  <a:pt x="1197" y="0"/>
                </a:lnTo>
                <a:lnTo>
                  <a:pt x="0" y="1972"/>
                </a:lnTo>
                <a:close/>
              </a:path>
            </a:pathLst>
          </a:custGeom>
          <a:solidFill>
            <a:srgbClr val="f2c8ad"/>
          </a:solidFill>
          <a:ln w="6191">
            <a:solidFill>
              <a:srgbClr val="b7633d"/>
            </a:solidFill>
            <a:round/>
          </a:ln>
        </p:spPr>
        <p:style>
          <a:lnRef idx="0"/>
          <a:fillRef idx="0"/>
          <a:effectRef idx="0"/>
          <a:fontRef idx="minor"/>
        </p:style>
        <p:txBody>
          <a:bodyPr lIns="90000" rIns="90000" tIns="-40680" bIns="-40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26" name="มัสยิดจักรพงษ์"/>
          <p:cNvSpPr/>
          <p:nvPr/>
        </p:nvSpPr>
        <p:spPr>
          <a:xfrm>
            <a:off x="4865400" y="5247720"/>
            <a:ext cx="7920" cy="5400"/>
          </a:xfrm>
          <a:custGeom>
            <a:avLst/>
            <a:gdLst/>
            <a:ahLst/>
            <a:rect l="l" t="t" r="r" b="b"/>
            <a:pathLst>
              <a:path w="8382" h="5917">
                <a:moveTo>
                  <a:pt x="7544" y="0"/>
                </a:moveTo>
                <a:lnTo>
                  <a:pt x="4909" y="2465"/>
                </a:lnTo>
                <a:lnTo>
                  <a:pt x="3712" y="1233"/>
                </a:lnTo>
                <a:lnTo>
                  <a:pt x="3472" y="2958"/>
                </a:lnTo>
                <a:lnTo>
                  <a:pt x="0" y="3451"/>
                </a:lnTo>
                <a:lnTo>
                  <a:pt x="4311" y="3575"/>
                </a:lnTo>
                <a:lnTo>
                  <a:pt x="3353" y="5917"/>
                </a:lnTo>
                <a:lnTo>
                  <a:pt x="8382" y="986"/>
                </a:lnTo>
                <a:lnTo>
                  <a:pt x="7544" y="0"/>
                </a:lnTo>
                <a:close/>
              </a:path>
            </a:pathLst>
          </a:custGeom>
          <a:solidFill>
            <a:srgbClr val="f2c8ad"/>
          </a:solidFill>
          <a:ln w="6191">
            <a:solidFill>
              <a:srgbClr val="b7633d"/>
            </a:solidFill>
            <a:round/>
          </a:ln>
        </p:spPr>
        <p:style>
          <a:lnRef idx="0"/>
          <a:fillRef idx="0"/>
          <a:effectRef idx="0"/>
          <a:fontRef idx="minor"/>
        </p:style>
        <p:txBody>
          <a:bodyPr lIns="90000" rIns="90000" tIns="-39600" bIns="-39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27" name="ตรอกบ้านพานถม"/>
          <p:cNvSpPr/>
          <p:nvPr/>
        </p:nvSpPr>
        <p:spPr>
          <a:xfrm>
            <a:off x="4943160" y="5244120"/>
            <a:ext cx="39960" cy="41400"/>
          </a:xfrm>
          <a:custGeom>
            <a:avLst/>
            <a:gdLst/>
            <a:ahLst/>
            <a:rect l="l" t="t" r="r" b="b"/>
            <a:pathLst>
              <a:path w="40233" h="41663">
                <a:moveTo>
                  <a:pt x="37479" y="25886"/>
                </a:moveTo>
                <a:lnTo>
                  <a:pt x="35563" y="23544"/>
                </a:lnTo>
                <a:lnTo>
                  <a:pt x="37359" y="20708"/>
                </a:lnTo>
                <a:lnTo>
                  <a:pt x="20116" y="10477"/>
                </a:lnTo>
                <a:lnTo>
                  <a:pt x="22152" y="7642"/>
                </a:lnTo>
                <a:lnTo>
                  <a:pt x="21074" y="5670"/>
                </a:lnTo>
                <a:lnTo>
                  <a:pt x="11615" y="0"/>
                </a:lnTo>
                <a:lnTo>
                  <a:pt x="0" y="20339"/>
                </a:lnTo>
                <a:lnTo>
                  <a:pt x="16045" y="30939"/>
                </a:lnTo>
                <a:lnTo>
                  <a:pt x="21433" y="41663"/>
                </a:lnTo>
                <a:lnTo>
                  <a:pt x="40233" y="30570"/>
                </a:lnTo>
                <a:lnTo>
                  <a:pt x="37479" y="25886"/>
                </a:lnTo>
                <a:close/>
              </a:path>
            </a:pathLst>
          </a:custGeom>
          <a:solidFill>
            <a:srgbClr val="f2c8ad"/>
          </a:solidFill>
          <a:ln w="6191">
            <a:solidFill>
              <a:srgbClr val="b7633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28" name="ชุมชนวัดอินทรวิหาร"/>
          <p:cNvSpPr/>
          <p:nvPr/>
        </p:nvSpPr>
        <p:spPr>
          <a:xfrm>
            <a:off x="4928400" y="5162040"/>
            <a:ext cx="30600" cy="35280"/>
          </a:xfrm>
          <a:custGeom>
            <a:avLst/>
            <a:gdLst/>
            <a:ahLst/>
            <a:rect l="l" t="t" r="r" b="b"/>
            <a:pathLst>
              <a:path w="30893" h="35623">
                <a:moveTo>
                  <a:pt x="3712" y="22064"/>
                </a:moveTo>
                <a:lnTo>
                  <a:pt x="8861" y="24653"/>
                </a:lnTo>
                <a:lnTo>
                  <a:pt x="7663" y="25269"/>
                </a:lnTo>
                <a:lnTo>
                  <a:pt x="11735" y="32665"/>
                </a:lnTo>
                <a:lnTo>
                  <a:pt x="15087" y="32295"/>
                </a:lnTo>
                <a:lnTo>
                  <a:pt x="18200" y="35623"/>
                </a:lnTo>
                <a:lnTo>
                  <a:pt x="21194" y="27981"/>
                </a:lnTo>
                <a:lnTo>
                  <a:pt x="23708" y="28721"/>
                </a:lnTo>
                <a:lnTo>
                  <a:pt x="23948" y="27488"/>
                </a:lnTo>
                <a:lnTo>
                  <a:pt x="21553" y="26625"/>
                </a:lnTo>
                <a:lnTo>
                  <a:pt x="22391" y="24160"/>
                </a:lnTo>
                <a:lnTo>
                  <a:pt x="26343" y="25023"/>
                </a:lnTo>
                <a:lnTo>
                  <a:pt x="26702" y="23297"/>
                </a:lnTo>
                <a:lnTo>
                  <a:pt x="22751" y="22434"/>
                </a:lnTo>
                <a:lnTo>
                  <a:pt x="24427" y="15408"/>
                </a:lnTo>
                <a:lnTo>
                  <a:pt x="29097" y="16764"/>
                </a:lnTo>
                <a:lnTo>
                  <a:pt x="30893" y="10231"/>
                </a:lnTo>
                <a:lnTo>
                  <a:pt x="25984" y="9368"/>
                </a:lnTo>
                <a:lnTo>
                  <a:pt x="26103" y="4931"/>
                </a:lnTo>
                <a:lnTo>
                  <a:pt x="23948" y="4314"/>
                </a:lnTo>
                <a:lnTo>
                  <a:pt x="24187" y="1602"/>
                </a:lnTo>
                <a:lnTo>
                  <a:pt x="14489" y="0"/>
                </a:lnTo>
                <a:lnTo>
                  <a:pt x="9699" y="5547"/>
                </a:lnTo>
                <a:lnTo>
                  <a:pt x="8382" y="10231"/>
                </a:lnTo>
                <a:lnTo>
                  <a:pt x="5149" y="8875"/>
                </a:lnTo>
                <a:lnTo>
                  <a:pt x="3951" y="11464"/>
                </a:lnTo>
                <a:lnTo>
                  <a:pt x="2275" y="10971"/>
                </a:lnTo>
                <a:lnTo>
                  <a:pt x="0" y="13559"/>
                </a:lnTo>
                <a:lnTo>
                  <a:pt x="4909" y="16148"/>
                </a:lnTo>
                <a:lnTo>
                  <a:pt x="3712" y="22064"/>
                </a:lnTo>
                <a:close/>
              </a:path>
            </a:pathLst>
          </a:custGeom>
          <a:solidFill>
            <a:srgbClr val="f2c8ad"/>
          </a:solidFill>
          <a:ln w="6191">
            <a:solidFill>
              <a:srgbClr val="b7633d"/>
            </a:solidFill>
            <a:round/>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29" name="ริมทางรถไฟสายแปดริ้ว"/>
          <p:cNvSpPr/>
          <p:nvPr/>
        </p:nvSpPr>
        <p:spPr>
          <a:xfrm>
            <a:off x="5127120" y="5301720"/>
            <a:ext cx="29160" cy="51480"/>
          </a:xfrm>
          <a:custGeom>
            <a:avLst/>
            <a:gdLst/>
            <a:ahLst/>
            <a:rect l="l" t="t" r="r" b="b"/>
            <a:pathLst>
              <a:path w="29456" h="51894">
                <a:moveTo>
                  <a:pt x="24666" y="6780"/>
                </a:moveTo>
                <a:lnTo>
                  <a:pt x="14967" y="32295"/>
                </a:lnTo>
                <a:lnTo>
                  <a:pt x="10417" y="32172"/>
                </a:lnTo>
                <a:lnTo>
                  <a:pt x="9699" y="29953"/>
                </a:lnTo>
                <a:lnTo>
                  <a:pt x="359" y="29707"/>
                </a:lnTo>
                <a:lnTo>
                  <a:pt x="0" y="32665"/>
                </a:lnTo>
                <a:lnTo>
                  <a:pt x="2515" y="33281"/>
                </a:lnTo>
                <a:lnTo>
                  <a:pt x="1317" y="36856"/>
                </a:lnTo>
                <a:lnTo>
                  <a:pt x="4550" y="37842"/>
                </a:lnTo>
                <a:lnTo>
                  <a:pt x="1437" y="49676"/>
                </a:lnTo>
                <a:lnTo>
                  <a:pt x="9340" y="51894"/>
                </a:lnTo>
                <a:lnTo>
                  <a:pt x="29456" y="616"/>
                </a:lnTo>
                <a:lnTo>
                  <a:pt x="27660" y="0"/>
                </a:lnTo>
                <a:lnTo>
                  <a:pt x="24666" y="6780"/>
                </a:lnTo>
                <a:close/>
              </a:path>
            </a:pathLst>
          </a:custGeom>
          <a:solidFill>
            <a:srgbClr val="f2c8ad"/>
          </a:solidFill>
          <a:ln w="6191">
            <a:solidFill>
              <a:srgbClr val="b7633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30" name="ชุมชนวัดประชาระบือธรรม 4"/>
          <p:cNvSpPr/>
          <p:nvPr/>
        </p:nvSpPr>
        <p:spPr>
          <a:xfrm>
            <a:off x="5150520" y="4885920"/>
            <a:ext cx="27000" cy="11880"/>
          </a:xfrm>
          <a:custGeom>
            <a:avLst/>
            <a:gdLst/>
            <a:ahLst/>
            <a:rect l="l" t="t" r="r" b="b"/>
            <a:pathLst>
              <a:path w="27420" h="12326">
                <a:moveTo>
                  <a:pt x="0" y="4684"/>
                </a:moveTo>
                <a:lnTo>
                  <a:pt x="17602" y="10724"/>
                </a:lnTo>
                <a:lnTo>
                  <a:pt x="27301" y="12326"/>
                </a:lnTo>
                <a:lnTo>
                  <a:pt x="27420" y="8505"/>
                </a:lnTo>
                <a:lnTo>
                  <a:pt x="1796" y="0"/>
                </a:lnTo>
                <a:lnTo>
                  <a:pt x="0" y="4684"/>
                </a:lnTo>
                <a:close/>
              </a:path>
            </a:pathLst>
          </a:custGeom>
          <a:solidFill>
            <a:srgbClr val="f2c8ad"/>
          </a:solidFill>
          <a:ln w="6191">
            <a:solidFill>
              <a:srgbClr val="b7633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31" name="ชาวบางกระบือ 14"/>
          <p:cNvSpPr/>
          <p:nvPr/>
        </p:nvSpPr>
        <p:spPr>
          <a:xfrm>
            <a:off x="5091840" y="4881600"/>
            <a:ext cx="26280" cy="21240"/>
          </a:xfrm>
          <a:custGeom>
            <a:avLst/>
            <a:gdLst/>
            <a:ahLst/>
            <a:rect l="l" t="t" r="r" b="b"/>
            <a:pathLst>
              <a:path w="26702" h="21571">
                <a:moveTo>
                  <a:pt x="0" y="9245"/>
                </a:moveTo>
                <a:lnTo>
                  <a:pt x="21314" y="21571"/>
                </a:lnTo>
                <a:lnTo>
                  <a:pt x="26702" y="10477"/>
                </a:lnTo>
                <a:lnTo>
                  <a:pt x="25385" y="7889"/>
                </a:lnTo>
                <a:lnTo>
                  <a:pt x="24666" y="8998"/>
                </a:lnTo>
                <a:lnTo>
                  <a:pt x="6466" y="0"/>
                </a:lnTo>
                <a:lnTo>
                  <a:pt x="0" y="9245"/>
                </a:lnTo>
                <a:close/>
              </a:path>
            </a:pathLst>
          </a:custGeom>
          <a:solidFill>
            <a:srgbClr val="f2c8ad"/>
          </a:solidFill>
          <a:ln w="6191">
            <a:solidFill>
              <a:srgbClr val="b7633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32" name="พัฒนาซอยระนองกลาง"/>
          <p:cNvSpPr/>
          <p:nvPr/>
        </p:nvSpPr>
        <p:spPr>
          <a:xfrm>
            <a:off x="5231160" y="4903560"/>
            <a:ext cx="24840" cy="20160"/>
          </a:xfrm>
          <a:custGeom>
            <a:avLst/>
            <a:gdLst/>
            <a:ahLst/>
            <a:rect l="l" t="t" r="r" b="b"/>
            <a:pathLst>
              <a:path w="25145" h="20585">
                <a:moveTo>
                  <a:pt x="0" y="16394"/>
                </a:moveTo>
                <a:lnTo>
                  <a:pt x="10058" y="20585"/>
                </a:lnTo>
                <a:lnTo>
                  <a:pt x="10896" y="18490"/>
                </a:lnTo>
                <a:lnTo>
                  <a:pt x="12812" y="19229"/>
                </a:lnTo>
                <a:lnTo>
                  <a:pt x="13531" y="17011"/>
                </a:lnTo>
                <a:lnTo>
                  <a:pt x="15806" y="17380"/>
                </a:lnTo>
                <a:lnTo>
                  <a:pt x="16644" y="15408"/>
                </a:lnTo>
                <a:lnTo>
                  <a:pt x="18799" y="16148"/>
                </a:lnTo>
                <a:lnTo>
                  <a:pt x="18200" y="18859"/>
                </a:lnTo>
                <a:lnTo>
                  <a:pt x="19997" y="19846"/>
                </a:lnTo>
                <a:lnTo>
                  <a:pt x="19877" y="16887"/>
                </a:lnTo>
                <a:lnTo>
                  <a:pt x="21553" y="13559"/>
                </a:lnTo>
                <a:lnTo>
                  <a:pt x="22631" y="13806"/>
                </a:lnTo>
                <a:lnTo>
                  <a:pt x="25145" y="7026"/>
                </a:lnTo>
                <a:lnTo>
                  <a:pt x="8023" y="0"/>
                </a:lnTo>
                <a:lnTo>
                  <a:pt x="0" y="16394"/>
                </a:lnTo>
                <a:close/>
              </a:path>
            </a:pathLst>
          </a:custGeom>
          <a:solidFill>
            <a:srgbClr val="f2c8ad"/>
          </a:solidFill>
          <a:ln w="6191">
            <a:solidFill>
              <a:srgbClr val="b7633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33" name="ซอยหลังวัดหัวลำโพง"/>
          <p:cNvSpPr/>
          <p:nvPr/>
        </p:nvSpPr>
        <p:spPr>
          <a:xfrm>
            <a:off x="5249160" y="5621760"/>
            <a:ext cx="10440" cy="15840"/>
          </a:xfrm>
          <a:custGeom>
            <a:avLst/>
            <a:gdLst/>
            <a:ahLst/>
            <a:rect l="l" t="t" r="r" b="b"/>
            <a:pathLst>
              <a:path w="10896" h="16271">
                <a:moveTo>
                  <a:pt x="3712" y="16271"/>
                </a:moveTo>
                <a:lnTo>
                  <a:pt x="9938" y="13313"/>
                </a:lnTo>
                <a:lnTo>
                  <a:pt x="5628" y="3944"/>
                </a:lnTo>
                <a:lnTo>
                  <a:pt x="10896" y="1109"/>
                </a:lnTo>
                <a:lnTo>
                  <a:pt x="10298" y="0"/>
                </a:lnTo>
                <a:lnTo>
                  <a:pt x="2036" y="2342"/>
                </a:lnTo>
                <a:lnTo>
                  <a:pt x="3113" y="6040"/>
                </a:lnTo>
                <a:lnTo>
                  <a:pt x="0" y="7026"/>
                </a:lnTo>
                <a:lnTo>
                  <a:pt x="3712" y="16271"/>
                </a:lnTo>
                <a:close/>
              </a:path>
            </a:pathLst>
          </a:custGeom>
          <a:solidFill>
            <a:srgbClr val="f2c8ad"/>
          </a:solidFill>
          <a:ln w="6191">
            <a:solidFill>
              <a:srgbClr val="b7633d"/>
            </a:solidFill>
            <a:round/>
          </a:ln>
        </p:spPr>
        <p:style>
          <a:lnRef idx="0"/>
          <a:fillRef idx="0"/>
          <a:effectRef idx="0"/>
          <a:fontRef idx="minor"/>
        </p:style>
        <p:txBody>
          <a:bodyPr lIns="90000" rIns="90000" tIns="-29160" bIns="-29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34" name="ร่วมใจพัฒนากลาง"/>
          <p:cNvSpPr/>
          <p:nvPr/>
        </p:nvSpPr>
        <p:spPr>
          <a:xfrm>
            <a:off x="6042240" y="3657600"/>
            <a:ext cx="41040" cy="35640"/>
          </a:xfrm>
          <a:custGeom>
            <a:avLst/>
            <a:gdLst/>
            <a:ahLst/>
            <a:rect l="l" t="t" r="r" b="b"/>
            <a:pathLst>
              <a:path w="41430" h="36117">
                <a:moveTo>
                  <a:pt x="0" y="34391"/>
                </a:moveTo>
                <a:lnTo>
                  <a:pt x="2275" y="36117"/>
                </a:lnTo>
                <a:lnTo>
                  <a:pt x="3472" y="35254"/>
                </a:lnTo>
                <a:lnTo>
                  <a:pt x="17123" y="21202"/>
                </a:lnTo>
                <a:lnTo>
                  <a:pt x="41430" y="1849"/>
                </a:lnTo>
                <a:lnTo>
                  <a:pt x="40352" y="0"/>
                </a:lnTo>
                <a:lnTo>
                  <a:pt x="21433" y="13682"/>
                </a:lnTo>
                <a:lnTo>
                  <a:pt x="0" y="34391"/>
                </a:lnTo>
                <a:close/>
              </a:path>
            </a:pathLst>
          </a:custGeom>
          <a:solidFill>
            <a:srgbClr val="f2c8ad"/>
          </a:solidFill>
          <a:ln w="6191">
            <a:solidFill>
              <a:srgbClr val="b7633d"/>
            </a:solidFill>
            <a:round/>
          </a:ln>
        </p:spPr>
        <p:style>
          <a:lnRef idx="0"/>
          <a:fillRef idx="0"/>
          <a:effectRef idx="0"/>
          <a:fontRef idx="minor"/>
        </p:style>
        <p:txBody>
          <a:bodyPr lIns="90000" rIns="90000" tIns="-9360" bIns="-9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35" name="ร่วมใจพัฒนา (เหนือ)"/>
          <p:cNvSpPr/>
          <p:nvPr/>
        </p:nvSpPr>
        <p:spPr>
          <a:xfrm>
            <a:off x="6084720" y="3574800"/>
            <a:ext cx="108000" cy="83160"/>
          </a:xfrm>
          <a:custGeom>
            <a:avLst/>
            <a:gdLst/>
            <a:ahLst/>
            <a:rect l="l" t="t" r="r" b="b"/>
            <a:pathLst>
              <a:path w="108484" h="83573">
                <a:moveTo>
                  <a:pt x="8142" y="73712"/>
                </a:moveTo>
                <a:lnTo>
                  <a:pt x="0" y="79876"/>
                </a:lnTo>
                <a:lnTo>
                  <a:pt x="0" y="83573"/>
                </a:lnTo>
                <a:lnTo>
                  <a:pt x="9100" y="77287"/>
                </a:lnTo>
                <a:lnTo>
                  <a:pt x="10537" y="78027"/>
                </a:lnTo>
                <a:lnTo>
                  <a:pt x="11016" y="76178"/>
                </a:lnTo>
                <a:lnTo>
                  <a:pt x="28738" y="64344"/>
                </a:lnTo>
                <a:lnTo>
                  <a:pt x="31731" y="64714"/>
                </a:lnTo>
                <a:lnTo>
                  <a:pt x="31013" y="63235"/>
                </a:lnTo>
                <a:lnTo>
                  <a:pt x="32928" y="61756"/>
                </a:lnTo>
                <a:lnTo>
                  <a:pt x="93158" y="20585"/>
                </a:lnTo>
                <a:lnTo>
                  <a:pt x="108484" y="2835"/>
                </a:lnTo>
                <a:lnTo>
                  <a:pt x="106688" y="0"/>
                </a:lnTo>
                <a:lnTo>
                  <a:pt x="104174" y="247"/>
                </a:lnTo>
                <a:lnTo>
                  <a:pt x="89326" y="19476"/>
                </a:lnTo>
                <a:lnTo>
                  <a:pt x="71844" y="29830"/>
                </a:lnTo>
                <a:lnTo>
                  <a:pt x="53883" y="43882"/>
                </a:lnTo>
                <a:lnTo>
                  <a:pt x="8142" y="73712"/>
                </a:lnTo>
                <a:close/>
              </a:path>
            </a:pathLst>
          </a:custGeom>
          <a:solidFill>
            <a:srgbClr val="f2c8ad"/>
          </a:solidFill>
          <a:ln w="6191">
            <a:solidFill>
              <a:srgbClr val="b7633d"/>
            </a:solidFill>
            <a:round/>
          </a:ln>
        </p:spPr>
        <p:style>
          <a:lnRef idx="0"/>
          <a:fillRef idx="0"/>
          <a:effectRef idx="0"/>
          <a:fontRef idx="minor"/>
        </p:style>
        <p:txBody>
          <a:bodyPr lIns="90000" rIns="90000" tIns="38160" bIns="38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36" name="ร้อยกรอง"/>
          <p:cNvSpPr/>
          <p:nvPr/>
        </p:nvSpPr>
        <p:spPr>
          <a:xfrm>
            <a:off x="5958360" y="3782160"/>
            <a:ext cx="11160" cy="69480"/>
          </a:xfrm>
          <a:custGeom>
            <a:avLst/>
            <a:gdLst/>
            <a:ahLst/>
            <a:rect l="l" t="t" r="r" b="b"/>
            <a:pathLst>
              <a:path w="11615" h="69891">
                <a:moveTo>
                  <a:pt x="239" y="66686"/>
                </a:moveTo>
                <a:lnTo>
                  <a:pt x="0" y="69891"/>
                </a:lnTo>
                <a:lnTo>
                  <a:pt x="2993" y="69891"/>
                </a:lnTo>
                <a:lnTo>
                  <a:pt x="7544" y="13806"/>
                </a:lnTo>
                <a:lnTo>
                  <a:pt x="11615" y="1602"/>
                </a:lnTo>
                <a:lnTo>
                  <a:pt x="8741" y="0"/>
                </a:lnTo>
                <a:lnTo>
                  <a:pt x="5388" y="6410"/>
                </a:lnTo>
                <a:lnTo>
                  <a:pt x="3233" y="16394"/>
                </a:lnTo>
                <a:lnTo>
                  <a:pt x="239" y="66686"/>
                </a:lnTo>
                <a:close/>
              </a:path>
            </a:pathLst>
          </a:custGeom>
          <a:solidFill>
            <a:srgbClr val="f2c8ad"/>
          </a:solidFill>
          <a:ln w="6191">
            <a:solidFill>
              <a:srgbClr val="b7633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37" name="ร่วมใจพัฒนาใต้"/>
          <p:cNvSpPr/>
          <p:nvPr/>
        </p:nvSpPr>
        <p:spPr>
          <a:xfrm>
            <a:off x="5968800" y="3692520"/>
            <a:ext cx="75240" cy="88200"/>
          </a:xfrm>
          <a:custGeom>
            <a:avLst/>
            <a:gdLst/>
            <a:ahLst/>
            <a:rect l="l" t="t" r="r" b="b"/>
            <a:pathLst>
              <a:path w="75436" h="88627">
                <a:moveTo>
                  <a:pt x="0" y="86409"/>
                </a:moveTo>
                <a:lnTo>
                  <a:pt x="3592" y="88627"/>
                </a:lnTo>
                <a:lnTo>
                  <a:pt x="9579" y="79136"/>
                </a:lnTo>
                <a:lnTo>
                  <a:pt x="16883" y="70507"/>
                </a:lnTo>
                <a:lnTo>
                  <a:pt x="18081" y="71494"/>
                </a:lnTo>
                <a:lnTo>
                  <a:pt x="17602" y="69768"/>
                </a:lnTo>
                <a:lnTo>
                  <a:pt x="27301" y="58304"/>
                </a:lnTo>
                <a:lnTo>
                  <a:pt x="28857" y="58797"/>
                </a:lnTo>
                <a:lnTo>
                  <a:pt x="29695" y="55469"/>
                </a:lnTo>
                <a:lnTo>
                  <a:pt x="31492" y="56455"/>
                </a:lnTo>
                <a:lnTo>
                  <a:pt x="33647" y="52634"/>
                </a:lnTo>
                <a:lnTo>
                  <a:pt x="32689" y="52018"/>
                </a:lnTo>
                <a:lnTo>
                  <a:pt x="34485" y="51771"/>
                </a:lnTo>
                <a:lnTo>
                  <a:pt x="34605" y="49799"/>
                </a:lnTo>
                <a:lnTo>
                  <a:pt x="44184" y="38582"/>
                </a:lnTo>
                <a:lnTo>
                  <a:pt x="45621" y="39445"/>
                </a:lnTo>
                <a:lnTo>
                  <a:pt x="49093" y="34021"/>
                </a:lnTo>
                <a:lnTo>
                  <a:pt x="50650" y="33898"/>
                </a:lnTo>
                <a:lnTo>
                  <a:pt x="51728" y="29707"/>
                </a:lnTo>
                <a:lnTo>
                  <a:pt x="53284" y="29830"/>
                </a:lnTo>
                <a:lnTo>
                  <a:pt x="57715" y="22681"/>
                </a:lnTo>
                <a:lnTo>
                  <a:pt x="59151" y="23544"/>
                </a:lnTo>
                <a:lnTo>
                  <a:pt x="59271" y="20832"/>
                </a:lnTo>
                <a:lnTo>
                  <a:pt x="75436" y="1602"/>
                </a:lnTo>
                <a:lnTo>
                  <a:pt x="73041" y="0"/>
                </a:lnTo>
                <a:lnTo>
                  <a:pt x="32928" y="44622"/>
                </a:lnTo>
                <a:lnTo>
                  <a:pt x="7544" y="74945"/>
                </a:lnTo>
                <a:lnTo>
                  <a:pt x="0" y="86409"/>
                </a:lnTo>
                <a:close/>
              </a:path>
            </a:pathLst>
          </a:custGeom>
          <a:solidFill>
            <a:srgbClr val="f2c8ad"/>
          </a:solidFill>
          <a:ln w="6191">
            <a:solidFill>
              <a:srgbClr val="b7633d"/>
            </a:solidFill>
            <a:round/>
          </a:ln>
        </p:spPr>
        <p:style>
          <a:lnRef idx="0"/>
          <a:fillRef idx="0"/>
          <a:effectRef idx="0"/>
          <a:fontRef idx="minor"/>
        </p:style>
        <p:txBody>
          <a:bodyPr lIns="90000" rIns="90000" tIns="43200" bIns="43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38" name="ซอยพิพัฒน์ 2"/>
          <p:cNvSpPr/>
          <p:nvPr/>
        </p:nvSpPr>
        <p:spPr>
          <a:xfrm>
            <a:off x="5286960" y="5672160"/>
            <a:ext cx="21600" cy="24120"/>
          </a:xfrm>
          <a:custGeom>
            <a:avLst/>
            <a:gdLst/>
            <a:ahLst/>
            <a:rect l="l" t="t" r="r" b="b"/>
            <a:pathLst>
              <a:path w="21793" h="24653">
                <a:moveTo>
                  <a:pt x="8142" y="24653"/>
                </a:moveTo>
                <a:lnTo>
                  <a:pt x="21793" y="18490"/>
                </a:lnTo>
                <a:lnTo>
                  <a:pt x="13770" y="0"/>
                </a:lnTo>
                <a:lnTo>
                  <a:pt x="0" y="5670"/>
                </a:lnTo>
                <a:lnTo>
                  <a:pt x="8142" y="24653"/>
                </a:lnTo>
                <a:close/>
              </a:path>
            </a:pathLst>
          </a:custGeom>
          <a:solidFill>
            <a:srgbClr val="f2c8ad"/>
          </a:solidFill>
          <a:ln w="6191">
            <a:solidFill>
              <a:srgbClr val="b7633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39" name="ซอยไวตี"/>
          <p:cNvSpPr/>
          <p:nvPr/>
        </p:nvSpPr>
        <p:spPr>
          <a:xfrm>
            <a:off x="5197320" y="5717160"/>
            <a:ext cx="11880" cy="14040"/>
          </a:xfrm>
          <a:custGeom>
            <a:avLst/>
            <a:gdLst/>
            <a:ahLst/>
            <a:rect l="l" t="t" r="r" b="b"/>
            <a:pathLst>
              <a:path w="12213" h="14545">
                <a:moveTo>
                  <a:pt x="3951" y="14545"/>
                </a:moveTo>
                <a:lnTo>
                  <a:pt x="8741" y="13559"/>
                </a:lnTo>
                <a:lnTo>
                  <a:pt x="8382" y="11587"/>
                </a:lnTo>
                <a:lnTo>
                  <a:pt x="12213" y="10477"/>
                </a:lnTo>
                <a:lnTo>
                  <a:pt x="9579" y="0"/>
                </a:lnTo>
                <a:lnTo>
                  <a:pt x="0" y="3451"/>
                </a:lnTo>
                <a:lnTo>
                  <a:pt x="3951" y="14545"/>
                </a:lnTo>
                <a:close/>
              </a:path>
            </a:pathLst>
          </a:custGeom>
          <a:solidFill>
            <a:srgbClr val="f2c8ad"/>
          </a:solidFill>
          <a:ln w="6191">
            <a:solidFill>
              <a:srgbClr val="b7633d"/>
            </a:solidFill>
            <a:round/>
          </a:ln>
        </p:spPr>
        <p:style>
          <a:lnRef idx="0"/>
          <a:fillRef idx="0"/>
          <a:effectRef idx="0"/>
          <a:fontRef idx="minor"/>
        </p:style>
        <p:txBody>
          <a:bodyPr lIns="90000" rIns="90000" tIns="-30960" bIns="-30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40" name="ศุภมิตร1"/>
          <p:cNvSpPr/>
          <p:nvPr/>
        </p:nvSpPr>
        <p:spPr>
          <a:xfrm>
            <a:off x="5052240" y="5263560"/>
            <a:ext cx="16200" cy="17280"/>
          </a:xfrm>
          <a:custGeom>
            <a:avLst/>
            <a:gdLst/>
            <a:ahLst/>
            <a:rect l="l" t="t" r="r" b="b"/>
            <a:pathLst>
              <a:path w="16404" h="17627">
                <a:moveTo>
                  <a:pt x="0" y="4684"/>
                </a:moveTo>
                <a:lnTo>
                  <a:pt x="4790" y="13682"/>
                </a:lnTo>
                <a:lnTo>
                  <a:pt x="12213" y="17627"/>
                </a:lnTo>
                <a:lnTo>
                  <a:pt x="16404" y="8752"/>
                </a:lnTo>
                <a:lnTo>
                  <a:pt x="8382" y="0"/>
                </a:lnTo>
                <a:lnTo>
                  <a:pt x="0" y="4684"/>
                </a:lnTo>
                <a:close/>
              </a:path>
            </a:pathLst>
          </a:custGeom>
          <a:solidFill>
            <a:srgbClr val="f2c8ad"/>
          </a:solidFill>
          <a:ln w="6191">
            <a:solidFill>
              <a:srgbClr val="b7633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41" name="ศุภมิตร2"/>
          <p:cNvSpPr/>
          <p:nvPr/>
        </p:nvSpPr>
        <p:spPr>
          <a:xfrm>
            <a:off x="5034960" y="5268240"/>
            <a:ext cx="29160" cy="32040"/>
          </a:xfrm>
          <a:custGeom>
            <a:avLst/>
            <a:gdLst/>
            <a:ahLst/>
            <a:rect l="l" t="t" r="r" b="b"/>
            <a:pathLst>
              <a:path w="29456" h="32295">
                <a:moveTo>
                  <a:pt x="17123" y="0"/>
                </a:moveTo>
                <a:lnTo>
                  <a:pt x="0" y="10601"/>
                </a:lnTo>
                <a:lnTo>
                  <a:pt x="20835" y="32295"/>
                </a:lnTo>
                <a:lnTo>
                  <a:pt x="29456" y="12943"/>
                </a:lnTo>
                <a:lnTo>
                  <a:pt x="22032" y="8998"/>
                </a:lnTo>
                <a:lnTo>
                  <a:pt x="17123" y="0"/>
                </a:lnTo>
                <a:close/>
              </a:path>
            </a:pathLst>
          </a:custGeom>
          <a:solidFill>
            <a:srgbClr val="f2c8ad"/>
          </a:solidFill>
          <a:ln w="6191">
            <a:solidFill>
              <a:srgbClr val="b7633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42" name="เกตุไพเราะ 1-2"/>
          <p:cNvSpPr/>
          <p:nvPr/>
        </p:nvSpPr>
        <p:spPr>
          <a:xfrm>
            <a:off x="6470280" y="6116040"/>
            <a:ext cx="27000" cy="12240"/>
          </a:xfrm>
          <a:custGeom>
            <a:avLst/>
            <a:gdLst/>
            <a:ahLst/>
            <a:rect l="l" t="t" r="r" b="b"/>
            <a:pathLst>
              <a:path w="27420" h="12696">
                <a:moveTo>
                  <a:pt x="0" y="8259"/>
                </a:moveTo>
                <a:lnTo>
                  <a:pt x="2395" y="12696"/>
                </a:lnTo>
                <a:lnTo>
                  <a:pt x="27420" y="4561"/>
                </a:lnTo>
                <a:lnTo>
                  <a:pt x="25984" y="0"/>
                </a:lnTo>
                <a:lnTo>
                  <a:pt x="0" y="8259"/>
                </a:lnTo>
                <a:close/>
              </a:path>
            </a:pathLst>
          </a:custGeom>
          <a:solidFill>
            <a:srgbClr val="f2c8ad"/>
          </a:solidFill>
          <a:ln w="6191">
            <a:solidFill>
              <a:srgbClr val="b7633d"/>
            </a:solidFill>
            <a:round/>
          </a:ln>
        </p:spPr>
        <p:style>
          <a:lnRef idx="0"/>
          <a:fillRef idx="0"/>
          <a:effectRef idx="0"/>
          <a:fontRef idx="minor"/>
        </p:style>
        <p:txBody>
          <a:bodyPr lIns="90000" rIns="90000" tIns="-32760" bIns="-32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43" name="สองพี่น้อง"/>
          <p:cNvSpPr/>
          <p:nvPr/>
        </p:nvSpPr>
        <p:spPr>
          <a:xfrm>
            <a:off x="6269400" y="6030360"/>
            <a:ext cx="27720" cy="52560"/>
          </a:xfrm>
          <a:custGeom>
            <a:avLst/>
            <a:gdLst/>
            <a:ahLst/>
            <a:rect l="l" t="t" r="r" b="b"/>
            <a:pathLst>
              <a:path w="28259" h="52757">
                <a:moveTo>
                  <a:pt x="6226" y="38459"/>
                </a:moveTo>
                <a:lnTo>
                  <a:pt x="12932" y="52757"/>
                </a:lnTo>
                <a:lnTo>
                  <a:pt x="23708" y="48566"/>
                </a:lnTo>
                <a:lnTo>
                  <a:pt x="28259" y="34391"/>
                </a:lnTo>
                <a:lnTo>
                  <a:pt x="24547" y="27488"/>
                </a:lnTo>
                <a:lnTo>
                  <a:pt x="20595" y="0"/>
                </a:lnTo>
                <a:lnTo>
                  <a:pt x="3472" y="2096"/>
                </a:lnTo>
                <a:lnTo>
                  <a:pt x="3832" y="5670"/>
                </a:lnTo>
                <a:lnTo>
                  <a:pt x="0" y="10601"/>
                </a:lnTo>
                <a:lnTo>
                  <a:pt x="5987" y="26255"/>
                </a:lnTo>
                <a:lnTo>
                  <a:pt x="2036" y="27611"/>
                </a:lnTo>
                <a:lnTo>
                  <a:pt x="6226" y="38459"/>
                </a:lnTo>
                <a:close/>
              </a:path>
            </a:pathLst>
          </a:custGeom>
          <a:solidFill>
            <a:srgbClr val="f2c8ad"/>
          </a:solidFill>
          <a:ln w="6191">
            <a:solidFill>
              <a:srgbClr val="b7633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44" name="หมู่บ้านซอยสวัสดี"/>
          <p:cNvSpPr/>
          <p:nvPr/>
        </p:nvSpPr>
        <p:spPr>
          <a:xfrm>
            <a:off x="6464880" y="6102000"/>
            <a:ext cx="28080" cy="14400"/>
          </a:xfrm>
          <a:custGeom>
            <a:avLst/>
            <a:gdLst/>
            <a:ahLst/>
            <a:rect l="l" t="t" r="r" b="b"/>
            <a:pathLst>
              <a:path w="28378" h="14792">
                <a:moveTo>
                  <a:pt x="0" y="7519"/>
                </a:moveTo>
                <a:lnTo>
                  <a:pt x="2754" y="14792"/>
                </a:lnTo>
                <a:lnTo>
                  <a:pt x="15446" y="8505"/>
                </a:lnTo>
                <a:lnTo>
                  <a:pt x="28378" y="5547"/>
                </a:lnTo>
                <a:lnTo>
                  <a:pt x="26343" y="0"/>
                </a:lnTo>
                <a:lnTo>
                  <a:pt x="0" y="7519"/>
                </a:lnTo>
                <a:close/>
              </a:path>
            </a:pathLst>
          </a:custGeom>
          <a:solidFill>
            <a:srgbClr val="f2c8ad"/>
          </a:solidFill>
          <a:ln w="6191">
            <a:solidFill>
              <a:srgbClr val="b7633d"/>
            </a:solidFill>
            <a:round/>
          </a:ln>
        </p:spPr>
        <p:style>
          <a:lnRef idx="0"/>
          <a:fillRef idx="0"/>
          <a:effectRef idx="0"/>
          <a:fontRef idx="minor"/>
        </p:style>
        <p:txBody>
          <a:bodyPr lIns="90000" rIns="90000" tIns="-30600" bIns="-30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45" name="เยี่ยมเจริญสุข"/>
          <p:cNvSpPr/>
          <p:nvPr/>
        </p:nvSpPr>
        <p:spPr>
          <a:xfrm>
            <a:off x="6311520" y="5951880"/>
            <a:ext cx="10800" cy="29520"/>
          </a:xfrm>
          <a:custGeom>
            <a:avLst/>
            <a:gdLst/>
            <a:ahLst/>
            <a:rect l="l" t="t" r="r" b="b"/>
            <a:pathLst>
              <a:path w="11256" h="29707">
                <a:moveTo>
                  <a:pt x="0" y="1479"/>
                </a:moveTo>
                <a:lnTo>
                  <a:pt x="6346" y="27611"/>
                </a:lnTo>
                <a:lnTo>
                  <a:pt x="8142" y="29707"/>
                </a:lnTo>
                <a:lnTo>
                  <a:pt x="11256" y="29214"/>
                </a:lnTo>
                <a:lnTo>
                  <a:pt x="4430" y="0"/>
                </a:lnTo>
                <a:lnTo>
                  <a:pt x="0" y="1479"/>
                </a:lnTo>
                <a:close/>
              </a:path>
            </a:pathLst>
          </a:custGeom>
          <a:solidFill>
            <a:srgbClr val="f2c8ad"/>
          </a:solidFill>
          <a:ln w="6191">
            <a:solidFill>
              <a:srgbClr val="b7633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46" name="ชุมชนวังโสม"/>
          <p:cNvSpPr/>
          <p:nvPr/>
        </p:nvSpPr>
        <p:spPr>
          <a:xfrm>
            <a:off x="6764760" y="5274000"/>
            <a:ext cx="150480" cy="61920"/>
          </a:xfrm>
          <a:custGeom>
            <a:avLst/>
            <a:gdLst/>
            <a:ahLst/>
            <a:rect l="l" t="t" r="r" b="b"/>
            <a:pathLst>
              <a:path w="150872" h="62372">
                <a:moveTo>
                  <a:pt x="122015" y="44745"/>
                </a:moveTo>
                <a:lnTo>
                  <a:pt x="67294" y="24283"/>
                </a:lnTo>
                <a:lnTo>
                  <a:pt x="33048" y="8752"/>
                </a:lnTo>
                <a:lnTo>
                  <a:pt x="33407" y="5424"/>
                </a:lnTo>
                <a:lnTo>
                  <a:pt x="23110" y="863"/>
                </a:lnTo>
                <a:lnTo>
                  <a:pt x="17003" y="4314"/>
                </a:lnTo>
                <a:lnTo>
                  <a:pt x="3592" y="0"/>
                </a:lnTo>
                <a:lnTo>
                  <a:pt x="0" y="6410"/>
                </a:lnTo>
                <a:lnTo>
                  <a:pt x="28019" y="17873"/>
                </a:lnTo>
                <a:lnTo>
                  <a:pt x="28977" y="24037"/>
                </a:lnTo>
                <a:lnTo>
                  <a:pt x="32090" y="26502"/>
                </a:lnTo>
                <a:lnTo>
                  <a:pt x="36521" y="23790"/>
                </a:lnTo>
                <a:lnTo>
                  <a:pt x="59990" y="32788"/>
                </a:lnTo>
                <a:lnTo>
                  <a:pt x="85853" y="46224"/>
                </a:lnTo>
                <a:lnTo>
                  <a:pt x="125727" y="58058"/>
                </a:lnTo>
                <a:lnTo>
                  <a:pt x="146562" y="62372"/>
                </a:lnTo>
                <a:lnTo>
                  <a:pt x="150872" y="51771"/>
                </a:lnTo>
                <a:lnTo>
                  <a:pt x="122015" y="44745"/>
                </a:lnTo>
                <a:close/>
              </a:path>
            </a:pathLst>
          </a:custGeom>
          <a:solidFill>
            <a:srgbClr val="f2c8ad"/>
          </a:solidFill>
          <a:ln w="6191">
            <a:solidFill>
              <a:srgbClr val="b7633d"/>
            </a:solidFill>
            <a:round/>
          </a:ln>
        </p:spPr>
        <p:style>
          <a:lnRef idx="0"/>
          <a:fillRef idx="0"/>
          <a:effectRef idx="0"/>
          <a:fontRef idx="minor"/>
        </p:style>
        <p:txBody>
          <a:bodyPr lIns="90000" rIns="90000" tIns="16920" bIns="16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47" name="วัดอาวุธ"/>
          <p:cNvSpPr/>
          <p:nvPr/>
        </p:nvSpPr>
        <p:spPr>
          <a:xfrm>
            <a:off x="6714360" y="3810240"/>
            <a:ext cx="52920" cy="16560"/>
          </a:xfrm>
          <a:custGeom>
            <a:avLst/>
            <a:gdLst/>
            <a:ahLst/>
            <a:rect l="l" t="t" r="r" b="b"/>
            <a:pathLst>
              <a:path w="53404" h="16887">
                <a:moveTo>
                  <a:pt x="53404" y="0"/>
                </a:moveTo>
                <a:lnTo>
                  <a:pt x="7544" y="1726"/>
                </a:lnTo>
                <a:lnTo>
                  <a:pt x="6346" y="9491"/>
                </a:lnTo>
                <a:lnTo>
                  <a:pt x="239" y="9615"/>
                </a:lnTo>
                <a:lnTo>
                  <a:pt x="0" y="12326"/>
                </a:lnTo>
                <a:lnTo>
                  <a:pt x="2155" y="15531"/>
                </a:lnTo>
                <a:lnTo>
                  <a:pt x="10298" y="16887"/>
                </a:lnTo>
                <a:lnTo>
                  <a:pt x="49932" y="14915"/>
                </a:lnTo>
                <a:lnTo>
                  <a:pt x="53404" y="0"/>
                </a:lnTo>
                <a:close/>
              </a:path>
            </a:pathLst>
          </a:custGeom>
          <a:solidFill>
            <a:srgbClr val="f2c8ad"/>
          </a:solidFill>
          <a:ln w="6191">
            <a:solidFill>
              <a:srgbClr val="b7633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48" name="วัชรปราณี"/>
          <p:cNvSpPr/>
          <p:nvPr/>
        </p:nvSpPr>
        <p:spPr>
          <a:xfrm>
            <a:off x="6681960" y="3966840"/>
            <a:ext cx="13320" cy="67680"/>
          </a:xfrm>
          <a:custGeom>
            <a:avLst/>
            <a:gdLst/>
            <a:ahLst/>
            <a:rect l="l" t="t" r="r" b="b"/>
            <a:pathLst>
              <a:path w="13650" h="68042">
                <a:moveTo>
                  <a:pt x="11495" y="29337"/>
                </a:moveTo>
                <a:lnTo>
                  <a:pt x="12094" y="16394"/>
                </a:lnTo>
                <a:lnTo>
                  <a:pt x="13650" y="15531"/>
                </a:lnTo>
                <a:lnTo>
                  <a:pt x="12213" y="14915"/>
                </a:lnTo>
                <a:lnTo>
                  <a:pt x="12812" y="1233"/>
                </a:lnTo>
                <a:lnTo>
                  <a:pt x="2993" y="0"/>
                </a:lnTo>
                <a:lnTo>
                  <a:pt x="0" y="68042"/>
                </a:lnTo>
                <a:lnTo>
                  <a:pt x="10298" y="65823"/>
                </a:lnTo>
                <a:lnTo>
                  <a:pt x="11495" y="29337"/>
                </a:lnTo>
                <a:close/>
              </a:path>
            </a:pathLst>
          </a:custGeom>
          <a:solidFill>
            <a:srgbClr val="f2c8ad"/>
          </a:solidFill>
          <a:ln w="6191">
            <a:solidFill>
              <a:srgbClr val="b7633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49" name="เกตุไพเราะ 3-5"/>
          <p:cNvSpPr/>
          <p:nvPr/>
        </p:nvSpPr>
        <p:spPr>
          <a:xfrm>
            <a:off x="6448680" y="6052680"/>
            <a:ext cx="30960" cy="23040"/>
          </a:xfrm>
          <a:custGeom>
            <a:avLst/>
            <a:gdLst/>
            <a:ahLst/>
            <a:rect l="l" t="t" r="r" b="b"/>
            <a:pathLst>
              <a:path w="31252" h="23420">
                <a:moveTo>
                  <a:pt x="0" y="6163"/>
                </a:moveTo>
                <a:lnTo>
                  <a:pt x="5029" y="23420"/>
                </a:lnTo>
                <a:lnTo>
                  <a:pt x="31252" y="15655"/>
                </a:lnTo>
                <a:lnTo>
                  <a:pt x="27181" y="0"/>
                </a:lnTo>
                <a:lnTo>
                  <a:pt x="0" y="6163"/>
                </a:lnTo>
                <a:close/>
              </a:path>
            </a:pathLst>
          </a:custGeom>
          <a:solidFill>
            <a:srgbClr val="f2c8ad"/>
          </a:solidFill>
          <a:ln w="6191">
            <a:solidFill>
              <a:srgbClr val="b7633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50" name="ซอยประดับสุข"/>
          <p:cNvSpPr/>
          <p:nvPr/>
        </p:nvSpPr>
        <p:spPr>
          <a:xfrm>
            <a:off x="6228720" y="6069240"/>
            <a:ext cx="29880" cy="52560"/>
          </a:xfrm>
          <a:custGeom>
            <a:avLst/>
            <a:gdLst/>
            <a:ahLst/>
            <a:rect l="l" t="t" r="r" b="b"/>
            <a:pathLst>
              <a:path w="30294" h="52757">
                <a:moveTo>
                  <a:pt x="12453" y="0"/>
                </a:moveTo>
                <a:lnTo>
                  <a:pt x="0" y="5793"/>
                </a:lnTo>
                <a:lnTo>
                  <a:pt x="18919" y="52757"/>
                </a:lnTo>
                <a:lnTo>
                  <a:pt x="30294" y="45978"/>
                </a:lnTo>
                <a:lnTo>
                  <a:pt x="17841" y="10847"/>
                </a:lnTo>
                <a:lnTo>
                  <a:pt x="12453" y="0"/>
                </a:lnTo>
                <a:close/>
              </a:path>
            </a:pathLst>
          </a:custGeom>
          <a:solidFill>
            <a:srgbClr val="f2c8ad"/>
          </a:solidFill>
          <a:ln w="6191">
            <a:solidFill>
              <a:srgbClr val="b7633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51" name="เซ่งไพเราะ"/>
          <p:cNvSpPr/>
          <p:nvPr/>
        </p:nvSpPr>
        <p:spPr>
          <a:xfrm>
            <a:off x="6527880" y="6120720"/>
            <a:ext cx="26640" cy="16920"/>
          </a:xfrm>
          <a:custGeom>
            <a:avLst/>
            <a:gdLst/>
            <a:ahLst/>
            <a:rect l="l" t="t" r="r" b="b"/>
            <a:pathLst>
              <a:path w="26941" h="17380">
                <a:moveTo>
                  <a:pt x="0" y="3698"/>
                </a:moveTo>
                <a:lnTo>
                  <a:pt x="120" y="17380"/>
                </a:lnTo>
                <a:lnTo>
                  <a:pt x="26941" y="17380"/>
                </a:lnTo>
                <a:lnTo>
                  <a:pt x="26822" y="0"/>
                </a:lnTo>
                <a:lnTo>
                  <a:pt x="0" y="3698"/>
                </a:lnTo>
                <a:close/>
              </a:path>
            </a:pathLst>
          </a:custGeom>
          <a:solidFill>
            <a:srgbClr val="f2c8ad"/>
          </a:solidFill>
          <a:ln w="6191">
            <a:solidFill>
              <a:srgbClr val="b7633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52" name="ชุมชนบุญกุศล"/>
          <p:cNvSpPr/>
          <p:nvPr/>
        </p:nvSpPr>
        <p:spPr>
          <a:xfrm>
            <a:off x="6315840" y="6164640"/>
            <a:ext cx="13320" cy="30600"/>
          </a:xfrm>
          <a:custGeom>
            <a:avLst/>
            <a:gdLst/>
            <a:ahLst/>
            <a:rect l="l" t="t" r="r" b="b"/>
            <a:pathLst>
              <a:path w="13650" h="30939">
                <a:moveTo>
                  <a:pt x="8502" y="9861"/>
                </a:moveTo>
                <a:lnTo>
                  <a:pt x="5388" y="0"/>
                </a:lnTo>
                <a:lnTo>
                  <a:pt x="0" y="1356"/>
                </a:lnTo>
                <a:lnTo>
                  <a:pt x="9220" y="30939"/>
                </a:lnTo>
                <a:lnTo>
                  <a:pt x="11854" y="30816"/>
                </a:lnTo>
                <a:lnTo>
                  <a:pt x="11375" y="28721"/>
                </a:lnTo>
                <a:lnTo>
                  <a:pt x="13650" y="28104"/>
                </a:lnTo>
                <a:lnTo>
                  <a:pt x="8502" y="9861"/>
                </a:lnTo>
                <a:close/>
              </a:path>
            </a:pathLst>
          </a:custGeom>
          <a:solidFill>
            <a:srgbClr val="f2c8ad"/>
          </a:solidFill>
          <a:ln w="6191">
            <a:solidFill>
              <a:srgbClr val="b7633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53" name="แย้มสรวล"/>
          <p:cNvSpPr/>
          <p:nvPr/>
        </p:nvSpPr>
        <p:spPr>
          <a:xfrm>
            <a:off x="6398280" y="6202800"/>
            <a:ext cx="31680" cy="57600"/>
          </a:xfrm>
          <a:custGeom>
            <a:avLst/>
            <a:gdLst/>
            <a:ahLst/>
            <a:rect l="l" t="t" r="r" b="b"/>
            <a:pathLst>
              <a:path w="32090" h="57811">
                <a:moveTo>
                  <a:pt x="3353" y="863"/>
                </a:moveTo>
                <a:lnTo>
                  <a:pt x="4071" y="3451"/>
                </a:lnTo>
                <a:lnTo>
                  <a:pt x="0" y="5670"/>
                </a:lnTo>
                <a:lnTo>
                  <a:pt x="17362" y="44622"/>
                </a:lnTo>
                <a:lnTo>
                  <a:pt x="19877" y="53250"/>
                </a:lnTo>
                <a:lnTo>
                  <a:pt x="21673" y="56579"/>
                </a:lnTo>
                <a:lnTo>
                  <a:pt x="26822" y="57811"/>
                </a:lnTo>
                <a:lnTo>
                  <a:pt x="32090" y="55223"/>
                </a:lnTo>
                <a:lnTo>
                  <a:pt x="26103" y="38952"/>
                </a:lnTo>
                <a:lnTo>
                  <a:pt x="13411" y="15162"/>
                </a:lnTo>
                <a:lnTo>
                  <a:pt x="7544" y="0"/>
                </a:lnTo>
                <a:lnTo>
                  <a:pt x="3353" y="863"/>
                </a:lnTo>
                <a:close/>
              </a:path>
            </a:pathLst>
          </a:custGeom>
          <a:solidFill>
            <a:srgbClr val="f2c8ad"/>
          </a:solidFill>
          <a:ln w="6191">
            <a:solidFill>
              <a:srgbClr val="b7633d"/>
            </a:solidFill>
            <a:round/>
          </a:ln>
        </p:spPr>
        <p:style>
          <a:lnRef idx="0"/>
          <a:fillRef idx="0"/>
          <a:effectRef idx="0"/>
          <a:fontRef idx="minor"/>
        </p:style>
        <p:txBody>
          <a:bodyPr lIns="90000" rIns="90000" tIns="12600" bIns="12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54" name="ชุมชนร่วมสามัคคี"/>
          <p:cNvSpPr/>
          <p:nvPr/>
        </p:nvSpPr>
        <p:spPr>
          <a:xfrm>
            <a:off x="6449400" y="6097320"/>
            <a:ext cx="29880" cy="66600"/>
          </a:xfrm>
          <a:custGeom>
            <a:avLst/>
            <a:gdLst/>
            <a:ahLst/>
            <a:rect l="l" t="t" r="r" b="b"/>
            <a:pathLst>
              <a:path w="30414" h="66809">
                <a:moveTo>
                  <a:pt x="15327" y="38582"/>
                </a:moveTo>
                <a:lnTo>
                  <a:pt x="27301" y="65947"/>
                </a:lnTo>
                <a:lnTo>
                  <a:pt x="28977" y="66809"/>
                </a:lnTo>
                <a:lnTo>
                  <a:pt x="30414" y="63112"/>
                </a:lnTo>
                <a:lnTo>
                  <a:pt x="14010" y="28228"/>
                </a:lnTo>
                <a:lnTo>
                  <a:pt x="4790" y="0"/>
                </a:lnTo>
                <a:lnTo>
                  <a:pt x="0" y="370"/>
                </a:lnTo>
                <a:lnTo>
                  <a:pt x="15327" y="38582"/>
                </a:lnTo>
                <a:close/>
              </a:path>
            </a:pathLst>
          </a:custGeom>
          <a:solidFill>
            <a:srgbClr val="f2c8ad"/>
          </a:solidFill>
          <a:ln w="6191">
            <a:solidFill>
              <a:srgbClr val="b7633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55" name="สาหร่ายไพเราะ"/>
          <p:cNvSpPr/>
          <p:nvPr/>
        </p:nvSpPr>
        <p:spPr>
          <a:xfrm>
            <a:off x="6467400" y="6107760"/>
            <a:ext cx="28440" cy="16200"/>
          </a:xfrm>
          <a:custGeom>
            <a:avLst/>
            <a:gdLst/>
            <a:ahLst/>
            <a:rect l="l" t="t" r="r" b="b"/>
            <a:pathLst>
              <a:path w="28857" h="16394">
                <a:moveTo>
                  <a:pt x="25624" y="0"/>
                </a:moveTo>
                <a:lnTo>
                  <a:pt x="12692" y="2958"/>
                </a:lnTo>
                <a:lnTo>
                  <a:pt x="0" y="9245"/>
                </a:lnTo>
                <a:lnTo>
                  <a:pt x="3113" y="16394"/>
                </a:lnTo>
                <a:lnTo>
                  <a:pt x="28857" y="8259"/>
                </a:lnTo>
                <a:lnTo>
                  <a:pt x="25624" y="0"/>
                </a:lnTo>
                <a:close/>
              </a:path>
            </a:pathLst>
          </a:custGeom>
          <a:solidFill>
            <a:srgbClr val="f2c8ad"/>
          </a:solidFill>
          <a:ln w="6191">
            <a:solidFill>
              <a:srgbClr val="b7633d"/>
            </a:solidFill>
            <a:round/>
          </a:ln>
        </p:spPr>
        <p:style>
          <a:lnRef idx="0"/>
          <a:fillRef idx="0"/>
          <a:effectRef idx="0"/>
          <a:fontRef idx="minor"/>
        </p:style>
        <p:txBody>
          <a:bodyPr lIns="90000" rIns="90000" tIns="-28800" bIns="-28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56" name="สุขุมวิท 93"/>
          <p:cNvSpPr/>
          <p:nvPr/>
        </p:nvSpPr>
        <p:spPr>
          <a:xfrm>
            <a:off x="6278760" y="5990760"/>
            <a:ext cx="19800" cy="35280"/>
          </a:xfrm>
          <a:custGeom>
            <a:avLst/>
            <a:gdLst/>
            <a:ahLst/>
            <a:rect l="l" t="t" r="r" b="b"/>
            <a:pathLst>
              <a:path w="20116" h="35747">
                <a:moveTo>
                  <a:pt x="5628" y="32419"/>
                </a:moveTo>
                <a:lnTo>
                  <a:pt x="6705" y="35747"/>
                </a:lnTo>
                <a:lnTo>
                  <a:pt x="20116" y="33651"/>
                </a:lnTo>
                <a:lnTo>
                  <a:pt x="10298" y="3328"/>
                </a:lnTo>
                <a:lnTo>
                  <a:pt x="8382" y="3698"/>
                </a:lnTo>
                <a:lnTo>
                  <a:pt x="7544" y="0"/>
                </a:lnTo>
                <a:lnTo>
                  <a:pt x="0" y="1602"/>
                </a:lnTo>
                <a:lnTo>
                  <a:pt x="4191" y="15531"/>
                </a:lnTo>
                <a:lnTo>
                  <a:pt x="0" y="16887"/>
                </a:lnTo>
                <a:lnTo>
                  <a:pt x="5628" y="32419"/>
                </a:lnTo>
                <a:close/>
              </a:path>
            </a:pathLst>
          </a:custGeom>
          <a:solidFill>
            <a:srgbClr val="f2c8ad"/>
          </a:solidFill>
          <a:ln w="6191">
            <a:solidFill>
              <a:srgbClr val="b7633d"/>
            </a:solidFill>
            <a:round/>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57" name="สุนทรธรรม"/>
          <p:cNvSpPr/>
          <p:nvPr/>
        </p:nvSpPr>
        <p:spPr>
          <a:xfrm>
            <a:off x="6445080" y="6042960"/>
            <a:ext cx="39240" cy="15840"/>
          </a:xfrm>
          <a:custGeom>
            <a:avLst/>
            <a:gdLst/>
            <a:ahLst/>
            <a:rect l="l" t="t" r="r" b="b"/>
            <a:pathLst>
              <a:path w="39514" h="16024">
                <a:moveTo>
                  <a:pt x="14967" y="13189"/>
                </a:moveTo>
                <a:lnTo>
                  <a:pt x="30893" y="9861"/>
                </a:lnTo>
                <a:lnTo>
                  <a:pt x="31372" y="8012"/>
                </a:lnTo>
                <a:lnTo>
                  <a:pt x="31731" y="9615"/>
                </a:lnTo>
                <a:lnTo>
                  <a:pt x="39514" y="8382"/>
                </a:lnTo>
                <a:lnTo>
                  <a:pt x="38915" y="3944"/>
                </a:lnTo>
                <a:lnTo>
                  <a:pt x="34605" y="4561"/>
                </a:lnTo>
                <a:lnTo>
                  <a:pt x="34365" y="370"/>
                </a:lnTo>
                <a:lnTo>
                  <a:pt x="23948" y="1849"/>
                </a:lnTo>
                <a:lnTo>
                  <a:pt x="23589" y="0"/>
                </a:lnTo>
                <a:lnTo>
                  <a:pt x="17961" y="1233"/>
                </a:lnTo>
                <a:lnTo>
                  <a:pt x="18560" y="2835"/>
                </a:lnTo>
                <a:lnTo>
                  <a:pt x="0" y="7026"/>
                </a:lnTo>
                <a:lnTo>
                  <a:pt x="3233" y="16024"/>
                </a:lnTo>
                <a:lnTo>
                  <a:pt x="14967" y="13189"/>
                </a:lnTo>
                <a:close/>
              </a:path>
            </a:pathLst>
          </a:custGeom>
          <a:solidFill>
            <a:srgbClr val="f2c8ad"/>
          </a:solidFill>
          <a:ln w="6191">
            <a:solidFill>
              <a:srgbClr val="b7633d"/>
            </a:solidFill>
            <a:round/>
          </a:ln>
        </p:spPr>
        <p:style>
          <a:lnRef idx="0"/>
          <a:fillRef idx="0"/>
          <a:effectRef idx="0"/>
          <a:fontRef idx="minor"/>
        </p:style>
        <p:txBody>
          <a:bodyPr lIns="90000" rIns="90000" tIns="-29160" bIns="-29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58" name="สุภาพงษ์"/>
          <p:cNvSpPr/>
          <p:nvPr/>
        </p:nvSpPr>
        <p:spPr>
          <a:xfrm>
            <a:off x="6507720" y="6138360"/>
            <a:ext cx="53640" cy="12960"/>
          </a:xfrm>
          <a:custGeom>
            <a:avLst/>
            <a:gdLst/>
            <a:ahLst/>
            <a:rect l="l" t="t" r="r" b="b"/>
            <a:pathLst>
              <a:path w="54122" h="13436">
                <a:moveTo>
                  <a:pt x="9819" y="2465"/>
                </a:moveTo>
                <a:lnTo>
                  <a:pt x="9819" y="3698"/>
                </a:lnTo>
                <a:lnTo>
                  <a:pt x="0" y="6163"/>
                </a:lnTo>
                <a:lnTo>
                  <a:pt x="2395" y="13436"/>
                </a:lnTo>
                <a:lnTo>
                  <a:pt x="15327" y="9245"/>
                </a:lnTo>
                <a:lnTo>
                  <a:pt x="54122" y="9245"/>
                </a:lnTo>
                <a:lnTo>
                  <a:pt x="53643" y="247"/>
                </a:lnTo>
                <a:lnTo>
                  <a:pt x="20116" y="0"/>
                </a:lnTo>
                <a:lnTo>
                  <a:pt x="9819" y="2465"/>
                </a:lnTo>
                <a:close/>
              </a:path>
            </a:pathLst>
          </a:custGeom>
          <a:solidFill>
            <a:srgbClr val="f2c8ad"/>
          </a:solidFill>
          <a:ln w="6191">
            <a:solidFill>
              <a:srgbClr val="b7633d"/>
            </a:solidFill>
            <a:round/>
          </a:ln>
        </p:spPr>
        <p:style>
          <a:lnRef idx="0"/>
          <a:fillRef idx="0"/>
          <a:effectRef idx="0"/>
          <a:fontRef idx="minor"/>
        </p:style>
        <p:txBody>
          <a:bodyPr lIns="90000" rIns="90000" tIns="-32040" bIns="-32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59" name="บ้านครัวใต้"/>
          <p:cNvSpPr/>
          <p:nvPr/>
        </p:nvSpPr>
        <p:spPr>
          <a:xfrm>
            <a:off x="5174640" y="5378040"/>
            <a:ext cx="24480" cy="18000"/>
          </a:xfrm>
          <a:custGeom>
            <a:avLst/>
            <a:gdLst/>
            <a:ahLst/>
            <a:rect l="l" t="t" r="r" b="b"/>
            <a:pathLst>
              <a:path w="24906" h="18490">
                <a:moveTo>
                  <a:pt x="0" y="9368"/>
                </a:moveTo>
                <a:lnTo>
                  <a:pt x="14249" y="14915"/>
                </a:lnTo>
                <a:lnTo>
                  <a:pt x="20715" y="15038"/>
                </a:lnTo>
                <a:lnTo>
                  <a:pt x="20476" y="17997"/>
                </a:lnTo>
                <a:lnTo>
                  <a:pt x="21673" y="18490"/>
                </a:lnTo>
                <a:lnTo>
                  <a:pt x="24906" y="11833"/>
                </a:lnTo>
                <a:lnTo>
                  <a:pt x="4071" y="0"/>
                </a:lnTo>
                <a:lnTo>
                  <a:pt x="0" y="9368"/>
                </a:lnTo>
                <a:close/>
              </a:path>
            </a:pathLst>
          </a:custGeom>
          <a:solidFill>
            <a:srgbClr val="f2c8ad"/>
          </a:solidFill>
          <a:ln w="6191">
            <a:solidFill>
              <a:srgbClr val="b7633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60" name="ชาวชูชีพ"/>
          <p:cNvSpPr/>
          <p:nvPr/>
        </p:nvSpPr>
        <p:spPr>
          <a:xfrm>
            <a:off x="5122800" y="5392440"/>
            <a:ext cx="11520" cy="11880"/>
          </a:xfrm>
          <a:custGeom>
            <a:avLst/>
            <a:gdLst/>
            <a:ahLst/>
            <a:rect l="l" t="t" r="r" b="b"/>
            <a:pathLst>
              <a:path w="11854" h="12203">
                <a:moveTo>
                  <a:pt x="7783" y="0"/>
                </a:moveTo>
                <a:lnTo>
                  <a:pt x="6107" y="3944"/>
                </a:lnTo>
                <a:lnTo>
                  <a:pt x="3233" y="2465"/>
                </a:lnTo>
                <a:lnTo>
                  <a:pt x="1197" y="3944"/>
                </a:lnTo>
                <a:lnTo>
                  <a:pt x="0" y="9738"/>
                </a:lnTo>
                <a:lnTo>
                  <a:pt x="1557" y="10354"/>
                </a:lnTo>
                <a:lnTo>
                  <a:pt x="2634" y="4068"/>
                </a:lnTo>
                <a:lnTo>
                  <a:pt x="5269" y="5300"/>
                </a:lnTo>
                <a:lnTo>
                  <a:pt x="2515" y="10724"/>
                </a:lnTo>
                <a:lnTo>
                  <a:pt x="6226" y="12203"/>
                </a:lnTo>
                <a:lnTo>
                  <a:pt x="11854" y="1972"/>
                </a:lnTo>
                <a:lnTo>
                  <a:pt x="7783" y="0"/>
                </a:lnTo>
                <a:close/>
              </a:path>
            </a:pathLst>
          </a:custGeom>
          <a:solidFill>
            <a:srgbClr val="f2c8ad"/>
          </a:solidFill>
          <a:ln w="6191">
            <a:solidFill>
              <a:srgbClr val="b7633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61" name="ตรอกสลักหิน"/>
          <p:cNvSpPr/>
          <p:nvPr/>
        </p:nvSpPr>
        <p:spPr>
          <a:xfrm>
            <a:off x="5123160" y="5504760"/>
            <a:ext cx="18000" cy="18360"/>
          </a:xfrm>
          <a:custGeom>
            <a:avLst/>
            <a:gdLst/>
            <a:ahLst/>
            <a:rect l="l" t="t" r="r" b="b"/>
            <a:pathLst>
              <a:path w="18440" h="18736">
                <a:moveTo>
                  <a:pt x="18440" y="5670"/>
                </a:moveTo>
                <a:lnTo>
                  <a:pt x="17123" y="2958"/>
                </a:lnTo>
                <a:lnTo>
                  <a:pt x="14728" y="4807"/>
                </a:lnTo>
                <a:lnTo>
                  <a:pt x="11016" y="247"/>
                </a:lnTo>
                <a:lnTo>
                  <a:pt x="8980" y="1602"/>
                </a:lnTo>
                <a:lnTo>
                  <a:pt x="7783" y="0"/>
                </a:lnTo>
                <a:lnTo>
                  <a:pt x="479" y="5300"/>
                </a:lnTo>
                <a:lnTo>
                  <a:pt x="0" y="7889"/>
                </a:lnTo>
                <a:lnTo>
                  <a:pt x="2874" y="11217"/>
                </a:lnTo>
                <a:lnTo>
                  <a:pt x="718" y="12820"/>
                </a:lnTo>
                <a:lnTo>
                  <a:pt x="2036" y="14669"/>
                </a:lnTo>
                <a:lnTo>
                  <a:pt x="4191" y="13559"/>
                </a:lnTo>
                <a:lnTo>
                  <a:pt x="7424" y="18736"/>
                </a:lnTo>
                <a:lnTo>
                  <a:pt x="17362" y="11340"/>
                </a:lnTo>
                <a:lnTo>
                  <a:pt x="14848" y="8259"/>
                </a:lnTo>
                <a:lnTo>
                  <a:pt x="18440" y="5670"/>
                </a:lnTo>
                <a:close/>
              </a:path>
            </a:pathLst>
          </a:custGeom>
          <a:solidFill>
            <a:srgbClr val="f2c8ad"/>
          </a:solidFill>
          <a:ln w="6191">
            <a:solidFill>
              <a:srgbClr val="b7633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62" name="วัดบรมนิวาส"/>
          <p:cNvSpPr/>
          <p:nvPr/>
        </p:nvSpPr>
        <p:spPr>
          <a:xfrm>
            <a:off x="5149440" y="5361840"/>
            <a:ext cx="19080" cy="14760"/>
          </a:xfrm>
          <a:custGeom>
            <a:avLst/>
            <a:gdLst/>
            <a:ahLst/>
            <a:rect l="l" t="t" r="r" b="b"/>
            <a:pathLst>
              <a:path w="19518" h="15285">
                <a:moveTo>
                  <a:pt x="0" y="9861"/>
                </a:moveTo>
                <a:lnTo>
                  <a:pt x="17482" y="15285"/>
                </a:lnTo>
                <a:lnTo>
                  <a:pt x="19518" y="10477"/>
                </a:lnTo>
                <a:lnTo>
                  <a:pt x="2754" y="0"/>
                </a:lnTo>
                <a:lnTo>
                  <a:pt x="0" y="9861"/>
                </a:lnTo>
                <a:close/>
              </a:path>
            </a:pathLst>
          </a:custGeom>
          <a:solidFill>
            <a:srgbClr val="f2c8ad"/>
          </a:solidFill>
          <a:ln w="6191">
            <a:solidFill>
              <a:srgbClr val="b7633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63" name="วัดดวงแข"/>
          <p:cNvSpPr/>
          <p:nvPr/>
        </p:nvSpPr>
        <p:spPr>
          <a:xfrm>
            <a:off x="5118840" y="5477040"/>
            <a:ext cx="22680" cy="18720"/>
          </a:xfrm>
          <a:custGeom>
            <a:avLst/>
            <a:gdLst/>
            <a:ahLst/>
            <a:rect l="l" t="t" r="r" b="b"/>
            <a:pathLst>
              <a:path w="23110" h="19229">
                <a:moveTo>
                  <a:pt x="0" y="19229"/>
                </a:moveTo>
                <a:lnTo>
                  <a:pt x="23110" y="0"/>
                </a:lnTo>
                <a:lnTo>
                  <a:pt x="11974" y="8259"/>
                </a:lnTo>
                <a:lnTo>
                  <a:pt x="9220" y="4807"/>
                </a:lnTo>
                <a:lnTo>
                  <a:pt x="4790" y="8135"/>
                </a:lnTo>
                <a:lnTo>
                  <a:pt x="7304" y="11587"/>
                </a:lnTo>
                <a:lnTo>
                  <a:pt x="239" y="17011"/>
                </a:lnTo>
                <a:lnTo>
                  <a:pt x="0" y="19229"/>
                </a:lnTo>
                <a:close/>
              </a:path>
            </a:pathLst>
          </a:custGeom>
          <a:solidFill>
            <a:srgbClr val="f2c8ad"/>
          </a:solidFill>
          <a:ln w="6191">
            <a:solidFill>
              <a:srgbClr val="b7633d"/>
            </a:solidFill>
            <a:round/>
          </a:ln>
        </p:spPr>
        <p:style>
          <a:lnRef idx="0"/>
          <a:fillRef idx="0"/>
          <a:effectRef idx="0"/>
          <a:fontRef idx="minor"/>
        </p:style>
        <p:txBody>
          <a:bodyPr lIns="90000" rIns="90000" tIns="-26280" bIns="-26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64" name="ริมคลองนางหงส์"/>
          <p:cNvSpPr/>
          <p:nvPr/>
        </p:nvSpPr>
        <p:spPr>
          <a:xfrm>
            <a:off x="5132880" y="5379480"/>
            <a:ext cx="11880" cy="12600"/>
          </a:xfrm>
          <a:custGeom>
            <a:avLst/>
            <a:gdLst/>
            <a:ahLst/>
            <a:rect l="l" t="t" r="r" b="b"/>
            <a:pathLst>
              <a:path w="12213" h="12943">
                <a:moveTo>
                  <a:pt x="1317" y="3575"/>
                </a:moveTo>
                <a:lnTo>
                  <a:pt x="0" y="6533"/>
                </a:lnTo>
                <a:lnTo>
                  <a:pt x="9819" y="10971"/>
                </a:lnTo>
                <a:lnTo>
                  <a:pt x="11016" y="12943"/>
                </a:lnTo>
                <a:lnTo>
                  <a:pt x="12213" y="8382"/>
                </a:lnTo>
                <a:lnTo>
                  <a:pt x="8023" y="5547"/>
                </a:lnTo>
                <a:lnTo>
                  <a:pt x="10537" y="0"/>
                </a:lnTo>
                <a:lnTo>
                  <a:pt x="6705" y="5793"/>
                </a:lnTo>
                <a:lnTo>
                  <a:pt x="1317" y="3575"/>
                </a:lnTo>
                <a:close/>
              </a:path>
            </a:pathLst>
          </a:custGeom>
          <a:solidFill>
            <a:srgbClr val="f2c8ad"/>
          </a:solidFill>
          <a:ln w="6191">
            <a:solidFill>
              <a:srgbClr val="b7633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65" name="หลังวัดปทุมวนาราม"/>
          <p:cNvSpPr/>
          <p:nvPr/>
        </p:nvSpPr>
        <p:spPr>
          <a:xfrm>
            <a:off x="5345280" y="5392800"/>
            <a:ext cx="21960" cy="10440"/>
          </a:xfrm>
          <a:custGeom>
            <a:avLst/>
            <a:gdLst/>
            <a:ahLst/>
            <a:rect l="l" t="t" r="r" b="b"/>
            <a:pathLst>
              <a:path w="22391" h="10971">
                <a:moveTo>
                  <a:pt x="359" y="123"/>
                </a:moveTo>
                <a:lnTo>
                  <a:pt x="0" y="10971"/>
                </a:lnTo>
                <a:lnTo>
                  <a:pt x="22032" y="7149"/>
                </a:lnTo>
                <a:lnTo>
                  <a:pt x="22391" y="1726"/>
                </a:lnTo>
                <a:lnTo>
                  <a:pt x="15566" y="0"/>
                </a:lnTo>
                <a:lnTo>
                  <a:pt x="359" y="123"/>
                </a:lnTo>
                <a:close/>
              </a:path>
            </a:pathLst>
          </a:custGeom>
          <a:solidFill>
            <a:srgbClr val="f2c8ad"/>
          </a:solidFill>
          <a:ln w="6191">
            <a:solidFill>
              <a:srgbClr val="b7633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66" name="ซอยโปโล"/>
          <p:cNvSpPr/>
          <p:nvPr/>
        </p:nvSpPr>
        <p:spPr>
          <a:xfrm>
            <a:off x="5494320" y="5585040"/>
            <a:ext cx="25920" cy="17640"/>
          </a:xfrm>
          <a:custGeom>
            <a:avLst/>
            <a:gdLst/>
            <a:ahLst/>
            <a:rect l="l" t="t" r="r" b="b"/>
            <a:pathLst>
              <a:path w="26343" h="18120">
                <a:moveTo>
                  <a:pt x="0" y="0"/>
                </a:moveTo>
                <a:lnTo>
                  <a:pt x="479" y="18120"/>
                </a:lnTo>
                <a:lnTo>
                  <a:pt x="17123" y="17873"/>
                </a:lnTo>
                <a:lnTo>
                  <a:pt x="17362" y="15655"/>
                </a:lnTo>
                <a:lnTo>
                  <a:pt x="25744" y="15531"/>
                </a:lnTo>
                <a:lnTo>
                  <a:pt x="26343" y="1233"/>
                </a:lnTo>
                <a:lnTo>
                  <a:pt x="0" y="0"/>
                </a:lnTo>
                <a:close/>
              </a:path>
            </a:pathLst>
          </a:custGeom>
          <a:solidFill>
            <a:srgbClr val="f2c8ad"/>
          </a:solidFill>
          <a:ln w="6191">
            <a:solidFill>
              <a:srgbClr val="b7633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67" name="ซอยพระเจน"/>
          <p:cNvSpPr/>
          <p:nvPr/>
        </p:nvSpPr>
        <p:spPr>
          <a:xfrm>
            <a:off x="5451480" y="5606280"/>
            <a:ext cx="32400" cy="30240"/>
          </a:xfrm>
          <a:custGeom>
            <a:avLst/>
            <a:gdLst/>
            <a:ahLst/>
            <a:rect l="l" t="t" r="r" b="b"/>
            <a:pathLst>
              <a:path w="32689" h="30446">
                <a:moveTo>
                  <a:pt x="1796" y="14052"/>
                </a:moveTo>
                <a:lnTo>
                  <a:pt x="0" y="25762"/>
                </a:lnTo>
                <a:lnTo>
                  <a:pt x="19637" y="29953"/>
                </a:lnTo>
                <a:lnTo>
                  <a:pt x="32689" y="30446"/>
                </a:lnTo>
                <a:lnTo>
                  <a:pt x="30534" y="0"/>
                </a:lnTo>
                <a:lnTo>
                  <a:pt x="16285" y="986"/>
                </a:lnTo>
                <a:lnTo>
                  <a:pt x="16524" y="14299"/>
                </a:lnTo>
                <a:lnTo>
                  <a:pt x="1796" y="14052"/>
                </a:lnTo>
                <a:close/>
              </a:path>
            </a:pathLst>
          </a:custGeom>
          <a:solidFill>
            <a:srgbClr val="f2c8ad"/>
          </a:solidFill>
          <a:ln w="6191">
            <a:solidFill>
              <a:srgbClr val="b7633d"/>
            </a:solidFill>
            <a:round/>
          </a:ln>
        </p:spPr>
        <p:style>
          <a:lnRef idx="0"/>
          <a:fillRef idx="0"/>
          <a:effectRef idx="0"/>
          <a:fontRef idx="minor"/>
        </p:style>
        <p:txBody>
          <a:bodyPr lIns="90000" rIns="90000" tIns="-14760" bIns="-14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68" name="ซอยร่วมฤดี"/>
          <p:cNvSpPr/>
          <p:nvPr/>
        </p:nvSpPr>
        <p:spPr>
          <a:xfrm>
            <a:off x="5489280" y="5577840"/>
            <a:ext cx="33480" cy="6840"/>
          </a:xfrm>
          <a:custGeom>
            <a:avLst/>
            <a:gdLst/>
            <a:ahLst/>
            <a:rect l="l" t="t" r="r" b="b"/>
            <a:pathLst>
              <a:path w="33886" h="7273">
                <a:moveTo>
                  <a:pt x="33527" y="2958"/>
                </a:moveTo>
                <a:lnTo>
                  <a:pt x="0" y="0"/>
                </a:lnTo>
                <a:lnTo>
                  <a:pt x="1078" y="5793"/>
                </a:lnTo>
                <a:lnTo>
                  <a:pt x="33886" y="7273"/>
                </a:lnTo>
                <a:lnTo>
                  <a:pt x="33527" y="2958"/>
                </a:lnTo>
                <a:close/>
              </a:path>
            </a:pathLst>
          </a:custGeom>
          <a:solidFill>
            <a:srgbClr val="f2c8ad"/>
          </a:solidFill>
          <a:ln w="6191">
            <a:solidFill>
              <a:srgbClr val="b7633d"/>
            </a:solidFill>
            <a:round/>
          </a:ln>
        </p:spPr>
        <p:style>
          <a:lnRef idx="0"/>
          <a:fillRef idx="0"/>
          <a:effectRef idx="0"/>
          <a:fontRef idx="minor"/>
        </p:style>
        <p:txBody>
          <a:bodyPr lIns="90000" rIns="90000" tIns="-38160" bIns="-38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69" name="ซอยร่วมฤดี"/>
          <p:cNvSpPr/>
          <p:nvPr/>
        </p:nvSpPr>
        <p:spPr>
          <a:xfrm>
            <a:off x="5478480" y="5576760"/>
            <a:ext cx="11160" cy="7200"/>
          </a:xfrm>
          <a:custGeom>
            <a:avLst/>
            <a:gdLst/>
            <a:ahLst/>
            <a:rect l="l" t="t" r="r" b="b"/>
            <a:pathLst>
              <a:path w="11615" h="7396">
                <a:moveTo>
                  <a:pt x="11495" y="2835"/>
                </a:moveTo>
                <a:lnTo>
                  <a:pt x="10058" y="863"/>
                </a:lnTo>
                <a:lnTo>
                  <a:pt x="479" y="0"/>
                </a:lnTo>
                <a:lnTo>
                  <a:pt x="0" y="7026"/>
                </a:lnTo>
                <a:lnTo>
                  <a:pt x="11615" y="7396"/>
                </a:lnTo>
                <a:lnTo>
                  <a:pt x="11495" y="2835"/>
                </a:lnTo>
                <a:close/>
              </a:path>
            </a:pathLst>
          </a:custGeom>
          <a:solidFill>
            <a:srgbClr val="f2c8ad"/>
          </a:solidFill>
          <a:ln w="6191">
            <a:solidFill>
              <a:srgbClr val="b7633d"/>
            </a:solidFill>
            <a:round/>
          </a:ln>
        </p:spPr>
        <p:style>
          <a:lnRef idx="0"/>
          <a:fillRef idx="0"/>
          <a:effectRef idx="0"/>
          <a:fontRef idx="minor"/>
        </p:style>
        <p:txBody>
          <a:bodyPr lIns="90000" rIns="90000" tIns="-37800" bIns="-37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70" name="พัฒนาบ่อนไก่"/>
          <p:cNvSpPr/>
          <p:nvPr/>
        </p:nvSpPr>
        <p:spPr>
          <a:xfrm>
            <a:off x="5504760" y="5697000"/>
            <a:ext cx="28440" cy="12600"/>
          </a:xfrm>
          <a:custGeom>
            <a:avLst/>
            <a:gdLst/>
            <a:ahLst/>
            <a:rect l="l" t="t" r="r" b="b"/>
            <a:pathLst>
              <a:path w="28857" h="13066">
                <a:moveTo>
                  <a:pt x="28738" y="1602"/>
                </a:moveTo>
                <a:lnTo>
                  <a:pt x="958" y="0"/>
                </a:lnTo>
                <a:lnTo>
                  <a:pt x="0" y="2219"/>
                </a:lnTo>
                <a:lnTo>
                  <a:pt x="15925" y="8998"/>
                </a:lnTo>
                <a:lnTo>
                  <a:pt x="17841" y="4561"/>
                </a:lnTo>
                <a:lnTo>
                  <a:pt x="19518" y="5054"/>
                </a:lnTo>
                <a:lnTo>
                  <a:pt x="17602" y="9738"/>
                </a:lnTo>
                <a:lnTo>
                  <a:pt x="25864" y="13066"/>
                </a:lnTo>
                <a:lnTo>
                  <a:pt x="28857" y="12943"/>
                </a:lnTo>
                <a:lnTo>
                  <a:pt x="28738" y="1602"/>
                </a:lnTo>
                <a:close/>
              </a:path>
            </a:pathLst>
          </a:custGeom>
          <a:solidFill>
            <a:srgbClr val="f2c8ad"/>
          </a:solidFill>
          <a:ln w="6191">
            <a:solidFill>
              <a:srgbClr val="b7633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71" name="พัฒนาบ่อนไก่"/>
          <p:cNvSpPr/>
          <p:nvPr/>
        </p:nvSpPr>
        <p:spPr>
          <a:xfrm>
            <a:off x="5492160" y="5695920"/>
            <a:ext cx="12240" cy="7920"/>
          </a:xfrm>
          <a:custGeom>
            <a:avLst/>
            <a:gdLst/>
            <a:ahLst/>
            <a:rect l="l" t="t" r="r" b="b"/>
            <a:pathLst>
              <a:path w="12573" h="8135">
                <a:moveTo>
                  <a:pt x="120" y="1726"/>
                </a:moveTo>
                <a:lnTo>
                  <a:pt x="0" y="3944"/>
                </a:lnTo>
                <a:lnTo>
                  <a:pt x="9938" y="8135"/>
                </a:lnTo>
                <a:lnTo>
                  <a:pt x="12573" y="986"/>
                </a:lnTo>
                <a:lnTo>
                  <a:pt x="479" y="0"/>
                </a:lnTo>
                <a:lnTo>
                  <a:pt x="120" y="1726"/>
                </a:lnTo>
                <a:close/>
              </a:path>
            </a:pathLst>
          </a:custGeom>
          <a:solidFill>
            <a:srgbClr val="f2c8ad"/>
          </a:solidFill>
          <a:ln w="6191">
            <a:solidFill>
              <a:srgbClr val="b7633d"/>
            </a:solidFill>
            <a:round/>
          </a:ln>
        </p:spPr>
        <p:style>
          <a:lnRef idx="0"/>
          <a:fillRef idx="0"/>
          <a:effectRef idx="0"/>
          <a:fontRef idx="minor"/>
        </p:style>
        <p:txBody>
          <a:bodyPr lIns="90000" rIns="90000" tIns="-37080" bIns="-37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72" name="มัสยิดมหานาค"/>
          <p:cNvSpPr/>
          <p:nvPr/>
        </p:nvSpPr>
        <p:spPr>
          <a:xfrm>
            <a:off x="5081400" y="5343480"/>
            <a:ext cx="30960" cy="32040"/>
          </a:xfrm>
          <a:custGeom>
            <a:avLst/>
            <a:gdLst/>
            <a:ahLst/>
            <a:rect l="l" t="t" r="r" b="b"/>
            <a:pathLst>
              <a:path w="31252" h="32295">
                <a:moveTo>
                  <a:pt x="31252" y="6287"/>
                </a:moveTo>
                <a:lnTo>
                  <a:pt x="2275" y="0"/>
                </a:lnTo>
                <a:lnTo>
                  <a:pt x="2155" y="1479"/>
                </a:lnTo>
                <a:lnTo>
                  <a:pt x="3951" y="2219"/>
                </a:lnTo>
                <a:lnTo>
                  <a:pt x="0" y="18613"/>
                </a:lnTo>
                <a:lnTo>
                  <a:pt x="29815" y="32295"/>
                </a:lnTo>
                <a:lnTo>
                  <a:pt x="31252" y="6287"/>
                </a:lnTo>
                <a:close/>
              </a:path>
            </a:pathLst>
          </a:custGeom>
          <a:solidFill>
            <a:srgbClr val="f2c8ad"/>
          </a:solidFill>
          <a:ln w="6191">
            <a:solidFill>
              <a:srgbClr val="b7633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73" name="สิตาราม"/>
          <p:cNvSpPr/>
          <p:nvPr/>
        </p:nvSpPr>
        <p:spPr>
          <a:xfrm>
            <a:off x="5022360" y="5308200"/>
            <a:ext cx="7920" cy="18360"/>
          </a:xfrm>
          <a:custGeom>
            <a:avLst/>
            <a:gdLst/>
            <a:ahLst/>
            <a:rect l="l" t="t" r="r" b="b"/>
            <a:pathLst>
              <a:path w="8262" h="18736">
                <a:moveTo>
                  <a:pt x="1676" y="0"/>
                </a:moveTo>
                <a:lnTo>
                  <a:pt x="0" y="16887"/>
                </a:lnTo>
                <a:lnTo>
                  <a:pt x="6466" y="18736"/>
                </a:lnTo>
                <a:lnTo>
                  <a:pt x="8262" y="9491"/>
                </a:lnTo>
                <a:lnTo>
                  <a:pt x="5269" y="6163"/>
                </a:lnTo>
                <a:lnTo>
                  <a:pt x="5269" y="493"/>
                </a:lnTo>
                <a:lnTo>
                  <a:pt x="1676" y="0"/>
                </a:lnTo>
                <a:close/>
              </a:path>
            </a:pathLst>
          </a:custGeom>
          <a:solidFill>
            <a:srgbClr val="f2c8ad"/>
          </a:solidFill>
          <a:ln w="6191">
            <a:solidFill>
              <a:srgbClr val="b7633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74" name="บ้านบาตร"/>
          <p:cNvSpPr/>
          <p:nvPr/>
        </p:nvSpPr>
        <p:spPr>
          <a:xfrm>
            <a:off x="4969440" y="5369400"/>
            <a:ext cx="18360" cy="15480"/>
          </a:xfrm>
          <a:custGeom>
            <a:avLst/>
            <a:gdLst/>
            <a:ahLst/>
            <a:rect l="l" t="t" r="r" b="b"/>
            <a:pathLst>
              <a:path w="18679" h="15901">
                <a:moveTo>
                  <a:pt x="2155" y="1726"/>
                </a:moveTo>
                <a:lnTo>
                  <a:pt x="0" y="11464"/>
                </a:lnTo>
                <a:lnTo>
                  <a:pt x="14249" y="15901"/>
                </a:lnTo>
                <a:lnTo>
                  <a:pt x="18679" y="4931"/>
                </a:lnTo>
                <a:lnTo>
                  <a:pt x="18081" y="2958"/>
                </a:lnTo>
                <a:lnTo>
                  <a:pt x="2515" y="0"/>
                </a:lnTo>
                <a:lnTo>
                  <a:pt x="2155" y="1726"/>
                </a:lnTo>
                <a:close/>
              </a:path>
            </a:pathLst>
          </a:custGeom>
          <a:solidFill>
            <a:srgbClr val="f2c8ad"/>
          </a:solidFill>
          <a:ln w="6191">
            <a:solidFill>
              <a:srgbClr val="b7633d"/>
            </a:solidFill>
            <a:round/>
          </a:ln>
        </p:spPr>
        <p:style>
          <a:lnRef idx="0"/>
          <a:fillRef idx="0"/>
          <a:effectRef idx="0"/>
          <a:fontRef idx="minor"/>
        </p:style>
        <p:txBody>
          <a:bodyPr lIns="90000" rIns="90000" tIns="-29520" bIns="-29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75" name="วัดสระเกศ"/>
          <p:cNvSpPr/>
          <p:nvPr/>
        </p:nvSpPr>
        <p:spPr>
          <a:xfrm>
            <a:off x="4974480" y="5355360"/>
            <a:ext cx="32040" cy="6480"/>
          </a:xfrm>
          <a:custGeom>
            <a:avLst/>
            <a:gdLst/>
            <a:ahLst/>
            <a:rect l="l" t="t" r="r" b="b"/>
            <a:pathLst>
              <a:path w="32569" h="6780">
                <a:moveTo>
                  <a:pt x="30773" y="1602"/>
                </a:moveTo>
                <a:lnTo>
                  <a:pt x="32569" y="1726"/>
                </a:lnTo>
                <a:lnTo>
                  <a:pt x="32569" y="0"/>
                </a:lnTo>
                <a:lnTo>
                  <a:pt x="25624" y="986"/>
                </a:lnTo>
                <a:lnTo>
                  <a:pt x="25385" y="4314"/>
                </a:lnTo>
                <a:lnTo>
                  <a:pt x="0" y="2835"/>
                </a:lnTo>
                <a:lnTo>
                  <a:pt x="0" y="4438"/>
                </a:lnTo>
                <a:lnTo>
                  <a:pt x="28738" y="6780"/>
                </a:lnTo>
                <a:lnTo>
                  <a:pt x="28738" y="4807"/>
                </a:lnTo>
                <a:lnTo>
                  <a:pt x="30653" y="4807"/>
                </a:lnTo>
                <a:lnTo>
                  <a:pt x="30773" y="1602"/>
                </a:lnTo>
                <a:close/>
              </a:path>
            </a:pathLst>
          </a:custGeom>
          <a:solidFill>
            <a:srgbClr val="f2c8ad"/>
          </a:solidFill>
          <a:ln w="6191">
            <a:solidFill>
              <a:srgbClr val="b7633d"/>
            </a:solidFill>
            <a:round/>
          </a:ln>
        </p:spPr>
        <p:style>
          <a:lnRef idx="0"/>
          <a:fillRef idx="0"/>
          <a:effectRef idx="0"/>
          <a:fontRef idx="minor"/>
        </p:style>
        <p:txBody>
          <a:bodyPr lIns="90000" rIns="90000" tIns="-38520" bIns="-38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76" name="บ้านดอกไม้"/>
          <p:cNvSpPr/>
          <p:nvPr/>
        </p:nvSpPr>
        <p:spPr>
          <a:xfrm>
            <a:off x="4981680" y="5394600"/>
            <a:ext cx="14400" cy="13320"/>
          </a:xfrm>
          <a:custGeom>
            <a:avLst/>
            <a:gdLst/>
            <a:ahLst/>
            <a:rect l="l" t="t" r="r" b="b"/>
            <a:pathLst>
              <a:path w="14728" h="13682">
                <a:moveTo>
                  <a:pt x="14728" y="6656"/>
                </a:moveTo>
                <a:lnTo>
                  <a:pt x="3353" y="0"/>
                </a:lnTo>
                <a:lnTo>
                  <a:pt x="0" y="7273"/>
                </a:lnTo>
                <a:lnTo>
                  <a:pt x="11016" y="13682"/>
                </a:lnTo>
                <a:lnTo>
                  <a:pt x="14728" y="6656"/>
                </a:lnTo>
                <a:close/>
              </a:path>
            </a:pathLst>
          </a:custGeom>
          <a:solidFill>
            <a:srgbClr val="f2c8ad"/>
          </a:solidFill>
          <a:ln w="6191">
            <a:solidFill>
              <a:srgbClr val="b7633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77" name="จักรพรรดิพงษ์"/>
          <p:cNvSpPr/>
          <p:nvPr/>
        </p:nvSpPr>
        <p:spPr>
          <a:xfrm>
            <a:off x="5018400" y="5285880"/>
            <a:ext cx="5400" cy="21240"/>
          </a:xfrm>
          <a:custGeom>
            <a:avLst/>
            <a:gdLst/>
            <a:ahLst/>
            <a:rect l="l" t="t" r="r" b="b"/>
            <a:pathLst>
              <a:path w="5867" h="21448">
                <a:moveTo>
                  <a:pt x="3712" y="0"/>
                </a:moveTo>
                <a:lnTo>
                  <a:pt x="0" y="2835"/>
                </a:lnTo>
                <a:lnTo>
                  <a:pt x="1557" y="8505"/>
                </a:lnTo>
                <a:lnTo>
                  <a:pt x="120" y="21448"/>
                </a:lnTo>
                <a:lnTo>
                  <a:pt x="4191" y="21325"/>
                </a:lnTo>
                <a:lnTo>
                  <a:pt x="4670" y="18736"/>
                </a:lnTo>
                <a:lnTo>
                  <a:pt x="5867" y="4931"/>
                </a:lnTo>
                <a:lnTo>
                  <a:pt x="3712" y="0"/>
                </a:lnTo>
                <a:close/>
              </a:path>
            </a:pathLst>
          </a:custGeom>
          <a:solidFill>
            <a:srgbClr val="f2c8ad"/>
          </a:solidFill>
          <a:ln w="6191">
            <a:solidFill>
              <a:srgbClr val="b7633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78" name="วัดสุนทรธรรมทาน"/>
          <p:cNvSpPr/>
          <p:nvPr/>
        </p:nvSpPr>
        <p:spPr>
          <a:xfrm>
            <a:off x="5023440" y="5279040"/>
            <a:ext cx="36000" cy="27720"/>
          </a:xfrm>
          <a:custGeom>
            <a:avLst/>
            <a:gdLst/>
            <a:ahLst/>
            <a:rect l="l" t="t" r="r" b="b"/>
            <a:pathLst>
              <a:path w="36521" h="28104">
                <a:moveTo>
                  <a:pt x="10777" y="0"/>
                </a:moveTo>
                <a:lnTo>
                  <a:pt x="0" y="6533"/>
                </a:lnTo>
                <a:lnTo>
                  <a:pt x="3113" y="14915"/>
                </a:lnTo>
                <a:lnTo>
                  <a:pt x="1676" y="28104"/>
                </a:lnTo>
                <a:lnTo>
                  <a:pt x="36521" y="27118"/>
                </a:lnTo>
                <a:lnTo>
                  <a:pt x="10777" y="0"/>
                </a:lnTo>
                <a:close/>
              </a:path>
            </a:pathLst>
          </a:custGeom>
          <a:solidFill>
            <a:srgbClr val="f2c8ad"/>
          </a:solidFill>
          <a:ln w="6191">
            <a:solidFill>
              <a:srgbClr val="b7633d"/>
            </a:solidFill>
            <a:round/>
          </a:ln>
        </p:spPr>
        <p:style>
          <a:lnRef idx="0"/>
          <a:fillRef idx="0"/>
          <a:effectRef idx="0"/>
          <a:fontRef idx="minor"/>
        </p:style>
        <p:txBody>
          <a:bodyPr lIns="90000" rIns="90000" tIns="-17280" bIns="-17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79" name="วัดโสมนัส"/>
          <p:cNvSpPr/>
          <p:nvPr/>
        </p:nvSpPr>
        <p:spPr>
          <a:xfrm>
            <a:off x="5018760" y="5230440"/>
            <a:ext cx="16200" cy="21960"/>
          </a:xfrm>
          <a:custGeom>
            <a:avLst/>
            <a:gdLst/>
            <a:ahLst/>
            <a:rect l="l" t="t" r="r" b="b"/>
            <a:pathLst>
              <a:path w="16644" h="22434">
                <a:moveTo>
                  <a:pt x="4670" y="3575"/>
                </a:moveTo>
                <a:lnTo>
                  <a:pt x="359" y="11217"/>
                </a:lnTo>
                <a:lnTo>
                  <a:pt x="2634" y="12080"/>
                </a:lnTo>
                <a:lnTo>
                  <a:pt x="1916" y="13682"/>
                </a:lnTo>
                <a:lnTo>
                  <a:pt x="3353" y="14299"/>
                </a:lnTo>
                <a:lnTo>
                  <a:pt x="3592" y="16887"/>
                </a:lnTo>
                <a:lnTo>
                  <a:pt x="838" y="15778"/>
                </a:lnTo>
                <a:lnTo>
                  <a:pt x="0" y="17011"/>
                </a:lnTo>
                <a:lnTo>
                  <a:pt x="5029" y="22434"/>
                </a:lnTo>
                <a:lnTo>
                  <a:pt x="16644" y="8752"/>
                </a:lnTo>
                <a:lnTo>
                  <a:pt x="8142" y="0"/>
                </a:lnTo>
                <a:lnTo>
                  <a:pt x="4670" y="3575"/>
                </a:lnTo>
                <a:close/>
              </a:path>
            </a:pathLst>
          </a:custGeom>
          <a:solidFill>
            <a:srgbClr val="f2c8ad"/>
          </a:solidFill>
          <a:ln w="6191">
            <a:solidFill>
              <a:srgbClr val="b7633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80" name="ชุมชนริมคลองกะจะ"/>
          <p:cNvSpPr/>
          <p:nvPr/>
        </p:nvSpPr>
        <p:spPr>
          <a:xfrm>
            <a:off x="6514920" y="5360760"/>
            <a:ext cx="13320" cy="13320"/>
          </a:xfrm>
          <a:custGeom>
            <a:avLst/>
            <a:gdLst/>
            <a:ahLst/>
            <a:rect l="l" t="t" r="r" b="b"/>
            <a:pathLst>
              <a:path w="13770" h="13559">
                <a:moveTo>
                  <a:pt x="8382" y="13559"/>
                </a:moveTo>
                <a:lnTo>
                  <a:pt x="13770" y="1233"/>
                </a:lnTo>
                <a:lnTo>
                  <a:pt x="2395" y="0"/>
                </a:lnTo>
                <a:lnTo>
                  <a:pt x="0" y="6040"/>
                </a:lnTo>
                <a:lnTo>
                  <a:pt x="8382" y="13559"/>
                </a:lnTo>
                <a:close/>
              </a:path>
            </a:pathLst>
          </a:custGeom>
          <a:solidFill>
            <a:srgbClr val="f2c8ad"/>
          </a:solidFill>
          <a:ln w="6191">
            <a:solidFill>
              <a:srgbClr val="b7633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81" name="ชุมชนริมคลองกะจะ"/>
          <p:cNvSpPr/>
          <p:nvPr/>
        </p:nvSpPr>
        <p:spPr>
          <a:xfrm>
            <a:off x="6526440" y="5374440"/>
            <a:ext cx="7560" cy="7920"/>
          </a:xfrm>
          <a:custGeom>
            <a:avLst/>
            <a:gdLst/>
            <a:ahLst/>
            <a:rect l="l" t="t" r="r" b="b"/>
            <a:pathLst>
              <a:path w="7903" h="8135">
                <a:moveTo>
                  <a:pt x="0" y="3575"/>
                </a:moveTo>
                <a:lnTo>
                  <a:pt x="4311" y="8135"/>
                </a:lnTo>
                <a:lnTo>
                  <a:pt x="7903" y="4314"/>
                </a:lnTo>
                <a:lnTo>
                  <a:pt x="2515" y="0"/>
                </a:lnTo>
                <a:lnTo>
                  <a:pt x="0" y="3575"/>
                </a:lnTo>
                <a:close/>
              </a:path>
            </a:pathLst>
          </a:custGeom>
          <a:solidFill>
            <a:srgbClr val="f2c8ad"/>
          </a:solidFill>
          <a:ln w="6191">
            <a:solidFill>
              <a:srgbClr val="b7633d"/>
            </a:solidFill>
            <a:round/>
          </a:ln>
        </p:spPr>
        <p:style>
          <a:lnRef idx="0"/>
          <a:fillRef idx="0"/>
          <a:effectRef idx="0"/>
          <a:fontRef idx="minor"/>
        </p:style>
        <p:txBody>
          <a:bodyPr lIns="90000" rIns="90000" tIns="-37080" bIns="-37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82" name="ชุมชนริมคลองกะจะ"/>
          <p:cNvSpPr/>
          <p:nvPr/>
        </p:nvSpPr>
        <p:spPr>
          <a:xfrm>
            <a:off x="6523560" y="5342760"/>
            <a:ext cx="12240" cy="15480"/>
          </a:xfrm>
          <a:custGeom>
            <a:avLst/>
            <a:gdLst/>
            <a:ahLst/>
            <a:rect l="l" t="t" r="r" b="b"/>
            <a:pathLst>
              <a:path w="12453" h="15778">
                <a:moveTo>
                  <a:pt x="6107" y="15778"/>
                </a:moveTo>
                <a:lnTo>
                  <a:pt x="12453" y="616"/>
                </a:lnTo>
                <a:lnTo>
                  <a:pt x="10417" y="123"/>
                </a:lnTo>
                <a:lnTo>
                  <a:pt x="9819" y="1356"/>
                </a:lnTo>
                <a:lnTo>
                  <a:pt x="6346" y="0"/>
                </a:lnTo>
                <a:lnTo>
                  <a:pt x="0" y="14915"/>
                </a:lnTo>
                <a:lnTo>
                  <a:pt x="6107" y="15778"/>
                </a:lnTo>
                <a:close/>
              </a:path>
            </a:pathLst>
          </a:custGeom>
          <a:solidFill>
            <a:srgbClr val="f2c8ad"/>
          </a:solidFill>
          <a:ln w="6191">
            <a:solidFill>
              <a:srgbClr val="b7633d"/>
            </a:solidFill>
            <a:round/>
          </a:ln>
        </p:spPr>
        <p:style>
          <a:lnRef idx="0"/>
          <a:fillRef idx="0"/>
          <a:effectRef idx="0"/>
          <a:fontRef idx="minor"/>
        </p:style>
        <p:txBody>
          <a:bodyPr lIns="90000" rIns="90000" tIns="-29520" bIns="-29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83" name="ชุมชนสามัคคีพัฒนา"/>
          <p:cNvSpPr/>
          <p:nvPr/>
        </p:nvSpPr>
        <p:spPr>
          <a:xfrm>
            <a:off x="6773400" y="5204520"/>
            <a:ext cx="66960" cy="69120"/>
          </a:xfrm>
          <a:custGeom>
            <a:avLst/>
            <a:gdLst/>
            <a:ahLst/>
            <a:rect l="l" t="t" r="r" b="b"/>
            <a:pathLst>
              <a:path w="67174" h="69398">
                <a:moveTo>
                  <a:pt x="11016" y="62865"/>
                </a:moveTo>
                <a:lnTo>
                  <a:pt x="12213" y="65084"/>
                </a:lnTo>
                <a:lnTo>
                  <a:pt x="23349" y="65454"/>
                </a:lnTo>
                <a:lnTo>
                  <a:pt x="43705" y="69398"/>
                </a:lnTo>
                <a:lnTo>
                  <a:pt x="48734" y="56455"/>
                </a:lnTo>
                <a:lnTo>
                  <a:pt x="53643" y="54606"/>
                </a:lnTo>
                <a:lnTo>
                  <a:pt x="59870" y="48320"/>
                </a:lnTo>
                <a:lnTo>
                  <a:pt x="61906" y="38828"/>
                </a:lnTo>
                <a:lnTo>
                  <a:pt x="67174" y="27118"/>
                </a:lnTo>
                <a:lnTo>
                  <a:pt x="37958" y="14422"/>
                </a:lnTo>
                <a:lnTo>
                  <a:pt x="33168" y="11217"/>
                </a:lnTo>
                <a:lnTo>
                  <a:pt x="33767" y="7642"/>
                </a:lnTo>
                <a:lnTo>
                  <a:pt x="14608" y="0"/>
                </a:lnTo>
                <a:lnTo>
                  <a:pt x="9340" y="17257"/>
                </a:lnTo>
                <a:lnTo>
                  <a:pt x="10537" y="30693"/>
                </a:lnTo>
                <a:lnTo>
                  <a:pt x="0" y="58181"/>
                </a:lnTo>
                <a:lnTo>
                  <a:pt x="11495" y="60276"/>
                </a:lnTo>
                <a:lnTo>
                  <a:pt x="11016" y="62865"/>
                </a:lnTo>
                <a:close/>
              </a:path>
            </a:pathLst>
          </a:custGeom>
          <a:solidFill>
            <a:srgbClr val="f2c8ad"/>
          </a:solidFill>
          <a:ln w="6191">
            <a:solidFill>
              <a:srgbClr val="b7633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84" name="ชุมชนสามัคคีพัฒนา"/>
          <p:cNvSpPr/>
          <p:nvPr/>
        </p:nvSpPr>
        <p:spPr>
          <a:xfrm>
            <a:off x="6755040" y="5224680"/>
            <a:ext cx="24120" cy="24480"/>
          </a:xfrm>
          <a:custGeom>
            <a:avLst/>
            <a:gdLst/>
            <a:ahLst/>
            <a:rect l="l" t="t" r="r" b="b"/>
            <a:pathLst>
              <a:path w="24547" h="24776">
                <a:moveTo>
                  <a:pt x="3712" y="0"/>
                </a:moveTo>
                <a:lnTo>
                  <a:pt x="0" y="3698"/>
                </a:lnTo>
                <a:lnTo>
                  <a:pt x="9220" y="16024"/>
                </a:lnTo>
                <a:lnTo>
                  <a:pt x="13890" y="18860"/>
                </a:lnTo>
                <a:lnTo>
                  <a:pt x="19039" y="24776"/>
                </a:lnTo>
                <a:lnTo>
                  <a:pt x="21912" y="22557"/>
                </a:lnTo>
                <a:lnTo>
                  <a:pt x="24547" y="16764"/>
                </a:lnTo>
                <a:lnTo>
                  <a:pt x="12333" y="1849"/>
                </a:lnTo>
                <a:lnTo>
                  <a:pt x="3712" y="0"/>
                </a:lnTo>
                <a:close/>
              </a:path>
            </a:pathLst>
          </a:custGeom>
          <a:solidFill>
            <a:srgbClr val="f2c8ad"/>
          </a:solidFill>
          <a:ln w="6191">
            <a:solidFill>
              <a:srgbClr val="b7633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85" name="ลำสาลี"/>
          <p:cNvSpPr/>
          <p:nvPr/>
        </p:nvSpPr>
        <p:spPr>
          <a:xfrm>
            <a:off x="6630840" y="5368680"/>
            <a:ext cx="135720" cy="142920"/>
          </a:xfrm>
          <a:custGeom>
            <a:avLst/>
            <a:gdLst/>
            <a:ahLst/>
            <a:rect l="l" t="t" r="r" b="b"/>
            <a:pathLst>
              <a:path w="135905" h="143357">
                <a:moveTo>
                  <a:pt x="69689" y="26748"/>
                </a:moveTo>
                <a:lnTo>
                  <a:pt x="45741" y="11833"/>
                </a:lnTo>
                <a:lnTo>
                  <a:pt x="20835" y="0"/>
                </a:lnTo>
                <a:lnTo>
                  <a:pt x="18081" y="493"/>
                </a:lnTo>
                <a:lnTo>
                  <a:pt x="14369" y="6656"/>
                </a:lnTo>
                <a:lnTo>
                  <a:pt x="0" y="61139"/>
                </a:lnTo>
                <a:lnTo>
                  <a:pt x="8502" y="62249"/>
                </a:lnTo>
                <a:lnTo>
                  <a:pt x="19278" y="61386"/>
                </a:lnTo>
                <a:lnTo>
                  <a:pt x="37718" y="78396"/>
                </a:lnTo>
                <a:lnTo>
                  <a:pt x="48854" y="85053"/>
                </a:lnTo>
                <a:lnTo>
                  <a:pt x="52446" y="88997"/>
                </a:lnTo>
                <a:lnTo>
                  <a:pt x="55799" y="94667"/>
                </a:lnTo>
                <a:lnTo>
                  <a:pt x="53763" y="103419"/>
                </a:lnTo>
                <a:lnTo>
                  <a:pt x="49453" y="107117"/>
                </a:lnTo>
                <a:lnTo>
                  <a:pt x="42987" y="109829"/>
                </a:lnTo>
                <a:lnTo>
                  <a:pt x="47896" y="114266"/>
                </a:lnTo>
                <a:lnTo>
                  <a:pt x="61187" y="121786"/>
                </a:lnTo>
                <a:lnTo>
                  <a:pt x="125607" y="143357"/>
                </a:lnTo>
                <a:lnTo>
                  <a:pt x="135905" y="113773"/>
                </a:lnTo>
                <a:lnTo>
                  <a:pt x="111238" y="95037"/>
                </a:lnTo>
                <a:lnTo>
                  <a:pt x="111238" y="91709"/>
                </a:lnTo>
                <a:lnTo>
                  <a:pt x="126565" y="41787"/>
                </a:lnTo>
                <a:lnTo>
                  <a:pt x="84656" y="31926"/>
                </a:lnTo>
                <a:lnTo>
                  <a:pt x="83698" y="33528"/>
                </a:lnTo>
                <a:lnTo>
                  <a:pt x="69689" y="26748"/>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86" name="ชุมชนลำสาลีพัฒนา"/>
          <p:cNvSpPr/>
          <p:nvPr/>
        </p:nvSpPr>
        <p:spPr>
          <a:xfrm>
            <a:off x="6673680" y="5330520"/>
            <a:ext cx="112680" cy="80640"/>
          </a:xfrm>
          <a:custGeom>
            <a:avLst/>
            <a:gdLst/>
            <a:ahLst/>
            <a:rect l="l" t="t" r="r" b="b"/>
            <a:pathLst>
              <a:path w="113034" h="81108">
                <a:moveTo>
                  <a:pt x="112555" y="62372"/>
                </a:moveTo>
                <a:lnTo>
                  <a:pt x="112077" y="18983"/>
                </a:lnTo>
                <a:lnTo>
                  <a:pt x="62384" y="5917"/>
                </a:lnTo>
                <a:lnTo>
                  <a:pt x="50530" y="0"/>
                </a:lnTo>
                <a:lnTo>
                  <a:pt x="26103" y="17997"/>
                </a:lnTo>
                <a:lnTo>
                  <a:pt x="23110" y="24160"/>
                </a:lnTo>
                <a:lnTo>
                  <a:pt x="20835" y="33775"/>
                </a:lnTo>
                <a:lnTo>
                  <a:pt x="5269" y="23420"/>
                </a:lnTo>
                <a:lnTo>
                  <a:pt x="0" y="33405"/>
                </a:lnTo>
                <a:lnTo>
                  <a:pt x="718" y="39938"/>
                </a:lnTo>
                <a:lnTo>
                  <a:pt x="13531" y="51648"/>
                </a:lnTo>
                <a:lnTo>
                  <a:pt x="24786" y="60276"/>
                </a:lnTo>
                <a:lnTo>
                  <a:pt x="38676" y="67796"/>
                </a:lnTo>
                <a:lnTo>
                  <a:pt x="97947" y="81108"/>
                </a:lnTo>
                <a:lnTo>
                  <a:pt x="109801" y="80245"/>
                </a:lnTo>
                <a:lnTo>
                  <a:pt x="113034" y="66440"/>
                </a:lnTo>
                <a:lnTo>
                  <a:pt x="112555" y="62372"/>
                </a:lnTo>
                <a:close/>
              </a:path>
            </a:pathLst>
          </a:custGeom>
          <a:solidFill>
            <a:srgbClr val="f2c8ad"/>
          </a:solidFill>
          <a:ln w="6191">
            <a:solidFill>
              <a:srgbClr val="b7633d"/>
            </a:solidFill>
            <a:round/>
          </a:ln>
        </p:spPr>
        <p:style>
          <a:lnRef idx="0"/>
          <a:fillRef idx="0"/>
          <a:effectRef idx="0"/>
          <a:fontRef idx="minor"/>
        </p:style>
        <p:txBody>
          <a:bodyPr lIns="90000" rIns="90000" tIns="35640" bIns="35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87" name="ชุมชนมัจฉา"/>
          <p:cNvSpPr/>
          <p:nvPr/>
        </p:nvSpPr>
        <p:spPr>
          <a:xfrm>
            <a:off x="6730920" y="5312520"/>
            <a:ext cx="31680" cy="16920"/>
          </a:xfrm>
          <a:custGeom>
            <a:avLst/>
            <a:gdLst/>
            <a:ahLst/>
            <a:rect l="l" t="t" r="r" b="b"/>
            <a:pathLst>
              <a:path w="32090" h="17257">
                <a:moveTo>
                  <a:pt x="11375" y="4314"/>
                </a:moveTo>
                <a:lnTo>
                  <a:pt x="2993" y="0"/>
                </a:lnTo>
                <a:lnTo>
                  <a:pt x="0" y="4438"/>
                </a:lnTo>
                <a:lnTo>
                  <a:pt x="5508" y="9368"/>
                </a:lnTo>
                <a:lnTo>
                  <a:pt x="12453" y="12450"/>
                </a:lnTo>
                <a:lnTo>
                  <a:pt x="29695" y="17257"/>
                </a:lnTo>
                <a:lnTo>
                  <a:pt x="31252" y="15655"/>
                </a:lnTo>
                <a:lnTo>
                  <a:pt x="32090" y="10724"/>
                </a:lnTo>
                <a:lnTo>
                  <a:pt x="11375" y="4314"/>
                </a:lnTo>
                <a:close/>
              </a:path>
            </a:pathLst>
          </a:custGeom>
          <a:solidFill>
            <a:srgbClr val="f2c8ad"/>
          </a:solidFill>
          <a:ln w="6191">
            <a:solidFill>
              <a:srgbClr val="b7633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88" name="หลวงพรต-ท่านเลี่ยม"/>
          <p:cNvSpPr/>
          <p:nvPr/>
        </p:nvSpPr>
        <p:spPr>
          <a:xfrm>
            <a:off x="8315280" y="5689440"/>
            <a:ext cx="65880" cy="16560"/>
          </a:xfrm>
          <a:custGeom>
            <a:avLst/>
            <a:gdLst/>
            <a:ahLst/>
            <a:rect l="l" t="t" r="r" b="b"/>
            <a:pathLst>
              <a:path w="66336" h="16764">
                <a:moveTo>
                  <a:pt x="4311" y="16517"/>
                </a:moveTo>
                <a:lnTo>
                  <a:pt x="63582" y="16764"/>
                </a:lnTo>
                <a:lnTo>
                  <a:pt x="66336" y="6287"/>
                </a:lnTo>
                <a:lnTo>
                  <a:pt x="44543" y="3575"/>
                </a:lnTo>
                <a:lnTo>
                  <a:pt x="44543" y="0"/>
                </a:lnTo>
                <a:lnTo>
                  <a:pt x="0" y="616"/>
                </a:lnTo>
                <a:lnTo>
                  <a:pt x="0" y="16641"/>
                </a:lnTo>
                <a:lnTo>
                  <a:pt x="4311" y="16517"/>
                </a:lnTo>
                <a:close/>
              </a:path>
            </a:pathLst>
          </a:custGeom>
          <a:solidFill>
            <a:srgbClr val="f2c8ad"/>
          </a:solidFill>
          <a:ln w="6191">
            <a:solidFill>
              <a:srgbClr val="b7633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89" name="โรงคราม"/>
          <p:cNvSpPr/>
          <p:nvPr/>
        </p:nvSpPr>
        <p:spPr>
          <a:xfrm>
            <a:off x="4766760" y="5542200"/>
            <a:ext cx="20160" cy="15120"/>
          </a:xfrm>
          <a:custGeom>
            <a:avLst/>
            <a:gdLst/>
            <a:ahLst/>
            <a:rect l="l" t="t" r="r" b="b"/>
            <a:pathLst>
              <a:path w="20595" h="15655">
                <a:moveTo>
                  <a:pt x="4790" y="123"/>
                </a:moveTo>
                <a:lnTo>
                  <a:pt x="3113" y="0"/>
                </a:lnTo>
                <a:lnTo>
                  <a:pt x="1437" y="4314"/>
                </a:lnTo>
                <a:lnTo>
                  <a:pt x="0" y="8875"/>
                </a:lnTo>
                <a:lnTo>
                  <a:pt x="1197" y="9615"/>
                </a:lnTo>
                <a:lnTo>
                  <a:pt x="14010" y="15655"/>
                </a:lnTo>
                <a:lnTo>
                  <a:pt x="20595" y="9861"/>
                </a:lnTo>
                <a:lnTo>
                  <a:pt x="15925" y="5424"/>
                </a:lnTo>
                <a:lnTo>
                  <a:pt x="4790" y="123"/>
                </a:lnTo>
                <a:close/>
              </a:path>
            </a:pathLst>
          </a:custGeom>
          <a:solidFill>
            <a:srgbClr val="f2c8ad"/>
          </a:solidFill>
          <a:ln w="6191">
            <a:solidFill>
              <a:srgbClr val="b7633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90" name="วัดกัลยาณ์"/>
          <p:cNvSpPr/>
          <p:nvPr/>
        </p:nvSpPr>
        <p:spPr>
          <a:xfrm>
            <a:off x="4782600" y="5492160"/>
            <a:ext cx="41040" cy="45000"/>
          </a:xfrm>
          <a:custGeom>
            <a:avLst/>
            <a:gdLst/>
            <a:ahLst/>
            <a:rect l="l" t="t" r="r" b="b"/>
            <a:pathLst>
              <a:path w="41430" h="45485">
                <a:moveTo>
                  <a:pt x="41430" y="15408"/>
                </a:moveTo>
                <a:lnTo>
                  <a:pt x="33168" y="11340"/>
                </a:lnTo>
                <a:lnTo>
                  <a:pt x="20116" y="0"/>
                </a:lnTo>
                <a:lnTo>
                  <a:pt x="0" y="23297"/>
                </a:lnTo>
                <a:lnTo>
                  <a:pt x="11136" y="36240"/>
                </a:lnTo>
                <a:lnTo>
                  <a:pt x="23110" y="45485"/>
                </a:lnTo>
                <a:lnTo>
                  <a:pt x="25145" y="39198"/>
                </a:lnTo>
                <a:lnTo>
                  <a:pt x="38436" y="26502"/>
                </a:lnTo>
                <a:lnTo>
                  <a:pt x="41430" y="15408"/>
                </a:lnTo>
                <a:close/>
              </a:path>
            </a:pathLst>
          </a:custGeom>
          <a:solidFill>
            <a:srgbClr val="f2c8ad"/>
          </a:solidFill>
          <a:ln w="6191">
            <a:solidFill>
              <a:srgbClr val="b7633d"/>
            </a:solidFill>
            <a:round/>
          </a:ln>
        </p:spPr>
        <p:style>
          <a:lnRef idx="0"/>
          <a:fillRef idx="0"/>
          <a:effectRef idx="0"/>
          <a:fontRef idx="minor"/>
        </p:style>
        <p:txBody>
          <a:bodyPr lIns="90000" rIns="90000" tIns="0" bIns="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91" name="วัดบุปผาราม"/>
          <p:cNvSpPr/>
          <p:nvPr/>
        </p:nvSpPr>
        <p:spPr>
          <a:xfrm>
            <a:off x="4787280" y="5538960"/>
            <a:ext cx="41400" cy="41040"/>
          </a:xfrm>
          <a:custGeom>
            <a:avLst/>
            <a:gdLst/>
            <a:ahLst/>
            <a:rect l="l" t="t" r="r" b="b"/>
            <a:pathLst>
              <a:path w="41669" h="41417">
                <a:moveTo>
                  <a:pt x="39514" y="29460"/>
                </a:moveTo>
                <a:lnTo>
                  <a:pt x="32928" y="17380"/>
                </a:lnTo>
                <a:lnTo>
                  <a:pt x="21314" y="6656"/>
                </a:lnTo>
                <a:lnTo>
                  <a:pt x="23349" y="3821"/>
                </a:lnTo>
                <a:lnTo>
                  <a:pt x="18560" y="0"/>
                </a:lnTo>
                <a:lnTo>
                  <a:pt x="10417" y="11340"/>
                </a:lnTo>
                <a:lnTo>
                  <a:pt x="0" y="11957"/>
                </a:lnTo>
                <a:lnTo>
                  <a:pt x="26582" y="41417"/>
                </a:lnTo>
                <a:lnTo>
                  <a:pt x="41669" y="30693"/>
                </a:lnTo>
                <a:lnTo>
                  <a:pt x="41191" y="28844"/>
                </a:lnTo>
                <a:lnTo>
                  <a:pt x="39514" y="29460"/>
                </a:lnTo>
                <a:close/>
              </a:path>
            </a:pathLst>
          </a:custGeom>
          <a:solidFill>
            <a:srgbClr val="f2c8ad"/>
          </a:solidFill>
          <a:ln w="6191">
            <a:solidFill>
              <a:srgbClr val="b7633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92" name="สายสัมพันธ์"/>
          <p:cNvSpPr/>
          <p:nvPr/>
        </p:nvSpPr>
        <p:spPr>
          <a:xfrm>
            <a:off x="4737960" y="5790240"/>
            <a:ext cx="26640" cy="34560"/>
          </a:xfrm>
          <a:custGeom>
            <a:avLst/>
            <a:gdLst/>
            <a:ahLst/>
            <a:rect l="l" t="t" r="r" b="b"/>
            <a:pathLst>
              <a:path w="26941" h="34761">
                <a:moveTo>
                  <a:pt x="0" y="15778"/>
                </a:moveTo>
                <a:lnTo>
                  <a:pt x="11615" y="34761"/>
                </a:lnTo>
                <a:lnTo>
                  <a:pt x="24547" y="28351"/>
                </a:lnTo>
                <a:lnTo>
                  <a:pt x="20236" y="20955"/>
                </a:lnTo>
                <a:lnTo>
                  <a:pt x="25624" y="18490"/>
                </a:lnTo>
                <a:lnTo>
                  <a:pt x="23828" y="14792"/>
                </a:lnTo>
                <a:lnTo>
                  <a:pt x="26463" y="13682"/>
                </a:lnTo>
                <a:lnTo>
                  <a:pt x="24666" y="5424"/>
                </a:lnTo>
                <a:lnTo>
                  <a:pt x="24906" y="3821"/>
                </a:lnTo>
                <a:lnTo>
                  <a:pt x="26941" y="2958"/>
                </a:lnTo>
                <a:lnTo>
                  <a:pt x="25744" y="0"/>
                </a:lnTo>
                <a:lnTo>
                  <a:pt x="8142" y="8012"/>
                </a:lnTo>
                <a:lnTo>
                  <a:pt x="6226" y="9245"/>
                </a:lnTo>
                <a:lnTo>
                  <a:pt x="7663" y="12326"/>
                </a:lnTo>
                <a:lnTo>
                  <a:pt x="0" y="15778"/>
                </a:lnTo>
                <a:close/>
              </a:path>
            </a:pathLst>
          </a:custGeom>
          <a:solidFill>
            <a:srgbClr val="f2c8ad"/>
          </a:solidFill>
          <a:ln w="6191">
            <a:solidFill>
              <a:srgbClr val="b7633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93" name="วัดประยุรวงศ์"/>
          <p:cNvSpPr/>
          <p:nvPr/>
        </p:nvSpPr>
        <p:spPr>
          <a:xfrm>
            <a:off x="4830120" y="5538960"/>
            <a:ext cx="37080" cy="28080"/>
          </a:xfrm>
          <a:custGeom>
            <a:avLst/>
            <a:gdLst/>
            <a:ahLst/>
            <a:rect l="l" t="t" r="r" b="b"/>
            <a:pathLst>
              <a:path w="37359" h="28474">
                <a:moveTo>
                  <a:pt x="0" y="9861"/>
                </a:moveTo>
                <a:lnTo>
                  <a:pt x="8262" y="28474"/>
                </a:lnTo>
                <a:lnTo>
                  <a:pt x="32330" y="24406"/>
                </a:lnTo>
                <a:lnTo>
                  <a:pt x="37359" y="8998"/>
                </a:lnTo>
                <a:lnTo>
                  <a:pt x="36521" y="0"/>
                </a:lnTo>
                <a:lnTo>
                  <a:pt x="17721" y="740"/>
                </a:lnTo>
                <a:lnTo>
                  <a:pt x="0" y="9861"/>
                </a:lnTo>
                <a:close/>
              </a:path>
            </a:pathLst>
          </a:custGeom>
          <a:solidFill>
            <a:srgbClr val="f2c8ad"/>
          </a:solidFill>
          <a:ln w="6191">
            <a:solidFill>
              <a:srgbClr val="b7633d"/>
            </a:solidFill>
            <a:round/>
          </a:ln>
        </p:spPr>
        <p:style>
          <a:lnRef idx="0"/>
          <a:fillRef idx="0"/>
          <a:effectRef idx="0"/>
          <a:fontRef idx="minor"/>
        </p:style>
        <p:txBody>
          <a:bodyPr lIns="90000" rIns="90000" tIns="-16920" bIns="-16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94" name="บางไส้ไก่บ้านสมเด็จ"/>
          <p:cNvSpPr/>
          <p:nvPr/>
        </p:nvSpPr>
        <p:spPr>
          <a:xfrm>
            <a:off x="4773240" y="5604840"/>
            <a:ext cx="24840" cy="24840"/>
          </a:xfrm>
          <a:custGeom>
            <a:avLst/>
            <a:gdLst/>
            <a:ahLst/>
            <a:rect l="l" t="t" r="r" b="b"/>
            <a:pathLst>
              <a:path w="25265" h="25146">
                <a:moveTo>
                  <a:pt x="11735" y="20092"/>
                </a:moveTo>
                <a:lnTo>
                  <a:pt x="14249" y="25146"/>
                </a:lnTo>
                <a:lnTo>
                  <a:pt x="25265" y="15531"/>
                </a:lnTo>
                <a:lnTo>
                  <a:pt x="10537" y="0"/>
                </a:lnTo>
                <a:lnTo>
                  <a:pt x="0" y="11340"/>
                </a:lnTo>
                <a:lnTo>
                  <a:pt x="11735" y="20092"/>
                </a:lnTo>
                <a:close/>
              </a:path>
            </a:pathLst>
          </a:custGeom>
          <a:solidFill>
            <a:srgbClr val="f2c8ad"/>
          </a:solidFill>
          <a:ln w="6191">
            <a:solidFill>
              <a:srgbClr val="b7633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95" name="มัสยิดบ้านสมเด็จ"/>
          <p:cNvSpPr/>
          <p:nvPr/>
        </p:nvSpPr>
        <p:spPr>
          <a:xfrm>
            <a:off x="4777560" y="5620320"/>
            <a:ext cx="28080" cy="23760"/>
          </a:xfrm>
          <a:custGeom>
            <a:avLst/>
            <a:gdLst/>
            <a:ahLst/>
            <a:rect l="l" t="t" r="r" b="b"/>
            <a:pathLst>
              <a:path w="28498" h="24160">
                <a:moveTo>
                  <a:pt x="10777" y="24160"/>
                </a:moveTo>
                <a:lnTo>
                  <a:pt x="22272" y="17750"/>
                </a:lnTo>
                <a:lnTo>
                  <a:pt x="20356" y="11217"/>
                </a:lnTo>
                <a:lnTo>
                  <a:pt x="28498" y="10477"/>
                </a:lnTo>
                <a:lnTo>
                  <a:pt x="20954" y="0"/>
                </a:lnTo>
                <a:lnTo>
                  <a:pt x="9938" y="9491"/>
                </a:lnTo>
                <a:lnTo>
                  <a:pt x="7783" y="6780"/>
                </a:lnTo>
                <a:lnTo>
                  <a:pt x="4790" y="9245"/>
                </a:lnTo>
                <a:lnTo>
                  <a:pt x="2395" y="8382"/>
                </a:lnTo>
                <a:lnTo>
                  <a:pt x="0" y="11340"/>
                </a:lnTo>
                <a:lnTo>
                  <a:pt x="10777" y="24160"/>
                </a:lnTo>
                <a:close/>
              </a:path>
            </a:pathLst>
          </a:custGeom>
          <a:solidFill>
            <a:srgbClr val="f2c8ad"/>
          </a:solidFill>
          <a:ln w="6191">
            <a:solidFill>
              <a:srgbClr val="b7633d"/>
            </a:solidFill>
            <a:round/>
          </a:ln>
        </p:spPr>
        <p:style>
          <a:lnRef idx="0"/>
          <a:fillRef idx="0"/>
          <a:effectRef idx="0"/>
          <a:fontRef idx="minor"/>
        </p:style>
        <p:txBody>
          <a:bodyPr lIns="90000" rIns="90000" tIns="-21240" bIns="-21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96" name="วัดประดิษฐาราม"/>
          <p:cNvSpPr/>
          <p:nvPr/>
        </p:nvSpPr>
        <p:spPr>
          <a:xfrm>
            <a:off x="4744800" y="5574240"/>
            <a:ext cx="34560" cy="38880"/>
          </a:xfrm>
          <a:custGeom>
            <a:avLst/>
            <a:gdLst/>
            <a:ahLst/>
            <a:rect l="l" t="t" r="r" b="b"/>
            <a:pathLst>
              <a:path w="35084" h="39198">
                <a:moveTo>
                  <a:pt x="6226" y="39198"/>
                </a:moveTo>
                <a:lnTo>
                  <a:pt x="12812" y="25516"/>
                </a:lnTo>
                <a:lnTo>
                  <a:pt x="19997" y="21818"/>
                </a:lnTo>
                <a:lnTo>
                  <a:pt x="35084" y="18490"/>
                </a:lnTo>
                <a:lnTo>
                  <a:pt x="22511" y="7519"/>
                </a:lnTo>
                <a:lnTo>
                  <a:pt x="11615" y="2465"/>
                </a:lnTo>
                <a:lnTo>
                  <a:pt x="11974" y="863"/>
                </a:lnTo>
                <a:lnTo>
                  <a:pt x="10417" y="0"/>
                </a:lnTo>
                <a:lnTo>
                  <a:pt x="120" y="34884"/>
                </a:lnTo>
                <a:lnTo>
                  <a:pt x="0" y="38705"/>
                </a:lnTo>
                <a:lnTo>
                  <a:pt x="6226" y="39198"/>
                </a:lnTo>
                <a:close/>
              </a:path>
            </a:pathLst>
          </a:custGeom>
          <a:solidFill>
            <a:srgbClr val="f2c8ad"/>
          </a:solidFill>
          <a:ln w="6191">
            <a:solidFill>
              <a:srgbClr val="b7633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97" name="วัดใหญ่ศรีสุพรรณ"/>
          <p:cNvSpPr/>
          <p:nvPr/>
        </p:nvSpPr>
        <p:spPr>
          <a:xfrm>
            <a:off x="4741200" y="5614200"/>
            <a:ext cx="40320" cy="32040"/>
          </a:xfrm>
          <a:custGeom>
            <a:avLst/>
            <a:gdLst/>
            <a:ahLst/>
            <a:rect l="l" t="t" r="r" b="b"/>
            <a:pathLst>
              <a:path w="40831" h="32542">
                <a:moveTo>
                  <a:pt x="29815" y="32542"/>
                </a:moveTo>
                <a:lnTo>
                  <a:pt x="40831" y="23667"/>
                </a:lnTo>
                <a:lnTo>
                  <a:pt x="28618" y="11094"/>
                </a:lnTo>
                <a:lnTo>
                  <a:pt x="10298" y="493"/>
                </a:lnTo>
                <a:lnTo>
                  <a:pt x="3472" y="0"/>
                </a:lnTo>
                <a:lnTo>
                  <a:pt x="0" y="24406"/>
                </a:lnTo>
                <a:lnTo>
                  <a:pt x="3113" y="25146"/>
                </a:lnTo>
                <a:lnTo>
                  <a:pt x="6945" y="18243"/>
                </a:lnTo>
                <a:lnTo>
                  <a:pt x="7783" y="12696"/>
                </a:lnTo>
                <a:lnTo>
                  <a:pt x="29815" y="32542"/>
                </a:lnTo>
                <a:close/>
              </a:path>
            </a:pathLst>
          </a:custGeom>
          <a:solidFill>
            <a:srgbClr val="f2c8ad"/>
          </a:solidFill>
          <a:ln w="6191">
            <a:solidFill>
              <a:srgbClr val="b7633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98" name="ศรีภูมิ"/>
          <p:cNvSpPr/>
          <p:nvPr/>
        </p:nvSpPr>
        <p:spPr>
          <a:xfrm>
            <a:off x="4739400" y="5627160"/>
            <a:ext cx="27000" cy="39240"/>
          </a:xfrm>
          <a:custGeom>
            <a:avLst/>
            <a:gdLst/>
            <a:ahLst/>
            <a:rect l="l" t="t" r="r" b="b"/>
            <a:pathLst>
              <a:path w="27301" h="39445">
                <a:moveTo>
                  <a:pt x="0" y="28967"/>
                </a:moveTo>
                <a:lnTo>
                  <a:pt x="9100" y="30570"/>
                </a:lnTo>
                <a:lnTo>
                  <a:pt x="10657" y="32295"/>
                </a:lnTo>
                <a:lnTo>
                  <a:pt x="9938" y="37472"/>
                </a:lnTo>
                <a:lnTo>
                  <a:pt x="20835" y="39445"/>
                </a:lnTo>
                <a:lnTo>
                  <a:pt x="21793" y="33405"/>
                </a:lnTo>
                <a:lnTo>
                  <a:pt x="17721" y="26132"/>
                </a:lnTo>
                <a:lnTo>
                  <a:pt x="27301" y="15162"/>
                </a:lnTo>
                <a:lnTo>
                  <a:pt x="9699" y="0"/>
                </a:lnTo>
                <a:lnTo>
                  <a:pt x="8980" y="5300"/>
                </a:lnTo>
                <a:lnTo>
                  <a:pt x="5149" y="12326"/>
                </a:lnTo>
                <a:lnTo>
                  <a:pt x="1916" y="11464"/>
                </a:lnTo>
                <a:lnTo>
                  <a:pt x="0" y="28967"/>
                </a:lnTo>
                <a:close/>
              </a:path>
            </a:pathLst>
          </a:custGeom>
          <a:solidFill>
            <a:srgbClr val="f2c8ad"/>
          </a:solidFill>
          <a:ln w="6191">
            <a:solidFill>
              <a:srgbClr val="b7633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599" name="สามัคคีศรีสุพรรณ"/>
          <p:cNvSpPr/>
          <p:nvPr/>
        </p:nvSpPr>
        <p:spPr>
          <a:xfrm>
            <a:off x="4765680" y="5614920"/>
            <a:ext cx="19440" cy="16560"/>
          </a:xfrm>
          <a:custGeom>
            <a:avLst/>
            <a:gdLst/>
            <a:ahLst/>
            <a:rect l="l" t="t" r="r" b="b"/>
            <a:pathLst>
              <a:path w="19877" h="16764">
                <a:moveTo>
                  <a:pt x="19278" y="9984"/>
                </a:moveTo>
                <a:lnTo>
                  <a:pt x="5748" y="0"/>
                </a:lnTo>
                <a:lnTo>
                  <a:pt x="0" y="7766"/>
                </a:lnTo>
                <a:lnTo>
                  <a:pt x="11854" y="16764"/>
                </a:lnTo>
                <a:lnTo>
                  <a:pt x="14249" y="13806"/>
                </a:lnTo>
                <a:lnTo>
                  <a:pt x="16644" y="14545"/>
                </a:lnTo>
                <a:lnTo>
                  <a:pt x="19877" y="12203"/>
                </a:lnTo>
                <a:lnTo>
                  <a:pt x="19278" y="9984"/>
                </a:lnTo>
                <a:close/>
              </a:path>
            </a:pathLst>
          </a:custGeom>
          <a:solidFill>
            <a:srgbClr val="f2c8ad"/>
          </a:solidFill>
          <a:ln w="6191">
            <a:solidFill>
              <a:srgbClr val="b7633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00" name="สี่แยกบ้านแขก"/>
          <p:cNvSpPr/>
          <p:nvPr/>
        </p:nvSpPr>
        <p:spPr>
          <a:xfrm>
            <a:off x="4809600" y="5625360"/>
            <a:ext cx="32040" cy="23760"/>
          </a:xfrm>
          <a:custGeom>
            <a:avLst/>
            <a:gdLst/>
            <a:ahLst/>
            <a:rect l="l" t="t" r="r" b="b"/>
            <a:pathLst>
              <a:path w="32569" h="24283">
                <a:moveTo>
                  <a:pt x="25505" y="2219"/>
                </a:moveTo>
                <a:lnTo>
                  <a:pt x="0" y="10724"/>
                </a:lnTo>
                <a:lnTo>
                  <a:pt x="3832" y="18860"/>
                </a:lnTo>
                <a:lnTo>
                  <a:pt x="6705" y="17627"/>
                </a:lnTo>
                <a:lnTo>
                  <a:pt x="9220" y="24283"/>
                </a:lnTo>
                <a:lnTo>
                  <a:pt x="21553" y="20462"/>
                </a:lnTo>
                <a:lnTo>
                  <a:pt x="20356" y="12820"/>
                </a:lnTo>
                <a:lnTo>
                  <a:pt x="22391" y="12450"/>
                </a:lnTo>
                <a:lnTo>
                  <a:pt x="21793" y="9491"/>
                </a:lnTo>
                <a:lnTo>
                  <a:pt x="27420" y="8875"/>
                </a:lnTo>
                <a:lnTo>
                  <a:pt x="27540" y="4931"/>
                </a:lnTo>
                <a:lnTo>
                  <a:pt x="31851" y="3328"/>
                </a:lnTo>
                <a:lnTo>
                  <a:pt x="32569" y="986"/>
                </a:lnTo>
                <a:lnTo>
                  <a:pt x="32210" y="0"/>
                </a:lnTo>
                <a:lnTo>
                  <a:pt x="25505" y="2219"/>
                </a:lnTo>
                <a:close/>
              </a:path>
            </a:pathLst>
          </a:custGeom>
          <a:solidFill>
            <a:srgbClr val="f2c8ad"/>
          </a:solidFill>
          <a:ln w="6191">
            <a:solidFill>
              <a:srgbClr val="b7633d"/>
            </a:solidFill>
            <a:round/>
          </a:ln>
        </p:spPr>
        <p:style>
          <a:lnRef idx="0"/>
          <a:fillRef idx="0"/>
          <a:effectRef idx="0"/>
          <a:fontRef idx="minor"/>
        </p:style>
        <p:txBody>
          <a:bodyPr lIns="90000" rIns="90000" tIns="-21240" bIns="-21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01" name="ประสานมิตร"/>
          <p:cNvSpPr/>
          <p:nvPr/>
        </p:nvSpPr>
        <p:spPr>
          <a:xfrm>
            <a:off x="4757040" y="5637960"/>
            <a:ext cx="37800" cy="33120"/>
          </a:xfrm>
          <a:custGeom>
            <a:avLst/>
            <a:gdLst/>
            <a:ahLst/>
            <a:rect l="l" t="t" r="r" b="b"/>
            <a:pathLst>
              <a:path w="38197" h="33651">
                <a:moveTo>
                  <a:pt x="25265" y="0"/>
                </a:moveTo>
                <a:lnTo>
                  <a:pt x="13890" y="8875"/>
                </a:lnTo>
                <a:lnTo>
                  <a:pt x="9579" y="4561"/>
                </a:lnTo>
                <a:lnTo>
                  <a:pt x="0" y="15531"/>
                </a:lnTo>
                <a:lnTo>
                  <a:pt x="4071" y="22557"/>
                </a:lnTo>
                <a:lnTo>
                  <a:pt x="3233" y="28844"/>
                </a:lnTo>
                <a:lnTo>
                  <a:pt x="27301" y="33651"/>
                </a:lnTo>
                <a:lnTo>
                  <a:pt x="38197" y="25886"/>
                </a:lnTo>
                <a:lnTo>
                  <a:pt x="32450" y="9245"/>
                </a:lnTo>
                <a:lnTo>
                  <a:pt x="25265" y="0"/>
                </a:lnTo>
                <a:close/>
              </a:path>
            </a:pathLst>
          </a:custGeom>
          <a:solidFill>
            <a:srgbClr val="f2c8ad"/>
          </a:solidFill>
          <a:ln w="6191">
            <a:solidFill>
              <a:srgbClr val="b7633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02" name="วัดหิรัญรูจี"/>
          <p:cNvSpPr/>
          <p:nvPr/>
        </p:nvSpPr>
        <p:spPr>
          <a:xfrm>
            <a:off x="4788360" y="5634720"/>
            <a:ext cx="46080" cy="41040"/>
          </a:xfrm>
          <a:custGeom>
            <a:avLst/>
            <a:gdLst/>
            <a:ahLst/>
            <a:rect l="l" t="t" r="r" b="b"/>
            <a:pathLst>
              <a:path w="46339" h="41294">
                <a:moveTo>
                  <a:pt x="10058" y="38335"/>
                </a:moveTo>
                <a:lnTo>
                  <a:pt x="28139" y="41294"/>
                </a:lnTo>
                <a:lnTo>
                  <a:pt x="32569" y="35747"/>
                </a:lnTo>
                <a:lnTo>
                  <a:pt x="38436" y="33775"/>
                </a:lnTo>
                <a:lnTo>
                  <a:pt x="46339" y="11587"/>
                </a:lnTo>
                <a:lnTo>
                  <a:pt x="44064" y="10847"/>
                </a:lnTo>
                <a:lnTo>
                  <a:pt x="30294" y="14915"/>
                </a:lnTo>
                <a:lnTo>
                  <a:pt x="27780" y="8259"/>
                </a:lnTo>
                <a:lnTo>
                  <a:pt x="24906" y="9491"/>
                </a:lnTo>
                <a:lnTo>
                  <a:pt x="20116" y="0"/>
                </a:lnTo>
                <a:lnTo>
                  <a:pt x="0" y="9491"/>
                </a:lnTo>
                <a:lnTo>
                  <a:pt x="10058" y="38335"/>
                </a:lnTo>
                <a:close/>
              </a:path>
            </a:pathLst>
          </a:custGeom>
          <a:solidFill>
            <a:srgbClr val="f2c8ad"/>
          </a:solidFill>
          <a:ln w="6191">
            <a:solidFill>
              <a:srgbClr val="b7633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03" name="ข้างสถานีรถไฟวงเวียนใหญ่"/>
          <p:cNvSpPr/>
          <p:nvPr/>
        </p:nvSpPr>
        <p:spPr>
          <a:xfrm>
            <a:off x="4743000" y="5679720"/>
            <a:ext cx="30240" cy="34920"/>
          </a:xfrm>
          <a:custGeom>
            <a:avLst/>
            <a:gdLst/>
            <a:ahLst/>
            <a:rect l="l" t="t" r="r" b="b"/>
            <a:pathLst>
              <a:path w="30773" h="35254">
                <a:moveTo>
                  <a:pt x="5748" y="25516"/>
                </a:moveTo>
                <a:lnTo>
                  <a:pt x="11256" y="35254"/>
                </a:lnTo>
                <a:lnTo>
                  <a:pt x="30773" y="30446"/>
                </a:lnTo>
                <a:lnTo>
                  <a:pt x="25145" y="20215"/>
                </a:lnTo>
                <a:lnTo>
                  <a:pt x="23469" y="21202"/>
                </a:lnTo>
                <a:lnTo>
                  <a:pt x="19757" y="11217"/>
                </a:lnTo>
                <a:lnTo>
                  <a:pt x="17721" y="12450"/>
                </a:lnTo>
                <a:lnTo>
                  <a:pt x="10657" y="0"/>
                </a:lnTo>
                <a:lnTo>
                  <a:pt x="7304" y="8875"/>
                </a:lnTo>
                <a:lnTo>
                  <a:pt x="0" y="15901"/>
                </a:lnTo>
                <a:lnTo>
                  <a:pt x="5748" y="25516"/>
                </a:lnTo>
                <a:close/>
              </a:path>
            </a:pathLst>
          </a:custGeom>
          <a:solidFill>
            <a:srgbClr val="f2c8ad"/>
          </a:solidFill>
          <a:ln w="6191">
            <a:solidFill>
              <a:srgbClr val="b7633d"/>
            </a:solidFill>
            <a:round/>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04" name="ตรอกเทวดา"/>
          <p:cNvSpPr/>
          <p:nvPr/>
        </p:nvSpPr>
        <p:spPr>
          <a:xfrm>
            <a:off x="4768200" y="5684040"/>
            <a:ext cx="27360" cy="25920"/>
          </a:xfrm>
          <a:custGeom>
            <a:avLst/>
            <a:gdLst/>
            <a:ahLst/>
            <a:rect l="l" t="t" r="r" b="b"/>
            <a:pathLst>
              <a:path w="27540" h="26255">
                <a:moveTo>
                  <a:pt x="5628" y="26255"/>
                </a:moveTo>
                <a:lnTo>
                  <a:pt x="26343" y="21078"/>
                </a:lnTo>
                <a:lnTo>
                  <a:pt x="27540" y="19476"/>
                </a:lnTo>
                <a:lnTo>
                  <a:pt x="22631" y="13189"/>
                </a:lnTo>
                <a:lnTo>
                  <a:pt x="27420" y="9368"/>
                </a:lnTo>
                <a:lnTo>
                  <a:pt x="23708" y="1849"/>
                </a:lnTo>
                <a:lnTo>
                  <a:pt x="22870" y="2589"/>
                </a:lnTo>
                <a:lnTo>
                  <a:pt x="20595" y="0"/>
                </a:lnTo>
                <a:lnTo>
                  <a:pt x="7184" y="12080"/>
                </a:lnTo>
                <a:lnTo>
                  <a:pt x="0" y="15901"/>
                </a:lnTo>
                <a:lnTo>
                  <a:pt x="5628" y="26255"/>
                </a:lnTo>
                <a:close/>
              </a:path>
            </a:pathLst>
          </a:custGeom>
          <a:solidFill>
            <a:srgbClr val="f2c8ad"/>
          </a:solidFill>
          <a:ln w="6191">
            <a:solidFill>
              <a:srgbClr val="b7633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05" name="ตากสินสัมพันธ์"/>
          <p:cNvSpPr/>
          <p:nvPr/>
        </p:nvSpPr>
        <p:spPr>
          <a:xfrm>
            <a:off x="4724640" y="5719320"/>
            <a:ext cx="84240" cy="56520"/>
          </a:xfrm>
          <a:custGeom>
            <a:avLst/>
            <a:gdLst/>
            <a:ahLst/>
            <a:rect l="l" t="t" r="r" b="b"/>
            <a:pathLst>
              <a:path w="84776" h="56702">
                <a:moveTo>
                  <a:pt x="8382" y="36610"/>
                </a:moveTo>
                <a:lnTo>
                  <a:pt x="11016" y="44868"/>
                </a:lnTo>
                <a:lnTo>
                  <a:pt x="7783" y="47087"/>
                </a:lnTo>
                <a:lnTo>
                  <a:pt x="8502" y="49922"/>
                </a:lnTo>
                <a:lnTo>
                  <a:pt x="13770" y="48566"/>
                </a:lnTo>
                <a:lnTo>
                  <a:pt x="18200" y="56702"/>
                </a:lnTo>
                <a:lnTo>
                  <a:pt x="72562" y="40801"/>
                </a:lnTo>
                <a:lnTo>
                  <a:pt x="84776" y="4314"/>
                </a:lnTo>
                <a:lnTo>
                  <a:pt x="81303" y="1726"/>
                </a:lnTo>
                <a:lnTo>
                  <a:pt x="69449" y="11340"/>
                </a:lnTo>
                <a:lnTo>
                  <a:pt x="63223" y="0"/>
                </a:lnTo>
                <a:lnTo>
                  <a:pt x="0" y="30939"/>
                </a:lnTo>
                <a:lnTo>
                  <a:pt x="3472" y="38705"/>
                </a:lnTo>
                <a:lnTo>
                  <a:pt x="8382" y="36610"/>
                </a:lnTo>
                <a:close/>
              </a:path>
            </a:pathLst>
          </a:custGeom>
          <a:solidFill>
            <a:srgbClr val="f2c8ad"/>
          </a:solidFill>
          <a:ln w="6191">
            <a:solidFill>
              <a:srgbClr val="b7633d"/>
            </a:solidFill>
            <a:round/>
          </a:ln>
        </p:spPr>
        <p:style>
          <a:lnRef idx="0"/>
          <a:fillRef idx="0"/>
          <a:effectRef idx="0"/>
          <a:fontRef idx="minor"/>
        </p:style>
        <p:txBody>
          <a:bodyPr lIns="90000" rIns="90000" tIns="11520" bIns="11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06" name="พัฒนาบ้านล่าง"/>
          <p:cNvSpPr/>
          <p:nvPr/>
        </p:nvSpPr>
        <p:spPr>
          <a:xfrm>
            <a:off x="4719960" y="5694840"/>
            <a:ext cx="34200" cy="28800"/>
          </a:xfrm>
          <a:custGeom>
            <a:avLst/>
            <a:gdLst/>
            <a:ahLst/>
            <a:rect l="l" t="t" r="r" b="b"/>
            <a:pathLst>
              <a:path w="34485" h="29214">
                <a:moveTo>
                  <a:pt x="22751" y="0"/>
                </a:moveTo>
                <a:lnTo>
                  <a:pt x="0" y="22927"/>
                </a:lnTo>
                <a:lnTo>
                  <a:pt x="4071" y="29214"/>
                </a:lnTo>
                <a:lnTo>
                  <a:pt x="34485" y="20339"/>
                </a:lnTo>
                <a:lnTo>
                  <a:pt x="22751" y="0"/>
                </a:lnTo>
                <a:close/>
              </a:path>
            </a:pathLst>
          </a:custGeom>
          <a:solidFill>
            <a:srgbClr val="f2c8ad"/>
          </a:solidFill>
          <a:ln w="6191">
            <a:solidFill>
              <a:srgbClr val="b7633d"/>
            </a:solidFill>
            <a:round/>
          </a:ln>
        </p:spPr>
        <p:style>
          <a:lnRef idx="0"/>
          <a:fillRef idx="0"/>
          <a:effectRef idx="0"/>
          <a:fontRef idx="minor"/>
        </p:style>
        <p:txBody>
          <a:bodyPr lIns="90000" rIns="90000" tIns="-16200" bIns="-16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07" name="โรงเจ 1"/>
          <p:cNvSpPr/>
          <p:nvPr/>
        </p:nvSpPr>
        <p:spPr>
          <a:xfrm>
            <a:off x="4655520" y="5736960"/>
            <a:ext cx="36360" cy="33120"/>
          </a:xfrm>
          <a:custGeom>
            <a:avLst/>
            <a:gdLst/>
            <a:ahLst/>
            <a:rect l="l" t="t" r="r" b="b"/>
            <a:pathLst>
              <a:path w="36640" h="33528">
                <a:moveTo>
                  <a:pt x="0" y="8135"/>
                </a:moveTo>
                <a:lnTo>
                  <a:pt x="6466" y="33528"/>
                </a:lnTo>
                <a:lnTo>
                  <a:pt x="19518" y="28474"/>
                </a:lnTo>
                <a:lnTo>
                  <a:pt x="36640" y="18613"/>
                </a:lnTo>
                <a:lnTo>
                  <a:pt x="26822" y="0"/>
                </a:lnTo>
                <a:lnTo>
                  <a:pt x="0" y="8135"/>
                </a:lnTo>
                <a:close/>
              </a:path>
            </a:pathLst>
          </a:custGeom>
          <a:solidFill>
            <a:srgbClr val="f2c8ad"/>
          </a:solidFill>
          <a:ln w="6191">
            <a:solidFill>
              <a:srgbClr val="b7633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08" name="วัดอินทาราม"/>
          <p:cNvSpPr/>
          <p:nvPr/>
        </p:nvSpPr>
        <p:spPr>
          <a:xfrm>
            <a:off x="4688280" y="5701680"/>
            <a:ext cx="35280" cy="26280"/>
          </a:xfrm>
          <a:custGeom>
            <a:avLst/>
            <a:gdLst/>
            <a:ahLst/>
            <a:rect l="l" t="t" r="r" b="b"/>
            <a:pathLst>
              <a:path w="35563" h="26502">
                <a:moveTo>
                  <a:pt x="28618" y="0"/>
                </a:moveTo>
                <a:lnTo>
                  <a:pt x="0" y="11957"/>
                </a:lnTo>
                <a:lnTo>
                  <a:pt x="6945" y="26502"/>
                </a:lnTo>
                <a:lnTo>
                  <a:pt x="24187" y="21078"/>
                </a:lnTo>
                <a:lnTo>
                  <a:pt x="35563" y="11094"/>
                </a:lnTo>
                <a:lnTo>
                  <a:pt x="28618" y="0"/>
                </a:lnTo>
                <a:close/>
              </a:path>
            </a:pathLst>
          </a:custGeom>
          <a:solidFill>
            <a:srgbClr val="f2c8ad"/>
          </a:solidFill>
          <a:ln w="6191">
            <a:solidFill>
              <a:srgbClr val="b7633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09" name="สวนพลู"/>
          <p:cNvSpPr/>
          <p:nvPr/>
        </p:nvSpPr>
        <p:spPr>
          <a:xfrm>
            <a:off x="4721760" y="5706720"/>
            <a:ext cx="70200" cy="39960"/>
          </a:xfrm>
          <a:custGeom>
            <a:avLst/>
            <a:gdLst/>
            <a:ahLst/>
            <a:rect l="l" t="t" r="r" b="b"/>
            <a:pathLst>
              <a:path w="70647" h="40431">
                <a:moveTo>
                  <a:pt x="70647" y="0"/>
                </a:moveTo>
                <a:lnTo>
                  <a:pt x="0" y="18613"/>
                </a:lnTo>
                <a:lnTo>
                  <a:pt x="1197" y="24160"/>
                </a:lnTo>
                <a:lnTo>
                  <a:pt x="4191" y="30693"/>
                </a:lnTo>
                <a:lnTo>
                  <a:pt x="5748" y="30077"/>
                </a:lnTo>
                <a:lnTo>
                  <a:pt x="9459" y="40431"/>
                </a:lnTo>
                <a:lnTo>
                  <a:pt x="65977" y="12696"/>
                </a:lnTo>
                <a:lnTo>
                  <a:pt x="70048" y="7519"/>
                </a:lnTo>
                <a:lnTo>
                  <a:pt x="67174" y="3821"/>
                </a:lnTo>
                <a:lnTo>
                  <a:pt x="70647" y="0"/>
                </a:lnTo>
                <a:close/>
              </a:path>
            </a:pathLst>
          </a:custGeom>
          <a:solidFill>
            <a:srgbClr val="f2c8ad"/>
          </a:solidFill>
          <a:ln w="6191">
            <a:solidFill>
              <a:srgbClr val="b7633d"/>
            </a:solidFill>
            <a:round/>
          </a:ln>
        </p:spPr>
        <p:style>
          <a:lnRef idx="0"/>
          <a:fillRef idx="0"/>
          <a:effectRef idx="0"/>
          <a:fontRef idx="minor"/>
        </p:style>
        <p:txBody>
          <a:bodyPr lIns="90000" rIns="90000" tIns="-5040" bIns="-5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10" name="หลังศูนย์จันทร์ฉิมไพบูลย์"/>
          <p:cNvSpPr/>
          <p:nvPr/>
        </p:nvSpPr>
        <p:spPr>
          <a:xfrm>
            <a:off x="4682160" y="5733000"/>
            <a:ext cx="23040" cy="22320"/>
          </a:xfrm>
          <a:custGeom>
            <a:avLst/>
            <a:gdLst/>
            <a:ahLst/>
            <a:rect l="l" t="t" r="r" b="b"/>
            <a:pathLst>
              <a:path w="23469" h="22804">
                <a:moveTo>
                  <a:pt x="15087" y="0"/>
                </a:moveTo>
                <a:lnTo>
                  <a:pt x="0" y="4191"/>
                </a:lnTo>
                <a:lnTo>
                  <a:pt x="9938" y="22804"/>
                </a:lnTo>
                <a:lnTo>
                  <a:pt x="23469" y="16148"/>
                </a:lnTo>
                <a:lnTo>
                  <a:pt x="15087" y="0"/>
                </a:lnTo>
                <a:close/>
              </a:path>
            </a:pathLst>
          </a:custGeom>
          <a:solidFill>
            <a:srgbClr val="f2c8ad"/>
          </a:solidFill>
          <a:ln w="6191">
            <a:solidFill>
              <a:srgbClr val="b7633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11" name="โรงเจ 2"/>
          <p:cNvSpPr/>
          <p:nvPr/>
        </p:nvSpPr>
        <p:spPr>
          <a:xfrm>
            <a:off x="4662000" y="5749200"/>
            <a:ext cx="54720" cy="46080"/>
          </a:xfrm>
          <a:custGeom>
            <a:avLst/>
            <a:gdLst/>
            <a:ahLst/>
            <a:rect l="l" t="t" r="r" b="b"/>
            <a:pathLst>
              <a:path w="54961" h="46348">
                <a:moveTo>
                  <a:pt x="43825" y="0"/>
                </a:moveTo>
                <a:lnTo>
                  <a:pt x="0" y="22188"/>
                </a:lnTo>
                <a:lnTo>
                  <a:pt x="8023" y="46348"/>
                </a:lnTo>
                <a:lnTo>
                  <a:pt x="54961" y="20585"/>
                </a:lnTo>
                <a:lnTo>
                  <a:pt x="43825" y="0"/>
                </a:lnTo>
                <a:close/>
              </a:path>
            </a:pathLst>
          </a:custGeom>
          <a:solidFill>
            <a:srgbClr val="f2c8ad"/>
          </a:solidFill>
          <a:ln w="6191">
            <a:solidFill>
              <a:srgbClr val="b7633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12" name="สองร้อยห้อง"/>
          <p:cNvSpPr/>
          <p:nvPr/>
        </p:nvSpPr>
        <p:spPr>
          <a:xfrm>
            <a:off x="4675320" y="5786280"/>
            <a:ext cx="61560" cy="46080"/>
          </a:xfrm>
          <a:custGeom>
            <a:avLst/>
            <a:gdLst/>
            <a:ahLst/>
            <a:rect l="l" t="t" r="r" b="b"/>
            <a:pathLst>
              <a:path w="61906" h="46471">
                <a:moveTo>
                  <a:pt x="0" y="26625"/>
                </a:moveTo>
                <a:lnTo>
                  <a:pt x="6107" y="46471"/>
                </a:lnTo>
                <a:lnTo>
                  <a:pt x="61906" y="19353"/>
                </a:lnTo>
                <a:lnTo>
                  <a:pt x="51488" y="0"/>
                </a:lnTo>
                <a:lnTo>
                  <a:pt x="0" y="26625"/>
                </a:lnTo>
                <a:close/>
              </a:path>
            </a:pathLst>
          </a:custGeom>
          <a:solidFill>
            <a:srgbClr val="f2c8ad"/>
          </a:solidFill>
          <a:ln w="6191">
            <a:solidFill>
              <a:srgbClr val="b7633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13" name="คาลเท็กซ์"/>
          <p:cNvSpPr/>
          <p:nvPr/>
        </p:nvSpPr>
        <p:spPr>
          <a:xfrm>
            <a:off x="5469840" y="6046200"/>
            <a:ext cx="7560" cy="12600"/>
          </a:xfrm>
          <a:custGeom>
            <a:avLst/>
            <a:gdLst/>
            <a:ahLst/>
            <a:rect l="l" t="t" r="r" b="b"/>
            <a:pathLst>
              <a:path w="7783" h="13066">
                <a:moveTo>
                  <a:pt x="7783" y="2958"/>
                </a:moveTo>
                <a:lnTo>
                  <a:pt x="3472" y="0"/>
                </a:lnTo>
                <a:lnTo>
                  <a:pt x="1557" y="1233"/>
                </a:lnTo>
                <a:lnTo>
                  <a:pt x="0" y="5917"/>
                </a:lnTo>
                <a:lnTo>
                  <a:pt x="1916" y="12943"/>
                </a:lnTo>
                <a:lnTo>
                  <a:pt x="4311" y="13066"/>
                </a:lnTo>
                <a:lnTo>
                  <a:pt x="7783" y="2958"/>
                </a:lnTo>
                <a:close/>
              </a:path>
            </a:pathLst>
          </a:custGeom>
          <a:solidFill>
            <a:srgbClr val="f2c8ad"/>
          </a:solidFill>
          <a:ln w="6191">
            <a:solidFill>
              <a:srgbClr val="b7633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14" name="บัวหลวง"/>
          <p:cNvSpPr/>
          <p:nvPr/>
        </p:nvSpPr>
        <p:spPr>
          <a:xfrm>
            <a:off x="5441040" y="6130440"/>
            <a:ext cx="8640" cy="9000"/>
          </a:xfrm>
          <a:custGeom>
            <a:avLst/>
            <a:gdLst/>
            <a:ahLst/>
            <a:rect l="l" t="t" r="r" b="b"/>
            <a:pathLst>
              <a:path w="9100" h="9245">
                <a:moveTo>
                  <a:pt x="0" y="6410"/>
                </a:moveTo>
                <a:lnTo>
                  <a:pt x="5149" y="9245"/>
                </a:lnTo>
                <a:lnTo>
                  <a:pt x="9100" y="2465"/>
                </a:lnTo>
                <a:lnTo>
                  <a:pt x="2275" y="0"/>
                </a:lnTo>
                <a:lnTo>
                  <a:pt x="0" y="6410"/>
                </a:lnTo>
                <a:close/>
              </a:path>
            </a:pathLst>
          </a:custGeom>
          <a:solidFill>
            <a:srgbClr val="f2c8ad"/>
          </a:solidFill>
          <a:ln w="6191">
            <a:solidFill>
              <a:srgbClr val="b7633d"/>
            </a:solidFill>
            <a:round/>
          </a:ln>
        </p:spPr>
        <p:style>
          <a:lnRef idx="0"/>
          <a:fillRef idx="0"/>
          <a:effectRef idx="0"/>
          <a:fontRef idx="minor"/>
        </p:style>
        <p:txBody>
          <a:bodyPr lIns="90000" rIns="90000" tIns="-36000" bIns="-36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15" name="ร่วมพัฒนาวัดช่องนนทรี"/>
          <p:cNvSpPr/>
          <p:nvPr/>
        </p:nvSpPr>
        <p:spPr>
          <a:xfrm>
            <a:off x="5420520" y="6053760"/>
            <a:ext cx="52560" cy="60120"/>
          </a:xfrm>
          <a:custGeom>
            <a:avLst/>
            <a:gdLst/>
            <a:ahLst/>
            <a:rect l="l" t="t" r="r" b="b"/>
            <a:pathLst>
              <a:path w="52805" h="60646">
                <a:moveTo>
                  <a:pt x="25145" y="43019"/>
                </a:moveTo>
                <a:lnTo>
                  <a:pt x="32090" y="44622"/>
                </a:lnTo>
                <a:lnTo>
                  <a:pt x="29336" y="57318"/>
                </a:lnTo>
                <a:lnTo>
                  <a:pt x="38436" y="60646"/>
                </a:lnTo>
                <a:lnTo>
                  <a:pt x="42388" y="43512"/>
                </a:lnTo>
                <a:lnTo>
                  <a:pt x="52805" y="43882"/>
                </a:lnTo>
                <a:lnTo>
                  <a:pt x="51847" y="29707"/>
                </a:lnTo>
                <a:lnTo>
                  <a:pt x="47058" y="9122"/>
                </a:lnTo>
                <a:lnTo>
                  <a:pt x="33407" y="0"/>
                </a:lnTo>
                <a:lnTo>
                  <a:pt x="29576" y="6533"/>
                </a:lnTo>
                <a:lnTo>
                  <a:pt x="27660" y="5424"/>
                </a:lnTo>
                <a:lnTo>
                  <a:pt x="18679" y="20462"/>
                </a:lnTo>
                <a:lnTo>
                  <a:pt x="14369" y="20708"/>
                </a:lnTo>
                <a:lnTo>
                  <a:pt x="6466" y="17627"/>
                </a:lnTo>
                <a:lnTo>
                  <a:pt x="0" y="29460"/>
                </a:lnTo>
                <a:lnTo>
                  <a:pt x="24547" y="41540"/>
                </a:lnTo>
                <a:lnTo>
                  <a:pt x="25145" y="43019"/>
                </a:lnTo>
                <a:close/>
              </a:path>
            </a:pathLst>
          </a:custGeom>
          <a:solidFill>
            <a:srgbClr val="f2c8ad"/>
          </a:solidFill>
          <a:ln w="6191">
            <a:solidFill>
              <a:srgbClr val="b7633d"/>
            </a:solidFill>
            <a:round/>
          </a:ln>
        </p:spPr>
        <p:style>
          <a:lnRef idx="0"/>
          <a:fillRef idx="0"/>
          <a:effectRef idx="0"/>
          <a:fontRef idx="minor"/>
        </p:style>
        <p:txBody>
          <a:bodyPr lIns="90000" rIns="90000" tIns="15120" bIns="15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16" name="วัดช่องลม"/>
          <p:cNvSpPr/>
          <p:nvPr/>
        </p:nvSpPr>
        <p:spPr>
          <a:xfrm>
            <a:off x="5476680" y="5928840"/>
            <a:ext cx="14040" cy="13680"/>
          </a:xfrm>
          <a:custGeom>
            <a:avLst/>
            <a:gdLst/>
            <a:ahLst/>
            <a:rect l="l" t="t" r="r" b="b"/>
            <a:pathLst>
              <a:path w="14369" h="14175">
                <a:moveTo>
                  <a:pt x="8382" y="0"/>
                </a:moveTo>
                <a:lnTo>
                  <a:pt x="0" y="6533"/>
                </a:lnTo>
                <a:lnTo>
                  <a:pt x="7783" y="14175"/>
                </a:lnTo>
                <a:lnTo>
                  <a:pt x="14369" y="8012"/>
                </a:lnTo>
                <a:lnTo>
                  <a:pt x="8382" y="0"/>
                </a:lnTo>
                <a:close/>
              </a:path>
            </a:pathLst>
          </a:custGeom>
          <a:solidFill>
            <a:srgbClr val="f2c8ad"/>
          </a:solidFill>
          <a:ln w="6191">
            <a:solidFill>
              <a:srgbClr val="b7633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17" name="เชื้อเพลิงพัฒนา"/>
          <p:cNvSpPr/>
          <p:nvPr/>
        </p:nvSpPr>
        <p:spPr>
          <a:xfrm>
            <a:off x="5527800" y="5846760"/>
            <a:ext cx="27360" cy="33120"/>
          </a:xfrm>
          <a:custGeom>
            <a:avLst/>
            <a:gdLst/>
            <a:ahLst/>
            <a:rect l="l" t="t" r="r" b="b"/>
            <a:pathLst>
              <a:path w="27540" h="33528">
                <a:moveTo>
                  <a:pt x="16045" y="26995"/>
                </a:moveTo>
                <a:lnTo>
                  <a:pt x="17003" y="28721"/>
                </a:lnTo>
                <a:lnTo>
                  <a:pt x="18679" y="28104"/>
                </a:lnTo>
                <a:lnTo>
                  <a:pt x="19039" y="25516"/>
                </a:lnTo>
                <a:lnTo>
                  <a:pt x="17482" y="25146"/>
                </a:lnTo>
                <a:lnTo>
                  <a:pt x="17721" y="22557"/>
                </a:lnTo>
                <a:lnTo>
                  <a:pt x="16404" y="22311"/>
                </a:lnTo>
                <a:lnTo>
                  <a:pt x="16883" y="20708"/>
                </a:lnTo>
                <a:lnTo>
                  <a:pt x="20116" y="20215"/>
                </a:lnTo>
                <a:lnTo>
                  <a:pt x="20356" y="18366"/>
                </a:lnTo>
                <a:lnTo>
                  <a:pt x="27540" y="21078"/>
                </a:lnTo>
                <a:lnTo>
                  <a:pt x="24666" y="0"/>
                </a:lnTo>
                <a:lnTo>
                  <a:pt x="22631" y="616"/>
                </a:lnTo>
                <a:lnTo>
                  <a:pt x="0" y="24406"/>
                </a:lnTo>
                <a:lnTo>
                  <a:pt x="8980" y="33528"/>
                </a:lnTo>
                <a:lnTo>
                  <a:pt x="16045" y="26995"/>
                </a:lnTo>
                <a:close/>
              </a:path>
            </a:pathLst>
          </a:custGeom>
          <a:solidFill>
            <a:srgbClr val="f2c8ad"/>
          </a:solidFill>
          <a:ln w="6191">
            <a:solidFill>
              <a:srgbClr val="b7633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18" name="เย็นอากาศ 2"/>
          <p:cNvSpPr/>
          <p:nvPr/>
        </p:nvSpPr>
        <p:spPr>
          <a:xfrm>
            <a:off x="5509800" y="5850360"/>
            <a:ext cx="25920" cy="22680"/>
          </a:xfrm>
          <a:custGeom>
            <a:avLst/>
            <a:gdLst/>
            <a:ahLst/>
            <a:rect l="l" t="t" r="r" b="b"/>
            <a:pathLst>
              <a:path w="26223" h="23051">
                <a:moveTo>
                  <a:pt x="25026" y="3451"/>
                </a:moveTo>
                <a:lnTo>
                  <a:pt x="21433" y="0"/>
                </a:lnTo>
                <a:lnTo>
                  <a:pt x="6466" y="11094"/>
                </a:lnTo>
                <a:lnTo>
                  <a:pt x="4191" y="10971"/>
                </a:lnTo>
                <a:lnTo>
                  <a:pt x="0" y="15531"/>
                </a:lnTo>
                <a:lnTo>
                  <a:pt x="7783" y="23051"/>
                </a:lnTo>
                <a:lnTo>
                  <a:pt x="26223" y="4068"/>
                </a:lnTo>
                <a:lnTo>
                  <a:pt x="25026" y="3451"/>
                </a:lnTo>
                <a:close/>
              </a:path>
            </a:pathLst>
          </a:custGeom>
          <a:solidFill>
            <a:srgbClr val="f2c8ad"/>
          </a:solidFill>
          <a:ln w="6191">
            <a:solidFill>
              <a:srgbClr val="b7633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19" name="ร่วมพัฒนาเชื้อเพลิง 2"/>
          <p:cNvSpPr/>
          <p:nvPr/>
        </p:nvSpPr>
        <p:spPr>
          <a:xfrm>
            <a:off x="5508720" y="5891040"/>
            <a:ext cx="19440" cy="20160"/>
          </a:xfrm>
          <a:custGeom>
            <a:avLst/>
            <a:gdLst/>
            <a:ahLst/>
            <a:rect l="l" t="t" r="r" b="b"/>
            <a:pathLst>
              <a:path w="19637" h="20585">
                <a:moveTo>
                  <a:pt x="2275" y="12450"/>
                </a:moveTo>
                <a:lnTo>
                  <a:pt x="11854" y="20585"/>
                </a:lnTo>
                <a:lnTo>
                  <a:pt x="19637" y="13066"/>
                </a:lnTo>
                <a:lnTo>
                  <a:pt x="6825" y="0"/>
                </a:lnTo>
                <a:lnTo>
                  <a:pt x="0" y="7026"/>
                </a:lnTo>
                <a:lnTo>
                  <a:pt x="3592" y="11094"/>
                </a:lnTo>
                <a:lnTo>
                  <a:pt x="2275" y="12450"/>
                </a:lnTo>
                <a:close/>
              </a:path>
            </a:pathLst>
          </a:custGeom>
          <a:solidFill>
            <a:srgbClr val="f2c8ad"/>
          </a:solidFill>
          <a:ln w="6191">
            <a:solidFill>
              <a:srgbClr val="b7633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20" name="โรงสี"/>
          <p:cNvSpPr/>
          <p:nvPr/>
        </p:nvSpPr>
        <p:spPr>
          <a:xfrm>
            <a:off x="5471280" y="6004080"/>
            <a:ext cx="15120" cy="17640"/>
          </a:xfrm>
          <a:custGeom>
            <a:avLst/>
            <a:gdLst/>
            <a:ahLst/>
            <a:rect l="l" t="t" r="r" b="b"/>
            <a:pathLst>
              <a:path w="15446" h="18120">
                <a:moveTo>
                  <a:pt x="9100" y="18120"/>
                </a:moveTo>
                <a:lnTo>
                  <a:pt x="15446" y="7396"/>
                </a:lnTo>
                <a:lnTo>
                  <a:pt x="12692" y="6163"/>
                </a:lnTo>
                <a:lnTo>
                  <a:pt x="13650" y="3451"/>
                </a:lnTo>
                <a:lnTo>
                  <a:pt x="9579" y="0"/>
                </a:lnTo>
                <a:lnTo>
                  <a:pt x="0" y="11094"/>
                </a:lnTo>
                <a:lnTo>
                  <a:pt x="9100" y="18120"/>
                </a:lnTo>
                <a:close/>
              </a:path>
            </a:pathLst>
          </a:custGeom>
          <a:solidFill>
            <a:srgbClr val="f2c8ad"/>
          </a:solidFill>
          <a:ln w="6191">
            <a:solidFill>
              <a:srgbClr val="b7633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21" name="ปากคลองช่องนนทรี"/>
          <p:cNvSpPr/>
          <p:nvPr/>
        </p:nvSpPr>
        <p:spPr>
          <a:xfrm>
            <a:off x="5477040" y="6065640"/>
            <a:ext cx="6480" cy="10440"/>
          </a:xfrm>
          <a:custGeom>
            <a:avLst/>
            <a:gdLst/>
            <a:ahLst/>
            <a:rect l="l" t="t" r="r" b="b"/>
            <a:pathLst>
              <a:path w="6825" h="10724">
                <a:moveTo>
                  <a:pt x="0" y="4438"/>
                </a:moveTo>
                <a:lnTo>
                  <a:pt x="1796" y="5054"/>
                </a:lnTo>
                <a:lnTo>
                  <a:pt x="1676" y="9861"/>
                </a:lnTo>
                <a:lnTo>
                  <a:pt x="4191" y="10724"/>
                </a:lnTo>
                <a:lnTo>
                  <a:pt x="6825" y="1356"/>
                </a:lnTo>
                <a:lnTo>
                  <a:pt x="718" y="0"/>
                </a:lnTo>
                <a:lnTo>
                  <a:pt x="0" y="4438"/>
                </a:lnTo>
                <a:close/>
              </a:path>
            </a:pathLst>
          </a:custGeom>
          <a:solidFill>
            <a:srgbClr val="f2c8ad"/>
          </a:solidFill>
          <a:ln w="6191">
            <a:solidFill>
              <a:srgbClr val="b7633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22" name="โสณมัย-อร่ามดวง"/>
          <p:cNvSpPr/>
          <p:nvPr/>
        </p:nvSpPr>
        <p:spPr>
          <a:xfrm>
            <a:off x="5230080" y="6053760"/>
            <a:ext cx="35280" cy="28440"/>
          </a:xfrm>
          <a:custGeom>
            <a:avLst/>
            <a:gdLst/>
            <a:ahLst/>
            <a:rect l="l" t="t" r="r" b="b"/>
            <a:pathLst>
              <a:path w="35802" h="28844">
                <a:moveTo>
                  <a:pt x="32090" y="11094"/>
                </a:moveTo>
                <a:lnTo>
                  <a:pt x="27660" y="7149"/>
                </a:lnTo>
                <a:lnTo>
                  <a:pt x="29935" y="4191"/>
                </a:lnTo>
                <a:lnTo>
                  <a:pt x="24666" y="0"/>
                </a:lnTo>
                <a:lnTo>
                  <a:pt x="13052" y="14175"/>
                </a:lnTo>
                <a:lnTo>
                  <a:pt x="10178" y="11957"/>
                </a:lnTo>
                <a:lnTo>
                  <a:pt x="0" y="24776"/>
                </a:lnTo>
                <a:lnTo>
                  <a:pt x="13171" y="28844"/>
                </a:lnTo>
                <a:lnTo>
                  <a:pt x="24786" y="24653"/>
                </a:lnTo>
                <a:lnTo>
                  <a:pt x="35802" y="16394"/>
                </a:lnTo>
                <a:lnTo>
                  <a:pt x="32090" y="11094"/>
                </a:lnTo>
                <a:close/>
              </a:path>
            </a:pathLst>
          </a:custGeom>
          <a:solidFill>
            <a:srgbClr val="f2c8ad"/>
          </a:solidFill>
          <a:ln w="6191">
            <a:solidFill>
              <a:srgbClr val="b7633d"/>
            </a:solidFill>
            <a:round/>
          </a:ln>
        </p:spPr>
        <p:style>
          <a:lnRef idx="0"/>
          <a:fillRef idx="0"/>
          <a:effectRef idx="0"/>
          <a:fontRef idx="minor"/>
        </p:style>
        <p:txBody>
          <a:bodyPr lIns="90000" rIns="90000" tIns="-16560" bIns="-16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23" name="อินทามระ 11"/>
          <p:cNvSpPr/>
          <p:nvPr/>
        </p:nvSpPr>
        <p:spPr>
          <a:xfrm>
            <a:off x="5553360" y="4824720"/>
            <a:ext cx="9720" cy="54720"/>
          </a:xfrm>
          <a:custGeom>
            <a:avLst/>
            <a:gdLst/>
            <a:ahLst/>
            <a:rect l="l" t="t" r="r" b="b"/>
            <a:pathLst>
              <a:path w="10178" h="55223">
                <a:moveTo>
                  <a:pt x="1078" y="55223"/>
                </a:moveTo>
                <a:lnTo>
                  <a:pt x="6466" y="54976"/>
                </a:lnTo>
                <a:lnTo>
                  <a:pt x="6466" y="23790"/>
                </a:lnTo>
                <a:lnTo>
                  <a:pt x="10178" y="24037"/>
                </a:lnTo>
                <a:lnTo>
                  <a:pt x="9819" y="18613"/>
                </a:lnTo>
                <a:lnTo>
                  <a:pt x="7783" y="18613"/>
                </a:lnTo>
                <a:lnTo>
                  <a:pt x="7544" y="11957"/>
                </a:lnTo>
                <a:lnTo>
                  <a:pt x="6226" y="12080"/>
                </a:lnTo>
                <a:lnTo>
                  <a:pt x="5508" y="0"/>
                </a:lnTo>
                <a:lnTo>
                  <a:pt x="1916" y="247"/>
                </a:lnTo>
                <a:lnTo>
                  <a:pt x="1437" y="13929"/>
                </a:lnTo>
                <a:lnTo>
                  <a:pt x="0" y="14052"/>
                </a:lnTo>
                <a:lnTo>
                  <a:pt x="1078" y="55223"/>
                </a:lnTo>
                <a:close/>
              </a:path>
            </a:pathLst>
          </a:custGeom>
          <a:solidFill>
            <a:srgbClr val="f2c8ad"/>
          </a:solidFill>
          <a:ln w="6191">
            <a:solidFill>
              <a:srgbClr val="b7633d"/>
            </a:solidFill>
            <a:round/>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24" name="ถวัลย์ศักดิ์"/>
          <p:cNvSpPr/>
          <p:nvPr/>
        </p:nvSpPr>
        <p:spPr>
          <a:xfrm>
            <a:off x="5425200" y="4809960"/>
            <a:ext cx="27720" cy="19440"/>
          </a:xfrm>
          <a:custGeom>
            <a:avLst/>
            <a:gdLst/>
            <a:ahLst/>
            <a:rect l="l" t="t" r="r" b="b"/>
            <a:pathLst>
              <a:path w="28139" h="19722">
                <a:moveTo>
                  <a:pt x="22511" y="12450"/>
                </a:moveTo>
                <a:lnTo>
                  <a:pt x="22511" y="11094"/>
                </a:lnTo>
                <a:lnTo>
                  <a:pt x="27780" y="11094"/>
                </a:lnTo>
                <a:lnTo>
                  <a:pt x="28139" y="6287"/>
                </a:lnTo>
                <a:lnTo>
                  <a:pt x="22751" y="6780"/>
                </a:lnTo>
                <a:lnTo>
                  <a:pt x="22990" y="740"/>
                </a:lnTo>
                <a:lnTo>
                  <a:pt x="14967" y="0"/>
                </a:lnTo>
                <a:lnTo>
                  <a:pt x="14010" y="11587"/>
                </a:lnTo>
                <a:lnTo>
                  <a:pt x="5149" y="10847"/>
                </a:lnTo>
                <a:lnTo>
                  <a:pt x="5269" y="8875"/>
                </a:lnTo>
                <a:lnTo>
                  <a:pt x="1197" y="8629"/>
                </a:lnTo>
                <a:lnTo>
                  <a:pt x="0" y="19106"/>
                </a:lnTo>
                <a:lnTo>
                  <a:pt x="4311" y="19722"/>
                </a:lnTo>
                <a:lnTo>
                  <a:pt x="5149" y="11217"/>
                </a:lnTo>
                <a:lnTo>
                  <a:pt x="22511" y="12450"/>
                </a:lnTo>
                <a:close/>
              </a:path>
            </a:pathLst>
          </a:custGeom>
          <a:solidFill>
            <a:srgbClr val="f2c8ad"/>
          </a:solidFill>
          <a:ln w="6191">
            <a:solidFill>
              <a:srgbClr val="b7633d"/>
            </a:solidFill>
            <a:round/>
          </a:ln>
        </p:spPr>
        <p:style>
          <a:lnRef idx="0"/>
          <a:fillRef idx="0"/>
          <a:effectRef idx="0"/>
          <a:fontRef idx="minor"/>
        </p:style>
        <p:txBody>
          <a:bodyPr lIns="90000" rIns="90000" tIns="-25560" bIns="-25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25" name="วัดมะกอก(กลางสวน)"/>
          <p:cNvSpPr/>
          <p:nvPr/>
        </p:nvSpPr>
        <p:spPr>
          <a:xfrm>
            <a:off x="5310000" y="5118120"/>
            <a:ext cx="35640" cy="33120"/>
          </a:xfrm>
          <a:custGeom>
            <a:avLst/>
            <a:gdLst/>
            <a:ahLst/>
            <a:rect l="l" t="t" r="r" b="b"/>
            <a:pathLst>
              <a:path w="36042" h="33405">
                <a:moveTo>
                  <a:pt x="31132" y="27488"/>
                </a:moveTo>
                <a:lnTo>
                  <a:pt x="36042" y="19229"/>
                </a:lnTo>
                <a:lnTo>
                  <a:pt x="34365" y="18120"/>
                </a:lnTo>
                <a:lnTo>
                  <a:pt x="32090" y="21818"/>
                </a:lnTo>
                <a:lnTo>
                  <a:pt x="29336" y="20215"/>
                </a:lnTo>
                <a:lnTo>
                  <a:pt x="32928" y="14175"/>
                </a:lnTo>
                <a:lnTo>
                  <a:pt x="25864" y="9984"/>
                </a:lnTo>
                <a:lnTo>
                  <a:pt x="22511" y="15038"/>
                </a:lnTo>
                <a:lnTo>
                  <a:pt x="16644" y="11217"/>
                </a:lnTo>
                <a:lnTo>
                  <a:pt x="21194" y="3328"/>
                </a:lnTo>
                <a:lnTo>
                  <a:pt x="17362" y="0"/>
                </a:lnTo>
                <a:lnTo>
                  <a:pt x="14129" y="5054"/>
                </a:lnTo>
                <a:lnTo>
                  <a:pt x="11016" y="2835"/>
                </a:lnTo>
                <a:lnTo>
                  <a:pt x="5029" y="12326"/>
                </a:lnTo>
                <a:lnTo>
                  <a:pt x="14489" y="18490"/>
                </a:lnTo>
                <a:lnTo>
                  <a:pt x="12692" y="21695"/>
                </a:lnTo>
                <a:lnTo>
                  <a:pt x="3353" y="16148"/>
                </a:lnTo>
                <a:lnTo>
                  <a:pt x="0" y="19969"/>
                </a:lnTo>
                <a:lnTo>
                  <a:pt x="16045" y="33405"/>
                </a:lnTo>
                <a:lnTo>
                  <a:pt x="20835" y="26379"/>
                </a:lnTo>
                <a:lnTo>
                  <a:pt x="13291" y="21941"/>
                </a:lnTo>
                <a:lnTo>
                  <a:pt x="15087" y="18736"/>
                </a:lnTo>
                <a:lnTo>
                  <a:pt x="31132" y="27488"/>
                </a:lnTo>
                <a:close/>
              </a:path>
            </a:pathLst>
          </a:custGeom>
          <a:solidFill>
            <a:srgbClr val="f2c8ad"/>
          </a:solidFill>
          <a:ln w="6191">
            <a:solidFill>
              <a:srgbClr val="b7633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26" name="สุขสวัสดิ์"/>
          <p:cNvSpPr/>
          <p:nvPr/>
        </p:nvSpPr>
        <p:spPr>
          <a:xfrm>
            <a:off x="5300640" y="5105880"/>
            <a:ext cx="20160" cy="29520"/>
          </a:xfrm>
          <a:custGeom>
            <a:avLst/>
            <a:gdLst/>
            <a:ahLst/>
            <a:rect l="l" t="t" r="r" b="b"/>
            <a:pathLst>
              <a:path w="20476" h="29830">
                <a:moveTo>
                  <a:pt x="8980" y="26132"/>
                </a:moveTo>
                <a:lnTo>
                  <a:pt x="4430" y="23174"/>
                </a:lnTo>
                <a:lnTo>
                  <a:pt x="6226" y="19229"/>
                </a:lnTo>
                <a:lnTo>
                  <a:pt x="10178" y="22311"/>
                </a:lnTo>
                <a:lnTo>
                  <a:pt x="20476" y="5670"/>
                </a:lnTo>
                <a:lnTo>
                  <a:pt x="11136" y="0"/>
                </a:lnTo>
                <a:lnTo>
                  <a:pt x="1557" y="14175"/>
                </a:lnTo>
                <a:lnTo>
                  <a:pt x="5867" y="19106"/>
                </a:lnTo>
                <a:lnTo>
                  <a:pt x="4071" y="23051"/>
                </a:lnTo>
                <a:lnTo>
                  <a:pt x="1796" y="22064"/>
                </a:lnTo>
                <a:lnTo>
                  <a:pt x="0" y="24160"/>
                </a:lnTo>
                <a:lnTo>
                  <a:pt x="6466" y="29830"/>
                </a:lnTo>
                <a:lnTo>
                  <a:pt x="8980" y="26132"/>
                </a:lnTo>
                <a:close/>
              </a:path>
            </a:pathLst>
          </a:custGeom>
          <a:solidFill>
            <a:srgbClr val="f2c8ad"/>
          </a:solidFill>
          <a:ln w="6191">
            <a:solidFill>
              <a:srgbClr val="b7633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27" name="อุทัยรัตน์"/>
          <p:cNvSpPr/>
          <p:nvPr/>
        </p:nvSpPr>
        <p:spPr>
          <a:xfrm>
            <a:off x="5397120" y="4806720"/>
            <a:ext cx="26280" cy="40320"/>
          </a:xfrm>
          <a:custGeom>
            <a:avLst/>
            <a:gdLst/>
            <a:ahLst/>
            <a:rect l="l" t="t" r="r" b="b"/>
            <a:pathLst>
              <a:path w="26702" h="40554">
                <a:moveTo>
                  <a:pt x="10298" y="40554"/>
                </a:moveTo>
                <a:lnTo>
                  <a:pt x="11136" y="33158"/>
                </a:lnTo>
                <a:lnTo>
                  <a:pt x="22631" y="33035"/>
                </a:lnTo>
                <a:lnTo>
                  <a:pt x="26702" y="1479"/>
                </a:lnTo>
                <a:lnTo>
                  <a:pt x="16404" y="0"/>
                </a:lnTo>
                <a:lnTo>
                  <a:pt x="13770" y="12573"/>
                </a:lnTo>
                <a:lnTo>
                  <a:pt x="10058" y="11957"/>
                </a:lnTo>
                <a:lnTo>
                  <a:pt x="8502" y="20708"/>
                </a:lnTo>
                <a:lnTo>
                  <a:pt x="4191" y="20092"/>
                </a:lnTo>
                <a:lnTo>
                  <a:pt x="3353" y="24530"/>
                </a:lnTo>
                <a:lnTo>
                  <a:pt x="958" y="24406"/>
                </a:lnTo>
                <a:lnTo>
                  <a:pt x="0" y="32912"/>
                </a:lnTo>
                <a:lnTo>
                  <a:pt x="2395" y="33158"/>
                </a:lnTo>
                <a:lnTo>
                  <a:pt x="1916" y="39198"/>
                </a:lnTo>
                <a:lnTo>
                  <a:pt x="10298" y="40554"/>
                </a:lnTo>
                <a:close/>
              </a:path>
            </a:pathLst>
          </a:custGeom>
          <a:solidFill>
            <a:srgbClr val="f2c8ad"/>
          </a:solidFill>
          <a:ln w="6191">
            <a:solidFill>
              <a:srgbClr val="b7633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28" name="อินทามระ 29 แยก 1"/>
          <p:cNvSpPr/>
          <p:nvPr/>
        </p:nvSpPr>
        <p:spPr>
          <a:xfrm>
            <a:off x="5612040" y="4828320"/>
            <a:ext cx="9720" cy="54000"/>
          </a:xfrm>
          <a:custGeom>
            <a:avLst/>
            <a:gdLst/>
            <a:ahLst/>
            <a:rect l="l" t="t" r="r" b="b"/>
            <a:pathLst>
              <a:path w="10058" h="54360">
                <a:moveTo>
                  <a:pt x="1916" y="53990"/>
                </a:moveTo>
                <a:lnTo>
                  <a:pt x="7663" y="54360"/>
                </a:lnTo>
                <a:lnTo>
                  <a:pt x="7663" y="52634"/>
                </a:lnTo>
                <a:lnTo>
                  <a:pt x="10058" y="52634"/>
                </a:lnTo>
                <a:lnTo>
                  <a:pt x="8382" y="31432"/>
                </a:lnTo>
                <a:lnTo>
                  <a:pt x="10058" y="3082"/>
                </a:lnTo>
                <a:lnTo>
                  <a:pt x="479" y="0"/>
                </a:lnTo>
                <a:lnTo>
                  <a:pt x="0" y="26009"/>
                </a:lnTo>
                <a:lnTo>
                  <a:pt x="1916" y="53990"/>
                </a:lnTo>
                <a:close/>
              </a:path>
            </a:pathLst>
          </a:custGeom>
          <a:solidFill>
            <a:srgbClr val="f2c8ad"/>
          </a:solidFill>
          <a:ln w="6191">
            <a:solidFill>
              <a:srgbClr val="b7633d"/>
            </a:solidFill>
            <a:round/>
          </a:ln>
        </p:spPr>
        <p:style>
          <a:lnRef idx="0"/>
          <a:fillRef idx="0"/>
          <a:effectRef idx="0"/>
          <a:fontRef idx="minor"/>
        </p:style>
        <p:txBody>
          <a:bodyPr lIns="90000" rIns="90000" tIns="9000" bIns="9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29" name="อินทามระ 1 (ลับแล)"/>
          <p:cNvSpPr/>
          <p:nvPr/>
        </p:nvSpPr>
        <p:spPr>
          <a:xfrm>
            <a:off x="5528160" y="4821480"/>
            <a:ext cx="5400" cy="10440"/>
          </a:xfrm>
          <a:custGeom>
            <a:avLst/>
            <a:gdLst/>
            <a:ahLst/>
            <a:rect l="l" t="t" r="r" b="b"/>
            <a:pathLst>
              <a:path w="5867" h="10971">
                <a:moveTo>
                  <a:pt x="0" y="0"/>
                </a:moveTo>
                <a:lnTo>
                  <a:pt x="120" y="10971"/>
                </a:lnTo>
                <a:lnTo>
                  <a:pt x="4430" y="10847"/>
                </a:lnTo>
                <a:lnTo>
                  <a:pt x="5867" y="0"/>
                </a:lnTo>
                <a:lnTo>
                  <a:pt x="0" y="0"/>
                </a:lnTo>
                <a:close/>
              </a:path>
            </a:pathLst>
          </a:custGeom>
          <a:solidFill>
            <a:srgbClr val="f2c8ad"/>
          </a:solidFill>
          <a:ln w="6191">
            <a:solidFill>
              <a:srgbClr val="b7633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30" name="บุญชูศรี"/>
          <p:cNvSpPr/>
          <p:nvPr/>
        </p:nvSpPr>
        <p:spPr>
          <a:xfrm>
            <a:off x="5468040" y="5145840"/>
            <a:ext cx="14400" cy="25560"/>
          </a:xfrm>
          <a:custGeom>
            <a:avLst/>
            <a:gdLst/>
            <a:ahLst/>
            <a:rect l="l" t="t" r="r" b="b"/>
            <a:pathLst>
              <a:path w="14728" h="25762">
                <a:moveTo>
                  <a:pt x="4071" y="25762"/>
                </a:moveTo>
                <a:lnTo>
                  <a:pt x="14728" y="2096"/>
                </a:lnTo>
                <a:lnTo>
                  <a:pt x="11136" y="0"/>
                </a:lnTo>
                <a:lnTo>
                  <a:pt x="0" y="19476"/>
                </a:lnTo>
                <a:lnTo>
                  <a:pt x="2036" y="20708"/>
                </a:lnTo>
                <a:lnTo>
                  <a:pt x="1916" y="24530"/>
                </a:lnTo>
                <a:lnTo>
                  <a:pt x="4071" y="25762"/>
                </a:lnTo>
                <a:close/>
              </a:path>
            </a:pathLst>
          </a:custGeom>
          <a:solidFill>
            <a:srgbClr val="f2c8ad"/>
          </a:solidFill>
          <a:ln w="6191">
            <a:solidFill>
              <a:srgbClr val="b7633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31" name="เป็นสุข"/>
          <p:cNvSpPr/>
          <p:nvPr/>
        </p:nvSpPr>
        <p:spPr>
          <a:xfrm>
            <a:off x="5582160" y="4964760"/>
            <a:ext cx="7200" cy="4320"/>
          </a:xfrm>
          <a:custGeom>
            <a:avLst/>
            <a:gdLst/>
            <a:ahLst/>
            <a:rect l="l" t="t" r="r" b="b"/>
            <a:pathLst>
              <a:path w="7424" h="4684">
                <a:moveTo>
                  <a:pt x="120" y="0"/>
                </a:moveTo>
                <a:lnTo>
                  <a:pt x="0" y="3575"/>
                </a:lnTo>
                <a:lnTo>
                  <a:pt x="7424" y="4684"/>
                </a:lnTo>
                <a:lnTo>
                  <a:pt x="6945" y="123"/>
                </a:lnTo>
                <a:lnTo>
                  <a:pt x="120" y="0"/>
                </a:lnTo>
                <a:close/>
              </a:path>
            </a:pathLst>
          </a:custGeom>
          <a:solidFill>
            <a:srgbClr val="f2c8ad"/>
          </a:solidFill>
          <a:ln w="6191">
            <a:solidFill>
              <a:srgbClr val="b7633d"/>
            </a:solidFill>
            <a:round/>
          </a:ln>
        </p:spPr>
        <p:style>
          <a:lnRef idx="0"/>
          <a:fillRef idx="0"/>
          <a:effectRef idx="0"/>
          <a:fontRef idx="minor"/>
        </p:style>
        <p:txBody>
          <a:bodyPr lIns="90000" rIns="90000" tIns="-40680" bIns="-40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32" name="อินทามระ 29 แยก 4"/>
          <p:cNvSpPr/>
          <p:nvPr/>
        </p:nvSpPr>
        <p:spPr>
          <a:xfrm>
            <a:off x="5625000" y="4831560"/>
            <a:ext cx="12240" cy="31320"/>
          </a:xfrm>
          <a:custGeom>
            <a:avLst/>
            <a:gdLst/>
            <a:ahLst/>
            <a:rect l="l" t="t" r="r" b="b"/>
            <a:pathLst>
              <a:path w="12573" h="31556">
                <a:moveTo>
                  <a:pt x="10657" y="740"/>
                </a:moveTo>
                <a:lnTo>
                  <a:pt x="1916" y="0"/>
                </a:lnTo>
                <a:lnTo>
                  <a:pt x="239" y="11833"/>
                </a:lnTo>
                <a:lnTo>
                  <a:pt x="0" y="31186"/>
                </a:lnTo>
                <a:lnTo>
                  <a:pt x="7184" y="31556"/>
                </a:lnTo>
                <a:lnTo>
                  <a:pt x="7663" y="22804"/>
                </a:lnTo>
                <a:lnTo>
                  <a:pt x="10896" y="22681"/>
                </a:lnTo>
                <a:lnTo>
                  <a:pt x="10896" y="19599"/>
                </a:lnTo>
                <a:lnTo>
                  <a:pt x="12573" y="19969"/>
                </a:lnTo>
                <a:lnTo>
                  <a:pt x="10657" y="740"/>
                </a:lnTo>
                <a:close/>
              </a:path>
            </a:pathLst>
          </a:custGeom>
          <a:solidFill>
            <a:srgbClr val="f2c8ad"/>
          </a:solidFill>
          <a:ln w="6191">
            <a:solidFill>
              <a:srgbClr val="b7633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33" name="คลองขวาง"/>
          <p:cNvSpPr/>
          <p:nvPr/>
        </p:nvSpPr>
        <p:spPr>
          <a:xfrm>
            <a:off x="5484960" y="5913720"/>
            <a:ext cx="17280" cy="23040"/>
          </a:xfrm>
          <a:custGeom>
            <a:avLst/>
            <a:gdLst/>
            <a:ahLst/>
            <a:rect l="l" t="t" r="r" b="b"/>
            <a:pathLst>
              <a:path w="17721" h="23420">
                <a:moveTo>
                  <a:pt x="1796" y="17750"/>
                </a:moveTo>
                <a:lnTo>
                  <a:pt x="6107" y="23420"/>
                </a:lnTo>
                <a:lnTo>
                  <a:pt x="17721" y="14422"/>
                </a:lnTo>
                <a:lnTo>
                  <a:pt x="7065" y="2219"/>
                </a:lnTo>
                <a:lnTo>
                  <a:pt x="8023" y="1602"/>
                </a:lnTo>
                <a:lnTo>
                  <a:pt x="6705" y="0"/>
                </a:lnTo>
                <a:lnTo>
                  <a:pt x="3951" y="370"/>
                </a:lnTo>
                <a:lnTo>
                  <a:pt x="9100" y="8135"/>
                </a:lnTo>
                <a:lnTo>
                  <a:pt x="0" y="15285"/>
                </a:lnTo>
                <a:lnTo>
                  <a:pt x="1796" y="17750"/>
                </a:lnTo>
                <a:close/>
              </a:path>
            </a:pathLst>
          </a:custGeom>
          <a:solidFill>
            <a:srgbClr val="f2c8ad"/>
          </a:solidFill>
          <a:ln w="6191">
            <a:solidFill>
              <a:srgbClr val="b7633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34" name="วัดมะกอกส่วนหน้า"/>
          <p:cNvSpPr/>
          <p:nvPr/>
        </p:nvSpPr>
        <p:spPr>
          <a:xfrm>
            <a:off x="5326200" y="5141880"/>
            <a:ext cx="34920" cy="27000"/>
          </a:xfrm>
          <a:custGeom>
            <a:avLst/>
            <a:gdLst/>
            <a:ahLst/>
            <a:rect l="l" t="t" r="r" b="b"/>
            <a:pathLst>
              <a:path w="35323" h="27241">
                <a:moveTo>
                  <a:pt x="26822" y="9861"/>
                </a:moveTo>
                <a:lnTo>
                  <a:pt x="30773" y="11710"/>
                </a:lnTo>
                <a:lnTo>
                  <a:pt x="35323" y="4068"/>
                </a:lnTo>
                <a:lnTo>
                  <a:pt x="28738" y="0"/>
                </a:lnTo>
                <a:lnTo>
                  <a:pt x="23828" y="8135"/>
                </a:lnTo>
                <a:lnTo>
                  <a:pt x="26223" y="9491"/>
                </a:lnTo>
                <a:lnTo>
                  <a:pt x="23708" y="14052"/>
                </a:lnTo>
                <a:lnTo>
                  <a:pt x="4790" y="2958"/>
                </a:lnTo>
                <a:lnTo>
                  <a:pt x="0" y="9861"/>
                </a:lnTo>
                <a:lnTo>
                  <a:pt x="7184" y="16148"/>
                </a:lnTo>
                <a:lnTo>
                  <a:pt x="15446" y="20462"/>
                </a:lnTo>
                <a:lnTo>
                  <a:pt x="21314" y="27241"/>
                </a:lnTo>
                <a:lnTo>
                  <a:pt x="27780" y="16641"/>
                </a:lnTo>
                <a:lnTo>
                  <a:pt x="24187" y="14422"/>
                </a:lnTo>
                <a:lnTo>
                  <a:pt x="26822" y="9861"/>
                </a:lnTo>
                <a:close/>
              </a:path>
            </a:pathLst>
          </a:custGeom>
          <a:solidFill>
            <a:srgbClr val="f2c8ad"/>
          </a:solidFill>
          <a:ln w="6191">
            <a:solidFill>
              <a:srgbClr val="b7633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35" name="อาเซี่ยน"/>
          <p:cNvSpPr/>
          <p:nvPr/>
        </p:nvSpPr>
        <p:spPr>
          <a:xfrm>
            <a:off x="5340600" y="4820760"/>
            <a:ext cx="13680" cy="36360"/>
          </a:xfrm>
          <a:custGeom>
            <a:avLst/>
            <a:gdLst/>
            <a:ahLst/>
            <a:rect l="l" t="t" r="r" b="b"/>
            <a:pathLst>
              <a:path w="14129" h="36733">
                <a:moveTo>
                  <a:pt x="0" y="32295"/>
                </a:moveTo>
                <a:lnTo>
                  <a:pt x="5748" y="32912"/>
                </a:lnTo>
                <a:lnTo>
                  <a:pt x="5269" y="36117"/>
                </a:lnTo>
                <a:lnTo>
                  <a:pt x="8142" y="36733"/>
                </a:lnTo>
                <a:lnTo>
                  <a:pt x="10298" y="16764"/>
                </a:lnTo>
                <a:lnTo>
                  <a:pt x="12453" y="17011"/>
                </a:lnTo>
                <a:lnTo>
                  <a:pt x="14129" y="740"/>
                </a:lnTo>
                <a:lnTo>
                  <a:pt x="8621" y="0"/>
                </a:lnTo>
                <a:lnTo>
                  <a:pt x="3832" y="20462"/>
                </a:lnTo>
                <a:lnTo>
                  <a:pt x="1676" y="21325"/>
                </a:lnTo>
                <a:lnTo>
                  <a:pt x="838" y="23667"/>
                </a:lnTo>
                <a:lnTo>
                  <a:pt x="0" y="32295"/>
                </a:lnTo>
                <a:close/>
              </a:path>
            </a:pathLst>
          </a:custGeom>
          <a:solidFill>
            <a:srgbClr val="f2c8ad"/>
          </a:solidFill>
          <a:ln w="6191">
            <a:solidFill>
              <a:srgbClr val="b7633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36" name="วัดไผ่ตัน"/>
          <p:cNvSpPr/>
          <p:nvPr/>
        </p:nvSpPr>
        <p:spPr>
          <a:xfrm>
            <a:off x="5459760" y="4812480"/>
            <a:ext cx="34560" cy="25920"/>
          </a:xfrm>
          <a:custGeom>
            <a:avLst/>
            <a:gdLst/>
            <a:ahLst/>
            <a:rect l="l" t="t" r="r" b="b"/>
            <a:pathLst>
              <a:path w="34964" h="26255">
                <a:moveTo>
                  <a:pt x="15087" y="25762"/>
                </a:moveTo>
                <a:lnTo>
                  <a:pt x="17362" y="1849"/>
                </a:lnTo>
                <a:lnTo>
                  <a:pt x="29695" y="3082"/>
                </a:lnTo>
                <a:lnTo>
                  <a:pt x="28738" y="13313"/>
                </a:lnTo>
                <a:lnTo>
                  <a:pt x="33288" y="13559"/>
                </a:lnTo>
                <a:lnTo>
                  <a:pt x="34964" y="2958"/>
                </a:lnTo>
                <a:lnTo>
                  <a:pt x="4430" y="0"/>
                </a:lnTo>
                <a:lnTo>
                  <a:pt x="3712" y="12696"/>
                </a:lnTo>
                <a:lnTo>
                  <a:pt x="120" y="12450"/>
                </a:lnTo>
                <a:lnTo>
                  <a:pt x="0" y="18366"/>
                </a:lnTo>
                <a:lnTo>
                  <a:pt x="4191" y="18490"/>
                </a:lnTo>
                <a:lnTo>
                  <a:pt x="4191" y="26255"/>
                </a:lnTo>
                <a:lnTo>
                  <a:pt x="15087" y="25762"/>
                </a:lnTo>
                <a:close/>
              </a:path>
            </a:pathLst>
          </a:custGeom>
          <a:solidFill>
            <a:srgbClr val="f2c8ad"/>
          </a:solidFill>
          <a:ln w="6191">
            <a:solidFill>
              <a:srgbClr val="b7633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37" name="กุฎีขาว"/>
          <p:cNvSpPr/>
          <p:nvPr/>
        </p:nvSpPr>
        <p:spPr>
          <a:xfrm>
            <a:off x="4770000" y="5516280"/>
            <a:ext cx="24120" cy="29880"/>
          </a:xfrm>
          <a:custGeom>
            <a:avLst/>
            <a:gdLst/>
            <a:ahLst/>
            <a:rect l="l" t="t" r="r" b="b"/>
            <a:pathLst>
              <a:path w="24307" h="30077">
                <a:moveTo>
                  <a:pt x="11974" y="0"/>
                </a:moveTo>
                <a:lnTo>
                  <a:pt x="3113" y="15408"/>
                </a:lnTo>
                <a:lnTo>
                  <a:pt x="0" y="25146"/>
                </a:lnTo>
                <a:lnTo>
                  <a:pt x="10777" y="30077"/>
                </a:lnTo>
                <a:lnTo>
                  <a:pt x="24307" y="14299"/>
                </a:lnTo>
                <a:lnTo>
                  <a:pt x="11974" y="0"/>
                </a:lnTo>
                <a:close/>
              </a:path>
            </a:pathLst>
          </a:custGeom>
          <a:solidFill>
            <a:srgbClr val="f2c8ad"/>
          </a:solidFill>
          <a:ln w="6191">
            <a:solidFill>
              <a:srgbClr val="b7633d"/>
            </a:solidFill>
            <a:round/>
          </a:ln>
        </p:spPr>
        <p:style>
          <a:lnRef idx="0"/>
          <a:fillRef idx="0"/>
          <a:effectRef idx="0"/>
          <a:fontRef idx="minor"/>
        </p:style>
        <p:txBody>
          <a:bodyPr lIns="90000" rIns="90000" tIns="-15120" bIns="-15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38" name="กุฎีจีน"/>
          <p:cNvSpPr/>
          <p:nvPr/>
        </p:nvSpPr>
        <p:spPr>
          <a:xfrm>
            <a:off x="4813560" y="5508000"/>
            <a:ext cx="25560" cy="30240"/>
          </a:xfrm>
          <a:custGeom>
            <a:avLst/>
            <a:gdLst/>
            <a:ahLst/>
            <a:rect l="l" t="t" r="r" b="b"/>
            <a:pathLst>
              <a:path w="25744" h="30693">
                <a:moveTo>
                  <a:pt x="11495" y="0"/>
                </a:moveTo>
                <a:lnTo>
                  <a:pt x="8023" y="11094"/>
                </a:lnTo>
                <a:lnTo>
                  <a:pt x="0" y="18243"/>
                </a:lnTo>
                <a:lnTo>
                  <a:pt x="12692" y="30693"/>
                </a:lnTo>
                <a:lnTo>
                  <a:pt x="25744" y="24037"/>
                </a:lnTo>
                <a:lnTo>
                  <a:pt x="23589" y="19722"/>
                </a:lnTo>
                <a:lnTo>
                  <a:pt x="20954" y="18859"/>
                </a:lnTo>
                <a:lnTo>
                  <a:pt x="24547" y="7519"/>
                </a:lnTo>
                <a:lnTo>
                  <a:pt x="11495" y="0"/>
                </a:lnTo>
                <a:close/>
              </a:path>
            </a:pathLst>
          </a:custGeom>
          <a:solidFill>
            <a:srgbClr val="f2c8ad"/>
          </a:solidFill>
          <a:ln w="6191">
            <a:solidFill>
              <a:srgbClr val="b7633d"/>
            </a:solidFill>
            <a:round/>
          </a:ln>
        </p:spPr>
        <p:style>
          <a:lnRef idx="0"/>
          <a:fillRef idx="0"/>
          <a:effectRef idx="0"/>
          <a:fontRef idx="minor"/>
        </p:style>
        <p:txBody>
          <a:bodyPr lIns="90000" rIns="90000" tIns="-14760" bIns="-14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39" name="มีนบุรีอุปถัมภ์"/>
          <p:cNvSpPr/>
          <p:nvPr/>
        </p:nvSpPr>
        <p:spPr>
          <a:xfrm>
            <a:off x="7634160" y="4634280"/>
            <a:ext cx="34200" cy="32040"/>
          </a:xfrm>
          <a:custGeom>
            <a:avLst/>
            <a:gdLst/>
            <a:ahLst/>
            <a:rect l="l" t="t" r="r" b="b"/>
            <a:pathLst>
              <a:path w="34605" h="32542">
                <a:moveTo>
                  <a:pt x="24187" y="28721"/>
                </a:moveTo>
                <a:lnTo>
                  <a:pt x="34605" y="23790"/>
                </a:lnTo>
                <a:lnTo>
                  <a:pt x="24666" y="0"/>
                </a:lnTo>
                <a:lnTo>
                  <a:pt x="0" y="13559"/>
                </a:lnTo>
                <a:lnTo>
                  <a:pt x="838" y="22064"/>
                </a:lnTo>
                <a:lnTo>
                  <a:pt x="4550" y="30077"/>
                </a:lnTo>
                <a:lnTo>
                  <a:pt x="8861" y="30816"/>
                </a:lnTo>
                <a:lnTo>
                  <a:pt x="10417" y="32542"/>
                </a:lnTo>
                <a:lnTo>
                  <a:pt x="14129" y="30939"/>
                </a:lnTo>
                <a:lnTo>
                  <a:pt x="9699" y="20832"/>
                </a:lnTo>
                <a:lnTo>
                  <a:pt x="17482" y="17380"/>
                </a:lnTo>
                <a:lnTo>
                  <a:pt x="24187" y="28721"/>
                </a:lnTo>
                <a:close/>
              </a:path>
            </a:pathLst>
          </a:custGeom>
          <a:solidFill>
            <a:srgbClr val="f2c8ad"/>
          </a:solidFill>
          <a:ln w="6191">
            <a:solidFill>
              <a:srgbClr val="b7633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40" name="วัดบางสะแกใน"/>
          <p:cNvSpPr/>
          <p:nvPr/>
        </p:nvSpPr>
        <p:spPr>
          <a:xfrm>
            <a:off x="4586400" y="5834520"/>
            <a:ext cx="37800" cy="37080"/>
          </a:xfrm>
          <a:custGeom>
            <a:avLst/>
            <a:gdLst/>
            <a:ahLst/>
            <a:rect l="l" t="t" r="r" b="b"/>
            <a:pathLst>
              <a:path w="38197" h="37596">
                <a:moveTo>
                  <a:pt x="38197" y="31433"/>
                </a:moveTo>
                <a:lnTo>
                  <a:pt x="38197" y="24776"/>
                </a:lnTo>
                <a:lnTo>
                  <a:pt x="31372" y="0"/>
                </a:lnTo>
                <a:lnTo>
                  <a:pt x="13411" y="12326"/>
                </a:lnTo>
                <a:lnTo>
                  <a:pt x="0" y="17627"/>
                </a:lnTo>
                <a:lnTo>
                  <a:pt x="958" y="25886"/>
                </a:lnTo>
                <a:lnTo>
                  <a:pt x="1557" y="27118"/>
                </a:lnTo>
                <a:lnTo>
                  <a:pt x="4071" y="26748"/>
                </a:lnTo>
                <a:lnTo>
                  <a:pt x="4670" y="37596"/>
                </a:lnTo>
                <a:lnTo>
                  <a:pt x="38197" y="31433"/>
                </a:lnTo>
                <a:close/>
              </a:path>
            </a:pathLst>
          </a:custGeom>
          <a:solidFill>
            <a:srgbClr val="f2c8ad"/>
          </a:solidFill>
          <a:ln w="6191">
            <a:solidFill>
              <a:srgbClr val="b7633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41" name="วัดใหม่ยายนุ้ย"/>
          <p:cNvSpPr/>
          <p:nvPr/>
        </p:nvSpPr>
        <p:spPr>
          <a:xfrm>
            <a:off x="4521960" y="5843520"/>
            <a:ext cx="38160" cy="28440"/>
          </a:xfrm>
          <a:custGeom>
            <a:avLst/>
            <a:gdLst/>
            <a:ahLst/>
            <a:rect l="l" t="t" r="r" b="b"/>
            <a:pathLst>
              <a:path w="38556" h="28721">
                <a:moveTo>
                  <a:pt x="1557" y="16887"/>
                </a:moveTo>
                <a:lnTo>
                  <a:pt x="30174" y="28721"/>
                </a:lnTo>
                <a:lnTo>
                  <a:pt x="38556" y="10108"/>
                </a:lnTo>
                <a:lnTo>
                  <a:pt x="11974" y="0"/>
                </a:lnTo>
                <a:lnTo>
                  <a:pt x="8861" y="7889"/>
                </a:lnTo>
                <a:lnTo>
                  <a:pt x="0" y="15038"/>
                </a:lnTo>
                <a:lnTo>
                  <a:pt x="1557" y="16887"/>
                </a:lnTo>
                <a:close/>
              </a:path>
            </a:pathLst>
          </a:custGeom>
          <a:solidFill>
            <a:srgbClr val="f2c8ad"/>
          </a:solidFill>
          <a:ln w="6191">
            <a:solidFill>
              <a:srgbClr val="b7633d"/>
            </a:solidFill>
            <a:round/>
          </a:ln>
        </p:spPr>
        <p:style>
          <a:lnRef idx="0"/>
          <a:fillRef idx="0"/>
          <a:effectRef idx="0"/>
          <a:fontRef idx="minor"/>
        </p:style>
        <p:txBody>
          <a:bodyPr lIns="90000" rIns="90000" tIns="-16560" bIns="-16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42" name="ชุมชนสามัคคีธรรม"/>
          <p:cNvSpPr/>
          <p:nvPr/>
        </p:nvSpPr>
        <p:spPr>
          <a:xfrm>
            <a:off x="4588560" y="5757120"/>
            <a:ext cx="16920" cy="20520"/>
          </a:xfrm>
          <a:custGeom>
            <a:avLst/>
            <a:gdLst/>
            <a:ahLst/>
            <a:rect l="l" t="t" r="r" b="b"/>
            <a:pathLst>
              <a:path w="17123" h="20832">
                <a:moveTo>
                  <a:pt x="9938" y="0"/>
                </a:moveTo>
                <a:lnTo>
                  <a:pt x="0" y="2958"/>
                </a:lnTo>
                <a:lnTo>
                  <a:pt x="1557" y="13682"/>
                </a:lnTo>
                <a:lnTo>
                  <a:pt x="5508" y="13436"/>
                </a:lnTo>
                <a:lnTo>
                  <a:pt x="6107" y="16517"/>
                </a:lnTo>
                <a:lnTo>
                  <a:pt x="2874" y="17380"/>
                </a:lnTo>
                <a:lnTo>
                  <a:pt x="3592" y="20832"/>
                </a:lnTo>
                <a:lnTo>
                  <a:pt x="17123" y="17873"/>
                </a:lnTo>
                <a:lnTo>
                  <a:pt x="9938" y="0"/>
                </a:lnTo>
                <a:close/>
              </a:path>
            </a:pathLst>
          </a:custGeom>
          <a:solidFill>
            <a:srgbClr val="f2c8ad"/>
          </a:solidFill>
          <a:ln w="6191">
            <a:solidFill>
              <a:srgbClr val="b7633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43" name="ชุมชนข้างโรงเรียนเสสะเวช"/>
          <p:cNvSpPr/>
          <p:nvPr/>
        </p:nvSpPr>
        <p:spPr>
          <a:xfrm>
            <a:off x="4531680" y="5553360"/>
            <a:ext cx="24480" cy="21960"/>
          </a:xfrm>
          <a:custGeom>
            <a:avLst/>
            <a:gdLst/>
            <a:ahLst/>
            <a:rect l="l" t="t" r="r" b="b"/>
            <a:pathLst>
              <a:path w="24786" h="22188">
                <a:moveTo>
                  <a:pt x="2515" y="22188"/>
                </a:moveTo>
                <a:lnTo>
                  <a:pt x="24786" y="19599"/>
                </a:lnTo>
                <a:lnTo>
                  <a:pt x="19637" y="0"/>
                </a:lnTo>
                <a:lnTo>
                  <a:pt x="0" y="4314"/>
                </a:lnTo>
                <a:lnTo>
                  <a:pt x="2515" y="22188"/>
                </a:lnTo>
                <a:close/>
              </a:path>
            </a:pathLst>
          </a:custGeom>
          <a:solidFill>
            <a:srgbClr val="f2c8ad"/>
          </a:solidFill>
          <a:ln w="6191">
            <a:solidFill>
              <a:srgbClr val="b7633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44" name="ชุมชนโค้งกระเทียม"/>
          <p:cNvSpPr/>
          <p:nvPr/>
        </p:nvSpPr>
        <p:spPr>
          <a:xfrm>
            <a:off x="4616280" y="5527440"/>
            <a:ext cx="19440" cy="19440"/>
          </a:xfrm>
          <a:custGeom>
            <a:avLst/>
            <a:gdLst/>
            <a:ahLst/>
            <a:rect l="l" t="t" r="r" b="b"/>
            <a:pathLst>
              <a:path w="19637" h="19722">
                <a:moveTo>
                  <a:pt x="0" y="6780"/>
                </a:moveTo>
                <a:lnTo>
                  <a:pt x="2874" y="19722"/>
                </a:lnTo>
                <a:lnTo>
                  <a:pt x="17721" y="15655"/>
                </a:lnTo>
                <a:lnTo>
                  <a:pt x="17961" y="17011"/>
                </a:lnTo>
                <a:lnTo>
                  <a:pt x="19637" y="16764"/>
                </a:lnTo>
                <a:lnTo>
                  <a:pt x="13770" y="0"/>
                </a:lnTo>
                <a:lnTo>
                  <a:pt x="1437" y="370"/>
                </a:lnTo>
                <a:lnTo>
                  <a:pt x="1916" y="6410"/>
                </a:lnTo>
                <a:lnTo>
                  <a:pt x="0" y="6780"/>
                </a:lnTo>
                <a:close/>
              </a:path>
            </a:pathLst>
          </a:custGeom>
          <a:solidFill>
            <a:srgbClr val="f2c8ad"/>
          </a:solidFill>
          <a:ln w="6191">
            <a:solidFill>
              <a:srgbClr val="b7633d"/>
            </a:solidFill>
            <a:round/>
          </a:ln>
        </p:spPr>
        <p:style>
          <a:lnRef idx="0"/>
          <a:fillRef idx="0"/>
          <a:effectRef idx="0"/>
          <a:fontRef idx="minor"/>
        </p:style>
        <p:txBody>
          <a:bodyPr lIns="90000" rIns="90000" tIns="-25560" bIns="-25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45" name="ซอยสมบุญพัฒนา"/>
          <p:cNvSpPr/>
          <p:nvPr/>
        </p:nvSpPr>
        <p:spPr>
          <a:xfrm>
            <a:off x="4558680" y="5470920"/>
            <a:ext cx="14400" cy="15120"/>
          </a:xfrm>
          <a:custGeom>
            <a:avLst/>
            <a:gdLst/>
            <a:ahLst/>
            <a:rect l="l" t="t" r="r" b="b"/>
            <a:pathLst>
              <a:path w="14608" h="15408">
                <a:moveTo>
                  <a:pt x="359" y="15408"/>
                </a:moveTo>
                <a:lnTo>
                  <a:pt x="14608" y="14175"/>
                </a:lnTo>
                <a:lnTo>
                  <a:pt x="12333" y="0"/>
                </a:lnTo>
                <a:lnTo>
                  <a:pt x="0" y="1602"/>
                </a:lnTo>
                <a:lnTo>
                  <a:pt x="359" y="15408"/>
                </a:lnTo>
                <a:close/>
              </a:path>
            </a:pathLst>
          </a:custGeom>
          <a:solidFill>
            <a:srgbClr val="f2c8ad"/>
          </a:solidFill>
          <a:ln w="6191">
            <a:solidFill>
              <a:srgbClr val="b7633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46" name="ชุมชนตรอกกระจก"/>
          <p:cNvSpPr/>
          <p:nvPr/>
        </p:nvSpPr>
        <p:spPr>
          <a:xfrm>
            <a:off x="4730400" y="5563800"/>
            <a:ext cx="19800" cy="19080"/>
          </a:xfrm>
          <a:custGeom>
            <a:avLst/>
            <a:gdLst/>
            <a:ahLst/>
            <a:rect l="l" t="t" r="r" b="b"/>
            <a:pathLst>
              <a:path w="20236" h="19476">
                <a:moveTo>
                  <a:pt x="1197" y="6903"/>
                </a:moveTo>
                <a:lnTo>
                  <a:pt x="0" y="8382"/>
                </a:lnTo>
                <a:lnTo>
                  <a:pt x="5269" y="14052"/>
                </a:lnTo>
                <a:lnTo>
                  <a:pt x="5628" y="16394"/>
                </a:lnTo>
                <a:lnTo>
                  <a:pt x="9819" y="18983"/>
                </a:lnTo>
                <a:lnTo>
                  <a:pt x="18799" y="19476"/>
                </a:lnTo>
                <a:lnTo>
                  <a:pt x="20236" y="16271"/>
                </a:lnTo>
                <a:lnTo>
                  <a:pt x="19877" y="11710"/>
                </a:lnTo>
                <a:lnTo>
                  <a:pt x="6466" y="0"/>
                </a:lnTo>
                <a:lnTo>
                  <a:pt x="1197" y="6903"/>
                </a:lnTo>
                <a:close/>
              </a:path>
            </a:pathLst>
          </a:custGeom>
          <a:solidFill>
            <a:srgbClr val="f2c8ad"/>
          </a:solidFill>
          <a:ln w="6191">
            <a:solidFill>
              <a:srgbClr val="b7633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47" name="ปลายซอยศักดิ์เจริญ"/>
          <p:cNvSpPr/>
          <p:nvPr/>
        </p:nvSpPr>
        <p:spPr>
          <a:xfrm>
            <a:off x="4461840" y="5599080"/>
            <a:ext cx="14040" cy="18000"/>
          </a:xfrm>
          <a:custGeom>
            <a:avLst/>
            <a:gdLst/>
            <a:ahLst/>
            <a:rect l="l" t="t" r="r" b="b"/>
            <a:pathLst>
              <a:path w="14489" h="18243">
                <a:moveTo>
                  <a:pt x="7783" y="11464"/>
                </a:moveTo>
                <a:lnTo>
                  <a:pt x="9220" y="9122"/>
                </a:lnTo>
                <a:lnTo>
                  <a:pt x="14489" y="7889"/>
                </a:lnTo>
                <a:lnTo>
                  <a:pt x="13890" y="0"/>
                </a:lnTo>
                <a:lnTo>
                  <a:pt x="0" y="2589"/>
                </a:lnTo>
                <a:lnTo>
                  <a:pt x="8262" y="18243"/>
                </a:lnTo>
                <a:lnTo>
                  <a:pt x="10178" y="17257"/>
                </a:lnTo>
                <a:lnTo>
                  <a:pt x="7783" y="11464"/>
                </a:lnTo>
                <a:close/>
              </a:path>
            </a:pathLst>
          </a:custGeom>
          <a:solidFill>
            <a:srgbClr val="f2c8ad"/>
          </a:solidFill>
          <a:ln w="6191">
            <a:solidFill>
              <a:srgbClr val="b7633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48" name="ชุมชนเพชรเกษม 1"/>
          <p:cNvSpPr/>
          <p:nvPr/>
        </p:nvSpPr>
        <p:spPr>
          <a:xfrm>
            <a:off x="4683240" y="5663160"/>
            <a:ext cx="23400" cy="28800"/>
          </a:xfrm>
          <a:custGeom>
            <a:avLst/>
            <a:gdLst/>
            <a:ahLst/>
            <a:rect l="l" t="t" r="r" b="b"/>
            <a:pathLst>
              <a:path w="23589" h="29090">
                <a:moveTo>
                  <a:pt x="0" y="8012"/>
                </a:moveTo>
                <a:lnTo>
                  <a:pt x="10537" y="29090"/>
                </a:lnTo>
                <a:lnTo>
                  <a:pt x="17243" y="25516"/>
                </a:lnTo>
                <a:lnTo>
                  <a:pt x="15806" y="23420"/>
                </a:lnTo>
                <a:lnTo>
                  <a:pt x="23589" y="18736"/>
                </a:lnTo>
                <a:lnTo>
                  <a:pt x="20356" y="12820"/>
                </a:lnTo>
                <a:lnTo>
                  <a:pt x="22272" y="10847"/>
                </a:lnTo>
                <a:lnTo>
                  <a:pt x="21074" y="9615"/>
                </a:lnTo>
                <a:lnTo>
                  <a:pt x="19278" y="10971"/>
                </a:lnTo>
                <a:lnTo>
                  <a:pt x="17003" y="5424"/>
                </a:lnTo>
                <a:lnTo>
                  <a:pt x="15925" y="5670"/>
                </a:lnTo>
                <a:lnTo>
                  <a:pt x="12453" y="0"/>
                </a:lnTo>
                <a:lnTo>
                  <a:pt x="0" y="8012"/>
                </a:lnTo>
                <a:close/>
              </a:path>
            </a:pathLst>
          </a:custGeom>
          <a:solidFill>
            <a:srgbClr val="f2c8ad"/>
          </a:solidFill>
          <a:ln w="6191">
            <a:solidFill>
              <a:srgbClr val="b7633d"/>
            </a:solidFill>
            <a:round/>
          </a:ln>
        </p:spPr>
        <p:style>
          <a:lnRef idx="0"/>
          <a:fillRef idx="0"/>
          <a:effectRef idx="0"/>
          <a:fontRef idx="minor"/>
        </p:style>
        <p:txBody>
          <a:bodyPr lIns="90000" rIns="90000" tIns="-16200" bIns="-16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49" name="ชุมชนทับแก้ว"/>
          <p:cNvSpPr/>
          <p:nvPr/>
        </p:nvSpPr>
        <p:spPr>
          <a:xfrm>
            <a:off x="6000480" y="5447880"/>
            <a:ext cx="19080" cy="12960"/>
          </a:xfrm>
          <a:custGeom>
            <a:avLst/>
            <a:gdLst/>
            <a:ahLst/>
            <a:rect l="l" t="t" r="r" b="b"/>
            <a:pathLst>
              <a:path w="19278" h="13436">
                <a:moveTo>
                  <a:pt x="0" y="4807"/>
                </a:moveTo>
                <a:lnTo>
                  <a:pt x="7065" y="11094"/>
                </a:lnTo>
                <a:lnTo>
                  <a:pt x="14608" y="13436"/>
                </a:lnTo>
                <a:lnTo>
                  <a:pt x="15925" y="12820"/>
                </a:lnTo>
                <a:lnTo>
                  <a:pt x="19278" y="3451"/>
                </a:lnTo>
                <a:lnTo>
                  <a:pt x="1557" y="0"/>
                </a:lnTo>
                <a:lnTo>
                  <a:pt x="0" y="4807"/>
                </a:lnTo>
                <a:close/>
              </a:path>
            </a:pathLst>
          </a:custGeom>
          <a:solidFill>
            <a:srgbClr val="f2c8ad"/>
          </a:solidFill>
          <a:ln w="6191">
            <a:solidFill>
              <a:srgbClr val="b7633d"/>
            </a:solidFill>
            <a:round/>
          </a:ln>
        </p:spPr>
        <p:style>
          <a:lnRef idx="0"/>
          <a:fillRef idx="0"/>
          <a:effectRef idx="0"/>
          <a:fontRef idx="minor"/>
        </p:style>
        <p:txBody>
          <a:bodyPr lIns="90000" rIns="90000" tIns="-32040" bIns="-32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50" name="ปากคลองบางสะแก"/>
          <p:cNvSpPr/>
          <p:nvPr/>
        </p:nvSpPr>
        <p:spPr>
          <a:xfrm>
            <a:off x="4578480" y="5726520"/>
            <a:ext cx="29160" cy="35280"/>
          </a:xfrm>
          <a:custGeom>
            <a:avLst/>
            <a:gdLst/>
            <a:ahLst/>
            <a:rect l="l" t="t" r="r" b="b"/>
            <a:pathLst>
              <a:path w="29456" h="35500">
                <a:moveTo>
                  <a:pt x="25145" y="7766"/>
                </a:moveTo>
                <a:lnTo>
                  <a:pt x="25505" y="1972"/>
                </a:lnTo>
                <a:lnTo>
                  <a:pt x="7065" y="1479"/>
                </a:lnTo>
                <a:lnTo>
                  <a:pt x="1676" y="0"/>
                </a:lnTo>
                <a:lnTo>
                  <a:pt x="0" y="12943"/>
                </a:lnTo>
                <a:lnTo>
                  <a:pt x="0" y="29953"/>
                </a:lnTo>
                <a:lnTo>
                  <a:pt x="1317" y="35500"/>
                </a:lnTo>
                <a:lnTo>
                  <a:pt x="29456" y="26995"/>
                </a:lnTo>
                <a:lnTo>
                  <a:pt x="25145" y="7766"/>
                </a:lnTo>
                <a:close/>
              </a:path>
            </a:pathLst>
          </a:custGeom>
          <a:solidFill>
            <a:srgbClr val="f2c8ad"/>
          </a:solidFill>
          <a:ln w="6191">
            <a:solidFill>
              <a:srgbClr val="b7633d"/>
            </a:solidFill>
            <a:round/>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51" name="วัดกันตทาราราม"/>
          <p:cNvSpPr/>
          <p:nvPr/>
        </p:nvSpPr>
        <p:spPr>
          <a:xfrm>
            <a:off x="4637880" y="5745240"/>
            <a:ext cx="30960" cy="60480"/>
          </a:xfrm>
          <a:custGeom>
            <a:avLst/>
            <a:gdLst/>
            <a:ahLst/>
            <a:rect l="l" t="t" r="r" b="b"/>
            <a:pathLst>
              <a:path w="31372" h="60769">
                <a:moveTo>
                  <a:pt x="16883" y="0"/>
                </a:moveTo>
                <a:lnTo>
                  <a:pt x="0" y="5793"/>
                </a:lnTo>
                <a:lnTo>
                  <a:pt x="9819" y="59044"/>
                </a:lnTo>
                <a:lnTo>
                  <a:pt x="12213" y="60769"/>
                </a:lnTo>
                <a:lnTo>
                  <a:pt x="31372" y="51032"/>
                </a:lnTo>
                <a:lnTo>
                  <a:pt x="16883" y="0"/>
                </a:lnTo>
                <a:close/>
              </a:path>
            </a:pathLst>
          </a:custGeom>
          <a:solidFill>
            <a:srgbClr val="f2c8ad"/>
          </a:solidFill>
          <a:ln w="6191">
            <a:solidFill>
              <a:srgbClr val="b7633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52" name="โกวบ๊อพัฒนา"/>
          <p:cNvSpPr/>
          <p:nvPr/>
        </p:nvSpPr>
        <p:spPr>
          <a:xfrm>
            <a:off x="4656240" y="5936760"/>
            <a:ext cx="64800" cy="74880"/>
          </a:xfrm>
          <a:custGeom>
            <a:avLst/>
            <a:gdLst/>
            <a:ahLst/>
            <a:rect l="l" t="t" r="r" b="b"/>
            <a:pathLst>
              <a:path w="65258" h="75068">
                <a:moveTo>
                  <a:pt x="57116" y="37226"/>
                </a:moveTo>
                <a:lnTo>
                  <a:pt x="65258" y="33651"/>
                </a:lnTo>
                <a:lnTo>
                  <a:pt x="63702" y="28721"/>
                </a:lnTo>
                <a:lnTo>
                  <a:pt x="58074" y="31309"/>
                </a:lnTo>
                <a:lnTo>
                  <a:pt x="48854" y="0"/>
                </a:lnTo>
                <a:lnTo>
                  <a:pt x="23230" y="10354"/>
                </a:lnTo>
                <a:lnTo>
                  <a:pt x="28139" y="22804"/>
                </a:lnTo>
                <a:lnTo>
                  <a:pt x="12692" y="29214"/>
                </a:lnTo>
                <a:lnTo>
                  <a:pt x="21553" y="47703"/>
                </a:lnTo>
                <a:lnTo>
                  <a:pt x="0" y="57688"/>
                </a:lnTo>
                <a:lnTo>
                  <a:pt x="4071" y="75068"/>
                </a:lnTo>
                <a:lnTo>
                  <a:pt x="25026" y="67426"/>
                </a:lnTo>
                <a:lnTo>
                  <a:pt x="29097" y="64591"/>
                </a:lnTo>
                <a:lnTo>
                  <a:pt x="30414" y="66316"/>
                </a:lnTo>
                <a:lnTo>
                  <a:pt x="46938" y="53743"/>
                </a:lnTo>
                <a:lnTo>
                  <a:pt x="43825" y="48566"/>
                </a:lnTo>
                <a:lnTo>
                  <a:pt x="58553" y="41294"/>
                </a:lnTo>
                <a:lnTo>
                  <a:pt x="57116" y="37226"/>
                </a:lnTo>
                <a:close/>
              </a:path>
            </a:pathLst>
          </a:custGeom>
          <a:solidFill>
            <a:srgbClr val="f2c8ad"/>
          </a:solidFill>
          <a:ln w="6191">
            <a:solidFill>
              <a:srgbClr val="b7633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53" name="เจริญนคร 66"/>
          <p:cNvSpPr/>
          <p:nvPr/>
        </p:nvSpPr>
        <p:spPr>
          <a:xfrm>
            <a:off x="4729320" y="5983560"/>
            <a:ext cx="31680" cy="25200"/>
          </a:xfrm>
          <a:custGeom>
            <a:avLst/>
            <a:gdLst/>
            <a:ahLst/>
            <a:rect l="l" t="t" r="r" b="b"/>
            <a:pathLst>
              <a:path w="32090" h="25639">
                <a:moveTo>
                  <a:pt x="11256" y="13682"/>
                </a:moveTo>
                <a:lnTo>
                  <a:pt x="16404" y="20708"/>
                </a:lnTo>
                <a:lnTo>
                  <a:pt x="18679" y="19106"/>
                </a:lnTo>
                <a:lnTo>
                  <a:pt x="23230" y="25639"/>
                </a:lnTo>
                <a:lnTo>
                  <a:pt x="32090" y="2219"/>
                </a:lnTo>
                <a:lnTo>
                  <a:pt x="24906" y="0"/>
                </a:lnTo>
                <a:lnTo>
                  <a:pt x="13171" y="4068"/>
                </a:lnTo>
                <a:lnTo>
                  <a:pt x="10777" y="493"/>
                </a:lnTo>
                <a:lnTo>
                  <a:pt x="0" y="8752"/>
                </a:lnTo>
                <a:lnTo>
                  <a:pt x="7065" y="16887"/>
                </a:lnTo>
                <a:lnTo>
                  <a:pt x="11256" y="13682"/>
                </a:lnTo>
                <a:close/>
              </a:path>
            </a:pathLst>
          </a:custGeom>
          <a:solidFill>
            <a:srgbClr val="f2c8ad"/>
          </a:solidFill>
          <a:ln w="6191">
            <a:solidFill>
              <a:srgbClr val="b7633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54" name="ตรอกสะพานยาว"/>
          <p:cNvSpPr/>
          <p:nvPr/>
        </p:nvSpPr>
        <p:spPr>
          <a:xfrm>
            <a:off x="4660200" y="6001200"/>
            <a:ext cx="34560" cy="37440"/>
          </a:xfrm>
          <a:custGeom>
            <a:avLst/>
            <a:gdLst/>
            <a:ahLst/>
            <a:rect l="l" t="t" r="r" b="b"/>
            <a:pathLst>
              <a:path w="34964" h="37842">
                <a:moveTo>
                  <a:pt x="23589" y="26995"/>
                </a:moveTo>
                <a:lnTo>
                  <a:pt x="26702" y="30693"/>
                </a:lnTo>
                <a:lnTo>
                  <a:pt x="34725" y="25146"/>
                </a:lnTo>
                <a:lnTo>
                  <a:pt x="34964" y="13313"/>
                </a:lnTo>
                <a:lnTo>
                  <a:pt x="25026" y="0"/>
                </a:lnTo>
                <a:lnTo>
                  <a:pt x="21074" y="2835"/>
                </a:lnTo>
                <a:lnTo>
                  <a:pt x="0" y="10477"/>
                </a:lnTo>
                <a:lnTo>
                  <a:pt x="2874" y="26379"/>
                </a:lnTo>
                <a:lnTo>
                  <a:pt x="7424" y="31432"/>
                </a:lnTo>
                <a:lnTo>
                  <a:pt x="9819" y="37842"/>
                </a:lnTo>
                <a:lnTo>
                  <a:pt x="23589" y="26995"/>
                </a:lnTo>
                <a:close/>
              </a:path>
            </a:pathLst>
          </a:custGeom>
          <a:solidFill>
            <a:srgbClr val="f2c8ad"/>
          </a:solidFill>
          <a:ln w="6191">
            <a:solidFill>
              <a:srgbClr val="b7633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55" name="มะนาวหวาน"/>
          <p:cNvSpPr/>
          <p:nvPr/>
        </p:nvSpPr>
        <p:spPr>
          <a:xfrm>
            <a:off x="4709880" y="6010560"/>
            <a:ext cx="39960" cy="18360"/>
          </a:xfrm>
          <a:custGeom>
            <a:avLst/>
            <a:gdLst/>
            <a:ahLst/>
            <a:rect l="l" t="t" r="r" b="b"/>
            <a:pathLst>
              <a:path w="40233" h="18859">
                <a:moveTo>
                  <a:pt x="21912" y="3451"/>
                </a:moveTo>
                <a:lnTo>
                  <a:pt x="21553" y="1602"/>
                </a:lnTo>
                <a:lnTo>
                  <a:pt x="13650" y="0"/>
                </a:lnTo>
                <a:lnTo>
                  <a:pt x="13171" y="4314"/>
                </a:lnTo>
                <a:lnTo>
                  <a:pt x="4550" y="4068"/>
                </a:lnTo>
                <a:lnTo>
                  <a:pt x="0" y="17750"/>
                </a:lnTo>
                <a:lnTo>
                  <a:pt x="35443" y="18859"/>
                </a:lnTo>
                <a:lnTo>
                  <a:pt x="40233" y="6903"/>
                </a:lnTo>
                <a:lnTo>
                  <a:pt x="23589" y="5917"/>
                </a:lnTo>
                <a:lnTo>
                  <a:pt x="23589" y="3575"/>
                </a:lnTo>
                <a:lnTo>
                  <a:pt x="21912" y="3451"/>
                </a:lnTo>
                <a:close/>
              </a:path>
            </a:pathLst>
          </a:custGeom>
          <a:solidFill>
            <a:srgbClr val="f2c8ad"/>
          </a:solidFill>
          <a:ln w="6191">
            <a:solidFill>
              <a:srgbClr val="b7633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56" name="วัดดาวคนอง"/>
          <p:cNvSpPr/>
          <p:nvPr/>
        </p:nvSpPr>
        <p:spPr>
          <a:xfrm>
            <a:off x="4749480" y="6037200"/>
            <a:ext cx="24840" cy="28440"/>
          </a:xfrm>
          <a:custGeom>
            <a:avLst/>
            <a:gdLst/>
            <a:ahLst/>
            <a:rect l="l" t="t" r="r" b="b"/>
            <a:pathLst>
              <a:path w="25265" h="28844">
                <a:moveTo>
                  <a:pt x="3832" y="4561"/>
                </a:moveTo>
                <a:lnTo>
                  <a:pt x="4071" y="0"/>
                </a:lnTo>
                <a:lnTo>
                  <a:pt x="2395" y="0"/>
                </a:lnTo>
                <a:lnTo>
                  <a:pt x="479" y="13929"/>
                </a:lnTo>
                <a:lnTo>
                  <a:pt x="1916" y="14915"/>
                </a:lnTo>
                <a:lnTo>
                  <a:pt x="0" y="18736"/>
                </a:lnTo>
                <a:lnTo>
                  <a:pt x="5388" y="22064"/>
                </a:lnTo>
                <a:lnTo>
                  <a:pt x="2515" y="26995"/>
                </a:lnTo>
                <a:lnTo>
                  <a:pt x="14967" y="28844"/>
                </a:lnTo>
                <a:lnTo>
                  <a:pt x="25265" y="24776"/>
                </a:lnTo>
                <a:lnTo>
                  <a:pt x="23349" y="11340"/>
                </a:lnTo>
                <a:lnTo>
                  <a:pt x="24547" y="0"/>
                </a:lnTo>
                <a:lnTo>
                  <a:pt x="15925" y="123"/>
                </a:lnTo>
                <a:lnTo>
                  <a:pt x="9340" y="1972"/>
                </a:lnTo>
                <a:lnTo>
                  <a:pt x="8741" y="5054"/>
                </a:lnTo>
                <a:lnTo>
                  <a:pt x="3712" y="5670"/>
                </a:lnTo>
                <a:lnTo>
                  <a:pt x="3832" y="4561"/>
                </a:lnTo>
                <a:close/>
              </a:path>
            </a:pathLst>
          </a:custGeom>
          <a:solidFill>
            <a:srgbClr val="f2c8ad"/>
          </a:solidFill>
          <a:ln w="6191">
            <a:solidFill>
              <a:srgbClr val="b7633d"/>
            </a:solidFill>
            <a:round/>
          </a:ln>
        </p:spPr>
        <p:style>
          <a:lnRef idx="0"/>
          <a:fillRef idx="0"/>
          <a:effectRef idx="0"/>
          <a:fontRef idx="minor"/>
        </p:style>
        <p:txBody>
          <a:bodyPr lIns="90000" rIns="90000" tIns="-16560" bIns="-16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57" name="เกื้อวิทยา"/>
          <p:cNvSpPr/>
          <p:nvPr/>
        </p:nvSpPr>
        <p:spPr>
          <a:xfrm>
            <a:off x="4818960" y="5851800"/>
            <a:ext cx="25920" cy="29880"/>
          </a:xfrm>
          <a:custGeom>
            <a:avLst/>
            <a:gdLst/>
            <a:ahLst/>
            <a:rect l="l" t="t" r="r" b="b"/>
            <a:pathLst>
              <a:path w="26343" h="30200">
                <a:moveTo>
                  <a:pt x="8382" y="28104"/>
                </a:moveTo>
                <a:lnTo>
                  <a:pt x="13171" y="27242"/>
                </a:lnTo>
                <a:lnTo>
                  <a:pt x="13890" y="25023"/>
                </a:lnTo>
                <a:lnTo>
                  <a:pt x="20356" y="30200"/>
                </a:lnTo>
                <a:lnTo>
                  <a:pt x="26343" y="22927"/>
                </a:lnTo>
                <a:lnTo>
                  <a:pt x="11136" y="0"/>
                </a:lnTo>
                <a:lnTo>
                  <a:pt x="0" y="2589"/>
                </a:lnTo>
                <a:lnTo>
                  <a:pt x="120" y="4068"/>
                </a:lnTo>
                <a:lnTo>
                  <a:pt x="3592" y="4068"/>
                </a:lnTo>
                <a:lnTo>
                  <a:pt x="4191" y="7396"/>
                </a:lnTo>
                <a:lnTo>
                  <a:pt x="7304" y="7273"/>
                </a:lnTo>
                <a:lnTo>
                  <a:pt x="7304" y="9738"/>
                </a:lnTo>
                <a:lnTo>
                  <a:pt x="0" y="9861"/>
                </a:lnTo>
                <a:lnTo>
                  <a:pt x="120" y="11464"/>
                </a:lnTo>
                <a:lnTo>
                  <a:pt x="479" y="12943"/>
                </a:lnTo>
                <a:lnTo>
                  <a:pt x="7903" y="12943"/>
                </a:lnTo>
                <a:lnTo>
                  <a:pt x="8382" y="28104"/>
                </a:lnTo>
                <a:close/>
              </a:path>
            </a:pathLst>
          </a:custGeom>
          <a:solidFill>
            <a:srgbClr val="f2c8ad"/>
          </a:solidFill>
          <a:ln w="6191">
            <a:solidFill>
              <a:srgbClr val="b7633d"/>
            </a:solidFill>
            <a:round/>
          </a:ln>
        </p:spPr>
        <p:style>
          <a:lnRef idx="0"/>
          <a:fillRef idx="0"/>
          <a:effectRef idx="0"/>
          <a:fontRef idx="minor"/>
        </p:style>
        <p:txBody>
          <a:bodyPr lIns="90000" rIns="90000" tIns="-15120" bIns="-15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58" name="วัดบางน้ำชน"/>
          <p:cNvSpPr/>
          <p:nvPr/>
        </p:nvSpPr>
        <p:spPr>
          <a:xfrm>
            <a:off x="4785120" y="5943600"/>
            <a:ext cx="29880" cy="20520"/>
          </a:xfrm>
          <a:custGeom>
            <a:avLst/>
            <a:gdLst/>
            <a:ahLst/>
            <a:rect l="l" t="t" r="r" b="b"/>
            <a:pathLst>
              <a:path w="30174" h="20832">
                <a:moveTo>
                  <a:pt x="0" y="17380"/>
                </a:moveTo>
                <a:lnTo>
                  <a:pt x="7544" y="20832"/>
                </a:lnTo>
                <a:lnTo>
                  <a:pt x="11615" y="11464"/>
                </a:lnTo>
                <a:lnTo>
                  <a:pt x="25145" y="20215"/>
                </a:lnTo>
                <a:lnTo>
                  <a:pt x="30174" y="13436"/>
                </a:lnTo>
                <a:lnTo>
                  <a:pt x="8382" y="0"/>
                </a:lnTo>
                <a:lnTo>
                  <a:pt x="0" y="17380"/>
                </a:lnTo>
                <a:close/>
              </a:path>
            </a:pathLst>
          </a:custGeom>
          <a:solidFill>
            <a:srgbClr val="f2c8ad"/>
          </a:solidFill>
          <a:ln w="6191">
            <a:solidFill>
              <a:srgbClr val="b7633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59" name="วัดราชวรินทร์"/>
          <p:cNvSpPr/>
          <p:nvPr/>
        </p:nvSpPr>
        <p:spPr>
          <a:xfrm>
            <a:off x="4790880" y="5865120"/>
            <a:ext cx="35640" cy="33840"/>
          </a:xfrm>
          <a:custGeom>
            <a:avLst/>
            <a:gdLst/>
            <a:ahLst/>
            <a:rect l="l" t="t" r="r" b="b"/>
            <a:pathLst>
              <a:path w="36042" h="34144">
                <a:moveTo>
                  <a:pt x="35084" y="26995"/>
                </a:moveTo>
                <a:lnTo>
                  <a:pt x="36042" y="0"/>
                </a:lnTo>
                <a:lnTo>
                  <a:pt x="22032" y="0"/>
                </a:lnTo>
                <a:lnTo>
                  <a:pt x="22391" y="13066"/>
                </a:lnTo>
                <a:lnTo>
                  <a:pt x="0" y="20585"/>
                </a:lnTo>
                <a:lnTo>
                  <a:pt x="5987" y="34144"/>
                </a:lnTo>
                <a:lnTo>
                  <a:pt x="14249" y="33651"/>
                </a:lnTo>
                <a:lnTo>
                  <a:pt x="21912" y="29953"/>
                </a:lnTo>
                <a:lnTo>
                  <a:pt x="35084" y="26995"/>
                </a:lnTo>
                <a:close/>
              </a:path>
            </a:pathLst>
          </a:custGeom>
          <a:solidFill>
            <a:srgbClr val="f2c8ad"/>
          </a:solidFill>
          <a:ln w="6191">
            <a:solidFill>
              <a:srgbClr val="b7633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60" name="สุทธาราม"/>
          <p:cNvSpPr/>
          <p:nvPr/>
        </p:nvSpPr>
        <p:spPr>
          <a:xfrm>
            <a:off x="4800600" y="5825160"/>
            <a:ext cx="29160" cy="36720"/>
          </a:xfrm>
          <a:custGeom>
            <a:avLst/>
            <a:gdLst/>
            <a:ahLst/>
            <a:rect l="l" t="t" r="r" b="b"/>
            <a:pathLst>
              <a:path w="29456" h="37103">
                <a:moveTo>
                  <a:pt x="3592" y="3944"/>
                </a:moveTo>
                <a:lnTo>
                  <a:pt x="2515" y="3944"/>
                </a:lnTo>
                <a:lnTo>
                  <a:pt x="2634" y="10847"/>
                </a:lnTo>
                <a:lnTo>
                  <a:pt x="0" y="10971"/>
                </a:lnTo>
                <a:lnTo>
                  <a:pt x="0" y="12943"/>
                </a:lnTo>
                <a:lnTo>
                  <a:pt x="4311" y="12820"/>
                </a:lnTo>
                <a:lnTo>
                  <a:pt x="4430" y="30200"/>
                </a:lnTo>
                <a:lnTo>
                  <a:pt x="6586" y="29953"/>
                </a:lnTo>
                <a:lnTo>
                  <a:pt x="6825" y="32665"/>
                </a:lnTo>
                <a:lnTo>
                  <a:pt x="8382" y="32419"/>
                </a:lnTo>
                <a:lnTo>
                  <a:pt x="8741" y="37103"/>
                </a:lnTo>
                <a:lnTo>
                  <a:pt x="14010" y="36117"/>
                </a:lnTo>
                <a:lnTo>
                  <a:pt x="14010" y="31309"/>
                </a:lnTo>
                <a:lnTo>
                  <a:pt x="18320" y="31063"/>
                </a:lnTo>
                <a:lnTo>
                  <a:pt x="18919" y="28597"/>
                </a:lnTo>
                <a:lnTo>
                  <a:pt x="29456" y="26625"/>
                </a:lnTo>
                <a:lnTo>
                  <a:pt x="24786" y="18736"/>
                </a:lnTo>
                <a:lnTo>
                  <a:pt x="23349" y="1479"/>
                </a:lnTo>
                <a:lnTo>
                  <a:pt x="11016" y="0"/>
                </a:lnTo>
                <a:lnTo>
                  <a:pt x="11016" y="1726"/>
                </a:lnTo>
                <a:lnTo>
                  <a:pt x="3712" y="1109"/>
                </a:lnTo>
                <a:lnTo>
                  <a:pt x="3592" y="3944"/>
                </a:lnTo>
                <a:close/>
              </a:path>
            </a:pathLst>
          </a:custGeom>
          <a:solidFill>
            <a:srgbClr val="f2c8ad"/>
          </a:solidFill>
          <a:ln w="6191">
            <a:solidFill>
              <a:srgbClr val="b7633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61" name="หลังไปรษณีย์สำเหร่"/>
          <p:cNvSpPr/>
          <p:nvPr/>
        </p:nvSpPr>
        <p:spPr>
          <a:xfrm>
            <a:off x="4805280" y="5803200"/>
            <a:ext cx="19080" cy="8280"/>
          </a:xfrm>
          <a:custGeom>
            <a:avLst/>
            <a:gdLst/>
            <a:ahLst/>
            <a:rect l="l" t="t" r="r" b="b"/>
            <a:pathLst>
              <a:path w="19278" h="8505">
                <a:moveTo>
                  <a:pt x="0" y="7026"/>
                </a:moveTo>
                <a:lnTo>
                  <a:pt x="18919" y="8505"/>
                </a:lnTo>
                <a:lnTo>
                  <a:pt x="19278" y="863"/>
                </a:lnTo>
                <a:lnTo>
                  <a:pt x="479" y="0"/>
                </a:lnTo>
                <a:lnTo>
                  <a:pt x="0" y="7026"/>
                </a:lnTo>
                <a:close/>
              </a:path>
            </a:pathLst>
          </a:custGeom>
          <a:solidFill>
            <a:srgbClr val="f2c8ad"/>
          </a:solidFill>
          <a:ln w="6191">
            <a:solidFill>
              <a:srgbClr val="b7633d"/>
            </a:solidFill>
            <a:round/>
          </a:ln>
        </p:spPr>
        <p:style>
          <a:lnRef idx="0"/>
          <a:fillRef idx="0"/>
          <a:effectRef idx="0"/>
          <a:fontRef idx="minor"/>
        </p:style>
        <p:txBody>
          <a:bodyPr lIns="90000" rIns="90000" tIns="-36720" bIns="-36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62" name="ข้างโรงเรียนพณิชยการราชดำเนิน"/>
          <p:cNvSpPr/>
          <p:nvPr/>
        </p:nvSpPr>
        <p:spPr>
          <a:xfrm>
            <a:off x="4697280" y="5467320"/>
            <a:ext cx="34560" cy="32400"/>
          </a:xfrm>
          <a:custGeom>
            <a:avLst/>
            <a:gdLst/>
            <a:ahLst/>
            <a:rect l="l" t="t" r="r" b="b"/>
            <a:pathLst>
              <a:path w="34844" h="32912">
                <a:moveTo>
                  <a:pt x="0" y="7766"/>
                </a:moveTo>
                <a:lnTo>
                  <a:pt x="5388" y="14175"/>
                </a:lnTo>
                <a:lnTo>
                  <a:pt x="14010" y="11217"/>
                </a:lnTo>
                <a:lnTo>
                  <a:pt x="26223" y="32912"/>
                </a:lnTo>
                <a:lnTo>
                  <a:pt x="34844" y="28597"/>
                </a:lnTo>
                <a:lnTo>
                  <a:pt x="20116" y="5547"/>
                </a:lnTo>
                <a:lnTo>
                  <a:pt x="23230" y="3944"/>
                </a:lnTo>
                <a:lnTo>
                  <a:pt x="21673" y="0"/>
                </a:lnTo>
                <a:lnTo>
                  <a:pt x="0" y="7766"/>
                </a:lnTo>
                <a:close/>
              </a:path>
            </a:pathLst>
          </a:custGeom>
          <a:solidFill>
            <a:srgbClr val="f2c8ad"/>
          </a:solidFill>
          <a:ln w="6191">
            <a:solidFill>
              <a:srgbClr val="b7633d"/>
            </a:solidFill>
            <a:round/>
          </a:ln>
        </p:spPr>
        <p:style>
          <a:lnRef idx="0"/>
          <a:fillRef idx="0"/>
          <a:effectRef idx="0"/>
          <a:fontRef idx="minor"/>
        </p:style>
        <p:txBody>
          <a:bodyPr lIns="90000" rIns="90000" tIns="-12600" bIns="-12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63" name="ปรกอรุณ"/>
          <p:cNvSpPr/>
          <p:nvPr/>
        </p:nvSpPr>
        <p:spPr>
          <a:xfrm>
            <a:off x="4717440" y="5454000"/>
            <a:ext cx="45720" cy="31320"/>
          </a:xfrm>
          <a:custGeom>
            <a:avLst/>
            <a:gdLst/>
            <a:ahLst/>
            <a:rect l="l" t="t" r="r" b="b"/>
            <a:pathLst>
              <a:path w="46100" h="31802">
                <a:moveTo>
                  <a:pt x="6825" y="28597"/>
                </a:moveTo>
                <a:lnTo>
                  <a:pt x="15207" y="25023"/>
                </a:lnTo>
                <a:lnTo>
                  <a:pt x="13650" y="21818"/>
                </a:lnTo>
                <a:lnTo>
                  <a:pt x="19877" y="18736"/>
                </a:lnTo>
                <a:lnTo>
                  <a:pt x="25385" y="30693"/>
                </a:lnTo>
                <a:lnTo>
                  <a:pt x="34246" y="27365"/>
                </a:lnTo>
                <a:lnTo>
                  <a:pt x="35922" y="31802"/>
                </a:lnTo>
                <a:lnTo>
                  <a:pt x="46100" y="26995"/>
                </a:lnTo>
                <a:lnTo>
                  <a:pt x="33407" y="0"/>
                </a:lnTo>
                <a:lnTo>
                  <a:pt x="18081" y="8629"/>
                </a:lnTo>
                <a:lnTo>
                  <a:pt x="18440" y="10354"/>
                </a:lnTo>
                <a:lnTo>
                  <a:pt x="0" y="18859"/>
                </a:lnTo>
                <a:lnTo>
                  <a:pt x="2036" y="23420"/>
                </a:lnTo>
                <a:lnTo>
                  <a:pt x="6825" y="28597"/>
                </a:lnTo>
                <a:close/>
              </a:path>
            </a:pathLst>
          </a:custGeom>
          <a:solidFill>
            <a:srgbClr val="f2c8ad"/>
          </a:solidFill>
          <a:ln w="6191">
            <a:solidFill>
              <a:srgbClr val="b7633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64" name="ลานมะขาม"/>
          <p:cNvSpPr/>
          <p:nvPr/>
        </p:nvSpPr>
        <p:spPr>
          <a:xfrm>
            <a:off x="4712040" y="5442480"/>
            <a:ext cx="38520" cy="28440"/>
          </a:xfrm>
          <a:custGeom>
            <a:avLst/>
            <a:gdLst/>
            <a:ahLst/>
            <a:rect l="l" t="t" r="r" b="b"/>
            <a:pathLst>
              <a:path w="38796" h="28967">
                <a:moveTo>
                  <a:pt x="0" y="14422"/>
                </a:moveTo>
                <a:lnTo>
                  <a:pt x="7903" y="21202"/>
                </a:lnTo>
                <a:lnTo>
                  <a:pt x="6226" y="23667"/>
                </a:lnTo>
                <a:lnTo>
                  <a:pt x="8621" y="28967"/>
                </a:lnTo>
                <a:lnTo>
                  <a:pt x="23708" y="22064"/>
                </a:lnTo>
                <a:lnTo>
                  <a:pt x="23349" y="20585"/>
                </a:lnTo>
                <a:lnTo>
                  <a:pt x="38796" y="11464"/>
                </a:lnTo>
                <a:lnTo>
                  <a:pt x="37119" y="8135"/>
                </a:lnTo>
                <a:lnTo>
                  <a:pt x="29935" y="2712"/>
                </a:lnTo>
                <a:lnTo>
                  <a:pt x="25265" y="5300"/>
                </a:lnTo>
                <a:lnTo>
                  <a:pt x="21912" y="0"/>
                </a:lnTo>
                <a:lnTo>
                  <a:pt x="12812" y="5917"/>
                </a:lnTo>
                <a:lnTo>
                  <a:pt x="1676" y="10108"/>
                </a:lnTo>
                <a:lnTo>
                  <a:pt x="2874" y="11464"/>
                </a:lnTo>
                <a:lnTo>
                  <a:pt x="0" y="14422"/>
                </a:lnTo>
                <a:close/>
              </a:path>
            </a:pathLst>
          </a:custGeom>
          <a:solidFill>
            <a:srgbClr val="f2c8ad"/>
          </a:solidFill>
          <a:ln w="6191">
            <a:solidFill>
              <a:srgbClr val="b7633d"/>
            </a:solidFill>
            <a:round/>
          </a:ln>
        </p:spPr>
        <p:style>
          <a:lnRef idx="0"/>
          <a:fillRef idx="0"/>
          <a:effectRef idx="0"/>
          <a:fontRef idx="minor"/>
        </p:style>
        <p:txBody>
          <a:bodyPr lIns="90000" rIns="90000" tIns="-16560" bIns="-16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65" name="ชุมชนวัดหงส์รัตนาราม"/>
          <p:cNvSpPr/>
          <p:nvPr/>
        </p:nvSpPr>
        <p:spPr>
          <a:xfrm>
            <a:off x="4731840" y="5490720"/>
            <a:ext cx="39240" cy="51120"/>
          </a:xfrm>
          <a:custGeom>
            <a:avLst/>
            <a:gdLst/>
            <a:ahLst/>
            <a:rect l="l" t="t" r="r" b="b"/>
            <a:pathLst>
              <a:path w="39514" h="51525">
                <a:moveTo>
                  <a:pt x="0" y="6903"/>
                </a:moveTo>
                <a:lnTo>
                  <a:pt x="18081" y="37472"/>
                </a:lnTo>
                <a:lnTo>
                  <a:pt x="34126" y="51525"/>
                </a:lnTo>
                <a:lnTo>
                  <a:pt x="39514" y="36363"/>
                </a:lnTo>
                <a:lnTo>
                  <a:pt x="36521" y="33651"/>
                </a:lnTo>
                <a:lnTo>
                  <a:pt x="35084" y="35377"/>
                </a:lnTo>
                <a:lnTo>
                  <a:pt x="26463" y="24406"/>
                </a:lnTo>
                <a:lnTo>
                  <a:pt x="20236" y="14545"/>
                </a:lnTo>
                <a:lnTo>
                  <a:pt x="22870" y="13066"/>
                </a:lnTo>
                <a:lnTo>
                  <a:pt x="22032" y="10847"/>
                </a:lnTo>
                <a:lnTo>
                  <a:pt x="18200" y="10971"/>
                </a:lnTo>
                <a:lnTo>
                  <a:pt x="14129" y="0"/>
                </a:lnTo>
                <a:lnTo>
                  <a:pt x="0" y="6903"/>
                </a:lnTo>
                <a:close/>
              </a:path>
            </a:pathLst>
          </a:custGeom>
          <a:solidFill>
            <a:srgbClr val="f2c8ad"/>
          </a:solidFill>
          <a:ln w="6191">
            <a:solidFill>
              <a:srgbClr val="b7633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66" name="วัดโมลีโลกยาราม"/>
          <p:cNvSpPr/>
          <p:nvPr/>
        </p:nvSpPr>
        <p:spPr>
          <a:xfrm>
            <a:off x="4767480" y="5488920"/>
            <a:ext cx="22680" cy="29520"/>
          </a:xfrm>
          <a:custGeom>
            <a:avLst/>
            <a:gdLst/>
            <a:ahLst/>
            <a:rect l="l" t="t" r="r" b="b"/>
            <a:pathLst>
              <a:path w="22870" h="29830">
                <a:moveTo>
                  <a:pt x="17123" y="0"/>
                </a:moveTo>
                <a:lnTo>
                  <a:pt x="12692" y="1849"/>
                </a:lnTo>
                <a:lnTo>
                  <a:pt x="14010" y="4807"/>
                </a:lnTo>
                <a:lnTo>
                  <a:pt x="6226" y="8382"/>
                </a:lnTo>
                <a:lnTo>
                  <a:pt x="4430" y="5424"/>
                </a:lnTo>
                <a:lnTo>
                  <a:pt x="0" y="7889"/>
                </a:lnTo>
                <a:lnTo>
                  <a:pt x="6226" y="16148"/>
                </a:lnTo>
                <a:lnTo>
                  <a:pt x="120" y="20585"/>
                </a:lnTo>
                <a:lnTo>
                  <a:pt x="3113" y="25886"/>
                </a:lnTo>
                <a:lnTo>
                  <a:pt x="8741" y="29830"/>
                </a:lnTo>
                <a:lnTo>
                  <a:pt x="22870" y="10971"/>
                </a:lnTo>
                <a:lnTo>
                  <a:pt x="17123" y="0"/>
                </a:lnTo>
                <a:close/>
              </a:path>
            </a:pathLst>
          </a:custGeom>
          <a:solidFill>
            <a:srgbClr val="f2c8ad"/>
          </a:solidFill>
          <a:ln w="6191">
            <a:solidFill>
              <a:srgbClr val="b7633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67" name="วัดเครือวัลย์"/>
          <p:cNvSpPr/>
          <p:nvPr/>
        </p:nvSpPr>
        <p:spPr>
          <a:xfrm>
            <a:off x="4721040" y="5419440"/>
            <a:ext cx="27000" cy="25560"/>
          </a:xfrm>
          <a:custGeom>
            <a:avLst/>
            <a:gdLst/>
            <a:ahLst/>
            <a:rect l="l" t="t" r="r" b="b"/>
            <a:pathLst>
              <a:path w="27301" h="26009">
                <a:moveTo>
                  <a:pt x="0" y="7396"/>
                </a:moveTo>
                <a:lnTo>
                  <a:pt x="3832" y="16024"/>
                </a:lnTo>
                <a:lnTo>
                  <a:pt x="10417" y="23790"/>
                </a:lnTo>
                <a:lnTo>
                  <a:pt x="13052" y="22434"/>
                </a:lnTo>
                <a:lnTo>
                  <a:pt x="15446" y="26009"/>
                </a:lnTo>
                <a:lnTo>
                  <a:pt x="27301" y="20708"/>
                </a:lnTo>
                <a:lnTo>
                  <a:pt x="19637" y="0"/>
                </a:lnTo>
                <a:lnTo>
                  <a:pt x="0" y="7396"/>
                </a:lnTo>
                <a:close/>
              </a:path>
            </a:pathLst>
          </a:custGeom>
          <a:solidFill>
            <a:srgbClr val="f2c8ad"/>
          </a:solidFill>
          <a:ln w="6191">
            <a:solidFill>
              <a:srgbClr val="b7633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68" name="วัดนาคกลาง"/>
          <p:cNvSpPr/>
          <p:nvPr/>
        </p:nvSpPr>
        <p:spPr>
          <a:xfrm>
            <a:off x="4671720" y="5427000"/>
            <a:ext cx="58680" cy="29520"/>
          </a:xfrm>
          <a:custGeom>
            <a:avLst/>
            <a:gdLst/>
            <a:ahLst/>
            <a:rect l="l" t="t" r="r" b="b"/>
            <a:pathLst>
              <a:path w="59151" h="29953">
                <a:moveTo>
                  <a:pt x="0" y="11217"/>
                </a:moveTo>
                <a:lnTo>
                  <a:pt x="1796" y="16517"/>
                </a:lnTo>
                <a:lnTo>
                  <a:pt x="4311" y="15531"/>
                </a:lnTo>
                <a:lnTo>
                  <a:pt x="5269" y="18366"/>
                </a:lnTo>
                <a:lnTo>
                  <a:pt x="9938" y="16641"/>
                </a:lnTo>
                <a:lnTo>
                  <a:pt x="13770" y="26995"/>
                </a:lnTo>
                <a:lnTo>
                  <a:pt x="21673" y="26009"/>
                </a:lnTo>
                <a:lnTo>
                  <a:pt x="26103" y="29953"/>
                </a:lnTo>
                <a:lnTo>
                  <a:pt x="33886" y="25886"/>
                </a:lnTo>
                <a:lnTo>
                  <a:pt x="47537" y="22927"/>
                </a:lnTo>
                <a:lnTo>
                  <a:pt x="59151" y="16394"/>
                </a:lnTo>
                <a:lnTo>
                  <a:pt x="52446" y="8135"/>
                </a:lnTo>
                <a:lnTo>
                  <a:pt x="48734" y="0"/>
                </a:lnTo>
                <a:lnTo>
                  <a:pt x="25385" y="8382"/>
                </a:lnTo>
                <a:lnTo>
                  <a:pt x="0" y="11217"/>
                </a:lnTo>
                <a:close/>
              </a:path>
            </a:pathLst>
          </a:custGeom>
          <a:solidFill>
            <a:srgbClr val="f2c8ad"/>
          </a:solidFill>
          <a:ln w="6191">
            <a:solidFill>
              <a:srgbClr val="b7633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69" name="ข้างโรงกลั่นน้ำมันบางจาก"/>
          <p:cNvSpPr/>
          <p:nvPr/>
        </p:nvSpPr>
        <p:spPr>
          <a:xfrm>
            <a:off x="6048000" y="6104520"/>
            <a:ext cx="18720" cy="29880"/>
          </a:xfrm>
          <a:custGeom>
            <a:avLst/>
            <a:gdLst/>
            <a:ahLst/>
            <a:rect l="l" t="t" r="r" b="b"/>
            <a:pathLst>
              <a:path w="19158" h="30077">
                <a:moveTo>
                  <a:pt x="13531" y="11587"/>
                </a:moveTo>
                <a:lnTo>
                  <a:pt x="9340" y="0"/>
                </a:lnTo>
                <a:lnTo>
                  <a:pt x="718" y="123"/>
                </a:lnTo>
                <a:lnTo>
                  <a:pt x="359" y="9615"/>
                </a:lnTo>
                <a:lnTo>
                  <a:pt x="2993" y="13436"/>
                </a:lnTo>
                <a:lnTo>
                  <a:pt x="9220" y="14299"/>
                </a:lnTo>
                <a:lnTo>
                  <a:pt x="10417" y="20092"/>
                </a:lnTo>
                <a:lnTo>
                  <a:pt x="0" y="23420"/>
                </a:lnTo>
                <a:lnTo>
                  <a:pt x="599" y="30077"/>
                </a:lnTo>
                <a:lnTo>
                  <a:pt x="19158" y="25886"/>
                </a:lnTo>
                <a:lnTo>
                  <a:pt x="13531" y="11587"/>
                </a:lnTo>
                <a:close/>
              </a:path>
            </a:pathLst>
          </a:custGeom>
          <a:solidFill>
            <a:srgbClr val="f2c8ad"/>
          </a:solidFill>
          <a:ln w="6191">
            <a:solidFill>
              <a:srgbClr val="b7633d"/>
            </a:solidFill>
            <a:round/>
          </a:ln>
        </p:spPr>
        <p:style>
          <a:lnRef idx="0"/>
          <a:fillRef idx="0"/>
          <a:effectRef idx="0"/>
          <a:fontRef idx="minor"/>
        </p:style>
        <p:txBody>
          <a:bodyPr lIns="90000" rIns="90000" tIns="-15120" bIns="-15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70" name="ชุมชนพงษ์เวชอนุสรณ์"/>
          <p:cNvSpPr/>
          <p:nvPr/>
        </p:nvSpPr>
        <p:spPr>
          <a:xfrm>
            <a:off x="6169680" y="6094440"/>
            <a:ext cx="16200" cy="21960"/>
          </a:xfrm>
          <a:custGeom>
            <a:avLst/>
            <a:gdLst/>
            <a:ahLst/>
            <a:rect l="l" t="t" r="r" b="b"/>
            <a:pathLst>
              <a:path w="16404" h="22188">
                <a:moveTo>
                  <a:pt x="0" y="3451"/>
                </a:moveTo>
                <a:lnTo>
                  <a:pt x="7424" y="22188"/>
                </a:lnTo>
                <a:lnTo>
                  <a:pt x="9579" y="21325"/>
                </a:lnTo>
                <a:lnTo>
                  <a:pt x="9100" y="19722"/>
                </a:lnTo>
                <a:lnTo>
                  <a:pt x="16404" y="16764"/>
                </a:lnTo>
                <a:lnTo>
                  <a:pt x="8861" y="0"/>
                </a:lnTo>
                <a:lnTo>
                  <a:pt x="0" y="3451"/>
                </a:lnTo>
                <a:close/>
              </a:path>
            </a:pathLst>
          </a:custGeom>
          <a:solidFill>
            <a:srgbClr val="f2c8ad"/>
          </a:solidFill>
          <a:ln w="6191">
            <a:solidFill>
              <a:srgbClr val="b7633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71" name="ชุมชนหน้าโรงเรียนบางจาก"/>
          <p:cNvSpPr/>
          <p:nvPr/>
        </p:nvSpPr>
        <p:spPr>
          <a:xfrm>
            <a:off x="6011640" y="6013800"/>
            <a:ext cx="66600" cy="45720"/>
          </a:xfrm>
          <a:custGeom>
            <a:avLst/>
            <a:gdLst/>
            <a:ahLst/>
            <a:rect l="l" t="t" r="r" b="b"/>
            <a:pathLst>
              <a:path w="66815" h="45978">
                <a:moveTo>
                  <a:pt x="28977" y="12203"/>
                </a:moveTo>
                <a:lnTo>
                  <a:pt x="15686" y="0"/>
                </a:lnTo>
                <a:lnTo>
                  <a:pt x="0" y="5054"/>
                </a:lnTo>
                <a:lnTo>
                  <a:pt x="7783" y="15408"/>
                </a:lnTo>
                <a:lnTo>
                  <a:pt x="12333" y="18120"/>
                </a:lnTo>
                <a:lnTo>
                  <a:pt x="26103" y="31679"/>
                </a:lnTo>
                <a:lnTo>
                  <a:pt x="45621" y="45978"/>
                </a:lnTo>
                <a:lnTo>
                  <a:pt x="63702" y="36117"/>
                </a:lnTo>
                <a:lnTo>
                  <a:pt x="62983" y="34884"/>
                </a:lnTo>
                <a:lnTo>
                  <a:pt x="65498" y="33405"/>
                </a:lnTo>
                <a:lnTo>
                  <a:pt x="63941" y="30570"/>
                </a:lnTo>
                <a:lnTo>
                  <a:pt x="66815" y="28844"/>
                </a:lnTo>
                <a:lnTo>
                  <a:pt x="54601" y="9368"/>
                </a:lnTo>
                <a:lnTo>
                  <a:pt x="33168" y="19599"/>
                </a:lnTo>
                <a:lnTo>
                  <a:pt x="28977" y="12203"/>
                </a:lnTo>
                <a:close/>
              </a:path>
            </a:pathLst>
          </a:custGeom>
          <a:solidFill>
            <a:srgbClr val="f2c8ad"/>
          </a:solidFill>
          <a:ln w="6191">
            <a:solidFill>
              <a:srgbClr val="b7633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72" name="หน้าวัดบุญรอดธรรมาราม"/>
          <p:cNvSpPr/>
          <p:nvPr/>
        </p:nvSpPr>
        <p:spPr>
          <a:xfrm>
            <a:off x="6027480" y="6071760"/>
            <a:ext cx="20880" cy="21600"/>
          </a:xfrm>
          <a:custGeom>
            <a:avLst/>
            <a:gdLst/>
            <a:ahLst/>
            <a:rect l="l" t="t" r="r" b="b"/>
            <a:pathLst>
              <a:path w="21314" h="21941">
                <a:moveTo>
                  <a:pt x="18560" y="16764"/>
                </a:moveTo>
                <a:lnTo>
                  <a:pt x="18440" y="14175"/>
                </a:lnTo>
                <a:lnTo>
                  <a:pt x="21314" y="12820"/>
                </a:lnTo>
                <a:lnTo>
                  <a:pt x="18200" y="6780"/>
                </a:lnTo>
                <a:lnTo>
                  <a:pt x="17243" y="7273"/>
                </a:lnTo>
                <a:lnTo>
                  <a:pt x="15686" y="0"/>
                </a:lnTo>
                <a:lnTo>
                  <a:pt x="7065" y="1356"/>
                </a:lnTo>
                <a:lnTo>
                  <a:pt x="7304" y="4438"/>
                </a:lnTo>
                <a:lnTo>
                  <a:pt x="0" y="5424"/>
                </a:lnTo>
                <a:lnTo>
                  <a:pt x="1197" y="21941"/>
                </a:lnTo>
                <a:lnTo>
                  <a:pt x="18560" y="16764"/>
                </a:lnTo>
                <a:close/>
              </a:path>
            </a:pathLst>
          </a:custGeom>
          <a:solidFill>
            <a:srgbClr val="f2c8ad"/>
          </a:solidFill>
          <a:ln w="6191">
            <a:solidFill>
              <a:srgbClr val="b7633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73" name="หลังวัดบุญรอดธรรมาราม"/>
          <p:cNvSpPr/>
          <p:nvPr/>
        </p:nvSpPr>
        <p:spPr>
          <a:xfrm>
            <a:off x="6011640" y="6094440"/>
            <a:ext cx="19440" cy="23400"/>
          </a:xfrm>
          <a:custGeom>
            <a:avLst/>
            <a:gdLst/>
            <a:ahLst/>
            <a:rect l="l" t="t" r="r" b="b"/>
            <a:pathLst>
              <a:path w="19637" h="23790">
                <a:moveTo>
                  <a:pt x="0" y="1849"/>
                </a:moveTo>
                <a:lnTo>
                  <a:pt x="1676" y="18490"/>
                </a:lnTo>
                <a:lnTo>
                  <a:pt x="9938" y="17627"/>
                </a:lnTo>
                <a:lnTo>
                  <a:pt x="11735" y="23790"/>
                </a:lnTo>
                <a:lnTo>
                  <a:pt x="15686" y="23174"/>
                </a:lnTo>
                <a:lnTo>
                  <a:pt x="15207" y="19599"/>
                </a:lnTo>
                <a:lnTo>
                  <a:pt x="19637" y="19353"/>
                </a:lnTo>
                <a:lnTo>
                  <a:pt x="17602" y="0"/>
                </a:lnTo>
                <a:lnTo>
                  <a:pt x="0" y="1849"/>
                </a:lnTo>
                <a:close/>
              </a:path>
            </a:pathLst>
          </a:custGeom>
          <a:solidFill>
            <a:srgbClr val="f2c8ad"/>
          </a:solidFill>
          <a:ln w="6191">
            <a:solidFill>
              <a:srgbClr val="b7633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74" name="เล็กเที่ยง"/>
          <p:cNvSpPr/>
          <p:nvPr/>
        </p:nvSpPr>
        <p:spPr>
          <a:xfrm>
            <a:off x="6055200" y="5989320"/>
            <a:ext cx="25200" cy="22320"/>
          </a:xfrm>
          <a:custGeom>
            <a:avLst/>
            <a:gdLst/>
            <a:ahLst/>
            <a:rect l="l" t="t" r="r" b="b"/>
            <a:pathLst>
              <a:path w="25505" h="22681">
                <a:moveTo>
                  <a:pt x="0" y="14052"/>
                </a:moveTo>
                <a:lnTo>
                  <a:pt x="2515" y="17997"/>
                </a:lnTo>
                <a:lnTo>
                  <a:pt x="6107" y="15408"/>
                </a:lnTo>
                <a:lnTo>
                  <a:pt x="9340" y="22681"/>
                </a:lnTo>
                <a:lnTo>
                  <a:pt x="24786" y="12820"/>
                </a:lnTo>
                <a:lnTo>
                  <a:pt x="22631" y="10601"/>
                </a:lnTo>
                <a:lnTo>
                  <a:pt x="25505" y="8135"/>
                </a:lnTo>
                <a:lnTo>
                  <a:pt x="17362" y="0"/>
                </a:lnTo>
                <a:lnTo>
                  <a:pt x="10058" y="7889"/>
                </a:lnTo>
                <a:lnTo>
                  <a:pt x="5987" y="7766"/>
                </a:lnTo>
                <a:lnTo>
                  <a:pt x="0" y="14052"/>
                </a:lnTo>
                <a:close/>
              </a:path>
            </a:pathLst>
          </a:custGeom>
          <a:solidFill>
            <a:srgbClr val="f2c8ad"/>
          </a:solidFill>
          <a:ln w="6191">
            <a:solidFill>
              <a:srgbClr val="b7633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75" name="ชุมชนลาดพร้าว 80"/>
          <p:cNvSpPr/>
          <p:nvPr/>
        </p:nvSpPr>
        <p:spPr>
          <a:xfrm>
            <a:off x="6005880" y="5022000"/>
            <a:ext cx="21240" cy="75240"/>
          </a:xfrm>
          <a:custGeom>
            <a:avLst/>
            <a:gdLst/>
            <a:ahLst/>
            <a:rect l="l" t="t" r="r" b="b"/>
            <a:pathLst>
              <a:path w="21553" h="75438">
                <a:moveTo>
                  <a:pt x="19877" y="2589"/>
                </a:moveTo>
                <a:lnTo>
                  <a:pt x="18679" y="0"/>
                </a:lnTo>
                <a:lnTo>
                  <a:pt x="12692" y="1726"/>
                </a:lnTo>
                <a:lnTo>
                  <a:pt x="12333" y="7766"/>
                </a:lnTo>
                <a:lnTo>
                  <a:pt x="5149" y="7766"/>
                </a:lnTo>
                <a:lnTo>
                  <a:pt x="4311" y="12203"/>
                </a:lnTo>
                <a:lnTo>
                  <a:pt x="2874" y="12573"/>
                </a:lnTo>
                <a:lnTo>
                  <a:pt x="3233" y="17750"/>
                </a:lnTo>
                <a:lnTo>
                  <a:pt x="0" y="18120"/>
                </a:lnTo>
                <a:lnTo>
                  <a:pt x="838" y="31679"/>
                </a:lnTo>
                <a:lnTo>
                  <a:pt x="15925" y="33035"/>
                </a:lnTo>
                <a:lnTo>
                  <a:pt x="14608" y="41787"/>
                </a:lnTo>
                <a:lnTo>
                  <a:pt x="16045" y="43143"/>
                </a:lnTo>
                <a:lnTo>
                  <a:pt x="13890" y="45978"/>
                </a:lnTo>
                <a:lnTo>
                  <a:pt x="11495" y="63235"/>
                </a:lnTo>
                <a:lnTo>
                  <a:pt x="9938" y="63481"/>
                </a:lnTo>
                <a:lnTo>
                  <a:pt x="9100" y="74945"/>
                </a:lnTo>
                <a:lnTo>
                  <a:pt x="15446" y="75438"/>
                </a:lnTo>
                <a:lnTo>
                  <a:pt x="16404" y="61879"/>
                </a:lnTo>
                <a:lnTo>
                  <a:pt x="21553" y="35624"/>
                </a:lnTo>
                <a:lnTo>
                  <a:pt x="21553" y="10724"/>
                </a:lnTo>
                <a:lnTo>
                  <a:pt x="19877" y="2589"/>
                </a:lnTo>
                <a:close/>
              </a:path>
            </a:pathLst>
          </a:custGeom>
          <a:solidFill>
            <a:srgbClr val="f2c8ad"/>
          </a:solidFill>
          <a:ln w="6191">
            <a:solidFill>
              <a:srgbClr val="b7633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76" name="ชุมชนลาดพร้าว 80"/>
          <p:cNvSpPr/>
          <p:nvPr/>
        </p:nvSpPr>
        <p:spPr>
          <a:xfrm>
            <a:off x="6007320" y="4996800"/>
            <a:ext cx="15480" cy="23760"/>
          </a:xfrm>
          <a:custGeom>
            <a:avLst/>
            <a:gdLst/>
            <a:ahLst/>
            <a:rect l="l" t="t" r="r" b="b"/>
            <a:pathLst>
              <a:path w="15925" h="24283">
                <a:moveTo>
                  <a:pt x="15925" y="24160"/>
                </a:moveTo>
                <a:lnTo>
                  <a:pt x="1796" y="0"/>
                </a:lnTo>
                <a:lnTo>
                  <a:pt x="0" y="247"/>
                </a:lnTo>
                <a:lnTo>
                  <a:pt x="13650" y="24283"/>
                </a:lnTo>
                <a:lnTo>
                  <a:pt x="15925" y="24160"/>
                </a:lnTo>
                <a:close/>
              </a:path>
            </a:pathLst>
          </a:custGeom>
          <a:solidFill>
            <a:srgbClr val="f2c8ad"/>
          </a:solidFill>
          <a:ln w="6191">
            <a:solidFill>
              <a:srgbClr val="b7633d"/>
            </a:solidFill>
            <a:round/>
          </a:ln>
        </p:spPr>
        <p:style>
          <a:lnRef idx="0"/>
          <a:fillRef idx="0"/>
          <a:effectRef idx="0"/>
          <a:fontRef idx="minor"/>
        </p:style>
        <p:txBody>
          <a:bodyPr lIns="90000" rIns="90000" tIns="-21240" bIns="-21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77" name="ชุมชนซอยพัทลุง"/>
          <p:cNvSpPr/>
          <p:nvPr/>
        </p:nvSpPr>
        <p:spPr>
          <a:xfrm>
            <a:off x="5897520" y="4794120"/>
            <a:ext cx="16560" cy="17280"/>
          </a:xfrm>
          <a:custGeom>
            <a:avLst/>
            <a:gdLst/>
            <a:ahLst/>
            <a:rect l="l" t="t" r="r" b="b"/>
            <a:pathLst>
              <a:path w="16883" h="17627">
                <a:moveTo>
                  <a:pt x="0" y="3821"/>
                </a:moveTo>
                <a:lnTo>
                  <a:pt x="3832" y="17627"/>
                </a:lnTo>
                <a:lnTo>
                  <a:pt x="13052" y="17134"/>
                </a:lnTo>
                <a:lnTo>
                  <a:pt x="14129" y="6163"/>
                </a:lnTo>
                <a:lnTo>
                  <a:pt x="16883" y="3944"/>
                </a:lnTo>
                <a:lnTo>
                  <a:pt x="16045" y="0"/>
                </a:lnTo>
                <a:lnTo>
                  <a:pt x="0" y="3821"/>
                </a:lnTo>
                <a:close/>
              </a:path>
            </a:pathLst>
          </a:custGeom>
          <a:solidFill>
            <a:srgbClr val="f2c8ad"/>
          </a:solidFill>
          <a:ln w="6191">
            <a:solidFill>
              <a:srgbClr val="b7633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78" name="ซอยช่างนาค - สะพานยาว"/>
          <p:cNvSpPr/>
          <p:nvPr/>
        </p:nvSpPr>
        <p:spPr>
          <a:xfrm>
            <a:off x="4898160" y="5544000"/>
            <a:ext cx="42480" cy="51480"/>
          </a:xfrm>
          <a:custGeom>
            <a:avLst/>
            <a:gdLst/>
            <a:ahLst/>
            <a:rect l="l" t="t" r="r" b="b"/>
            <a:pathLst>
              <a:path w="42747" h="52018">
                <a:moveTo>
                  <a:pt x="32689" y="25393"/>
                </a:moveTo>
                <a:lnTo>
                  <a:pt x="34246" y="24037"/>
                </a:lnTo>
                <a:lnTo>
                  <a:pt x="30055" y="20585"/>
                </a:lnTo>
                <a:lnTo>
                  <a:pt x="37000" y="12820"/>
                </a:lnTo>
                <a:lnTo>
                  <a:pt x="33647" y="9615"/>
                </a:lnTo>
                <a:lnTo>
                  <a:pt x="31492" y="12203"/>
                </a:lnTo>
                <a:lnTo>
                  <a:pt x="29456" y="10847"/>
                </a:lnTo>
                <a:lnTo>
                  <a:pt x="37000" y="616"/>
                </a:lnTo>
                <a:lnTo>
                  <a:pt x="33407" y="0"/>
                </a:lnTo>
                <a:lnTo>
                  <a:pt x="9340" y="23913"/>
                </a:lnTo>
                <a:lnTo>
                  <a:pt x="0" y="36733"/>
                </a:lnTo>
                <a:lnTo>
                  <a:pt x="9699" y="48197"/>
                </a:lnTo>
                <a:lnTo>
                  <a:pt x="14010" y="50539"/>
                </a:lnTo>
                <a:lnTo>
                  <a:pt x="15925" y="49429"/>
                </a:lnTo>
                <a:lnTo>
                  <a:pt x="18081" y="51894"/>
                </a:lnTo>
                <a:lnTo>
                  <a:pt x="22272" y="48813"/>
                </a:lnTo>
                <a:lnTo>
                  <a:pt x="25026" y="52018"/>
                </a:lnTo>
                <a:lnTo>
                  <a:pt x="42747" y="37719"/>
                </a:lnTo>
                <a:lnTo>
                  <a:pt x="32689" y="25393"/>
                </a:lnTo>
                <a:close/>
              </a:path>
            </a:pathLst>
          </a:custGeom>
          <a:solidFill>
            <a:srgbClr val="f2c8ad"/>
          </a:solidFill>
          <a:ln w="6191">
            <a:solidFill>
              <a:srgbClr val="b7633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79" name="วัดทองธรรมชาติ"/>
          <p:cNvSpPr/>
          <p:nvPr/>
        </p:nvSpPr>
        <p:spPr>
          <a:xfrm>
            <a:off x="4955400" y="5590800"/>
            <a:ext cx="13680" cy="19080"/>
          </a:xfrm>
          <a:custGeom>
            <a:avLst/>
            <a:gdLst/>
            <a:ahLst/>
            <a:rect l="l" t="t" r="r" b="b"/>
            <a:pathLst>
              <a:path w="14010" h="19353">
                <a:moveTo>
                  <a:pt x="6945" y="19353"/>
                </a:moveTo>
                <a:lnTo>
                  <a:pt x="14010" y="15162"/>
                </a:lnTo>
                <a:lnTo>
                  <a:pt x="11974" y="11094"/>
                </a:lnTo>
                <a:lnTo>
                  <a:pt x="13411" y="10477"/>
                </a:lnTo>
                <a:lnTo>
                  <a:pt x="12333" y="8259"/>
                </a:lnTo>
                <a:lnTo>
                  <a:pt x="10058" y="9122"/>
                </a:lnTo>
                <a:lnTo>
                  <a:pt x="6945" y="0"/>
                </a:lnTo>
                <a:lnTo>
                  <a:pt x="0" y="3575"/>
                </a:lnTo>
                <a:lnTo>
                  <a:pt x="6945" y="19353"/>
                </a:lnTo>
                <a:close/>
              </a:path>
            </a:pathLst>
          </a:custGeom>
          <a:solidFill>
            <a:srgbClr val="f2c8ad"/>
          </a:solidFill>
          <a:ln w="6191">
            <a:solidFill>
              <a:srgbClr val="b7633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80" name="วัดทองนพคุณ"/>
          <p:cNvSpPr/>
          <p:nvPr/>
        </p:nvSpPr>
        <p:spPr>
          <a:xfrm>
            <a:off x="5010840" y="5582520"/>
            <a:ext cx="16560" cy="20880"/>
          </a:xfrm>
          <a:custGeom>
            <a:avLst/>
            <a:gdLst/>
            <a:ahLst/>
            <a:rect l="l" t="t" r="r" b="b"/>
            <a:pathLst>
              <a:path w="16883" h="21325">
                <a:moveTo>
                  <a:pt x="5029" y="0"/>
                </a:moveTo>
                <a:lnTo>
                  <a:pt x="1078" y="3082"/>
                </a:lnTo>
                <a:lnTo>
                  <a:pt x="0" y="5793"/>
                </a:lnTo>
                <a:lnTo>
                  <a:pt x="6586" y="14422"/>
                </a:lnTo>
                <a:lnTo>
                  <a:pt x="239" y="19722"/>
                </a:lnTo>
                <a:lnTo>
                  <a:pt x="1317" y="21325"/>
                </a:lnTo>
                <a:lnTo>
                  <a:pt x="16883" y="13189"/>
                </a:lnTo>
                <a:lnTo>
                  <a:pt x="11016" y="6287"/>
                </a:lnTo>
                <a:lnTo>
                  <a:pt x="12932" y="4438"/>
                </a:lnTo>
                <a:lnTo>
                  <a:pt x="10178" y="1109"/>
                </a:lnTo>
                <a:lnTo>
                  <a:pt x="7544" y="3205"/>
                </a:lnTo>
                <a:lnTo>
                  <a:pt x="5029" y="0"/>
                </a:lnTo>
                <a:close/>
              </a:path>
            </a:pathLst>
          </a:custGeom>
          <a:solidFill>
            <a:srgbClr val="f2c8ad"/>
          </a:solidFill>
          <a:ln w="6191">
            <a:solidFill>
              <a:srgbClr val="b7633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81" name="หลังโรงพยาบาลสมเด็จเจ้าพระยา"/>
          <p:cNvSpPr/>
          <p:nvPr/>
        </p:nvSpPr>
        <p:spPr>
          <a:xfrm>
            <a:off x="4937400" y="5634000"/>
            <a:ext cx="18720" cy="9000"/>
          </a:xfrm>
          <a:custGeom>
            <a:avLst/>
            <a:gdLst/>
            <a:ahLst/>
            <a:rect l="l" t="t" r="r" b="b"/>
            <a:pathLst>
              <a:path w="19039" h="9491">
                <a:moveTo>
                  <a:pt x="0" y="4561"/>
                </a:moveTo>
                <a:lnTo>
                  <a:pt x="3233" y="8629"/>
                </a:lnTo>
                <a:lnTo>
                  <a:pt x="13531" y="3698"/>
                </a:lnTo>
                <a:lnTo>
                  <a:pt x="16165" y="9491"/>
                </a:lnTo>
                <a:lnTo>
                  <a:pt x="19039" y="8259"/>
                </a:lnTo>
                <a:lnTo>
                  <a:pt x="17243" y="4561"/>
                </a:lnTo>
                <a:lnTo>
                  <a:pt x="5628" y="0"/>
                </a:lnTo>
                <a:lnTo>
                  <a:pt x="3353" y="2342"/>
                </a:lnTo>
                <a:lnTo>
                  <a:pt x="4071" y="3575"/>
                </a:lnTo>
                <a:lnTo>
                  <a:pt x="0" y="4561"/>
                </a:lnTo>
                <a:close/>
              </a:path>
            </a:pathLst>
          </a:custGeom>
          <a:solidFill>
            <a:srgbClr val="f2c8ad"/>
          </a:solidFill>
          <a:ln w="6191">
            <a:solidFill>
              <a:srgbClr val="b7633d"/>
            </a:solidFill>
            <a:round/>
          </a:ln>
        </p:spPr>
        <p:style>
          <a:lnRef idx="0"/>
          <a:fillRef idx="0"/>
          <a:effectRef idx="0"/>
          <a:fontRef idx="minor"/>
        </p:style>
        <p:txBody>
          <a:bodyPr lIns="90000" rIns="90000" tIns="-36000" bIns="-36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82" name="หลังโรงเรียนกุลสิริเทคโนโลยี"/>
          <p:cNvSpPr/>
          <p:nvPr/>
        </p:nvSpPr>
        <p:spPr>
          <a:xfrm>
            <a:off x="4941360" y="5611680"/>
            <a:ext cx="6120" cy="11520"/>
          </a:xfrm>
          <a:custGeom>
            <a:avLst/>
            <a:gdLst/>
            <a:ahLst/>
            <a:rect l="l" t="t" r="r" b="b"/>
            <a:pathLst>
              <a:path w="6346" h="11710">
                <a:moveTo>
                  <a:pt x="0" y="9738"/>
                </a:moveTo>
                <a:lnTo>
                  <a:pt x="3233" y="11710"/>
                </a:lnTo>
                <a:lnTo>
                  <a:pt x="6346" y="1109"/>
                </a:lnTo>
                <a:lnTo>
                  <a:pt x="3113" y="0"/>
                </a:lnTo>
                <a:lnTo>
                  <a:pt x="0" y="9738"/>
                </a:lnTo>
                <a:close/>
              </a:path>
            </a:pathLst>
          </a:custGeom>
          <a:solidFill>
            <a:srgbClr val="f2c8ad"/>
          </a:solidFill>
          <a:ln w="6191">
            <a:solidFill>
              <a:srgbClr val="b7633d"/>
            </a:solidFill>
            <a:round/>
          </a:ln>
        </p:spPr>
        <p:style>
          <a:lnRef idx="0"/>
          <a:fillRef idx="0"/>
          <a:effectRef idx="0"/>
          <a:fontRef idx="minor"/>
        </p:style>
        <p:txBody>
          <a:bodyPr lIns="90000" rIns="90000" tIns="-33480" bIns="-33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83" name="หลังโรงเรียนสารพัดช่างธนบุรี"/>
          <p:cNvSpPr/>
          <p:nvPr/>
        </p:nvSpPr>
        <p:spPr>
          <a:xfrm>
            <a:off x="4979520" y="5562000"/>
            <a:ext cx="18720" cy="21240"/>
          </a:xfrm>
          <a:custGeom>
            <a:avLst/>
            <a:gdLst/>
            <a:ahLst/>
            <a:rect l="l" t="t" r="r" b="b"/>
            <a:pathLst>
              <a:path w="19039" h="21571">
                <a:moveTo>
                  <a:pt x="11854" y="14175"/>
                </a:moveTo>
                <a:lnTo>
                  <a:pt x="17841" y="6410"/>
                </a:lnTo>
                <a:lnTo>
                  <a:pt x="16764" y="4561"/>
                </a:lnTo>
                <a:lnTo>
                  <a:pt x="17841" y="2958"/>
                </a:lnTo>
                <a:lnTo>
                  <a:pt x="13052" y="0"/>
                </a:lnTo>
                <a:lnTo>
                  <a:pt x="11375" y="1972"/>
                </a:lnTo>
                <a:lnTo>
                  <a:pt x="9459" y="616"/>
                </a:lnTo>
                <a:lnTo>
                  <a:pt x="8142" y="2219"/>
                </a:lnTo>
                <a:lnTo>
                  <a:pt x="6346" y="1233"/>
                </a:lnTo>
                <a:lnTo>
                  <a:pt x="3353" y="5424"/>
                </a:lnTo>
                <a:lnTo>
                  <a:pt x="0" y="6903"/>
                </a:lnTo>
                <a:lnTo>
                  <a:pt x="5508" y="16024"/>
                </a:lnTo>
                <a:lnTo>
                  <a:pt x="4550" y="16764"/>
                </a:lnTo>
                <a:lnTo>
                  <a:pt x="7065" y="21571"/>
                </a:lnTo>
                <a:lnTo>
                  <a:pt x="14249" y="18983"/>
                </a:lnTo>
                <a:lnTo>
                  <a:pt x="15446" y="20092"/>
                </a:lnTo>
                <a:lnTo>
                  <a:pt x="19039" y="16271"/>
                </a:lnTo>
                <a:lnTo>
                  <a:pt x="15207" y="17873"/>
                </a:lnTo>
                <a:lnTo>
                  <a:pt x="11854" y="14175"/>
                </a:lnTo>
                <a:close/>
              </a:path>
            </a:pathLst>
          </a:custGeom>
          <a:solidFill>
            <a:srgbClr val="f2c8ad"/>
          </a:solidFill>
          <a:ln w="6191">
            <a:solidFill>
              <a:srgbClr val="b7633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84" name="ซอยแยกถนนเชียงใหม่"/>
          <p:cNvSpPr/>
          <p:nvPr/>
        </p:nvSpPr>
        <p:spPr>
          <a:xfrm>
            <a:off x="4987080" y="5586480"/>
            <a:ext cx="11880" cy="11880"/>
          </a:xfrm>
          <a:custGeom>
            <a:avLst/>
            <a:gdLst/>
            <a:ahLst/>
            <a:rect l="l" t="t" r="r" b="b"/>
            <a:pathLst>
              <a:path w="12333" h="12326">
                <a:moveTo>
                  <a:pt x="0" y="9491"/>
                </a:moveTo>
                <a:lnTo>
                  <a:pt x="1796" y="9861"/>
                </a:lnTo>
                <a:lnTo>
                  <a:pt x="3113" y="7273"/>
                </a:lnTo>
                <a:lnTo>
                  <a:pt x="5748" y="12326"/>
                </a:lnTo>
                <a:lnTo>
                  <a:pt x="10777" y="9491"/>
                </a:lnTo>
                <a:lnTo>
                  <a:pt x="12333" y="9984"/>
                </a:lnTo>
                <a:lnTo>
                  <a:pt x="5748" y="0"/>
                </a:lnTo>
                <a:lnTo>
                  <a:pt x="0" y="9491"/>
                </a:lnTo>
                <a:close/>
              </a:path>
            </a:pathLst>
          </a:custGeom>
          <a:solidFill>
            <a:srgbClr val="f2c8ad"/>
          </a:solidFill>
          <a:ln w="6191">
            <a:solidFill>
              <a:srgbClr val="b7633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85" name="ซอยเจริญรัถ 5"/>
          <p:cNvSpPr/>
          <p:nvPr/>
        </p:nvSpPr>
        <p:spPr>
          <a:xfrm>
            <a:off x="4912200" y="5658840"/>
            <a:ext cx="19080" cy="12600"/>
          </a:xfrm>
          <a:custGeom>
            <a:avLst/>
            <a:gdLst/>
            <a:ahLst/>
            <a:rect l="l" t="t" r="r" b="b"/>
            <a:pathLst>
              <a:path w="19518" h="12820">
                <a:moveTo>
                  <a:pt x="14728" y="6903"/>
                </a:moveTo>
                <a:lnTo>
                  <a:pt x="19518" y="4684"/>
                </a:lnTo>
                <a:lnTo>
                  <a:pt x="19039" y="0"/>
                </a:lnTo>
                <a:lnTo>
                  <a:pt x="6586" y="5547"/>
                </a:lnTo>
                <a:lnTo>
                  <a:pt x="3712" y="5424"/>
                </a:lnTo>
                <a:lnTo>
                  <a:pt x="3832" y="7273"/>
                </a:lnTo>
                <a:lnTo>
                  <a:pt x="0" y="8629"/>
                </a:lnTo>
                <a:lnTo>
                  <a:pt x="599" y="12820"/>
                </a:lnTo>
                <a:lnTo>
                  <a:pt x="14728" y="6903"/>
                </a:lnTo>
                <a:close/>
              </a:path>
            </a:pathLst>
          </a:custGeom>
          <a:solidFill>
            <a:srgbClr val="f2c8ad"/>
          </a:solidFill>
          <a:ln w="6191">
            <a:solidFill>
              <a:srgbClr val="b7633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86" name="อู่ใหม่"/>
          <p:cNvSpPr/>
          <p:nvPr/>
        </p:nvSpPr>
        <p:spPr>
          <a:xfrm>
            <a:off x="4978080" y="5806800"/>
            <a:ext cx="33480" cy="19080"/>
          </a:xfrm>
          <a:custGeom>
            <a:avLst/>
            <a:gdLst/>
            <a:ahLst/>
            <a:rect l="l" t="t" r="r" b="b"/>
            <a:pathLst>
              <a:path w="33886" h="19599">
                <a:moveTo>
                  <a:pt x="5987" y="6163"/>
                </a:moveTo>
                <a:lnTo>
                  <a:pt x="3113" y="4314"/>
                </a:lnTo>
                <a:lnTo>
                  <a:pt x="0" y="7396"/>
                </a:lnTo>
                <a:lnTo>
                  <a:pt x="1796" y="8752"/>
                </a:lnTo>
                <a:lnTo>
                  <a:pt x="4071" y="6533"/>
                </a:lnTo>
                <a:lnTo>
                  <a:pt x="16644" y="16764"/>
                </a:lnTo>
                <a:lnTo>
                  <a:pt x="17482" y="15285"/>
                </a:lnTo>
                <a:lnTo>
                  <a:pt x="19039" y="16271"/>
                </a:lnTo>
                <a:lnTo>
                  <a:pt x="21793" y="12573"/>
                </a:lnTo>
                <a:lnTo>
                  <a:pt x="31372" y="19599"/>
                </a:lnTo>
                <a:lnTo>
                  <a:pt x="33767" y="16641"/>
                </a:lnTo>
                <a:lnTo>
                  <a:pt x="33886" y="14915"/>
                </a:lnTo>
                <a:lnTo>
                  <a:pt x="9819" y="0"/>
                </a:lnTo>
                <a:lnTo>
                  <a:pt x="5987" y="6163"/>
                </a:lnTo>
                <a:close/>
              </a:path>
            </a:pathLst>
          </a:custGeom>
          <a:solidFill>
            <a:srgbClr val="f2c8ad"/>
          </a:solidFill>
          <a:ln w="6191">
            <a:solidFill>
              <a:srgbClr val="b7633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87" name="คลองต้นไทร"/>
          <p:cNvSpPr/>
          <p:nvPr/>
        </p:nvSpPr>
        <p:spPr>
          <a:xfrm>
            <a:off x="4946760" y="5758560"/>
            <a:ext cx="52920" cy="27720"/>
          </a:xfrm>
          <a:custGeom>
            <a:avLst/>
            <a:gdLst/>
            <a:ahLst/>
            <a:rect l="l" t="t" r="r" b="b"/>
            <a:pathLst>
              <a:path w="53284" h="28228">
                <a:moveTo>
                  <a:pt x="53284" y="15285"/>
                </a:moveTo>
                <a:lnTo>
                  <a:pt x="47178" y="13682"/>
                </a:lnTo>
                <a:lnTo>
                  <a:pt x="45621" y="17134"/>
                </a:lnTo>
                <a:lnTo>
                  <a:pt x="42508" y="16148"/>
                </a:lnTo>
                <a:lnTo>
                  <a:pt x="34844" y="13436"/>
                </a:lnTo>
                <a:lnTo>
                  <a:pt x="35922" y="11094"/>
                </a:lnTo>
                <a:lnTo>
                  <a:pt x="29815" y="8012"/>
                </a:lnTo>
                <a:lnTo>
                  <a:pt x="9579" y="0"/>
                </a:lnTo>
                <a:lnTo>
                  <a:pt x="5029" y="8752"/>
                </a:lnTo>
                <a:lnTo>
                  <a:pt x="1197" y="7026"/>
                </a:lnTo>
                <a:lnTo>
                  <a:pt x="0" y="9245"/>
                </a:lnTo>
                <a:lnTo>
                  <a:pt x="1676" y="12696"/>
                </a:lnTo>
                <a:lnTo>
                  <a:pt x="12094" y="18490"/>
                </a:lnTo>
                <a:lnTo>
                  <a:pt x="14728" y="13682"/>
                </a:lnTo>
                <a:lnTo>
                  <a:pt x="17961" y="15408"/>
                </a:lnTo>
                <a:lnTo>
                  <a:pt x="16764" y="17627"/>
                </a:lnTo>
                <a:lnTo>
                  <a:pt x="29576" y="24037"/>
                </a:lnTo>
                <a:lnTo>
                  <a:pt x="30773" y="21448"/>
                </a:lnTo>
                <a:lnTo>
                  <a:pt x="32689" y="22311"/>
                </a:lnTo>
                <a:lnTo>
                  <a:pt x="34964" y="18243"/>
                </a:lnTo>
                <a:lnTo>
                  <a:pt x="38556" y="19599"/>
                </a:lnTo>
                <a:lnTo>
                  <a:pt x="36760" y="23667"/>
                </a:lnTo>
                <a:lnTo>
                  <a:pt x="41789" y="25516"/>
                </a:lnTo>
                <a:lnTo>
                  <a:pt x="43705" y="19969"/>
                </a:lnTo>
                <a:lnTo>
                  <a:pt x="47417" y="21202"/>
                </a:lnTo>
                <a:lnTo>
                  <a:pt x="45381" y="26872"/>
                </a:lnTo>
                <a:lnTo>
                  <a:pt x="48614" y="28228"/>
                </a:lnTo>
                <a:lnTo>
                  <a:pt x="53284" y="15285"/>
                </a:lnTo>
                <a:close/>
              </a:path>
            </a:pathLst>
          </a:custGeom>
          <a:solidFill>
            <a:srgbClr val="f2c8ad"/>
          </a:solidFill>
          <a:ln w="6191">
            <a:solidFill>
              <a:srgbClr val="b7633d"/>
            </a:solidFill>
            <a:round/>
          </a:ln>
        </p:spPr>
        <p:style>
          <a:lnRef idx="0"/>
          <a:fillRef idx="0"/>
          <a:effectRef idx="0"/>
          <a:fontRef idx="minor"/>
        </p:style>
        <p:txBody>
          <a:bodyPr lIns="90000" rIns="90000" tIns="-17280" bIns="-17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88" name="คลองพระยาเกษม"/>
          <p:cNvSpPr/>
          <p:nvPr/>
        </p:nvSpPr>
        <p:spPr>
          <a:xfrm>
            <a:off x="4898520" y="5807520"/>
            <a:ext cx="27360" cy="35640"/>
          </a:xfrm>
          <a:custGeom>
            <a:avLst/>
            <a:gdLst/>
            <a:ahLst/>
            <a:rect l="l" t="t" r="r" b="b"/>
            <a:pathLst>
              <a:path w="27899" h="36117">
                <a:moveTo>
                  <a:pt x="27899" y="33405"/>
                </a:moveTo>
                <a:lnTo>
                  <a:pt x="20954" y="23050"/>
                </a:lnTo>
                <a:lnTo>
                  <a:pt x="24666" y="20708"/>
                </a:lnTo>
                <a:lnTo>
                  <a:pt x="22152" y="16148"/>
                </a:lnTo>
                <a:lnTo>
                  <a:pt x="25505" y="12820"/>
                </a:lnTo>
                <a:lnTo>
                  <a:pt x="25145" y="10971"/>
                </a:lnTo>
                <a:lnTo>
                  <a:pt x="12692" y="0"/>
                </a:lnTo>
                <a:lnTo>
                  <a:pt x="8382" y="5424"/>
                </a:lnTo>
                <a:lnTo>
                  <a:pt x="3353" y="2835"/>
                </a:lnTo>
                <a:lnTo>
                  <a:pt x="718" y="7273"/>
                </a:lnTo>
                <a:lnTo>
                  <a:pt x="3472" y="8135"/>
                </a:lnTo>
                <a:lnTo>
                  <a:pt x="2993" y="11587"/>
                </a:lnTo>
                <a:lnTo>
                  <a:pt x="9100" y="13559"/>
                </a:lnTo>
                <a:lnTo>
                  <a:pt x="6226" y="17257"/>
                </a:lnTo>
                <a:lnTo>
                  <a:pt x="1078" y="13189"/>
                </a:lnTo>
                <a:lnTo>
                  <a:pt x="0" y="14545"/>
                </a:lnTo>
                <a:lnTo>
                  <a:pt x="5628" y="18736"/>
                </a:lnTo>
                <a:lnTo>
                  <a:pt x="7065" y="16641"/>
                </a:lnTo>
                <a:lnTo>
                  <a:pt x="14129" y="22557"/>
                </a:lnTo>
                <a:lnTo>
                  <a:pt x="10896" y="25639"/>
                </a:lnTo>
                <a:lnTo>
                  <a:pt x="14010" y="25516"/>
                </a:lnTo>
                <a:lnTo>
                  <a:pt x="16045" y="27611"/>
                </a:lnTo>
                <a:lnTo>
                  <a:pt x="14129" y="29337"/>
                </a:lnTo>
                <a:lnTo>
                  <a:pt x="18799" y="35130"/>
                </a:lnTo>
                <a:lnTo>
                  <a:pt x="21433" y="33281"/>
                </a:lnTo>
                <a:lnTo>
                  <a:pt x="23110" y="36117"/>
                </a:lnTo>
                <a:lnTo>
                  <a:pt x="27899" y="33405"/>
                </a:lnTo>
                <a:close/>
              </a:path>
            </a:pathLst>
          </a:custGeom>
          <a:solidFill>
            <a:srgbClr val="f2c8ad"/>
          </a:solidFill>
          <a:ln w="6191">
            <a:solidFill>
              <a:srgbClr val="b7633d"/>
            </a:solidFill>
            <a:round/>
          </a:ln>
        </p:spPr>
        <p:style>
          <a:lnRef idx="0"/>
          <a:fillRef idx="0"/>
          <a:effectRef idx="0"/>
          <a:fontRef idx="minor"/>
        </p:style>
        <p:txBody>
          <a:bodyPr lIns="90000" rIns="90000" tIns="-9360" bIns="-9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89" name="ซอยเกษมใหม่"/>
          <p:cNvSpPr/>
          <p:nvPr/>
        </p:nvSpPr>
        <p:spPr>
          <a:xfrm>
            <a:off x="4856760" y="5816520"/>
            <a:ext cx="35280" cy="43560"/>
          </a:xfrm>
          <a:custGeom>
            <a:avLst/>
            <a:gdLst/>
            <a:ahLst/>
            <a:rect l="l" t="t" r="r" b="b"/>
            <a:pathLst>
              <a:path w="35802" h="43882">
                <a:moveTo>
                  <a:pt x="27061" y="43882"/>
                </a:moveTo>
                <a:lnTo>
                  <a:pt x="35802" y="39568"/>
                </a:lnTo>
                <a:lnTo>
                  <a:pt x="27899" y="29707"/>
                </a:lnTo>
                <a:lnTo>
                  <a:pt x="33407" y="25516"/>
                </a:lnTo>
                <a:lnTo>
                  <a:pt x="30534" y="22434"/>
                </a:lnTo>
                <a:lnTo>
                  <a:pt x="27061" y="25023"/>
                </a:lnTo>
                <a:lnTo>
                  <a:pt x="27780" y="27241"/>
                </a:lnTo>
                <a:lnTo>
                  <a:pt x="25385" y="29090"/>
                </a:lnTo>
                <a:lnTo>
                  <a:pt x="20715" y="22804"/>
                </a:lnTo>
                <a:lnTo>
                  <a:pt x="21912" y="21448"/>
                </a:lnTo>
                <a:lnTo>
                  <a:pt x="19398" y="19476"/>
                </a:lnTo>
                <a:lnTo>
                  <a:pt x="21553" y="16887"/>
                </a:lnTo>
                <a:lnTo>
                  <a:pt x="17003" y="12943"/>
                </a:lnTo>
                <a:lnTo>
                  <a:pt x="19637" y="8629"/>
                </a:lnTo>
                <a:lnTo>
                  <a:pt x="12812" y="5424"/>
                </a:lnTo>
                <a:lnTo>
                  <a:pt x="13291" y="3821"/>
                </a:lnTo>
                <a:lnTo>
                  <a:pt x="7065" y="0"/>
                </a:lnTo>
                <a:lnTo>
                  <a:pt x="3353" y="8752"/>
                </a:lnTo>
                <a:lnTo>
                  <a:pt x="0" y="12573"/>
                </a:lnTo>
                <a:lnTo>
                  <a:pt x="13052" y="26255"/>
                </a:lnTo>
                <a:lnTo>
                  <a:pt x="27061" y="43882"/>
                </a:lnTo>
                <a:close/>
              </a:path>
            </a:pathLst>
          </a:custGeom>
          <a:solidFill>
            <a:srgbClr val="f2c8ad"/>
          </a:solidFill>
          <a:ln w="6191">
            <a:solidFill>
              <a:srgbClr val="b7633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90" name="ซอยวัฒนา"/>
          <p:cNvSpPr/>
          <p:nvPr/>
        </p:nvSpPr>
        <p:spPr>
          <a:xfrm>
            <a:off x="4834080" y="5785920"/>
            <a:ext cx="39600" cy="22320"/>
          </a:xfrm>
          <a:custGeom>
            <a:avLst/>
            <a:gdLst/>
            <a:ahLst/>
            <a:rect l="l" t="t" r="r" b="b"/>
            <a:pathLst>
              <a:path w="39993" h="22804">
                <a:moveTo>
                  <a:pt x="22272" y="6287"/>
                </a:moveTo>
                <a:lnTo>
                  <a:pt x="22272" y="3944"/>
                </a:lnTo>
                <a:lnTo>
                  <a:pt x="13650" y="3698"/>
                </a:lnTo>
                <a:lnTo>
                  <a:pt x="13650" y="6287"/>
                </a:lnTo>
                <a:lnTo>
                  <a:pt x="11136" y="6656"/>
                </a:lnTo>
                <a:lnTo>
                  <a:pt x="11136" y="8998"/>
                </a:lnTo>
                <a:lnTo>
                  <a:pt x="6945" y="8875"/>
                </a:lnTo>
                <a:lnTo>
                  <a:pt x="6825" y="10971"/>
                </a:lnTo>
                <a:lnTo>
                  <a:pt x="9938" y="10971"/>
                </a:lnTo>
                <a:lnTo>
                  <a:pt x="9699" y="13066"/>
                </a:lnTo>
                <a:lnTo>
                  <a:pt x="2993" y="12450"/>
                </a:lnTo>
                <a:lnTo>
                  <a:pt x="2515" y="15531"/>
                </a:lnTo>
                <a:lnTo>
                  <a:pt x="718" y="15285"/>
                </a:lnTo>
                <a:lnTo>
                  <a:pt x="0" y="19722"/>
                </a:lnTo>
                <a:lnTo>
                  <a:pt x="32689" y="22804"/>
                </a:lnTo>
                <a:lnTo>
                  <a:pt x="33168" y="21202"/>
                </a:lnTo>
                <a:lnTo>
                  <a:pt x="37598" y="22804"/>
                </a:lnTo>
                <a:lnTo>
                  <a:pt x="39993" y="9861"/>
                </a:lnTo>
                <a:lnTo>
                  <a:pt x="32330" y="8875"/>
                </a:lnTo>
                <a:lnTo>
                  <a:pt x="35084" y="616"/>
                </a:lnTo>
                <a:lnTo>
                  <a:pt x="24666" y="0"/>
                </a:lnTo>
                <a:lnTo>
                  <a:pt x="24187" y="6287"/>
                </a:lnTo>
                <a:lnTo>
                  <a:pt x="22272" y="6287"/>
                </a:lnTo>
                <a:close/>
              </a:path>
            </a:pathLst>
          </a:custGeom>
          <a:solidFill>
            <a:srgbClr val="f2c8ad"/>
          </a:solidFill>
          <a:ln w="6191">
            <a:solidFill>
              <a:srgbClr val="b7633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91" name="ซอยหงษ์ทอง"/>
          <p:cNvSpPr/>
          <p:nvPr/>
        </p:nvSpPr>
        <p:spPr>
          <a:xfrm>
            <a:off x="4826160" y="5749200"/>
            <a:ext cx="31320" cy="18720"/>
          </a:xfrm>
          <a:custGeom>
            <a:avLst/>
            <a:gdLst/>
            <a:ahLst/>
            <a:rect l="l" t="t" r="r" b="b"/>
            <a:pathLst>
              <a:path w="31731" h="18983">
                <a:moveTo>
                  <a:pt x="24547" y="3205"/>
                </a:moveTo>
                <a:lnTo>
                  <a:pt x="24547" y="6533"/>
                </a:lnTo>
                <a:lnTo>
                  <a:pt x="20356" y="6533"/>
                </a:lnTo>
                <a:lnTo>
                  <a:pt x="20476" y="3328"/>
                </a:lnTo>
                <a:lnTo>
                  <a:pt x="10178" y="3328"/>
                </a:lnTo>
                <a:lnTo>
                  <a:pt x="10058" y="0"/>
                </a:lnTo>
                <a:lnTo>
                  <a:pt x="7903" y="0"/>
                </a:lnTo>
                <a:lnTo>
                  <a:pt x="8023" y="2712"/>
                </a:lnTo>
                <a:lnTo>
                  <a:pt x="3472" y="2589"/>
                </a:lnTo>
                <a:lnTo>
                  <a:pt x="3353" y="6533"/>
                </a:lnTo>
                <a:lnTo>
                  <a:pt x="7544" y="6533"/>
                </a:lnTo>
                <a:lnTo>
                  <a:pt x="7903" y="14668"/>
                </a:lnTo>
                <a:lnTo>
                  <a:pt x="0" y="14545"/>
                </a:lnTo>
                <a:lnTo>
                  <a:pt x="120" y="18983"/>
                </a:lnTo>
                <a:lnTo>
                  <a:pt x="30653" y="18120"/>
                </a:lnTo>
                <a:lnTo>
                  <a:pt x="31731" y="3821"/>
                </a:lnTo>
                <a:lnTo>
                  <a:pt x="24547" y="3205"/>
                </a:lnTo>
                <a:close/>
              </a:path>
            </a:pathLst>
          </a:custGeom>
          <a:solidFill>
            <a:srgbClr val="f2c8ad"/>
          </a:solidFill>
          <a:ln w="6191">
            <a:solidFill>
              <a:srgbClr val="b7633d"/>
            </a:solidFill>
            <a:round/>
          </a:ln>
        </p:spPr>
        <p:style>
          <a:lnRef idx="0"/>
          <a:fillRef idx="0"/>
          <a:effectRef idx="0"/>
          <a:fontRef idx="minor"/>
        </p:style>
        <p:txBody>
          <a:bodyPr lIns="90000" rIns="90000" tIns="-26280" bIns="-26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92" name="วัดเศวตฉัตร"/>
          <p:cNvSpPr/>
          <p:nvPr/>
        </p:nvSpPr>
        <p:spPr>
          <a:xfrm>
            <a:off x="4974840" y="5834160"/>
            <a:ext cx="20880" cy="17280"/>
          </a:xfrm>
          <a:custGeom>
            <a:avLst/>
            <a:gdLst/>
            <a:ahLst/>
            <a:rect l="l" t="t" r="r" b="b"/>
            <a:pathLst>
              <a:path w="21194" h="17750">
                <a:moveTo>
                  <a:pt x="17721" y="3698"/>
                </a:moveTo>
                <a:lnTo>
                  <a:pt x="12692" y="0"/>
                </a:lnTo>
                <a:lnTo>
                  <a:pt x="11854" y="1726"/>
                </a:lnTo>
                <a:lnTo>
                  <a:pt x="12932" y="3082"/>
                </a:lnTo>
                <a:lnTo>
                  <a:pt x="7065" y="11340"/>
                </a:lnTo>
                <a:lnTo>
                  <a:pt x="1317" y="7889"/>
                </a:lnTo>
                <a:lnTo>
                  <a:pt x="0" y="9861"/>
                </a:lnTo>
                <a:lnTo>
                  <a:pt x="11136" y="17750"/>
                </a:lnTo>
                <a:lnTo>
                  <a:pt x="15207" y="15408"/>
                </a:lnTo>
                <a:lnTo>
                  <a:pt x="21194" y="6040"/>
                </a:lnTo>
                <a:lnTo>
                  <a:pt x="17721" y="3698"/>
                </a:lnTo>
                <a:close/>
              </a:path>
            </a:pathLst>
          </a:custGeom>
          <a:solidFill>
            <a:srgbClr val="f2c8ad"/>
          </a:solidFill>
          <a:ln w="6191">
            <a:solidFill>
              <a:srgbClr val="b7633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93" name="วัดสุทธาราม"/>
          <p:cNvSpPr/>
          <p:nvPr/>
        </p:nvSpPr>
        <p:spPr>
          <a:xfrm>
            <a:off x="4834440" y="5829840"/>
            <a:ext cx="28080" cy="42120"/>
          </a:xfrm>
          <a:custGeom>
            <a:avLst/>
            <a:gdLst/>
            <a:ahLst/>
            <a:rect l="l" t="t" r="r" b="b"/>
            <a:pathLst>
              <a:path w="28378" h="42650">
                <a:moveTo>
                  <a:pt x="23948" y="28351"/>
                </a:moveTo>
                <a:lnTo>
                  <a:pt x="27061" y="31802"/>
                </a:lnTo>
                <a:lnTo>
                  <a:pt x="28378" y="31063"/>
                </a:lnTo>
                <a:lnTo>
                  <a:pt x="25026" y="27241"/>
                </a:lnTo>
                <a:lnTo>
                  <a:pt x="17961" y="23420"/>
                </a:lnTo>
                <a:lnTo>
                  <a:pt x="22272" y="17134"/>
                </a:lnTo>
                <a:lnTo>
                  <a:pt x="21074" y="16148"/>
                </a:lnTo>
                <a:lnTo>
                  <a:pt x="22751" y="13682"/>
                </a:lnTo>
                <a:lnTo>
                  <a:pt x="19757" y="12203"/>
                </a:lnTo>
                <a:lnTo>
                  <a:pt x="22751" y="7642"/>
                </a:lnTo>
                <a:lnTo>
                  <a:pt x="9819" y="0"/>
                </a:lnTo>
                <a:lnTo>
                  <a:pt x="7663" y="10231"/>
                </a:lnTo>
                <a:lnTo>
                  <a:pt x="15686" y="13313"/>
                </a:lnTo>
                <a:lnTo>
                  <a:pt x="13531" y="18613"/>
                </a:lnTo>
                <a:lnTo>
                  <a:pt x="10896" y="17380"/>
                </a:lnTo>
                <a:lnTo>
                  <a:pt x="8980" y="19476"/>
                </a:lnTo>
                <a:lnTo>
                  <a:pt x="8382" y="20462"/>
                </a:lnTo>
                <a:lnTo>
                  <a:pt x="10657" y="21818"/>
                </a:lnTo>
                <a:lnTo>
                  <a:pt x="9459" y="23420"/>
                </a:lnTo>
                <a:lnTo>
                  <a:pt x="5508" y="20092"/>
                </a:lnTo>
                <a:lnTo>
                  <a:pt x="0" y="26748"/>
                </a:lnTo>
                <a:lnTo>
                  <a:pt x="9938" y="42650"/>
                </a:lnTo>
                <a:lnTo>
                  <a:pt x="17602" y="38705"/>
                </a:lnTo>
                <a:lnTo>
                  <a:pt x="21194" y="31433"/>
                </a:lnTo>
                <a:lnTo>
                  <a:pt x="19039" y="29707"/>
                </a:lnTo>
                <a:lnTo>
                  <a:pt x="21912" y="26748"/>
                </a:lnTo>
                <a:lnTo>
                  <a:pt x="23948" y="28351"/>
                </a:lnTo>
                <a:close/>
              </a:path>
            </a:pathLst>
          </a:custGeom>
          <a:solidFill>
            <a:srgbClr val="f2c8ad"/>
          </a:solidFill>
          <a:ln w="6191">
            <a:solidFill>
              <a:srgbClr val="b7633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94" name="ตรอกงูเห่า"/>
          <p:cNvSpPr/>
          <p:nvPr/>
        </p:nvSpPr>
        <p:spPr>
          <a:xfrm>
            <a:off x="4858200" y="5706360"/>
            <a:ext cx="20520" cy="11880"/>
          </a:xfrm>
          <a:custGeom>
            <a:avLst/>
            <a:gdLst/>
            <a:ahLst/>
            <a:rect l="l" t="t" r="r" b="b"/>
            <a:pathLst>
              <a:path w="20835" h="12326">
                <a:moveTo>
                  <a:pt x="0" y="2219"/>
                </a:moveTo>
                <a:lnTo>
                  <a:pt x="120" y="6163"/>
                </a:lnTo>
                <a:lnTo>
                  <a:pt x="13052" y="4807"/>
                </a:lnTo>
                <a:lnTo>
                  <a:pt x="13291" y="8875"/>
                </a:lnTo>
                <a:lnTo>
                  <a:pt x="8621" y="9122"/>
                </a:lnTo>
                <a:lnTo>
                  <a:pt x="8621" y="10231"/>
                </a:lnTo>
                <a:lnTo>
                  <a:pt x="11615" y="10231"/>
                </a:lnTo>
                <a:lnTo>
                  <a:pt x="13291" y="12326"/>
                </a:lnTo>
                <a:lnTo>
                  <a:pt x="14848" y="12326"/>
                </a:lnTo>
                <a:lnTo>
                  <a:pt x="14728" y="8752"/>
                </a:lnTo>
                <a:lnTo>
                  <a:pt x="20835" y="8505"/>
                </a:lnTo>
                <a:lnTo>
                  <a:pt x="18799" y="0"/>
                </a:lnTo>
                <a:lnTo>
                  <a:pt x="0" y="2219"/>
                </a:lnTo>
                <a:close/>
              </a:path>
            </a:pathLst>
          </a:custGeom>
          <a:solidFill>
            <a:srgbClr val="f2c8ad"/>
          </a:solidFill>
          <a:ln w="6191">
            <a:solidFill>
              <a:srgbClr val="b7633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95" name="สองร้อยห้อง"/>
          <p:cNvSpPr/>
          <p:nvPr/>
        </p:nvSpPr>
        <p:spPr>
          <a:xfrm>
            <a:off x="4854960" y="5706000"/>
            <a:ext cx="38880" cy="22320"/>
          </a:xfrm>
          <a:custGeom>
            <a:avLst/>
            <a:gdLst/>
            <a:ahLst/>
            <a:rect l="l" t="t" r="r" b="b"/>
            <a:pathLst>
              <a:path w="39394" h="22681">
                <a:moveTo>
                  <a:pt x="24547" y="21941"/>
                </a:moveTo>
                <a:lnTo>
                  <a:pt x="32450" y="22681"/>
                </a:lnTo>
                <a:lnTo>
                  <a:pt x="33168" y="12080"/>
                </a:lnTo>
                <a:lnTo>
                  <a:pt x="39394" y="12080"/>
                </a:lnTo>
                <a:lnTo>
                  <a:pt x="38796" y="8505"/>
                </a:lnTo>
                <a:lnTo>
                  <a:pt x="34844" y="8382"/>
                </a:lnTo>
                <a:lnTo>
                  <a:pt x="35443" y="2958"/>
                </a:lnTo>
                <a:lnTo>
                  <a:pt x="25505" y="3082"/>
                </a:lnTo>
                <a:lnTo>
                  <a:pt x="25385" y="1479"/>
                </a:lnTo>
                <a:lnTo>
                  <a:pt x="22032" y="0"/>
                </a:lnTo>
                <a:lnTo>
                  <a:pt x="24068" y="8875"/>
                </a:lnTo>
                <a:lnTo>
                  <a:pt x="17961" y="9122"/>
                </a:lnTo>
                <a:lnTo>
                  <a:pt x="17961" y="12573"/>
                </a:lnTo>
                <a:lnTo>
                  <a:pt x="120" y="13189"/>
                </a:lnTo>
                <a:lnTo>
                  <a:pt x="0" y="17750"/>
                </a:lnTo>
                <a:lnTo>
                  <a:pt x="13770" y="17257"/>
                </a:lnTo>
                <a:lnTo>
                  <a:pt x="13770" y="21695"/>
                </a:lnTo>
                <a:lnTo>
                  <a:pt x="24547" y="21941"/>
                </a:lnTo>
                <a:close/>
              </a:path>
            </a:pathLst>
          </a:custGeom>
          <a:solidFill>
            <a:srgbClr val="f2c8ad"/>
          </a:solidFill>
          <a:ln w="6191">
            <a:solidFill>
              <a:srgbClr val="b7633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96" name="ศาลเจ้าอาเหนียว"/>
          <p:cNvSpPr/>
          <p:nvPr/>
        </p:nvSpPr>
        <p:spPr>
          <a:xfrm>
            <a:off x="4817520" y="5717160"/>
            <a:ext cx="34200" cy="21960"/>
          </a:xfrm>
          <a:custGeom>
            <a:avLst/>
            <a:gdLst/>
            <a:ahLst/>
            <a:rect l="l" t="t" r="r" b="b"/>
            <a:pathLst>
              <a:path w="34725" h="22188">
                <a:moveTo>
                  <a:pt x="4670" y="18983"/>
                </a:moveTo>
                <a:lnTo>
                  <a:pt x="25145" y="18120"/>
                </a:lnTo>
                <a:lnTo>
                  <a:pt x="25026" y="22188"/>
                </a:lnTo>
                <a:lnTo>
                  <a:pt x="32450" y="22188"/>
                </a:lnTo>
                <a:lnTo>
                  <a:pt x="32450" y="20585"/>
                </a:lnTo>
                <a:lnTo>
                  <a:pt x="34725" y="20585"/>
                </a:lnTo>
                <a:lnTo>
                  <a:pt x="34725" y="18366"/>
                </a:lnTo>
                <a:lnTo>
                  <a:pt x="33527" y="18366"/>
                </a:lnTo>
                <a:lnTo>
                  <a:pt x="33407" y="6287"/>
                </a:lnTo>
                <a:lnTo>
                  <a:pt x="23230" y="6533"/>
                </a:lnTo>
                <a:lnTo>
                  <a:pt x="22751" y="0"/>
                </a:lnTo>
                <a:lnTo>
                  <a:pt x="20715" y="123"/>
                </a:lnTo>
                <a:lnTo>
                  <a:pt x="20476" y="2712"/>
                </a:lnTo>
                <a:lnTo>
                  <a:pt x="12932" y="5424"/>
                </a:lnTo>
                <a:lnTo>
                  <a:pt x="7663" y="6656"/>
                </a:lnTo>
                <a:lnTo>
                  <a:pt x="6466" y="5300"/>
                </a:lnTo>
                <a:lnTo>
                  <a:pt x="0" y="7642"/>
                </a:lnTo>
                <a:lnTo>
                  <a:pt x="4670" y="18983"/>
                </a:lnTo>
                <a:close/>
              </a:path>
            </a:pathLst>
          </a:custGeom>
          <a:solidFill>
            <a:srgbClr val="f2c8ad"/>
          </a:solidFill>
          <a:ln w="6191">
            <a:solidFill>
              <a:srgbClr val="b7633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97" name="ซอยเจริญรัถ 12"/>
          <p:cNvSpPr/>
          <p:nvPr/>
        </p:nvSpPr>
        <p:spPr>
          <a:xfrm>
            <a:off x="4888800" y="5678280"/>
            <a:ext cx="18000" cy="14760"/>
          </a:xfrm>
          <a:custGeom>
            <a:avLst/>
            <a:gdLst/>
            <a:ahLst/>
            <a:rect l="l" t="t" r="r" b="b"/>
            <a:pathLst>
              <a:path w="18320" h="15038">
                <a:moveTo>
                  <a:pt x="4191" y="15038"/>
                </a:moveTo>
                <a:lnTo>
                  <a:pt x="18320" y="12820"/>
                </a:lnTo>
                <a:lnTo>
                  <a:pt x="16045" y="0"/>
                </a:lnTo>
                <a:lnTo>
                  <a:pt x="0" y="4068"/>
                </a:lnTo>
                <a:lnTo>
                  <a:pt x="479" y="6656"/>
                </a:lnTo>
                <a:lnTo>
                  <a:pt x="2874" y="6040"/>
                </a:lnTo>
                <a:lnTo>
                  <a:pt x="4191" y="15038"/>
                </a:lnTo>
                <a:close/>
              </a:path>
            </a:pathLst>
          </a:custGeom>
          <a:solidFill>
            <a:srgbClr val="f2c8ad"/>
          </a:solidFill>
          <a:ln w="6191">
            <a:solidFill>
              <a:srgbClr val="b7633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98" name="วัดช่างเหล็ก - วัดเรไร"/>
          <p:cNvSpPr/>
          <p:nvPr/>
        </p:nvSpPr>
        <p:spPr>
          <a:xfrm>
            <a:off x="4329720" y="5026320"/>
            <a:ext cx="55800" cy="81720"/>
          </a:xfrm>
          <a:custGeom>
            <a:avLst/>
            <a:gdLst/>
            <a:ahLst/>
            <a:rect l="l" t="t" r="r" b="b"/>
            <a:pathLst>
              <a:path w="56158" h="82218">
                <a:moveTo>
                  <a:pt x="33527" y="82218"/>
                </a:moveTo>
                <a:lnTo>
                  <a:pt x="56158" y="41910"/>
                </a:lnTo>
                <a:lnTo>
                  <a:pt x="10537" y="5300"/>
                </a:lnTo>
                <a:lnTo>
                  <a:pt x="5867" y="0"/>
                </a:lnTo>
                <a:lnTo>
                  <a:pt x="3233" y="247"/>
                </a:lnTo>
                <a:lnTo>
                  <a:pt x="0" y="3698"/>
                </a:lnTo>
                <a:lnTo>
                  <a:pt x="2874" y="15655"/>
                </a:lnTo>
                <a:lnTo>
                  <a:pt x="6107" y="21325"/>
                </a:lnTo>
                <a:lnTo>
                  <a:pt x="4670" y="21818"/>
                </a:lnTo>
                <a:lnTo>
                  <a:pt x="7544" y="34884"/>
                </a:lnTo>
                <a:lnTo>
                  <a:pt x="12932" y="49183"/>
                </a:lnTo>
                <a:lnTo>
                  <a:pt x="16644" y="51278"/>
                </a:lnTo>
                <a:lnTo>
                  <a:pt x="20116" y="56825"/>
                </a:lnTo>
                <a:lnTo>
                  <a:pt x="16764" y="60523"/>
                </a:lnTo>
                <a:lnTo>
                  <a:pt x="17721" y="61509"/>
                </a:lnTo>
                <a:lnTo>
                  <a:pt x="14369" y="69645"/>
                </a:lnTo>
                <a:lnTo>
                  <a:pt x="33527" y="82218"/>
                </a:lnTo>
                <a:close/>
              </a:path>
            </a:pathLst>
          </a:custGeom>
          <a:solidFill>
            <a:srgbClr val="f2c8ad"/>
          </a:solidFill>
          <a:ln w="6191">
            <a:solidFill>
              <a:srgbClr val="b7633d"/>
            </a:solidFill>
            <a:round/>
          </a:ln>
        </p:spPr>
        <p:style>
          <a:lnRef idx="0"/>
          <a:fillRef idx="0"/>
          <a:effectRef idx="0"/>
          <a:fontRef idx="minor"/>
        </p:style>
        <p:txBody>
          <a:bodyPr lIns="90000" rIns="90000" tIns="36720" bIns="36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699" name="หลวงพ่อโบสถ์บน"/>
          <p:cNvSpPr/>
          <p:nvPr/>
        </p:nvSpPr>
        <p:spPr>
          <a:xfrm>
            <a:off x="4929840" y="5797080"/>
            <a:ext cx="36360" cy="28800"/>
          </a:xfrm>
          <a:custGeom>
            <a:avLst/>
            <a:gdLst/>
            <a:ahLst/>
            <a:rect l="l" t="t" r="r" b="b"/>
            <a:pathLst>
              <a:path w="36880" h="29090">
                <a:moveTo>
                  <a:pt x="29695" y="15408"/>
                </a:moveTo>
                <a:lnTo>
                  <a:pt x="18081" y="6410"/>
                </a:lnTo>
                <a:lnTo>
                  <a:pt x="14249" y="7519"/>
                </a:lnTo>
                <a:lnTo>
                  <a:pt x="12812" y="2958"/>
                </a:lnTo>
                <a:lnTo>
                  <a:pt x="8142" y="3821"/>
                </a:lnTo>
                <a:lnTo>
                  <a:pt x="5628" y="2465"/>
                </a:lnTo>
                <a:lnTo>
                  <a:pt x="5388" y="0"/>
                </a:lnTo>
                <a:lnTo>
                  <a:pt x="2993" y="370"/>
                </a:lnTo>
                <a:lnTo>
                  <a:pt x="0" y="3698"/>
                </a:lnTo>
                <a:lnTo>
                  <a:pt x="6346" y="10231"/>
                </a:lnTo>
                <a:lnTo>
                  <a:pt x="4550" y="12573"/>
                </a:lnTo>
                <a:lnTo>
                  <a:pt x="6586" y="14299"/>
                </a:lnTo>
                <a:lnTo>
                  <a:pt x="7783" y="13066"/>
                </a:lnTo>
                <a:lnTo>
                  <a:pt x="14010" y="19353"/>
                </a:lnTo>
                <a:lnTo>
                  <a:pt x="16045" y="17257"/>
                </a:lnTo>
                <a:lnTo>
                  <a:pt x="18560" y="19599"/>
                </a:lnTo>
                <a:lnTo>
                  <a:pt x="19398" y="18859"/>
                </a:lnTo>
                <a:lnTo>
                  <a:pt x="28139" y="29090"/>
                </a:lnTo>
                <a:lnTo>
                  <a:pt x="36880" y="23297"/>
                </a:lnTo>
                <a:lnTo>
                  <a:pt x="29695" y="15408"/>
                </a:lnTo>
                <a:close/>
              </a:path>
            </a:pathLst>
          </a:custGeom>
          <a:solidFill>
            <a:srgbClr val="f2c8ad"/>
          </a:solidFill>
          <a:ln w="6191">
            <a:solidFill>
              <a:srgbClr val="b7633d"/>
            </a:solidFill>
            <a:round/>
          </a:ln>
        </p:spPr>
        <p:style>
          <a:lnRef idx="0"/>
          <a:fillRef idx="0"/>
          <a:effectRef idx="0"/>
          <a:fontRef idx="minor"/>
        </p:style>
        <p:txBody>
          <a:bodyPr lIns="90000" rIns="90000" tIns="-16200" bIns="-16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00" name="หลังตลาดเจริญนคร"/>
          <p:cNvSpPr/>
          <p:nvPr/>
        </p:nvSpPr>
        <p:spPr>
          <a:xfrm>
            <a:off x="4875120" y="5882400"/>
            <a:ext cx="30960" cy="32760"/>
          </a:xfrm>
          <a:custGeom>
            <a:avLst/>
            <a:gdLst/>
            <a:ahLst/>
            <a:rect l="l" t="t" r="r" b="b"/>
            <a:pathLst>
              <a:path w="31372" h="33281">
                <a:moveTo>
                  <a:pt x="24427" y="11464"/>
                </a:moveTo>
                <a:lnTo>
                  <a:pt x="18320" y="4068"/>
                </a:lnTo>
                <a:lnTo>
                  <a:pt x="12213" y="0"/>
                </a:lnTo>
                <a:lnTo>
                  <a:pt x="10058" y="1726"/>
                </a:lnTo>
                <a:lnTo>
                  <a:pt x="11016" y="3205"/>
                </a:lnTo>
                <a:lnTo>
                  <a:pt x="5748" y="6533"/>
                </a:lnTo>
                <a:lnTo>
                  <a:pt x="4311" y="4438"/>
                </a:lnTo>
                <a:lnTo>
                  <a:pt x="0" y="7396"/>
                </a:lnTo>
                <a:lnTo>
                  <a:pt x="19518" y="33281"/>
                </a:lnTo>
                <a:lnTo>
                  <a:pt x="31372" y="27735"/>
                </a:lnTo>
                <a:lnTo>
                  <a:pt x="24427" y="11464"/>
                </a:lnTo>
                <a:close/>
              </a:path>
            </a:pathLst>
          </a:custGeom>
          <a:solidFill>
            <a:srgbClr val="f2c8ad"/>
          </a:solidFill>
          <a:ln w="6191">
            <a:solidFill>
              <a:srgbClr val="b7633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01" name="ซอยวนาวรรณ"/>
          <p:cNvSpPr/>
          <p:nvPr/>
        </p:nvSpPr>
        <p:spPr>
          <a:xfrm>
            <a:off x="4907520" y="5700240"/>
            <a:ext cx="73800" cy="25560"/>
          </a:xfrm>
          <a:custGeom>
            <a:avLst/>
            <a:gdLst/>
            <a:ahLst/>
            <a:rect l="l" t="t" r="r" b="b"/>
            <a:pathLst>
              <a:path w="74239" h="25762">
                <a:moveTo>
                  <a:pt x="13052" y="6656"/>
                </a:moveTo>
                <a:lnTo>
                  <a:pt x="12932" y="18243"/>
                </a:lnTo>
                <a:lnTo>
                  <a:pt x="838" y="18120"/>
                </a:lnTo>
                <a:lnTo>
                  <a:pt x="0" y="21571"/>
                </a:lnTo>
                <a:lnTo>
                  <a:pt x="12213" y="24037"/>
                </a:lnTo>
                <a:lnTo>
                  <a:pt x="12333" y="22557"/>
                </a:lnTo>
                <a:lnTo>
                  <a:pt x="18200" y="23174"/>
                </a:lnTo>
                <a:lnTo>
                  <a:pt x="18440" y="20832"/>
                </a:lnTo>
                <a:lnTo>
                  <a:pt x="63223" y="25762"/>
                </a:lnTo>
                <a:lnTo>
                  <a:pt x="63223" y="15531"/>
                </a:lnTo>
                <a:lnTo>
                  <a:pt x="74239" y="14299"/>
                </a:lnTo>
                <a:lnTo>
                  <a:pt x="73760" y="10847"/>
                </a:lnTo>
                <a:lnTo>
                  <a:pt x="65977" y="11587"/>
                </a:lnTo>
                <a:lnTo>
                  <a:pt x="65737" y="4807"/>
                </a:lnTo>
                <a:lnTo>
                  <a:pt x="51488" y="4931"/>
                </a:lnTo>
                <a:lnTo>
                  <a:pt x="51488" y="1109"/>
                </a:lnTo>
                <a:lnTo>
                  <a:pt x="40113" y="1602"/>
                </a:lnTo>
                <a:lnTo>
                  <a:pt x="40113" y="0"/>
                </a:lnTo>
                <a:lnTo>
                  <a:pt x="29576" y="1109"/>
                </a:lnTo>
                <a:lnTo>
                  <a:pt x="29815" y="7273"/>
                </a:lnTo>
                <a:lnTo>
                  <a:pt x="25026" y="7519"/>
                </a:lnTo>
                <a:lnTo>
                  <a:pt x="25026" y="12573"/>
                </a:lnTo>
                <a:lnTo>
                  <a:pt x="20356" y="12696"/>
                </a:lnTo>
                <a:lnTo>
                  <a:pt x="19039" y="5670"/>
                </a:lnTo>
                <a:lnTo>
                  <a:pt x="13052" y="6656"/>
                </a:lnTo>
                <a:close/>
              </a:path>
            </a:pathLst>
          </a:custGeom>
          <a:solidFill>
            <a:srgbClr val="f2c8ad"/>
          </a:solidFill>
          <a:ln w="6191">
            <a:solidFill>
              <a:srgbClr val="b7633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02" name="ซอยวัดสุวรรณ"/>
          <p:cNvSpPr/>
          <p:nvPr/>
        </p:nvSpPr>
        <p:spPr>
          <a:xfrm>
            <a:off x="5018040" y="5702760"/>
            <a:ext cx="30600" cy="10800"/>
          </a:xfrm>
          <a:custGeom>
            <a:avLst/>
            <a:gdLst/>
            <a:ahLst/>
            <a:rect l="l" t="t" r="r" b="b"/>
            <a:pathLst>
              <a:path w="30893" h="11217">
                <a:moveTo>
                  <a:pt x="120" y="8875"/>
                </a:moveTo>
                <a:lnTo>
                  <a:pt x="0" y="11094"/>
                </a:lnTo>
                <a:lnTo>
                  <a:pt x="1437" y="11217"/>
                </a:lnTo>
                <a:lnTo>
                  <a:pt x="2874" y="5424"/>
                </a:lnTo>
                <a:lnTo>
                  <a:pt x="30294" y="5793"/>
                </a:lnTo>
                <a:lnTo>
                  <a:pt x="30893" y="616"/>
                </a:lnTo>
                <a:lnTo>
                  <a:pt x="17721" y="247"/>
                </a:lnTo>
                <a:lnTo>
                  <a:pt x="17482" y="4068"/>
                </a:lnTo>
                <a:lnTo>
                  <a:pt x="6945" y="3944"/>
                </a:lnTo>
                <a:lnTo>
                  <a:pt x="7065" y="123"/>
                </a:lnTo>
                <a:lnTo>
                  <a:pt x="838" y="0"/>
                </a:lnTo>
                <a:lnTo>
                  <a:pt x="120" y="8875"/>
                </a:lnTo>
                <a:close/>
              </a:path>
            </a:pathLst>
          </a:custGeom>
          <a:solidFill>
            <a:srgbClr val="f2c8ad"/>
          </a:solidFill>
          <a:ln w="6191">
            <a:solidFill>
              <a:srgbClr val="b7633d"/>
            </a:solidFill>
            <a:round/>
          </a:ln>
        </p:spPr>
        <p:style>
          <a:lnRef idx="0"/>
          <a:fillRef idx="0"/>
          <a:effectRef idx="0"/>
          <a:fontRef idx="minor"/>
        </p:style>
        <p:txBody>
          <a:bodyPr lIns="90000" rIns="90000" tIns="-34200" bIns="-34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03" name="มัสยิดสุวรรณภูมิ"/>
          <p:cNvSpPr/>
          <p:nvPr/>
        </p:nvSpPr>
        <p:spPr>
          <a:xfrm>
            <a:off x="5021280" y="5691960"/>
            <a:ext cx="28080" cy="6840"/>
          </a:xfrm>
          <a:custGeom>
            <a:avLst/>
            <a:gdLst/>
            <a:ahLst/>
            <a:rect l="l" t="t" r="r" b="b"/>
            <a:pathLst>
              <a:path w="28378" h="7026">
                <a:moveTo>
                  <a:pt x="0" y="3205"/>
                </a:moveTo>
                <a:lnTo>
                  <a:pt x="3951" y="3082"/>
                </a:lnTo>
                <a:lnTo>
                  <a:pt x="3951" y="7026"/>
                </a:lnTo>
                <a:lnTo>
                  <a:pt x="9699" y="6903"/>
                </a:lnTo>
                <a:lnTo>
                  <a:pt x="9699" y="4807"/>
                </a:lnTo>
                <a:lnTo>
                  <a:pt x="12692" y="4807"/>
                </a:lnTo>
                <a:lnTo>
                  <a:pt x="13650" y="6656"/>
                </a:lnTo>
                <a:lnTo>
                  <a:pt x="28378" y="6780"/>
                </a:lnTo>
                <a:lnTo>
                  <a:pt x="27899" y="0"/>
                </a:lnTo>
                <a:lnTo>
                  <a:pt x="14129" y="616"/>
                </a:lnTo>
                <a:lnTo>
                  <a:pt x="14129" y="2712"/>
                </a:lnTo>
                <a:lnTo>
                  <a:pt x="6226" y="3082"/>
                </a:lnTo>
                <a:lnTo>
                  <a:pt x="6226" y="1109"/>
                </a:lnTo>
                <a:lnTo>
                  <a:pt x="0" y="1233"/>
                </a:lnTo>
                <a:lnTo>
                  <a:pt x="0" y="3205"/>
                </a:lnTo>
                <a:close/>
              </a:path>
            </a:pathLst>
          </a:custGeom>
          <a:solidFill>
            <a:srgbClr val="f2c8ad"/>
          </a:solidFill>
          <a:ln w="6191">
            <a:solidFill>
              <a:srgbClr val="b7633d"/>
            </a:solidFill>
            <a:round/>
          </a:ln>
        </p:spPr>
        <p:style>
          <a:lnRef idx="0"/>
          <a:fillRef idx="0"/>
          <a:effectRef idx="0"/>
          <a:fontRef idx="minor"/>
        </p:style>
        <p:txBody>
          <a:bodyPr lIns="90000" rIns="90000" tIns="-38160" bIns="-38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04" name="วัดทองเพลง"/>
          <p:cNvSpPr/>
          <p:nvPr/>
        </p:nvSpPr>
        <p:spPr>
          <a:xfrm>
            <a:off x="4879800" y="5692320"/>
            <a:ext cx="31680" cy="12960"/>
          </a:xfrm>
          <a:custGeom>
            <a:avLst/>
            <a:gdLst/>
            <a:ahLst/>
            <a:rect l="l" t="t" r="r" b="b"/>
            <a:pathLst>
              <a:path w="32210" h="13189">
                <a:moveTo>
                  <a:pt x="19039" y="12203"/>
                </a:moveTo>
                <a:lnTo>
                  <a:pt x="32210" y="11587"/>
                </a:lnTo>
                <a:lnTo>
                  <a:pt x="31851" y="7396"/>
                </a:lnTo>
                <a:lnTo>
                  <a:pt x="25026" y="8259"/>
                </a:lnTo>
                <a:lnTo>
                  <a:pt x="24906" y="6163"/>
                </a:lnTo>
                <a:lnTo>
                  <a:pt x="22032" y="6410"/>
                </a:lnTo>
                <a:lnTo>
                  <a:pt x="21673" y="4438"/>
                </a:lnTo>
                <a:lnTo>
                  <a:pt x="20236" y="4561"/>
                </a:lnTo>
                <a:lnTo>
                  <a:pt x="20116" y="0"/>
                </a:lnTo>
                <a:lnTo>
                  <a:pt x="14848" y="863"/>
                </a:lnTo>
                <a:lnTo>
                  <a:pt x="15207" y="6903"/>
                </a:lnTo>
                <a:lnTo>
                  <a:pt x="0" y="9368"/>
                </a:lnTo>
                <a:lnTo>
                  <a:pt x="239" y="11587"/>
                </a:lnTo>
                <a:lnTo>
                  <a:pt x="2634" y="11464"/>
                </a:lnTo>
                <a:lnTo>
                  <a:pt x="2634" y="13189"/>
                </a:lnTo>
                <a:lnTo>
                  <a:pt x="19039" y="12203"/>
                </a:lnTo>
                <a:close/>
              </a:path>
            </a:pathLst>
          </a:custGeom>
          <a:solidFill>
            <a:srgbClr val="f2c8ad"/>
          </a:solidFill>
          <a:ln w="6191">
            <a:solidFill>
              <a:srgbClr val="b7633d"/>
            </a:solidFill>
            <a:round/>
          </a:ln>
        </p:spPr>
        <p:style>
          <a:lnRef idx="0"/>
          <a:fillRef idx="0"/>
          <a:effectRef idx="0"/>
          <a:fontRef idx="minor"/>
        </p:style>
        <p:txBody>
          <a:bodyPr lIns="90000" rIns="90000" tIns="-32040" bIns="-32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05" name="หน้าตลาดศิรินทร์"/>
          <p:cNvSpPr/>
          <p:nvPr/>
        </p:nvSpPr>
        <p:spPr>
          <a:xfrm>
            <a:off x="4986720" y="5676120"/>
            <a:ext cx="18000" cy="12600"/>
          </a:xfrm>
          <a:custGeom>
            <a:avLst/>
            <a:gdLst/>
            <a:ahLst/>
            <a:rect l="l" t="t" r="r" b="b"/>
            <a:pathLst>
              <a:path w="18320" h="13066">
                <a:moveTo>
                  <a:pt x="1676" y="13066"/>
                </a:moveTo>
                <a:lnTo>
                  <a:pt x="18320" y="11464"/>
                </a:lnTo>
                <a:lnTo>
                  <a:pt x="15686" y="370"/>
                </a:lnTo>
                <a:lnTo>
                  <a:pt x="12213" y="1356"/>
                </a:lnTo>
                <a:lnTo>
                  <a:pt x="11974" y="0"/>
                </a:lnTo>
                <a:lnTo>
                  <a:pt x="0" y="4068"/>
                </a:lnTo>
                <a:lnTo>
                  <a:pt x="1676" y="13066"/>
                </a:lnTo>
                <a:close/>
              </a:path>
            </a:pathLst>
          </a:custGeom>
          <a:solidFill>
            <a:srgbClr val="f2c8ad"/>
          </a:solidFill>
          <a:ln w="6191">
            <a:solidFill>
              <a:srgbClr val="b7633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06" name="วัดไชยทิศ"/>
          <p:cNvSpPr/>
          <p:nvPr/>
        </p:nvSpPr>
        <p:spPr>
          <a:xfrm>
            <a:off x="4461120" y="5151600"/>
            <a:ext cx="47520" cy="38880"/>
          </a:xfrm>
          <a:custGeom>
            <a:avLst/>
            <a:gdLst/>
            <a:ahLst/>
            <a:rect l="l" t="t" r="r" b="b"/>
            <a:pathLst>
              <a:path w="47776" h="39198">
                <a:moveTo>
                  <a:pt x="37359" y="29707"/>
                </a:moveTo>
                <a:lnTo>
                  <a:pt x="47776" y="23297"/>
                </a:lnTo>
                <a:lnTo>
                  <a:pt x="44902" y="18613"/>
                </a:lnTo>
                <a:lnTo>
                  <a:pt x="43346" y="19599"/>
                </a:lnTo>
                <a:lnTo>
                  <a:pt x="41430" y="16394"/>
                </a:lnTo>
                <a:lnTo>
                  <a:pt x="42747" y="14668"/>
                </a:lnTo>
                <a:lnTo>
                  <a:pt x="34246" y="8135"/>
                </a:lnTo>
                <a:lnTo>
                  <a:pt x="32569" y="13806"/>
                </a:lnTo>
                <a:lnTo>
                  <a:pt x="5628" y="0"/>
                </a:lnTo>
                <a:lnTo>
                  <a:pt x="4550" y="2958"/>
                </a:lnTo>
                <a:lnTo>
                  <a:pt x="1796" y="1972"/>
                </a:lnTo>
                <a:lnTo>
                  <a:pt x="0" y="6780"/>
                </a:lnTo>
                <a:lnTo>
                  <a:pt x="3233" y="7889"/>
                </a:lnTo>
                <a:lnTo>
                  <a:pt x="838" y="14792"/>
                </a:lnTo>
                <a:lnTo>
                  <a:pt x="4790" y="16394"/>
                </a:lnTo>
                <a:lnTo>
                  <a:pt x="3832" y="19229"/>
                </a:lnTo>
                <a:lnTo>
                  <a:pt x="9579" y="21325"/>
                </a:lnTo>
                <a:lnTo>
                  <a:pt x="6226" y="35870"/>
                </a:lnTo>
                <a:lnTo>
                  <a:pt x="17602" y="37472"/>
                </a:lnTo>
                <a:lnTo>
                  <a:pt x="17961" y="35500"/>
                </a:lnTo>
                <a:lnTo>
                  <a:pt x="25145" y="36733"/>
                </a:lnTo>
                <a:lnTo>
                  <a:pt x="26941" y="29460"/>
                </a:lnTo>
                <a:lnTo>
                  <a:pt x="37359" y="39198"/>
                </a:lnTo>
                <a:lnTo>
                  <a:pt x="38796" y="38089"/>
                </a:lnTo>
                <a:lnTo>
                  <a:pt x="34605" y="32419"/>
                </a:lnTo>
                <a:lnTo>
                  <a:pt x="37359" y="29707"/>
                </a:lnTo>
                <a:close/>
              </a:path>
            </a:pathLst>
          </a:custGeom>
          <a:solidFill>
            <a:srgbClr val="f2c8ad"/>
          </a:solidFill>
          <a:ln w="6191">
            <a:solidFill>
              <a:srgbClr val="b7633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07" name="ปลายซอยจรัญสนิทวงศ์ 29 (ฝั่งขวา)"/>
          <p:cNvSpPr/>
          <p:nvPr/>
        </p:nvSpPr>
        <p:spPr>
          <a:xfrm>
            <a:off x="4499640" y="5370120"/>
            <a:ext cx="33120" cy="18360"/>
          </a:xfrm>
          <a:custGeom>
            <a:avLst/>
            <a:gdLst/>
            <a:ahLst/>
            <a:rect l="l" t="t" r="r" b="b"/>
            <a:pathLst>
              <a:path w="33647" h="18613">
                <a:moveTo>
                  <a:pt x="33647" y="7642"/>
                </a:moveTo>
                <a:lnTo>
                  <a:pt x="33647" y="0"/>
                </a:lnTo>
                <a:lnTo>
                  <a:pt x="0" y="2219"/>
                </a:lnTo>
                <a:lnTo>
                  <a:pt x="2634" y="18613"/>
                </a:lnTo>
                <a:lnTo>
                  <a:pt x="19757" y="17750"/>
                </a:lnTo>
                <a:lnTo>
                  <a:pt x="19997" y="12203"/>
                </a:lnTo>
                <a:lnTo>
                  <a:pt x="18799" y="11957"/>
                </a:lnTo>
                <a:lnTo>
                  <a:pt x="20715" y="3944"/>
                </a:lnTo>
                <a:lnTo>
                  <a:pt x="33647" y="7642"/>
                </a:lnTo>
                <a:close/>
              </a:path>
            </a:pathLst>
          </a:custGeom>
          <a:solidFill>
            <a:srgbClr val="f2c8ad"/>
          </a:solidFill>
          <a:ln w="6191">
            <a:solidFill>
              <a:srgbClr val="b7633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08" name="ปลายซอยจรัญสนิทวงศ์ 29 (ฝั่งซ้าย)"/>
          <p:cNvSpPr/>
          <p:nvPr/>
        </p:nvSpPr>
        <p:spPr>
          <a:xfrm>
            <a:off x="4462920" y="5357160"/>
            <a:ext cx="57960" cy="24840"/>
          </a:xfrm>
          <a:custGeom>
            <a:avLst/>
            <a:gdLst/>
            <a:ahLst/>
            <a:rect l="l" t="t" r="r" b="b"/>
            <a:pathLst>
              <a:path w="58433" h="25023">
                <a:moveTo>
                  <a:pt x="25864" y="14422"/>
                </a:moveTo>
                <a:lnTo>
                  <a:pt x="14608" y="16271"/>
                </a:lnTo>
                <a:lnTo>
                  <a:pt x="12573" y="9615"/>
                </a:lnTo>
                <a:lnTo>
                  <a:pt x="0" y="9984"/>
                </a:lnTo>
                <a:lnTo>
                  <a:pt x="239" y="25023"/>
                </a:lnTo>
                <a:lnTo>
                  <a:pt x="26941" y="19476"/>
                </a:lnTo>
                <a:lnTo>
                  <a:pt x="30174" y="17627"/>
                </a:lnTo>
                <a:lnTo>
                  <a:pt x="30414" y="15901"/>
                </a:lnTo>
                <a:lnTo>
                  <a:pt x="58433" y="13189"/>
                </a:lnTo>
                <a:lnTo>
                  <a:pt x="57954" y="3328"/>
                </a:lnTo>
                <a:lnTo>
                  <a:pt x="36281" y="6040"/>
                </a:lnTo>
                <a:lnTo>
                  <a:pt x="35443" y="2095"/>
                </a:lnTo>
                <a:lnTo>
                  <a:pt x="32569" y="2835"/>
                </a:lnTo>
                <a:lnTo>
                  <a:pt x="31851" y="0"/>
                </a:lnTo>
                <a:lnTo>
                  <a:pt x="27181" y="493"/>
                </a:lnTo>
                <a:lnTo>
                  <a:pt x="30294" y="15778"/>
                </a:lnTo>
                <a:lnTo>
                  <a:pt x="26343" y="16887"/>
                </a:lnTo>
                <a:lnTo>
                  <a:pt x="25864" y="14422"/>
                </a:lnTo>
                <a:close/>
              </a:path>
            </a:pathLst>
          </a:custGeom>
          <a:solidFill>
            <a:srgbClr val="f2c8ad"/>
          </a:solidFill>
          <a:ln w="6191">
            <a:solidFill>
              <a:srgbClr val="b7633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09" name="วัดมะลิ 1 (เจือ เชื่อมจิตต์)"/>
          <p:cNvSpPr/>
          <p:nvPr/>
        </p:nvSpPr>
        <p:spPr>
          <a:xfrm>
            <a:off x="4461840" y="5250240"/>
            <a:ext cx="65160" cy="21600"/>
          </a:xfrm>
          <a:custGeom>
            <a:avLst/>
            <a:gdLst/>
            <a:ahLst/>
            <a:rect l="l" t="t" r="r" b="b"/>
            <a:pathLst>
              <a:path w="65498" h="21941">
                <a:moveTo>
                  <a:pt x="56397" y="2835"/>
                </a:moveTo>
                <a:lnTo>
                  <a:pt x="49692" y="2219"/>
                </a:lnTo>
                <a:lnTo>
                  <a:pt x="31611" y="4807"/>
                </a:lnTo>
                <a:lnTo>
                  <a:pt x="28738" y="5547"/>
                </a:lnTo>
                <a:lnTo>
                  <a:pt x="29815" y="9491"/>
                </a:lnTo>
                <a:lnTo>
                  <a:pt x="21074" y="11833"/>
                </a:lnTo>
                <a:lnTo>
                  <a:pt x="19997" y="7889"/>
                </a:lnTo>
                <a:lnTo>
                  <a:pt x="718" y="16517"/>
                </a:lnTo>
                <a:lnTo>
                  <a:pt x="0" y="20092"/>
                </a:lnTo>
                <a:lnTo>
                  <a:pt x="718" y="21571"/>
                </a:lnTo>
                <a:lnTo>
                  <a:pt x="20116" y="14052"/>
                </a:lnTo>
                <a:lnTo>
                  <a:pt x="20835" y="16641"/>
                </a:lnTo>
                <a:lnTo>
                  <a:pt x="23349" y="15901"/>
                </a:lnTo>
                <a:lnTo>
                  <a:pt x="24187" y="18860"/>
                </a:lnTo>
                <a:lnTo>
                  <a:pt x="28259" y="17997"/>
                </a:lnTo>
                <a:lnTo>
                  <a:pt x="28259" y="15901"/>
                </a:lnTo>
                <a:lnTo>
                  <a:pt x="57475" y="12080"/>
                </a:lnTo>
                <a:lnTo>
                  <a:pt x="58673" y="21941"/>
                </a:lnTo>
                <a:lnTo>
                  <a:pt x="61546" y="21818"/>
                </a:lnTo>
                <a:lnTo>
                  <a:pt x="61546" y="19353"/>
                </a:lnTo>
                <a:lnTo>
                  <a:pt x="64181" y="19229"/>
                </a:lnTo>
                <a:lnTo>
                  <a:pt x="63821" y="14422"/>
                </a:lnTo>
                <a:lnTo>
                  <a:pt x="65498" y="14299"/>
                </a:lnTo>
                <a:lnTo>
                  <a:pt x="63582" y="0"/>
                </a:lnTo>
                <a:lnTo>
                  <a:pt x="56517" y="740"/>
                </a:lnTo>
                <a:lnTo>
                  <a:pt x="56397" y="2835"/>
                </a:lnTo>
                <a:close/>
              </a:path>
            </a:pathLst>
          </a:custGeom>
          <a:solidFill>
            <a:srgbClr val="f2c8ad"/>
          </a:solidFill>
          <a:ln w="6191">
            <a:solidFill>
              <a:srgbClr val="b7633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10" name="วัดมะลิ 2 (เจือ เชื่อมจิตต์)"/>
          <p:cNvSpPr/>
          <p:nvPr/>
        </p:nvSpPr>
        <p:spPr>
          <a:xfrm>
            <a:off x="4471560" y="5231880"/>
            <a:ext cx="45720" cy="20880"/>
          </a:xfrm>
          <a:custGeom>
            <a:avLst/>
            <a:gdLst/>
            <a:ahLst/>
            <a:rect l="l" t="t" r="r" b="b"/>
            <a:pathLst>
              <a:path w="45980" h="21202">
                <a:moveTo>
                  <a:pt x="21074" y="18613"/>
                </a:moveTo>
                <a:lnTo>
                  <a:pt x="45980" y="16148"/>
                </a:lnTo>
                <a:lnTo>
                  <a:pt x="42867" y="1233"/>
                </a:lnTo>
                <a:lnTo>
                  <a:pt x="39873" y="2342"/>
                </a:lnTo>
                <a:lnTo>
                  <a:pt x="28857" y="1233"/>
                </a:lnTo>
                <a:lnTo>
                  <a:pt x="28738" y="3205"/>
                </a:lnTo>
                <a:lnTo>
                  <a:pt x="12812" y="0"/>
                </a:lnTo>
                <a:lnTo>
                  <a:pt x="12812" y="4191"/>
                </a:lnTo>
                <a:lnTo>
                  <a:pt x="0" y="5917"/>
                </a:lnTo>
                <a:lnTo>
                  <a:pt x="1078" y="12450"/>
                </a:lnTo>
                <a:lnTo>
                  <a:pt x="13890" y="10108"/>
                </a:lnTo>
                <a:lnTo>
                  <a:pt x="14129" y="15285"/>
                </a:lnTo>
                <a:lnTo>
                  <a:pt x="8621" y="17997"/>
                </a:lnTo>
                <a:lnTo>
                  <a:pt x="9459" y="21202"/>
                </a:lnTo>
                <a:lnTo>
                  <a:pt x="21074" y="18613"/>
                </a:lnTo>
                <a:close/>
              </a:path>
            </a:pathLst>
          </a:custGeom>
          <a:solidFill>
            <a:srgbClr val="f2c8ad"/>
          </a:solidFill>
          <a:ln w="6191">
            <a:solidFill>
              <a:srgbClr val="b7633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11" name="วัดรวกสุทธาราม"/>
          <p:cNvSpPr/>
          <p:nvPr/>
        </p:nvSpPr>
        <p:spPr>
          <a:xfrm>
            <a:off x="4454640" y="5277960"/>
            <a:ext cx="84600" cy="48600"/>
          </a:xfrm>
          <a:custGeom>
            <a:avLst/>
            <a:gdLst/>
            <a:ahLst/>
            <a:rect l="l" t="t" r="r" b="b"/>
            <a:pathLst>
              <a:path w="85135" h="48813">
                <a:moveTo>
                  <a:pt x="60828" y="2096"/>
                </a:moveTo>
                <a:lnTo>
                  <a:pt x="60229" y="0"/>
                </a:lnTo>
                <a:lnTo>
                  <a:pt x="47776" y="1972"/>
                </a:lnTo>
                <a:lnTo>
                  <a:pt x="47776" y="6410"/>
                </a:lnTo>
                <a:lnTo>
                  <a:pt x="41789" y="7026"/>
                </a:lnTo>
                <a:lnTo>
                  <a:pt x="41071" y="3575"/>
                </a:lnTo>
                <a:lnTo>
                  <a:pt x="33407" y="4807"/>
                </a:lnTo>
                <a:lnTo>
                  <a:pt x="34006" y="8382"/>
                </a:lnTo>
                <a:lnTo>
                  <a:pt x="38436" y="7026"/>
                </a:lnTo>
                <a:lnTo>
                  <a:pt x="39634" y="11217"/>
                </a:lnTo>
                <a:lnTo>
                  <a:pt x="29935" y="13313"/>
                </a:lnTo>
                <a:lnTo>
                  <a:pt x="16285" y="19599"/>
                </a:lnTo>
                <a:lnTo>
                  <a:pt x="17482" y="22188"/>
                </a:lnTo>
                <a:lnTo>
                  <a:pt x="12453" y="24530"/>
                </a:lnTo>
                <a:lnTo>
                  <a:pt x="14608" y="29830"/>
                </a:lnTo>
                <a:lnTo>
                  <a:pt x="10657" y="31556"/>
                </a:lnTo>
                <a:lnTo>
                  <a:pt x="13291" y="39815"/>
                </a:lnTo>
                <a:lnTo>
                  <a:pt x="0" y="44005"/>
                </a:lnTo>
                <a:lnTo>
                  <a:pt x="1676" y="48813"/>
                </a:lnTo>
                <a:lnTo>
                  <a:pt x="8741" y="44992"/>
                </a:lnTo>
                <a:lnTo>
                  <a:pt x="26582" y="39691"/>
                </a:lnTo>
                <a:lnTo>
                  <a:pt x="57715" y="32788"/>
                </a:lnTo>
                <a:lnTo>
                  <a:pt x="73161" y="35130"/>
                </a:lnTo>
                <a:lnTo>
                  <a:pt x="73281" y="37349"/>
                </a:lnTo>
                <a:lnTo>
                  <a:pt x="85135" y="37719"/>
                </a:lnTo>
                <a:lnTo>
                  <a:pt x="83219" y="14669"/>
                </a:lnTo>
                <a:lnTo>
                  <a:pt x="81064" y="14422"/>
                </a:lnTo>
                <a:lnTo>
                  <a:pt x="80944" y="16887"/>
                </a:lnTo>
                <a:lnTo>
                  <a:pt x="74718" y="17134"/>
                </a:lnTo>
                <a:lnTo>
                  <a:pt x="74239" y="12573"/>
                </a:lnTo>
                <a:lnTo>
                  <a:pt x="68012" y="13313"/>
                </a:lnTo>
                <a:lnTo>
                  <a:pt x="66815" y="3698"/>
                </a:lnTo>
                <a:lnTo>
                  <a:pt x="63342" y="3944"/>
                </a:lnTo>
                <a:lnTo>
                  <a:pt x="63103" y="1972"/>
                </a:lnTo>
                <a:lnTo>
                  <a:pt x="60828" y="2096"/>
                </a:lnTo>
                <a:close/>
              </a:path>
            </a:pathLst>
          </a:custGeom>
          <a:solidFill>
            <a:srgbClr val="f2c8ad"/>
          </a:solidFill>
          <a:ln w="6191">
            <a:solidFill>
              <a:srgbClr val="b7633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12" name="หลังตลาดนครหลวง"/>
          <p:cNvSpPr/>
          <p:nvPr/>
        </p:nvSpPr>
        <p:spPr>
          <a:xfrm>
            <a:off x="4511520" y="5335200"/>
            <a:ext cx="18000" cy="11160"/>
          </a:xfrm>
          <a:custGeom>
            <a:avLst/>
            <a:gdLst/>
            <a:ahLst/>
            <a:rect l="l" t="t" r="r" b="b"/>
            <a:pathLst>
              <a:path w="18200" h="11340">
                <a:moveTo>
                  <a:pt x="18200" y="11340"/>
                </a:moveTo>
                <a:lnTo>
                  <a:pt x="17482" y="0"/>
                </a:lnTo>
                <a:lnTo>
                  <a:pt x="0" y="1602"/>
                </a:lnTo>
                <a:lnTo>
                  <a:pt x="3353" y="10477"/>
                </a:lnTo>
                <a:lnTo>
                  <a:pt x="18200" y="11340"/>
                </a:lnTo>
                <a:close/>
              </a:path>
            </a:pathLst>
          </a:custGeom>
          <a:solidFill>
            <a:srgbClr val="f2c8ad"/>
          </a:solidFill>
          <a:ln w="6191">
            <a:solidFill>
              <a:srgbClr val="b7633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13" name="คลองล่าง"/>
          <p:cNvSpPr/>
          <p:nvPr/>
        </p:nvSpPr>
        <p:spPr>
          <a:xfrm>
            <a:off x="4354920" y="5193000"/>
            <a:ext cx="81360" cy="36360"/>
          </a:xfrm>
          <a:custGeom>
            <a:avLst/>
            <a:gdLst/>
            <a:ahLst/>
            <a:rect l="l" t="t" r="r" b="b"/>
            <a:pathLst>
              <a:path w="81782" h="36856">
                <a:moveTo>
                  <a:pt x="50291" y="19476"/>
                </a:moveTo>
                <a:lnTo>
                  <a:pt x="49692" y="17134"/>
                </a:lnTo>
                <a:lnTo>
                  <a:pt x="36640" y="17997"/>
                </a:lnTo>
                <a:lnTo>
                  <a:pt x="36521" y="21818"/>
                </a:lnTo>
                <a:lnTo>
                  <a:pt x="27660" y="22557"/>
                </a:lnTo>
                <a:lnTo>
                  <a:pt x="27301" y="17997"/>
                </a:lnTo>
                <a:lnTo>
                  <a:pt x="35682" y="17997"/>
                </a:lnTo>
                <a:lnTo>
                  <a:pt x="35802" y="13066"/>
                </a:lnTo>
                <a:lnTo>
                  <a:pt x="27061" y="13066"/>
                </a:lnTo>
                <a:lnTo>
                  <a:pt x="27181" y="10108"/>
                </a:lnTo>
                <a:lnTo>
                  <a:pt x="0" y="10971"/>
                </a:lnTo>
                <a:lnTo>
                  <a:pt x="2515" y="27488"/>
                </a:lnTo>
                <a:lnTo>
                  <a:pt x="6107" y="36856"/>
                </a:lnTo>
                <a:lnTo>
                  <a:pt x="24786" y="28597"/>
                </a:lnTo>
                <a:lnTo>
                  <a:pt x="42627" y="25023"/>
                </a:lnTo>
                <a:lnTo>
                  <a:pt x="56876" y="24899"/>
                </a:lnTo>
                <a:lnTo>
                  <a:pt x="59630" y="35130"/>
                </a:lnTo>
                <a:lnTo>
                  <a:pt x="81782" y="30816"/>
                </a:lnTo>
                <a:lnTo>
                  <a:pt x="79747" y="15038"/>
                </a:lnTo>
                <a:lnTo>
                  <a:pt x="79747" y="493"/>
                </a:lnTo>
                <a:lnTo>
                  <a:pt x="71964" y="0"/>
                </a:lnTo>
                <a:lnTo>
                  <a:pt x="73879" y="17504"/>
                </a:lnTo>
                <a:lnTo>
                  <a:pt x="68371" y="17997"/>
                </a:lnTo>
                <a:lnTo>
                  <a:pt x="68012" y="15038"/>
                </a:lnTo>
                <a:lnTo>
                  <a:pt x="61786" y="15901"/>
                </a:lnTo>
                <a:lnTo>
                  <a:pt x="62384" y="19106"/>
                </a:lnTo>
                <a:lnTo>
                  <a:pt x="50410" y="20832"/>
                </a:lnTo>
                <a:lnTo>
                  <a:pt x="50291" y="19476"/>
                </a:lnTo>
                <a:close/>
              </a:path>
            </a:pathLst>
          </a:custGeom>
          <a:solidFill>
            <a:srgbClr val="f2c8ad"/>
          </a:solidFill>
          <a:ln w="6191">
            <a:solidFill>
              <a:srgbClr val="b7633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14" name="สวนหลวง"/>
          <p:cNvSpPr/>
          <p:nvPr/>
        </p:nvSpPr>
        <p:spPr>
          <a:xfrm>
            <a:off x="4713840" y="5142600"/>
            <a:ext cx="14760" cy="20880"/>
          </a:xfrm>
          <a:custGeom>
            <a:avLst/>
            <a:gdLst/>
            <a:ahLst/>
            <a:rect l="l" t="t" r="r" b="b"/>
            <a:pathLst>
              <a:path w="15087" h="21325">
                <a:moveTo>
                  <a:pt x="7184" y="18366"/>
                </a:moveTo>
                <a:lnTo>
                  <a:pt x="8861" y="21325"/>
                </a:lnTo>
                <a:lnTo>
                  <a:pt x="15087" y="10108"/>
                </a:lnTo>
                <a:lnTo>
                  <a:pt x="7783" y="0"/>
                </a:lnTo>
                <a:lnTo>
                  <a:pt x="4670" y="9615"/>
                </a:lnTo>
                <a:lnTo>
                  <a:pt x="3951" y="11217"/>
                </a:lnTo>
                <a:lnTo>
                  <a:pt x="2754" y="10477"/>
                </a:lnTo>
                <a:lnTo>
                  <a:pt x="3233" y="11710"/>
                </a:lnTo>
                <a:lnTo>
                  <a:pt x="0" y="16887"/>
                </a:lnTo>
                <a:lnTo>
                  <a:pt x="1676" y="17997"/>
                </a:lnTo>
                <a:lnTo>
                  <a:pt x="4191" y="15038"/>
                </a:lnTo>
                <a:lnTo>
                  <a:pt x="7184" y="18366"/>
                </a:lnTo>
                <a:close/>
              </a:path>
            </a:pathLst>
          </a:custGeom>
          <a:solidFill>
            <a:srgbClr val="f2c8ad"/>
          </a:solidFill>
          <a:ln w="6191">
            <a:solidFill>
              <a:srgbClr val="b7633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15" name="สันติชนสงเคราะห์"/>
          <p:cNvSpPr/>
          <p:nvPr/>
        </p:nvSpPr>
        <p:spPr>
          <a:xfrm>
            <a:off x="4633560" y="5195520"/>
            <a:ext cx="65880" cy="48960"/>
          </a:xfrm>
          <a:custGeom>
            <a:avLst/>
            <a:gdLst/>
            <a:ahLst/>
            <a:rect l="l" t="t" r="r" b="b"/>
            <a:pathLst>
              <a:path w="66336" h="49429">
                <a:moveTo>
                  <a:pt x="42987" y="25146"/>
                </a:moveTo>
                <a:lnTo>
                  <a:pt x="38796" y="31432"/>
                </a:lnTo>
                <a:lnTo>
                  <a:pt x="33407" y="28721"/>
                </a:lnTo>
                <a:lnTo>
                  <a:pt x="19637" y="16641"/>
                </a:lnTo>
                <a:lnTo>
                  <a:pt x="30653" y="4684"/>
                </a:lnTo>
                <a:lnTo>
                  <a:pt x="29815" y="3698"/>
                </a:lnTo>
                <a:lnTo>
                  <a:pt x="21912" y="12080"/>
                </a:lnTo>
                <a:lnTo>
                  <a:pt x="9579" y="0"/>
                </a:lnTo>
                <a:lnTo>
                  <a:pt x="0" y="11957"/>
                </a:lnTo>
                <a:lnTo>
                  <a:pt x="13650" y="24406"/>
                </a:lnTo>
                <a:lnTo>
                  <a:pt x="34605" y="38828"/>
                </a:lnTo>
                <a:lnTo>
                  <a:pt x="61427" y="49429"/>
                </a:lnTo>
                <a:lnTo>
                  <a:pt x="66336" y="32419"/>
                </a:lnTo>
                <a:lnTo>
                  <a:pt x="56637" y="30323"/>
                </a:lnTo>
                <a:lnTo>
                  <a:pt x="57954" y="26379"/>
                </a:lnTo>
                <a:lnTo>
                  <a:pt x="56996" y="25762"/>
                </a:lnTo>
                <a:lnTo>
                  <a:pt x="55799" y="26995"/>
                </a:lnTo>
                <a:lnTo>
                  <a:pt x="53404" y="25393"/>
                </a:lnTo>
                <a:lnTo>
                  <a:pt x="51728" y="27735"/>
                </a:lnTo>
                <a:lnTo>
                  <a:pt x="48614" y="25762"/>
                </a:lnTo>
                <a:lnTo>
                  <a:pt x="47417" y="27735"/>
                </a:lnTo>
                <a:lnTo>
                  <a:pt x="42987" y="25146"/>
                </a:lnTo>
                <a:close/>
              </a:path>
            </a:pathLst>
          </a:custGeom>
          <a:solidFill>
            <a:srgbClr val="f2c8ad"/>
          </a:solidFill>
          <a:ln w="6191">
            <a:solidFill>
              <a:srgbClr val="b7633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16" name="มัสยิดหลวงอันซอริซซุนนะห์"/>
          <p:cNvSpPr/>
          <p:nvPr/>
        </p:nvSpPr>
        <p:spPr>
          <a:xfrm>
            <a:off x="4731480" y="5228640"/>
            <a:ext cx="17280" cy="17280"/>
          </a:xfrm>
          <a:custGeom>
            <a:avLst/>
            <a:gdLst/>
            <a:ahLst/>
            <a:rect l="l" t="t" r="r" b="b"/>
            <a:pathLst>
              <a:path w="17602" h="17750">
                <a:moveTo>
                  <a:pt x="359" y="5670"/>
                </a:moveTo>
                <a:lnTo>
                  <a:pt x="0" y="17380"/>
                </a:lnTo>
                <a:lnTo>
                  <a:pt x="17003" y="17750"/>
                </a:lnTo>
                <a:lnTo>
                  <a:pt x="17602" y="13806"/>
                </a:lnTo>
                <a:lnTo>
                  <a:pt x="15087" y="13313"/>
                </a:lnTo>
                <a:lnTo>
                  <a:pt x="15087" y="0"/>
                </a:lnTo>
                <a:lnTo>
                  <a:pt x="2036" y="370"/>
                </a:lnTo>
                <a:lnTo>
                  <a:pt x="359" y="5670"/>
                </a:lnTo>
                <a:close/>
              </a:path>
            </a:pathLst>
          </a:custGeom>
          <a:solidFill>
            <a:srgbClr val="f2c8ad"/>
          </a:solidFill>
          <a:ln w="6191">
            <a:solidFill>
              <a:srgbClr val="b7633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17" name="ชุมชนรุ่งเรืองตอนปลาย"/>
          <p:cNvSpPr/>
          <p:nvPr/>
        </p:nvSpPr>
        <p:spPr>
          <a:xfrm>
            <a:off x="5835600" y="4808160"/>
            <a:ext cx="19080" cy="15120"/>
          </a:xfrm>
          <a:custGeom>
            <a:avLst/>
            <a:gdLst/>
            <a:ahLst/>
            <a:rect l="l" t="t" r="r" b="b"/>
            <a:pathLst>
              <a:path w="19518" h="15408">
                <a:moveTo>
                  <a:pt x="0" y="3328"/>
                </a:moveTo>
                <a:lnTo>
                  <a:pt x="1078" y="9122"/>
                </a:lnTo>
                <a:lnTo>
                  <a:pt x="2155" y="8998"/>
                </a:lnTo>
                <a:lnTo>
                  <a:pt x="2874" y="12450"/>
                </a:lnTo>
                <a:lnTo>
                  <a:pt x="4790" y="12080"/>
                </a:lnTo>
                <a:lnTo>
                  <a:pt x="5269" y="13682"/>
                </a:lnTo>
                <a:lnTo>
                  <a:pt x="10657" y="12326"/>
                </a:lnTo>
                <a:lnTo>
                  <a:pt x="11136" y="14915"/>
                </a:lnTo>
                <a:lnTo>
                  <a:pt x="15566" y="15408"/>
                </a:lnTo>
                <a:lnTo>
                  <a:pt x="13411" y="10477"/>
                </a:lnTo>
                <a:lnTo>
                  <a:pt x="17602" y="9615"/>
                </a:lnTo>
                <a:lnTo>
                  <a:pt x="18200" y="12450"/>
                </a:lnTo>
                <a:lnTo>
                  <a:pt x="19518" y="12203"/>
                </a:lnTo>
                <a:lnTo>
                  <a:pt x="17243" y="0"/>
                </a:lnTo>
                <a:lnTo>
                  <a:pt x="0" y="3328"/>
                </a:lnTo>
                <a:close/>
              </a:path>
            </a:pathLst>
          </a:custGeom>
          <a:solidFill>
            <a:srgbClr val="f2c8ad"/>
          </a:solidFill>
          <a:ln w="6191">
            <a:solidFill>
              <a:srgbClr val="b7633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18" name="ชุมชนร่วมใจพิบูล 2"/>
          <p:cNvSpPr/>
          <p:nvPr/>
        </p:nvSpPr>
        <p:spPr>
          <a:xfrm>
            <a:off x="5971320" y="4802040"/>
            <a:ext cx="14400" cy="104760"/>
          </a:xfrm>
          <a:custGeom>
            <a:avLst/>
            <a:gdLst/>
            <a:ahLst/>
            <a:rect l="l" t="t" r="r" b="b"/>
            <a:pathLst>
              <a:path w="14848" h="105145">
                <a:moveTo>
                  <a:pt x="359" y="0"/>
                </a:moveTo>
                <a:lnTo>
                  <a:pt x="2634" y="25886"/>
                </a:lnTo>
                <a:lnTo>
                  <a:pt x="0" y="31432"/>
                </a:lnTo>
                <a:lnTo>
                  <a:pt x="2275" y="31679"/>
                </a:lnTo>
                <a:lnTo>
                  <a:pt x="3113" y="39321"/>
                </a:lnTo>
                <a:lnTo>
                  <a:pt x="1557" y="46841"/>
                </a:lnTo>
                <a:lnTo>
                  <a:pt x="1796" y="57195"/>
                </a:lnTo>
                <a:lnTo>
                  <a:pt x="6346" y="88258"/>
                </a:lnTo>
                <a:lnTo>
                  <a:pt x="7783" y="88997"/>
                </a:lnTo>
                <a:lnTo>
                  <a:pt x="10298" y="97379"/>
                </a:lnTo>
                <a:lnTo>
                  <a:pt x="11136" y="104775"/>
                </a:lnTo>
                <a:lnTo>
                  <a:pt x="14848" y="105145"/>
                </a:lnTo>
                <a:lnTo>
                  <a:pt x="6705" y="68535"/>
                </a:lnTo>
                <a:lnTo>
                  <a:pt x="4550" y="6410"/>
                </a:lnTo>
                <a:lnTo>
                  <a:pt x="3592" y="2096"/>
                </a:lnTo>
                <a:lnTo>
                  <a:pt x="359" y="0"/>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19" name="ชุมชนริมคลองบางซื่อลาดพร้าว 34"/>
          <p:cNvSpPr/>
          <p:nvPr/>
        </p:nvSpPr>
        <p:spPr>
          <a:xfrm>
            <a:off x="5820840" y="4802760"/>
            <a:ext cx="23400" cy="9720"/>
          </a:xfrm>
          <a:custGeom>
            <a:avLst/>
            <a:gdLst/>
            <a:ahLst/>
            <a:rect l="l" t="t" r="r" b="b"/>
            <a:pathLst>
              <a:path w="23708" h="9984">
                <a:moveTo>
                  <a:pt x="21314" y="493"/>
                </a:moveTo>
                <a:lnTo>
                  <a:pt x="1078" y="2342"/>
                </a:lnTo>
                <a:lnTo>
                  <a:pt x="0" y="3821"/>
                </a:lnTo>
                <a:lnTo>
                  <a:pt x="599" y="9984"/>
                </a:lnTo>
                <a:lnTo>
                  <a:pt x="23708" y="5547"/>
                </a:lnTo>
                <a:lnTo>
                  <a:pt x="22870" y="0"/>
                </a:lnTo>
                <a:lnTo>
                  <a:pt x="21314" y="493"/>
                </a:lnTo>
                <a:close/>
              </a:path>
            </a:pathLst>
          </a:custGeom>
          <a:solidFill>
            <a:srgbClr val="f2c8ad"/>
          </a:solidFill>
          <a:ln w="6191">
            <a:solidFill>
              <a:srgbClr val="b7633d"/>
            </a:solidFill>
            <a:round/>
          </a:ln>
        </p:spPr>
        <p:style>
          <a:lnRef idx="0"/>
          <a:fillRef idx="0"/>
          <a:effectRef idx="0"/>
          <a:fontRef idx="minor"/>
        </p:style>
        <p:txBody>
          <a:bodyPr lIns="90000" rIns="90000" tIns="-35280" bIns="-35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20" name="ริมคลองบางซื่อลาดพร้าว 42-44"/>
          <p:cNvSpPr/>
          <p:nvPr/>
        </p:nvSpPr>
        <p:spPr>
          <a:xfrm>
            <a:off x="5848200" y="4789800"/>
            <a:ext cx="63000" cy="16560"/>
          </a:xfrm>
          <a:custGeom>
            <a:avLst/>
            <a:gdLst/>
            <a:ahLst/>
            <a:rect l="l" t="t" r="r" b="b"/>
            <a:pathLst>
              <a:path w="63223" h="16887">
                <a:moveTo>
                  <a:pt x="40352" y="5300"/>
                </a:moveTo>
                <a:lnTo>
                  <a:pt x="0" y="13313"/>
                </a:lnTo>
                <a:lnTo>
                  <a:pt x="1557" y="16887"/>
                </a:lnTo>
                <a:lnTo>
                  <a:pt x="63223" y="4438"/>
                </a:lnTo>
                <a:lnTo>
                  <a:pt x="62265" y="0"/>
                </a:lnTo>
                <a:lnTo>
                  <a:pt x="40352" y="5300"/>
                </a:lnTo>
                <a:close/>
              </a:path>
            </a:pathLst>
          </a:custGeom>
          <a:solidFill>
            <a:srgbClr val="f2c8ad"/>
          </a:solidFill>
          <a:ln w="6191">
            <a:solidFill>
              <a:srgbClr val="b7633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21" name="ชุมชนริมคลองบางซื่อลาดพร้าว46"/>
          <p:cNvSpPr/>
          <p:nvPr/>
        </p:nvSpPr>
        <p:spPr>
          <a:xfrm>
            <a:off x="5910480" y="4782960"/>
            <a:ext cx="32400" cy="10080"/>
          </a:xfrm>
          <a:custGeom>
            <a:avLst/>
            <a:gdLst/>
            <a:ahLst/>
            <a:rect l="l" t="t" r="r" b="b"/>
            <a:pathLst>
              <a:path w="32928" h="10601">
                <a:moveTo>
                  <a:pt x="32928" y="2958"/>
                </a:moveTo>
                <a:lnTo>
                  <a:pt x="27780" y="0"/>
                </a:lnTo>
                <a:lnTo>
                  <a:pt x="0" y="6163"/>
                </a:lnTo>
                <a:lnTo>
                  <a:pt x="958" y="10601"/>
                </a:lnTo>
                <a:lnTo>
                  <a:pt x="32928" y="2958"/>
                </a:lnTo>
                <a:close/>
              </a:path>
            </a:pathLst>
          </a:custGeom>
          <a:solidFill>
            <a:srgbClr val="f2c8ad"/>
          </a:solidFill>
          <a:ln w="6191">
            <a:solidFill>
              <a:srgbClr val="b7633d"/>
            </a:solidFill>
            <a:round/>
          </a:ln>
        </p:spPr>
        <p:style>
          <a:lnRef idx="0"/>
          <a:fillRef idx="0"/>
          <a:effectRef idx="0"/>
          <a:fontRef idx="minor"/>
        </p:style>
        <p:txBody>
          <a:bodyPr lIns="90000" rIns="90000" tIns="-34920" bIns="-34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22" name="ริมคลองลาดพร้าวประชาอุทิศ"/>
          <p:cNvSpPr/>
          <p:nvPr/>
        </p:nvSpPr>
        <p:spPr>
          <a:xfrm>
            <a:off x="6025320" y="5154840"/>
            <a:ext cx="16560" cy="60480"/>
          </a:xfrm>
          <a:custGeom>
            <a:avLst/>
            <a:gdLst/>
            <a:ahLst/>
            <a:rect l="l" t="t" r="r" b="b"/>
            <a:pathLst>
              <a:path w="16764" h="60769">
                <a:moveTo>
                  <a:pt x="0" y="0"/>
                </a:moveTo>
                <a:lnTo>
                  <a:pt x="8741" y="21818"/>
                </a:lnTo>
                <a:lnTo>
                  <a:pt x="12573" y="36486"/>
                </a:lnTo>
                <a:lnTo>
                  <a:pt x="12453" y="60769"/>
                </a:lnTo>
                <a:lnTo>
                  <a:pt x="15686" y="60523"/>
                </a:lnTo>
                <a:lnTo>
                  <a:pt x="15686" y="44005"/>
                </a:lnTo>
                <a:lnTo>
                  <a:pt x="16764" y="43882"/>
                </a:lnTo>
                <a:lnTo>
                  <a:pt x="14249" y="29707"/>
                </a:lnTo>
                <a:lnTo>
                  <a:pt x="4790" y="2835"/>
                </a:lnTo>
                <a:lnTo>
                  <a:pt x="0" y="0"/>
                </a:lnTo>
                <a:close/>
              </a:path>
            </a:pathLst>
          </a:custGeom>
          <a:solidFill>
            <a:srgbClr val="f2c8ad"/>
          </a:solidFill>
          <a:ln w="6191">
            <a:solidFill>
              <a:srgbClr val="b7633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23" name="ชุมชนริมคลองบางซื่อลาดพร้าว 45"/>
          <p:cNvSpPr/>
          <p:nvPr/>
        </p:nvSpPr>
        <p:spPr>
          <a:xfrm>
            <a:off x="5942880" y="4732920"/>
            <a:ext cx="31320" cy="67320"/>
          </a:xfrm>
          <a:custGeom>
            <a:avLst/>
            <a:gdLst/>
            <a:ahLst/>
            <a:rect l="l" t="t" r="r" b="b"/>
            <a:pathLst>
              <a:path w="31611" h="67796">
                <a:moveTo>
                  <a:pt x="26822" y="34884"/>
                </a:moveTo>
                <a:lnTo>
                  <a:pt x="26223" y="42650"/>
                </a:lnTo>
                <a:lnTo>
                  <a:pt x="21553" y="42526"/>
                </a:lnTo>
                <a:lnTo>
                  <a:pt x="16165" y="44868"/>
                </a:lnTo>
                <a:lnTo>
                  <a:pt x="11974" y="43882"/>
                </a:lnTo>
                <a:lnTo>
                  <a:pt x="11854" y="46101"/>
                </a:lnTo>
                <a:lnTo>
                  <a:pt x="8621" y="46964"/>
                </a:lnTo>
                <a:lnTo>
                  <a:pt x="6107" y="45485"/>
                </a:lnTo>
                <a:lnTo>
                  <a:pt x="4191" y="48073"/>
                </a:lnTo>
                <a:lnTo>
                  <a:pt x="0" y="49429"/>
                </a:lnTo>
                <a:lnTo>
                  <a:pt x="4071" y="51894"/>
                </a:lnTo>
                <a:lnTo>
                  <a:pt x="27780" y="47457"/>
                </a:lnTo>
                <a:lnTo>
                  <a:pt x="28498" y="65577"/>
                </a:lnTo>
                <a:lnTo>
                  <a:pt x="31611" y="67796"/>
                </a:lnTo>
                <a:lnTo>
                  <a:pt x="29815" y="45238"/>
                </a:lnTo>
                <a:lnTo>
                  <a:pt x="30294" y="31679"/>
                </a:lnTo>
                <a:lnTo>
                  <a:pt x="26343" y="15408"/>
                </a:lnTo>
                <a:lnTo>
                  <a:pt x="20835" y="740"/>
                </a:lnTo>
                <a:lnTo>
                  <a:pt x="18200" y="0"/>
                </a:lnTo>
                <a:lnTo>
                  <a:pt x="24786" y="19969"/>
                </a:lnTo>
                <a:lnTo>
                  <a:pt x="26822" y="34884"/>
                </a:lnTo>
                <a:close/>
              </a:path>
            </a:pathLst>
          </a:custGeom>
          <a:solidFill>
            <a:srgbClr val="f2c8ad"/>
          </a:solidFill>
          <a:ln w="6191">
            <a:solidFill>
              <a:srgbClr val="b7633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24" name="หลังวัดกาญจนสิงหาสน์"/>
          <p:cNvSpPr/>
          <p:nvPr/>
        </p:nvSpPr>
        <p:spPr>
          <a:xfrm>
            <a:off x="4350240" y="5256720"/>
            <a:ext cx="29160" cy="14040"/>
          </a:xfrm>
          <a:custGeom>
            <a:avLst/>
            <a:gdLst/>
            <a:ahLst/>
            <a:rect l="l" t="t" r="r" b="b"/>
            <a:pathLst>
              <a:path w="29695" h="14422">
                <a:moveTo>
                  <a:pt x="9340" y="2958"/>
                </a:moveTo>
                <a:lnTo>
                  <a:pt x="9819" y="8752"/>
                </a:lnTo>
                <a:lnTo>
                  <a:pt x="11136" y="11094"/>
                </a:lnTo>
                <a:lnTo>
                  <a:pt x="13531" y="11094"/>
                </a:lnTo>
                <a:lnTo>
                  <a:pt x="14249" y="14422"/>
                </a:lnTo>
                <a:lnTo>
                  <a:pt x="29695" y="9245"/>
                </a:lnTo>
                <a:lnTo>
                  <a:pt x="28019" y="3082"/>
                </a:lnTo>
                <a:lnTo>
                  <a:pt x="23948" y="1356"/>
                </a:lnTo>
                <a:lnTo>
                  <a:pt x="12573" y="3575"/>
                </a:lnTo>
                <a:lnTo>
                  <a:pt x="11974" y="0"/>
                </a:lnTo>
                <a:lnTo>
                  <a:pt x="120" y="370"/>
                </a:lnTo>
                <a:lnTo>
                  <a:pt x="0" y="2342"/>
                </a:lnTo>
                <a:lnTo>
                  <a:pt x="9340" y="2958"/>
                </a:lnTo>
                <a:close/>
              </a:path>
            </a:pathLst>
          </a:custGeom>
          <a:solidFill>
            <a:srgbClr val="f2c8ad"/>
          </a:solidFill>
          <a:ln w="6191">
            <a:solidFill>
              <a:srgbClr val="b7633d"/>
            </a:solidFill>
            <a:round/>
          </a:ln>
        </p:spPr>
        <p:style>
          <a:lnRef idx="0"/>
          <a:fillRef idx="0"/>
          <a:effectRef idx="0"/>
          <a:fontRef idx="minor"/>
        </p:style>
        <p:txBody>
          <a:bodyPr lIns="90000" rIns="90000" tIns="-30960" bIns="-30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25" name="วัดชัยพฤกษมาลา"/>
          <p:cNvSpPr/>
          <p:nvPr/>
        </p:nvSpPr>
        <p:spPr>
          <a:xfrm>
            <a:off x="4492440" y="4816080"/>
            <a:ext cx="49320" cy="34920"/>
          </a:xfrm>
          <a:custGeom>
            <a:avLst/>
            <a:gdLst/>
            <a:ahLst/>
            <a:rect l="l" t="t" r="r" b="b"/>
            <a:pathLst>
              <a:path w="49572" h="35254">
                <a:moveTo>
                  <a:pt x="0" y="20092"/>
                </a:moveTo>
                <a:lnTo>
                  <a:pt x="39993" y="35254"/>
                </a:lnTo>
                <a:lnTo>
                  <a:pt x="46220" y="28474"/>
                </a:lnTo>
                <a:lnTo>
                  <a:pt x="49572" y="20215"/>
                </a:lnTo>
                <a:lnTo>
                  <a:pt x="5748" y="0"/>
                </a:lnTo>
                <a:lnTo>
                  <a:pt x="1317" y="11464"/>
                </a:lnTo>
                <a:lnTo>
                  <a:pt x="2395" y="12820"/>
                </a:lnTo>
                <a:lnTo>
                  <a:pt x="0" y="20092"/>
                </a:lnTo>
                <a:close/>
              </a:path>
            </a:pathLst>
          </a:custGeom>
          <a:solidFill>
            <a:srgbClr val="f2c8ad"/>
          </a:solidFill>
          <a:ln w="6191">
            <a:solidFill>
              <a:srgbClr val="b7633d"/>
            </a:solidFill>
            <a:round/>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26" name="สะพานผัก-คลองศาลเจ้า"/>
          <p:cNvSpPr/>
          <p:nvPr/>
        </p:nvSpPr>
        <p:spPr>
          <a:xfrm>
            <a:off x="4198320" y="4800960"/>
            <a:ext cx="54720" cy="33120"/>
          </a:xfrm>
          <a:custGeom>
            <a:avLst/>
            <a:gdLst/>
            <a:ahLst/>
            <a:rect l="l" t="t" r="r" b="b"/>
            <a:pathLst>
              <a:path w="55080" h="33528">
                <a:moveTo>
                  <a:pt x="16644" y="10231"/>
                </a:moveTo>
                <a:lnTo>
                  <a:pt x="5867" y="10231"/>
                </a:lnTo>
                <a:lnTo>
                  <a:pt x="3832" y="1356"/>
                </a:lnTo>
                <a:lnTo>
                  <a:pt x="0" y="0"/>
                </a:lnTo>
                <a:lnTo>
                  <a:pt x="479" y="6533"/>
                </a:lnTo>
                <a:lnTo>
                  <a:pt x="3233" y="7396"/>
                </a:lnTo>
                <a:lnTo>
                  <a:pt x="4670" y="13189"/>
                </a:lnTo>
                <a:lnTo>
                  <a:pt x="5029" y="28721"/>
                </a:lnTo>
                <a:lnTo>
                  <a:pt x="39514" y="29214"/>
                </a:lnTo>
                <a:lnTo>
                  <a:pt x="45142" y="31186"/>
                </a:lnTo>
                <a:lnTo>
                  <a:pt x="47058" y="33528"/>
                </a:lnTo>
                <a:lnTo>
                  <a:pt x="49812" y="33281"/>
                </a:lnTo>
                <a:lnTo>
                  <a:pt x="49932" y="29214"/>
                </a:lnTo>
                <a:lnTo>
                  <a:pt x="52686" y="29214"/>
                </a:lnTo>
                <a:lnTo>
                  <a:pt x="54961" y="24283"/>
                </a:lnTo>
                <a:lnTo>
                  <a:pt x="53883" y="18366"/>
                </a:lnTo>
                <a:lnTo>
                  <a:pt x="55080" y="740"/>
                </a:lnTo>
                <a:lnTo>
                  <a:pt x="44423" y="493"/>
                </a:lnTo>
                <a:lnTo>
                  <a:pt x="44064" y="11833"/>
                </a:lnTo>
                <a:lnTo>
                  <a:pt x="16644" y="10231"/>
                </a:lnTo>
                <a:close/>
              </a:path>
            </a:pathLst>
          </a:custGeom>
          <a:solidFill>
            <a:srgbClr val="f2c8ad"/>
          </a:solidFill>
          <a:ln w="6191">
            <a:solidFill>
              <a:srgbClr val="b7633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27" name="หลังวัดรัชฎาธิษฐาน(วัดเงิน)"/>
          <p:cNvSpPr/>
          <p:nvPr/>
        </p:nvSpPr>
        <p:spPr>
          <a:xfrm>
            <a:off x="4349520" y="5269320"/>
            <a:ext cx="29160" cy="33120"/>
          </a:xfrm>
          <a:custGeom>
            <a:avLst/>
            <a:gdLst/>
            <a:ahLst/>
            <a:rect l="l" t="t" r="r" b="b"/>
            <a:pathLst>
              <a:path w="29576" h="33405">
                <a:moveTo>
                  <a:pt x="0" y="2958"/>
                </a:moveTo>
                <a:lnTo>
                  <a:pt x="5149" y="4438"/>
                </a:lnTo>
                <a:lnTo>
                  <a:pt x="5628" y="8998"/>
                </a:lnTo>
                <a:lnTo>
                  <a:pt x="1078" y="11587"/>
                </a:lnTo>
                <a:lnTo>
                  <a:pt x="2874" y="17750"/>
                </a:lnTo>
                <a:lnTo>
                  <a:pt x="6825" y="18983"/>
                </a:lnTo>
                <a:lnTo>
                  <a:pt x="10896" y="33405"/>
                </a:lnTo>
                <a:lnTo>
                  <a:pt x="22152" y="31186"/>
                </a:lnTo>
                <a:lnTo>
                  <a:pt x="19039" y="19106"/>
                </a:lnTo>
                <a:lnTo>
                  <a:pt x="29576" y="17504"/>
                </a:lnTo>
                <a:lnTo>
                  <a:pt x="25864" y="0"/>
                </a:lnTo>
                <a:lnTo>
                  <a:pt x="6466" y="3821"/>
                </a:lnTo>
                <a:lnTo>
                  <a:pt x="120" y="986"/>
                </a:lnTo>
                <a:lnTo>
                  <a:pt x="0" y="2958"/>
                </a:lnTo>
                <a:close/>
              </a:path>
            </a:pathLst>
          </a:custGeom>
          <a:solidFill>
            <a:srgbClr val="f2c8ad"/>
          </a:solidFill>
          <a:ln w="6191">
            <a:solidFill>
              <a:srgbClr val="b7633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28" name="วัดมะกอก"/>
          <p:cNvSpPr/>
          <p:nvPr/>
        </p:nvSpPr>
        <p:spPr>
          <a:xfrm>
            <a:off x="4032360" y="5047560"/>
            <a:ext cx="16920" cy="24120"/>
          </a:xfrm>
          <a:custGeom>
            <a:avLst/>
            <a:gdLst/>
            <a:ahLst/>
            <a:rect l="l" t="t" r="r" b="b"/>
            <a:pathLst>
              <a:path w="17123" h="24653">
                <a:moveTo>
                  <a:pt x="239" y="0"/>
                </a:moveTo>
                <a:lnTo>
                  <a:pt x="0" y="22188"/>
                </a:lnTo>
                <a:lnTo>
                  <a:pt x="9579" y="24653"/>
                </a:lnTo>
                <a:lnTo>
                  <a:pt x="17123" y="6410"/>
                </a:lnTo>
                <a:lnTo>
                  <a:pt x="8142" y="247"/>
                </a:lnTo>
                <a:lnTo>
                  <a:pt x="239" y="0"/>
                </a:lnTo>
                <a:close/>
              </a:path>
            </a:pathLst>
          </a:custGeom>
          <a:solidFill>
            <a:srgbClr val="f2c8ad"/>
          </a:solidFill>
          <a:ln w="6191">
            <a:solidFill>
              <a:srgbClr val="b7633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29" name="สุดสาคร"/>
          <p:cNvSpPr/>
          <p:nvPr/>
        </p:nvSpPr>
        <p:spPr>
          <a:xfrm>
            <a:off x="4566960" y="5273280"/>
            <a:ext cx="37440" cy="46800"/>
          </a:xfrm>
          <a:custGeom>
            <a:avLst/>
            <a:gdLst/>
            <a:ahLst/>
            <a:rect l="l" t="t" r="r" b="b"/>
            <a:pathLst>
              <a:path w="37718" h="47087">
                <a:moveTo>
                  <a:pt x="11974" y="44992"/>
                </a:moveTo>
                <a:lnTo>
                  <a:pt x="15446" y="45238"/>
                </a:lnTo>
                <a:lnTo>
                  <a:pt x="15925" y="47087"/>
                </a:lnTo>
                <a:lnTo>
                  <a:pt x="19997" y="46471"/>
                </a:lnTo>
                <a:lnTo>
                  <a:pt x="18440" y="43389"/>
                </a:lnTo>
                <a:lnTo>
                  <a:pt x="37718" y="18983"/>
                </a:lnTo>
                <a:lnTo>
                  <a:pt x="24307" y="0"/>
                </a:lnTo>
                <a:lnTo>
                  <a:pt x="6226" y="20092"/>
                </a:lnTo>
                <a:lnTo>
                  <a:pt x="0" y="24899"/>
                </a:lnTo>
                <a:lnTo>
                  <a:pt x="4909" y="33281"/>
                </a:lnTo>
                <a:lnTo>
                  <a:pt x="3472" y="33898"/>
                </a:lnTo>
                <a:lnTo>
                  <a:pt x="5269" y="37103"/>
                </a:lnTo>
                <a:lnTo>
                  <a:pt x="12094" y="39445"/>
                </a:lnTo>
                <a:lnTo>
                  <a:pt x="11974" y="44992"/>
                </a:lnTo>
                <a:close/>
              </a:path>
            </a:pathLst>
          </a:custGeom>
          <a:solidFill>
            <a:srgbClr val="f2c8ad"/>
          </a:solidFill>
          <a:ln w="6191">
            <a:solidFill>
              <a:srgbClr val="b7633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30" name="ชวนชื่น"/>
          <p:cNvSpPr/>
          <p:nvPr/>
        </p:nvSpPr>
        <p:spPr>
          <a:xfrm>
            <a:off x="4502160" y="5110560"/>
            <a:ext cx="18720" cy="46800"/>
          </a:xfrm>
          <a:custGeom>
            <a:avLst/>
            <a:gdLst/>
            <a:ahLst/>
            <a:rect l="l" t="t" r="r" b="b"/>
            <a:pathLst>
              <a:path w="18919" h="47087">
                <a:moveTo>
                  <a:pt x="18320" y="33528"/>
                </a:moveTo>
                <a:lnTo>
                  <a:pt x="7184" y="13806"/>
                </a:lnTo>
                <a:lnTo>
                  <a:pt x="6945" y="7642"/>
                </a:lnTo>
                <a:lnTo>
                  <a:pt x="16285" y="11217"/>
                </a:lnTo>
                <a:lnTo>
                  <a:pt x="18919" y="6903"/>
                </a:lnTo>
                <a:lnTo>
                  <a:pt x="16045" y="4314"/>
                </a:lnTo>
                <a:lnTo>
                  <a:pt x="13531" y="7519"/>
                </a:lnTo>
                <a:lnTo>
                  <a:pt x="9579" y="5917"/>
                </a:lnTo>
                <a:lnTo>
                  <a:pt x="11854" y="1849"/>
                </a:lnTo>
                <a:lnTo>
                  <a:pt x="7184" y="0"/>
                </a:lnTo>
                <a:lnTo>
                  <a:pt x="4670" y="8998"/>
                </a:lnTo>
                <a:lnTo>
                  <a:pt x="239" y="9615"/>
                </a:lnTo>
                <a:lnTo>
                  <a:pt x="0" y="15655"/>
                </a:lnTo>
                <a:lnTo>
                  <a:pt x="3712" y="28351"/>
                </a:lnTo>
                <a:lnTo>
                  <a:pt x="8741" y="36979"/>
                </a:lnTo>
                <a:lnTo>
                  <a:pt x="10777" y="44129"/>
                </a:lnTo>
                <a:lnTo>
                  <a:pt x="8741" y="45608"/>
                </a:lnTo>
                <a:lnTo>
                  <a:pt x="9938" y="47087"/>
                </a:lnTo>
                <a:lnTo>
                  <a:pt x="13411" y="45238"/>
                </a:lnTo>
                <a:lnTo>
                  <a:pt x="12692" y="36856"/>
                </a:lnTo>
                <a:lnTo>
                  <a:pt x="18320" y="33528"/>
                </a:lnTo>
                <a:close/>
              </a:path>
            </a:pathLst>
          </a:custGeom>
          <a:solidFill>
            <a:srgbClr val="f2c8ad"/>
          </a:solidFill>
          <a:ln w="6191">
            <a:solidFill>
              <a:srgbClr val="b7633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31" name="วัดใหม่ยายแป้น"/>
          <p:cNvSpPr/>
          <p:nvPr/>
        </p:nvSpPr>
        <p:spPr>
          <a:xfrm>
            <a:off x="4584960" y="5176800"/>
            <a:ext cx="25200" cy="34560"/>
          </a:xfrm>
          <a:custGeom>
            <a:avLst/>
            <a:gdLst/>
            <a:ahLst/>
            <a:rect l="l" t="t" r="r" b="b"/>
            <a:pathLst>
              <a:path w="25385" h="35007">
                <a:moveTo>
                  <a:pt x="9220" y="35007"/>
                </a:moveTo>
                <a:lnTo>
                  <a:pt x="18679" y="20462"/>
                </a:lnTo>
                <a:lnTo>
                  <a:pt x="21314" y="23051"/>
                </a:lnTo>
                <a:lnTo>
                  <a:pt x="25385" y="18243"/>
                </a:lnTo>
                <a:lnTo>
                  <a:pt x="13650" y="7026"/>
                </a:lnTo>
                <a:lnTo>
                  <a:pt x="8861" y="0"/>
                </a:lnTo>
                <a:lnTo>
                  <a:pt x="5388" y="3944"/>
                </a:lnTo>
                <a:lnTo>
                  <a:pt x="8861" y="7149"/>
                </a:lnTo>
                <a:lnTo>
                  <a:pt x="3353" y="16271"/>
                </a:lnTo>
                <a:lnTo>
                  <a:pt x="4909" y="17504"/>
                </a:lnTo>
                <a:lnTo>
                  <a:pt x="3113" y="19476"/>
                </a:lnTo>
                <a:lnTo>
                  <a:pt x="3353" y="22434"/>
                </a:lnTo>
                <a:lnTo>
                  <a:pt x="0" y="24530"/>
                </a:lnTo>
                <a:lnTo>
                  <a:pt x="9220" y="35007"/>
                </a:lnTo>
                <a:close/>
              </a:path>
            </a:pathLst>
          </a:custGeom>
          <a:solidFill>
            <a:srgbClr val="f2c8ad"/>
          </a:solidFill>
          <a:ln w="6191">
            <a:solidFill>
              <a:srgbClr val="b7633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32" name="ซอยประชาร่วมใจ"/>
          <p:cNvSpPr/>
          <p:nvPr/>
        </p:nvSpPr>
        <p:spPr>
          <a:xfrm>
            <a:off x="4455360" y="5398560"/>
            <a:ext cx="92880" cy="35640"/>
          </a:xfrm>
          <a:custGeom>
            <a:avLst/>
            <a:gdLst/>
            <a:ahLst/>
            <a:rect l="l" t="t" r="r" b="b"/>
            <a:pathLst>
              <a:path w="93158" h="35993">
                <a:moveTo>
                  <a:pt x="14369" y="10108"/>
                </a:moveTo>
                <a:lnTo>
                  <a:pt x="2155" y="10108"/>
                </a:lnTo>
                <a:lnTo>
                  <a:pt x="0" y="33405"/>
                </a:lnTo>
                <a:lnTo>
                  <a:pt x="12573" y="35993"/>
                </a:lnTo>
                <a:lnTo>
                  <a:pt x="41789" y="33528"/>
                </a:lnTo>
                <a:lnTo>
                  <a:pt x="70168" y="24037"/>
                </a:lnTo>
                <a:lnTo>
                  <a:pt x="93158" y="18243"/>
                </a:lnTo>
                <a:lnTo>
                  <a:pt x="91481" y="0"/>
                </a:lnTo>
                <a:lnTo>
                  <a:pt x="70287" y="2958"/>
                </a:lnTo>
                <a:lnTo>
                  <a:pt x="40233" y="10354"/>
                </a:lnTo>
                <a:lnTo>
                  <a:pt x="34844" y="10354"/>
                </a:lnTo>
                <a:lnTo>
                  <a:pt x="29815" y="6533"/>
                </a:lnTo>
                <a:lnTo>
                  <a:pt x="14369" y="10108"/>
                </a:lnTo>
                <a:close/>
              </a:path>
            </a:pathLst>
          </a:custGeom>
          <a:solidFill>
            <a:srgbClr val="f2c8ad"/>
          </a:solidFill>
          <a:ln w="6191">
            <a:solidFill>
              <a:srgbClr val="b7633d"/>
            </a:solidFill>
            <a:round/>
          </a:ln>
        </p:spPr>
        <p:style>
          <a:lnRef idx="0"/>
          <a:fillRef idx="0"/>
          <a:effectRef idx="0"/>
          <a:fontRef idx="minor"/>
        </p:style>
        <p:txBody>
          <a:bodyPr lIns="90000" rIns="90000" tIns="-9360" bIns="-9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33" name="ตรอกไผ่-วัดบางเสาธง"/>
          <p:cNvSpPr/>
          <p:nvPr/>
        </p:nvSpPr>
        <p:spPr>
          <a:xfrm>
            <a:off x="4454280" y="5416920"/>
            <a:ext cx="98640" cy="55440"/>
          </a:xfrm>
          <a:custGeom>
            <a:avLst/>
            <a:gdLst/>
            <a:ahLst/>
            <a:rect l="l" t="t" r="r" b="b"/>
            <a:pathLst>
              <a:path w="98905" h="55962">
                <a:moveTo>
                  <a:pt x="41550" y="50662"/>
                </a:moveTo>
                <a:lnTo>
                  <a:pt x="49093" y="55346"/>
                </a:lnTo>
                <a:lnTo>
                  <a:pt x="57715" y="55962"/>
                </a:lnTo>
                <a:lnTo>
                  <a:pt x="98905" y="54113"/>
                </a:lnTo>
                <a:lnTo>
                  <a:pt x="94116" y="0"/>
                </a:lnTo>
                <a:lnTo>
                  <a:pt x="69449" y="6286"/>
                </a:lnTo>
                <a:lnTo>
                  <a:pt x="42508" y="15531"/>
                </a:lnTo>
                <a:lnTo>
                  <a:pt x="13052" y="17873"/>
                </a:lnTo>
                <a:lnTo>
                  <a:pt x="239" y="15655"/>
                </a:lnTo>
                <a:lnTo>
                  <a:pt x="0" y="35007"/>
                </a:lnTo>
                <a:lnTo>
                  <a:pt x="2155" y="38952"/>
                </a:lnTo>
                <a:lnTo>
                  <a:pt x="10657" y="40801"/>
                </a:lnTo>
                <a:lnTo>
                  <a:pt x="28618" y="50539"/>
                </a:lnTo>
                <a:lnTo>
                  <a:pt x="32928" y="51648"/>
                </a:lnTo>
                <a:lnTo>
                  <a:pt x="34964" y="49799"/>
                </a:lnTo>
                <a:lnTo>
                  <a:pt x="41550" y="50662"/>
                </a:lnTo>
                <a:close/>
              </a:path>
            </a:pathLst>
          </a:custGeom>
          <a:solidFill>
            <a:srgbClr val="f2c8ad"/>
          </a:solidFill>
          <a:ln w="6191">
            <a:solidFill>
              <a:srgbClr val="b7633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34" name="ริมคลองบางกอกใหญ่"/>
          <p:cNvSpPr/>
          <p:nvPr/>
        </p:nvSpPr>
        <p:spPr>
          <a:xfrm>
            <a:off x="4448520" y="5490720"/>
            <a:ext cx="8280" cy="10080"/>
          </a:xfrm>
          <a:custGeom>
            <a:avLst/>
            <a:gdLst/>
            <a:ahLst/>
            <a:rect l="l" t="t" r="r" b="b"/>
            <a:pathLst>
              <a:path w="8741" h="10354">
                <a:moveTo>
                  <a:pt x="0" y="0"/>
                </a:moveTo>
                <a:lnTo>
                  <a:pt x="0" y="10354"/>
                </a:lnTo>
                <a:lnTo>
                  <a:pt x="7783" y="10231"/>
                </a:lnTo>
                <a:lnTo>
                  <a:pt x="8741" y="123"/>
                </a:lnTo>
                <a:lnTo>
                  <a:pt x="0" y="0"/>
                </a:lnTo>
                <a:close/>
              </a:path>
            </a:pathLst>
          </a:custGeom>
          <a:solidFill>
            <a:srgbClr val="f2c8ad"/>
          </a:solidFill>
          <a:ln w="6191">
            <a:solidFill>
              <a:srgbClr val="b7633d"/>
            </a:solidFill>
            <a:round/>
          </a:ln>
        </p:spPr>
        <p:style>
          <a:lnRef idx="0"/>
          <a:fillRef idx="0"/>
          <a:effectRef idx="0"/>
          <a:fontRef idx="minor"/>
        </p:style>
        <p:txBody>
          <a:bodyPr lIns="90000" rIns="90000" tIns="-34920" bIns="-34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35" name="ตรอกวังหลัง"/>
          <p:cNvSpPr/>
          <p:nvPr/>
        </p:nvSpPr>
        <p:spPr>
          <a:xfrm>
            <a:off x="4710600" y="5309640"/>
            <a:ext cx="40320" cy="30240"/>
          </a:xfrm>
          <a:custGeom>
            <a:avLst/>
            <a:gdLst/>
            <a:ahLst/>
            <a:rect l="l" t="t" r="r" b="b"/>
            <a:pathLst>
              <a:path w="40592" h="30446">
                <a:moveTo>
                  <a:pt x="0" y="3205"/>
                </a:moveTo>
                <a:lnTo>
                  <a:pt x="1916" y="24530"/>
                </a:lnTo>
                <a:lnTo>
                  <a:pt x="35802" y="30446"/>
                </a:lnTo>
                <a:lnTo>
                  <a:pt x="35802" y="28967"/>
                </a:lnTo>
                <a:lnTo>
                  <a:pt x="37239" y="28967"/>
                </a:lnTo>
                <a:lnTo>
                  <a:pt x="40592" y="0"/>
                </a:lnTo>
                <a:lnTo>
                  <a:pt x="0" y="3205"/>
                </a:lnTo>
                <a:close/>
              </a:path>
            </a:pathLst>
          </a:custGeom>
          <a:solidFill>
            <a:srgbClr val="f2c8ad"/>
          </a:solidFill>
          <a:ln w="6191">
            <a:solidFill>
              <a:srgbClr val="b7633d"/>
            </a:solidFill>
            <a:round/>
          </a:ln>
        </p:spPr>
        <p:style>
          <a:lnRef idx="0"/>
          <a:fillRef idx="0"/>
          <a:effectRef idx="0"/>
          <a:fontRef idx="minor"/>
        </p:style>
        <p:txBody>
          <a:bodyPr lIns="90000" rIns="90000" tIns="-14760" bIns="-14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36" name="วัดระฆัง"/>
          <p:cNvSpPr/>
          <p:nvPr/>
        </p:nvSpPr>
        <p:spPr>
          <a:xfrm>
            <a:off x="4712040" y="5334480"/>
            <a:ext cx="35280" cy="34200"/>
          </a:xfrm>
          <a:custGeom>
            <a:avLst/>
            <a:gdLst/>
            <a:ahLst/>
            <a:rect l="l" t="t" r="r" b="b"/>
            <a:pathLst>
              <a:path w="35802" h="34514">
                <a:moveTo>
                  <a:pt x="120" y="0"/>
                </a:moveTo>
                <a:lnTo>
                  <a:pt x="0" y="26379"/>
                </a:lnTo>
                <a:lnTo>
                  <a:pt x="7065" y="25762"/>
                </a:lnTo>
                <a:lnTo>
                  <a:pt x="19278" y="33405"/>
                </a:lnTo>
                <a:lnTo>
                  <a:pt x="34605" y="34514"/>
                </a:lnTo>
                <a:lnTo>
                  <a:pt x="35802" y="4561"/>
                </a:lnTo>
                <a:lnTo>
                  <a:pt x="34365" y="6163"/>
                </a:lnTo>
                <a:lnTo>
                  <a:pt x="120" y="0"/>
                </a:lnTo>
                <a:close/>
              </a:path>
            </a:pathLst>
          </a:custGeom>
          <a:solidFill>
            <a:srgbClr val="f2c8ad"/>
          </a:solidFill>
          <a:ln w="6191">
            <a:solidFill>
              <a:srgbClr val="b7633d"/>
            </a:solidFill>
            <a:round/>
          </a:ln>
        </p:spPr>
        <p:style>
          <a:lnRef idx="0"/>
          <a:fillRef idx="0"/>
          <a:effectRef idx="0"/>
          <a:fontRef idx="minor"/>
        </p:style>
        <p:txBody>
          <a:bodyPr lIns="90000" rIns="90000" tIns="-10800" bIns="-10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37" name="วัดสุวรรณาราม"/>
          <p:cNvSpPr/>
          <p:nvPr/>
        </p:nvSpPr>
        <p:spPr>
          <a:xfrm>
            <a:off x="4585320" y="5196600"/>
            <a:ext cx="101160" cy="57240"/>
          </a:xfrm>
          <a:custGeom>
            <a:avLst/>
            <a:gdLst/>
            <a:ahLst/>
            <a:rect l="l" t="t" r="r" b="b"/>
            <a:pathLst>
              <a:path w="101420" h="57565">
                <a:moveTo>
                  <a:pt x="99624" y="57565"/>
                </a:moveTo>
                <a:lnTo>
                  <a:pt x="101420" y="50662"/>
                </a:lnTo>
                <a:lnTo>
                  <a:pt x="65378" y="31679"/>
                </a:lnTo>
                <a:lnTo>
                  <a:pt x="27061" y="0"/>
                </a:lnTo>
                <a:lnTo>
                  <a:pt x="0" y="31679"/>
                </a:lnTo>
                <a:lnTo>
                  <a:pt x="21912" y="49059"/>
                </a:lnTo>
                <a:lnTo>
                  <a:pt x="40352" y="56085"/>
                </a:lnTo>
                <a:lnTo>
                  <a:pt x="58553" y="57565"/>
                </a:lnTo>
                <a:lnTo>
                  <a:pt x="99624" y="57565"/>
                </a:lnTo>
                <a:close/>
              </a:path>
            </a:pathLst>
          </a:custGeom>
          <a:solidFill>
            <a:srgbClr val="f2c8ad"/>
          </a:solidFill>
          <a:ln w="6191">
            <a:solidFill>
              <a:srgbClr val="b7633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38" name="สันติสุข"/>
          <p:cNvSpPr/>
          <p:nvPr/>
        </p:nvSpPr>
        <p:spPr>
          <a:xfrm>
            <a:off x="4650840" y="5289840"/>
            <a:ext cx="12960" cy="17640"/>
          </a:xfrm>
          <a:custGeom>
            <a:avLst/>
            <a:gdLst/>
            <a:ahLst/>
            <a:rect l="l" t="t" r="r" b="b"/>
            <a:pathLst>
              <a:path w="13171" h="18120">
                <a:moveTo>
                  <a:pt x="0" y="740"/>
                </a:moveTo>
                <a:lnTo>
                  <a:pt x="838" y="9122"/>
                </a:lnTo>
                <a:lnTo>
                  <a:pt x="5149" y="8382"/>
                </a:lnTo>
                <a:lnTo>
                  <a:pt x="5508" y="9861"/>
                </a:lnTo>
                <a:lnTo>
                  <a:pt x="8382" y="9984"/>
                </a:lnTo>
                <a:lnTo>
                  <a:pt x="9100" y="18120"/>
                </a:lnTo>
                <a:lnTo>
                  <a:pt x="13171" y="17750"/>
                </a:lnTo>
                <a:lnTo>
                  <a:pt x="10178" y="0"/>
                </a:lnTo>
                <a:lnTo>
                  <a:pt x="0" y="740"/>
                </a:lnTo>
                <a:close/>
              </a:path>
            </a:pathLst>
          </a:custGeom>
          <a:solidFill>
            <a:srgbClr val="f2c8ad"/>
          </a:solidFill>
          <a:ln w="6191">
            <a:solidFill>
              <a:srgbClr val="b7633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39" name="ซอยบ้านช่างหล่อ"/>
          <p:cNvSpPr/>
          <p:nvPr/>
        </p:nvSpPr>
        <p:spPr>
          <a:xfrm>
            <a:off x="4678560" y="5320440"/>
            <a:ext cx="27360" cy="37440"/>
          </a:xfrm>
          <a:custGeom>
            <a:avLst/>
            <a:gdLst/>
            <a:ahLst/>
            <a:rect l="l" t="t" r="r" b="b"/>
            <a:pathLst>
              <a:path w="27660" h="37842">
                <a:moveTo>
                  <a:pt x="0" y="4684"/>
                </a:moveTo>
                <a:lnTo>
                  <a:pt x="599" y="12203"/>
                </a:lnTo>
                <a:lnTo>
                  <a:pt x="3472" y="11710"/>
                </a:lnTo>
                <a:lnTo>
                  <a:pt x="3353" y="29584"/>
                </a:lnTo>
                <a:lnTo>
                  <a:pt x="11375" y="28844"/>
                </a:lnTo>
                <a:lnTo>
                  <a:pt x="10777" y="37842"/>
                </a:lnTo>
                <a:lnTo>
                  <a:pt x="26463" y="36733"/>
                </a:lnTo>
                <a:lnTo>
                  <a:pt x="27660" y="18736"/>
                </a:lnTo>
                <a:lnTo>
                  <a:pt x="26822" y="0"/>
                </a:lnTo>
                <a:lnTo>
                  <a:pt x="20476" y="370"/>
                </a:lnTo>
                <a:lnTo>
                  <a:pt x="21074" y="4314"/>
                </a:lnTo>
                <a:lnTo>
                  <a:pt x="11016" y="6040"/>
                </a:lnTo>
                <a:lnTo>
                  <a:pt x="7065" y="5793"/>
                </a:lnTo>
                <a:lnTo>
                  <a:pt x="6945" y="3575"/>
                </a:lnTo>
                <a:lnTo>
                  <a:pt x="0" y="4684"/>
                </a:lnTo>
                <a:close/>
              </a:path>
            </a:pathLst>
          </a:custGeom>
          <a:solidFill>
            <a:srgbClr val="f2c8ad"/>
          </a:solidFill>
          <a:ln w="6191">
            <a:solidFill>
              <a:srgbClr val="b7633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40" name="ตรอกข้าวเม่า"/>
          <p:cNvSpPr/>
          <p:nvPr/>
        </p:nvSpPr>
        <p:spPr>
          <a:xfrm>
            <a:off x="4600800" y="5257440"/>
            <a:ext cx="41040" cy="53280"/>
          </a:xfrm>
          <a:custGeom>
            <a:avLst/>
            <a:gdLst/>
            <a:ahLst/>
            <a:rect l="l" t="t" r="r" b="b"/>
            <a:pathLst>
              <a:path w="41310" h="53620">
                <a:moveTo>
                  <a:pt x="34246" y="36979"/>
                </a:moveTo>
                <a:lnTo>
                  <a:pt x="32809" y="37596"/>
                </a:lnTo>
                <a:lnTo>
                  <a:pt x="33168" y="36363"/>
                </a:lnTo>
                <a:lnTo>
                  <a:pt x="31492" y="35870"/>
                </a:lnTo>
                <a:lnTo>
                  <a:pt x="34006" y="30077"/>
                </a:lnTo>
                <a:lnTo>
                  <a:pt x="38197" y="24406"/>
                </a:lnTo>
                <a:lnTo>
                  <a:pt x="40472" y="25762"/>
                </a:lnTo>
                <a:lnTo>
                  <a:pt x="41310" y="21818"/>
                </a:lnTo>
                <a:lnTo>
                  <a:pt x="38796" y="24653"/>
                </a:lnTo>
                <a:lnTo>
                  <a:pt x="33168" y="19969"/>
                </a:lnTo>
                <a:lnTo>
                  <a:pt x="37119" y="14299"/>
                </a:lnTo>
                <a:lnTo>
                  <a:pt x="29217" y="7026"/>
                </a:lnTo>
                <a:lnTo>
                  <a:pt x="32210" y="1726"/>
                </a:lnTo>
                <a:lnTo>
                  <a:pt x="29695" y="0"/>
                </a:lnTo>
                <a:lnTo>
                  <a:pt x="21912" y="12203"/>
                </a:lnTo>
                <a:lnTo>
                  <a:pt x="16285" y="6410"/>
                </a:lnTo>
                <a:lnTo>
                  <a:pt x="0" y="26872"/>
                </a:lnTo>
                <a:lnTo>
                  <a:pt x="13650" y="47457"/>
                </a:lnTo>
                <a:lnTo>
                  <a:pt x="16524" y="49059"/>
                </a:lnTo>
                <a:lnTo>
                  <a:pt x="17841" y="47580"/>
                </a:lnTo>
                <a:lnTo>
                  <a:pt x="25385" y="53620"/>
                </a:lnTo>
                <a:lnTo>
                  <a:pt x="28738" y="48566"/>
                </a:lnTo>
                <a:lnTo>
                  <a:pt x="33767" y="50045"/>
                </a:lnTo>
                <a:lnTo>
                  <a:pt x="36042" y="40431"/>
                </a:lnTo>
                <a:lnTo>
                  <a:pt x="40352" y="41294"/>
                </a:lnTo>
                <a:lnTo>
                  <a:pt x="40472" y="37719"/>
                </a:lnTo>
                <a:lnTo>
                  <a:pt x="34246" y="36979"/>
                </a:lnTo>
                <a:close/>
              </a:path>
            </a:pathLst>
          </a:custGeom>
          <a:solidFill>
            <a:srgbClr val="f2c8ad"/>
          </a:solidFill>
          <a:ln w="6191">
            <a:solidFill>
              <a:srgbClr val="b7633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41" name="วัดครุฑ"/>
          <p:cNvSpPr/>
          <p:nvPr/>
        </p:nvSpPr>
        <p:spPr>
          <a:xfrm>
            <a:off x="4604040" y="5415840"/>
            <a:ext cx="46800" cy="42840"/>
          </a:xfrm>
          <a:custGeom>
            <a:avLst/>
            <a:gdLst/>
            <a:ahLst/>
            <a:rect l="l" t="t" r="r" b="b"/>
            <a:pathLst>
              <a:path w="47297" h="43143">
                <a:moveTo>
                  <a:pt x="46220" y="1726"/>
                </a:moveTo>
                <a:lnTo>
                  <a:pt x="37479" y="2465"/>
                </a:lnTo>
                <a:lnTo>
                  <a:pt x="37000" y="123"/>
                </a:lnTo>
                <a:lnTo>
                  <a:pt x="31492" y="0"/>
                </a:lnTo>
                <a:lnTo>
                  <a:pt x="31851" y="1726"/>
                </a:lnTo>
                <a:lnTo>
                  <a:pt x="27181" y="3082"/>
                </a:lnTo>
                <a:lnTo>
                  <a:pt x="23469" y="6903"/>
                </a:lnTo>
                <a:lnTo>
                  <a:pt x="23828" y="8505"/>
                </a:lnTo>
                <a:lnTo>
                  <a:pt x="17841" y="9615"/>
                </a:lnTo>
                <a:lnTo>
                  <a:pt x="16404" y="7273"/>
                </a:lnTo>
                <a:lnTo>
                  <a:pt x="12812" y="8875"/>
                </a:lnTo>
                <a:lnTo>
                  <a:pt x="14728" y="14175"/>
                </a:lnTo>
                <a:lnTo>
                  <a:pt x="0" y="20955"/>
                </a:lnTo>
                <a:lnTo>
                  <a:pt x="5029" y="26625"/>
                </a:lnTo>
                <a:lnTo>
                  <a:pt x="7663" y="27365"/>
                </a:lnTo>
                <a:lnTo>
                  <a:pt x="10417" y="36486"/>
                </a:lnTo>
                <a:lnTo>
                  <a:pt x="29097" y="43143"/>
                </a:lnTo>
                <a:lnTo>
                  <a:pt x="31372" y="35254"/>
                </a:lnTo>
                <a:lnTo>
                  <a:pt x="37718" y="24160"/>
                </a:lnTo>
                <a:lnTo>
                  <a:pt x="39155" y="17504"/>
                </a:lnTo>
                <a:lnTo>
                  <a:pt x="43466" y="14669"/>
                </a:lnTo>
                <a:lnTo>
                  <a:pt x="47297" y="5054"/>
                </a:lnTo>
                <a:lnTo>
                  <a:pt x="46220" y="1726"/>
                </a:lnTo>
                <a:close/>
              </a:path>
            </a:pathLst>
          </a:custGeom>
          <a:solidFill>
            <a:srgbClr val="f2c8ad"/>
          </a:solidFill>
          <a:ln w="6191">
            <a:solidFill>
              <a:srgbClr val="b7633d"/>
            </a:solidFill>
            <a:round/>
          </a:ln>
        </p:spPr>
        <p:style>
          <a:lnRef idx="0"/>
          <a:fillRef idx="0"/>
          <a:effectRef idx="0"/>
          <a:fontRef idx="minor"/>
        </p:style>
        <p:txBody>
          <a:bodyPr lIns="90000" rIns="90000" tIns="-2160" bIns="-2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42" name="วัดดงมูลเหล็ก"/>
          <p:cNvSpPr/>
          <p:nvPr/>
        </p:nvSpPr>
        <p:spPr>
          <a:xfrm>
            <a:off x="4547520" y="5344920"/>
            <a:ext cx="97560" cy="48960"/>
          </a:xfrm>
          <a:custGeom>
            <a:avLst/>
            <a:gdLst/>
            <a:ahLst/>
            <a:rect l="l" t="t" r="r" b="b"/>
            <a:pathLst>
              <a:path w="97947" h="49183">
                <a:moveTo>
                  <a:pt x="77831" y="38089"/>
                </a:moveTo>
                <a:lnTo>
                  <a:pt x="81064" y="37966"/>
                </a:lnTo>
                <a:lnTo>
                  <a:pt x="81423" y="39445"/>
                </a:lnTo>
                <a:lnTo>
                  <a:pt x="84417" y="38828"/>
                </a:lnTo>
                <a:lnTo>
                  <a:pt x="81782" y="26009"/>
                </a:lnTo>
                <a:lnTo>
                  <a:pt x="89685" y="24406"/>
                </a:lnTo>
                <a:lnTo>
                  <a:pt x="89086" y="20215"/>
                </a:lnTo>
                <a:lnTo>
                  <a:pt x="95073" y="19229"/>
                </a:lnTo>
                <a:lnTo>
                  <a:pt x="94594" y="14545"/>
                </a:lnTo>
                <a:lnTo>
                  <a:pt x="97947" y="14792"/>
                </a:lnTo>
                <a:lnTo>
                  <a:pt x="97349" y="0"/>
                </a:lnTo>
                <a:lnTo>
                  <a:pt x="60349" y="8629"/>
                </a:lnTo>
                <a:lnTo>
                  <a:pt x="58912" y="4561"/>
                </a:lnTo>
                <a:lnTo>
                  <a:pt x="55799" y="9861"/>
                </a:lnTo>
                <a:lnTo>
                  <a:pt x="23828" y="16764"/>
                </a:lnTo>
                <a:lnTo>
                  <a:pt x="0" y="24530"/>
                </a:lnTo>
                <a:lnTo>
                  <a:pt x="1557" y="49183"/>
                </a:lnTo>
                <a:lnTo>
                  <a:pt x="21912" y="42157"/>
                </a:lnTo>
                <a:lnTo>
                  <a:pt x="23230" y="47703"/>
                </a:lnTo>
                <a:lnTo>
                  <a:pt x="59990" y="42773"/>
                </a:lnTo>
                <a:lnTo>
                  <a:pt x="77831" y="38089"/>
                </a:lnTo>
                <a:close/>
              </a:path>
            </a:pathLst>
          </a:custGeom>
          <a:solidFill>
            <a:srgbClr val="f2c8ad"/>
          </a:solidFill>
          <a:ln w="6191">
            <a:solidFill>
              <a:srgbClr val="b7633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43" name="วัดพระยาทำ"/>
          <p:cNvSpPr/>
          <p:nvPr/>
        </p:nvSpPr>
        <p:spPr>
          <a:xfrm>
            <a:off x="4694400" y="5405400"/>
            <a:ext cx="24480" cy="26640"/>
          </a:xfrm>
          <a:custGeom>
            <a:avLst/>
            <a:gdLst/>
            <a:ahLst/>
            <a:rect l="l" t="t" r="r" b="b"/>
            <a:pathLst>
              <a:path w="24906" h="26995">
                <a:moveTo>
                  <a:pt x="19158" y="5670"/>
                </a:moveTo>
                <a:lnTo>
                  <a:pt x="17841" y="1849"/>
                </a:lnTo>
                <a:lnTo>
                  <a:pt x="14608" y="2958"/>
                </a:lnTo>
                <a:lnTo>
                  <a:pt x="13770" y="0"/>
                </a:lnTo>
                <a:lnTo>
                  <a:pt x="0" y="4068"/>
                </a:lnTo>
                <a:lnTo>
                  <a:pt x="8142" y="26995"/>
                </a:lnTo>
                <a:lnTo>
                  <a:pt x="24906" y="20339"/>
                </a:lnTo>
                <a:lnTo>
                  <a:pt x="19158" y="5670"/>
                </a:lnTo>
                <a:close/>
              </a:path>
            </a:pathLst>
          </a:custGeom>
          <a:solidFill>
            <a:srgbClr val="f2c8ad"/>
          </a:solidFill>
          <a:ln w="6191">
            <a:solidFill>
              <a:srgbClr val="b7633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44" name="วัดยางสุทธาราม"/>
          <p:cNvSpPr/>
          <p:nvPr/>
        </p:nvSpPr>
        <p:spPr>
          <a:xfrm>
            <a:off x="4543920" y="5320080"/>
            <a:ext cx="100440" cy="37800"/>
          </a:xfrm>
          <a:custGeom>
            <a:avLst/>
            <a:gdLst/>
            <a:ahLst/>
            <a:rect l="l" t="t" r="r" b="b"/>
            <a:pathLst>
              <a:path w="100701" h="38212">
                <a:moveTo>
                  <a:pt x="0" y="8382"/>
                </a:moveTo>
                <a:lnTo>
                  <a:pt x="1676" y="30200"/>
                </a:lnTo>
                <a:lnTo>
                  <a:pt x="37479" y="21448"/>
                </a:lnTo>
                <a:lnTo>
                  <a:pt x="39993" y="38212"/>
                </a:lnTo>
                <a:lnTo>
                  <a:pt x="52087" y="36733"/>
                </a:lnTo>
                <a:lnTo>
                  <a:pt x="60349" y="32665"/>
                </a:lnTo>
                <a:lnTo>
                  <a:pt x="62265" y="29090"/>
                </a:lnTo>
                <a:lnTo>
                  <a:pt x="64061" y="33281"/>
                </a:lnTo>
                <a:lnTo>
                  <a:pt x="100701" y="24530"/>
                </a:lnTo>
                <a:lnTo>
                  <a:pt x="99863" y="0"/>
                </a:lnTo>
                <a:lnTo>
                  <a:pt x="0" y="8382"/>
                </a:lnTo>
                <a:close/>
              </a:path>
            </a:pathLst>
          </a:custGeom>
          <a:solidFill>
            <a:srgbClr val="f2c8ad"/>
          </a:solidFill>
          <a:ln w="6191">
            <a:solidFill>
              <a:srgbClr val="b7633d"/>
            </a:solidFill>
            <a:round/>
          </a:ln>
        </p:spPr>
        <p:style>
          <a:lnRef idx="0"/>
          <a:fillRef idx="0"/>
          <a:effectRef idx="0"/>
          <a:fontRef idx="minor"/>
        </p:style>
        <p:txBody>
          <a:bodyPr lIns="90000" rIns="90000" tIns="-7200" bIns="-7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45" name="วัดอมรทายิการาม"/>
          <p:cNvSpPr/>
          <p:nvPr/>
        </p:nvSpPr>
        <p:spPr>
          <a:xfrm>
            <a:off x="4591440" y="5246640"/>
            <a:ext cx="34920" cy="37080"/>
          </a:xfrm>
          <a:custGeom>
            <a:avLst/>
            <a:gdLst/>
            <a:ahLst/>
            <a:rect l="l" t="t" r="r" b="b"/>
            <a:pathLst>
              <a:path w="35443" h="37472">
                <a:moveTo>
                  <a:pt x="1557" y="28228"/>
                </a:moveTo>
                <a:lnTo>
                  <a:pt x="8621" y="37472"/>
                </a:lnTo>
                <a:lnTo>
                  <a:pt x="27780" y="13559"/>
                </a:lnTo>
                <a:lnTo>
                  <a:pt x="35443" y="9122"/>
                </a:lnTo>
                <a:lnTo>
                  <a:pt x="19757" y="4684"/>
                </a:lnTo>
                <a:lnTo>
                  <a:pt x="10777" y="0"/>
                </a:lnTo>
                <a:lnTo>
                  <a:pt x="0" y="15901"/>
                </a:lnTo>
                <a:lnTo>
                  <a:pt x="5149" y="23050"/>
                </a:lnTo>
                <a:lnTo>
                  <a:pt x="1557" y="28228"/>
                </a:lnTo>
                <a:close/>
              </a:path>
            </a:pathLst>
          </a:custGeom>
          <a:solidFill>
            <a:srgbClr val="f2c8ad"/>
          </a:solidFill>
          <a:ln w="6191">
            <a:solidFill>
              <a:srgbClr val="b7633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46" name="เหนือวัดสีหไกรสร"/>
          <p:cNvSpPr/>
          <p:nvPr/>
        </p:nvSpPr>
        <p:spPr>
          <a:xfrm>
            <a:off x="4653720" y="5317200"/>
            <a:ext cx="14400" cy="18000"/>
          </a:xfrm>
          <a:custGeom>
            <a:avLst/>
            <a:gdLst/>
            <a:ahLst/>
            <a:rect l="l" t="t" r="r" b="b"/>
            <a:pathLst>
              <a:path w="14728" h="18366">
                <a:moveTo>
                  <a:pt x="838" y="18366"/>
                </a:moveTo>
                <a:lnTo>
                  <a:pt x="14728" y="16887"/>
                </a:lnTo>
                <a:lnTo>
                  <a:pt x="12932" y="0"/>
                </a:lnTo>
                <a:lnTo>
                  <a:pt x="0" y="1109"/>
                </a:lnTo>
                <a:lnTo>
                  <a:pt x="838" y="18366"/>
                </a:lnTo>
                <a:close/>
              </a:path>
            </a:pathLst>
          </a:custGeom>
          <a:solidFill>
            <a:srgbClr val="f2c8ad"/>
          </a:solidFill>
          <a:ln w="6191">
            <a:solidFill>
              <a:srgbClr val="b7633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47" name="บ้านลุ่ม"/>
          <p:cNvSpPr/>
          <p:nvPr/>
        </p:nvSpPr>
        <p:spPr>
          <a:xfrm>
            <a:off x="4419360" y="4984560"/>
            <a:ext cx="23400" cy="26640"/>
          </a:xfrm>
          <a:custGeom>
            <a:avLst/>
            <a:gdLst/>
            <a:ahLst/>
            <a:rect l="l" t="t" r="r" b="b"/>
            <a:pathLst>
              <a:path w="23828" h="26872">
                <a:moveTo>
                  <a:pt x="0" y="6656"/>
                </a:moveTo>
                <a:lnTo>
                  <a:pt x="8142" y="26872"/>
                </a:lnTo>
                <a:lnTo>
                  <a:pt x="17362" y="24530"/>
                </a:lnTo>
                <a:lnTo>
                  <a:pt x="23828" y="25023"/>
                </a:lnTo>
                <a:lnTo>
                  <a:pt x="15925" y="0"/>
                </a:lnTo>
                <a:lnTo>
                  <a:pt x="0" y="6656"/>
                </a:lnTo>
                <a:close/>
              </a:path>
            </a:pathLst>
          </a:custGeom>
          <a:solidFill>
            <a:srgbClr val="f2c8ad"/>
          </a:solidFill>
          <a:ln w="6191">
            <a:solidFill>
              <a:srgbClr val="b7633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48" name="โรงเรียนวัดตลิ่งชัน"/>
          <p:cNvSpPr/>
          <p:nvPr/>
        </p:nvSpPr>
        <p:spPr>
          <a:xfrm>
            <a:off x="4381200" y="5006880"/>
            <a:ext cx="24480" cy="24120"/>
          </a:xfrm>
          <a:custGeom>
            <a:avLst/>
            <a:gdLst/>
            <a:ahLst/>
            <a:rect l="l" t="t" r="r" b="b"/>
            <a:pathLst>
              <a:path w="24906" h="24530">
                <a:moveTo>
                  <a:pt x="21553" y="13682"/>
                </a:moveTo>
                <a:lnTo>
                  <a:pt x="18320" y="15655"/>
                </a:lnTo>
                <a:lnTo>
                  <a:pt x="19997" y="19353"/>
                </a:lnTo>
                <a:lnTo>
                  <a:pt x="14129" y="23174"/>
                </a:lnTo>
                <a:lnTo>
                  <a:pt x="0" y="0"/>
                </a:lnTo>
                <a:lnTo>
                  <a:pt x="838" y="10971"/>
                </a:lnTo>
                <a:lnTo>
                  <a:pt x="3353" y="15655"/>
                </a:lnTo>
                <a:lnTo>
                  <a:pt x="5388" y="14299"/>
                </a:lnTo>
                <a:lnTo>
                  <a:pt x="12333" y="24530"/>
                </a:lnTo>
                <a:lnTo>
                  <a:pt x="24906" y="18490"/>
                </a:lnTo>
                <a:lnTo>
                  <a:pt x="21553" y="13682"/>
                </a:lnTo>
                <a:close/>
              </a:path>
            </a:pathLst>
          </a:custGeom>
          <a:solidFill>
            <a:srgbClr val="f2c8ad"/>
          </a:solidFill>
          <a:ln w="6191">
            <a:solidFill>
              <a:srgbClr val="b7633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49" name="ชุมชนหลังโรงเรียนเสสะเวช"/>
          <p:cNvSpPr/>
          <p:nvPr/>
        </p:nvSpPr>
        <p:spPr>
          <a:xfrm>
            <a:off x="4487760" y="5541120"/>
            <a:ext cx="35640" cy="20160"/>
          </a:xfrm>
          <a:custGeom>
            <a:avLst/>
            <a:gdLst/>
            <a:ahLst/>
            <a:rect l="l" t="t" r="r" b="b"/>
            <a:pathLst>
              <a:path w="35922" h="20462">
                <a:moveTo>
                  <a:pt x="35802" y="493"/>
                </a:moveTo>
                <a:lnTo>
                  <a:pt x="239" y="0"/>
                </a:lnTo>
                <a:lnTo>
                  <a:pt x="0" y="20462"/>
                </a:lnTo>
                <a:lnTo>
                  <a:pt x="35922" y="17134"/>
                </a:lnTo>
                <a:lnTo>
                  <a:pt x="35802" y="493"/>
                </a:lnTo>
                <a:close/>
              </a:path>
            </a:pathLst>
          </a:custGeom>
          <a:solidFill>
            <a:srgbClr val="f2c8ad"/>
          </a:solidFill>
          <a:ln w="6191">
            <a:solidFill>
              <a:srgbClr val="b7633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50" name="ชุมชนวัดสังข์กระจาย"/>
          <p:cNvSpPr/>
          <p:nvPr/>
        </p:nvSpPr>
        <p:spPr>
          <a:xfrm>
            <a:off x="4716720" y="5575320"/>
            <a:ext cx="29520" cy="42480"/>
          </a:xfrm>
          <a:custGeom>
            <a:avLst/>
            <a:gdLst/>
            <a:ahLst/>
            <a:rect l="l" t="t" r="r" b="b"/>
            <a:pathLst>
              <a:path w="30055" h="42896">
                <a:moveTo>
                  <a:pt x="0" y="20215"/>
                </a:moveTo>
                <a:lnTo>
                  <a:pt x="19877" y="40431"/>
                </a:lnTo>
                <a:lnTo>
                  <a:pt x="24187" y="42896"/>
                </a:lnTo>
                <a:lnTo>
                  <a:pt x="24307" y="30939"/>
                </a:lnTo>
                <a:lnTo>
                  <a:pt x="30055" y="14052"/>
                </a:lnTo>
                <a:lnTo>
                  <a:pt x="19398" y="7273"/>
                </a:lnTo>
                <a:lnTo>
                  <a:pt x="11495" y="0"/>
                </a:lnTo>
                <a:lnTo>
                  <a:pt x="838" y="9861"/>
                </a:lnTo>
                <a:lnTo>
                  <a:pt x="5149" y="13929"/>
                </a:lnTo>
                <a:lnTo>
                  <a:pt x="0" y="20215"/>
                </a:lnTo>
                <a:close/>
              </a:path>
            </a:pathLst>
          </a:custGeom>
          <a:solidFill>
            <a:srgbClr val="f2c8ad"/>
          </a:solidFill>
          <a:ln w="6191">
            <a:solidFill>
              <a:srgbClr val="b7633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51" name="ชุมชนวัดใหม่วิเชียร"/>
          <p:cNvSpPr/>
          <p:nvPr/>
        </p:nvSpPr>
        <p:spPr>
          <a:xfrm>
            <a:off x="4669560" y="5550840"/>
            <a:ext cx="23400" cy="29880"/>
          </a:xfrm>
          <a:custGeom>
            <a:avLst/>
            <a:gdLst/>
            <a:ahLst/>
            <a:rect l="l" t="t" r="r" b="b"/>
            <a:pathLst>
              <a:path w="23589" h="30323">
                <a:moveTo>
                  <a:pt x="7304" y="6286"/>
                </a:moveTo>
                <a:lnTo>
                  <a:pt x="120" y="17873"/>
                </a:lnTo>
                <a:lnTo>
                  <a:pt x="1197" y="21448"/>
                </a:lnTo>
                <a:lnTo>
                  <a:pt x="0" y="22927"/>
                </a:lnTo>
                <a:lnTo>
                  <a:pt x="6346" y="30323"/>
                </a:lnTo>
                <a:lnTo>
                  <a:pt x="9699" y="27118"/>
                </a:lnTo>
                <a:lnTo>
                  <a:pt x="10777" y="28721"/>
                </a:lnTo>
                <a:lnTo>
                  <a:pt x="17961" y="18366"/>
                </a:lnTo>
                <a:lnTo>
                  <a:pt x="23589" y="13559"/>
                </a:lnTo>
                <a:lnTo>
                  <a:pt x="13052" y="0"/>
                </a:lnTo>
                <a:lnTo>
                  <a:pt x="7304" y="6286"/>
                </a:lnTo>
                <a:close/>
              </a:path>
            </a:pathLst>
          </a:custGeom>
          <a:solidFill>
            <a:srgbClr val="f2c8ad"/>
          </a:solidFill>
          <a:ln w="6191">
            <a:solidFill>
              <a:srgbClr val="b7633d"/>
            </a:solidFill>
            <a:round/>
          </a:ln>
        </p:spPr>
        <p:style>
          <a:lnRef idx="0"/>
          <a:fillRef idx="0"/>
          <a:effectRef idx="0"/>
          <a:fontRef idx="minor"/>
        </p:style>
        <p:txBody>
          <a:bodyPr lIns="90000" rIns="90000" tIns="-15120" bIns="-15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52" name="ชุมชนหลังวัดใหม่วิเชียร"/>
          <p:cNvSpPr/>
          <p:nvPr/>
        </p:nvSpPr>
        <p:spPr>
          <a:xfrm>
            <a:off x="4655520" y="5537160"/>
            <a:ext cx="26640" cy="36720"/>
          </a:xfrm>
          <a:custGeom>
            <a:avLst/>
            <a:gdLst/>
            <a:ahLst/>
            <a:rect l="l" t="t" r="r" b="b"/>
            <a:pathLst>
              <a:path w="26941" h="36979">
                <a:moveTo>
                  <a:pt x="718" y="2589"/>
                </a:moveTo>
                <a:lnTo>
                  <a:pt x="0" y="19969"/>
                </a:lnTo>
                <a:lnTo>
                  <a:pt x="7424" y="36979"/>
                </a:lnTo>
                <a:lnTo>
                  <a:pt x="22391" y="13436"/>
                </a:lnTo>
                <a:lnTo>
                  <a:pt x="26941" y="13313"/>
                </a:lnTo>
                <a:lnTo>
                  <a:pt x="24307" y="0"/>
                </a:lnTo>
                <a:lnTo>
                  <a:pt x="718" y="2589"/>
                </a:lnTo>
                <a:close/>
              </a:path>
            </a:pathLst>
          </a:custGeom>
          <a:solidFill>
            <a:srgbClr val="f2c8ad"/>
          </a:solidFill>
          <a:ln w="6191">
            <a:solidFill>
              <a:srgbClr val="b7633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53" name="ชุมชนซอยจำเนียรสุข 3"/>
          <p:cNvSpPr/>
          <p:nvPr/>
        </p:nvSpPr>
        <p:spPr>
          <a:xfrm>
            <a:off x="4708440" y="5634000"/>
            <a:ext cx="26640" cy="25200"/>
          </a:xfrm>
          <a:custGeom>
            <a:avLst/>
            <a:gdLst/>
            <a:ahLst/>
            <a:rect l="l" t="t" r="r" b="b"/>
            <a:pathLst>
              <a:path w="26941" h="25393">
                <a:moveTo>
                  <a:pt x="25145" y="0"/>
                </a:moveTo>
                <a:lnTo>
                  <a:pt x="22032" y="3821"/>
                </a:lnTo>
                <a:lnTo>
                  <a:pt x="17721" y="1109"/>
                </a:lnTo>
                <a:lnTo>
                  <a:pt x="0" y="24037"/>
                </a:lnTo>
                <a:lnTo>
                  <a:pt x="13291" y="25393"/>
                </a:lnTo>
                <a:lnTo>
                  <a:pt x="26343" y="6533"/>
                </a:lnTo>
                <a:lnTo>
                  <a:pt x="26941" y="740"/>
                </a:lnTo>
                <a:lnTo>
                  <a:pt x="25145" y="0"/>
                </a:lnTo>
                <a:close/>
              </a:path>
            </a:pathLst>
          </a:custGeom>
          <a:solidFill>
            <a:srgbClr val="f2c8ad"/>
          </a:solidFill>
          <a:ln w="6191">
            <a:solidFill>
              <a:srgbClr val="b7633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54" name="ชุมชนตรอกตาแทน"/>
          <p:cNvSpPr/>
          <p:nvPr/>
        </p:nvSpPr>
        <p:spPr>
          <a:xfrm>
            <a:off x="4678200" y="5521320"/>
            <a:ext cx="17640" cy="22320"/>
          </a:xfrm>
          <a:custGeom>
            <a:avLst/>
            <a:gdLst/>
            <a:ahLst/>
            <a:rect l="l" t="t" r="r" b="b"/>
            <a:pathLst>
              <a:path w="18081" h="22804">
                <a:moveTo>
                  <a:pt x="2754" y="22804"/>
                </a:moveTo>
                <a:lnTo>
                  <a:pt x="17362" y="20215"/>
                </a:lnTo>
                <a:lnTo>
                  <a:pt x="18081" y="0"/>
                </a:lnTo>
                <a:lnTo>
                  <a:pt x="0" y="863"/>
                </a:lnTo>
                <a:lnTo>
                  <a:pt x="2754" y="22804"/>
                </a:lnTo>
                <a:close/>
              </a:path>
            </a:pathLst>
          </a:custGeom>
          <a:solidFill>
            <a:srgbClr val="f2c8ad"/>
          </a:solidFill>
          <a:ln w="6191">
            <a:solidFill>
              <a:srgbClr val="b7633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55" name="บึงพระราม ๙"/>
          <p:cNvSpPr/>
          <p:nvPr/>
        </p:nvSpPr>
        <p:spPr>
          <a:xfrm>
            <a:off x="6093720" y="5333400"/>
            <a:ext cx="56520" cy="65160"/>
          </a:xfrm>
          <a:custGeom>
            <a:avLst/>
            <a:gdLst/>
            <a:ahLst/>
            <a:rect l="l" t="t" r="r" b="b"/>
            <a:pathLst>
              <a:path w="56996" h="65577">
                <a:moveTo>
                  <a:pt x="0" y="15901"/>
                </a:moveTo>
                <a:lnTo>
                  <a:pt x="1676" y="17011"/>
                </a:lnTo>
                <a:lnTo>
                  <a:pt x="2515" y="15162"/>
                </a:lnTo>
                <a:lnTo>
                  <a:pt x="11375" y="18983"/>
                </a:lnTo>
                <a:lnTo>
                  <a:pt x="14608" y="18736"/>
                </a:lnTo>
                <a:lnTo>
                  <a:pt x="15087" y="20092"/>
                </a:lnTo>
                <a:lnTo>
                  <a:pt x="17841" y="18983"/>
                </a:lnTo>
                <a:lnTo>
                  <a:pt x="23948" y="23667"/>
                </a:lnTo>
                <a:lnTo>
                  <a:pt x="30893" y="35254"/>
                </a:lnTo>
                <a:lnTo>
                  <a:pt x="29935" y="41787"/>
                </a:lnTo>
                <a:lnTo>
                  <a:pt x="32569" y="43882"/>
                </a:lnTo>
                <a:lnTo>
                  <a:pt x="22272" y="54360"/>
                </a:lnTo>
                <a:lnTo>
                  <a:pt x="34485" y="65577"/>
                </a:lnTo>
                <a:lnTo>
                  <a:pt x="55200" y="44375"/>
                </a:lnTo>
                <a:lnTo>
                  <a:pt x="56996" y="37349"/>
                </a:lnTo>
                <a:lnTo>
                  <a:pt x="49812" y="27981"/>
                </a:lnTo>
                <a:lnTo>
                  <a:pt x="43825" y="22681"/>
                </a:lnTo>
                <a:lnTo>
                  <a:pt x="38556" y="26625"/>
                </a:lnTo>
                <a:lnTo>
                  <a:pt x="24666" y="15162"/>
                </a:lnTo>
                <a:lnTo>
                  <a:pt x="9699" y="0"/>
                </a:lnTo>
                <a:lnTo>
                  <a:pt x="3353" y="7642"/>
                </a:lnTo>
                <a:lnTo>
                  <a:pt x="0" y="15901"/>
                </a:lnTo>
                <a:close/>
              </a:path>
            </a:pathLst>
          </a:custGeom>
          <a:solidFill>
            <a:srgbClr val="f2c8ad"/>
          </a:solidFill>
          <a:ln w="6191">
            <a:solidFill>
              <a:srgbClr val="b7633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56" name="บึงพระราม ๙ พัฒนา"/>
          <p:cNvSpPr/>
          <p:nvPr/>
        </p:nvSpPr>
        <p:spPr>
          <a:xfrm>
            <a:off x="6061320" y="5273280"/>
            <a:ext cx="75240" cy="85680"/>
          </a:xfrm>
          <a:custGeom>
            <a:avLst/>
            <a:gdLst/>
            <a:ahLst/>
            <a:rect l="l" t="t" r="r" b="b"/>
            <a:pathLst>
              <a:path w="75676" h="85916">
                <a:moveTo>
                  <a:pt x="21194" y="30446"/>
                </a:moveTo>
                <a:lnTo>
                  <a:pt x="12573" y="20339"/>
                </a:lnTo>
                <a:lnTo>
                  <a:pt x="2634" y="0"/>
                </a:lnTo>
                <a:lnTo>
                  <a:pt x="0" y="7766"/>
                </a:lnTo>
                <a:lnTo>
                  <a:pt x="5269" y="17873"/>
                </a:lnTo>
                <a:lnTo>
                  <a:pt x="599" y="21202"/>
                </a:lnTo>
                <a:lnTo>
                  <a:pt x="4670" y="27488"/>
                </a:lnTo>
                <a:lnTo>
                  <a:pt x="11375" y="32172"/>
                </a:lnTo>
                <a:lnTo>
                  <a:pt x="15925" y="32419"/>
                </a:lnTo>
                <a:lnTo>
                  <a:pt x="11854" y="35254"/>
                </a:lnTo>
                <a:lnTo>
                  <a:pt x="13291" y="40924"/>
                </a:lnTo>
                <a:lnTo>
                  <a:pt x="19518" y="52141"/>
                </a:lnTo>
                <a:lnTo>
                  <a:pt x="27301" y="60400"/>
                </a:lnTo>
                <a:lnTo>
                  <a:pt x="27540" y="65207"/>
                </a:lnTo>
                <a:lnTo>
                  <a:pt x="33048" y="66563"/>
                </a:lnTo>
                <a:lnTo>
                  <a:pt x="31971" y="73466"/>
                </a:lnTo>
                <a:lnTo>
                  <a:pt x="34725" y="71000"/>
                </a:lnTo>
                <a:lnTo>
                  <a:pt x="36521" y="63605"/>
                </a:lnTo>
                <a:lnTo>
                  <a:pt x="41191" y="58304"/>
                </a:lnTo>
                <a:lnTo>
                  <a:pt x="71485" y="85916"/>
                </a:lnTo>
                <a:lnTo>
                  <a:pt x="75676" y="82341"/>
                </a:lnTo>
                <a:lnTo>
                  <a:pt x="21194" y="30446"/>
                </a:lnTo>
                <a:close/>
              </a:path>
            </a:pathLst>
          </a:custGeom>
          <a:solidFill>
            <a:srgbClr val="f2c8ad"/>
          </a:solidFill>
          <a:ln w="6191">
            <a:solidFill>
              <a:srgbClr val="b7633d"/>
            </a:solidFill>
            <a:round/>
          </a:ln>
        </p:spPr>
        <p:style>
          <a:lnRef idx="0"/>
          <a:fillRef idx="0"/>
          <a:effectRef idx="0"/>
          <a:fontRef idx="minor"/>
        </p:style>
        <p:txBody>
          <a:bodyPr lIns="90000" rIns="90000" tIns="40680" bIns="40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57" name="หลังสมาคมโรงเรียนไทย-ญี่ปุ่น"/>
          <p:cNvSpPr/>
          <p:nvPr/>
        </p:nvSpPr>
        <p:spPr>
          <a:xfrm>
            <a:off x="6037200" y="5215680"/>
            <a:ext cx="6120" cy="24120"/>
          </a:xfrm>
          <a:custGeom>
            <a:avLst/>
            <a:gdLst/>
            <a:ahLst/>
            <a:rect l="l" t="t" r="r" b="b"/>
            <a:pathLst>
              <a:path w="6346" h="24653">
                <a:moveTo>
                  <a:pt x="0" y="863"/>
                </a:moveTo>
                <a:lnTo>
                  <a:pt x="120" y="14545"/>
                </a:lnTo>
                <a:lnTo>
                  <a:pt x="3592" y="24653"/>
                </a:lnTo>
                <a:lnTo>
                  <a:pt x="6346" y="23544"/>
                </a:lnTo>
                <a:lnTo>
                  <a:pt x="5987" y="20708"/>
                </a:lnTo>
                <a:lnTo>
                  <a:pt x="3472" y="20339"/>
                </a:lnTo>
                <a:lnTo>
                  <a:pt x="4790" y="19476"/>
                </a:lnTo>
                <a:lnTo>
                  <a:pt x="2155" y="13066"/>
                </a:lnTo>
                <a:lnTo>
                  <a:pt x="2634" y="0"/>
                </a:lnTo>
                <a:lnTo>
                  <a:pt x="0" y="863"/>
                </a:lnTo>
                <a:close/>
              </a:path>
            </a:pathLst>
          </a:custGeom>
          <a:solidFill>
            <a:srgbClr val="f2c8ad"/>
          </a:solidFill>
          <a:ln w="6191">
            <a:solidFill>
              <a:srgbClr val="b7633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58" name="ชุมชนเพชรพระราม"/>
          <p:cNvSpPr/>
          <p:nvPr/>
        </p:nvSpPr>
        <p:spPr>
          <a:xfrm>
            <a:off x="6069240" y="5452920"/>
            <a:ext cx="24840" cy="25560"/>
          </a:xfrm>
          <a:custGeom>
            <a:avLst/>
            <a:gdLst/>
            <a:ahLst/>
            <a:rect l="l" t="t" r="r" b="b"/>
            <a:pathLst>
              <a:path w="25265" h="25886">
                <a:moveTo>
                  <a:pt x="4550" y="5547"/>
                </a:moveTo>
                <a:lnTo>
                  <a:pt x="0" y="23667"/>
                </a:lnTo>
                <a:lnTo>
                  <a:pt x="10896" y="25886"/>
                </a:lnTo>
                <a:lnTo>
                  <a:pt x="14010" y="21571"/>
                </a:lnTo>
                <a:lnTo>
                  <a:pt x="18919" y="22064"/>
                </a:lnTo>
                <a:lnTo>
                  <a:pt x="18440" y="19599"/>
                </a:lnTo>
                <a:lnTo>
                  <a:pt x="25265" y="5670"/>
                </a:lnTo>
                <a:lnTo>
                  <a:pt x="8023" y="0"/>
                </a:lnTo>
                <a:lnTo>
                  <a:pt x="4550" y="5547"/>
                </a:lnTo>
                <a:close/>
              </a:path>
            </a:pathLst>
          </a:custGeom>
          <a:solidFill>
            <a:srgbClr val="f2c8ad"/>
          </a:solidFill>
          <a:ln w="6191">
            <a:solidFill>
              <a:srgbClr val="b7633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59" name="ชุมชนโรงปูนฝั่งใต้"/>
          <p:cNvSpPr/>
          <p:nvPr/>
        </p:nvSpPr>
        <p:spPr>
          <a:xfrm>
            <a:off x="6037920" y="5458320"/>
            <a:ext cx="32040" cy="9720"/>
          </a:xfrm>
          <a:custGeom>
            <a:avLst/>
            <a:gdLst/>
            <a:ahLst/>
            <a:rect l="l" t="t" r="r" b="b"/>
            <a:pathLst>
              <a:path w="32569" h="9984">
                <a:moveTo>
                  <a:pt x="5508" y="1849"/>
                </a:moveTo>
                <a:lnTo>
                  <a:pt x="958" y="1233"/>
                </a:lnTo>
                <a:lnTo>
                  <a:pt x="0" y="6780"/>
                </a:lnTo>
                <a:lnTo>
                  <a:pt x="31132" y="9984"/>
                </a:lnTo>
                <a:lnTo>
                  <a:pt x="32569" y="4807"/>
                </a:lnTo>
                <a:lnTo>
                  <a:pt x="18919" y="0"/>
                </a:lnTo>
                <a:lnTo>
                  <a:pt x="5508" y="1849"/>
                </a:lnTo>
                <a:close/>
              </a:path>
            </a:pathLst>
          </a:custGeom>
          <a:solidFill>
            <a:srgbClr val="f2c8ad"/>
          </a:solidFill>
          <a:ln w="6191">
            <a:solidFill>
              <a:srgbClr val="b7633d"/>
            </a:solidFill>
            <a:round/>
          </a:ln>
        </p:spPr>
        <p:style>
          <a:lnRef idx="0"/>
          <a:fillRef idx="0"/>
          <a:effectRef idx="0"/>
          <a:fontRef idx="minor"/>
        </p:style>
        <p:txBody>
          <a:bodyPr lIns="90000" rIns="90000" tIns="-35280" bIns="-35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60" name="ชุมชนโรงปูนฝั่งเหนือ"/>
          <p:cNvSpPr/>
          <p:nvPr/>
        </p:nvSpPr>
        <p:spPr>
          <a:xfrm>
            <a:off x="6019200" y="5451480"/>
            <a:ext cx="52920" cy="10440"/>
          </a:xfrm>
          <a:custGeom>
            <a:avLst/>
            <a:gdLst/>
            <a:ahLst/>
            <a:rect l="l" t="t" r="r" b="b"/>
            <a:pathLst>
              <a:path w="53164" h="10971">
                <a:moveTo>
                  <a:pt x="42148" y="4314"/>
                </a:moveTo>
                <a:lnTo>
                  <a:pt x="28618" y="2835"/>
                </a:lnTo>
                <a:lnTo>
                  <a:pt x="28857" y="1726"/>
                </a:lnTo>
                <a:lnTo>
                  <a:pt x="22870" y="493"/>
                </a:lnTo>
                <a:lnTo>
                  <a:pt x="22032" y="1972"/>
                </a:lnTo>
                <a:lnTo>
                  <a:pt x="15327" y="2342"/>
                </a:lnTo>
                <a:lnTo>
                  <a:pt x="599" y="0"/>
                </a:lnTo>
                <a:lnTo>
                  <a:pt x="0" y="2096"/>
                </a:lnTo>
                <a:lnTo>
                  <a:pt x="25984" y="8505"/>
                </a:lnTo>
                <a:lnTo>
                  <a:pt x="39275" y="6533"/>
                </a:lnTo>
                <a:lnTo>
                  <a:pt x="51368" y="10971"/>
                </a:lnTo>
                <a:lnTo>
                  <a:pt x="53164" y="6410"/>
                </a:lnTo>
                <a:lnTo>
                  <a:pt x="42148" y="4314"/>
                </a:lnTo>
                <a:close/>
              </a:path>
            </a:pathLst>
          </a:custGeom>
          <a:solidFill>
            <a:srgbClr val="f2c8ad"/>
          </a:solidFill>
          <a:ln w="6191">
            <a:solidFill>
              <a:srgbClr val="b7633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61" name="ชุมชนเพชรบุรี 40"/>
          <p:cNvSpPr/>
          <p:nvPr/>
        </p:nvSpPr>
        <p:spPr>
          <a:xfrm>
            <a:off x="5914440" y="5455800"/>
            <a:ext cx="8280" cy="10440"/>
          </a:xfrm>
          <a:custGeom>
            <a:avLst/>
            <a:gdLst/>
            <a:ahLst/>
            <a:rect l="l" t="t" r="r" b="b"/>
            <a:pathLst>
              <a:path w="8741" h="10971">
                <a:moveTo>
                  <a:pt x="0" y="9122"/>
                </a:moveTo>
                <a:lnTo>
                  <a:pt x="5867" y="10971"/>
                </a:lnTo>
                <a:lnTo>
                  <a:pt x="8741" y="1726"/>
                </a:lnTo>
                <a:lnTo>
                  <a:pt x="2395" y="0"/>
                </a:lnTo>
                <a:lnTo>
                  <a:pt x="0" y="9122"/>
                </a:lnTo>
                <a:close/>
              </a:path>
            </a:pathLst>
          </a:custGeom>
          <a:solidFill>
            <a:srgbClr val="f2c8ad"/>
          </a:solidFill>
          <a:ln w="6191">
            <a:solidFill>
              <a:srgbClr val="b7633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62" name="วัดนาค-สี่บาท"/>
          <p:cNvSpPr/>
          <p:nvPr/>
        </p:nvSpPr>
        <p:spPr>
          <a:xfrm>
            <a:off x="4279320" y="6308280"/>
            <a:ext cx="13680" cy="12600"/>
          </a:xfrm>
          <a:custGeom>
            <a:avLst/>
            <a:gdLst/>
            <a:ahLst/>
            <a:rect l="l" t="t" r="r" b="b"/>
            <a:pathLst>
              <a:path w="13890" h="12943">
                <a:moveTo>
                  <a:pt x="0" y="4191"/>
                </a:moveTo>
                <a:lnTo>
                  <a:pt x="2634" y="12943"/>
                </a:lnTo>
                <a:lnTo>
                  <a:pt x="6705" y="10354"/>
                </a:lnTo>
                <a:lnTo>
                  <a:pt x="11615" y="9615"/>
                </a:lnTo>
                <a:lnTo>
                  <a:pt x="13890" y="247"/>
                </a:lnTo>
                <a:lnTo>
                  <a:pt x="10777" y="0"/>
                </a:lnTo>
                <a:lnTo>
                  <a:pt x="0" y="4191"/>
                </a:lnTo>
                <a:close/>
              </a:path>
            </a:pathLst>
          </a:custGeom>
          <a:solidFill>
            <a:srgbClr val="f2c8ad"/>
          </a:solidFill>
          <a:ln w="6191">
            <a:solidFill>
              <a:srgbClr val="b7633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63" name="ปู่โฉมพัฒนา"/>
          <p:cNvSpPr/>
          <p:nvPr/>
        </p:nvSpPr>
        <p:spPr>
          <a:xfrm>
            <a:off x="3942000" y="6948720"/>
            <a:ext cx="58320" cy="23400"/>
          </a:xfrm>
          <a:custGeom>
            <a:avLst/>
            <a:gdLst/>
            <a:ahLst/>
            <a:rect l="l" t="t" r="r" b="b"/>
            <a:pathLst>
              <a:path w="58553" h="23667">
                <a:moveTo>
                  <a:pt x="54841" y="0"/>
                </a:moveTo>
                <a:lnTo>
                  <a:pt x="0" y="20215"/>
                </a:lnTo>
                <a:lnTo>
                  <a:pt x="1437" y="23667"/>
                </a:lnTo>
                <a:lnTo>
                  <a:pt x="26343" y="14175"/>
                </a:lnTo>
                <a:lnTo>
                  <a:pt x="27181" y="15655"/>
                </a:lnTo>
                <a:lnTo>
                  <a:pt x="30534" y="14175"/>
                </a:lnTo>
                <a:lnTo>
                  <a:pt x="30055" y="13066"/>
                </a:lnTo>
                <a:lnTo>
                  <a:pt x="58553" y="1972"/>
                </a:lnTo>
                <a:lnTo>
                  <a:pt x="54841" y="0"/>
                </a:lnTo>
                <a:close/>
              </a:path>
            </a:pathLst>
          </a:custGeom>
          <a:solidFill>
            <a:srgbClr val="f2c8ad"/>
          </a:solidFill>
          <a:ln w="6191">
            <a:solidFill>
              <a:srgbClr val="b7633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64" name="ชุมชนวัดดีดวด"/>
          <p:cNvSpPr/>
          <p:nvPr/>
        </p:nvSpPr>
        <p:spPr>
          <a:xfrm>
            <a:off x="4604400" y="5484600"/>
            <a:ext cx="15120" cy="22680"/>
          </a:xfrm>
          <a:custGeom>
            <a:avLst/>
            <a:gdLst/>
            <a:ahLst/>
            <a:rect l="l" t="t" r="r" b="b"/>
            <a:pathLst>
              <a:path w="15566" h="23051">
                <a:moveTo>
                  <a:pt x="13650" y="3575"/>
                </a:moveTo>
                <a:lnTo>
                  <a:pt x="13171" y="0"/>
                </a:lnTo>
                <a:lnTo>
                  <a:pt x="3233" y="616"/>
                </a:lnTo>
                <a:lnTo>
                  <a:pt x="0" y="3451"/>
                </a:lnTo>
                <a:lnTo>
                  <a:pt x="6107" y="23051"/>
                </a:lnTo>
                <a:lnTo>
                  <a:pt x="15566" y="20339"/>
                </a:lnTo>
                <a:lnTo>
                  <a:pt x="13650" y="3575"/>
                </a:lnTo>
                <a:close/>
              </a:path>
            </a:pathLst>
          </a:custGeom>
          <a:solidFill>
            <a:srgbClr val="f2c8ad"/>
          </a:solidFill>
          <a:ln w="6191">
            <a:solidFill>
              <a:srgbClr val="b7633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65" name="วัดท่าพระ"/>
          <p:cNvSpPr/>
          <p:nvPr/>
        </p:nvSpPr>
        <p:spPr>
          <a:xfrm>
            <a:off x="4591800" y="5576400"/>
            <a:ext cx="20880" cy="32760"/>
          </a:xfrm>
          <a:custGeom>
            <a:avLst/>
            <a:gdLst/>
            <a:ahLst/>
            <a:rect l="l" t="t" r="r" b="b"/>
            <a:pathLst>
              <a:path w="21194" h="33035">
                <a:moveTo>
                  <a:pt x="10178" y="23913"/>
                </a:moveTo>
                <a:lnTo>
                  <a:pt x="10777" y="23051"/>
                </a:lnTo>
                <a:lnTo>
                  <a:pt x="9220" y="22188"/>
                </a:lnTo>
                <a:lnTo>
                  <a:pt x="12692" y="14175"/>
                </a:lnTo>
                <a:lnTo>
                  <a:pt x="14129" y="11833"/>
                </a:lnTo>
                <a:lnTo>
                  <a:pt x="18081" y="13682"/>
                </a:lnTo>
                <a:lnTo>
                  <a:pt x="21194" y="3944"/>
                </a:lnTo>
                <a:lnTo>
                  <a:pt x="15566" y="0"/>
                </a:lnTo>
                <a:lnTo>
                  <a:pt x="4790" y="7889"/>
                </a:lnTo>
                <a:lnTo>
                  <a:pt x="9938" y="11957"/>
                </a:lnTo>
                <a:lnTo>
                  <a:pt x="12213" y="11587"/>
                </a:lnTo>
                <a:lnTo>
                  <a:pt x="4909" y="24653"/>
                </a:lnTo>
                <a:lnTo>
                  <a:pt x="0" y="29337"/>
                </a:lnTo>
                <a:lnTo>
                  <a:pt x="3592" y="33035"/>
                </a:lnTo>
                <a:lnTo>
                  <a:pt x="10178" y="23913"/>
                </a:lnTo>
                <a:close/>
              </a:path>
            </a:pathLst>
          </a:custGeom>
          <a:solidFill>
            <a:srgbClr val="f2c8ad"/>
          </a:solidFill>
          <a:ln w="6191">
            <a:solidFill>
              <a:srgbClr val="b7633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66" name="ชุมชนวัดประดู่ฉิมพลี"/>
          <p:cNvSpPr/>
          <p:nvPr/>
        </p:nvSpPr>
        <p:spPr>
          <a:xfrm>
            <a:off x="4519800" y="5686920"/>
            <a:ext cx="22680" cy="19080"/>
          </a:xfrm>
          <a:custGeom>
            <a:avLst/>
            <a:gdLst/>
            <a:ahLst/>
            <a:rect l="l" t="t" r="r" b="b"/>
            <a:pathLst>
              <a:path w="23110" h="19599">
                <a:moveTo>
                  <a:pt x="7663" y="16517"/>
                </a:moveTo>
                <a:lnTo>
                  <a:pt x="12932" y="19599"/>
                </a:lnTo>
                <a:lnTo>
                  <a:pt x="23110" y="8135"/>
                </a:lnTo>
                <a:lnTo>
                  <a:pt x="12213" y="0"/>
                </a:lnTo>
                <a:lnTo>
                  <a:pt x="0" y="9984"/>
                </a:lnTo>
                <a:lnTo>
                  <a:pt x="7663" y="16517"/>
                </a:lnTo>
                <a:close/>
              </a:path>
            </a:pathLst>
          </a:custGeom>
          <a:solidFill>
            <a:srgbClr val="f2c8ad"/>
          </a:solidFill>
          <a:ln w="6191">
            <a:solidFill>
              <a:srgbClr val="b7633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67" name="ชุมชนวัดใหม่พิเรนทร์"/>
          <p:cNvSpPr/>
          <p:nvPr/>
        </p:nvSpPr>
        <p:spPr>
          <a:xfrm>
            <a:off x="4666680" y="5476320"/>
            <a:ext cx="34560" cy="20520"/>
          </a:xfrm>
          <a:custGeom>
            <a:avLst/>
            <a:gdLst/>
            <a:ahLst/>
            <a:rect l="l" t="t" r="r" b="b"/>
            <a:pathLst>
              <a:path w="34844" h="20955">
                <a:moveTo>
                  <a:pt x="3353" y="20955"/>
                </a:moveTo>
                <a:lnTo>
                  <a:pt x="28019" y="19476"/>
                </a:lnTo>
                <a:lnTo>
                  <a:pt x="28019" y="17750"/>
                </a:lnTo>
                <a:lnTo>
                  <a:pt x="32450" y="17380"/>
                </a:lnTo>
                <a:lnTo>
                  <a:pt x="32689" y="13066"/>
                </a:lnTo>
                <a:lnTo>
                  <a:pt x="34844" y="10108"/>
                </a:lnTo>
                <a:lnTo>
                  <a:pt x="27899" y="616"/>
                </a:lnTo>
                <a:lnTo>
                  <a:pt x="16644" y="1479"/>
                </a:lnTo>
                <a:lnTo>
                  <a:pt x="0" y="0"/>
                </a:lnTo>
                <a:lnTo>
                  <a:pt x="3353" y="20955"/>
                </a:lnTo>
                <a:close/>
              </a:path>
            </a:pathLst>
          </a:custGeom>
          <a:solidFill>
            <a:srgbClr val="f2c8ad"/>
          </a:solidFill>
          <a:ln w="6191">
            <a:solidFill>
              <a:srgbClr val="b7633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68" name="ชุมชนศาลเจ้าพ่อเขาตก"/>
          <p:cNvSpPr/>
          <p:nvPr/>
        </p:nvSpPr>
        <p:spPr>
          <a:xfrm>
            <a:off x="4558680" y="5699160"/>
            <a:ext cx="27360" cy="25200"/>
          </a:xfrm>
          <a:custGeom>
            <a:avLst/>
            <a:gdLst/>
            <a:ahLst/>
            <a:rect l="l" t="t" r="r" b="b"/>
            <a:pathLst>
              <a:path w="27899" h="25393">
                <a:moveTo>
                  <a:pt x="7783" y="7026"/>
                </a:moveTo>
                <a:lnTo>
                  <a:pt x="6226" y="11217"/>
                </a:lnTo>
                <a:lnTo>
                  <a:pt x="2275" y="14792"/>
                </a:lnTo>
                <a:lnTo>
                  <a:pt x="0" y="21941"/>
                </a:lnTo>
                <a:lnTo>
                  <a:pt x="6226" y="25393"/>
                </a:lnTo>
                <a:lnTo>
                  <a:pt x="11974" y="23544"/>
                </a:lnTo>
                <a:lnTo>
                  <a:pt x="22391" y="25393"/>
                </a:lnTo>
                <a:lnTo>
                  <a:pt x="27899" y="7889"/>
                </a:lnTo>
                <a:lnTo>
                  <a:pt x="23110" y="6163"/>
                </a:lnTo>
                <a:lnTo>
                  <a:pt x="23469" y="4068"/>
                </a:lnTo>
                <a:lnTo>
                  <a:pt x="19398" y="4191"/>
                </a:lnTo>
                <a:lnTo>
                  <a:pt x="19518" y="3082"/>
                </a:lnTo>
                <a:lnTo>
                  <a:pt x="12094" y="0"/>
                </a:lnTo>
                <a:lnTo>
                  <a:pt x="7783" y="7026"/>
                </a:lnTo>
                <a:close/>
              </a:path>
            </a:pathLst>
          </a:custGeom>
          <a:solidFill>
            <a:srgbClr val="f2c8ad"/>
          </a:solidFill>
          <a:ln w="6191">
            <a:solidFill>
              <a:srgbClr val="b7633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69" name="ชุมชนหลังโรงกรองน้ำภาษีเจริญ"/>
          <p:cNvSpPr/>
          <p:nvPr/>
        </p:nvSpPr>
        <p:spPr>
          <a:xfrm>
            <a:off x="4615920" y="5575680"/>
            <a:ext cx="23760" cy="25200"/>
          </a:xfrm>
          <a:custGeom>
            <a:avLst/>
            <a:gdLst/>
            <a:ahLst/>
            <a:rect l="l" t="t" r="r" b="b"/>
            <a:pathLst>
              <a:path w="24187" h="25393">
                <a:moveTo>
                  <a:pt x="19637" y="21202"/>
                </a:moveTo>
                <a:lnTo>
                  <a:pt x="24187" y="18120"/>
                </a:lnTo>
                <a:lnTo>
                  <a:pt x="18440" y="0"/>
                </a:lnTo>
                <a:lnTo>
                  <a:pt x="1557" y="1972"/>
                </a:lnTo>
                <a:lnTo>
                  <a:pt x="0" y="22804"/>
                </a:lnTo>
                <a:lnTo>
                  <a:pt x="10178" y="25393"/>
                </a:lnTo>
                <a:lnTo>
                  <a:pt x="19637" y="21202"/>
                </a:lnTo>
                <a:close/>
              </a:path>
            </a:pathLst>
          </a:custGeom>
          <a:solidFill>
            <a:srgbClr val="f2c8ad"/>
          </a:solidFill>
          <a:ln w="6191">
            <a:solidFill>
              <a:srgbClr val="b7633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70" name="ชุมชนหลังโรงเคลือบ"/>
          <p:cNvSpPr/>
          <p:nvPr/>
        </p:nvSpPr>
        <p:spPr>
          <a:xfrm>
            <a:off x="4540680" y="5580000"/>
            <a:ext cx="21960" cy="16200"/>
          </a:xfrm>
          <a:custGeom>
            <a:avLst/>
            <a:gdLst/>
            <a:ahLst/>
            <a:rect l="l" t="t" r="r" b="b"/>
            <a:pathLst>
              <a:path w="22391" h="16394">
                <a:moveTo>
                  <a:pt x="4670" y="3328"/>
                </a:moveTo>
                <a:lnTo>
                  <a:pt x="0" y="3698"/>
                </a:lnTo>
                <a:lnTo>
                  <a:pt x="1557" y="16394"/>
                </a:lnTo>
                <a:lnTo>
                  <a:pt x="22391" y="10847"/>
                </a:lnTo>
                <a:lnTo>
                  <a:pt x="19877" y="0"/>
                </a:lnTo>
                <a:lnTo>
                  <a:pt x="4670" y="3328"/>
                </a:lnTo>
                <a:close/>
              </a:path>
            </a:pathLst>
          </a:custGeom>
          <a:solidFill>
            <a:srgbClr val="f2c8ad"/>
          </a:solidFill>
          <a:ln w="6191">
            <a:solidFill>
              <a:srgbClr val="b7633d"/>
            </a:solidFill>
            <a:round/>
          </a:ln>
        </p:spPr>
        <p:style>
          <a:lnRef idx="0"/>
          <a:fillRef idx="0"/>
          <a:effectRef idx="0"/>
          <a:fontRef idx="minor"/>
        </p:style>
        <p:txBody>
          <a:bodyPr lIns="90000" rIns="90000" tIns="-28800" bIns="-28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71" name="วัดรางบัว"/>
          <p:cNvSpPr/>
          <p:nvPr/>
        </p:nvSpPr>
        <p:spPr>
          <a:xfrm>
            <a:off x="4144680" y="5861520"/>
            <a:ext cx="26280" cy="20880"/>
          </a:xfrm>
          <a:custGeom>
            <a:avLst/>
            <a:gdLst/>
            <a:ahLst/>
            <a:rect l="l" t="t" r="r" b="b"/>
            <a:pathLst>
              <a:path w="26582" h="21325">
                <a:moveTo>
                  <a:pt x="0" y="9615"/>
                </a:moveTo>
                <a:lnTo>
                  <a:pt x="120" y="21325"/>
                </a:lnTo>
                <a:lnTo>
                  <a:pt x="17721" y="21325"/>
                </a:lnTo>
                <a:lnTo>
                  <a:pt x="26582" y="0"/>
                </a:lnTo>
                <a:lnTo>
                  <a:pt x="0" y="9615"/>
                </a:lnTo>
                <a:close/>
              </a:path>
            </a:pathLst>
          </a:custGeom>
          <a:solidFill>
            <a:srgbClr val="f2c8ad"/>
          </a:solidFill>
          <a:ln w="6191">
            <a:solidFill>
              <a:srgbClr val="b7633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72" name="สุภัทรภิบาล"/>
          <p:cNvSpPr/>
          <p:nvPr/>
        </p:nvSpPr>
        <p:spPr>
          <a:xfrm>
            <a:off x="4299120" y="5804640"/>
            <a:ext cx="37440" cy="33840"/>
          </a:xfrm>
          <a:custGeom>
            <a:avLst/>
            <a:gdLst/>
            <a:ahLst/>
            <a:rect l="l" t="t" r="r" b="b"/>
            <a:pathLst>
              <a:path w="37838" h="34021">
                <a:moveTo>
                  <a:pt x="29456" y="0"/>
                </a:moveTo>
                <a:lnTo>
                  <a:pt x="4311" y="8875"/>
                </a:lnTo>
                <a:lnTo>
                  <a:pt x="0" y="34021"/>
                </a:lnTo>
                <a:lnTo>
                  <a:pt x="37838" y="33281"/>
                </a:lnTo>
                <a:lnTo>
                  <a:pt x="37359" y="22557"/>
                </a:lnTo>
                <a:lnTo>
                  <a:pt x="29576" y="22681"/>
                </a:lnTo>
                <a:lnTo>
                  <a:pt x="29456" y="0"/>
                </a:lnTo>
                <a:close/>
              </a:path>
            </a:pathLst>
          </a:custGeom>
          <a:solidFill>
            <a:srgbClr val="f2c8ad"/>
          </a:solidFill>
          <a:ln w="6191">
            <a:solidFill>
              <a:srgbClr val="b7633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73" name="วัดจันทร์ประดิษฐาราม เขต 1 หมู่ 3"/>
          <p:cNvSpPr/>
          <p:nvPr/>
        </p:nvSpPr>
        <p:spPr>
          <a:xfrm>
            <a:off x="4107600" y="5719320"/>
            <a:ext cx="54360" cy="37800"/>
          </a:xfrm>
          <a:custGeom>
            <a:avLst/>
            <a:gdLst/>
            <a:ahLst/>
            <a:rect l="l" t="t" r="r" b="b"/>
            <a:pathLst>
              <a:path w="54841" h="38089">
                <a:moveTo>
                  <a:pt x="11974" y="7642"/>
                </a:moveTo>
                <a:lnTo>
                  <a:pt x="0" y="16887"/>
                </a:lnTo>
                <a:lnTo>
                  <a:pt x="2036" y="18860"/>
                </a:lnTo>
                <a:lnTo>
                  <a:pt x="6107" y="16024"/>
                </a:lnTo>
                <a:lnTo>
                  <a:pt x="11615" y="20955"/>
                </a:lnTo>
                <a:lnTo>
                  <a:pt x="17003" y="29460"/>
                </a:lnTo>
                <a:lnTo>
                  <a:pt x="11375" y="33528"/>
                </a:lnTo>
                <a:lnTo>
                  <a:pt x="15925" y="38089"/>
                </a:lnTo>
                <a:lnTo>
                  <a:pt x="22272" y="36856"/>
                </a:lnTo>
                <a:lnTo>
                  <a:pt x="25145" y="34761"/>
                </a:lnTo>
                <a:lnTo>
                  <a:pt x="22631" y="31309"/>
                </a:lnTo>
                <a:lnTo>
                  <a:pt x="33886" y="24530"/>
                </a:lnTo>
                <a:lnTo>
                  <a:pt x="36042" y="27981"/>
                </a:lnTo>
                <a:lnTo>
                  <a:pt x="54841" y="15531"/>
                </a:lnTo>
                <a:lnTo>
                  <a:pt x="38077" y="2712"/>
                </a:lnTo>
                <a:lnTo>
                  <a:pt x="32210" y="0"/>
                </a:lnTo>
                <a:lnTo>
                  <a:pt x="24427" y="6533"/>
                </a:lnTo>
                <a:lnTo>
                  <a:pt x="20236" y="2096"/>
                </a:lnTo>
                <a:lnTo>
                  <a:pt x="11974" y="7642"/>
                </a:lnTo>
                <a:close/>
              </a:path>
            </a:pathLst>
          </a:custGeom>
          <a:solidFill>
            <a:srgbClr val="f2c8ad"/>
          </a:solidFill>
          <a:ln w="6191">
            <a:solidFill>
              <a:srgbClr val="b7633d"/>
            </a:solidFill>
            <a:round/>
          </a:ln>
        </p:spPr>
        <p:style>
          <a:lnRef idx="0"/>
          <a:fillRef idx="0"/>
          <a:effectRef idx="0"/>
          <a:fontRef idx="minor"/>
        </p:style>
        <p:txBody>
          <a:bodyPr lIns="90000" rIns="90000" tIns="-7200" bIns="-7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74" name="ข้างวัดบางแวก"/>
          <p:cNvSpPr/>
          <p:nvPr/>
        </p:nvSpPr>
        <p:spPr>
          <a:xfrm>
            <a:off x="4419720" y="5534280"/>
            <a:ext cx="31320" cy="21240"/>
          </a:xfrm>
          <a:custGeom>
            <a:avLst/>
            <a:gdLst/>
            <a:ahLst/>
            <a:rect l="l" t="t" r="r" b="b"/>
            <a:pathLst>
              <a:path w="31851" h="21571">
                <a:moveTo>
                  <a:pt x="30414" y="6287"/>
                </a:moveTo>
                <a:lnTo>
                  <a:pt x="29935" y="247"/>
                </a:lnTo>
                <a:lnTo>
                  <a:pt x="20595" y="0"/>
                </a:lnTo>
                <a:lnTo>
                  <a:pt x="20954" y="2589"/>
                </a:lnTo>
                <a:lnTo>
                  <a:pt x="16285" y="6410"/>
                </a:lnTo>
                <a:lnTo>
                  <a:pt x="18440" y="9738"/>
                </a:lnTo>
                <a:lnTo>
                  <a:pt x="7903" y="15655"/>
                </a:lnTo>
                <a:lnTo>
                  <a:pt x="0" y="18120"/>
                </a:lnTo>
                <a:lnTo>
                  <a:pt x="1676" y="21571"/>
                </a:lnTo>
                <a:lnTo>
                  <a:pt x="31851" y="12943"/>
                </a:lnTo>
                <a:lnTo>
                  <a:pt x="30414" y="6287"/>
                </a:lnTo>
                <a:close/>
              </a:path>
            </a:pathLst>
          </a:custGeom>
          <a:solidFill>
            <a:srgbClr val="f2c8ad"/>
          </a:solidFill>
          <a:ln w="6191">
            <a:solidFill>
              <a:srgbClr val="b7633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75" name="บุญส่ง"/>
          <p:cNvSpPr/>
          <p:nvPr/>
        </p:nvSpPr>
        <p:spPr>
          <a:xfrm>
            <a:off x="3281040" y="5698080"/>
            <a:ext cx="12960" cy="9720"/>
          </a:xfrm>
          <a:custGeom>
            <a:avLst/>
            <a:gdLst/>
            <a:ahLst/>
            <a:rect l="l" t="t" r="r" b="b"/>
            <a:pathLst>
              <a:path w="13291" h="10108">
                <a:moveTo>
                  <a:pt x="8382" y="0"/>
                </a:moveTo>
                <a:lnTo>
                  <a:pt x="0" y="3082"/>
                </a:lnTo>
                <a:lnTo>
                  <a:pt x="599" y="10108"/>
                </a:lnTo>
                <a:lnTo>
                  <a:pt x="13291" y="5177"/>
                </a:lnTo>
                <a:lnTo>
                  <a:pt x="11974" y="1356"/>
                </a:lnTo>
                <a:lnTo>
                  <a:pt x="8980" y="1356"/>
                </a:lnTo>
                <a:lnTo>
                  <a:pt x="8382" y="0"/>
                </a:lnTo>
                <a:close/>
              </a:path>
            </a:pathLst>
          </a:custGeom>
          <a:solidFill>
            <a:srgbClr val="f2c8ad"/>
          </a:solidFill>
          <a:ln w="6191">
            <a:solidFill>
              <a:srgbClr val="b7633d"/>
            </a:solidFill>
            <a:round/>
          </a:ln>
        </p:spPr>
        <p:style>
          <a:lnRef idx="0"/>
          <a:fillRef idx="0"/>
          <a:effectRef idx="0"/>
          <a:fontRef idx="minor"/>
        </p:style>
        <p:txBody>
          <a:bodyPr lIns="90000" rIns="90000" tIns="-35280" bIns="-35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76" name="กองขยะหนองแขม"/>
          <p:cNvSpPr/>
          <p:nvPr/>
        </p:nvSpPr>
        <p:spPr>
          <a:xfrm>
            <a:off x="3247200" y="5767200"/>
            <a:ext cx="29520" cy="19800"/>
          </a:xfrm>
          <a:custGeom>
            <a:avLst/>
            <a:gdLst/>
            <a:ahLst/>
            <a:rect l="l" t="t" r="r" b="b"/>
            <a:pathLst>
              <a:path w="29815" h="20092">
                <a:moveTo>
                  <a:pt x="1317" y="7642"/>
                </a:moveTo>
                <a:lnTo>
                  <a:pt x="0" y="8752"/>
                </a:lnTo>
                <a:lnTo>
                  <a:pt x="0" y="20092"/>
                </a:lnTo>
                <a:lnTo>
                  <a:pt x="29815" y="12943"/>
                </a:lnTo>
                <a:lnTo>
                  <a:pt x="29695" y="0"/>
                </a:lnTo>
                <a:lnTo>
                  <a:pt x="1317" y="7642"/>
                </a:lnTo>
                <a:close/>
              </a:path>
            </a:pathLst>
          </a:custGeom>
          <a:solidFill>
            <a:srgbClr val="f2c8ad"/>
          </a:solidFill>
          <a:ln w="6191">
            <a:solidFill>
              <a:srgbClr val="b7633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77" name="แจงร้อน"/>
          <p:cNvSpPr/>
          <p:nvPr/>
        </p:nvSpPr>
        <p:spPr>
          <a:xfrm>
            <a:off x="5114520" y="6296040"/>
            <a:ext cx="17640" cy="18360"/>
          </a:xfrm>
          <a:custGeom>
            <a:avLst/>
            <a:gdLst/>
            <a:ahLst/>
            <a:rect l="l" t="t" r="r" b="b"/>
            <a:pathLst>
              <a:path w="17961" h="18613">
                <a:moveTo>
                  <a:pt x="11495" y="0"/>
                </a:moveTo>
                <a:lnTo>
                  <a:pt x="0" y="12203"/>
                </a:lnTo>
                <a:lnTo>
                  <a:pt x="3472" y="18613"/>
                </a:lnTo>
                <a:lnTo>
                  <a:pt x="7663" y="14299"/>
                </a:lnTo>
                <a:lnTo>
                  <a:pt x="8980" y="15531"/>
                </a:lnTo>
                <a:lnTo>
                  <a:pt x="17961" y="6163"/>
                </a:lnTo>
                <a:lnTo>
                  <a:pt x="11495" y="0"/>
                </a:lnTo>
                <a:close/>
              </a:path>
            </a:pathLst>
          </a:custGeom>
          <a:solidFill>
            <a:srgbClr val="f2c8ad"/>
          </a:solidFill>
          <a:ln w="6191">
            <a:solidFill>
              <a:srgbClr val="b7633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78" name="สถาพร"/>
          <p:cNvSpPr/>
          <p:nvPr/>
        </p:nvSpPr>
        <p:spPr>
          <a:xfrm>
            <a:off x="4966920" y="6406560"/>
            <a:ext cx="69480" cy="48960"/>
          </a:xfrm>
          <a:custGeom>
            <a:avLst/>
            <a:gdLst/>
            <a:ahLst/>
            <a:rect l="l" t="t" r="r" b="b"/>
            <a:pathLst>
              <a:path w="69689" h="49429">
                <a:moveTo>
                  <a:pt x="45381" y="5917"/>
                </a:moveTo>
                <a:lnTo>
                  <a:pt x="33647" y="3082"/>
                </a:lnTo>
                <a:lnTo>
                  <a:pt x="31731" y="370"/>
                </a:lnTo>
                <a:lnTo>
                  <a:pt x="26582" y="0"/>
                </a:lnTo>
                <a:lnTo>
                  <a:pt x="23589" y="3205"/>
                </a:lnTo>
                <a:lnTo>
                  <a:pt x="19518" y="1233"/>
                </a:lnTo>
                <a:lnTo>
                  <a:pt x="15207" y="12326"/>
                </a:lnTo>
                <a:lnTo>
                  <a:pt x="11495" y="11217"/>
                </a:lnTo>
                <a:lnTo>
                  <a:pt x="7663" y="20585"/>
                </a:lnTo>
                <a:lnTo>
                  <a:pt x="2395" y="18490"/>
                </a:lnTo>
                <a:lnTo>
                  <a:pt x="0" y="23544"/>
                </a:lnTo>
                <a:lnTo>
                  <a:pt x="43705" y="49429"/>
                </a:lnTo>
                <a:lnTo>
                  <a:pt x="65498" y="21571"/>
                </a:lnTo>
                <a:lnTo>
                  <a:pt x="69689" y="11833"/>
                </a:lnTo>
                <a:lnTo>
                  <a:pt x="45381" y="5917"/>
                </a:lnTo>
                <a:close/>
              </a:path>
            </a:pathLst>
          </a:custGeom>
          <a:solidFill>
            <a:srgbClr val="f2c8ad"/>
          </a:solidFill>
          <a:ln w="6191">
            <a:solidFill>
              <a:srgbClr val="b7633d"/>
            </a:solidFill>
            <a:round/>
          </a:ln>
        </p:spPr>
        <p:style>
          <a:lnRef idx="0"/>
          <a:fillRef idx="0"/>
          <a:effectRef idx="0"/>
          <a:fontRef idx="minor"/>
        </p:style>
        <p:txBody>
          <a:bodyPr lIns="90000" rIns="90000" tIns="3960" bIns="3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79" name="เบอร์ลี่"/>
          <p:cNvSpPr/>
          <p:nvPr/>
        </p:nvSpPr>
        <p:spPr>
          <a:xfrm>
            <a:off x="5016960" y="6253920"/>
            <a:ext cx="19440" cy="23400"/>
          </a:xfrm>
          <a:custGeom>
            <a:avLst/>
            <a:gdLst/>
            <a:ahLst/>
            <a:rect l="l" t="t" r="r" b="b"/>
            <a:pathLst>
              <a:path w="19637" h="23667">
                <a:moveTo>
                  <a:pt x="11854" y="0"/>
                </a:moveTo>
                <a:lnTo>
                  <a:pt x="0" y="19353"/>
                </a:lnTo>
                <a:lnTo>
                  <a:pt x="7424" y="23667"/>
                </a:lnTo>
                <a:lnTo>
                  <a:pt x="19637" y="4561"/>
                </a:lnTo>
                <a:lnTo>
                  <a:pt x="11854" y="0"/>
                </a:lnTo>
                <a:close/>
              </a:path>
            </a:pathLst>
          </a:custGeom>
          <a:solidFill>
            <a:srgbClr val="f2c8ad"/>
          </a:solidFill>
          <a:ln w="6191">
            <a:solidFill>
              <a:srgbClr val="b7633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80" name="ร่วมใจ"/>
          <p:cNvSpPr/>
          <p:nvPr/>
        </p:nvSpPr>
        <p:spPr>
          <a:xfrm>
            <a:off x="4984560" y="6360840"/>
            <a:ext cx="62280" cy="54000"/>
          </a:xfrm>
          <a:custGeom>
            <a:avLst/>
            <a:gdLst/>
            <a:ahLst/>
            <a:rect l="l" t="t" r="r" b="b"/>
            <a:pathLst>
              <a:path w="62504" h="54360">
                <a:moveTo>
                  <a:pt x="45621" y="54360"/>
                </a:moveTo>
                <a:lnTo>
                  <a:pt x="57355" y="42033"/>
                </a:lnTo>
                <a:lnTo>
                  <a:pt x="60948" y="41047"/>
                </a:lnTo>
                <a:lnTo>
                  <a:pt x="59630" y="31309"/>
                </a:lnTo>
                <a:lnTo>
                  <a:pt x="62504" y="22434"/>
                </a:lnTo>
                <a:lnTo>
                  <a:pt x="59870" y="21325"/>
                </a:lnTo>
                <a:lnTo>
                  <a:pt x="61786" y="16517"/>
                </a:lnTo>
                <a:lnTo>
                  <a:pt x="59750" y="13189"/>
                </a:lnTo>
                <a:lnTo>
                  <a:pt x="39514" y="6780"/>
                </a:lnTo>
                <a:lnTo>
                  <a:pt x="40712" y="2835"/>
                </a:lnTo>
                <a:lnTo>
                  <a:pt x="37479" y="1356"/>
                </a:lnTo>
                <a:lnTo>
                  <a:pt x="33527" y="8505"/>
                </a:lnTo>
                <a:lnTo>
                  <a:pt x="25984" y="5670"/>
                </a:lnTo>
                <a:lnTo>
                  <a:pt x="25864" y="3082"/>
                </a:lnTo>
                <a:lnTo>
                  <a:pt x="18200" y="0"/>
                </a:lnTo>
                <a:lnTo>
                  <a:pt x="0" y="41294"/>
                </a:lnTo>
                <a:lnTo>
                  <a:pt x="22272" y="48813"/>
                </a:lnTo>
                <a:lnTo>
                  <a:pt x="25265" y="49676"/>
                </a:lnTo>
                <a:lnTo>
                  <a:pt x="26103" y="48073"/>
                </a:lnTo>
                <a:lnTo>
                  <a:pt x="45621" y="54360"/>
                </a:lnTo>
                <a:close/>
              </a:path>
            </a:pathLst>
          </a:custGeom>
          <a:solidFill>
            <a:srgbClr val="f2c8ad"/>
          </a:solidFill>
          <a:ln w="6191">
            <a:solidFill>
              <a:srgbClr val="b7633d"/>
            </a:solidFill>
            <a:round/>
          </a:ln>
        </p:spPr>
        <p:style>
          <a:lnRef idx="0"/>
          <a:fillRef idx="0"/>
          <a:effectRef idx="0"/>
          <a:fontRef idx="minor"/>
        </p:style>
        <p:txBody>
          <a:bodyPr lIns="90000" rIns="90000" tIns="9000" bIns="9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81" name="วัดสน"/>
          <p:cNvSpPr/>
          <p:nvPr/>
        </p:nvSpPr>
        <p:spPr>
          <a:xfrm>
            <a:off x="5033520" y="6297480"/>
            <a:ext cx="53280" cy="51480"/>
          </a:xfrm>
          <a:custGeom>
            <a:avLst/>
            <a:gdLst/>
            <a:ahLst/>
            <a:rect l="l" t="t" r="r" b="b"/>
            <a:pathLst>
              <a:path w="53643" h="52018">
                <a:moveTo>
                  <a:pt x="0" y="43143"/>
                </a:moveTo>
                <a:lnTo>
                  <a:pt x="18440" y="52018"/>
                </a:lnTo>
                <a:lnTo>
                  <a:pt x="23110" y="42896"/>
                </a:lnTo>
                <a:lnTo>
                  <a:pt x="23110" y="38952"/>
                </a:lnTo>
                <a:lnTo>
                  <a:pt x="27899" y="38705"/>
                </a:lnTo>
                <a:lnTo>
                  <a:pt x="29217" y="32788"/>
                </a:lnTo>
                <a:lnTo>
                  <a:pt x="37359" y="31432"/>
                </a:lnTo>
                <a:lnTo>
                  <a:pt x="44304" y="28228"/>
                </a:lnTo>
                <a:lnTo>
                  <a:pt x="45980" y="25762"/>
                </a:lnTo>
                <a:lnTo>
                  <a:pt x="51249" y="26748"/>
                </a:lnTo>
                <a:lnTo>
                  <a:pt x="52686" y="20585"/>
                </a:lnTo>
                <a:lnTo>
                  <a:pt x="48614" y="19722"/>
                </a:lnTo>
                <a:lnTo>
                  <a:pt x="53643" y="11957"/>
                </a:lnTo>
                <a:lnTo>
                  <a:pt x="29695" y="0"/>
                </a:lnTo>
                <a:lnTo>
                  <a:pt x="0" y="43143"/>
                </a:lnTo>
                <a:close/>
              </a:path>
            </a:pathLst>
          </a:custGeom>
          <a:solidFill>
            <a:srgbClr val="f2c8ad"/>
          </a:solidFill>
          <a:ln w="6191">
            <a:solidFill>
              <a:srgbClr val="b7633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82" name="สุขสวัสดิ 29"/>
          <p:cNvSpPr/>
          <p:nvPr/>
        </p:nvSpPr>
        <p:spPr>
          <a:xfrm>
            <a:off x="4975560" y="6237000"/>
            <a:ext cx="33120" cy="43560"/>
          </a:xfrm>
          <a:custGeom>
            <a:avLst/>
            <a:gdLst/>
            <a:ahLst/>
            <a:rect l="l" t="t" r="r" b="b"/>
            <a:pathLst>
              <a:path w="33647" h="43882">
                <a:moveTo>
                  <a:pt x="0" y="30939"/>
                </a:moveTo>
                <a:lnTo>
                  <a:pt x="25505" y="43882"/>
                </a:lnTo>
                <a:lnTo>
                  <a:pt x="33288" y="32172"/>
                </a:lnTo>
                <a:lnTo>
                  <a:pt x="33647" y="29460"/>
                </a:lnTo>
                <a:lnTo>
                  <a:pt x="24666" y="25269"/>
                </a:lnTo>
                <a:lnTo>
                  <a:pt x="32809" y="5670"/>
                </a:lnTo>
                <a:lnTo>
                  <a:pt x="19757" y="0"/>
                </a:lnTo>
                <a:lnTo>
                  <a:pt x="16524" y="10478"/>
                </a:lnTo>
                <a:lnTo>
                  <a:pt x="6705" y="7273"/>
                </a:lnTo>
                <a:lnTo>
                  <a:pt x="0" y="30939"/>
                </a:lnTo>
                <a:close/>
              </a:path>
            </a:pathLst>
          </a:custGeom>
          <a:solidFill>
            <a:srgbClr val="f2c8ad"/>
          </a:solidFill>
          <a:ln w="6191">
            <a:solidFill>
              <a:srgbClr val="b7633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83" name="สุขสวัสดิ์31"/>
          <p:cNvSpPr/>
          <p:nvPr/>
        </p:nvSpPr>
        <p:spPr>
          <a:xfrm>
            <a:off x="4949280" y="6281280"/>
            <a:ext cx="53640" cy="53640"/>
          </a:xfrm>
          <a:custGeom>
            <a:avLst/>
            <a:gdLst/>
            <a:ahLst/>
            <a:rect l="l" t="t" r="r" b="b"/>
            <a:pathLst>
              <a:path w="54003" h="54113">
                <a:moveTo>
                  <a:pt x="37958" y="54113"/>
                </a:moveTo>
                <a:lnTo>
                  <a:pt x="42867" y="41294"/>
                </a:lnTo>
                <a:lnTo>
                  <a:pt x="54003" y="21078"/>
                </a:lnTo>
                <a:lnTo>
                  <a:pt x="51368" y="19353"/>
                </a:lnTo>
                <a:lnTo>
                  <a:pt x="52566" y="16271"/>
                </a:lnTo>
                <a:lnTo>
                  <a:pt x="38077" y="11094"/>
                </a:lnTo>
                <a:lnTo>
                  <a:pt x="37359" y="12573"/>
                </a:lnTo>
                <a:lnTo>
                  <a:pt x="6825" y="0"/>
                </a:lnTo>
                <a:lnTo>
                  <a:pt x="2155" y="14915"/>
                </a:lnTo>
                <a:lnTo>
                  <a:pt x="3472" y="16641"/>
                </a:lnTo>
                <a:lnTo>
                  <a:pt x="0" y="29337"/>
                </a:lnTo>
                <a:lnTo>
                  <a:pt x="37958" y="54113"/>
                </a:lnTo>
                <a:close/>
              </a:path>
            </a:pathLst>
          </a:custGeom>
          <a:solidFill>
            <a:srgbClr val="f2c8ad"/>
          </a:solidFill>
          <a:ln w="6191">
            <a:solidFill>
              <a:srgbClr val="b7633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84" name="วัดจันทร์ประดิษฐาราม เขต 2"/>
          <p:cNvSpPr/>
          <p:nvPr/>
        </p:nvSpPr>
        <p:spPr>
          <a:xfrm>
            <a:off x="4187160" y="5783760"/>
            <a:ext cx="25200" cy="37440"/>
          </a:xfrm>
          <a:custGeom>
            <a:avLst/>
            <a:gdLst/>
            <a:ahLst/>
            <a:rect l="l" t="t" r="r" b="b"/>
            <a:pathLst>
              <a:path w="25385" h="37842">
                <a:moveTo>
                  <a:pt x="8980" y="31679"/>
                </a:moveTo>
                <a:lnTo>
                  <a:pt x="15327" y="21695"/>
                </a:lnTo>
                <a:lnTo>
                  <a:pt x="16285" y="22311"/>
                </a:lnTo>
                <a:lnTo>
                  <a:pt x="17602" y="20339"/>
                </a:lnTo>
                <a:lnTo>
                  <a:pt x="19278" y="21448"/>
                </a:lnTo>
                <a:lnTo>
                  <a:pt x="20116" y="20092"/>
                </a:lnTo>
                <a:lnTo>
                  <a:pt x="25385" y="22681"/>
                </a:lnTo>
                <a:lnTo>
                  <a:pt x="19518" y="5793"/>
                </a:lnTo>
                <a:lnTo>
                  <a:pt x="15087" y="0"/>
                </a:lnTo>
                <a:lnTo>
                  <a:pt x="838" y="7396"/>
                </a:lnTo>
                <a:lnTo>
                  <a:pt x="2993" y="13066"/>
                </a:lnTo>
                <a:lnTo>
                  <a:pt x="0" y="13559"/>
                </a:lnTo>
                <a:lnTo>
                  <a:pt x="2515" y="26255"/>
                </a:lnTo>
                <a:lnTo>
                  <a:pt x="4311" y="28104"/>
                </a:lnTo>
                <a:lnTo>
                  <a:pt x="2155" y="36363"/>
                </a:lnTo>
                <a:lnTo>
                  <a:pt x="5029" y="37842"/>
                </a:lnTo>
                <a:lnTo>
                  <a:pt x="8980" y="31679"/>
                </a:lnTo>
                <a:close/>
              </a:path>
            </a:pathLst>
          </a:custGeom>
          <a:solidFill>
            <a:srgbClr val="f2c8ad"/>
          </a:solidFill>
          <a:ln w="6191">
            <a:solidFill>
              <a:srgbClr val="b7633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85" name="วัดจันทร์ประดิษฐาราม เขต 3"/>
          <p:cNvSpPr/>
          <p:nvPr/>
        </p:nvSpPr>
        <p:spPr>
          <a:xfrm>
            <a:off x="4205880" y="5726520"/>
            <a:ext cx="25920" cy="40680"/>
          </a:xfrm>
          <a:custGeom>
            <a:avLst/>
            <a:gdLst/>
            <a:ahLst/>
            <a:rect l="l" t="t" r="r" b="b"/>
            <a:pathLst>
              <a:path w="26343" h="41170">
                <a:moveTo>
                  <a:pt x="8142" y="36610"/>
                </a:moveTo>
                <a:lnTo>
                  <a:pt x="11735" y="41170"/>
                </a:lnTo>
                <a:lnTo>
                  <a:pt x="13531" y="37596"/>
                </a:lnTo>
                <a:lnTo>
                  <a:pt x="26343" y="27858"/>
                </a:lnTo>
                <a:lnTo>
                  <a:pt x="12213" y="2589"/>
                </a:lnTo>
                <a:lnTo>
                  <a:pt x="8980" y="4068"/>
                </a:lnTo>
                <a:lnTo>
                  <a:pt x="10058" y="6287"/>
                </a:lnTo>
                <a:lnTo>
                  <a:pt x="8262" y="7273"/>
                </a:lnTo>
                <a:lnTo>
                  <a:pt x="3472" y="0"/>
                </a:lnTo>
                <a:lnTo>
                  <a:pt x="479" y="1726"/>
                </a:lnTo>
                <a:lnTo>
                  <a:pt x="5628" y="9861"/>
                </a:lnTo>
                <a:lnTo>
                  <a:pt x="0" y="14299"/>
                </a:lnTo>
                <a:lnTo>
                  <a:pt x="9459" y="27611"/>
                </a:lnTo>
                <a:lnTo>
                  <a:pt x="3951" y="31063"/>
                </a:lnTo>
                <a:lnTo>
                  <a:pt x="8142" y="36610"/>
                </a:lnTo>
                <a:close/>
              </a:path>
            </a:pathLst>
          </a:custGeom>
          <a:solidFill>
            <a:srgbClr val="f2c8ad"/>
          </a:solidFill>
          <a:ln w="6191">
            <a:solidFill>
              <a:srgbClr val="b7633d"/>
            </a:solidFill>
            <a:round/>
          </a:ln>
        </p:spPr>
        <p:style>
          <a:lnRef idx="0"/>
          <a:fillRef idx="0"/>
          <a:effectRef idx="0"/>
          <a:fontRef idx="minor"/>
        </p:style>
        <p:txBody>
          <a:bodyPr lIns="90000" rIns="90000" tIns="-4320" bIns="-4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86" name="วัดจันทร์ประดิษฐาราม เขต 4"/>
          <p:cNvSpPr/>
          <p:nvPr/>
        </p:nvSpPr>
        <p:spPr>
          <a:xfrm>
            <a:off x="4258080" y="5741640"/>
            <a:ext cx="16200" cy="16920"/>
          </a:xfrm>
          <a:custGeom>
            <a:avLst/>
            <a:gdLst/>
            <a:ahLst/>
            <a:rect l="l" t="t" r="r" b="b"/>
            <a:pathLst>
              <a:path w="16524" h="17134">
                <a:moveTo>
                  <a:pt x="0" y="4314"/>
                </a:moveTo>
                <a:lnTo>
                  <a:pt x="2275" y="12696"/>
                </a:lnTo>
                <a:lnTo>
                  <a:pt x="5508" y="11710"/>
                </a:lnTo>
                <a:lnTo>
                  <a:pt x="6825" y="17134"/>
                </a:lnTo>
                <a:lnTo>
                  <a:pt x="16524" y="15285"/>
                </a:lnTo>
                <a:lnTo>
                  <a:pt x="14489" y="0"/>
                </a:lnTo>
                <a:lnTo>
                  <a:pt x="0" y="4314"/>
                </a:lnTo>
                <a:close/>
              </a:path>
            </a:pathLst>
          </a:custGeom>
          <a:solidFill>
            <a:srgbClr val="f2c8ad"/>
          </a:solidFill>
          <a:ln w="6191">
            <a:solidFill>
              <a:srgbClr val="b7633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87" name="วัดจันทร์ประดิษฐาราม เขต 5"/>
          <p:cNvSpPr/>
          <p:nvPr/>
        </p:nvSpPr>
        <p:spPr>
          <a:xfrm>
            <a:off x="4221360" y="5775480"/>
            <a:ext cx="13680" cy="41760"/>
          </a:xfrm>
          <a:custGeom>
            <a:avLst/>
            <a:gdLst/>
            <a:ahLst/>
            <a:rect l="l" t="t" r="r" b="b"/>
            <a:pathLst>
              <a:path w="14010" h="42033">
                <a:moveTo>
                  <a:pt x="9340" y="23297"/>
                </a:moveTo>
                <a:lnTo>
                  <a:pt x="13770" y="23051"/>
                </a:lnTo>
                <a:lnTo>
                  <a:pt x="11735" y="8752"/>
                </a:lnTo>
                <a:lnTo>
                  <a:pt x="8741" y="0"/>
                </a:lnTo>
                <a:lnTo>
                  <a:pt x="0" y="4684"/>
                </a:lnTo>
                <a:lnTo>
                  <a:pt x="4550" y="13436"/>
                </a:lnTo>
                <a:lnTo>
                  <a:pt x="5987" y="22311"/>
                </a:lnTo>
                <a:lnTo>
                  <a:pt x="5388" y="39321"/>
                </a:lnTo>
                <a:lnTo>
                  <a:pt x="11974" y="42033"/>
                </a:lnTo>
                <a:lnTo>
                  <a:pt x="14010" y="40924"/>
                </a:lnTo>
                <a:lnTo>
                  <a:pt x="13890" y="39198"/>
                </a:lnTo>
                <a:lnTo>
                  <a:pt x="12453" y="39321"/>
                </a:lnTo>
                <a:lnTo>
                  <a:pt x="11735" y="24899"/>
                </a:lnTo>
                <a:lnTo>
                  <a:pt x="9340" y="25023"/>
                </a:lnTo>
                <a:lnTo>
                  <a:pt x="9340" y="23297"/>
                </a:lnTo>
                <a:close/>
              </a:path>
            </a:pathLst>
          </a:custGeom>
          <a:solidFill>
            <a:srgbClr val="f2c8ad"/>
          </a:solidFill>
          <a:ln w="6191">
            <a:solidFill>
              <a:srgbClr val="b7633d"/>
            </a:solidFill>
            <a:round/>
          </a:ln>
        </p:spPr>
        <p:style>
          <a:lnRef idx="0"/>
          <a:fillRef idx="0"/>
          <a:effectRef idx="0"/>
          <a:fontRef idx="minor"/>
        </p:style>
        <p:txBody>
          <a:bodyPr lIns="90000" rIns="90000" tIns="-3240" bIns="-3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88" name="วัดจันทร์ประดิษฐาราม เขต 5"/>
          <p:cNvSpPr/>
          <p:nvPr/>
        </p:nvSpPr>
        <p:spPr>
          <a:xfrm>
            <a:off x="4202640" y="5772240"/>
            <a:ext cx="16200" cy="36720"/>
          </a:xfrm>
          <a:custGeom>
            <a:avLst/>
            <a:gdLst/>
            <a:ahLst/>
            <a:rect l="l" t="t" r="r" b="b"/>
            <a:pathLst>
              <a:path w="16404" h="37226">
                <a:moveTo>
                  <a:pt x="14249" y="32665"/>
                </a:moveTo>
                <a:lnTo>
                  <a:pt x="8142" y="14299"/>
                </a:lnTo>
                <a:lnTo>
                  <a:pt x="9819" y="10231"/>
                </a:lnTo>
                <a:lnTo>
                  <a:pt x="16404" y="6533"/>
                </a:lnTo>
                <a:lnTo>
                  <a:pt x="12453" y="0"/>
                </a:lnTo>
                <a:lnTo>
                  <a:pt x="7184" y="5917"/>
                </a:lnTo>
                <a:lnTo>
                  <a:pt x="1317" y="7642"/>
                </a:lnTo>
                <a:lnTo>
                  <a:pt x="0" y="11094"/>
                </a:lnTo>
                <a:lnTo>
                  <a:pt x="4191" y="16148"/>
                </a:lnTo>
                <a:lnTo>
                  <a:pt x="10537" y="34637"/>
                </a:lnTo>
                <a:lnTo>
                  <a:pt x="14010" y="37226"/>
                </a:lnTo>
                <a:lnTo>
                  <a:pt x="14249" y="32665"/>
                </a:lnTo>
                <a:close/>
              </a:path>
            </a:pathLst>
          </a:custGeom>
          <a:solidFill>
            <a:srgbClr val="f2c8ad"/>
          </a:solidFill>
          <a:ln w="6191">
            <a:solidFill>
              <a:srgbClr val="b7633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89" name="แสงหิรัญ"/>
          <p:cNvSpPr/>
          <p:nvPr/>
        </p:nvSpPr>
        <p:spPr>
          <a:xfrm>
            <a:off x="4035240" y="5858280"/>
            <a:ext cx="20880" cy="13680"/>
          </a:xfrm>
          <a:custGeom>
            <a:avLst/>
            <a:gdLst/>
            <a:ahLst/>
            <a:rect l="l" t="t" r="r" b="b"/>
            <a:pathLst>
              <a:path w="21314" h="14175">
                <a:moveTo>
                  <a:pt x="20356" y="14175"/>
                </a:moveTo>
                <a:lnTo>
                  <a:pt x="21314" y="1233"/>
                </a:lnTo>
                <a:lnTo>
                  <a:pt x="5628" y="0"/>
                </a:lnTo>
                <a:lnTo>
                  <a:pt x="0" y="2342"/>
                </a:lnTo>
                <a:lnTo>
                  <a:pt x="4909" y="12943"/>
                </a:lnTo>
                <a:lnTo>
                  <a:pt x="20356" y="14175"/>
                </a:lnTo>
                <a:close/>
              </a:path>
            </a:pathLst>
          </a:custGeom>
          <a:solidFill>
            <a:srgbClr val="f2c8ad"/>
          </a:solidFill>
          <a:ln w="6191">
            <a:solidFill>
              <a:srgbClr val="b7633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90" name="เพชรเกษม 56"/>
          <p:cNvSpPr/>
          <p:nvPr/>
        </p:nvSpPr>
        <p:spPr>
          <a:xfrm>
            <a:off x="4109040" y="5809320"/>
            <a:ext cx="10440" cy="18360"/>
          </a:xfrm>
          <a:custGeom>
            <a:avLst/>
            <a:gdLst/>
            <a:ahLst/>
            <a:rect l="l" t="t" r="r" b="b"/>
            <a:pathLst>
              <a:path w="10777" h="18736">
                <a:moveTo>
                  <a:pt x="0" y="13806"/>
                </a:moveTo>
                <a:lnTo>
                  <a:pt x="4191" y="14668"/>
                </a:lnTo>
                <a:lnTo>
                  <a:pt x="3832" y="18366"/>
                </a:lnTo>
                <a:lnTo>
                  <a:pt x="8741" y="18736"/>
                </a:lnTo>
                <a:lnTo>
                  <a:pt x="10777" y="493"/>
                </a:lnTo>
                <a:lnTo>
                  <a:pt x="1676" y="0"/>
                </a:lnTo>
                <a:lnTo>
                  <a:pt x="0" y="13806"/>
                </a:lnTo>
                <a:close/>
              </a:path>
            </a:pathLst>
          </a:custGeom>
          <a:solidFill>
            <a:srgbClr val="f2c8ad"/>
          </a:solidFill>
          <a:ln w="6191">
            <a:solidFill>
              <a:srgbClr val="b7633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91" name="เพชรเกษม 58"/>
          <p:cNvSpPr/>
          <p:nvPr/>
        </p:nvSpPr>
        <p:spPr>
          <a:xfrm>
            <a:off x="4059720" y="5763600"/>
            <a:ext cx="46800" cy="47160"/>
          </a:xfrm>
          <a:custGeom>
            <a:avLst/>
            <a:gdLst/>
            <a:ahLst/>
            <a:rect l="l" t="t" r="r" b="b"/>
            <a:pathLst>
              <a:path w="47058" h="47457">
                <a:moveTo>
                  <a:pt x="0" y="616"/>
                </a:moveTo>
                <a:lnTo>
                  <a:pt x="239" y="21695"/>
                </a:lnTo>
                <a:lnTo>
                  <a:pt x="1796" y="21078"/>
                </a:lnTo>
                <a:lnTo>
                  <a:pt x="6346" y="30939"/>
                </a:lnTo>
                <a:lnTo>
                  <a:pt x="11016" y="47457"/>
                </a:lnTo>
                <a:lnTo>
                  <a:pt x="25624" y="43019"/>
                </a:lnTo>
                <a:lnTo>
                  <a:pt x="47058" y="45608"/>
                </a:lnTo>
                <a:lnTo>
                  <a:pt x="40352" y="32049"/>
                </a:lnTo>
                <a:lnTo>
                  <a:pt x="36760" y="34021"/>
                </a:lnTo>
                <a:lnTo>
                  <a:pt x="23948" y="10971"/>
                </a:lnTo>
                <a:lnTo>
                  <a:pt x="16644" y="14299"/>
                </a:lnTo>
                <a:lnTo>
                  <a:pt x="9699" y="0"/>
                </a:lnTo>
                <a:lnTo>
                  <a:pt x="0" y="616"/>
                </a:lnTo>
                <a:close/>
              </a:path>
            </a:pathLst>
          </a:custGeom>
          <a:solidFill>
            <a:srgbClr val="f2c8ad"/>
          </a:solidFill>
          <a:ln w="6191">
            <a:solidFill>
              <a:srgbClr val="b7633d"/>
            </a:solidFill>
            <a:round/>
          </a:ln>
        </p:spPr>
        <p:style>
          <a:lnRef idx="0"/>
          <a:fillRef idx="0"/>
          <a:effectRef idx="0"/>
          <a:fontRef idx="minor"/>
        </p:style>
        <p:txBody>
          <a:bodyPr lIns="90000" rIns="90000" tIns="2160" bIns="2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92" name="คลองใหญ่"/>
          <p:cNvSpPr/>
          <p:nvPr/>
        </p:nvSpPr>
        <p:spPr>
          <a:xfrm>
            <a:off x="4153320" y="6967440"/>
            <a:ext cx="11880" cy="24120"/>
          </a:xfrm>
          <a:custGeom>
            <a:avLst/>
            <a:gdLst/>
            <a:ahLst/>
            <a:rect l="l" t="t" r="r" b="b"/>
            <a:pathLst>
              <a:path w="12213" h="24406">
                <a:moveTo>
                  <a:pt x="0" y="8629"/>
                </a:moveTo>
                <a:lnTo>
                  <a:pt x="5029" y="24406"/>
                </a:lnTo>
                <a:lnTo>
                  <a:pt x="12213" y="24037"/>
                </a:lnTo>
                <a:lnTo>
                  <a:pt x="8262" y="0"/>
                </a:lnTo>
                <a:lnTo>
                  <a:pt x="239" y="2589"/>
                </a:lnTo>
                <a:lnTo>
                  <a:pt x="2036" y="7519"/>
                </a:lnTo>
                <a:lnTo>
                  <a:pt x="0" y="8629"/>
                </a:lnTo>
                <a:close/>
              </a:path>
            </a:pathLst>
          </a:custGeom>
          <a:solidFill>
            <a:srgbClr val="f2c8ad"/>
          </a:solidFill>
          <a:ln w="6191">
            <a:solidFill>
              <a:srgbClr val="b7633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93" name="สุขสวัสดิ์60"/>
          <p:cNvSpPr/>
          <p:nvPr/>
        </p:nvSpPr>
        <p:spPr>
          <a:xfrm>
            <a:off x="5069160" y="6474240"/>
            <a:ext cx="48240" cy="29880"/>
          </a:xfrm>
          <a:custGeom>
            <a:avLst/>
            <a:gdLst/>
            <a:ahLst/>
            <a:rect l="l" t="t" r="r" b="b"/>
            <a:pathLst>
              <a:path w="48734" h="30077">
                <a:moveTo>
                  <a:pt x="0" y="12820"/>
                </a:moveTo>
                <a:lnTo>
                  <a:pt x="7783" y="30077"/>
                </a:lnTo>
                <a:lnTo>
                  <a:pt x="45980" y="21325"/>
                </a:lnTo>
                <a:lnTo>
                  <a:pt x="48734" y="0"/>
                </a:lnTo>
                <a:lnTo>
                  <a:pt x="40352" y="1479"/>
                </a:lnTo>
                <a:lnTo>
                  <a:pt x="40472" y="3575"/>
                </a:lnTo>
                <a:lnTo>
                  <a:pt x="0" y="12820"/>
                </a:lnTo>
                <a:close/>
              </a:path>
            </a:pathLst>
          </a:custGeom>
          <a:solidFill>
            <a:srgbClr val="f2c8ad"/>
          </a:solidFill>
          <a:ln w="6191">
            <a:solidFill>
              <a:srgbClr val="b7633d"/>
            </a:solidFill>
            <a:round/>
          </a:ln>
        </p:spPr>
        <p:style>
          <a:lnRef idx="0"/>
          <a:fillRef idx="0"/>
          <a:effectRef idx="0"/>
          <a:fontRef idx="minor"/>
        </p:style>
        <p:txBody>
          <a:bodyPr lIns="90000" rIns="90000" tIns="-15120" bIns="-15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94" name="หมู่ 7 ราษฎร์บูรณะ"/>
          <p:cNvSpPr/>
          <p:nvPr/>
        </p:nvSpPr>
        <p:spPr>
          <a:xfrm>
            <a:off x="5076720" y="6417360"/>
            <a:ext cx="27720" cy="32400"/>
          </a:xfrm>
          <a:custGeom>
            <a:avLst/>
            <a:gdLst/>
            <a:ahLst/>
            <a:rect l="l" t="t" r="r" b="b"/>
            <a:pathLst>
              <a:path w="28259" h="32912">
                <a:moveTo>
                  <a:pt x="718" y="6780"/>
                </a:moveTo>
                <a:lnTo>
                  <a:pt x="0" y="24899"/>
                </a:lnTo>
                <a:lnTo>
                  <a:pt x="4670" y="30570"/>
                </a:lnTo>
                <a:lnTo>
                  <a:pt x="15327" y="27118"/>
                </a:lnTo>
                <a:lnTo>
                  <a:pt x="17721" y="32912"/>
                </a:lnTo>
                <a:lnTo>
                  <a:pt x="28259" y="27118"/>
                </a:lnTo>
                <a:lnTo>
                  <a:pt x="27540" y="17997"/>
                </a:lnTo>
                <a:lnTo>
                  <a:pt x="19997" y="0"/>
                </a:lnTo>
                <a:lnTo>
                  <a:pt x="718" y="6780"/>
                </a:lnTo>
                <a:close/>
              </a:path>
            </a:pathLst>
          </a:custGeom>
          <a:solidFill>
            <a:srgbClr val="f2c8ad"/>
          </a:solidFill>
          <a:ln w="6191">
            <a:solidFill>
              <a:srgbClr val="b7633d"/>
            </a:solidFill>
            <a:round/>
          </a:ln>
        </p:spPr>
        <p:style>
          <a:lnRef idx="0"/>
          <a:fillRef idx="0"/>
          <a:effectRef idx="0"/>
          <a:fontRef idx="minor"/>
        </p:style>
        <p:txBody>
          <a:bodyPr lIns="90000" rIns="90000" tIns="-12600" bIns="-12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95" name="บุญมาก"/>
          <p:cNvSpPr/>
          <p:nvPr/>
        </p:nvSpPr>
        <p:spPr>
          <a:xfrm>
            <a:off x="5072760" y="6364080"/>
            <a:ext cx="33480" cy="16920"/>
          </a:xfrm>
          <a:custGeom>
            <a:avLst/>
            <a:gdLst/>
            <a:ahLst/>
            <a:rect l="l" t="t" r="r" b="b"/>
            <a:pathLst>
              <a:path w="33767" h="17134">
                <a:moveTo>
                  <a:pt x="10058" y="5177"/>
                </a:moveTo>
                <a:lnTo>
                  <a:pt x="0" y="8012"/>
                </a:lnTo>
                <a:lnTo>
                  <a:pt x="1916" y="16764"/>
                </a:lnTo>
                <a:lnTo>
                  <a:pt x="17003" y="15162"/>
                </a:lnTo>
                <a:lnTo>
                  <a:pt x="17482" y="17134"/>
                </a:lnTo>
                <a:lnTo>
                  <a:pt x="20476" y="17134"/>
                </a:lnTo>
                <a:lnTo>
                  <a:pt x="29097" y="15285"/>
                </a:lnTo>
                <a:lnTo>
                  <a:pt x="33767" y="4068"/>
                </a:lnTo>
                <a:lnTo>
                  <a:pt x="31731" y="0"/>
                </a:lnTo>
                <a:lnTo>
                  <a:pt x="10058" y="5177"/>
                </a:lnTo>
                <a:close/>
              </a:path>
            </a:pathLst>
          </a:custGeom>
          <a:solidFill>
            <a:srgbClr val="f2c8ad"/>
          </a:solidFill>
          <a:ln w="6191">
            <a:solidFill>
              <a:srgbClr val="b7633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96" name="บูรณะสุดเขต"/>
          <p:cNvSpPr/>
          <p:nvPr/>
        </p:nvSpPr>
        <p:spPr>
          <a:xfrm>
            <a:off x="5110560" y="6361560"/>
            <a:ext cx="27360" cy="33120"/>
          </a:xfrm>
          <a:custGeom>
            <a:avLst/>
            <a:gdLst/>
            <a:ahLst/>
            <a:rect l="l" t="t" r="r" b="b"/>
            <a:pathLst>
              <a:path w="27899" h="33528">
                <a:moveTo>
                  <a:pt x="3832" y="32419"/>
                </a:moveTo>
                <a:lnTo>
                  <a:pt x="9459" y="31186"/>
                </a:lnTo>
                <a:lnTo>
                  <a:pt x="9459" y="33528"/>
                </a:lnTo>
                <a:lnTo>
                  <a:pt x="27899" y="26379"/>
                </a:lnTo>
                <a:lnTo>
                  <a:pt x="23469" y="1602"/>
                </a:lnTo>
                <a:lnTo>
                  <a:pt x="19757" y="2095"/>
                </a:lnTo>
                <a:lnTo>
                  <a:pt x="19158" y="0"/>
                </a:lnTo>
                <a:lnTo>
                  <a:pt x="0" y="3821"/>
                </a:lnTo>
                <a:lnTo>
                  <a:pt x="3832" y="32419"/>
                </a:lnTo>
                <a:close/>
              </a:path>
            </a:pathLst>
          </a:custGeom>
          <a:solidFill>
            <a:srgbClr val="f2c8ad"/>
          </a:solidFill>
          <a:ln w="6191">
            <a:solidFill>
              <a:srgbClr val="b7633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97" name="รุ่งเรื่อง"/>
          <p:cNvSpPr/>
          <p:nvPr/>
        </p:nvSpPr>
        <p:spPr>
          <a:xfrm>
            <a:off x="5034600" y="6388920"/>
            <a:ext cx="61920" cy="43920"/>
          </a:xfrm>
          <a:custGeom>
            <a:avLst/>
            <a:gdLst/>
            <a:ahLst/>
            <a:rect l="l" t="t" r="r" b="b"/>
            <a:pathLst>
              <a:path w="62265" h="44129">
                <a:moveTo>
                  <a:pt x="5149" y="20832"/>
                </a:moveTo>
                <a:lnTo>
                  <a:pt x="5508" y="26132"/>
                </a:lnTo>
                <a:lnTo>
                  <a:pt x="0" y="36486"/>
                </a:lnTo>
                <a:lnTo>
                  <a:pt x="15806" y="41787"/>
                </a:lnTo>
                <a:lnTo>
                  <a:pt x="36161" y="44129"/>
                </a:lnTo>
                <a:lnTo>
                  <a:pt x="37838" y="43636"/>
                </a:lnTo>
                <a:lnTo>
                  <a:pt x="39754" y="35377"/>
                </a:lnTo>
                <a:lnTo>
                  <a:pt x="62265" y="28104"/>
                </a:lnTo>
                <a:lnTo>
                  <a:pt x="53763" y="17380"/>
                </a:lnTo>
                <a:lnTo>
                  <a:pt x="30055" y="0"/>
                </a:lnTo>
                <a:lnTo>
                  <a:pt x="23708" y="2219"/>
                </a:lnTo>
                <a:lnTo>
                  <a:pt x="5149" y="20832"/>
                </a:lnTo>
                <a:close/>
              </a:path>
            </a:pathLst>
          </a:custGeom>
          <a:solidFill>
            <a:srgbClr val="f2c8ad"/>
          </a:solidFill>
          <a:ln w="6191">
            <a:solidFill>
              <a:srgbClr val="b7633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98" name="หมู่ 3 ราษฎร์บูรณะ"/>
          <p:cNvSpPr/>
          <p:nvPr/>
        </p:nvSpPr>
        <p:spPr>
          <a:xfrm>
            <a:off x="4959720" y="6226920"/>
            <a:ext cx="25920" cy="38880"/>
          </a:xfrm>
          <a:custGeom>
            <a:avLst/>
            <a:gdLst/>
            <a:ahLst/>
            <a:rect l="l" t="t" r="r" b="b"/>
            <a:pathLst>
              <a:path w="26223" h="39198">
                <a:moveTo>
                  <a:pt x="0" y="34514"/>
                </a:moveTo>
                <a:lnTo>
                  <a:pt x="15327" y="39198"/>
                </a:lnTo>
                <a:lnTo>
                  <a:pt x="26223" y="6410"/>
                </a:lnTo>
                <a:lnTo>
                  <a:pt x="7544" y="0"/>
                </a:lnTo>
                <a:lnTo>
                  <a:pt x="0" y="34514"/>
                </a:lnTo>
                <a:close/>
              </a:path>
            </a:pathLst>
          </a:custGeom>
          <a:solidFill>
            <a:srgbClr val="f2c8ad"/>
          </a:solidFill>
          <a:ln w="6191">
            <a:solidFill>
              <a:srgbClr val="b7633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799" name="ชุมชนสุขสวัสดิ์58"/>
          <p:cNvSpPr/>
          <p:nvPr/>
        </p:nvSpPr>
        <p:spPr>
          <a:xfrm>
            <a:off x="5009040" y="6426720"/>
            <a:ext cx="69840" cy="50760"/>
          </a:xfrm>
          <a:custGeom>
            <a:avLst/>
            <a:gdLst/>
            <a:ahLst/>
            <a:rect l="l" t="t" r="r" b="b"/>
            <a:pathLst>
              <a:path w="70168" h="51278">
                <a:moveTo>
                  <a:pt x="8023" y="27858"/>
                </a:moveTo>
                <a:lnTo>
                  <a:pt x="3113" y="28474"/>
                </a:lnTo>
                <a:lnTo>
                  <a:pt x="0" y="39445"/>
                </a:lnTo>
                <a:lnTo>
                  <a:pt x="22032" y="50292"/>
                </a:lnTo>
                <a:lnTo>
                  <a:pt x="30174" y="39691"/>
                </a:lnTo>
                <a:lnTo>
                  <a:pt x="65498" y="51278"/>
                </a:lnTo>
                <a:lnTo>
                  <a:pt x="66216" y="37596"/>
                </a:lnTo>
                <a:lnTo>
                  <a:pt x="70168" y="34144"/>
                </a:lnTo>
                <a:lnTo>
                  <a:pt x="67893" y="26872"/>
                </a:lnTo>
                <a:lnTo>
                  <a:pt x="68491" y="16517"/>
                </a:lnTo>
                <a:lnTo>
                  <a:pt x="65498" y="16148"/>
                </a:lnTo>
                <a:lnTo>
                  <a:pt x="65019" y="10231"/>
                </a:lnTo>
                <a:lnTo>
                  <a:pt x="62384" y="9861"/>
                </a:lnTo>
                <a:lnTo>
                  <a:pt x="61546" y="6287"/>
                </a:lnTo>
                <a:lnTo>
                  <a:pt x="45501" y="5300"/>
                </a:lnTo>
                <a:lnTo>
                  <a:pt x="24906" y="0"/>
                </a:lnTo>
                <a:lnTo>
                  <a:pt x="20715" y="5177"/>
                </a:lnTo>
                <a:lnTo>
                  <a:pt x="20476" y="7889"/>
                </a:lnTo>
                <a:lnTo>
                  <a:pt x="16165" y="14792"/>
                </a:lnTo>
                <a:lnTo>
                  <a:pt x="13291" y="15038"/>
                </a:lnTo>
                <a:lnTo>
                  <a:pt x="10777" y="18490"/>
                </a:lnTo>
                <a:lnTo>
                  <a:pt x="12692" y="20339"/>
                </a:lnTo>
                <a:lnTo>
                  <a:pt x="9938" y="27242"/>
                </a:lnTo>
                <a:lnTo>
                  <a:pt x="8023" y="27858"/>
                </a:lnTo>
                <a:close/>
              </a:path>
            </a:pathLst>
          </a:custGeom>
          <a:solidFill>
            <a:srgbClr val="f2c8ad"/>
          </a:solidFill>
          <a:ln w="6191">
            <a:solidFill>
              <a:srgbClr val="b7633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00" name="หมอผึ่งอุทิศ"/>
          <p:cNvSpPr/>
          <p:nvPr/>
        </p:nvSpPr>
        <p:spPr>
          <a:xfrm>
            <a:off x="4907520" y="6221880"/>
            <a:ext cx="46440" cy="46080"/>
          </a:xfrm>
          <a:custGeom>
            <a:avLst/>
            <a:gdLst/>
            <a:ahLst/>
            <a:rect l="l" t="t" r="r" b="b"/>
            <a:pathLst>
              <a:path w="46699" h="46471">
                <a:moveTo>
                  <a:pt x="3113" y="41910"/>
                </a:moveTo>
                <a:lnTo>
                  <a:pt x="18440" y="43636"/>
                </a:lnTo>
                <a:lnTo>
                  <a:pt x="25026" y="46471"/>
                </a:lnTo>
                <a:lnTo>
                  <a:pt x="29815" y="29830"/>
                </a:lnTo>
                <a:lnTo>
                  <a:pt x="37958" y="31679"/>
                </a:lnTo>
                <a:lnTo>
                  <a:pt x="46699" y="3575"/>
                </a:lnTo>
                <a:lnTo>
                  <a:pt x="8861" y="0"/>
                </a:lnTo>
                <a:lnTo>
                  <a:pt x="0" y="41540"/>
                </a:lnTo>
                <a:lnTo>
                  <a:pt x="3113" y="41910"/>
                </a:lnTo>
                <a:close/>
              </a:path>
            </a:pathLst>
          </a:custGeom>
          <a:solidFill>
            <a:srgbClr val="f2c8ad"/>
          </a:solidFill>
          <a:ln w="6191">
            <a:solidFill>
              <a:srgbClr val="b7633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01" name="ประคองมิตร"/>
          <p:cNvSpPr/>
          <p:nvPr/>
        </p:nvSpPr>
        <p:spPr>
          <a:xfrm>
            <a:off x="4811040" y="6171480"/>
            <a:ext cx="26640" cy="34560"/>
          </a:xfrm>
          <a:custGeom>
            <a:avLst/>
            <a:gdLst/>
            <a:ahLst/>
            <a:rect l="l" t="t" r="r" b="b"/>
            <a:pathLst>
              <a:path w="26941" h="35007">
                <a:moveTo>
                  <a:pt x="15446" y="0"/>
                </a:moveTo>
                <a:lnTo>
                  <a:pt x="13171" y="1356"/>
                </a:lnTo>
                <a:lnTo>
                  <a:pt x="4550" y="370"/>
                </a:lnTo>
                <a:lnTo>
                  <a:pt x="0" y="23790"/>
                </a:lnTo>
                <a:lnTo>
                  <a:pt x="19757" y="30446"/>
                </a:lnTo>
                <a:lnTo>
                  <a:pt x="18560" y="33898"/>
                </a:lnTo>
                <a:lnTo>
                  <a:pt x="21194" y="35007"/>
                </a:lnTo>
                <a:lnTo>
                  <a:pt x="24307" y="27365"/>
                </a:lnTo>
                <a:lnTo>
                  <a:pt x="21912" y="26255"/>
                </a:lnTo>
                <a:lnTo>
                  <a:pt x="26941" y="12326"/>
                </a:lnTo>
                <a:lnTo>
                  <a:pt x="15446" y="0"/>
                </a:lnTo>
                <a:close/>
              </a:path>
            </a:pathLst>
          </a:custGeom>
          <a:solidFill>
            <a:srgbClr val="f2c8ad"/>
          </a:solidFill>
          <a:ln w="6191">
            <a:solidFill>
              <a:srgbClr val="b7633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02" name="มิ่งประชา"/>
          <p:cNvSpPr/>
          <p:nvPr/>
        </p:nvSpPr>
        <p:spPr>
          <a:xfrm>
            <a:off x="4948560" y="6232320"/>
            <a:ext cx="14040" cy="17280"/>
          </a:xfrm>
          <a:custGeom>
            <a:avLst/>
            <a:gdLst/>
            <a:ahLst/>
            <a:rect l="l" t="t" r="r" b="b"/>
            <a:pathLst>
              <a:path w="14489" h="17504">
                <a:moveTo>
                  <a:pt x="12333" y="17504"/>
                </a:moveTo>
                <a:lnTo>
                  <a:pt x="14489" y="5547"/>
                </a:lnTo>
                <a:lnTo>
                  <a:pt x="4670" y="0"/>
                </a:lnTo>
                <a:lnTo>
                  <a:pt x="0" y="13682"/>
                </a:lnTo>
                <a:lnTo>
                  <a:pt x="2515" y="14669"/>
                </a:lnTo>
                <a:lnTo>
                  <a:pt x="2993" y="13559"/>
                </a:lnTo>
                <a:lnTo>
                  <a:pt x="12333" y="17504"/>
                </a:lnTo>
                <a:close/>
              </a:path>
            </a:pathLst>
          </a:custGeom>
          <a:solidFill>
            <a:srgbClr val="f2c8ad"/>
          </a:solidFill>
          <a:ln w="6191">
            <a:solidFill>
              <a:srgbClr val="b7633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03" name="วัดสิงห์"/>
          <p:cNvSpPr/>
          <p:nvPr/>
        </p:nvSpPr>
        <p:spPr>
          <a:xfrm>
            <a:off x="4838400" y="4971960"/>
            <a:ext cx="31680" cy="27360"/>
          </a:xfrm>
          <a:custGeom>
            <a:avLst/>
            <a:gdLst/>
            <a:ahLst/>
            <a:rect l="l" t="t" r="r" b="b"/>
            <a:pathLst>
              <a:path w="31971" h="27858">
                <a:moveTo>
                  <a:pt x="17482" y="25639"/>
                </a:moveTo>
                <a:lnTo>
                  <a:pt x="21673" y="27858"/>
                </a:lnTo>
                <a:lnTo>
                  <a:pt x="25145" y="20585"/>
                </a:lnTo>
                <a:lnTo>
                  <a:pt x="29336" y="22804"/>
                </a:lnTo>
                <a:lnTo>
                  <a:pt x="31971" y="17750"/>
                </a:lnTo>
                <a:lnTo>
                  <a:pt x="30174" y="16764"/>
                </a:lnTo>
                <a:lnTo>
                  <a:pt x="31013" y="14175"/>
                </a:lnTo>
                <a:lnTo>
                  <a:pt x="18440" y="6163"/>
                </a:lnTo>
                <a:lnTo>
                  <a:pt x="17961" y="7026"/>
                </a:lnTo>
                <a:lnTo>
                  <a:pt x="2275" y="0"/>
                </a:lnTo>
                <a:lnTo>
                  <a:pt x="0" y="5917"/>
                </a:lnTo>
                <a:lnTo>
                  <a:pt x="11375" y="14175"/>
                </a:lnTo>
                <a:lnTo>
                  <a:pt x="8741" y="19846"/>
                </a:lnTo>
                <a:lnTo>
                  <a:pt x="13171" y="21571"/>
                </a:lnTo>
                <a:lnTo>
                  <a:pt x="17482" y="25639"/>
                </a:lnTo>
                <a:close/>
              </a:path>
            </a:pathLst>
          </a:custGeom>
          <a:solidFill>
            <a:srgbClr val="f2c8ad"/>
          </a:solidFill>
          <a:ln w="6191">
            <a:solidFill>
              <a:srgbClr val="b7633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04" name="โค้งถ่าน"/>
          <p:cNvSpPr/>
          <p:nvPr/>
        </p:nvSpPr>
        <p:spPr>
          <a:xfrm>
            <a:off x="4782960" y="5166000"/>
            <a:ext cx="24120" cy="34920"/>
          </a:xfrm>
          <a:custGeom>
            <a:avLst/>
            <a:gdLst/>
            <a:ahLst/>
            <a:rect l="l" t="t" r="r" b="b"/>
            <a:pathLst>
              <a:path w="24547" h="35130">
                <a:moveTo>
                  <a:pt x="11854" y="1356"/>
                </a:moveTo>
                <a:lnTo>
                  <a:pt x="0" y="10601"/>
                </a:lnTo>
                <a:lnTo>
                  <a:pt x="4191" y="18366"/>
                </a:lnTo>
                <a:lnTo>
                  <a:pt x="6107" y="16024"/>
                </a:lnTo>
                <a:lnTo>
                  <a:pt x="8023" y="19969"/>
                </a:lnTo>
                <a:lnTo>
                  <a:pt x="6226" y="21078"/>
                </a:lnTo>
                <a:lnTo>
                  <a:pt x="7184" y="26132"/>
                </a:lnTo>
                <a:lnTo>
                  <a:pt x="11974" y="35130"/>
                </a:lnTo>
                <a:lnTo>
                  <a:pt x="19039" y="32665"/>
                </a:lnTo>
                <a:lnTo>
                  <a:pt x="24427" y="27488"/>
                </a:lnTo>
                <a:lnTo>
                  <a:pt x="21553" y="24037"/>
                </a:lnTo>
                <a:lnTo>
                  <a:pt x="24547" y="21941"/>
                </a:lnTo>
                <a:lnTo>
                  <a:pt x="18560" y="12450"/>
                </a:lnTo>
                <a:lnTo>
                  <a:pt x="20595" y="10354"/>
                </a:lnTo>
                <a:lnTo>
                  <a:pt x="14010" y="0"/>
                </a:lnTo>
                <a:lnTo>
                  <a:pt x="11854" y="1356"/>
                </a:lnTo>
                <a:close/>
              </a:path>
            </a:pathLst>
          </a:custGeom>
          <a:solidFill>
            <a:srgbClr val="f2c8ad"/>
          </a:solidFill>
          <a:ln w="6191">
            <a:solidFill>
              <a:srgbClr val="b7633d"/>
            </a:solidFill>
            <a:round/>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05" name="ศรีอุลัย"/>
          <p:cNvSpPr/>
          <p:nvPr/>
        </p:nvSpPr>
        <p:spPr>
          <a:xfrm>
            <a:off x="4780080" y="5126400"/>
            <a:ext cx="32040" cy="43200"/>
          </a:xfrm>
          <a:custGeom>
            <a:avLst/>
            <a:gdLst/>
            <a:ahLst/>
            <a:rect l="l" t="t" r="r" b="b"/>
            <a:pathLst>
              <a:path w="32450" h="43636">
                <a:moveTo>
                  <a:pt x="0" y="29707"/>
                </a:moveTo>
                <a:lnTo>
                  <a:pt x="10777" y="43636"/>
                </a:lnTo>
                <a:lnTo>
                  <a:pt x="32450" y="25639"/>
                </a:lnTo>
                <a:lnTo>
                  <a:pt x="29935" y="20708"/>
                </a:lnTo>
                <a:lnTo>
                  <a:pt x="23469" y="18120"/>
                </a:lnTo>
                <a:lnTo>
                  <a:pt x="9100" y="0"/>
                </a:lnTo>
                <a:lnTo>
                  <a:pt x="838" y="6410"/>
                </a:lnTo>
                <a:lnTo>
                  <a:pt x="11375" y="22064"/>
                </a:lnTo>
                <a:lnTo>
                  <a:pt x="0" y="29707"/>
                </a:lnTo>
                <a:close/>
              </a:path>
            </a:pathLst>
          </a:custGeom>
          <a:solidFill>
            <a:srgbClr val="f2c8ad"/>
          </a:solidFill>
          <a:ln w="6191">
            <a:solidFill>
              <a:srgbClr val="b7633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06" name="วัดคฤหบดี"/>
          <p:cNvSpPr/>
          <p:nvPr/>
        </p:nvSpPr>
        <p:spPr>
          <a:xfrm>
            <a:off x="4831920" y="5086800"/>
            <a:ext cx="40680" cy="36720"/>
          </a:xfrm>
          <a:custGeom>
            <a:avLst/>
            <a:gdLst/>
            <a:ahLst/>
            <a:rect l="l" t="t" r="r" b="b"/>
            <a:pathLst>
              <a:path w="41191" h="37226">
                <a:moveTo>
                  <a:pt x="28857" y="34021"/>
                </a:moveTo>
                <a:lnTo>
                  <a:pt x="38197" y="37226"/>
                </a:lnTo>
                <a:lnTo>
                  <a:pt x="41191" y="24530"/>
                </a:lnTo>
                <a:lnTo>
                  <a:pt x="31611" y="19599"/>
                </a:lnTo>
                <a:lnTo>
                  <a:pt x="32330" y="17257"/>
                </a:lnTo>
                <a:lnTo>
                  <a:pt x="28019" y="12450"/>
                </a:lnTo>
                <a:lnTo>
                  <a:pt x="28977" y="9615"/>
                </a:lnTo>
                <a:lnTo>
                  <a:pt x="9220" y="0"/>
                </a:lnTo>
                <a:lnTo>
                  <a:pt x="8741" y="1972"/>
                </a:lnTo>
                <a:lnTo>
                  <a:pt x="5748" y="3205"/>
                </a:lnTo>
                <a:lnTo>
                  <a:pt x="1557" y="14299"/>
                </a:lnTo>
                <a:lnTo>
                  <a:pt x="2993" y="15531"/>
                </a:lnTo>
                <a:lnTo>
                  <a:pt x="0" y="22064"/>
                </a:lnTo>
                <a:lnTo>
                  <a:pt x="28857" y="34021"/>
                </a:lnTo>
                <a:close/>
              </a:path>
            </a:pathLst>
          </a:custGeom>
          <a:solidFill>
            <a:srgbClr val="f2c8ad"/>
          </a:solidFill>
          <a:ln w="6191">
            <a:solidFill>
              <a:srgbClr val="b7633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07" name="สะพานไม้"/>
          <p:cNvSpPr/>
          <p:nvPr/>
        </p:nvSpPr>
        <p:spPr>
          <a:xfrm>
            <a:off x="4809960" y="5070600"/>
            <a:ext cx="28440" cy="37440"/>
          </a:xfrm>
          <a:custGeom>
            <a:avLst/>
            <a:gdLst/>
            <a:ahLst/>
            <a:rect l="l" t="t" r="r" b="b"/>
            <a:pathLst>
              <a:path w="28977" h="37719">
                <a:moveTo>
                  <a:pt x="0" y="18120"/>
                </a:moveTo>
                <a:lnTo>
                  <a:pt x="18919" y="28228"/>
                </a:lnTo>
                <a:lnTo>
                  <a:pt x="18919" y="32172"/>
                </a:lnTo>
                <a:lnTo>
                  <a:pt x="16285" y="32049"/>
                </a:lnTo>
                <a:lnTo>
                  <a:pt x="15446" y="35007"/>
                </a:lnTo>
                <a:lnTo>
                  <a:pt x="21553" y="37719"/>
                </a:lnTo>
                <a:lnTo>
                  <a:pt x="24666" y="31556"/>
                </a:lnTo>
                <a:lnTo>
                  <a:pt x="23110" y="30693"/>
                </a:lnTo>
                <a:lnTo>
                  <a:pt x="27181" y="19353"/>
                </a:lnTo>
                <a:lnTo>
                  <a:pt x="28977" y="18243"/>
                </a:lnTo>
                <a:lnTo>
                  <a:pt x="25744" y="18613"/>
                </a:lnTo>
                <a:lnTo>
                  <a:pt x="24068" y="16148"/>
                </a:lnTo>
                <a:lnTo>
                  <a:pt x="26822" y="9738"/>
                </a:lnTo>
                <a:lnTo>
                  <a:pt x="6705" y="0"/>
                </a:lnTo>
                <a:lnTo>
                  <a:pt x="4430" y="6656"/>
                </a:lnTo>
                <a:lnTo>
                  <a:pt x="2754" y="6040"/>
                </a:lnTo>
                <a:lnTo>
                  <a:pt x="1796" y="8752"/>
                </a:lnTo>
                <a:lnTo>
                  <a:pt x="3233" y="9615"/>
                </a:lnTo>
                <a:lnTo>
                  <a:pt x="0" y="18120"/>
                </a:lnTo>
                <a:close/>
              </a:path>
            </a:pathLst>
          </a:custGeom>
          <a:solidFill>
            <a:srgbClr val="f2c8ad"/>
          </a:solidFill>
          <a:ln w="6191">
            <a:solidFill>
              <a:srgbClr val="b7633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08" name="วัดทอง"/>
          <p:cNvSpPr/>
          <p:nvPr/>
        </p:nvSpPr>
        <p:spPr>
          <a:xfrm>
            <a:off x="4794840" y="5024880"/>
            <a:ext cx="44640" cy="18000"/>
          </a:xfrm>
          <a:custGeom>
            <a:avLst/>
            <a:gdLst/>
            <a:ahLst/>
            <a:rect l="l" t="t" r="r" b="b"/>
            <a:pathLst>
              <a:path w="45022" h="18490">
                <a:moveTo>
                  <a:pt x="39155" y="2465"/>
                </a:moveTo>
                <a:lnTo>
                  <a:pt x="37239" y="0"/>
                </a:lnTo>
                <a:lnTo>
                  <a:pt x="30653" y="2342"/>
                </a:lnTo>
                <a:lnTo>
                  <a:pt x="29217" y="5670"/>
                </a:lnTo>
                <a:lnTo>
                  <a:pt x="25026" y="616"/>
                </a:lnTo>
                <a:lnTo>
                  <a:pt x="16285" y="4561"/>
                </a:lnTo>
                <a:lnTo>
                  <a:pt x="0" y="2958"/>
                </a:lnTo>
                <a:lnTo>
                  <a:pt x="1437" y="8505"/>
                </a:lnTo>
                <a:lnTo>
                  <a:pt x="6825" y="9491"/>
                </a:lnTo>
                <a:lnTo>
                  <a:pt x="7184" y="7519"/>
                </a:lnTo>
                <a:lnTo>
                  <a:pt x="10537" y="7766"/>
                </a:lnTo>
                <a:lnTo>
                  <a:pt x="10657" y="10108"/>
                </a:lnTo>
                <a:lnTo>
                  <a:pt x="24906" y="6780"/>
                </a:lnTo>
                <a:lnTo>
                  <a:pt x="30294" y="7026"/>
                </a:lnTo>
                <a:lnTo>
                  <a:pt x="30414" y="11710"/>
                </a:lnTo>
                <a:lnTo>
                  <a:pt x="35563" y="13682"/>
                </a:lnTo>
                <a:lnTo>
                  <a:pt x="34485" y="17873"/>
                </a:lnTo>
                <a:lnTo>
                  <a:pt x="36042" y="18490"/>
                </a:lnTo>
                <a:lnTo>
                  <a:pt x="37000" y="15655"/>
                </a:lnTo>
                <a:lnTo>
                  <a:pt x="39754" y="16517"/>
                </a:lnTo>
                <a:lnTo>
                  <a:pt x="45022" y="4684"/>
                </a:lnTo>
                <a:lnTo>
                  <a:pt x="39155" y="2465"/>
                </a:lnTo>
                <a:close/>
              </a:path>
            </a:pathLst>
          </a:custGeom>
          <a:solidFill>
            <a:srgbClr val="f2c8ad"/>
          </a:solidFill>
          <a:ln w="6191">
            <a:solidFill>
              <a:srgbClr val="b7633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09" name="รวมน้ำใจ"/>
          <p:cNvSpPr/>
          <p:nvPr/>
        </p:nvSpPr>
        <p:spPr>
          <a:xfrm>
            <a:off x="4903920" y="6319440"/>
            <a:ext cx="37080" cy="45720"/>
          </a:xfrm>
          <a:custGeom>
            <a:avLst/>
            <a:gdLst/>
            <a:ahLst/>
            <a:rect l="l" t="t" r="r" b="b"/>
            <a:pathLst>
              <a:path w="37598" h="46101">
                <a:moveTo>
                  <a:pt x="22870" y="46101"/>
                </a:moveTo>
                <a:lnTo>
                  <a:pt x="27301" y="34761"/>
                </a:lnTo>
                <a:lnTo>
                  <a:pt x="30055" y="32172"/>
                </a:lnTo>
                <a:lnTo>
                  <a:pt x="31731" y="23174"/>
                </a:lnTo>
                <a:lnTo>
                  <a:pt x="37598" y="8259"/>
                </a:lnTo>
                <a:lnTo>
                  <a:pt x="17362" y="0"/>
                </a:lnTo>
                <a:lnTo>
                  <a:pt x="13531" y="9984"/>
                </a:lnTo>
                <a:lnTo>
                  <a:pt x="12573" y="9615"/>
                </a:lnTo>
                <a:lnTo>
                  <a:pt x="0" y="33035"/>
                </a:lnTo>
                <a:lnTo>
                  <a:pt x="22870" y="46101"/>
                </a:lnTo>
                <a:close/>
              </a:path>
            </a:pathLst>
          </a:custGeom>
          <a:solidFill>
            <a:srgbClr val="f2c8ad"/>
          </a:solidFill>
          <a:ln w="6191">
            <a:solidFill>
              <a:srgbClr val="b7633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10" name="สุขสวัสดิ์ 42"/>
          <p:cNvSpPr/>
          <p:nvPr/>
        </p:nvSpPr>
        <p:spPr>
          <a:xfrm>
            <a:off x="4910760" y="6307200"/>
            <a:ext cx="33120" cy="20520"/>
          </a:xfrm>
          <a:custGeom>
            <a:avLst/>
            <a:gdLst/>
            <a:ahLst/>
            <a:rect l="l" t="t" r="r" b="b"/>
            <a:pathLst>
              <a:path w="33527" h="20832">
                <a:moveTo>
                  <a:pt x="0" y="7642"/>
                </a:moveTo>
                <a:lnTo>
                  <a:pt x="30653" y="20832"/>
                </a:lnTo>
                <a:lnTo>
                  <a:pt x="33527" y="12696"/>
                </a:lnTo>
                <a:lnTo>
                  <a:pt x="3233" y="0"/>
                </a:lnTo>
                <a:lnTo>
                  <a:pt x="0" y="7642"/>
                </a:lnTo>
                <a:close/>
              </a:path>
            </a:pathLst>
          </a:custGeom>
          <a:solidFill>
            <a:srgbClr val="f2c8ad"/>
          </a:solidFill>
          <a:ln w="6191">
            <a:solidFill>
              <a:srgbClr val="b7633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11" name="อนามัย"/>
          <p:cNvSpPr/>
          <p:nvPr/>
        </p:nvSpPr>
        <p:spPr>
          <a:xfrm>
            <a:off x="4851360" y="6329880"/>
            <a:ext cx="11520" cy="11160"/>
          </a:xfrm>
          <a:custGeom>
            <a:avLst/>
            <a:gdLst/>
            <a:ahLst/>
            <a:rect l="l" t="t" r="r" b="b"/>
            <a:pathLst>
              <a:path w="11735" h="11464">
                <a:moveTo>
                  <a:pt x="0" y="8629"/>
                </a:moveTo>
                <a:lnTo>
                  <a:pt x="8980" y="11464"/>
                </a:lnTo>
                <a:lnTo>
                  <a:pt x="11735" y="2712"/>
                </a:lnTo>
                <a:lnTo>
                  <a:pt x="3712" y="0"/>
                </a:lnTo>
                <a:lnTo>
                  <a:pt x="0" y="8629"/>
                </a:lnTo>
                <a:close/>
              </a:path>
            </a:pathLst>
          </a:custGeom>
          <a:solidFill>
            <a:srgbClr val="f2c8ad"/>
          </a:solidFill>
          <a:ln w="6191">
            <a:solidFill>
              <a:srgbClr val="b7633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12" name="รัตนจีนะ"/>
          <p:cNvSpPr/>
          <p:nvPr/>
        </p:nvSpPr>
        <p:spPr>
          <a:xfrm>
            <a:off x="4802040" y="6366240"/>
            <a:ext cx="60840" cy="43200"/>
          </a:xfrm>
          <a:custGeom>
            <a:avLst/>
            <a:gdLst/>
            <a:ahLst/>
            <a:rect l="l" t="t" r="r" b="b"/>
            <a:pathLst>
              <a:path w="61067" h="43636">
                <a:moveTo>
                  <a:pt x="51728" y="43636"/>
                </a:moveTo>
                <a:lnTo>
                  <a:pt x="61067" y="14175"/>
                </a:lnTo>
                <a:lnTo>
                  <a:pt x="55320" y="12943"/>
                </a:lnTo>
                <a:lnTo>
                  <a:pt x="56517" y="7273"/>
                </a:lnTo>
                <a:lnTo>
                  <a:pt x="34844" y="0"/>
                </a:lnTo>
                <a:lnTo>
                  <a:pt x="32689" y="5547"/>
                </a:lnTo>
                <a:lnTo>
                  <a:pt x="30174" y="6656"/>
                </a:lnTo>
                <a:lnTo>
                  <a:pt x="14249" y="2589"/>
                </a:lnTo>
                <a:lnTo>
                  <a:pt x="11615" y="5424"/>
                </a:lnTo>
                <a:lnTo>
                  <a:pt x="9459" y="5177"/>
                </a:lnTo>
                <a:lnTo>
                  <a:pt x="9459" y="3328"/>
                </a:lnTo>
                <a:lnTo>
                  <a:pt x="6226" y="493"/>
                </a:lnTo>
                <a:lnTo>
                  <a:pt x="2036" y="2342"/>
                </a:lnTo>
                <a:lnTo>
                  <a:pt x="958" y="4438"/>
                </a:lnTo>
                <a:lnTo>
                  <a:pt x="4311" y="8629"/>
                </a:lnTo>
                <a:lnTo>
                  <a:pt x="0" y="26748"/>
                </a:lnTo>
                <a:lnTo>
                  <a:pt x="51728" y="43636"/>
                </a:lnTo>
                <a:close/>
              </a:path>
            </a:pathLst>
          </a:custGeom>
          <a:solidFill>
            <a:srgbClr val="f2c8ad"/>
          </a:solidFill>
          <a:ln w="6191">
            <a:solidFill>
              <a:srgbClr val="b7633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13" name="ศาลาร่วมใจ"/>
          <p:cNvSpPr/>
          <p:nvPr/>
        </p:nvSpPr>
        <p:spPr>
          <a:xfrm>
            <a:off x="4864680" y="6210000"/>
            <a:ext cx="18000" cy="13320"/>
          </a:xfrm>
          <a:custGeom>
            <a:avLst/>
            <a:gdLst/>
            <a:ahLst/>
            <a:rect l="l" t="t" r="r" b="b"/>
            <a:pathLst>
              <a:path w="18320" h="13682">
                <a:moveTo>
                  <a:pt x="14608" y="9984"/>
                </a:moveTo>
                <a:lnTo>
                  <a:pt x="16404" y="10724"/>
                </a:lnTo>
                <a:lnTo>
                  <a:pt x="18320" y="5917"/>
                </a:lnTo>
                <a:lnTo>
                  <a:pt x="3832" y="0"/>
                </a:lnTo>
                <a:lnTo>
                  <a:pt x="0" y="9368"/>
                </a:lnTo>
                <a:lnTo>
                  <a:pt x="4071" y="11094"/>
                </a:lnTo>
                <a:lnTo>
                  <a:pt x="4909" y="9368"/>
                </a:lnTo>
                <a:lnTo>
                  <a:pt x="13291" y="13682"/>
                </a:lnTo>
                <a:lnTo>
                  <a:pt x="14608" y="9984"/>
                </a:lnTo>
                <a:close/>
              </a:path>
            </a:pathLst>
          </a:custGeom>
          <a:solidFill>
            <a:srgbClr val="f2c8ad"/>
          </a:solidFill>
          <a:ln w="6191">
            <a:solidFill>
              <a:srgbClr val="b7633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14" name="สมบูรณ์ทรัพย์"/>
          <p:cNvSpPr/>
          <p:nvPr/>
        </p:nvSpPr>
        <p:spPr>
          <a:xfrm>
            <a:off x="4881240" y="6212520"/>
            <a:ext cx="29520" cy="25200"/>
          </a:xfrm>
          <a:custGeom>
            <a:avLst/>
            <a:gdLst/>
            <a:ahLst/>
            <a:rect l="l" t="t" r="r" b="b"/>
            <a:pathLst>
              <a:path w="29815" h="25639">
                <a:moveTo>
                  <a:pt x="12213" y="0"/>
                </a:moveTo>
                <a:lnTo>
                  <a:pt x="9699" y="7149"/>
                </a:lnTo>
                <a:lnTo>
                  <a:pt x="7903" y="6903"/>
                </a:lnTo>
                <a:lnTo>
                  <a:pt x="0" y="19846"/>
                </a:lnTo>
                <a:lnTo>
                  <a:pt x="13770" y="25393"/>
                </a:lnTo>
                <a:lnTo>
                  <a:pt x="18200" y="25639"/>
                </a:lnTo>
                <a:lnTo>
                  <a:pt x="19518" y="22557"/>
                </a:lnTo>
                <a:lnTo>
                  <a:pt x="23469" y="21202"/>
                </a:lnTo>
                <a:lnTo>
                  <a:pt x="26702" y="16394"/>
                </a:lnTo>
                <a:lnTo>
                  <a:pt x="29815" y="7642"/>
                </a:lnTo>
                <a:lnTo>
                  <a:pt x="12213" y="0"/>
                </a:lnTo>
                <a:close/>
              </a:path>
            </a:pathLst>
          </a:custGeom>
          <a:solidFill>
            <a:srgbClr val="f2c8ad"/>
          </a:solidFill>
          <a:ln w="6191">
            <a:solidFill>
              <a:srgbClr val="b7633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15" name="สุขสวัสดิ์ 9"/>
          <p:cNvSpPr/>
          <p:nvPr/>
        </p:nvSpPr>
        <p:spPr>
          <a:xfrm>
            <a:off x="4745880" y="6133680"/>
            <a:ext cx="30960" cy="19440"/>
          </a:xfrm>
          <a:custGeom>
            <a:avLst/>
            <a:gdLst/>
            <a:ahLst/>
            <a:rect l="l" t="t" r="r" b="b"/>
            <a:pathLst>
              <a:path w="31492" h="19846">
                <a:moveTo>
                  <a:pt x="28378" y="19846"/>
                </a:moveTo>
                <a:lnTo>
                  <a:pt x="31492" y="11340"/>
                </a:lnTo>
                <a:lnTo>
                  <a:pt x="4191" y="0"/>
                </a:lnTo>
                <a:lnTo>
                  <a:pt x="0" y="11094"/>
                </a:lnTo>
                <a:lnTo>
                  <a:pt x="28378" y="19846"/>
                </a:lnTo>
                <a:close/>
              </a:path>
            </a:pathLst>
          </a:custGeom>
          <a:solidFill>
            <a:srgbClr val="f2c8ad"/>
          </a:solidFill>
          <a:ln w="6191">
            <a:solidFill>
              <a:srgbClr val="b7633d"/>
            </a:solidFill>
            <a:round/>
          </a:ln>
        </p:spPr>
        <p:style>
          <a:lnRef idx="0"/>
          <a:fillRef idx="0"/>
          <a:effectRef idx="0"/>
          <a:fontRef idx="minor"/>
        </p:style>
        <p:txBody>
          <a:bodyPr lIns="90000" rIns="90000" tIns="-25560" bIns="-25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16" name="สุขสวัสดิ์36"/>
          <p:cNvSpPr/>
          <p:nvPr/>
        </p:nvSpPr>
        <p:spPr>
          <a:xfrm>
            <a:off x="4862880" y="6310080"/>
            <a:ext cx="53280" cy="45360"/>
          </a:xfrm>
          <a:custGeom>
            <a:avLst/>
            <a:gdLst/>
            <a:ahLst/>
            <a:rect l="l" t="t" r="r" b="b"/>
            <a:pathLst>
              <a:path w="53524" h="45854">
                <a:moveTo>
                  <a:pt x="5748" y="0"/>
                </a:moveTo>
                <a:lnTo>
                  <a:pt x="0" y="30323"/>
                </a:lnTo>
                <a:lnTo>
                  <a:pt x="5628" y="33651"/>
                </a:lnTo>
                <a:lnTo>
                  <a:pt x="39754" y="45854"/>
                </a:lnTo>
                <a:lnTo>
                  <a:pt x="43466" y="31063"/>
                </a:lnTo>
                <a:lnTo>
                  <a:pt x="46100" y="30200"/>
                </a:lnTo>
                <a:lnTo>
                  <a:pt x="46579" y="28351"/>
                </a:lnTo>
                <a:lnTo>
                  <a:pt x="44543" y="26995"/>
                </a:lnTo>
                <a:lnTo>
                  <a:pt x="45262" y="23790"/>
                </a:lnTo>
                <a:lnTo>
                  <a:pt x="51488" y="24530"/>
                </a:lnTo>
                <a:lnTo>
                  <a:pt x="53524" y="19599"/>
                </a:lnTo>
                <a:lnTo>
                  <a:pt x="45741" y="16517"/>
                </a:lnTo>
                <a:lnTo>
                  <a:pt x="42987" y="17504"/>
                </a:lnTo>
                <a:lnTo>
                  <a:pt x="5748" y="0"/>
                </a:lnTo>
                <a:close/>
              </a:path>
            </a:pathLst>
          </a:custGeom>
          <a:solidFill>
            <a:srgbClr val="f2c8ad"/>
          </a:solidFill>
          <a:ln w="6191">
            <a:solidFill>
              <a:srgbClr val="b7633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17" name="รุ่งอรุณ"/>
          <p:cNvSpPr/>
          <p:nvPr/>
        </p:nvSpPr>
        <p:spPr>
          <a:xfrm>
            <a:off x="4684680" y="6089760"/>
            <a:ext cx="24840" cy="31680"/>
          </a:xfrm>
          <a:custGeom>
            <a:avLst/>
            <a:gdLst/>
            <a:ahLst/>
            <a:rect l="l" t="t" r="r" b="b"/>
            <a:pathLst>
              <a:path w="25026" h="32172">
                <a:moveTo>
                  <a:pt x="3353" y="27241"/>
                </a:moveTo>
                <a:lnTo>
                  <a:pt x="13650" y="24899"/>
                </a:lnTo>
                <a:lnTo>
                  <a:pt x="15806" y="32172"/>
                </a:lnTo>
                <a:lnTo>
                  <a:pt x="23708" y="30693"/>
                </a:lnTo>
                <a:lnTo>
                  <a:pt x="21793" y="21695"/>
                </a:lnTo>
                <a:lnTo>
                  <a:pt x="25026" y="21202"/>
                </a:lnTo>
                <a:lnTo>
                  <a:pt x="24187" y="0"/>
                </a:lnTo>
                <a:lnTo>
                  <a:pt x="20595" y="123"/>
                </a:lnTo>
                <a:lnTo>
                  <a:pt x="20715" y="2835"/>
                </a:lnTo>
                <a:lnTo>
                  <a:pt x="15925" y="3082"/>
                </a:lnTo>
                <a:lnTo>
                  <a:pt x="16285" y="9122"/>
                </a:lnTo>
                <a:lnTo>
                  <a:pt x="6586" y="9738"/>
                </a:lnTo>
                <a:lnTo>
                  <a:pt x="7065" y="21448"/>
                </a:lnTo>
                <a:lnTo>
                  <a:pt x="2395" y="22064"/>
                </a:lnTo>
                <a:lnTo>
                  <a:pt x="2275" y="20585"/>
                </a:lnTo>
                <a:lnTo>
                  <a:pt x="0" y="20708"/>
                </a:lnTo>
                <a:lnTo>
                  <a:pt x="2155" y="30939"/>
                </a:lnTo>
                <a:lnTo>
                  <a:pt x="4430" y="30446"/>
                </a:lnTo>
                <a:lnTo>
                  <a:pt x="3353" y="27241"/>
                </a:lnTo>
                <a:close/>
              </a:path>
            </a:pathLst>
          </a:custGeom>
          <a:solidFill>
            <a:srgbClr val="f2c8ad"/>
          </a:solidFill>
          <a:ln w="6191">
            <a:solidFill>
              <a:srgbClr val="b7633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18" name="คลองสวนพริก"/>
          <p:cNvSpPr/>
          <p:nvPr/>
        </p:nvSpPr>
        <p:spPr>
          <a:xfrm>
            <a:off x="4846680" y="4814280"/>
            <a:ext cx="38880" cy="49680"/>
          </a:xfrm>
          <a:custGeom>
            <a:avLst/>
            <a:gdLst/>
            <a:ahLst/>
            <a:rect l="l" t="t" r="r" b="b"/>
            <a:pathLst>
              <a:path w="39155" h="50169">
                <a:moveTo>
                  <a:pt x="2515" y="9738"/>
                </a:moveTo>
                <a:lnTo>
                  <a:pt x="3113" y="15285"/>
                </a:lnTo>
                <a:lnTo>
                  <a:pt x="1197" y="18243"/>
                </a:lnTo>
                <a:lnTo>
                  <a:pt x="2993" y="19353"/>
                </a:lnTo>
                <a:lnTo>
                  <a:pt x="0" y="24283"/>
                </a:lnTo>
                <a:lnTo>
                  <a:pt x="4311" y="27118"/>
                </a:lnTo>
                <a:lnTo>
                  <a:pt x="2275" y="30570"/>
                </a:lnTo>
                <a:lnTo>
                  <a:pt x="3832" y="31802"/>
                </a:lnTo>
                <a:lnTo>
                  <a:pt x="3472" y="36979"/>
                </a:lnTo>
                <a:lnTo>
                  <a:pt x="5508" y="39321"/>
                </a:lnTo>
                <a:lnTo>
                  <a:pt x="958" y="43389"/>
                </a:lnTo>
                <a:lnTo>
                  <a:pt x="6586" y="50169"/>
                </a:lnTo>
                <a:lnTo>
                  <a:pt x="15087" y="38952"/>
                </a:lnTo>
                <a:lnTo>
                  <a:pt x="12094" y="36240"/>
                </a:lnTo>
                <a:lnTo>
                  <a:pt x="17243" y="28351"/>
                </a:lnTo>
                <a:lnTo>
                  <a:pt x="18919" y="29214"/>
                </a:lnTo>
                <a:lnTo>
                  <a:pt x="21553" y="25762"/>
                </a:lnTo>
                <a:lnTo>
                  <a:pt x="24786" y="27488"/>
                </a:lnTo>
                <a:lnTo>
                  <a:pt x="26463" y="25023"/>
                </a:lnTo>
                <a:lnTo>
                  <a:pt x="29935" y="26009"/>
                </a:lnTo>
                <a:lnTo>
                  <a:pt x="33767" y="21202"/>
                </a:lnTo>
                <a:lnTo>
                  <a:pt x="35443" y="22311"/>
                </a:lnTo>
                <a:lnTo>
                  <a:pt x="39155" y="14175"/>
                </a:lnTo>
                <a:lnTo>
                  <a:pt x="32928" y="11340"/>
                </a:lnTo>
                <a:lnTo>
                  <a:pt x="19518" y="0"/>
                </a:lnTo>
                <a:lnTo>
                  <a:pt x="17123" y="2589"/>
                </a:lnTo>
                <a:lnTo>
                  <a:pt x="14249" y="247"/>
                </a:lnTo>
                <a:lnTo>
                  <a:pt x="2515" y="9738"/>
                </a:lnTo>
                <a:close/>
              </a:path>
            </a:pathLst>
          </a:custGeom>
          <a:solidFill>
            <a:srgbClr val="f2c8ad"/>
          </a:solidFill>
          <a:ln w="6191">
            <a:solidFill>
              <a:srgbClr val="b7633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19" name="คลองสวนพริก"/>
          <p:cNvSpPr/>
          <p:nvPr/>
        </p:nvSpPr>
        <p:spPr>
          <a:xfrm>
            <a:off x="4807800" y="4816440"/>
            <a:ext cx="32040" cy="23040"/>
          </a:xfrm>
          <a:custGeom>
            <a:avLst/>
            <a:gdLst/>
            <a:ahLst/>
            <a:rect l="l" t="t" r="r" b="b"/>
            <a:pathLst>
              <a:path w="32330" h="23544">
                <a:moveTo>
                  <a:pt x="13052" y="13313"/>
                </a:moveTo>
                <a:lnTo>
                  <a:pt x="29695" y="3451"/>
                </a:lnTo>
                <a:lnTo>
                  <a:pt x="32330" y="1356"/>
                </a:lnTo>
                <a:lnTo>
                  <a:pt x="31372" y="0"/>
                </a:lnTo>
                <a:lnTo>
                  <a:pt x="479" y="11217"/>
                </a:lnTo>
                <a:lnTo>
                  <a:pt x="838" y="14299"/>
                </a:lnTo>
                <a:lnTo>
                  <a:pt x="6226" y="15531"/>
                </a:lnTo>
                <a:lnTo>
                  <a:pt x="0" y="19476"/>
                </a:lnTo>
                <a:lnTo>
                  <a:pt x="1676" y="23544"/>
                </a:lnTo>
                <a:lnTo>
                  <a:pt x="12573" y="19353"/>
                </a:lnTo>
                <a:lnTo>
                  <a:pt x="14608" y="15162"/>
                </a:lnTo>
                <a:lnTo>
                  <a:pt x="13052" y="13313"/>
                </a:lnTo>
                <a:close/>
              </a:path>
            </a:pathLst>
          </a:custGeom>
          <a:solidFill>
            <a:srgbClr val="f2c8ad"/>
          </a:solidFill>
          <a:ln w="6191">
            <a:solidFill>
              <a:srgbClr val="b7633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20" name="พัฒนาซอย 79"/>
          <p:cNvSpPr/>
          <p:nvPr/>
        </p:nvSpPr>
        <p:spPr>
          <a:xfrm>
            <a:off x="4870080" y="4847760"/>
            <a:ext cx="21960" cy="25920"/>
          </a:xfrm>
          <a:custGeom>
            <a:avLst/>
            <a:gdLst/>
            <a:ahLst/>
            <a:rect l="l" t="t" r="r" b="b"/>
            <a:pathLst>
              <a:path w="22272" h="26132">
                <a:moveTo>
                  <a:pt x="16404" y="0"/>
                </a:moveTo>
                <a:lnTo>
                  <a:pt x="0" y="22188"/>
                </a:lnTo>
                <a:lnTo>
                  <a:pt x="3353" y="25393"/>
                </a:lnTo>
                <a:lnTo>
                  <a:pt x="4430" y="24037"/>
                </a:lnTo>
                <a:lnTo>
                  <a:pt x="8861" y="26132"/>
                </a:lnTo>
                <a:lnTo>
                  <a:pt x="14489" y="18983"/>
                </a:lnTo>
                <a:lnTo>
                  <a:pt x="17003" y="21078"/>
                </a:lnTo>
                <a:lnTo>
                  <a:pt x="20236" y="17257"/>
                </a:lnTo>
                <a:lnTo>
                  <a:pt x="15806" y="12943"/>
                </a:lnTo>
                <a:lnTo>
                  <a:pt x="20954" y="7766"/>
                </a:lnTo>
                <a:lnTo>
                  <a:pt x="19877" y="6903"/>
                </a:lnTo>
                <a:lnTo>
                  <a:pt x="22272" y="4314"/>
                </a:lnTo>
                <a:lnTo>
                  <a:pt x="16404" y="0"/>
                </a:lnTo>
                <a:close/>
              </a:path>
            </a:pathLst>
          </a:custGeom>
          <a:solidFill>
            <a:srgbClr val="f2c8ad"/>
          </a:solidFill>
          <a:ln w="6191">
            <a:solidFill>
              <a:srgbClr val="b7633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21" name="วัดเทพากร"/>
          <p:cNvSpPr/>
          <p:nvPr/>
        </p:nvSpPr>
        <p:spPr>
          <a:xfrm>
            <a:off x="4897800" y="4924080"/>
            <a:ext cx="58680" cy="27000"/>
          </a:xfrm>
          <a:custGeom>
            <a:avLst/>
            <a:gdLst/>
            <a:ahLst/>
            <a:rect l="l" t="t" r="r" b="b"/>
            <a:pathLst>
              <a:path w="59151" h="27488">
                <a:moveTo>
                  <a:pt x="37718" y="23297"/>
                </a:moveTo>
                <a:lnTo>
                  <a:pt x="47417" y="27488"/>
                </a:lnTo>
                <a:lnTo>
                  <a:pt x="59151" y="12573"/>
                </a:lnTo>
                <a:lnTo>
                  <a:pt x="51728" y="6040"/>
                </a:lnTo>
                <a:lnTo>
                  <a:pt x="33647" y="5177"/>
                </a:lnTo>
                <a:lnTo>
                  <a:pt x="29456" y="6287"/>
                </a:lnTo>
                <a:lnTo>
                  <a:pt x="7783" y="0"/>
                </a:lnTo>
                <a:lnTo>
                  <a:pt x="5269" y="1109"/>
                </a:lnTo>
                <a:lnTo>
                  <a:pt x="4430" y="3328"/>
                </a:lnTo>
                <a:lnTo>
                  <a:pt x="9459" y="5424"/>
                </a:lnTo>
                <a:lnTo>
                  <a:pt x="9100" y="8505"/>
                </a:lnTo>
                <a:lnTo>
                  <a:pt x="3832" y="5547"/>
                </a:lnTo>
                <a:lnTo>
                  <a:pt x="2515" y="8629"/>
                </a:lnTo>
                <a:lnTo>
                  <a:pt x="599" y="8135"/>
                </a:lnTo>
                <a:lnTo>
                  <a:pt x="0" y="10108"/>
                </a:lnTo>
                <a:lnTo>
                  <a:pt x="13411" y="16394"/>
                </a:lnTo>
                <a:lnTo>
                  <a:pt x="16285" y="11464"/>
                </a:lnTo>
                <a:lnTo>
                  <a:pt x="37718" y="23297"/>
                </a:lnTo>
                <a:close/>
              </a:path>
            </a:pathLst>
          </a:custGeom>
          <a:solidFill>
            <a:srgbClr val="f2c8ad"/>
          </a:solidFill>
          <a:ln w="6191">
            <a:solidFill>
              <a:srgbClr val="b7633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22" name="สะพานยาว"/>
          <p:cNvSpPr/>
          <p:nvPr/>
        </p:nvSpPr>
        <p:spPr>
          <a:xfrm>
            <a:off x="4951080" y="4902840"/>
            <a:ext cx="20880" cy="19440"/>
          </a:xfrm>
          <a:custGeom>
            <a:avLst/>
            <a:gdLst/>
            <a:ahLst/>
            <a:rect l="l" t="t" r="r" b="b"/>
            <a:pathLst>
              <a:path w="21314" h="19722">
                <a:moveTo>
                  <a:pt x="718" y="0"/>
                </a:moveTo>
                <a:lnTo>
                  <a:pt x="0" y="986"/>
                </a:lnTo>
                <a:lnTo>
                  <a:pt x="8861" y="9245"/>
                </a:lnTo>
                <a:lnTo>
                  <a:pt x="7184" y="11340"/>
                </a:lnTo>
                <a:lnTo>
                  <a:pt x="18320" y="19722"/>
                </a:lnTo>
                <a:lnTo>
                  <a:pt x="21314" y="15778"/>
                </a:lnTo>
                <a:lnTo>
                  <a:pt x="718" y="0"/>
                </a:lnTo>
                <a:close/>
              </a:path>
            </a:pathLst>
          </a:custGeom>
          <a:solidFill>
            <a:srgbClr val="f2c8ad"/>
          </a:solidFill>
          <a:ln w="6191">
            <a:solidFill>
              <a:srgbClr val="b7633d"/>
            </a:solidFill>
            <a:round/>
          </a:ln>
        </p:spPr>
        <p:style>
          <a:lnRef idx="0"/>
          <a:fillRef idx="0"/>
          <a:effectRef idx="0"/>
          <a:fontRef idx="minor"/>
        </p:style>
        <p:txBody>
          <a:bodyPr lIns="90000" rIns="90000" tIns="-25560" bIns="-25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23" name="วัดเทพนารี"/>
          <p:cNvSpPr/>
          <p:nvPr/>
        </p:nvSpPr>
        <p:spPr>
          <a:xfrm>
            <a:off x="4889520" y="4944240"/>
            <a:ext cx="47520" cy="27000"/>
          </a:xfrm>
          <a:custGeom>
            <a:avLst/>
            <a:gdLst/>
            <a:ahLst/>
            <a:rect l="l" t="t" r="r" b="b"/>
            <a:pathLst>
              <a:path w="47776" h="27488">
                <a:moveTo>
                  <a:pt x="3113" y="0"/>
                </a:moveTo>
                <a:lnTo>
                  <a:pt x="0" y="8012"/>
                </a:lnTo>
                <a:lnTo>
                  <a:pt x="14608" y="13559"/>
                </a:lnTo>
                <a:lnTo>
                  <a:pt x="33407" y="24899"/>
                </a:lnTo>
                <a:lnTo>
                  <a:pt x="41550" y="27488"/>
                </a:lnTo>
                <a:lnTo>
                  <a:pt x="44663" y="25762"/>
                </a:lnTo>
                <a:lnTo>
                  <a:pt x="47776" y="20708"/>
                </a:lnTo>
                <a:lnTo>
                  <a:pt x="47656" y="17257"/>
                </a:lnTo>
                <a:lnTo>
                  <a:pt x="22152" y="3082"/>
                </a:lnTo>
                <a:lnTo>
                  <a:pt x="19158" y="8135"/>
                </a:lnTo>
                <a:lnTo>
                  <a:pt x="3113" y="0"/>
                </a:lnTo>
                <a:close/>
              </a:path>
            </a:pathLst>
          </a:custGeom>
          <a:solidFill>
            <a:srgbClr val="f2c8ad"/>
          </a:solidFill>
          <a:ln w="6191">
            <a:solidFill>
              <a:srgbClr val="b7633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24" name="จรัญ 72"/>
          <p:cNvSpPr/>
          <p:nvPr/>
        </p:nvSpPr>
        <p:spPr>
          <a:xfrm>
            <a:off x="4947840" y="4879800"/>
            <a:ext cx="46800" cy="34560"/>
          </a:xfrm>
          <a:custGeom>
            <a:avLst/>
            <a:gdLst/>
            <a:ahLst/>
            <a:rect l="l" t="t" r="r" b="b"/>
            <a:pathLst>
              <a:path w="47297" h="34761">
                <a:moveTo>
                  <a:pt x="5987" y="5300"/>
                </a:moveTo>
                <a:lnTo>
                  <a:pt x="0" y="12080"/>
                </a:lnTo>
                <a:lnTo>
                  <a:pt x="29336" y="34761"/>
                </a:lnTo>
                <a:lnTo>
                  <a:pt x="47297" y="15778"/>
                </a:lnTo>
                <a:lnTo>
                  <a:pt x="41909" y="10108"/>
                </a:lnTo>
                <a:lnTo>
                  <a:pt x="28498" y="2342"/>
                </a:lnTo>
                <a:lnTo>
                  <a:pt x="18679" y="2712"/>
                </a:lnTo>
                <a:lnTo>
                  <a:pt x="9699" y="0"/>
                </a:lnTo>
                <a:lnTo>
                  <a:pt x="5987" y="5300"/>
                </a:lnTo>
                <a:close/>
              </a:path>
            </a:pathLst>
          </a:custGeom>
          <a:solidFill>
            <a:srgbClr val="f2c8ad"/>
          </a:solidFill>
          <a:ln w="6191">
            <a:solidFill>
              <a:srgbClr val="b7633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25" name="วัดบางพลัด"/>
          <p:cNvSpPr/>
          <p:nvPr/>
        </p:nvSpPr>
        <p:spPr>
          <a:xfrm>
            <a:off x="4888800" y="4862880"/>
            <a:ext cx="18000" cy="10080"/>
          </a:xfrm>
          <a:custGeom>
            <a:avLst/>
            <a:gdLst/>
            <a:ahLst/>
            <a:rect l="l" t="t" r="r" b="b"/>
            <a:pathLst>
              <a:path w="18320" h="10478">
                <a:moveTo>
                  <a:pt x="0" y="4068"/>
                </a:moveTo>
                <a:lnTo>
                  <a:pt x="4191" y="10108"/>
                </a:lnTo>
                <a:lnTo>
                  <a:pt x="6825" y="7766"/>
                </a:lnTo>
                <a:lnTo>
                  <a:pt x="9579" y="10478"/>
                </a:lnTo>
                <a:lnTo>
                  <a:pt x="12573" y="7642"/>
                </a:lnTo>
                <a:lnTo>
                  <a:pt x="16045" y="10478"/>
                </a:lnTo>
                <a:lnTo>
                  <a:pt x="18320" y="8012"/>
                </a:lnTo>
                <a:lnTo>
                  <a:pt x="14848" y="5547"/>
                </a:lnTo>
                <a:lnTo>
                  <a:pt x="17003" y="3082"/>
                </a:lnTo>
                <a:lnTo>
                  <a:pt x="13770" y="616"/>
                </a:lnTo>
                <a:lnTo>
                  <a:pt x="9819" y="4561"/>
                </a:lnTo>
                <a:lnTo>
                  <a:pt x="3951" y="0"/>
                </a:lnTo>
                <a:lnTo>
                  <a:pt x="0" y="4068"/>
                </a:lnTo>
                <a:close/>
              </a:path>
            </a:pathLst>
          </a:custGeom>
          <a:solidFill>
            <a:srgbClr val="f2c8ad"/>
          </a:solidFill>
          <a:ln w="6191">
            <a:solidFill>
              <a:srgbClr val="b7633d"/>
            </a:solidFill>
            <a:round/>
          </a:ln>
        </p:spPr>
        <p:style>
          <a:lnRef idx="0"/>
          <a:fillRef idx="0"/>
          <a:effectRef idx="0"/>
          <a:fontRef idx="minor"/>
        </p:style>
        <p:txBody>
          <a:bodyPr lIns="90000" rIns="90000" tIns="-34920" bIns="-34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26" name="ดวงดี"/>
          <p:cNvSpPr/>
          <p:nvPr/>
        </p:nvSpPr>
        <p:spPr>
          <a:xfrm>
            <a:off x="4868280" y="4828680"/>
            <a:ext cx="26280" cy="25200"/>
          </a:xfrm>
          <a:custGeom>
            <a:avLst/>
            <a:gdLst/>
            <a:ahLst/>
            <a:rect l="l" t="t" r="r" b="b"/>
            <a:pathLst>
              <a:path w="26463" h="25393">
                <a:moveTo>
                  <a:pt x="11136" y="17134"/>
                </a:moveTo>
                <a:lnTo>
                  <a:pt x="12453" y="18366"/>
                </a:lnTo>
                <a:lnTo>
                  <a:pt x="15087" y="15038"/>
                </a:lnTo>
                <a:lnTo>
                  <a:pt x="18919" y="17750"/>
                </a:lnTo>
                <a:lnTo>
                  <a:pt x="26463" y="8259"/>
                </a:lnTo>
                <a:lnTo>
                  <a:pt x="17602" y="0"/>
                </a:lnTo>
                <a:lnTo>
                  <a:pt x="14728" y="3205"/>
                </a:lnTo>
                <a:lnTo>
                  <a:pt x="16285" y="4191"/>
                </a:lnTo>
                <a:lnTo>
                  <a:pt x="13770" y="8135"/>
                </a:lnTo>
                <a:lnTo>
                  <a:pt x="12094" y="7026"/>
                </a:lnTo>
                <a:lnTo>
                  <a:pt x="8382" y="11833"/>
                </a:lnTo>
                <a:lnTo>
                  <a:pt x="6945" y="10971"/>
                </a:lnTo>
                <a:lnTo>
                  <a:pt x="0" y="22064"/>
                </a:lnTo>
                <a:lnTo>
                  <a:pt x="4550" y="25393"/>
                </a:lnTo>
                <a:lnTo>
                  <a:pt x="11136" y="17134"/>
                </a:lnTo>
                <a:close/>
              </a:path>
            </a:pathLst>
          </a:custGeom>
          <a:solidFill>
            <a:srgbClr val="f2c8ad"/>
          </a:solidFill>
          <a:ln w="6191">
            <a:solidFill>
              <a:srgbClr val="b7633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27" name="วัดภาณุรังษี"/>
          <p:cNvSpPr/>
          <p:nvPr/>
        </p:nvSpPr>
        <p:spPr>
          <a:xfrm>
            <a:off x="4871880" y="4897440"/>
            <a:ext cx="39600" cy="24120"/>
          </a:xfrm>
          <a:custGeom>
            <a:avLst/>
            <a:gdLst/>
            <a:ahLst/>
            <a:rect l="l" t="t" r="r" b="b"/>
            <a:pathLst>
              <a:path w="39993" h="24653">
                <a:moveTo>
                  <a:pt x="0" y="14422"/>
                </a:moveTo>
                <a:lnTo>
                  <a:pt x="2395" y="15038"/>
                </a:lnTo>
                <a:lnTo>
                  <a:pt x="1317" y="19722"/>
                </a:lnTo>
                <a:lnTo>
                  <a:pt x="28259" y="24653"/>
                </a:lnTo>
                <a:lnTo>
                  <a:pt x="39993" y="17134"/>
                </a:lnTo>
                <a:lnTo>
                  <a:pt x="28618" y="10108"/>
                </a:lnTo>
                <a:lnTo>
                  <a:pt x="16285" y="0"/>
                </a:lnTo>
                <a:lnTo>
                  <a:pt x="10058" y="5424"/>
                </a:lnTo>
                <a:lnTo>
                  <a:pt x="9220" y="9861"/>
                </a:lnTo>
                <a:lnTo>
                  <a:pt x="838" y="8382"/>
                </a:lnTo>
                <a:lnTo>
                  <a:pt x="0" y="14422"/>
                </a:lnTo>
                <a:close/>
              </a:path>
            </a:pathLst>
          </a:custGeom>
          <a:solidFill>
            <a:srgbClr val="f2c8ad"/>
          </a:solidFill>
          <a:ln w="6191">
            <a:solidFill>
              <a:srgbClr val="b7633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28" name="บ้านปูน"/>
          <p:cNvSpPr/>
          <p:nvPr/>
        </p:nvSpPr>
        <p:spPr>
          <a:xfrm>
            <a:off x="4834440" y="5112000"/>
            <a:ext cx="34200" cy="27360"/>
          </a:xfrm>
          <a:custGeom>
            <a:avLst/>
            <a:gdLst/>
            <a:ahLst/>
            <a:rect l="l" t="t" r="r" b="b"/>
            <a:pathLst>
              <a:path w="34605" h="27735">
                <a:moveTo>
                  <a:pt x="23948" y="27735"/>
                </a:moveTo>
                <a:lnTo>
                  <a:pt x="25744" y="27241"/>
                </a:lnTo>
                <a:lnTo>
                  <a:pt x="27780" y="22311"/>
                </a:lnTo>
                <a:lnTo>
                  <a:pt x="29815" y="23297"/>
                </a:lnTo>
                <a:lnTo>
                  <a:pt x="30773" y="20462"/>
                </a:lnTo>
                <a:lnTo>
                  <a:pt x="27660" y="19106"/>
                </a:lnTo>
                <a:lnTo>
                  <a:pt x="28259" y="17997"/>
                </a:lnTo>
                <a:lnTo>
                  <a:pt x="32689" y="19969"/>
                </a:lnTo>
                <a:lnTo>
                  <a:pt x="33407" y="18366"/>
                </a:lnTo>
                <a:lnTo>
                  <a:pt x="34605" y="15408"/>
                </a:lnTo>
                <a:lnTo>
                  <a:pt x="32569" y="14422"/>
                </a:lnTo>
                <a:lnTo>
                  <a:pt x="31971" y="16394"/>
                </a:lnTo>
                <a:lnTo>
                  <a:pt x="29815" y="17011"/>
                </a:lnTo>
                <a:lnTo>
                  <a:pt x="31971" y="14545"/>
                </a:lnTo>
                <a:lnTo>
                  <a:pt x="32210" y="11464"/>
                </a:lnTo>
                <a:lnTo>
                  <a:pt x="30534" y="12820"/>
                </a:lnTo>
                <a:lnTo>
                  <a:pt x="28738" y="11710"/>
                </a:lnTo>
                <a:lnTo>
                  <a:pt x="28738" y="9861"/>
                </a:lnTo>
                <a:lnTo>
                  <a:pt x="23349" y="15408"/>
                </a:lnTo>
                <a:lnTo>
                  <a:pt x="14010" y="10971"/>
                </a:lnTo>
                <a:lnTo>
                  <a:pt x="16165" y="4931"/>
                </a:lnTo>
                <a:lnTo>
                  <a:pt x="2993" y="0"/>
                </a:lnTo>
                <a:lnTo>
                  <a:pt x="2634" y="1233"/>
                </a:lnTo>
                <a:lnTo>
                  <a:pt x="718" y="493"/>
                </a:lnTo>
                <a:lnTo>
                  <a:pt x="0" y="1726"/>
                </a:lnTo>
                <a:lnTo>
                  <a:pt x="5748" y="4807"/>
                </a:lnTo>
                <a:lnTo>
                  <a:pt x="718" y="14669"/>
                </a:lnTo>
                <a:lnTo>
                  <a:pt x="2275" y="15655"/>
                </a:lnTo>
                <a:lnTo>
                  <a:pt x="1197" y="17504"/>
                </a:lnTo>
                <a:lnTo>
                  <a:pt x="6945" y="21078"/>
                </a:lnTo>
                <a:lnTo>
                  <a:pt x="7903" y="19599"/>
                </a:lnTo>
                <a:lnTo>
                  <a:pt x="13770" y="22434"/>
                </a:lnTo>
                <a:lnTo>
                  <a:pt x="16644" y="21325"/>
                </a:lnTo>
                <a:lnTo>
                  <a:pt x="18440" y="22557"/>
                </a:lnTo>
                <a:lnTo>
                  <a:pt x="17482" y="24406"/>
                </a:lnTo>
                <a:lnTo>
                  <a:pt x="23948" y="27735"/>
                </a:lnTo>
                <a:close/>
              </a:path>
            </a:pathLst>
          </a:custGeom>
          <a:solidFill>
            <a:srgbClr val="f2c8ad"/>
          </a:solidFill>
          <a:ln w="6191">
            <a:solidFill>
              <a:srgbClr val="b7633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29" name="วัดดาวดึงษาราม"/>
          <p:cNvSpPr/>
          <p:nvPr/>
        </p:nvSpPr>
        <p:spPr>
          <a:xfrm>
            <a:off x="4801320" y="5151960"/>
            <a:ext cx="37800" cy="51120"/>
          </a:xfrm>
          <a:custGeom>
            <a:avLst/>
            <a:gdLst/>
            <a:ahLst/>
            <a:rect l="l" t="t" r="r" b="b"/>
            <a:pathLst>
              <a:path w="38077" h="51648">
                <a:moveTo>
                  <a:pt x="32928" y="24530"/>
                </a:moveTo>
                <a:lnTo>
                  <a:pt x="21912" y="13806"/>
                </a:lnTo>
                <a:lnTo>
                  <a:pt x="17003" y="18490"/>
                </a:lnTo>
                <a:lnTo>
                  <a:pt x="11615" y="12326"/>
                </a:lnTo>
                <a:lnTo>
                  <a:pt x="10058" y="10354"/>
                </a:lnTo>
                <a:lnTo>
                  <a:pt x="15566" y="6287"/>
                </a:lnTo>
                <a:lnTo>
                  <a:pt x="11375" y="0"/>
                </a:lnTo>
                <a:lnTo>
                  <a:pt x="0" y="9738"/>
                </a:lnTo>
                <a:lnTo>
                  <a:pt x="7544" y="20955"/>
                </a:lnTo>
                <a:lnTo>
                  <a:pt x="120" y="26255"/>
                </a:lnTo>
                <a:lnTo>
                  <a:pt x="6226" y="35870"/>
                </a:lnTo>
                <a:lnTo>
                  <a:pt x="5149" y="37103"/>
                </a:lnTo>
                <a:lnTo>
                  <a:pt x="7304" y="40308"/>
                </a:lnTo>
                <a:lnTo>
                  <a:pt x="8980" y="39075"/>
                </a:lnTo>
                <a:lnTo>
                  <a:pt x="19997" y="51648"/>
                </a:lnTo>
                <a:lnTo>
                  <a:pt x="28618" y="43266"/>
                </a:lnTo>
                <a:lnTo>
                  <a:pt x="26941" y="41170"/>
                </a:lnTo>
                <a:lnTo>
                  <a:pt x="31372" y="37103"/>
                </a:lnTo>
                <a:lnTo>
                  <a:pt x="32928" y="38335"/>
                </a:lnTo>
                <a:lnTo>
                  <a:pt x="38077" y="32295"/>
                </a:lnTo>
                <a:lnTo>
                  <a:pt x="34485" y="29707"/>
                </a:lnTo>
                <a:lnTo>
                  <a:pt x="36521" y="27981"/>
                </a:lnTo>
                <a:lnTo>
                  <a:pt x="34365" y="26009"/>
                </a:lnTo>
                <a:lnTo>
                  <a:pt x="35443" y="24776"/>
                </a:lnTo>
                <a:lnTo>
                  <a:pt x="32928" y="24530"/>
                </a:lnTo>
                <a:close/>
              </a:path>
            </a:pathLst>
          </a:custGeom>
          <a:solidFill>
            <a:srgbClr val="f2c8ad"/>
          </a:solidFill>
          <a:ln w="6191">
            <a:solidFill>
              <a:srgbClr val="b7633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30" name="วัดภคินีนาถ"/>
          <p:cNvSpPr/>
          <p:nvPr/>
        </p:nvSpPr>
        <p:spPr>
          <a:xfrm>
            <a:off x="4856040" y="4994280"/>
            <a:ext cx="51480" cy="40680"/>
          </a:xfrm>
          <a:custGeom>
            <a:avLst/>
            <a:gdLst/>
            <a:ahLst/>
            <a:rect l="l" t="t" r="r" b="b"/>
            <a:pathLst>
              <a:path w="51967" h="41047">
                <a:moveTo>
                  <a:pt x="10657" y="0"/>
                </a:moveTo>
                <a:lnTo>
                  <a:pt x="4550" y="5300"/>
                </a:lnTo>
                <a:lnTo>
                  <a:pt x="8382" y="7519"/>
                </a:lnTo>
                <a:lnTo>
                  <a:pt x="7184" y="9861"/>
                </a:lnTo>
                <a:lnTo>
                  <a:pt x="4790" y="8752"/>
                </a:lnTo>
                <a:lnTo>
                  <a:pt x="5628" y="6410"/>
                </a:lnTo>
                <a:lnTo>
                  <a:pt x="4311" y="5793"/>
                </a:lnTo>
                <a:lnTo>
                  <a:pt x="3712" y="7149"/>
                </a:lnTo>
                <a:lnTo>
                  <a:pt x="2036" y="6287"/>
                </a:lnTo>
                <a:lnTo>
                  <a:pt x="0" y="10108"/>
                </a:lnTo>
                <a:lnTo>
                  <a:pt x="3233" y="11464"/>
                </a:lnTo>
                <a:lnTo>
                  <a:pt x="1197" y="16641"/>
                </a:lnTo>
                <a:lnTo>
                  <a:pt x="11375" y="20585"/>
                </a:lnTo>
                <a:lnTo>
                  <a:pt x="8262" y="28721"/>
                </a:lnTo>
                <a:lnTo>
                  <a:pt x="47537" y="41047"/>
                </a:lnTo>
                <a:lnTo>
                  <a:pt x="51967" y="31556"/>
                </a:lnTo>
                <a:lnTo>
                  <a:pt x="47178" y="29337"/>
                </a:lnTo>
                <a:lnTo>
                  <a:pt x="48854" y="24899"/>
                </a:lnTo>
                <a:lnTo>
                  <a:pt x="42268" y="20585"/>
                </a:lnTo>
                <a:lnTo>
                  <a:pt x="45142" y="13682"/>
                </a:lnTo>
                <a:lnTo>
                  <a:pt x="10657" y="0"/>
                </a:lnTo>
                <a:close/>
              </a:path>
            </a:pathLst>
          </a:custGeom>
          <a:solidFill>
            <a:srgbClr val="f2c8ad"/>
          </a:solidFill>
          <a:ln w="6191">
            <a:solidFill>
              <a:srgbClr val="b7633d"/>
            </a:solidFill>
            <a:round/>
          </a:ln>
        </p:spPr>
        <p:style>
          <a:lnRef idx="0"/>
          <a:fillRef idx="0"/>
          <a:effectRef idx="0"/>
          <a:fontRef idx="minor"/>
        </p:style>
        <p:txBody>
          <a:bodyPr lIns="90000" rIns="90000" tIns="-4320" bIns="-4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31" name="วัดบวรมงคล"/>
          <p:cNvSpPr/>
          <p:nvPr/>
        </p:nvSpPr>
        <p:spPr>
          <a:xfrm>
            <a:off x="4811040" y="5051160"/>
            <a:ext cx="78120" cy="52560"/>
          </a:xfrm>
          <a:custGeom>
            <a:avLst/>
            <a:gdLst/>
            <a:ahLst/>
            <a:rect l="l" t="t" r="r" b="b"/>
            <a:pathLst>
              <a:path w="78549" h="53004">
                <a:moveTo>
                  <a:pt x="58673" y="46594"/>
                </a:moveTo>
                <a:lnTo>
                  <a:pt x="68371" y="53004"/>
                </a:lnTo>
                <a:lnTo>
                  <a:pt x="78549" y="20339"/>
                </a:lnTo>
                <a:lnTo>
                  <a:pt x="55080" y="17134"/>
                </a:lnTo>
                <a:lnTo>
                  <a:pt x="45741" y="12820"/>
                </a:lnTo>
                <a:lnTo>
                  <a:pt x="46699" y="10601"/>
                </a:lnTo>
                <a:lnTo>
                  <a:pt x="43106" y="9122"/>
                </a:lnTo>
                <a:lnTo>
                  <a:pt x="42268" y="10847"/>
                </a:lnTo>
                <a:lnTo>
                  <a:pt x="33527" y="7026"/>
                </a:lnTo>
                <a:lnTo>
                  <a:pt x="29336" y="15162"/>
                </a:lnTo>
                <a:lnTo>
                  <a:pt x="12333" y="6040"/>
                </a:lnTo>
                <a:lnTo>
                  <a:pt x="13531" y="493"/>
                </a:lnTo>
                <a:lnTo>
                  <a:pt x="12213" y="0"/>
                </a:lnTo>
                <a:lnTo>
                  <a:pt x="8980" y="7026"/>
                </a:lnTo>
                <a:lnTo>
                  <a:pt x="4550" y="6410"/>
                </a:lnTo>
                <a:lnTo>
                  <a:pt x="0" y="16271"/>
                </a:lnTo>
                <a:lnTo>
                  <a:pt x="40472" y="35870"/>
                </a:lnTo>
                <a:lnTo>
                  <a:pt x="39394" y="38705"/>
                </a:lnTo>
                <a:lnTo>
                  <a:pt x="47297" y="43143"/>
                </a:lnTo>
                <a:lnTo>
                  <a:pt x="58673" y="46594"/>
                </a:lnTo>
                <a:close/>
              </a:path>
            </a:pathLst>
          </a:custGeom>
          <a:solidFill>
            <a:srgbClr val="f2c8ad"/>
          </a:solidFill>
          <a:ln w="6191">
            <a:solidFill>
              <a:srgbClr val="b7633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32" name="วัดพระยาศิริไอยสวรรค์"/>
          <p:cNvSpPr/>
          <p:nvPr/>
        </p:nvSpPr>
        <p:spPr>
          <a:xfrm>
            <a:off x="4787640" y="5104800"/>
            <a:ext cx="48960" cy="59040"/>
          </a:xfrm>
          <a:custGeom>
            <a:avLst/>
            <a:gdLst/>
            <a:ahLst/>
            <a:rect l="l" t="t" r="r" b="b"/>
            <a:pathLst>
              <a:path w="49333" h="59414">
                <a:moveTo>
                  <a:pt x="29576" y="53497"/>
                </a:moveTo>
                <a:lnTo>
                  <a:pt x="34365" y="59414"/>
                </a:lnTo>
                <a:lnTo>
                  <a:pt x="39155" y="57811"/>
                </a:lnTo>
                <a:lnTo>
                  <a:pt x="40472" y="52511"/>
                </a:lnTo>
                <a:lnTo>
                  <a:pt x="47297" y="44745"/>
                </a:lnTo>
                <a:lnTo>
                  <a:pt x="49333" y="38705"/>
                </a:lnTo>
                <a:lnTo>
                  <a:pt x="42388" y="35254"/>
                </a:lnTo>
                <a:lnTo>
                  <a:pt x="40233" y="37596"/>
                </a:lnTo>
                <a:lnTo>
                  <a:pt x="33886" y="32049"/>
                </a:lnTo>
                <a:lnTo>
                  <a:pt x="36042" y="30077"/>
                </a:lnTo>
                <a:lnTo>
                  <a:pt x="18679" y="14915"/>
                </a:lnTo>
                <a:lnTo>
                  <a:pt x="23110" y="9738"/>
                </a:lnTo>
                <a:lnTo>
                  <a:pt x="21074" y="5793"/>
                </a:lnTo>
                <a:lnTo>
                  <a:pt x="16404" y="1849"/>
                </a:lnTo>
                <a:lnTo>
                  <a:pt x="10178" y="0"/>
                </a:lnTo>
                <a:lnTo>
                  <a:pt x="5149" y="986"/>
                </a:lnTo>
                <a:lnTo>
                  <a:pt x="1916" y="4191"/>
                </a:lnTo>
                <a:lnTo>
                  <a:pt x="4191" y="6163"/>
                </a:lnTo>
                <a:lnTo>
                  <a:pt x="0" y="12696"/>
                </a:lnTo>
                <a:lnTo>
                  <a:pt x="5508" y="16271"/>
                </a:lnTo>
                <a:lnTo>
                  <a:pt x="2275" y="20462"/>
                </a:lnTo>
                <a:lnTo>
                  <a:pt x="16644" y="39568"/>
                </a:lnTo>
                <a:lnTo>
                  <a:pt x="21793" y="41294"/>
                </a:lnTo>
                <a:lnTo>
                  <a:pt x="29576" y="53497"/>
                </a:lnTo>
                <a:close/>
              </a:path>
            </a:pathLst>
          </a:custGeom>
          <a:solidFill>
            <a:srgbClr val="f2c8ad"/>
          </a:solidFill>
          <a:ln w="6191">
            <a:solidFill>
              <a:srgbClr val="b7633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33" name="คลองเจ้าครุฑ"/>
          <p:cNvSpPr/>
          <p:nvPr/>
        </p:nvSpPr>
        <p:spPr>
          <a:xfrm>
            <a:off x="4791600" y="5198040"/>
            <a:ext cx="22680" cy="21600"/>
          </a:xfrm>
          <a:custGeom>
            <a:avLst/>
            <a:gdLst/>
            <a:ahLst/>
            <a:rect l="l" t="t" r="r" b="b"/>
            <a:pathLst>
              <a:path w="23110" h="22064">
                <a:moveTo>
                  <a:pt x="19637" y="8752"/>
                </a:moveTo>
                <a:lnTo>
                  <a:pt x="18799" y="9491"/>
                </a:lnTo>
                <a:lnTo>
                  <a:pt x="11735" y="0"/>
                </a:lnTo>
                <a:lnTo>
                  <a:pt x="0" y="10847"/>
                </a:lnTo>
                <a:lnTo>
                  <a:pt x="239" y="13806"/>
                </a:lnTo>
                <a:lnTo>
                  <a:pt x="3472" y="18243"/>
                </a:lnTo>
                <a:lnTo>
                  <a:pt x="11375" y="22064"/>
                </a:lnTo>
                <a:lnTo>
                  <a:pt x="23110" y="12450"/>
                </a:lnTo>
                <a:lnTo>
                  <a:pt x="19637" y="8752"/>
                </a:lnTo>
                <a:close/>
              </a:path>
            </a:pathLst>
          </a:custGeom>
          <a:solidFill>
            <a:srgbClr val="f2c8ad"/>
          </a:solidFill>
          <a:ln w="6191">
            <a:solidFill>
              <a:srgbClr val="b7633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34" name="ชุมชนซอยสมบูรณ์พัฒนา 2"/>
          <p:cNvSpPr/>
          <p:nvPr/>
        </p:nvSpPr>
        <p:spPr>
          <a:xfrm>
            <a:off x="5666040" y="5006160"/>
            <a:ext cx="17640" cy="22320"/>
          </a:xfrm>
          <a:custGeom>
            <a:avLst/>
            <a:gdLst/>
            <a:ahLst/>
            <a:rect l="l" t="t" r="r" b="b"/>
            <a:pathLst>
              <a:path w="18081" h="22681">
                <a:moveTo>
                  <a:pt x="2155" y="7642"/>
                </a:moveTo>
                <a:lnTo>
                  <a:pt x="1197" y="16641"/>
                </a:lnTo>
                <a:lnTo>
                  <a:pt x="0" y="16764"/>
                </a:lnTo>
                <a:lnTo>
                  <a:pt x="120" y="19969"/>
                </a:lnTo>
                <a:lnTo>
                  <a:pt x="2155" y="20215"/>
                </a:lnTo>
                <a:lnTo>
                  <a:pt x="1796" y="22681"/>
                </a:lnTo>
                <a:lnTo>
                  <a:pt x="11854" y="22681"/>
                </a:lnTo>
                <a:lnTo>
                  <a:pt x="11974" y="20092"/>
                </a:lnTo>
                <a:lnTo>
                  <a:pt x="15806" y="20585"/>
                </a:lnTo>
                <a:lnTo>
                  <a:pt x="18081" y="5054"/>
                </a:lnTo>
                <a:lnTo>
                  <a:pt x="16404" y="4684"/>
                </a:lnTo>
                <a:lnTo>
                  <a:pt x="17003" y="2219"/>
                </a:lnTo>
                <a:lnTo>
                  <a:pt x="11375" y="0"/>
                </a:lnTo>
                <a:lnTo>
                  <a:pt x="9938" y="5670"/>
                </a:lnTo>
                <a:lnTo>
                  <a:pt x="4430" y="4684"/>
                </a:lnTo>
                <a:lnTo>
                  <a:pt x="4191" y="7766"/>
                </a:lnTo>
                <a:lnTo>
                  <a:pt x="2155" y="7642"/>
                </a:lnTo>
                <a:close/>
              </a:path>
            </a:pathLst>
          </a:custGeom>
          <a:solidFill>
            <a:srgbClr val="f2c8ad"/>
          </a:solidFill>
          <a:ln w="6191">
            <a:solidFill>
              <a:srgbClr val="b7633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35" name="ชุมชนซอยอินทามระ 55"/>
          <p:cNvSpPr/>
          <p:nvPr/>
        </p:nvSpPr>
        <p:spPr>
          <a:xfrm>
            <a:off x="5730840" y="4978800"/>
            <a:ext cx="22680" cy="17280"/>
          </a:xfrm>
          <a:custGeom>
            <a:avLst/>
            <a:gdLst/>
            <a:ahLst/>
            <a:rect l="l" t="t" r="r" b="b"/>
            <a:pathLst>
              <a:path w="22990" h="17504">
                <a:moveTo>
                  <a:pt x="2874" y="0"/>
                </a:moveTo>
                <a:lnTo>
                  <a:pt x="2515" y="2958"/>
                </a:lnTo>
                <a:lnTo>
                  <a:pt x="16045" y="5054"/>
                </a:lnTo>
                <a:lnTo>
                  <a:pt x="15806" y="7642"/>
                </a:lnTo>
                <a:lnTo>
                  <a:pt x="9699" y="6780"/>
                </a:lnTo>
                <a:lnTo>
                  <a:pt x="9459" y="9738"/>
                </a:lnTo>
                <a:lnTo>
                  <a:pt x="3832" y="9122"/>
                </a:lnTo>
                <a:lnTo>
                  <a:pt x="3592" y="12450"/>
                </a:lnTo>
                <a:lnTo>
                  <a:pt x="120" y="12080"/>
                </a:lnTo>
                <a:lnTo>
                  <a:pt x="0" y="13436"/>
                </a:lnTo>
                <a:lnTo>
                  <a:pt x="22990" y="17504"/>
                </a:lnTo>
                <a:lnTo>
                  <a:pt x="21793" y="3328"/>
                </a:lnTo>
                <a:lnTo>
                  <a:pt x="2874" y="0"/>
                </a:lnTo>
                <a:close/>
              </a:path>
            </a:pathLst>
          </a:custGeom>
          <a:solidFill>
            <a:srgbClr val="f2c8ad"/>
          </a:solidFill>
          <a:ln w="6191">
            <a:solidFill>
              <a:srgbClr val="b7633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36" name="ริมคลองบางซื่อ ซอยโชคชัยร่วมมิตร แยก 2 - 4"/>
          <p:cNvSpPr/>
          <p:nvPr/>
        </p:nvSpPr>
        <p:spPr>
          <a:xfrm>
            <a:off x="5710320" y="4816800"/>
            <a:ext cx="53640" cy="16200"/>
          </a:xfrm>
          <a:custGeom>
            <a:avLst/>
            <a:gdLst/>
            <a:ahLst/>
            <a:rect l="l" t="t" r="r" b="b"/>
            <a:pathLst>
              <a:path w="54003" h="16394">
                <a:moveTo>
                  <a:pt x="0" y="16394"/>
                </a:moveTo>
                <a:lnTo>
                  <a:pt x="11735" y="12080"/>
                </a:lnTo>
                <a:lnTo>
                  <a:pt x="28378" y="9984"/>
                </a:lnTo>
                <a:lnTo>
                  <a:pt x="53643" y="4068"/>
                </a:lnTo>
                <a:lnTo>
                  <a:pt x="54003" y="0"/>
                </a:lnTo>
                <a:lnTo>
                  <a:pt x="239" y="13313"/>
                </a:lnTo>
                <a:lnTo>
                  <a:pt x="0" y="16394"/>
                </a:lnTo>
                <a:close/>
              </a:path>
            </a:pathLst>
          </a:custGeom>
          <a:solidFill>
            <a:srgbClr val="f2c8ad"/>
          </a:solidFill>
          <a:ln w="6191">
            <a:solidFill>
              <a:srgbClr val="b7633d"/>
            </a:solidFill>
            <a:round/>
          </a:ln>
        </p:spPr>
        <p:style>
          <a:lnRef idx="0"/>
          <a:fillRef idx="0"/>
          <a:effectRef idx="0"/>
          <a:fontRef idx="minor"/>
        </p:style>
        <p:txBody>
          <a:bodyPr lIns="90000" rIns="90000" tIns="-28800" bIns="-28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37" name="ชุมชนริมคลองบางซื่อ ซอยโชคชัยร่วมมิตร แยก 18"/>
          <p:cNvSpPr/>
          <p:nvPr/>
        </p:nvSpPr>
        <p:spPr>
          <a:xfrm>
            <a:off x="5764320" y="4812120"/>
            <a:ext cx="33480" cy="8280"/>
          </a:xfrm>
          <a:custGeom>
            <a:avLst/>
            <a:gdLst/>
            <a:ahLst/>
            <a:rect l="l" t="t" r="r" b="b"/>
            <a:pathLst>
              <a:path w="34006" h="8505">
                <a:moveTo>
                  <a:pt x="34006" y="0"/>
                </a:moveTo>
                <a:lnTo>
                  <a:pt x="0" y="5054"/>
                </a:lnTo>
                <a:lnTo>
                  <a:pt x="359" y="8505"/>
                </a:lnTo>
                <a:lnTo>
                  <a:pt x="32330" y="4191"/>
                </a:lnTo>
                <a:lnTo>
                  <a:pt x="33767" y="3821"/>
                </a:lnTo>
                <a:lnTo>
                  <a:pt x="34006" y="0"/>
                </a:lnTo>
                <a:close/>
              </a:path>
            </a:pathLst>
          </a:custGeom>
          <a:solidFill>
            <a:srgbClr val="f2c8ad"/>
          </a:solidFill>
          <a:ln w="6191">
            <a:solidFill>
              <a:srgbClr val="b7633d"/>
            </a:solidFill>
            <a:round/>
          </a:ln>
        </p:spPr>
        <p:style>
          <a:lnRef idx="0"/>
          <a:fillRef idx="0"/>
          <a:effectRef idx="0"/>
          <a:fontRef idx="minor"/>
        </p:style>
        <p:txBody>
          <a:bodyPr lIns="90000" rIns="90000" tIns="-36720" bIns="-36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38" name="ชุมชนซอยแม่เนี้นว แยก 3"/>
          <p:cNvSpPr/>
          <p:nvPr/>
        </p:nvSpPr>
        <p:spPr>
          <a:xfrm>
            <a:off x="5587200" y="5087880"/>
            <a:ext cx="23040" cy="29160"/>
          </a:xfrm>
          <a:custGeom>
            <a:avLst/>
            <a:gdLst/>
            <a:ahLst/>
            <a:rect l="l" t="t" r="r" b="b"/>
            <a:pathLst>
              <a:path w="23230" h="29460">
                <a:moveTo>
                  <a:pt x="13171" y="0"/>
                </a:moveTo>
                <a:lnTo>
                  <a:pt x="9699" y="8752"/>
                </a:lnTo>
                <a:lnTo>
                  <a:pt x="6107" y="7396"/>
                </a:lnTo>
                <a:lnTo>
                  <a:pt x="4191" y="12326"/>
                </a:lnTo>
                <a:lnTo>
                  <a:pt x="2395" y="13313"/>
                </a:lnTo>
                <a:lnTo>
                  <a:pt x="2993" y="14915"/>
                </a:lnTo>
                <a:lnTo>
                  <a:pt x="0" y="22064"/>
                </a:lnTo>
                <a:lnTo>
                  <a:pt x="20715" y="29460"/>
                </a:lnTo>
                <a:lnTo>
                  <a:pt x="23230" y="9984"/>
                </a:lnTo>
                <a:lnTo>
                  <a:pt x="19877" y="9491"/>
                </a:lnTo>
                <a:lnTo>
                  <a:pt x="20595" y="2712"/>
                </a:lnTo>
                <a:lnTo>
                  <a:pt x="13171" y="0"/>
                </a:lnTo>
                <a:close/>
              </a:path>
            </a:pathLst>
          </a:custGeom>
          <a:solidFill>
            <a:srgbClr val="f2c8ad"/>
          </a:solidFill>
          <a:ln w="6191">
            <a:solidFill>
              <a:srgbClr val="b7633d"/>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39" name="ชุมชนวัดเซิงหวาย"/>
          <p:cNvSpPr/>
          <p:nvPr/>
        </p:nvSpPr>
        <p:spPr>
          <a:xfrm>
            <a:off x="5216400" y="4554360"/>
            <a:ext cx="75600" cy="35280"/>
          </a:xfrm>
          <a:custGeom>
            <a:avLst/>
            <a:gdLst/>
            <a:ahLst/>
            <a:rect l="l" t="t" r="r" b="b"/>
            <a:pathLst>
              <a:path w="75795" h="35500">
                <a:moveTo>
                  <a:pt x="23828" y="4684"/>
                </a:moveTo>
                <a:lnTo>
                  <a:pt x="0" y="10724"/>
                </a:lnTo>
                <a:lnTo>
                  <a:pt x="838" y="17257"/>
                </a:lnTo>
                <a:lnTo>
                  <a:pt x="4909" y="26748"/>
                </a:lnTo>
                <a:lnTo>
                  <a:pt x="11256" y="25393"/>
                </a:lnTo>
                <a:lnTo>
                  <a:pt x="12333" y="29953"/>
                </a:lnTo>
                <a:lnTo>
                  <a:pt x="18799" y="28474"/>
                </a:lnTo>
                <a:lnTo>
                  <a:pt x="19997" y="32419"/>
                </a:lnTo>
                <a:lnTo>
                  <a:pt x="30773" y="31309"/>
                </a:lnTo>
                <a:lnTo>
                  <a:pt x="31492" y="35500"/>
                </a:lnTo>
                <a:lnTo>
                  <a:pt x="49453" y="32665"/>
                </a:lnTo>
                <a:lnTo>
                  <a:pt x="47656" y="27241"/>
                </a:lnTo>
                <a:lnTo>
                  <a:pt x="74119" y="20832"/>
                </a:lnTo>
                <a:lnTo>
                  <a:pt x="75795" y="5054"/>
                </a:lnTo>
                <a:lnTo>
                  <a:pt x="72203" y="5300"/>
                </a:lnTo>
                <a:lnTo>
                  <a:pt x="71724" y="4068"/>
                </a:lnTo>
                <a:lnTo>
                  <a:pt x="57715" y="7766"/>
                </a:lnTo>
                <a:lnTo>
                  <a:pt x="56876" y="4561"/>
                </a:lnTo>
                <a:lnTo>
                  <a:pt x="51967" y="5917"/>
                </a:lnTo>
                <a:lnTo>
                  <a:pt x="50889" y="2095"/>
                </a:lnTo>
                <a:lnTo>
                  <a:pt x="41669" y="4191"/>
                </a:lnTo>
                <a:lnTo>
                  <a:pt x="40592" y="0"/>
                </a:lnTo>
                <a:lnTo>
                  <a:pt x="23828" y="4684"/>
                </a:lnTo>
                <a:close/>
              </a:path>
            </a:pathLst>
          </a:custGeom>
          <a:solidFill>
            <a:srgbClr val="f2c8ad"/>
          </a:solidFill>
          <a:ln w="6191">
            <a:solidFill>
              <a:srgbClr val="b7633d"/>
            </a:solidFill>
            <a:round/>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40" name="ซอยรอดอนันต์ 1"/>
          <p:cNvSpPr/>
          <p:nvPr/>
        </p:nvSpPr>
        <p:spPr>
          <a:xfrm>
            <a:off x="6752520" y="5016240"/>
            <a:ext cx="33480" cy="65880"/>
          </a:xfrm>
          <a:custGeom>
            <a:avLst/>
            <a:gdLst/>
            <a:ahLst/>
            <a:rect l="l" t="t" r="r" b="b"/>
            <a:pathLst>
              <a:path w="33767" h="66070">
                <a:moveTo>
                  <a:pt x="10178" y="64961"/>
                </a:moveTo>
                <a:lnTo>
                  <a:pt x="11495" y="63358"/>
                </a:lnTo>
                <a:lnTo>
                  <a:pt x="14129" y="66070"/>
                </a:lnTo>
                <a:lnTo>
                  <a:pt x="22751" y="58058"/>
                </a:lnTo>
                <a:lnTo>
                  <a:pt x="30174" y="32788"/>
                </a:lnTo>
                <a:lnTo>
                  <a:pt x="29815" y="26502"/>
                </a:lnTo>
                <a:lnTo>
                  <a:pt x="33767" y="10971"/>
                </a:lnTo>
                <a:lnTo>
                  <a:pt x="11735" y="0"/>
                </a:lnTo>
                <a:lnTo>
                  <a:pt x="7065" y="11217"/>
                </a:lnTo>
                <a:lnTo>
                  <a:pt x="7184" y="22188"/>
                </a:lnTo>
                <a:lnTo>
                  <a:pt x="4670" y="23297"/>
                </a:lnTo>
                <a:lnTo>
                  <a:pt x="10058" y="35500"/>
                </a:lnTo>
                <a:lnTo>
                  <a:pt x="0" y="45238"/>
                </a:lnTo>
                <a:lnTo>
                  <a:pt x="6346" y="64961"/>
                </a:lnTo>
                <a:lnTo>
                  <a:pt x="10178" y="64961"/>
                </a:lnTo>
                <a:close/>
              </a:path>
            </a:pathLst>
          </a:custGeom>
          <a:solidFill>
            <a:srgbClr val="f2c8ad"/>
          </a:solidFill>
          <a:ln w="6191">
            <a:solidFill>
              <a:srgbClr val="b7633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41" name="ซอยสมหวัง"/>
          <p:cNvSpPr/>
          <p:nvPr/>
        </p:nvSpPr>
        <p:spPr>
          <a:xfrm>
            <a:off x="6806880" y="5068440"/>
            <a:ext cx="47160" cy="32040"/>
          </a:xfrm>
          <a:custGeom>
            <a:avLst/>
            <a:gdLst/>
            <a:ahLst/>
            <a:rect l="l" t="t" r="r" b="b"/>
            <a:pathLst>
              <a:path w="47537" h="32542">
                <a:moveTo>
                  <a:pt x="4071" y="8012"/>
                </a:moveTo>
                <a:lnTo>
                  <a:pt x="0" y="10354"/>
                </a:lnTo>
                <a:lnTo>
                  <a:pt x="25265" y="32542"/>
                </a:lnTo>
                <a:lnTo>
                  <a:pt x="47537" y="19969"/>
                </a:lnTo>
                <a:lnTo>
                  <a:pt x="35922" y="7026"/>
                </a:lnTo>
                <a:lnTo>
                  <a:pt x="30055" y="11094"/>
                </a:lnTo>
                <a:lnTo>
                  <a:pt x="18560" y="0"/>
                </a:lnTo>
                <a:lnTo>
                  <a:pt x="4071" y="8012"/>
                </a:lnTo>
                <a:close/>
              </a:path>
            </a:pathLst>
          </a:custGeom>
          <a:solidFill>
            <a:srgbClr val="f2c8ad"/>
          </a:solidFill>
          <a:ln w="6191">
            <a:solidFill>
              <a:srgbClr val="b7633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42" name="ซอยสมหวัง"/>
          <p:cNvSpPr/>
          <p:nvPr/>
        </p:nvSpPr>
        <p:spPr>
          <a:xfrm>
            <a:off x="6785640" y="5040720"/>
            <a:ext cx="34920" cy="32040"/>
          </a:xfrm>
          <a:custGeom>
            <a:avLst/>
            <a:gdLst/>
            <a:ahLst/>
            <a:rect l="l" t="t" r="r" b="b"/>
            <a:pathLst>
              <a:path w="35204" h="32295">
                <a:moveTo>
                  <a:pt x="20595" y="28721"/>
                </a:moveTo>
                <a:lnTo>
                  <a:pt x="25385" y="32295"/>
                </a:lnTo>
                <a:lnTo>
                  <a:pt x="34006" y="27365"/>
                </a:lnTo>
                <a:lnTo>
                  <a:pt x="29217" y="18736"/>
                </a:lnTo>
                <a:lnTo>
                  <a:pt x="29815" y="17011"/>
                </a:lnTo>
                <a:lnTo>
                  <a:pt x="33288" y="17997"/>
                </a:lnTo>
                <a:lnTo>
                  <a:pt x="35204" y="14792"/>
                </a:lnTo>
                <a:lnTo>
                  <a:pt x="34365" y="9738"/>
                </a:lnTo>
                <a:lnTo>
                  <a:pt x="31372" y="8752"/>
                </a:lnTo>
                <a:lnTo>
                  <a:pt x="30414" y="5054"/>
                </a:lnTo>
                <a:lnTo>
                  <a:pt x="28977" y="4561"/>
                </a:lnTo>
                <a:lnTo>
                  <a:pt x="21793" y="3944"/>
                </a:lnTo>
                <a:lnTo>
                  <a:pt x="21194" y="6410"/>
                </a:lnTo>
                <a:lnTo>
                  <a:pt x="18560" y="5670"/>
                </a:lnTo>
                <a:lnTo>
                  <a:pt x="17961" y="8012"/>
                </a:lnTo>
                <a:lnTo>
                  <a:pt x="13650" y="6533"/>
                </a:lnTo>
                <a:lnTo>
                  <a:pt x="14369" y="3821"/>
                </a:lnTo>
                <a:lnTo>
                  <a:pt x="1796" y="0"/>
                </a:lnTo>
                <a:lnTo>
                  <a:pt x="0" y="6410"/>
                </a:lnTo>
                <a:lnTo>
                  <a:pt x="2155" y="13559"/>
                </a:lnTo>
                <a:lnTo>
                  <a:pt x="20595" y="28721"/>
                </a:lnTo>
                <a:close/>
              </a:path>
            </a:pathLst>
          </a:custGeom>
          <a:solidFill>
            <a:srgbClr val="f2c8ad"/>
          </a:solidFill>
          <a:ln w="6191">
            <a:solidFill>
              <a:srgbClr val="b7633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43" name="วัดพิชัย"/>
          <p:cNvSpPr/>
          <p:nvPr/>
        </p:nvSpPr>
        <p:spPr>
          <a:xfrm>
            <a:off x="6786720" y="5088600"/>
            <a:ext cx="19800" cy="31680"/>
          </a:xfrm>
          <a:custGeom>
            <a:avLst/>
            <a:gdLst/>
            <a:ahLst/>
            <a:rect l="l" t="t" r="r" b="b"/>
            <a:pathLst>
              <a:path w="19997" h="31926">
                <a:moveTo>
                  <a:pt x="0" y="3328"/>
                </a:moveTo>
                <a:lnTo>
                  <a:pt x="10896" y="31926"/>
                </a:lnTo>
                <a:lnTo>
                  <a:pt x="19997" y="26748"/>
                </a:lnTo>
                <a:lnTo>
                  <a:pt x="9220" y="10601"/>
                </a:lnTo>
                <a:lnTo>
                  <a:pt x="14129" y="7273"/>
                </a:lnTo>
                <a:lnTo>
                  <a:pt x="5029" y="0"/>
                </a:lnTo>
                <a:lnTo>
                  <a:pt x="0" y="3328"/>
                </a:lnTo>
                <a:close/>
              </a:path>
            </a:pathLst>
          </a:custGeom>
          <a:solidFill>
            <a:srgbClr val="f2c8ad"/>
          </a:solidFill>
          <a:ln w="6191">
            <a:solidFill>
              <a:srgbClr val="b7633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44" name="สุวรรณประสิทธิ์ 1"/>
          <p:cNvSpPr/>
          <p:nvPr/>
        </p:nvSpPr>
        <p:spPr>
          <a:xfrm>
            <a:off x="6845040" y="4666680"/>
            <a:ext cx="16200" cy="27000"/>
          </a:xfrm>
          <a:custGeom>
            <a:avLst/>
            <a:gdLst/>
            <a:ahLst/>
            <a:rect l="l" t="t" r="r" b="b"/>
            <a:pathLst>
              <a:path w="16644" h="27488">
                <a:moveTo>
                  <a:pt x="0" y="1602"/>
                </a:moveTo>
                <a:lnTo>
                  <a:pt x="5628" y="21325"/>
                </a:lnTo>
                <a:lnTo>
                  <a:pt x="10058" y="20708"/>
                </a:lnTo>
                <a:lnTo>
                  <a:pt x="10417" y="22927"/>
                </a:lnTo>
                <a:lnTo>
                  <a:pt x="13052" y="22434"/>
                </a:lnTo>
                <a:lnTo>
                  <a:pt x="15087" y="27488"/>
                </a:lnTo>
                <a:lnTo>
                  <a:pt x="16644" y="27241"/>
                </a:lnTo>
                <a:lnTo>
                  <a:pt x="6586" y="0"/>
                </a:lnTo>
                <a:lnTo>
                  <a:pt x="0" y="1602"/>
                </a:lnTo>
                <a:close/>
              </a:path>
            </a:pathLst>
          </a:custGeom>
          <a:solidFill>
            <a:srgbClr val="f2c8ad"/>
          </a:solidFill>
          <a:ln w="6191">
            <a:solidFill>
              <a:srgbClr val="b7633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45" name="สุวรรณประสิทธิ์ 2"/>
          <p:cNvSpPr/>
          <p:nvPr/>
        </p:nvSpPr>
        <p:spPr>
          <a:xfrm>
            <a:off x="6863760" y="4660920"/>
            <a:ext cx="27000" cy="52560"/>
          </a:xfrm>
          <a:custGeom>
            <a:avLst/>
            <a:gdLst/>
            <a:ahLst/>
            <a:rect l="l" t="t" r="r" b="b"/>
            <a:pathLst>
              <a:path w="27301" h="52881">
                <a:moveTo>
                  <a:pt x="0" y="1726"/>
                </a:moveTo>
                <a:lnTo>
                  <a:pt x="23948" y="52881"/>
                </a:lnTo>
                <a:lnTo>
                  <a:pt x="27301" y="51401"/>
                </a:lnTo>
                <a:lnTo>
                  <a:pt x="4071" y="0"/>
                </a:lnTo>
                <a:lnTo>
                  <a:pt x="0" y="1726"/>
                </a:lnTo>
                <a:close/>
              </a:path>
            </a:pathLst>
          </a:custGeom>
          <a:solidFill>
            <a:srgbClr val="f2c8ad"/>
          </a:solidFill>
          <a:ln w="6191">
            <a:solidFill>
              <a:srgbClr val="b7633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46" name="สุวรรณประสิทธิ์ 3"/>
          <p:cNvSpPr/>
          <p:nvPr/>
        </p:nvSpPr>
        <p:spPr>
          <a:xfrm>
            <a:off x="6860520" y="4663440"/>
            <a:ext cx="26640" cy="50760"/>
          </a:xfrm>
          <a:custGeom>
            <a:avLst/>
            <a:gdLst/>
            <a:ahLst/>
            <a:rect l="l" t="t" r="r" b="b"/>
            <a:pathLst>
              <a:path w="26822" h="51278">
                <a:moveTo>
                  <a:pt x="17721" y="39198"/>
                </a:moveTo>
                <a:lnTo>
                  <a:pt x="23589" y="51278"/>
                </a:lnTo>
                <a:lnTo>
                  <a:pt x="26822" y="50045"/>
                </a:lnTo>
                <a:lnTo>
                  <a:pt x="2874" y="0"/>
                </a:lnTo>
                <a:lnTo>
                  <a:pt x="0" y="986"/>
                </a:lnTo>
                <a:lnTo>
                  <a:pt x="11735" y="26502"/>
                </a:lnTo>
                <a:lnTo>
                  <a:pt x="8741" y="27981"/>
                </a:lnTo>
                <a:lnTo>
                  <a:pt x="11735" y="34144"/>
                </a:lnTo>
                <a:lnTo>
                  <a:pt x="15207" y="33281"/>
                </a:lnTo>
                <a:lnTo>
                  <a:pt x="17721" y="39198"/>
                </a:lnTo>
                <a:close/>
              </a:path>
            </a:pathLst>
          </a:custGeom>
          <a:solidFill>
            <a:srgbClr val="f2c8ad"/>
          </a:solidFill>
          <a:ln w="6191">
            <a:solidFill>
              <a:srgbClr val="b7633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47" name="อัสลามคลองกุ่ม"/>
          <p:cNvSpPr/>
          <p:nvPr/>
        </p:nvSpPr>
        <p:spPr>
          <a:xfrm>
            <a:off x="6964920" y="4978080"/>
            <a:ext cx="30960" cy="42120"/>
          </a:xfrm>
          <a:custGeom>
            <a:avLst/>
            <a:gdLst/>
            <a:ahLst/>
            <a:rect l="l" t="t" r="r" b="b"/>
            <a:pathLst>
              <a:path w="31372" h="42526">
                <a:moveTo>
                  <a:pt x="3951" y="10354"/>
                </a:moveTo>
                <a:lnTo>
                  <a:pt x="6107" y="14299"/>
                </a:lnTo>
                <a:lnTo>
                  <a:pt x="0" y="18243"/>
                </a:lnTo>
                <a:lnTo>
                  <a:pt x="9340" y="35870"/>
                </a:lnTo>
                <a:lnTo>
                  <a:pt x="5508" y="37596"/>
                </a:lnTo>
                <a:lnTo>
                  <a:pt x="7903" y="42526"/>
                </a:lnTo>
                <a:lnTo>
                  <a:pt x="31372" y="29460"/>
                </a:lnTo>
                <a:lnTo>
                  <a:pt x="18081" y="2589"/>
                </a:lnTo>
                <a:lnTo>
                  <a:pt x="19637" y="1972"/>
                </a:lnTo>
                <a:lnTo>
                  <a:pt x="18200" y="0"/>
                </a:lnTo>
                <a:lnTo>
                  <a:pt x="3951" y="10354"/>
                </a:lnTo>
                <a:close/>
              </a:path>
            </a:pathLst>
          </a:custGeom>
          <a:solidFill>
            <a:srgbClr val="f2c8ad"/>
          </a:solidFill>
          <a:ln w="6191">
            <a:solidFill>
              <a:srgbClr val="b7633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48" name="อัสลามคลองกุ่ม"/>
          <p:cNvSpPr/>
          <p:nvPr/>
        </p:nvSpPr>
        <p:spPr>
          <a:xfrm>
            <a:off x="6956640" y="4957920"/>
            <a:ext cx="23400" cy="27360"/>
          </a:xfrm>
          <a:custGeom>
            <a:avLst/>
            <a:gdLst/>
            <a:ahLst/>
            <a:rect l="l" t="t" r="r" b="b"/>
            <a:pathLst>
              <a:path w="23828" h="27735">
                <a:moveTo>
                  <a:pt x="14369" y="26009"/>
                </a:moveTo>
                <a:lnTo>
                  <a:pt x="23828" y="18859"/>
                </a:lnTo>
                <a:lnTo>
                  <a:pt x="13770" y="0"/>
                </a:lnTo>
                <a:lnTo>
                  <a:pt x="0" y="5547"/>
                </a:lnTo>
                <a:lnTo>
                  <a:pt x="11854" y="27735"/>
                </a:lnTo>
                <a:lnTo>
                  <a:pt x="14369" y="26009"/>
                </a:lnTo>
                <a:close/>
              </a:path>
            </a:pathLst>
          </a:custGeom>
          <a:solidFill>
            <a:srgbClr val="f2c8ad"/>
          </a:solidFill>
          <a:ln w="6191">
            <a:solidFill>
              <a:srgbClr val="b7633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49" name="หลังตลาดศรีเขมา"/>
          <p:cNvSpPr/>
          <p:nvPr/>
        </p:nvSpPr>
        <p:spPr>
          <a:xfrm>
            <a:off x="5157720" y="4559400"/>
            <a:ext cx="18720" cy="26640"/>
          </a:xfrm>
          <a:custGeom>
            <a:avLst/>
            <a:gdLst/>
            <a:ahLst/>
            <a:rect l="l" t="t" r="r" b="b"/>
            <a:pathLst>
              <a:path w="19158" h="26872">
                <a:moveTo>
                  <a:pt x="3832" y="26872"/>
                </a:moveTo>
                <a:lnTo>
                  <a:pt x="19158" y="21325"/>
                </a:lnTo>
                <a:lnTo>
                  <a:pt x="15686" y="10601"/>
                </a:lnTo>
                <a:lnTo>
                  <a:pt x="17841" y="9861"/>
                </a:lnTo>
                <a:lnTo>
                  <a:pt x="16883" y="0"/>
                </a:lnTo>
                <a:lnTo>
                  <a:pt x="9819" y="1356"/>
                </a:lnTo>
                <a:lnTo>
                  <a:pt x="10058" y="2712"/>
                </a:lnTo>
                <a:lnTo>
                  <a:pt x="0" y="6903"/>
                </a:lnTo>
                <a:lnTo>
                  <a:pt x="5388" y="21325"/>
                </a:lnTo>
                <a:lnTo>
                  <a:pt x="2395" y="22434"/>
                </a:lnTo>
                <a:lnTo>
                  <a:pt x="3832" y="26872"/>
                </a:lnTo>
                <a:close/>
              </a:path>
            </a:pathLst>
          </a:custGeom>
          <a:solidFill>
            <a:srgbClr val="f2c8ad"/>
          </a:solidFill>
          <a:ln w="6191">
            <a:solidFill>
              <a:srgbClr val="b7633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50" name="ปทุมทิพย์"/>
          <p:cNvSpPr/>
          <p:nvPr/>
        </p:nvSpPr>
        <p:spPr>
          <a:xfrm>
            <a:off x="5237640" y="4585320"/>
            <a:ext cx="50760" cy="24480"/>
          </a:xfrm>
          <a:custGeom>
            <a:avLst/>
            <a:gdLst/>
            <a:ahLst/>
            <a:rect l="l" t="t" r="r" b="b"/>
            <a:pathLst>
              <a:path w="51009" h="24776">
                <a:moveTo>
                  <a:pt x="21314" y="16148"/>
                </a:moveTo>
                <a:lnTo>
                  <a:pt x="35323" y="13682"/>
                </a:lnTo>
                <a:lnTo>
                  <a:pt x="35323" y="8012"/>
                </a:lnTo>
                <a:lnTo>
                  <a:pt x="50650" y="3205"/>
                </a:lnTo>
                <a:lnTo>
                  <a:pt x="51009" y="0"/>
                </a:lnTo>
                <a:lnTo>
                  <a:pt x="28139" y="5547"/>
                </a:lnTo>
                <a:lnTo>
                  <a:pt x="27780" y="1479"/>
                </a:lnTo>
                <a:lnTo>
                  <a:pt x="8621" y="4807"/>
                </a:lnTo>
                <a:lnTo>
                  <a:pt x="9220" y="7766"/>
                </a:lnTo>
                <a:lnTo>
                  <a:pt x="3592" y="8998"/>
                </a:lnTo>
                <a:lnTo>
                  <a:pt x="4430" y="11710"/>
                </a:lnTo>
                <a:lnTo>
                  <a:pt x="0" y="12943"/>
                </a:lnTo>
                <a:lnTo>
                  <a:pt x="3712" y="24776"/>
                </a:lnTo>
                <a:lnTo>
                  <a:pt x="22272" y="20215"/>
                </a:lnTo>
                <a:lnTo>
                  <a:pt x="21314" y="16148"/>
                </a:lnTo>
                <a:close/>
              </a:path>
            </a:pathLst>
          </a:custGeom>
          <a:solidFill>
            <a:srgbClr val="f2c8ad"/>
          </a:solidFill>
          <a:ln w="6191">
            <a:solidFill>
              <a:srgbClr val="b7633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51" name="สุดซอยสีน้ำเงิน"/>
          <p:cNvSpPr/>
          <p:nvPr/>
        </p:nvSpPr>
        <p:spPr>
          <a:xfrm>
            <a:off x="5207760" y="4533120"/>
            <a:ext cx="28440" cy="16560"/>
          </a:xfrm>
          <a:custGeom>
            <a:avLst/>
            <a:gdLst/>
            <a:ahLst/>
            <a:rect l="l" t="t" r="r" b="b"/>
            <a:pathLst>
              <a:path w="28857" h="16764">
                <a:moveTo>
                  <a:pt x="2874" y="16764"/>
                </a:moveTo>
                <a:lnTo>
                  <a:pt x="27899" y="9861"/>
                </a:lnTo>
                <a:lnTo>
                  <a:pt x="26702" y="4807"/>
                </a:lnTo>
                <a:lnTo>
                  <a:pt x="28857" y="4068"/>
                </a:lnTo>
                <a:lnTo>
                  <a:pt x="27780" y="0"/>
                </a:lnTo>
                <a:lnTo>
                  <a:pt x="0" y="8505"/>
                </a:lnTo>
                <a:lnTo>
                  <a:pt x="2874" y="16764"/>
                </a:lnTo>
                <a:close/>
              </a:path>
            </a:pathLst>
          </a:custGeom>
          <a:solidFill>
            <a:srgbClr val="f2c8ad"/>
          </a:solidFill>
          <a:ln w="6191">
            <a:solidFill>
              <a:srgbClr val="b7633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52" name="ประชาร่วมใจ 1"/>
          <p:cNvSpPr/>
          <p:nvPr/>
        </p:nvSpPr>
        <p:spPr>
          <a:xfrm>
            <a:off x="5559480" y="4172760"/>
            <a:ext cx="63000" cy="114120"/>
          </a:xfrm>
          <a:custGeom>
            <a:avLst/>
            <a:gdLst/>
            <a:ahLst/>
            <a:rect l="l" t="t" r="r" b="b"/>
            <a:pathLst>
              <a:path w="63223" h="114390">
                <a:moveTo>
                  <a:pt x="46938" y="25023"/>
                </a:moveTo>
                <a:lnTo>
                  <a:pt x="6705" y="98242"/>
                </a:lnTo>
                <a:lnTo>
                  <a:pt x="7783" y="99228"/>
                </a:lnTo>
                <a:lnTo>
                  <a:pt x="5628" y="101324"/>
                </a:lnTo>
                <a:lnTo>
                  <a:pt x="6226" y="102680"/>
                </a:lnTo>
                <a:lnTo>
                  <a:pt x="4191" y="103419"/>
                </a:lnTo>
                <a:lnTo>
                  <a:pt x="4790" y="105022"/>
                </a:lnTo>
                <a:lnTo>
                  <a:pt x="3353" y="105391"/>
                </a:lnTo>
                <a:lnTo>
                  <a:pt x="0" y="113650"/>
                </a:lnTo>
                <a:lnTo>
                  <a:pt x="2874" y="114390"/>
                </a:lnTo>
                <a:lnTo>
                  <a:pt x="63223" y="2342"/>
                </a:lnTo>
                <a:lnTo>
                  <a:pt x="59391" y="0"/>
                </a:lnTo>
                <a:lnTo>
                  <a:pt x="46938" y="25023"/>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53" name="ประชาร่วมใจ 2"/>
          <p:cNvSpPr/>
          <p:nvPr/>
        </p:nvSpPr>
        <p:spPr>
          <a:xfrm>
            <a:off x="5513400" y="4289040"/>
            <a:ext cx="47520" cy="81360"/>
          </a:xfrm>
          <a:custGeom>
            <a:avLst/>
            <a:gdLst/>
            <a:ahLst/>
            <a:rect l="l" t="t" r="r" b="b"/>
            <a:pathLst>
              <a:path w="47896" h="81601">
                <a:moveTo>
                  <a:pt x="35323" y="15901"/>
                </a:moveTo>
                <a:lnTo>
                  <a:pt x="25505" y="36733"/>
                </a:lnTo>
                <a:lnTo>
                  <a:pt x="0" y="79876"/>
                </a:lnTo>
                <a:lnTo>
                  <a:pt x="2874" y="81601"/>
                </a:lnTo>
                <a:lnTo>
                  <a:pt x="47896" y="616"/>
                </a:lnTo>
                <a:lnTo>
                  <a:pt x="45381" y="0"/>
                </a:lnTo>
                <a:lnTo>
                  <a:pt x="35323" y="15901"/>
                </a:lnTo>
                <a:close/>
              </a:path>
            </a:pathLst>
          </a:custGeom>
          <a:solidFill>
            <a:srgbClr val="f2c8ad"/>
          </a:solidFill>
          <a:ln w="6191">
            <a:solidFill>
              <a:srgbClr val="b7633d"/>
            </a:solidFill>
            <a:round/>
          </a:ln>
        </p:spPr>
        <p:style>
          <a:lnRef idx="0"/>
          <a:fillRef idx="0"/>
          <a:effectRef idx="0"/>
          <a:fontRef idx="minor"/>
        </p:style>
        <p:txBody>
          <a:bodyPr lIns="90000" rIns="90000" tIns="36360" bIns="36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54" name="สามัคคีเทวสุนทร"/>
          <p:cNvSpPr/>
          <p:nvPr/>
        </p:nvSpPr>
        <p:spPr>
          <a:xfrm>
            <a:off x="5618880" y="4109760"/>
            <a:ext cx="34920" cy="62280"/>
          </a:xfrm>
          <a:custGeom>
            <a:avLst/>
            <a:gdLst/>
            <a:ahLst/>
            <a:rect l="l" t="t" r="r" b="b"/>
            <a:pathLst>
              <a:path w="35323" h="62618">
                <a:moveTo>
                  <a:pt x="7424" y="62618"/>
                </a:moveTo>
                <a:lnTo>
                  <a:pt x="35323" y="493"/>
                </a:lnTo>
                <a:lnTo>
                  <a:pt x="31132" y="0"/>
                </a:lnTo>
                <a:lnTo>
                  <a:pt x="29456" y="8505"/>
                </a:lnTo>
                <a:lnTo>
                  <a:pt x="25744" y="16764"/>
                </a:lnTo>
                <a:lnTo>
                  <a:pt x="26582" y="17380"/>
                </a:lnTo>
                <a:lnTo>
                  <a:pt x="9340" y="49676"/>
                </a:lnTo>
                <a:lnTo>
                  <a:pt x="8382" y="51401"/>
                </a:lnTo>
                <a:lnTo>
                  <a:pt x="4790" y="50045"/>
                </a:lnTo>
                <a:lnTo>
                  <a:pt x="0" y="58427"/>
                </a:lnTo>
                <a:lnTo>
                  <a:pt x="7424" y="62618"/>
                </a:lnTo>
                <a:close/>
              </a:path>
            </a:pathLst>
          </a:custGeom>
          <a:solidFill>
            <a:srgbClr val="f2c8ad"/>
          </a:solidFill>
          <a:ln w="6191">
            <a:solidFill>
              <a:srgbClr val="b7633d"/>
            </a:solidFill>
            <a:round/>
          </a:ln>
        </p:spPr>
        <p:style>
          <a:lnRef idx="0"/>
          <a:fillRef idx="0"/>
          <a:effectRef idx="0"/>
          <a:fontRef idx="minor"/>
        </p:style>
        <p:txBody>
          <a:bodyPr lIns="90000" rIns="90000" tIns="17280" bIns="17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55" name="วังหิน"/>
          <p:cNvSpPr/>
          <p:nvPr/>
        </p:nvSpPr>
        <p:spPr>
          <a:xfrm>
            <a:off x="5980320" y="4335120"/>
            <a:ext cx="10440" cy="36360"/>
          </a:xfrm>
          <a:custGeom>
            <a:avLst/>
            <a:gdLst/>
            <a:ahLst/>
            <a:rect l="l" t="t" r="r" b="b"/>
            <a:pathLst>
              <a:path w="10896" h="36856">
                <a:moveTo>
                  <a:pt x="7065" y="11094"/>
                </a:moveTo>
                <a:lnTo>
                  <a:pt x="0" y="36240"/>
                </a:lnTo>
                <a:lnTo>
                  <a:pt x="2515" y="36856"/>
                </a:lnTo>
                <a:lnTo>
                  <a:pt x="10896" y="370"/>
                </a:lnTo>
                <a:lnTo>
                  <a:pt x="9938" y="0"/>
                </a:lnTo>
                <a:lnTo>
                  <a:pt x="7065" y="11094"/>
                </a:lnTo>
                <a:close/>
              </a:path>
            </a:pathLst>
          </a:custGeom>
          <a:solidFill>
            <a:srgbClr val="f2c8ad"/>
          </a:solidFill>
          <a:ln w="6191">
            <a:solidFill>
              <a:srgbClr val="b7633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56" name="วัดบางบัว"/>
          <p:cNvSpPr/>
          <p:nvPr/>
        </p:nvSpPr>
        <p:spPr>
          <a:xfrm>
            <a:off x="5943600" y="4057560"/>
            <a:ext cx="10800" cy="45720"/>
          </a:xfrm>
          <a:custGeom>
            <a:avLst/>
            <a:gdLst/>
            <a:ahLst/>
            <a:rect l="l" t="t" r="r" b="b"/>
            <a:pathLst>
              <a:path w="11256" h="46224">
                <a:moveTo>
                  <a:pt x="0" y="14299"/>
                </a:moveTo>
                <a:lnTo>
                  <a:pt x="239" y="15901"/>
                </a:lnTo>
                <a:lnTo>
                  <a:pt x="7663" y="16148"/>
                </a:lnTo>
                <a:lnTo>
                  <a:pt x="9819" y="46224"/>
                </a:lnTo>
                <a:lnTo>
                  <a:pt x="11256" y="46101"/>
                </a:lnTo>
                <a:lnTo>
                  <a:pt x="9699" y="15531"/>
                </a:lnTo>
                <a:lnTo>
                  <a:pt x="2515" y="0"/>
                </a:lnTo>
                <a:lnTo>
                  <a:pt x="239" y="5793"/>
                </a:lnTo>
                <a:lnTo>
                  <a:pt x="1317" y="9245"/>
                </a:lnTo>
                <a:lnTo>
                  <a:pt x="0" y="14299"/>
                </a:lnTo>
                <a:close/>
              </a:path>
            </a:pathLst>
          </a:custGeom>
          <a:solidFill>
            <a:srgbClr val="f2c8ad"/>
          </a:solidFill>
          <a:ln w="6191">
            <a:solidFill>
              <a:srgbClr val="b7633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57" name="พหลโยธิน 46"/>
          <p:cNvSpPr/>
          <p:nvPr/>
        </p:nvSpPr>
        <p:spPr>
          <a:xfrm>
            <a:off x="5952600" y="4104360"/>
            <a:ext cx="10080" cy="51120"/>
          </a:xfrm>
          <a:custGeom>
            <a:avLst/>
            <a:gdLst/>
            <a:ahLst/>
            <a:rect l="l" t="t" r="r" b="b"/>
            <a:pathLst>
              <a:path w="10298" h="51648">
                <a:moveTo>
                  <a:pt x="5149" y="41787"/>
                </a:moveTo>
                <a:lnTo>
                  <a:pt x="7544" y="51648"/>
                </a:lnTo>
                <a:lnTo>
                  <a:pt x="10298" y="50539"/>
                </a:lnTo>
                <a:lnTo>
                  <a:pt x="3113" y="23174"/>
                </a:lnTo>
                <a:lnTo>
                  <a:pt x="2036" y="0"/>
                </a:lnTo>
                <a:lnTo>
                  <a:pt x="0" y="0"/>
                </a:lnTo>
                <a:lnTo>
                  <a:pt x="958" y="25639"/>
                </a:lnTo>
                <a:lnTo>
                  <a:pt x="5149" y="41787"/>
                </a:lnTo>
                <a:close/>
              </a:path>
            </a:pathLst>
          </a:custGeom>
          <a:solidFill>
            <a:srgbClr val="f2c8ad"/>
          </a:solidFill>
          <a:ln w="6191">
            <a:solidFill>
              <a:srgbClr val="b7633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58" name="หลังกรมวิทยาศาสตร์"/>
          <p:cNvSpPr/>
          <p:nvPr/>
        </p:nvSpPr>
        <p:spPr>
          <a:xfrm>
            <a:off x="5965920" y="4197960"/>
            <a:ext cx="19800" cy="59400"/>
          </a:xfrm>
          <a:custGeom>
            <a:avLst/>
            <a:gdLst/>
            <a:ahLst/>
            <a:rect l="l" t="t" r="r" b="b"/>
            <a:pathLst>
              <a:path w="20116" h="59907">
                <a:moveTo>
                  <a:pt x="0" y="863"/>
                </a:moveTo>
                <a:lnTo>
                  <a:pt x="8023" y="27611"/>
                </a:lnTo>
                <a:lnTo>
                  <a:pt x="9340" y="27365"/>
                </a:lnTo>
                <a:lnTo>
                  <a:pt x="8861" y="30570"/>
                </a:lnTo>
                <a:lnTo>
                  <a:pt x="17482" y="59290"/>
                </a:lnTo>
                <a:lnTo>
                  <a:pt x="20116" y="59907"/>
                </a:lnTo>
                <a:lnTo>
                  <a:pt x="14010" y="28351"/>
                </a:lnTo>
                <a:lnTo>
                  <a:pt x="4191" y="1356"/>
                </a:lnTo>
                <a:lnTo>
                  <a:pt x="3472" y="0"/>
                </a:lnTo>
                <a:lnTo>
                  <a:pt x="0" y="863"/>
                </a:lnTo>
                <a:close/>
              </a:path>
            </a:pathLst>
          </a:custGeom>
          <a:solidFill>
            <a:srgbClr val="f2c8ad"/>
          </a:solidFill>
          <a:ln w="6191">
            <a:solidFill>
              <a:srgbClr val="b7633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59" name="ชายคลองเสนานิคม 2"/>
          <p:cNvSpPr/>
          <p:nvPr/>
        </p:nvSpPr>
        <p:spPr>
          <a:xfrm>
            <a:off x="5985000" y="4262400"/>
            <a:ext cx="11520" cy="72720"/>
          </a:xfrm>
          <a:custGeom>
            <a:avLst/>
            <a:gdLst/>
            <a:ahLst/>
            <a:rect l="l" t="t" r="r" b="b"/>
            <a:pathLst>
              <a:path w="11854" h="72973">
                <a:moveTo>
                  <a:pt x="2155" y="0"/>
                </a:moveTo>
                <a:lnTo>
                  <a:pt x="0" y="370"/>
                </a:lnTo>
                <a:lnTo>
                  <a:pt x="8980" y="41787"/>
                </a:lnTo>
                <a:lnTo>
                  <a:pt x="6586" y="72973"/>
                </a:lnTo>
                <a:lnTo>
                  <a:pt x="11854" y="45115"/>
                </a:lnTo>
                <a:lnTo>
                  <a:pt x="10896" y="33035"/>
                </a:lnTo>
                <a:lnTo>
                  <a:pt x="2155" y="0"/>
                </a:lnTo>
                <a:close/>
              </a:path>
            </a:pathLst>
          </a:custGeom>
          <a:solidFill>
            <a:srgbClr val="f2c8ad"/>
          </a:solidFill>
          <a:ln w="6191">
            <a:solidFill>
              <a:srgbClr val="b7633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60" name="ข้างหมู่บ้านสหกรณ์ (โต๊ะบางอุปถัมภ์)"/>
          <p:cNvSpPr/>
          <p:nvPr/>
        </p:nvSpPr>
        <p:spPr>
          <a:xfrm>
            <a:off x="6969600" y="4805640"/>
            <a:ext cx="17640" cy="34200"/>
          </a:xfrm>
          <a:custGeom>
            <a:avLst/>
            <a:gdLst/>
            <a:ahLst/>
            <a:rect l="l" t="t" r="r" b="b"/>
            <a:pathLst>
              <a:path w="17841" h="34391">
                <a:moveTo>
                  <a:pt x="17841" y="31556"/>
                </a:moveTo>
                <a:lnTo>
                  <a:pt x="16045" y="12820"/>
                </a:lnTo>
                <a:lnTo>
                  <a:pt x="10178" y="0"/>
                </a:lnTo>
                <a:lnTo>
                  <a:pt x="2395" y="2958"/>
                </a:lnTo>
                <a:lnTo>
                  <a:pt x="3233" y="5547"/>
                </a:lnTo>
                <a:lnTo>
                  <a:pt x="6705" y="4561"/>
                </a:lnTo>
                <a:lnTo>
                  <a:pt x="8382" y="10354"/>
                </a:lnTo>
                <a:lnTo>
                  <a:pt x="0" y="13313"/>
                </a:lnTo>
                <a:lnTo>
                  <a:pt x="6107" y="34391"/>
                </a:lnTo>
                <a:lnTo>
                  <a:pt x="17841" y="31556"/>
                </a:lnTo>
                <a:close/>
              </a:path>
            </a:pathLst>
          </a:custGeom>
          <a:solidFill>
            <a:srgbClr val="f2c8ad"/>
          </a:solidFill>
          <a:ln w="6191">
            <a:solidFill>
              <a:srgbClr val="b7633d"/>
            </a:solidFill>
            <a:round/>
          </a:ln>
        </p:spPr>
        <p:style>
          <a:lnRef idx="0"/>
          <a:fillRef idx="0"/>
          <a:effectRef idx="0"/>
          <a:fontRef idx="minor"/>
        </p:style>
        <p:txBody>
          <a:bodyPr lIns="90000" rIns="90000" tIns="-10800" bIns="-10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61" name="ชุมชนซอยชานเมือง"/>
          <p:cNvSpPr/>
          <p:nvPr/>
        </p:nvSpPr>
        <p:spPr>
          <a:xfrm>
            <a:off x="5689440" y="5122440"/>
            <a:ext cx="52560" cy="63720"/>
          </a:xfrm>
          <a:custGeom>
            <a:avLst/>
            <a:gdLst/>
            <a:ahLst/>
            <a:rect l="l" t="t" r="r" b="b"/>
            <a:pathLst>
              <a:path w="52925" h="64221">
                <a:moveTo>
                  <a:pt x="25026" y="50415"/>
                </a:moveTo>
                <a:lnTo>
                  <a:pt x="32090" y="31309"/>
                </a:lnTo>
                <a:lnTo>
                  <a:pt x="45860" y="35870"/>
                </a:lnTo>
                <a:lnTo>
                  <a:pt x="50530" y="26132"/>
                </a:lnTo>
                <a:lnTo>
                  <a:pt x="52925" y="6410"/>
                </a:lnTo>
                <a:lnTo>
                  <a:pt x="43585" y="4191"/>
                </a:lnTo>
                <a:lnTo>
                  <a:pt x="42867" y="5793"/>
                </a:lnTo>
                <a:lnTo>
                  <a:pt x="40592" y="3328"/>
                </a:lnTo>
                <a:lnTo>
                  <a:pt x="33168" y="0"/>
                </a:lnTo>
                <a:lnTo>
                  <a:pt x="30893" y="4314"/>
                </a:lnTo>
                <a:lnTo>
                  <a:pt x="27660" y="3821"/>
                </a:lnTo>
                <a:lnTo>
                  <a:pt x="25026" y="11217"/>
                </a:lnTo>
                <a:lnTo>
                  <a:pt x="11974" y="5670"/>
                </a:lnTo>
                <a:lnTo>
                  <a:pt x="11375" y="7026"/>
                </a:lnTo>
                <a:lnTo>
                  <a:pt x="9340" y="6040"/>
                </a:lnTo>
                <a:lnTo>
                  <a:pt x="6466" y="8998"/>
                </a:lnTo>
                <a:lnTo>
                  <a:pt x="13411" y="12820"/>
                </a:lnTo>
                <a:lnTo>
                  <a:pt x="7304" y="31433"/>
                </a:lnTo>
                <a:lnTo>
                  <a:pt x="3832" y="30200"/>
                </a:lnTo>
                <a:lnTo>
                  <a:pt x="1197" y="38952"/>
                </a:lnTo>
                <a:lnTo>
                  <a:pt x="2155" y="40677"/>
                </a:lnTo>
                <a:lnTo>
                  <a:pt x="0" y="45731"/>
                </a:lnTo>
                <a:lnTo>
                  <a:pt x="5987" y="49429"/>
                </a:lnTo>
                <a:lnTo>
                  <a:pt x="2754" y="57195"/>
                </a:lnTo>
                <a:lnTo>
                  <a:pt x="4191" y="57811"/>
                </a:lnTo>
                <a:lnTo>
                  <a:pt x="2993" y="60769"/>
                </a:lnTo>
                <a:lnTo>
                  <a:pt x="14608" y="64221"/>
                </a:lnTo>
                <a:lnTo>
                  <a:pt x="20236" y="46964"/>
                </a:lnTo>
                <a:lnTo>
                  <a:pt x="25026" y="50415"/>
                </a:lnTo>
                <a:close/>
              </a:path>
            </a:pathLst>
          </a:custGeom>
          <a:solidFill>
            <a:srgbClr val="f2c8ad"/>
          </a:solidFill>
          <a:ln w="6191">
            <a:solidFill>
              <a:srgbClr val="b7633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62" name="ชุมชนซอยแม่เนี้ยว"/>
          <p:cNvSpPr/>
          <p:nvPr/>
        </p:nvSpPr>
        <p:spPr>
          <a:xfrm>
            <a:off x="5611320" y="5097960"/>
            <a:ext cx="6840" cy="19080"/>
          </a:xfrm>
          <a:custGeom>
            <a:avLst/>
            <a:gdLst/>
            <a:ahLst/>
            <a:rect l="l" t="t" r="r" b="b"/>
            <a:pathLst>
              <a:path w="7065" h="19476">
                <a:moveTo>
                  <a:pt x="1916" y="0"/>
                </a:moveTo>
                <a:lnTo>
                  <a:pt x="0" y="17873"/>
                </a:lnTo>
                <a:lnTo>
                  <a:pt x="5628" y="19476"/>
                </a:lnTo>
                <a:lnTo>
                  <a:pt x="6466" y="8752"/>
                </a:lnTo>
                <a:lnTo>
                  <a:pt x="3951" y="8629"/>
                </a:lnTo>
                <a:lnTo>
                  <a:pt x="4191" y="4807"/>
                </a:lnTo>
                <a:lnTo>
                  <a:pt x="6466" y="4931"/>
                </a:lnTo>
                <a:lnTo>
                  <a:pt x="7065" y="1972"/>
                </a:lnTo>
                <a:lnTo>
                  <a:pt x="6346" y="493"/>
                </a:lnTo>
                <a:lnTo>
                  <a:pt x="1916" y="0"/>
                </a:lnTo>
                <a:close/>
              </a:path>
            </a:pathLst>
          </a:custGeom>
          <a:solidFill>
            <a:srgbClr val="f2c8ad"/>
          </a:solidFill>
          <a:ln w="6191">
            <a:solidFill>
              <a:srgbClr val="b7633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63" name="เพชรคลองจั่น"/>
          <p:cNvSpPr/>
          <p:nvPr/>
        </p:nvSpPr>
        <p:spPr>
          <a:xfrm>
            <a:off x="6766920" y="5074560"/>
            <a:ext cx="22320" cy="15480"/>
          </a:xfrm>
          <a:custGeom>
            <a:avLst/>
            <a:gdLst/>
            <a:ahLst/>
            <a:rect l="l" t="t" r="r" b="b"/>
            <a:pathLst>
              <a:path w="22751" h="15901">
                <a:moveTo>
                  <a:pt x="14848" y="5670"/>
                </a:moveTo>
                <a:lnTo>
                  <a:pt x="8621" y="0"/>
                </a:lnTo>
                <a:lnTo>
                  <a:pt x="5029" y="2465"/>
                </a:lnTo>
                <a:lnTo>
                  <a:pt x="0" y="7642"/>
                </a:lnTo>
                <a:lnTo>
                  <a:pt x="2036" y="15901"/>
                </a:lnTo>
                <a:lnTo>
                  <a:pt x="838" y="7642"/>
                </a:lnTo>
                <a:lnTo>
                  <a:pt x="8502" y="1233"/>
                </a:lnTo>
                <a:lnTo>
                  <a:pt x="17961" y="14792"/>
                </a:lnTo>
                <a:lnTo>
                  <a:pt x="22751" y="11833"/>
                </a:lnTo>
                <a:lnTo>
                  <a:pt x="14848" y="5670"/>
                </a:lnTo>
                <a:close/>
              </a:path>
            </a:pathLst>
          </a:custGeom>
          <a:solidFill>
            <a:srgbClr val="f2c8ad"/>
          </a:solidFill>
          <a:ln w="6191">
            <a:solidFill>
              <a:srgbClr val="b7633d"/>
            </a:solidFill>
            <a:round/>
          </a:ln>
        </p:spPr>
        <p:style>
          <a:lnRef idx="0"/>
          <a:fillRef idx="0"/>
          <a:effectRef idx="0"/>
          <a:fontRef idx="minor"/>
        </p:style>
        <p:txBody>
          <a:bodyPr lIns="90000" rIns="90000" tIns="-29520" bIns="-29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64" name="บางเตยล่าง"/>
          <p:cNvSpPr/>
          <p:nvPr/>
        </p:nvSpPr>
        <p:spPr>
          <a:xfrm>
            <a:off x="6810840" y="4883400"/>
            <a:ext cx="28080" cy="28080"/>
          </a:xfrm>
          <a:custGeom>
            <a:avLst/>
            <a:gdLst/>
            <a:ahLst/>
            <a:rect l="l" t="t" r="r" b="b"/>
            <a:pathLst>
              <a:path w="28618" h="28474">
                <a:moveTo>
                  <a:pt x="2036" y="5793"/>
                </a:moveTo>
                <a:lnTo>
                  <a:pt x="359" y="8505"/>
                </a:lnTo>
                <a:lnTo>
                  <a:pt x="1796" y="9122"/>
                </a:lnTo>
                <a:lnTo>
                  <a:pt x="0" y="18983"/>
                </a:lnTo>
                <a:lnTo>
                  <a:pt x="7544" y="28474"/>
                </a:lnTo>
                <a:lnTo>
                  <a:pt x="9340" y="26379"/>
                </a:lnTo>
                <a:lnTo>
                  <a:pt x="17003" y="24899"/>
                </a:lnTo>
                <a:lnTo>
                  <a:pt x="28618" y="16148"/>
                </a:lnTo>
                <a:lnTo>
                  <a:pt x="19398" y="6780"/>
                </a:lnTo>
                <a:lnTo>
                  <a:pt x="15087" y="0"/>
                </a:lnTo>
                <a:lnTo>
                  <a:pt x="8741" y="4807"/>
                </a:lnTo>
                <a:lnTo>
                  <a:pt x="2036" y="5793"/>
                </a:lnTo>
                <a:close/>
              </a:path>
            </a:pathLst>
          </a:custGeom>
          <a:solidFill>
            <a:srgbClr val="f2c8ad"/>
          </a:solidFill>
          <a:ln w="6191">
            <a:solidFill>
              <a:srgbClr val="b7633d"/>
            </a:solidFill>
            <a:round/>
          </a:ln>
        </p:spPr>
        <p:style>
          <a:lnRef idx="0"/>
          <a:fillRef idx="0"/>
          <a:effectRef idx="0"/>
          <a:fontRef idx="minor"/>
        </p:style>
        <p:txBody>
          <a:bodyPr lIns="90000" rIns="90000" tIns="-16920" bIns="-16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65" name="สามัคคีพัฒนา"/>
          <p:cNvSpPr/>
          <p:nvPr/>
        </p:nvSpPr>
        <p:spPr>
          <a:xfrm>
            <a:off x="6726240" y="4871880"/>
            <a:ext cx="54360" cy="66960"/>
          </a:xfrm>
          <a:custGeom>
            <a:avLst/>
            <a:gdLst/>
            <a:ahLst/>
            <a:rect l="l" t="t" r="r" b="b"/>
            <a:pathLst>
              <a:path w="54721" h="67426">
                <a:moveTo>
                  <a:pt x="53763" y="740"/>
                </a:moveTo>
                <a:lnTo>
                  <a:pt x="52087" y="0"/>
                </a:lnTo>
                <a:lnTo>
                  <a:pt x="50171" y="1726"/>
                </a:lnTo>
                <a:lnTo>
                  <a:pt x="16524" y="39568"/>
                </a:lnTo>
                <a:lnTo>
                  <a:pt x="0" y="54730"/>
                </a:lnTo>
                <a:lnTo>
                  <a:pt x="11615" y="67426"/>
                </a:lnTo>
                <a:lnTo>
                  <a:pt x="24906" y="52634"/>
                </a:lnTo>
                <a:lnTo>
                  <a:pt x="29336" y="49552"/>
                </a:lnTo>
                <a:lnTo>
                  <a:pt x="26223" y="42157"/>
                </a:lnTo>
                <a:lnTo>
                  <a:pt x="54721" y="5054"/>
                </a:lnTo>
                <a:lnTo>
                  <a:pt x="53763" y="740"/>
                </a:lnTo>
                <a:close/>
              </a:path>
            </a:pathLst>
          </a:custGeom>
          <a:solidFill>
            <a:srgbClr val="f2c8ad"/>
          </a:solidFill>
          <a:ln w="6191">
            <a:solidFill>
              <a:srgbClr val="b7633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66" name="นวลจันทร์"/>
          <p:cNvSpPr/>
          <p:nvPr/>
        </p:nvSpPr>
        <p:spPr>
          <a:xfrm>
            <a:off x="6615000" y="4204440"/>
            <a:ext cx="70920" cy="56880"/>
          </a:xfrm>
          <a:custGeom>
            <a:avLst/>
            <a:gdLst/>
            <a:ahLst/>
            <a:rect l="l" t="t" r="r" b="b"/>
            <a:pathLst>
              <a:path w="71365" h="57195">
                <a:moveTo>
                  <a:pt x="59511" y="0"/>
                </a:moveTo>
                <a:lnTo>
                  <a:pt x="50171" y="1726"/>
                </a:lnTo>
                <a:lnTo>
                  <a:pt x="51608" y="8259"/>
                </a:lnTo>
                <a:lnTo>
                  <a:pt x="49213" y="8752"/>
                </a:lnTo>
                <a:lnTo>
                  <a:pt x="50171" y="13313"/>
                </a:lnTo>
                <a:lnTo>
                  <a:pt x="36161" y="16764"/>
                </a:lnTo>
                <a:lnTo>
                  <a:pt x="33527" y="4931"/>
                </a:lnTo>
                <a:lnTo>
                  <a:pt x="15686" y="7519"/>
                </a:lnTo>
                <a:lnTo>
                  <a:pt x="19518" y="18243"/>
                </a:lnTo>
                <a:lnTo>
                  <a:pt x="0" y="33035"/>
                </a:lnTo>
                <a:lnTo>
                  <a:pt x="5029" y="40554"/>
                </a:lnTo>
                <a:lnTo>
                  <a:pt x="0" y="44745"/>
                </a:lnTo>
                <a:lnTo>
                  <a:pt x="2874" y="49059"/>
                </a:lnTo>
                <a:lnTo>
                  <a:pt x="1078" y="50662"/>
                </a:lnTo>
                <a:lnTo>
                  <a:pt x="5748" y="57195"/>
                </a:lnTo>
                <a:lnTo>
                  <a:pt x="28977" y="41294"/>
                </a:lnTo>
                <a:lnTo>
                  <a:pt x="30414" y="43636"/>
                </a:lnTo>
                <a:lnTo>
                  <a:pt x="63223" y="33158"/>
                </a:lnTo>
                <a:lnTo>
                  <a:pt x="61786" y="22188"/>
                </a:lnTo>
                <a:lnTo>
                  <a:pt x="71365" y="19353"/>
                </a:lnTo>
                <a:lnTo>
                  <a:pt x="68371" y="9984"/>
                </a:lnTo>
                <a:lnTo>
                  <a:pt x="62744" y="11340"/>
                </a:lnTo>
                <a:lnTo>
                  <a:pt x="59511" y="0"/>
                </a:lnTo>
                <a:close/>
              </a:path>
            </a:pathLst>
          </a:custGeom>
          <a:solidFill>
            <a:srgbClr val="f2c8ad"/>
          </a:solidFill>
          <a:ln w="6191">
            <a:solidFill>
              <a:srgbClr val="b7633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67" name="โพธิ์ทอง"/>
          <p:cNvSpPr/>
          <p:nvPr/>
        </p:nvSpPr>
        <p:spPr>
          <a:xfrm>
            <a:off x="6675480" y="4582800"/>
            <a:ext cx="13320" cy="17640"/>
          </a:xfrm>
          <a:custGeom>
            <a:avLst/>
            <a:gdLst/>
            <a:ahLst/>
            <a:rect l="l" t="t" r="r" b="b"/>
            <a:pathLst>
              <a:path w="13770" h="17997">
                <a:moveTo>
                  <a:pt x="10417" y="0"/>
                </a:moveTo>
                <a:lnTo>
                  <a:pt x="0" y="13929"/>
                </a:lnTo>
                <a:lnTo>
                  <a:pt x="5029" y="17997"/>
                </a:lnTo>
                <a:lnTo>
                  <a:pt x="13770" y="7766"/>
                </a:lnTo>
                <a:lnTo>
                  <a:pt x="10417" y="0"/>
                </a:lnTo>
                <a:close/>
              </a:path>
            </a:pathLst>
          </a:custGeom>
          <a:solidFill>
            <a:srgbClr val="f2c8ad"/>
          </a:solidFill>
          <a:ln w="6191">
            <a:solidFill>
              <a:srgbClr val="b7633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68" name="ชูสุวรรณ"/>
          <p:cNvSpPr/>
          <p:nvPr/>
        </p:nvSpPr>
        <p:spPr>
          <a:xfrm>
            <a:off x="6779880" y="4507560"/>
            <a:ext cx="31320" cy="11520"/>
          </a:xfrm>
          <a:custGeom>
            <a:avLst/>
            <a:gdLst/>
            <a:ahLst/>
            <a:rect l="l" t="t" r="r" b="b"/>
            <a:pathLst>
              <a:path w="31851" h="11710">
                <a:moveTo>
                  <a:pt x="10417" y="2835"/>
                </a:moveTo>
                <a:lnTo>
                  <a:pt x="10298" y="3944"/>
                </a:lnTo>
                <a:lnTo>
                  <a:pt x="120" y="5054"/>
                </a:lnTo>
                <a:lnTo>
                  <a:pt x="0" y="11710"/>
                </a:lnTo>
                <a:lnTo>
                  <a:pt x="31851" y="7519"/>
                </a:lnTo>
                <a:lnTo>
                  <a:pt x="30174" y="0"/>
                </a:lnTo>
                <a:lnTo>
                  <a:pt x="12453" y="3575"/>
                </a:lnTo>
                <a:lnTo>
                  <a:pt x="10417" y="2835"/>
                </a:lnTo>
                <a:close/>
              </a:path>
            </a:pathLst>
          </a:custGeom>
          <a:solidFill>
            <a:srgbClr val="f2c8ad"/>
          </a:solidFill>
          <a:ln w="6191">
            <a:solidFill>
              <a:srgbClr val="b7633d"/>
            </a:solidFill>
            <a:round/>
          </a:ln>
        </p:spPr>
        <p:style>
          <a:lnRef idx="0"/>
          <a:fillRef idx="0"/>
          <a:effectRef idx="0"/>
          <a:fontRef idx="minor"/>
        </p:style>
        <p:txBody>
          <a:bodyPr lIns="90000" rIns="90000" tIns="-33480" bIns="-33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69" name="กิ่งจันทร์"/>
          <p:cNvSpPr/>
          <p:nvPr/>
        </p:nvSpPr>
        <p:spPr>
          <a:xfrm>
            <a:off x="5100120" y="5906160"/>
            <a:ext cx="10800" cy="7920"/>
          </a:xfrm>
          <a:custGeom>
            <a:avLst/>
            <a:gdLst/>
            <a:ahLst/>
            <a:rect l="l" t="t" r="r" b="b"/>
            <a:pathLst>
              <a:path w="11136" h="8259">
                <a:moveTo>
                  <a:pt x="5269" y="3821"/>
                </a:moveTo>
                <a:lnTo>
                  <a:pt x="3832" y="3205"/>
                </a:lnTo>
                <a:lnTo>
                  <a:pt x="4670" y="986"/>
                </a:lnTo>
                <a:lnTo>
                  <a:pt x="2515" y="0"/>
                </a:lnTo>
                <a:lnTo>
                  <a:pt x="0" y="5793"/>
                </a:lnTo>
                <a:lnTo>
                  <a:pt x="10298" y="8259"/>
                </a:lnTo>
                <a:lnTo>
                  <a:pt x="11136" y="5793"/>
                </a:lnTo>
                <a:lnTo>
                  <a:pt x="5269" y="3821"/>
                </a:lnTo>
                <a:close/>
              </a:path>
            </a:pathLst>
          </a:custGeom>
          <a:solidFill>
            <a:srgbClr val="f2c8ad"/>
          </a:solidFill>
          <a:ln w="6191">
            <a:solidFill>
              <a:srgbClr val="b7633d"/>
            </a:solidFill>
            <a:round/>
          </a:ln>
        </p:spPr>
        <p:style>
          <a:lnRef idx="0"/>
          <a:fillRef idx="0"/>
          <a:effectRef idx="0"/>
          <a:fontRef idx="minor"/>
        </p:style>
        <p:txBody>
          <a:bodyPr lIns="90000" rIns="90000" tIns="-37080" bIns="-37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70" name="กุศลทอง"/>
          <p:cNvSpPr/>
          <p:nvPr/>
        </p:nvSpPr>
        <p:spPr>
          <a:xfrm>
            <a:off x="5248440" y="5836320"/>
            <a:ext cx="49680" cy="26280"/>
          </a:xfrm>
          <a:custGeom>
            <a:avLst/>
            <a:gdLst/>
            <a:ahLst/>
            <a:rect l="l" t="t" r="r" b="b"/>
            <a:pathLst>
              <a:path w="50051" h="26748">
                <a:moveTo>
                  <a:pt x="30414" y="8875"/>
                </a:moveTo>
                <a:lnTo>
                  <a:pt x="37359" y="5054"/>
                </a:lnTo>
                <a:lnTo>
                  <a:pt x="36281" y="3082"/>
                </a:lnTo>
                <a:lnTo>
                  <a:pt x="34126" y="4068"/>
                </a:lnTo>
                <a:lnTo>
                  <a:pt x="31971" y="0"/>
                </a:lnTo>
                <a:lnTo>
                  <a:pt x="0" y="15901"/>
                </a:lnTo>
                <a:lnTo>
                  <a:pt x="4670" y="26748"/>
                </a:lnTo>
                <a:lnTo>
                  <a:pt x="27540" y="13313"/>
                </a:lnTo>
                <a:lnTo>
                  <a:pt x="29576" y="17011"/>
                </a:lnTo>
                <a:lnTo>
                  <a:pt x="31132" y="16148"/>
                </a:lnTo>
                <a:lnTo>
                  <a:pt x="34006" y="19106"/>
                </a:lnTo>
                <a:lnTo>
                  <a:pt x="41191" y="15038"/>
                </a:lnTo>
                <a:lnTo>
                  <a:pt x="42747" y="18243"/>
                </a:lnTo>
                <a:lnTo>
                  <a:pt x="50051" y="13682"/>
                </a:lnTo>
                <a:lnTo>
                  <a:pt x="46339" y="6780"/>
                </a:lnTo>
                <a:lnTo>
                  <a:pt x="33407" y="14175"/>
                </a:lnTo>
                <a:lnTo>
                  <a:pt x="30414" y="8875"/>
                </a:lnTo>
                <a:close/>
              </a:path>
            </a:pathLst>
          </a:custGeom>
          <a:solidFill>
            <a:srgbClr val="f2c8ad"/>
          </a:solidFill>
          <a:ln w="6191">
            <a:solidFill>
              <a:srgbClr val="b7633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71" name="มิตรสามัคคี"/>
          <p:cNvSpPr/>
          <p:nvPr/>
        </p:nvSpPr>
        <p:spPr>
          <a:xfrm>
            <a:off x="5107680" y="5884920"/>
            <a:ext cx="6840" cy="9000"/>
          </a:xfrm>
          <a:custGeom>
            <a:avLst/>
            <a:gdLst/>
            <a:ahLst/>
            <a:rect l="l" t="t" r="r" b="b"/>
            <a:pathLst>
              <a:path w="7065" h="9491">
                <a:moveTo>
                  <a:pt x="2754" y="0"/>
                </a:moveTo>
                <a:lnTo>
                  <a:pt x="0" y="8135"/>
                </a:lnTo>
                <a:lnTo>
                  <a:pt x="4430" y="9491"/>
                </a:lnTo>
                <a:lnTo>
                  <a:pt x="7065" y="863"/>
                </a:lnTo>
                <a:lnTo>
                  <a:pt x="2754" y="0"/>
                </a:lnTo>
                <a:close/>
              </a:path>
            </a:pathLst>
          </a:custGeom>
          <a:solidFill>
            <a:srgbClr val="f2c8ad"/>
          </a:solidFill>
          <a:ln w="6191">
            <a:solidFill>
              <a:srgbClr val="b7633d"/>
            </a:solidFill>
            <a:round/>
          </a:ln>
        </p:spPr>
        <p:style>
          <a:lnRef idx="0"/>
          <a:fillRef idx="0"/>
          <a:effectRef idx="0"/>
          <a:fontRef idx="minor"/>
        </p:style>
        <p:txBody>
          <a:bodyPr lIns="90000" rIns="90000" tIns="-36000" bIns="-36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72" name="ร่วมพัฒนาวรพจน์ 1"/>
          <p:cNvSpPr/>
          <p:nvPr/>
        </p:nvSpPr>
        <p:spPr>
          <a:xfrm>
            <a:off x="5112360" y="5872320"/>
            <a:ext cx="23760" cy="30240"/>
          </a:xfrm>
          <a:custGeom>
            <a:avLst/>
            <a:gdLst/>
            <a:ahLst/>
            <a:rect l="l" t="t" r="r" b="b"/>
            <a:pathLst>
              <a:path w="23948" h="30570">
                <a:moveTo>
                  <a:pt x="15446" y="6903"/>
                </a:moveTo>
                <a:lnTo>
                  <a:pt x="16404" y="3698"/>
                </a:lnTo>
                <a:lnTo>
                  <a:pt x="23230" y="4931"/>
                </a:lnTo>
                <a:lnTo>
                  <a:pt x="23948" y="1233"/>
                </a:lnTo>
                <a:lnTo>
                  <a:pt x="18679" y="0"/>
                </a:lnTo>
                <a:lnTo>
                  <a:pt x="14848" y="8135"/>
                </a:lnTo>
                <a:lnTo>
                  <a:pt x="7544" y="6780"/>
                </a:lnTo>
                <a:lnTo>
                  <a:pt x="5508" y="13682"/>
                </a:lnTo>
                <a:lnTo>
                  <a:pt x="2515" y="13313"/>
                </a:lnTo>
                <a:lnTo>
                  <a:pt x="0" y="21941"/>
                </a:lnTo>
                <a:lnTo>
                  <a:pt x="4550" y="23174"/>
                </a:lnTo>
                <a:lnTo>
                  <a:pt x="3951" y="28474"/>
                </a:lnTo>
                <a:lnTo>
                  <a:pt x="13171" y="30570"/>
                </a:lnTo>
                <a:lnTo>
                  <a:pt x="14608" y="24530"/>
                </a:lnTo>
                <a:lnTo>
                  <a:pt x="18320" y="25516"/>
                </a:lnTo>
                <a:lnTo>
                  <a:pt x="19757" y="18366"/>
                </a:lnTo>
                <a:lnTo>
                  <a:pt x="18320" y="13682"/>
                </a:lnTo>
                <a:lnTo>
                  <a:pt x="15806" y="11464"/>
                </a:lnTo>
                <a:lnTo>
                  <a:pt x="15446" y="6903"/>
                </a:lnTo>
                <a:close/>
              </a:path>
            </a:pathLst>
          </a:custGeom>
          <a:solidFill>
            <a:srgbClr val="f2c8ad"/>
          </a:solidFill>
          <a:ln w="6191">
            <a:solidFill>
              <a:srgbClr val="b7633d"/>
            </a:solidFill>
            <a:round/>
          </a:ln>
        </p:spPr>
        <p:style>
          <a:lnRef idx="0"/>
          <a:fillRef idx="0"/>
          <a:effectRef idx="0"/>
          <a:fontRef idx="minor"/>
        </p:style>
        <p:txBody>
          <a:bodyPr lIns="90000" rIns="90000" tIns="-14760" bIns="-14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73" name="จรัญวิถี 74"/>
          <p:cNvSpPr/>
          <p:nvPr/>
        </p:nvSpPr>
        <p:spPr>
          <a:xfrm>
            <a:off x="4982760" y="4857840"/>
            <a:ext cx="25560" cy="29520"/>
          </a:xfrm>
          <a:custGeom>
            <a:avLst/>
            <a:gdLst/>
            <a:ahLst/>
            <a:rect l="l" t="t" r="r" b="b"/>
            <a:pathLst>
              <a:path w="25744" h="29953">
                <a:moveTo>
                  <a:pt x="2993" y="1849"/>
                </a:moveTo>
                <a:lnTo>
                  <a:pt x="4670" y="3082"/>
                </a:lnTo>
                <a:lnTo>
                  <a:pt x="2993" y="4931"/>
                </a:lnTo>
                <a:lnTo>
                  <a:pt x="4909" y="6533"/>
                </a:lnTo>
                <a:lnTo>
                  <a:pt x="3832" y="7889"/>
                </a:lnTo>
                <a:lnTo>
                  <a:pt x="1557" y="6040"/>
                </a:lnTo>
                <a:lnTo>
                  <a:pt x="0" y="7766"/>
                </a:lnTo>
                <a:lnTo>
                  <a:pt x="3712" y="10724"/>
                </a:lnTo>
                <a:lnTo>
                  <a:pt x="1557" y="13313"/>
                </a:lnTo>
                <a:lnTo>
                  <a:pt x="20595" y="29953"/>
                </a:lnTo>
                <a:lnTo>
                  <a:pt x="25744" y="23297"/>
                </a:lnTo>
                <a:lnTo>
                  <a:pt x="11375" y="12080"/>
                </a:lnTo>
                <a:lnTo>
                  <a:pt x="13650" y="8998"/>
                </a:lnTo>
                <a:lnTo>
                  <a:pt x="15566" y="10108"/>
                </a:lnTo>
                <a:lnTo>
                  <a:pt x="17721" y="6040"/>
                </a:lnTo>
                <a:lnTo>
                  <a:pt x="4550" y="0"/>
                </a:lnTo>
                <a:lnTo>
                  <a:pt x="2993" y="1849"/>
                </a:lnTo>
                <a:close/>
              </a:path>
            </a:pathLst>
          </a:custGeom>
          <a:solidFill>
            <a:srgbClr val="f2c8ad"/>
          </a:solidFill>
          <a:ln w="6191">
            <a:solidFill>
              <a:srgbClr val="b7633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74" name="ชุมชนพัฒนาซอย 85"/>
          <p:cNvSpPr/>
          <p:nvPr/>
        </p:nvSpPr>
        <p:spPr>
          <a:xfrm>
            <a:off x="4885560" y="4768560"/>
            <a:ext cx="51480" cy="43920"/>
          </a:xfrm>
          <a:custGeom>
            <a:avLst/>
            <a:gdLst/>
            <a:ahLst/>
            <a:rect l="l" t="t" r="r" b="b"/>
            <a:pathLst>
              <a:path w="51728" h="44375">
                <a:moveTo>
                  <a:pt x="41550" y="44375"/>
                </a:moveTo>
                <a:lnTo>
                  <a:pt x="48734" y="26625"/>
                </a:lnTo>
                <a:lnTo>
                  <a:pt x="47537" y="26255"/>
                </a:lnTo>
                <a:lnTo>
                  <a:pt x="48974" y="21571"/>
                </a:lnTo>
                <a:lnTo>
                  <a:pt x="51728" y="21941"/>
                </a:lnTo>
                <a:lnTo>
                  <a:pt x="44543" y="19846"/>
                </a:lnTo>
                <a:lnTo>
                  <a:pt x="47058" y="7642"/>
                </a:lnTo>
                <a:lnTo>
                  <a:pt x="33168" y="2465"/>
                </a:lnTo>
                <a:lnTo>
                  <a:pt x="32210" y="0"/>
                </a:lnTo>
                <a:lnTo>
                  <a:pt x="5388" y="10847"/>
                </a:lnTo>
                <a:lnTo>
                  <a:pt x="6107" y="14175"/>
                </a:lnTo>
                <a:lnTo>
                  <a:pt x="0" y="24406"/>
                </a:lnTo>
                <a:lnTo>
                  <a:pt x="20116" y="37472"/>
                </a:lnTo>
                <a:lnTo>
                  <a:pt x="36281" y="43759"/>
                </a:lnTo>
                <a:lnTo>
                  <a:pt x="41550" y="44375"/>
                </a:lnTo>
                <a:close/>
              </a:path>
            </a:pathLst>
          </a:custGeom>
          <a:solidFill>
            <a:srgbClr val="f2c8ad"/>
          </a:solidFill>
          <a:ln w="6191">
            <a:solidFill>
              <a:srgbClr val="b7633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75" name="วัดฉัตรแก้วจงกลณี"/>
          <p:cNvSpPr/>
          <p:nvPr/>
        </p:nvSpPr>
        <p:spPr>
          <a:xfrm>
            <a:off x="5054760" y="4737600"/>
            <a:ext cx="38880" cy="31320"/>
          </a:xfrm>
          <a:custGeom>
            <a:avLst/>
            <a:gdLst/>
            <a:ahLst/>
            <a:rect l="l" t="t" r="r" b="b"/>
            <a:pathLst>
              <a:path w="39155" h="31802">
                <a:moveTo>
                  <a:pt x="9100" y="0"/>
                </a:moveTo>
                <a:lnTo>
                  <a:pt x="8382" y="1602"/>
                </a:lnTo>
                <a:lnTo>
                  <a:pt x="11854" y="2958"/>
                </a:lnTo>
                <a:lnTo>
                  <a:pt x="10298" y="6533"/>
                </a:lnTo>
                <a:lnTo>
                  <a:pt x="11854" y="7519"/>
                </a:lnTo>
                <a:lnTo>
                  <a:pt x="0" y="24899"/>
                </a:lnTo>
                <a:lnTo>
                  <a:pt x="10896" y="28597"/>
                </a:lnTo>
                <a:lnTo>
                  <a:pt x="10417" y="30200"/>
                </a:lnTo>
                <a:lnTo>
                  <a:pt x="13890" y="31802"/>
                </a:lnTo>
                <a:lnTo>
                  <a:pt x="18440" y="21325"/>
                </a:lnTo>
                <a:lnTo>
                  <a:pt x="28019" y="24406"/>
                </a:lnTo>
                <a:lnTo>
                  <a:pt x="29456" y="22188"/>
                </a:lnTo>
                <a:lnTo>
                  <a:pt x="36281" y="24653"/>
                </a:lnTo>
                <a:lnTo>
                  <a:pt x="39155" y="15901"/>
                </a:lnTo>
                <a:lnTo>
                  <a:pt x="13890" y="7026"/>
                </a:lnTo>
                <a:lnTo>
                  <a:pt x="15446" y="2219"/>
                </a:lnTo>
                <a:lnTo>
                  <a:pt x="9100" y="0"/>
                </a:lnTo>
                <a:close/>
              </a:path>
            </a:pathLst>
          </a:custGeom>
          <a:solidFill>
            <a:srgbClr val="f2c8ad"/>
          </a:solidFill>
          <a:ln w="6191">
            <a:solidFill>
              <a:srgbClr val="b7633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76" name="วัดวิมุตยาราม"/>
          <p:cNvSpPr/>
          <p:nvPr/>
        </p:nvSpPr>
        <p:spPr>
          <a:xfrm>
            <a:off x="5052960" y="4628520"/>
            <a:ext cx="43200" cy="31680"/>
          </a:xfrm>
          <a:custGeom>
            <a:avLst/>
            <a:gdLst/>
            <a:ahLst/>
            <a:rect l="l" t="t" r="r" b="b"/>
            <a:pathLst>
              <a:path w="43466" h="31926">
                <a:moveTo>
                  <a:pt x="14010" y="26379"/>
                </a:moveTo>
                <a:lnTo>
                  <a:pt x="19278" y="26748"/>
                </a:lnTo>
                <a:lnTo>
                  <a:pt x="29815" y="20708"/>
                </a:lnTo>
                <a:lnTo>
                  <a:pt x="26702" y="24160"/>
                </a:lnTo>
                <a:lnTo>
                  <a:pt x="30534" y="22188"/>
                </a:lnTo>
                <a:lnTo>
                  <a:pt x="29097" y="19846"/>
                </a:lnTo>
                <a:lnTo>
                  <a:pt x="43466" y="14545"/>
                </a:lnTo>
                <a:lnTo>
                  <a:pt x="38796" y="2096"/>
                </a:lnTo>
                <a:lnTo>
                  <a:pt x="34725" y="1972"/>
                </a:lnTo>
                <a:lnTo>
                  <a:pt x="35084" y="3082"/>
                </a:lnTo>
                <a:lnTo>
                  <a:pt x="26941" y="5670"/>
                </a:lnTo>
                <a:lnTo>
                  <a:pt x="24666" y="0"/>
                </a:lnTo>
                <a:lnTo>
                  <a:pt x="22751" y="863"/>
                </a:lnTo>
                <a:lnTo>
                  <a:pt x="24547" y="6163"/>
                </a:lnTo>
                <a:lnTo>
                  <a:pt x="19757" y="8012"/>
                </a:lnTo>
                <a:lnTo>
                  <a:pt x="25145" y="7519"/>
                </a:lnTo>
                <a:lnTo>
                  <a:pt x="28498" y="20092"/>
                </a:lnTo>
                <a:lnTo>
                  <a:pt x="12213" y="25516"/>
                </a:lnTo>
                <a:lnTo>
                  <a:pt x="0" y="26748"/>
                </a:lnTo>
                <a:lnTo>
                  <a:pt x="6226" y="26255"/>
                </a:lnTo>
                <a:lnTo>
                  <a:pt x="4670" y="27118"/>
                </a:lnTo>
                <a:lnTo>
                  <a:pt x="5149" y="31309"/>
                </a:lnTo>
                <a:lnTo>
                  <a:pt x="11615" y="30693"/>
                </a:lnTo>
                <a:lnTo>
                  <a:pt x="11854" y="31926"/>
                </a:lnTo>
                <a:lnTo>
                  <a:pt x="13650" y="31802"/>
                </a:lnTo>
                <a:lnTo>
                  <a:pt x="14010" y="26379"/>
                </a:lnTo>
                <a:close/>
              </a:path>
            </a:pathLst>
          </a:custGeom>
          <a:solidFill>
            <a:srgbClr val="f2c8ad"/>
          </a:solidFill>
          <a:ln w="6191">
            <a:solidFill>
              <a:srgbClr val="b7633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77" name="ชุมชนสงวนทรัพย์"/>
          <p:cNvSpPr/>
          <p:nvPr/>
        </p:nvSpPr>
        <p:spPr>
          <a:xfrm>
            <a:off x="5013720" y="4739400"/>
            <a:ext cx="30960" cy="17280"/>
          </a:xfrm>
          <a:custGeom>
            <a:avLst/>
            <a:gdLst/>
            <a:ahLst/>
            <a:rect l="l" t="t" r="r" b="b"/>
            <a:pathLst>
              <a:path w="31252" h="17750">
                <a:moveTo>
                  <a:pt x="3592" y="6780"/>
                </a:moveTo>
                <a:lnTo>
                  <a:pt x="25145" y="16148"/>
                </a:lnTo>
                <a:lnTo>
                  <a:pt x="25864" y="17750"/>
                </a:lnTo>
                <a:lnTo>
                  <a:pt x="29576" y="7642"/>
                </a:lnTo>
                <a:lnTo>
                  <a:pt x="31252" y="6780"/>
                </a:lnTo>
                <a:lnTo>
                  <a:pt x="16045" y="0"/>
                </a:lnTo>
                <a:lnTo>
                  <a:pt x="14010" y="4684"/>
                </a:lnTo>
                <a:lnTo>
                  <a:pt x="1317" y="123"/>
                </a:lnTo>
                <a:lnTo>
                  <a:pt x="0" y="3575"/>
                </a:lnTo>
                <a:lnTo>
                  <a:pt x="2874" y="4684"/>
                </a:lnTo>
                <a:lnTo>
                  <a:pt x="3592" y="6780"/>
                </a:lnTo>
                <a:close/>
              </a:path>
            </a:pathLst>
          </a:custGeom>
          <a:solidFill>
            <a:srgbClr val="f2c8ad"/>
          </a:solidFill>
          <a:ln w="6191">
            <a:solidFill>
              <a:srgbClr val="b7633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78" name="มัสยิดบางอ้อ - จรัญฯ 86"/>
          <p:cNvSpPr/>
          <p:nvPr/>
        </p:nvSpPr>
        <p:spPr>
          <a:xfrm>
            <a:off x="5004720" y="4807440"/>
            <a:ext cx="46440" cy="38880"/>
          </a:xfrm>
          <a:custGeom>
            <a:avLst/>
            <a:gdLst/>
            <a:ahLst/>
            <a:rect l="l" t="t" r="r" b="b"/>
            <a:pathLst>
              <a:path w="46818" h="39198">
                <a:moveTo>
                  <a:pt x="36281" y="39198"/>
                </a:moveTo>
                <a:lnTo>
                  <a:pt x="46818" y="26255"/>
                </a:lnTo>
                <a:lnTo>
                  <a:pt x="4909" y="0"/>
                </a:lnTo>
                <a:lnTo>
                  <a:pt x="0" y="6410"/>
                </a:lnTo>
                <a:lnTo>
                  <a:pt x="1676" y="7889"/>
                </a:lnTo>
                <a:lnTo>
                  <a:pt x="718" y="9861"/>
                </a:lnTo>
                <a:lnTo>
                  <a:pt x="10537" y="17873"/>
                </a:lnTo>
                <a:lnTo>
                  <a:pt x="11854" y="16394"/>
                </a:lnTo>
                <a:lnTo>
                  <a:pt x="19278" y="22311"/>
                </a:lnTo>
                <a:lnTo>
                  <a:pt x="16404" y="25516"/>
                </a:lnTo>
                <a:lnTo>
                  <a:pt x="12932" y="22927"/>
                </a:lnTo>
                <a:lnTo>
                  <a:pt x="9938" y="26872"/>
                </a:lnTo>
                <a:lnTo>
                  <a:pt x="11136" y="29214"/>
                </a:lnTo>
                <a:lnTo>
                  <a:pt x="21673" y="28844"/>
                </a:lnTo>
                <a:lnTo>
                  <a:pt x="25145" y="31432"/>
                </a:lnTo>
                <a:lnTo>
                  <a:pt x="26343" y="30077"/>
                </a:lnTo>
                <a:lnTo>
                  <a:pt x="36281" y="39198"/>
                </a:lnTo>
                <a:close/>
              </a:path>
            </a:pathLst>
          </a:custGeom>
          <a:solidFill>
            <a:srgbClr val="f2c8ad"/>
          </a:solidFill>
          <a:ln w="6191">
            <a:solidFill>
              <a:srgbClr val="b7633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79" name="ริมคลองบางพลัด"/>
          <p:cNvSpPr/>
          <p:nvPr/>
        </p:nvSpPr>
        <p:spPr>
          <a:xfrm>
            <a:off x="4958280" y="4860360"/>
            <a:ext cx="44640" cy="34560"/>
          </a:xfrm>
          <a:custGeom>
            <a:avLst/>
            <a:gdLst/>
            <a:ahLst/>
            <a:rect l="l" t="t" r="r" b="b"/>
            <a:pathLst>
              <a:path w="44902" h="34884">
                <a:moveTo>
                  <a:pt x="5628" y="20832"/>
                </a:moveTo>
                <a:lnTo>
                  <a:pt x="20835" y="21941"/>
                </a:lnTo>
                <a:lnTo>
                  <a:pt x="37479" y="34884"/>
                </a:lnTo>
                <a:lnTo>
                  <a:pt x="44902" y="27365"/>
                </a:lnTo>
                <a:lnTo>
                  <a:pt x="39275" y="22557"/>
                </a:lnTo>
                <a:lnTo>
                  <a:pt x="37359" y="24530"/>
                </a:lnTo>
                <a:lnTo>
                  <a:pt x="23708" y="13066"/>
                </a:lnTo>
                <a:lnTo>
                  <a:pt x="15566" y="5547"/>
                </a:lnTo>
                <a:lnTo>
                  <a:pt x="17123" y="4068"/>
                </a:lnTo>
                <a:lnTo>
                  <a:pt x="12812" y="0"/>
                </a:lnTo>
                <a:lnTo>
                  <a:pt x="0" y="17873"/>
                </a:lnTo>
                <a:lnTo>
                  <a:pt x="5628" y="20832"/>
                </a:lnTo>
                <a:close/>
              </a:path>
            </a:pathLst>
          </a:custGeom>
          <a:solidFill>
            <a:srgbClr val="f2c8ad"/>
          </a:solidFill>
          <a:ln w="6191">
            <a:solidFill>
              <a:srgbClr val="b7633d"/>
            </a:solidFill>
            <a:round/>
          </a:ln>
        </p:spPr>
        <p:style>
          <a:lnRef idx="0"/>
          <a:fillRef idx="0"/>
          <a:effectRef idx="0"/>
          <a:fontRef idx="minor"/>
        </p:style>
        <p:txBody>
          <a:bodyPr lIns="90000" rIns="90000" tIns="-10440" bIns="-10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80" name="แสงจันทร์ใน"/>
          <p:cNvSpPr/>
          <p:nvPr/>
        </p:nvSpPr>
        <p:spPr>
          <a:xfrm>
            <a:off x="5140080" y="5875200"/>
            <a:ext cx="24840" cy="17280"/>
          </a:xfrm>
          <a:custGeom>
            <a:avLst/>
            <a:gdLst/>
            <a:ahLst/>
            <a:rect l="l" t="t" r="r" b="b"/>
            <a:pathLst>
              <a:path w="25265" h="17750">
                <a:moveTo>
                  <a:pt x="12213" y="1356"/>
                </a:moveTo>
                <a:lnTo>
                  <a:pt x="4311" y="0"/>
                </a:lnTo>
                <a:lnTo>
                  <a:pt x="0" y="15655"/>
                </a:lnTo>
                <a:lnTo>
                  <a:pt x="9938" y="17750"/>
                </a:lnTo>
                <a:lnTo>
                  <a:pt x="10537" y="15408"/>
                </a:lnTo>
                <a:lnTo>
                  <a:pt x="13052" y="16148"/>
                </a:lnTo>
                <a:lnTo>
                  <a:pt x="13411" y="13806"/>
                </a:lnTo>
                <a:lnTo>
                  <a:pt x="22631" y="15778"/>
                </a:lnTo>
                <a:lnTo>
                  <a:pt x="25265" y="4931"/>
                </a:lnTo>
                <a:lnTo>
                  <a:pt x="12213" y="1356"/>
                </a:lnTo>
                <a:close/>
              </a:path>
            </a:pathLst>
          </a:custGeom>
          <a:solidFill>
            <a:srgbClr val="f2c8ad"/>
          </a:solidFill>
          <a:ln w="6191">
            <a:solidFill>
              <a:srgbClr val="b7633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81" name="บ้านแบบ"/>
          <p:cNvSpPr/>
          <p:nvPr/>
        </p:nvSpPr>
        <p:spPr>
          <a:xfrm>
            <a:off x="5113800" y="5783400"/>
            <a:ext cx="30960" cy="31680"/>
          </a:xfrm>
          <a:custGeom>
            <a:avLst/>
            <a:gdLst/>
            <a:ahLst/>
            <a:rect l="l" t="t" r="r" b="b"/>
            <a:pathLst>
              <a:path w="31492" h="31926">
                <a:moveTo>
                  <a:pt x="30294" y="31926"/>
                </a:moveTo>
                <a:lnTo>
                  <a:pt x="31492" y="9491"/>
                </a:lnTo>
                <a:lnTo>
                  <a:pt x="21793" y="8012"/>
                </a:lnTo>
                <a:lnTo>
                  <a:pt x="22511" y="4561"/>
                </a:lnTo>
                <a:lnTo>
                  <a:pt x="599" y="0"/>
                </a:lnTo>
                <a:lnTo>
                  <a:pt x="0" y="1479"/>
                </a:lnTo>
                <a:lnTo>
                  <a:pt x="8023" y="3944"/>
                </a:lnTo>
                <a:lnTo>
                  <a:pt x="7424" y="6656"/>
                </a:lnTo>
                <a:lnTo>
                  <a:pt x="9100" y="7149"/>
                </a:lnTo>
                <a:lnTo>
                  <a:pt x="8861" y="8505"/>
                </a:lnTo>
                <a:lnTo>
                  <a:pt x="3233" y="7149"/>
                </a:lnTo>
                <a:lnTo>
                  <a:pt x="718" y="20832"/>
                </a:lnTo>
                <a:lnTo>
                  <a:pt x="16404" y="23667"/>
                </a:lnTo>
                <a:lnTo>
                  <a:pt x="15925" y="26625"/>
                </a:lnTo>
                <a:lnTo>
                  <a:pt x="19398" y="26872"/>
                </a:lnTo>
                <a:lnTo>
                  <a:pt x="19158" y="29830"/>
                </a:lnTo>
                <a:lnTo>
                  <a:pt x="30294" y="31926"/>
                </a:lnTo>
                <a:close/>
              </a:path>
            </a:pathLst>
          </a:custGeom>
          <a:solidFill>
            <a:srgbClr val="f2c8ad"/>
          </a:solidFill>
          <a:ln w="6191">
            <a:solidFill>
              <a:srgbClr val="b7633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82" name="หน้าสมาคมธรรมศาสตร์"/>
          <p:cNvSpPr/>
          <p:nvPr/>
        </p:nvSpPr>
        <p:spPr>
          <a:xfrm>
            <a:off x="5434560" y="5772240"/>
            <a:ext cx="13320" cy="33840"/>
          </a:xfrm>
          <a:custGeom>
            <a:avLst/>
            <a:gdLst/>
            <a:ahLst/>
            <a:rect l="l" t="t" r="r" b="b"/>
            <a:pathLst>
              <a:path w="13770" h="34144">
                <a:moveTo>
                  <a:pt x="3832" y="0"/>
                </a:moveTo>
                <a:lnTo>
                  <a:pt x="0" y="2342"/>
                </a:lnTo>
                <a:lnTo>
                  <a:pt x="239" y="4191"/>
                </a:lnTo>
                <a:lnTo>
                  <a:pt x="6945" y="14915"/>
                </a:lnTo>
                <a:lnTo>
                  <a:pt x="8741" y="21448"/>
                </a:lnTo>
                <a:lnTo>
                  <a:pt x="7184" y="22188"/>
                </a:lnTo>
                <a:lnTo>
                  <a:pt x="7783" y="25146"/>
                </a:lnTo>
                <a:lnTo>
                  <a:pt x="10417" y="23913"/>
                </a:lnTo>
                <a:lnTo>
                  <a:pt x="13770" y="34144"/>
                </a:lnTo>
                <a:lnTo>
                  <a:pt x="9220" y="11833"/>
                </a:lnTo>
                <a:lnTo>
                  <a:pt x="12812" y="8382"/>
                </a:lnTo>
                <a:lnTo>
                  <a:pt x="3832" y="0"/>
                </a:lnTo>
                <a:close/>
              </a:path>
            </a:pathLst>
          </a:custGeom>
          <a:solidFill>
            <a:srgbClr val="f2c8ad"/>
          </a:solidFill>
          <a:ln w="6191">
            <a:solidFill>
              <a:srgbClr val="b7633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83" name="เขมาเนรมิตร"/>
          <p:cNvSpPr/>
          <p:nvPr/>
        </p:nvSpPr>
        <p:spPr>
          <a:xfrm>
            <a:off x="5185440" y="4575960"/>
            <a:ext cx="34200" cy="23040"/>
          </a:xfrm>
          <a:custGeom>
            <a:avLst/>
            <a:gdLst/>
            <a:ahLst/>
            <a:rect l="l" t="t" r="r" b="b"/>
            <a:pathLst>
              <a:path w="34485" h="23420">
                <a:moveTo>
                  <a:pt x="0" y="6903"/>
                </a:moveTo>
                <a:lnTo>
                  <a:pt x="5867" y="23420"/>
                </a:lnTo>
                <a:lnTo>
                  <a:pt x="13171" y="22188"/>
                </a:lnTo>
                <a:lnTo>
                  <a:pt x="20116" y="18366"/>
                </a:lnTo>
                <a:lnTo>
                  <a:pt x="27061" y="18490"/>
                </a:lnTo>
                <a:lnTo>
                  <a:pt x="30893" y="15285"/>
                </a:lnTo>
                <a:lnTo>
                  <a:pt x="34485" y="14915"/>
                </a:lnTo>
                <a:lnTo>
                  <a:pt x="31851" y="7273"/>
                </a:lnTo>
                <a:lnTo>
                  <a:pt x="28977" y="8259"/>
                </a:lnTo>
                <a:lnTo>
                  <a:pt x="25864" y="0"/>
                </a:lnTo>
                <a:lnTo>
                  <a:pt x="0" y="6903"/>
                </a:lnTo>
                <a:close/>
              </a:path>
            </a:pathLst>
          </a:custGeom>
          <a:solidFill>
            <a:srgbClr val="f2c8ad"/>
          </a:solidFill>
          <a:ln w="6191">
            <a:solidFill>
              <a:srgbClr val="b7633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84" name="ซอยสนิท"/>
          <p:cNvSpPr/>
          <p:nvPr/>
        </p:nvSpPr>
        <p:spPr>
          <a:xfrm>
            <a:off x="5221800" y="4671720"/>
            <a:ext cx="23040" cy="11160"/>
          </a:xfrm>
          <a:custGeom>
            <a:avLst/>
            <a:gdLst/>
            <a:ahLst/>
            <a:rect l="l" t="t" r="r" b="b"/>
            <a:pathLst>
              <a:path w="23469" h="11340">
                <a:moveTo>
                  <a:pt x="3712" y="1233"/>
                </a:moveTo>
                <a:lnTo>
                  <a:pt x="4071" y="9615"/>
                </a:lnTo>
                <a:lnTo>
                  <a:pt x="0" y="9491"/>
                </a:lnTo>
                <a:lnTo>
                  <a:pt x="120" y="11340"/>
                </a:lnTo>
                <a:lnTo>
                  <a:pt x="23469" y="10724"/>
                </a:lnTo>
                <a:lnTo>
                  <a:pt x="23230" y="0"/>
                </a:lnTo>
                <a:lnTo>
                  <a:pt x="3712" y="1233"/>
                </a:lnTo>
                <a:close/>
              </a:path>
            </a:pathLst>
          </a:custGeom>
          <a:solidFill>
            <a:srgbClr val="f2c8ad"/>
          </a:solidFill>
          <a:ln w="6191">
            <a:solidFill>
              <a:srgbClr val="b7633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85" name="ซอยสีน้ำเงิน 1"/>
          <p:cNvSpPr/>
          <p:nvPr/>
        </p:nvSpPr>
        <p:spPr>
          <a:xfrm>
            <a:off x="5181840" y="4547880"/>
            <a:ext cx="32040" cy="29520"/>
          </a:xfrm>
          <a:custGeom>
            <a:avLst/>
            <a:gdLst/>
            <a:ahLst/>
            <a:rect l="l" t="t" r="r" b="b"/>
            <a:pathLst>
              <a:path w="32450" h="29953">
                <a:moveTo>
                  <a:pt x="5029" y="9738"/>
                </a:moveTo>
                <a:lnTo>
                  <a:pt x="0" y="11710"/>
                </a:lnTo>
                <a:lnTo>
                  <a:pt x="3712" y="21325"/>
                </a:lnTo>
                <a:lnTo>
                  <a:pt x="1676" y="22064"/>
                </a:lnTo>
                <a:lnTo>
                  <a:pt x="4430" y="29953"/>
                </a:lnTo>
                <a:lnTo>
                  <a:pt x="19637" y="25393"/>
                </a:lnTo>
                <a:lnTo>
                  <a:pt x="17602" y="19229"/>
                </a:lnTo>
                <a:lnTo>
                  <a:pt x="32450" y="15038"/>
                </a:lnTo>
                <a:lnTo>
                  <a:pt x="27540" y="0"/>
                </a:lnTo>
                <a:lnTo>
                  <a:pt x="16644" y="2835"/>
                </a:lnTo>
                <a:lnTo>
                  <a:pt x="17482" y="5670"/>
                </a:lnTo>
                <a:lnTo>
                  <a:pt x="11136" y="7396"/>
                </a:lnTo>
                <a:lnTo>
                  <a:pt x="10298" y="4561"/>
                </a:lnTo>
                <a:lnTo>
                  <a:pt x="4071" y="6656"/>
                </a:lnTo>
                <a:lnTo>
                  <a:pt x="5029" y="9738"/>
                </a:lnTo>
                <a:close/>
              </a:path>
            </a:pathLst>
          </a:custGeom>
          <a:solidFill>
            <a:srgbClr val="f2c8ad"/>
          </a:solidFill>
          <a:ln w="6191">
            <a:solidFill>
              <a:srgbClr val="b7633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86" name="ซอยสีน้ำเงิน 2"/>
          <p:cNvSpPr/>
          <p:nvPr/>
        </p:nvSpPr>
        <p:spPr>
          <a:xfrm>
            <a:off x="5156280" y="4544280"/>
            <a:ext cx="28440" cy="21240"/>
          </a:xfrm>
          <a:custGeom>
            <a:avLst/>
            <a:gdLst/>
            <a:ahLst/>
            <a:rect l="l" t="t" r="r" b="b"/>
            <a:pathLst>
              <a:path w="28738" h="21448">
                <a:moveTo>
                  <a:pt x="0" y="18366"/>
                </a:moveTo>
                <a:lnTo>
                  <a:pt x="1557" y="21448"/>
                </a:lnTo>
                <a:lnTo>
                  <a:pt x="11136" y="17504"/>
                </a:lnTo>
                <a:lnTo>
                  <a:pt x="10657" y="14915"/>
                </a:lnTo>
                <a:lnTo>
                  <a:pt x="28738" y="7396"/>
                </a:lnTo>
                <a:lnTo>
                  <a:pt x="25984" y="0"/>
                </a:lnTo>
                <a:lnTo>
                  <a:pt x="16524" y="4191"/>
                </a:lnTo>
                <a:lnTo>
                  <a:pt x="14848" y="616"/>
                </a:lnTo>
                <a:lnTo>
                  <a:pt x="7304" y="7273"/>
                </a:lnTo>
                <a:lnTo>
                  <a:pt x="5748" y="12450"/>
                </a:lnTo>
                <a:lnTo>
                  <a:pt x="0" y="18366"/>
                </a:lnTo>
                <a:close/>
              </a:path>
            </a:pathLst>
          </a:custGeom>
          <a:solidFill>
            <a:srgbClr val="f2c8ad"/>
          </a:solidFill>
          <a:ln w="6191">
            <a:solidFill>
              <a:srgbClr val="b7633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87" name="ชุมชนบุญเหลือ 2"/>
          <p:cNvSpPr/>
          <p:nvPr/>
        </p:nvSpPr>
        <p:spPr>
          <a:xfrm>
            <a:off x="5225760" y="4662720"/>
            <a:ext cx="25920" cy="9720"/>
          </a:xfrm>
          <a:custGeom>
            <a:avLst/>
            <a:gdLst/>
            <a:ahLst/>
            <a:rect l="l" t="t" r="r" b="b"/>
            <a:pathLst>
              <a:path w="26103" h="10231">
                <a:moveTo>
                  <a:pt x="12812" y="0"/>
                </a:moveTo>
                <a:lnTo>
                  <a:pt x="10777" y="1602"/>
                </a:lnTo>
                <a:lnTo>
                  <a:pt x="5388" y="1726"/>
                </a:lnTo>
                <a:lnTo>
                  <a:pt x="5628" y="3575"/>
                </a:lnTo>
                <a:lnTo>
                  <a:pt x="3592" y="3821"/>
                </a:lnTo>
                <a:lnTo>
                  <a:pt x="3592" y="5547"/>
                </a:lnTo>
                <a:lnTo>
                  <a:pt x="0" y="5547"/>
                </a:lnTo>
                <a:lnTo>
                  <a:pt x="239" y="10231"/>
                </a:lnTo>
                <a:lnTo>
                  <a:pt x="26103" y="8259"/>
                </a:lnTo>
                <a:lnTo>
                  <a:pt x="25624" y="3944"/>
                </a:lnTo>
                <a:lnTo>
                  <a:pt x="15446" y="4931"/>
                </a:lnTo>
                <a:lnTo>
                  <a:pt x="15087" y="1479"/>
                </a:lnTo>
                <a:lnTo>
                  <a:pt x="13770" y="1479"/>
                </a:lnTo>
                <a:lnTo>
                  <a:pt x="13411" y="3328"/>
                </a:lnTo>
                <a:lnTo>
                  <a:pt x="12812" y="0"/>
                </a:lnTo>
                <a:close/>
              </a:path>
            </a:pathLst>
          </a:custGeom>
          <a:solidFill>
            <a:srgbClr val="f2c8ad"/>
          </a:solidFill>
          <a:ln w="6191">
            <a:solidFill>
              <a:srgbClr val="b7633d"/>
            </a:solidFill>
            <a:round/>
          </a:ln>
        </p:spPr>
        <p:style>
          <a:lnRef idx="0"/>
          <a:fillRef idx="0"/>
          <a:effectRef idx="0"/>
          <a:fontRef idx="minor"/>
        </p:style>
        <p:txBody>
          <a:bodyPr lIns="90000" rIns="90000" tIns="-35280" bIns="-35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88" name="สวนปรก"/>
          <p:cNvSpPr/>
          <p:nvPr/>
        </p:nvSpPr>
        <p:spPr>
          <a:xfrm>
            <a:off x="4885200" y="4875120"/>
            <a:ext cx="21240" cy="27000"/>
          </a:xfrm>
          <a:custGeom>
            <a:avLst/>
            <a:gdLst/>
            <a:ahLst/>
            <a:rect l="l" t="t" r="r" b="b"/>
            <a:pathLst>
              <a:path w="21553" h="27488">
                <a:moveTo>
                  <a:pt x="0" y="17627"/>
                </a:moveTo>
                <a:lnTo>
                  <a:pt x="3832" y="22188"/>
                </a:lnTo>
                <a:lnTo>
                  <a:pt x="10777" y="16271"/>
                </a:lnTo>
                <a:lnTo>
                  <a:pt x="11974" y="17504"/>
                </a:lnTo>
                <a:lnTo>
                  <a:pt x="9699" y="20339"/>
                </a:lnTo>
                <a:lnTo>
                  <a:pt x="19039" y="27488"/>
                </a:lnTo>
                <a:lnTo>
                  <a:pt x="21314" y="24283"/>
                </a:lnTo>
                <a:lnTo>
                  <a:pt x="11256" y="15901"/>
                </a:lnTo>
                <a:lnTo>
                  <a:pt x="15925" y="11833"/>
                </a:lnTo>
                <a:lnTo>
                  <a:pt x="16045" y="9738"/>
                </a:lnTo>
                <a:lnTo>
                  <a:pt x="17362" y="10847"/>
                </a:lnTo>
                <a:lnTo>
                  <a:pt x="21553" y="5793"/>
                </a:lnTo>
                <a:lnTo>
                  <a:pt x="15686" y="0"/>
                </a:lnTo>
                <a:lnTo>
                  <a:pt x="11375" y="3944"/>
                </a:lnTo>
                <a:lnTo>
                  <a:pt x="13052" y="6040"/>
                </a:lnTo>
                <a:lnTo>
                  <a:pt x="0" y="17627"/>
                </a:lnTo>
                <a:close/>
              </a:path>
            </a:pathLst>
          </a:custGeom>
          <a:solidFill>
            <a:srgbClr val="f2c8ad"/>
          </a:solidFill>
          <a:ln w="6191">
            <a:solidFill>
              <a:srgbClr val="b7633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89" name="วัดเพลง"/>
          <p:cNvSpPr/>
          <p:nvPr/>
        </p:nvSpPr>
        <p:spPr>
          <a:xfrm>
            <a:off x="4760640" y="4822200"/>
            <a:ext cx="14760" cy="15840"/>
          </a:xfrm>
          <a:custGeom>
            <a:avLst/>
            <a:gdLst/>
            <a:ahLst/>
            <a:rect l="l" t="t" r="r" b="b"/>
            <a:pathLst>
              <a:path w="14967" h="16024">
                <a:moveTo>
                  <a:pt x="14129" y="3451"/>
                </a:moveTo>
                <a:lnTo>
                  <a:pt x="13890" y="0"/>
                </a:lnTo>
                <a:lnTo>
                  <a:pt x="0" y="4931"/>
                </a:lnTo>
                <a:lnTo>
                  <a:pt x="1078" y="16024"/>
                </a:lnTo>
                <a:lnTo>
                  <a:pt x="14967" y="13559"/>
                </a:lnTo>
                <a:lnTo>
                  <a:pt x="14129" y="3451"/>
                </a:lnTo>
                <a:close/>
              </a:path>
            </a:pathLst>
          </a:custGeom>
          <a:solidFill>
            <a:srgbClr val="f2c8ad"/>
          </a:solidFill>
          <a:ln w="6191">
            <a:solidFill>
              <a:srgbClr val="b7633d"/>
            </a:solidFill>
            <a:round/>
          </a:ln>
        </p:spPr>
        <p:style>
          <a:lnRef idx="0"/>
          <a:fillRef idx="0"/>
          <a:effectRef idx="0"/>
          <a:fontRef idx="minor"/>
        </p:style>
        <p:txBody>
          <a:bodyPr lIns="90000" rIns="90000" tIns="-29160" bIns="-29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90" name="ข้างโรงเรียนสายอักษร"/>
          <p:cNvSpPr/>
          <p:nvPr/>
        </p:nvSpPr>
        <p:spPr>
          <a:xfrm>
            <a:off x="6566040" y="4190400"/>
            <a:ext cx="77760" cy="32400"/>
          </a:xfrm>
          <a:custGeom>
            <a:avLst/>
            <a:gdLst/>
            <a:ahLst/>
            <a:rect l="l" t="t" r="r" b="b"/>
            <a:pathLst>
              <a:path w="78190" h="32665">
                <a:moveTo>
                  <a:pt x="67414" y="2589"/>
                </a:moveTo>
                <a:lnTo>
                  <a:pt x="68371" y="11710"/>
                </a:lnTo>
                <a:lnTo>
                  <a:pt x="69449" y="10231"/>
                </a:lnTo>
                <a:lnTo>
                  <a:pt x="73520" y="9861"/>
                </a:lnTo>
                <a:lnTo>
                  <a:pt x="73161" y="6286"/>
                </a:lnTo>
                <a:lnTo>
                  <a:pt x="78190" y="5917"/>
                </a:lnTo>
                <a:lnTo>
                  <a:pt x="77352" y="0"/>
                </a:lnTo>
                <a:lnTo>
                  <a:pt x="31372" y="6286"/>
                </a:lnTo>
                <a:lnTo>
                  <a:pt x="9819" y="12820"/>
                </a:lnTo>
                <a:lnTo>
                  <a:pt x="0" y="18983"/>
                </a:lnTo>
                <a:lnTo>
                  <a:pt x="1916" y="23297"/>
                </a:lnTo>
                <a:lnTo>
                  <a:pt x="12812" y="17750"/>
                </a:lnTo>
                <a:lnTo>
                  <a:pt x="10058" y="13313"/>
                </a:lnTo>
                <a:lnTo>
                  <a:pt x="16883" y="10724"/>
                </a:lnTo>
                <a:lnTo>
                  <a:pt x="23469" y="19722"/>
                </a:lnTo>
                <a:lnTo>
                  <a:pt x="26463" y="17873"/>
                </a:lnTo>
                <a:lnTo>
                  <a:pt x="38676" y="32665"/>
                </a:lnTo>
                <a:lnTo>
                  <a:pt x="47537" y="26255"/>
                </a:lnTo>
                <a:lnTo>
                  <a:pt x="48495" y="27735"/>
                </a:lnTo>
                <a:lnTo>
                  <a:pt x="54841" y="23174"/>
                </a:lnTo>
                <a:lnTo>
                  <a:pt x="56158" y="24653"/>
                </a:lnTo>
                <a:lnTo>
                  <a:pt x="62265" y="19476"/>
                </a:lnTo>
                <a:lnTo>
                  <a:pt x="60828" y="3205"/>
                </a:lnTo>
                <a:lnTo>
                  <a:pt x="67414" y="2589"/>
                </a:lnTo>
                <a:close/>
              </a:path>
            </a:pathLst>
          </a:custGeom>
          <a:solidFill>
            <a:srgbClr val="f2c8ad"/>
          </a:solidFill>
          <a:ln w="6191">
            <a:solidFill>
              <a:srgbClr val="b7633d"/>
            </a:solidFill>
            <a:round/>
          </a:ln>
        </p:spPr>
        <p:style>
          <a:lnRef idx="0"/>
          <a:fillRef idx="0"/>
          <a:effectRef idx="0"/>
          <a:fontRef idx="minor"/>
        </p:style>
        <p:txBody>
          <a:bodyPr lIns="90000" rIns="90000" tIns="-12600" bIns="-12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91" name="หัวรถจักรตึกแดง เขต 1"/>
          <p:cNvSpPr/>
          <p:nvPr/>
        </p:nvSpPr>
        <p:spPr>
          <a:xfrm>
            <a:off x="5414400" y="4530960"/>
            <a:ext cx="28080" cy="42120"/>
          </a:xfrm>
          <a:custGeom>
            <a:avLst/>
            <a:gdLst/>
            <a:ahLst/>
            <a:rect l="l" t="t" r="r" b="b"/>
            <a:pathLst>
              <a:path w="28618" h="42650">
                <a:moveTo>
                  <a:pt x="4670" y="30816"/>
                </a:moveTo>
                <a:lnTo>
                  <a:pt x="0" y="39568"/>
                </a:lnTo>
                <a:lnTo>
                  <a:pt x="1197" y="42650"/>
                </a:lnTo>
                <a:lnTo>
                  <a:pt x="26822" y="36733"/>
                </a:lnTo>
                <a:lnTo>
                  <a:pt x="28618" y="9984"/>
                </a:lnTo>
                <a:lnTo>
                  <a:pt x="25385" y="3944"/>
                </a:lnTo>
                <a:lnTo>
                  <a:pt x="21194" y="0"/>
                </a:lnTo>
                <a:lnTo>
                  <a:pt x="4670" y="30816"/>
                </a:lnTo>
                <a:close/>
              </a:path>
            </a:pathLst>
          </a:custGeom>
          <a:solidFill>
            <a:srgbClr val="f2c8ad"/>
          </a:solidFill>
          <a:ln w="6191">
            <a:solidFill>
              <a:srgbClr val="b7633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92" name="ซอยโชติวัฒน์"/>
          <p:cNvSpPr/>
          <p:nvPr/>
        </p:nvSpPr>
        <p:spPr>
          <a:xfrm>
            <a:off x="5396040" y="4512240"/>
            <a:ext cx="20160" cy="13680"/>
          </a:xfrm>
          <a:custGeom>
            <a:avLst/>
            <a:gdLst/>
            <a:ahLst/>
            <a:rect l="l" t="t" r="r" b="b"/>
            <a:pathLst>
              <a:path w="20356" h="13929">
                <a:moveTo>
                  <a:pt x="1557" y="11217"/>
                </a:moveTo>
                <a:lnTo>
                  <a:pt x="2036" y="13929"/>
                </a:lnTo>
                <a:lnTo>
                  <a:pt x="7783" y="12203"/>
                </a:lnTo>
                <a:lnTo>
                  <a:pt x="20356" y="11464"/>
                </a:lnTo>
                <a:lnTo>
                  <a:pt x="20356" y="3205"/>
                </a:lnTo>
                <a:lnTo>
                  <a:pt x="0" y="0"/>
                </a:lnTo>
                <a:lnTo>
                  <a:pt x="1557" y="11217"/>
                </a:lnTo>
                <a:close/>
              </a:path>
            </a:pathLst>
          </a:custGeom>
          <a:solidFill>
            <a:srgbClr val="f2c8ad"/>
          </a:solidFill>
          <a:ln w="6191">
            <a:solidFill>
              <a:srgbClr val="b7633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93" name="จันทร์เกษม"/>
          <p:cNvSpPr/>
          <p:nvPr/>
        </p:nvSpPr>
        <p:spPr>
          <a:xfrm>
            <a:off x="5238720" y="4656240"/>
            <a:ext cx="24480" cy="10800"/>
          </a:xfrm>
          <a:custGeom>
            <a:avLst/>
            <a:gdLst/>
            <a:ahLst/>
            <a:rect l="l" t="t" r="r" b="b"/>
            <a:pathLst>
              <a:path w="24906" h="11094">
                <a:moveTo>
                  <a:pt x="0" y="3328"/>
                </a:moveTo>
                <a:lnTo>
                  <a:pt x="2634" y="11094"/>
                </a:lnTo>
                <a:lnTo>
                  <a:pt x="24906" y="8752"/>
                </a:lnTo>
                <a:lnTo>
                  <a:pt x="23828" y="3451"/>
                </a:lnTo>
                <a:lnTo>
                  <a:pt x="22032" y="3451"/>
                </a:lnTo>
                <a:lnTo>
                  <a:pt x="22511" y="0"/>
                </a:lnTo>
                <a:lnTo>
                  <a:pt x="0" y="3328"/>
                </a:lnTo>
                <a:close/>
              </a:path>
            </a:pathLst>
          </a:custGeom>
          <a:solidFill>
            <a:srgbClr val="f2c8ad"/>
          </a:solidFill>
          <a:ln w="6191">
            <a:solidFill>
              <a:srgbClr val="b7633d"/>
            </a:solidFill>
            <a:round/>
          </a:ln>
        </p:spPr>
        <p:style>
          <a:lnRef idx="0"/>
          <a:fillRef idx="0"/>
          <a:effectRef idx="0"/>
          <a:fontRef idx="minor"/>
        </p:style>
        <p:txBody>
          <a:bodyPr lIns="90000" rIns="90000" tIns="-34200" bIns="-34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94" name="เชิงสะพานพิบูลสงครามฝั่งซ้าย"/>
          <p:cNvSpPr/>
          <p:nvPr/>
        </p:nvSpPr>
        <p:spPr>
          <a:xfrm>
            <a:off x="5126400" y="4761360"/>
            <a:ext cx="25200" cy="7920"/>
          </a:xfrm>
          <a:custGeom>
            <a:avLst/>
            <a:gdLst/>
            <a:ahLst/>
            <a:rect l="l" t="t" r="r" b="b"/>
            <a:pathLst>
              <a:path w="25505" h="8382">
                <a:moveTo>
                  <a:pt x="25505" y="3575"/>
                </a:moveTo>
                <a:lnTo>
                  <a:pt x="15446" y="1849"/>
                </a:lnTo>
                <a:lnTo>
                  <a:pt x="15087" y="3944"/>
                </a:lnTo>
                <a:lnTo>
                  <a:pt x="11375" y="3575"/>
                </a:lnTo>
                <a:lnTo>
                  <a:pt x="11615" y="1233"/>
                </a:lnTo>
                <a:lnTo>
                  <a:pt x="1078" y="0"/>
                </a:lnTo>
                <a:lnTo>
                  <a:pt x="0" y="4314"/>
                </a:lnTo>
                <a:lnTo>
                  <a:pt x="1437" y="5793"/>
                </a:lnTo>
                <a:lnTo>
                  <a:pt x="17243" y="7519"/>
                </a:lnTo>
                <a:lnTo>
                  <a:pt x="17721" y="5917"/>
                </a:lnTo>
                <a:lnTo>
                  <a:pt x="24187" y="8382"/>
                </a:lnTo>
                <a:lnTo>
                  <a:pt x="25505" y="3575"/>
                </a:lnTo>
                <a:close/>
              </a:path>
            </a:pathLst>
          </a:custGeom>
          <a:solidFill>
            <a:srgbClr val="f2c8ad"/>
          </a:solidFill>
          <a:ln w="6191">
            <a:solidFill>
              <a:srgbClr val="b7633d"/>
            </a:solidFill>
            <a:round/>
          </a:ln>
        </p:spPr>
        <p:style>
          <a:lnRef idx="0"/>
          <a:fillRef idx="0"/>
          <a:effectRef idx="0"/>
          <a:fontRef idx="minor"/>
        </p:style>
        <p:txBody>
          <a:bodyPr lIns="90000" rIns="90000" tIns="-37080" bIns="-37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95" name="ชุมชนซอยเดรี่เบลล์"/>
          <p:cNvSpPr/>
          <p:nvPr/>
        </p:nvSpPr>
        <p:spPr>
          <a:xfrm>
            <a:off x="5185080" y="4665240"/>
            <a:ext cx="9360" cy="8640"/>
          </a:xfrm>
          <a:custGeom>
            <a:avLst/>
            <a:gdLst/>
            <a:ahLst/>
            <a:rect l="l" t="t" r="r" b="b"/>
            <a:pathLst>
              <a:path w="9819" h="8875">
                <a:moveTo>
                  <a:pt x="718" y="8875"/>
                </a:moveTo>
                <a:lnTo>
                  <a:pt x="9819" y="8505"/>
                </a:lnTo>
                <a:lnTo>
                  <a:pt x="8741" y="0"/>
                </a:lnTo>
                <a:lnTo>
                  <a:pt x="0" y="1479"/>
                </a:lnTo>
                <a:lnTo>
                  <a:pt x="718" y="8875"/>
                </a:lnTo>
                <a:close/>
              </a:path>
            </a:pathLst>
          </a:custGeom>
          <a:solidFill>
            <a:srgbClr val="f2c8ad"/>
          </a:solidFill>
          <a:ln w="6191">
            <a:solidFill>
              <a:srgbClr val="b7633d"/>
            </a:solidFill>
            <a:round/>
          </a:ln>
        </p:spPr>
        <p:style>
          <a:lnRef idx="0"/>
          <a:fillRef idx="0"/>
          <a:effectRef idx="0"/>
          <a:fontRef idx="minor"/>
        </p:style>
        <p:txBody>
          <a:bodyPr lIns="90000" rIns="90000" tIns="-36360" bIns="-36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96" name="ซอยประดู่"/>
          <p:cNvSpPr/>
          <p:nvPr/>
        </p:nvSpPr>
        <p:spPr>
          <a:xfrm>
            <a:off x="5221440" y="4766400"/>
            <a:ext cx="30600" cy="19800"/>
          </a:xfrm>
          <a:custGeom>
            <a:avLst/>
            <a:gdLst/>
            <a:ahLst/>
            <a:rect l="l" t="t" r="r" b="b"/>
            <a:pathLst>
              <a:path w="30893" h="20215">
                <a:moveTo>
                  <a:pt x="22032" y="17997"/>
                </a:moveTo>
                <a:lnTo>
                  <a:pt x="24427" y="16641"/>
                </a:lnTo>
                <a:lnTo>
                  <a:pt x="25505" y="9368"/>
                </a:lnTo>
                <a:lnTo>
                  <a:pt x="30653" y="9984"/>
                </a:lnTo>
                <a:lnTo>
                  <a:pt x="30893" y="7519"/>
                </a:lnTo>
                <a:lnTo>
                  <a:pt x="27660" y="7026"/>
                </a:lnTo>
                <a:lnTo>
                  <a:pt x="28618" y="0"/>
                </a:lnTo>
                <a:lnTo>
                  <a:pt x="1437" y="1726"/>
                </a:lnTo>
                <a:lnTo>
                  <a:pt x="0" y="13436"/>
                </a:lnTo>
                <a:lnTo>
                  <a:pt x="2395" y="13929"/>
                </a:lnTo>
                <a:lnTo>
                  <a:pt x="2515" y="16764"/>
                </a:lnTo>
                <a:lnTo>
                  <a:pt x="8980" y="20215"/>
                </a:lnTo>
                <a:lnTo>
                  <a:pt x="22032" y="17997"/>
                </a:lnTo>
                <a:close/>
              </a:path>
            </a:pathLst>
          </a:custGeom>
          <a:solidFill>
            <a:srgbClr val="f2c8ad"/>
          </a:solidFill>
          <a:ln w="6191">
            <a:solidFill>
              <a:srgbClr val="b7633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97" name="ซอยพัฒนา"/>
          <p:cNvSpPr/>
          <p:nvPr/>
        </p:nvSpPr>
        <p:spPr>
          <a:xfrm>
            <a:off x="5195880" y="4692960"/>
            <a:ext cx="35280" cy="30240"/>
          </a:xfrm>
          <a:custGeom>
            <a:avLst/>
            <a:gdLst/>
            <a:ahLst/>
            <a:rect l="l" t="t" r="r" b="b"/>
            <a:pathLst>
              <a:path w="35682" h="30693">
                <a:moveTo>
                  <a:pt x="4071" y="29830"/>
                </a:moveTo>
                <a:lnTo>
                  <a:pt x="33527" y="30693"/>
                </a:lnTo>
                <a:lnTo>
                  <a:pt x="33647" y="17257"/>
                </a:lnTo>
                <a:lnTo>
                  <a:pt x="31492" y="16764"/>
                </a:lnTo>
                <a:lnTo>
                  <a:pt x="31372" y="11217"/>
                </a:lnTo>
                <a:lnTo>
                  <a:pt x="35563" y="11217"/>
                </a:lnTo>
                <a:lnTo>
                  <a:pt x="35682" y="6533"/>
                </a:lnTo>
                <a:lnTo>
                  <a:pt x="30055" y="6287"/>
                </a:lnTo>
                <a:lnTo>
                  <a:pt x="30055" y="123"/>
                </a:lnTo>
                <a:lnTo>
                  <a:pt x="21194" y="0"/>
                </a:lnTo>
                <a:lnTo>
                  <a:pt x="21673" y="5917"/>
                </a:lnTo>
                <a:lnTo>
                  <a:pt x="19039" y="6533"/>
                </a:lnTo>
                <a:lnTo>
                  <a:pt x="17482" y="16024"/>
                </a:lnTo>
                <a:lnTo>
                  <a:pt x="14129" y="19846"/>
                </a:lnTo>
                <a:lnTo>
                  <a:pt x="599" y="19353"/>
                </a:lnTo>
                <a:lnTo>
                  <a:pt x="0" y="27981"/>
                </a:lnTo>
                <a:lnTo>
                  <a:pt x="479" y="29337"/>
                </a:lnTo>
                <a:lnTo>
                  <a:pt x="4071" y="29830"/>
                </a:lnTo>
                <a:close/>
              </a:path>
            </a:pathLst>
          </a:custGeom>
          <a:solidFill>
            <a:srgbClr val="f2c8ad"/>
          </a:solidFill>
          <a:ln w="6191">
            <a:solidFill>
              <a:srgbClr val="b7633d"/>
            </a:solidFill>
            <a:round/>
          </a:ln>
        </p:spPr>
        <p:style>
          <a:lnRef idx="0"/>
          <a:fillRef idx="0"/>
          <a:effectRef idx="0"/>
          <a:fontRef idx="minor"/>
        </p:style>
        <p:txBody>
          <a:bodyPr lIns="90000" rIns="90000" tIns="-14760" bIns="-14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98" name="ตรอกต้นมะม่วง"/>
          <p:cNvSpPr/>
          <p:nvPr/>
        </p:nvSpPr>
        <p:spPr>
          <a:xfrm>
            <a:off x="5274720" y="4755960"/>
            <a:ext cx="16560" cy="5760"/>
          </a:xfrm>
          <a:custGeom>
            <a:avLst/>
            <a:gdLst/>
            <a:ahLst/>
            <a:rect l="l" t="t" r="r" b="b"/>
            <a:pathLst>
              <a:path w="16764" h="6163">
                <a:moveTo>
                  <a:pt x="0" y="3575"/>
                </a:moveTo>
                <a:lnTo>
                  <a:pt x="13171" y="6163"/>
                </a:lnTo>
                <a:lnTo>
                  <a:pt x="16045" y="5547"/>
                </a:lnTo>
                <a:lnTo>
                  <a:pt x="16764" y="2096"/>
                </a:lnTo>
                <a:lnTo>
                  <a:pt x="479" y="0"/>
                </a:lnTo>
                <a:lnTo>
                  <a:pt x="0" y="3575"/>
                </a:lnTo>
                <a:close/>
              </a:path>
            </a:pathLst>
          </a:custGeom>
          <a:solidFill>
            <a:srgbClr val="f2c8ad"/>
          </a:solidFill>
          <a:ln w="6191">
            <a:solidFill>
              <a:srgbClr val="b7633d"/>
            </a:solidFill>
            <a:round/>
          </a:ln>
        </p:spPr>
        <p:style>
          <a:lnRef idx="0"/>
          <a:fillRef idx="0"/>
          <a:effectRef idx="0"/>
          <a:fontRef idx="minor"/>
        </p:style>
        <p:txBody>
          <a:bodyPr lIns="90000" rIns="90000" tIns="-39240" bIns="-39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899" name="ตรอกตรงข้ามวัดสะพานสูง"/>
          <p:cNvSpPr/>
          <p:nvPr/>
        </p:nvSpPr>
        <p:spPr>
          <a:xfrm>
            <a:off x="5281920" y="4773600"/>
            <a:ext cx="19800" cy="17640"/>
          </a:xfrm>
          <a:custGeom>
            <a:avLst/>
            <a:gdLst/>
            <a:ahLst/>
            <a:rect l="l" t="t" r="r" b="b"/>
            <a:pathLst>
              <a:path w="20236" h="17997">
                <a:moveTo>
                  <a:pt x="18320" y="7519"/>
                </a:moveTo>
                <a:lnTo>
                  <a:pt x="20236" y="3698"/>
                </a:lnTo>
                <a:lnTo>
                  <a:pt x="17721" y="1972"/>
                </a:lnTo>
                <a:lnTo>
                  <a:pt x="15207" y="2958"/>
                </a:lnTo>
                <a:lnTo>
                  <a:pt x="6107" y="0"/>
                </a:lnTo>
                <a:lnTo>
                  <a:pt x="5508" y="2589"/>
                </a:lnTo>
                <a:lnTo>
                  <a:pt x="1796" y="2096"/>
                </a:lnTo>
                <a:lnTo>
                  <a:pt x="0" y="6533"/>
                </a:lnTo>
                <a:lnTo>
                  <a:pt x="8502" y="8629"/>
                </a:lnTo>
                <a:lnTo>
                  <a:pt x="7783" y="11710"/>
                </a:lnTo>
                <a:lnTo>
                  <a:pt x="5987" y="11587"/>
                </a:lnTo>
                <a:lnTo>
                  <a:pt x="5508" y="13559"/>
                </a:lnTo>
                <a:lnTo>
                  <a:pt x="1676" y="13313"/>
                </a:lnTo>
                <a:lnTo>
                  <a:pt x="1317" y="15038"/>
                </a:lnTo>
                <a:lnTo>
                  <a:pt x="2754" y="15285"/>
                </a:lnTo>
                <a:lnTo>
                  <a:pt x="2634" y="16764"/>
                </a:lnTo>
                <a:lnTo>
                  <a:pt x="13052" y="17997"/>
                </a:lnTo>
                <a:lnTo>
                  <a:pt x="18320" y="7519"/>
                </a:lnTo>
                <a:close/>
              </a:path>
            </a:pathLst>
          </a:custGeom>
          <a:solidFill>
            <a:srgbClr val="f2c8ad"/>
          </a:solidFill>
          <a:ln w="6191">
            <a:solidFill>
              <a:srgbClr val="b7633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00" name="บ้านพักรถไฟก่อสร้าง"/>
          <p:cNvSpPr/>
          <p:nvPr/>
        </p:nvSpPr>
        <p:spPr>
          <a:xfrm>
            <a:off x="5365440" y="4636440"/>
            <a:ext cx="40320" cy="41400"/>
          </a:xfrm>
          <a:custGeom>
            <a:avLst/>
            <a:gdLst/>
            <a:ahLst/>
            <a:rect l="l" t="t" r="r" b="b"/>
            <a:pathLst>
              <a:path w="40592" h="41663">
                <a:moveTo>
                  <a:pt x="3592" y="27981"/>
                </a:moveTo>
                <a:lnTo>
                  <a:pt x="13411" y="35623"/>
                </a:lnTo>
                <a:lnTo>
                  <a:pt x="27780" y="41663"/>
                </a:lnTo>
                <a:lnTo>
                  <a:pt x="40592" y="0"/>
                </a:lnTo>
                <a:lnTo>
                  <a:pt x="13531" y="1849"/>
                </a:lnTo>
                <a:lnTo>
                  <a:pt x="0" y="26502"/>
                </a:lnTo>
                <a:lnTo>
                  <a:pt x="3592" y="27981"/>
                </a:lnTo>
                <a:close/>
              </a:path>
            </a:pathLst>
          </a:custGeom>
          <a:solidFill>
            <a:srgbClr val="f2c8ad"/>
          </a:solidFill>
          <a:ln w="6191">
            <a:solidFill>
              <a:srgbClr val="b7633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01" name="บุญเหลือ เขต 1"/>
          <p:cNvSpPr/>
          <p:nvPr/>
        </p:nvSpPr>
        <p:spPr>
          <a:xfrm>
            <a:off x="5251680" y="4664160"/>
            <a:ext cx="25200" cy="18360"/>
          </a:xfrm>
          <a:custGeom>
            <a:avLst/>
            <a:gdLst/>
            <a:ahLst/>
            <a:rect l="l" t="t" r="r" b="b"/>
            <a:pathLst>
              <a:path w="25385" h="18736">
                <a:moveTo>
                  <a:pt x="2036" y="17257"/>
                </a:moveTo>
                <a:lnTo>
                  <a:pt x="2275" y="18736"/>
                </a:lnTo>
                <a:lnTo>
                  <a:pt x="15446" y="18490"/>
                </a:lnTo>
                <a:lnTo>
                  <a:pt x="16644" y="13189"/>
                </a:lnTo>
                <a:lnTo>
                  <a:pt x="19039" y="13189"/>
                </a:lnTo>
                <a:lnTo>
                  <a:pt x="18799" y="7519"/>
                </a:lnTo>
                <a:lnTo>
                  <a:pt x="25385" y="5793"/>
                </a:lnTo>
                <a:lnTo>
                  <a:pt x="25385" y="0"/>
                </a:lnTo>
                <a:lnTo>
                  <a:pt x="0" y="2465"/>
                </a:lnTo>
                <a:lnTo>
                  <a:pt x="2036" y="17257"/>
                </a:lnTo>
                <a:close/>
              </a:path>
            </a:pathLst>
          </a:custGeom>
          <a:solidFill>
            <a:srgbClr val="f2c8ad"/>
          </a:solidFill>
          <a:ln w="6191">
            <a:solidFill>
              <a:srgbClr val="b7633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02" name="วัดบางโพโอมาวาส"/>
          <p:cNvSpPr/>
          <p:nvPr/>
        </p:nvSpPr>
        <p:spPr>
          <a:xfrm>
            <a:off x="5132160" y="4663080"/>
            <a:ext cx="24840" cy="10440"/>
          </a:xfrm>
          <a:custGeom>
            <a:avLst/>
            <a:gdLst/>
            <a:ahLst/>
            <a:rect l="l" t="t" r="r" b="b"/>
            <a:pathLst>
              <a:path w="25265" h="10724">
                <a:moveTo>
                  <a:pt x="25265" y="10231"/>
                </a:moveTo>
                <a:lnTo>
                  <a:pt x="21793" y="7889"/>
                </a:lnTo>
                <a:lnTo>
                  <a:pt x="19278" y="8259"/>
                </a:lnTo>
                <a:lnTo>
                  <a:pt x="19877" y="4684"/>
                </a:lnTo>
                <a:lnTo>
                  <a:pt x="21194" y="4561"/>
                </a:lnTo>
                <a:lnTo>
                  <a:pt x="21074" y="0"/>
                </a:lnTo>
                <a:lnTo>
                  <a:pt x="8023" y="493"/>
                </a:lnTo>
                <a:lnTo>
                  <a:pt x="7903" y="3082"/>
                </a:lnTo>
                <a:lnTo>
                  <a:pt x="3472" y="2835"/>
                </a:lnTo>
                <a:lnTo>
                  <a:pt x="3233" y="616"/>
                </a:lnTo>
                <a:lnTo>
                  <a:pt x="0" y="616"/>
                </a:lnTo>
                <a:lnTo>
                  <a:pt x="838" y="7519"/>
                </a:lnTo>
                <a:lnTo>
                  <a:pt x="17123" y="8752"/>
                </a:lnTo>
                <a:lnTo>
                  <a:pt x="17602" y="10724"/>
                </a:lnTo>
                <a:lnTo>
                  <a:pt x="25265" y="10231"/>
                </a:lnTo>
                <a:close/>
              </a:path>
            </a:pathLst>
          </a:custGeom>
          <a:solidFill>
            <a:srgbClr val="f2c8ad"/>
          </a:solidFill>
          <a:ln w="6191">
            <a:solidFill>
              <a:srgbClr val="b7633d"/>
            </a:solidFill>
            <a:round/>
          </a:ln>
        </p:spPr>
        <p:style>
          <a:lnRef idx="0"/>
          <a:fillRef idx="0"/>
          <a:effectRef idx="0"/>
          <a:fontRef idx="minor"/>
        </p:style>
        <p:txBody>
          <a:bodyPr lIns="90000" rIns="90000" tIns="-34560" bIns="-34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03" name="วัดประดู่ธรรมาธิปัตย์"/>
          <p:cNvSpPr/>
          <p:nvPr/>
        </p:nvSpPr>
        <p:spPr>
          <a:xfrm>
            <a:off x="5189760" y="4746960"/>
            <a:ext cx="24120" cy="32400"/>
          </a:xfrm>
          <a:custGeom>
            <a:avLst/>
            <a:gdLst/>
            <a:ahLst/>
            <a:rect l="l" t="t" r="r" b="b"/>
            <a:pathLst>
              <a:path w="24427" h="32912">
                <a:moveTo>
                  <a:pt x="0" y="26872"/>
                </a:moveTo>
                <a:lnTo>
                  <a:pt x="17721" y="32912"/>
                </a:lnTo>
                <a:lnTo>
                  <a:pt x="18560" y="29830"/>
                </a:lnTo>
                <a:lnTo>
                  <a:pt x="14129" y="28597"/>
                </a:lnTo>
                <a:lnTo>
                  <a:pt x="14848" y="26379"/>
                </a:lnTo>
                <a:lnTo>
                  <a:pt x="11016" y="25269"/>
                </a:lnTo>
                <a:lnTo>
                  <a:pt x="11974" y="20215"/>
                </a:lnTo>
                <a:lnTo>
                  <a:pt x="12573" y="17750"/>
                </a:lnTo>
                <a:lnTo>
                  <a:pt x="17961" y="18613"/>
                </a:lnTo>
                <a:lnTo>
                  <a:pt x="21194" y="4807"/>
                </a:lnTo>
                <a:lnTo>
                  <a:pt x="23948" y="4931"/>
                </a:lnTo>
                <a:lnTo>
                  <a:pt x="24427" y="123"/>
                </a:lnTo>
                <a:lnTo>
                  <a:pt x="21912" y="0"/>
                </a:lnTo>
                <a:lnTo>
                  <a:pt x="21433" y="2096"/>
                </a:lnTo>
                <a:lnTo>
                  <a:pt x="18799" y="740"/>
                </a:lnTo>
                <a:lnTo>
                  <a:pt x="6226" y="370"/>
                </a:lnTo>
                <a:lnTo>
                  <a:pt x="4909" y="493"/>
                </a:lnTo>
                <a:lnTo>
                  <a:pt x="4790" y="2589"/>
                </a:lnTo>
                <a:lnTo>
                  <a:pt x="2874" y="2465"/>
                </a:lnTo>
                <a:lnTo>
                  <a:pt x="2874" y="4807"/>
                </a:lnTo>
                <a:lnTo>
                  <a:pt x="5508" y="5054"/>
                </a:lnTo>
                <a:lnTo>
                  <a:pt x="0" y="26872"/>
                </a:lnTo>
                <a:close/>
              </a:path>
            </a:pathLst>
          </a:custGeom>
          <a:solidFill>
            <a:srgbClr val="f2c8ad"/>
          </a:solidFill>
          <a:ln w="6191">
            <a:solidFill>
              <a:srgbClr val="b7633d"/>
            </a:solidFill>
            <a:round/>
          </a:ln>
        </p:spPr>
        <p:style>
          <a:lnRef idx="0"/>
          <a:fillRef idx="0"/>
          <a:effectRef idx="0"/>
          <a:fontRef idx="minor"/>
        </p:style>
        <p:txBody>
          <a:bodyPr lIns="90000" rIns="90000" tIns="-12600" bIns="-12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04" name="วัดสร้องทอง"/>
          <p:cNvSpPr/>
          <p:nvPr/>
        </p:nvSpPr>
        <p:spPr>
          <a:xfrm>
            <a:off x="5108400" y="4568400"/>
            <a:ext cx="55440" cy="54000"/>
          </a:xfrm>
          <a:custGeom>
            <a:avLst/>
            <a:gdLst/>
            <a:ahLst/>
            <a:rect l="l" t="t" r="r" b="b"/>
            <a:pathLst>
              <a:path w="55679" h="54483">
                <a:moveTo>
                  <a:pt x="43346" y="0"/>
                </a:moveTo>
                <a:lnTo>
                  <a:pt x="8980" y="32788"/>
                </a:lnTo>
                <a:lnTo>
                  <a:pt x="0" y="38212"/>
                </a:lnTo>
                <a:lnTo>
                  <a:pt x="3472" y="44252"/>
                </a:lnTo>
                <a:lnTo>
                  <a:pt x="5508" y="43636"/>
                </a:lnTo>
                <a:lnTo>
                  <a:pt x="6346" y="45854"/>
                </a:lnTo>
                <a:lnTo>
                  <a:pt x="7903" y="45238"/>
                </a:lnTo>
                <a:lnTo>
                  <a:pt x="11256" y="54483"/>
                </a:lnTo>
                <a:lnTo>
                  <a:pt x="55679" y="39815"/>
                </a:lnTo>
                <a:lnTo>
                  <a:pt x="43346" y="0"/>
                </a:lnTo>
                <a:close/>
              </a:path>
            </a:pathLst>
          </a:custGeom>
          <a:solidFill>
            <a:srgbClr val="f2c8ad"/>
          </a:solidFill>
          <a:ln w="6191">
            <a:solidFill>
              <a:srgbClr val="b7633d"/>
            </a:solidFill>
            <a:round/>
          </a:ln>
        </p:spPr>
        <p:style>
          <a:lnRef idx="0"/>
          <a:fillRef idx="0"/>
          <a:effectRef idx="0"/>
          <a:fontRef idx="minor"/>
        </p:style>
        <p:txBody>
          <a:bodyPr lIns="90000" rIns="90000" tIns="9000" bIns="9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05" name="สะพานไม้"/>
          <p:cNvSpPr/>
          <p:nvPr/>
        </p:nvSpPr>
        <p:spPr>
          <a:xfrm>
            <a:off x="5315040" y="4551840"/>
            <a:ext cx="20880" cy="16920"/>
          </a:xfrm>
          <a:custGeom>
            <a:avLst/>
            <a:gdLst/>
            <a:ahLst/>
            <a:rect l="l" t="t" r="r" b="b"/>
            <a:pathLst>
              <a:path w="21194" h="17134">
                <a:moveTo>
                  <a:pt x="21194" y="0"/>
                </a:moveTo>
                <a:lnTo>
                  <a:pt x="0" y="3821"/>
                </a:lnTo>
                <a:lnTo>
                  <a:pt x="1916" y="10847"/>
                </a:lnTo>
                <a:lnTo>
                  <a:pt x="239" y="14175"/>
                </a:lnTo>
                <a:lnTo>
                  <a:pt x="838" y="16394"/>
                </a:lnTo>
                <a:lnTo>
                  <a:pt x="3113" y="17134"/>
                </a:lnTo>
                <a:lnTo>
                  <a:pt x="18919" y="13066"/>
                </a:lnTo>
                <a:lnTo>
                  <a:pt x="21194" y="0"/>
                </a:lnTo>
                <a:close/>
              </a:path>
            </a:pathLst>
          </a:custGeom>
          <a:solidFill>
            <a:srgbClr val="f2c8ad"/>
          </a:solidFill>
          <a:ln w="6191">
            <a:solidFill>
              <a:srgbClr val="b7633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06" name="หมู่ 5 กสบ."/>
          <p:cNvSpPr/>
          <p:nvPr/>
        </p:nvSpPr>
        <p:spPr>
          <a:xfrm>
            <a:off x="6270120" y="3486240"/>
            <a:ext cx="66240" cy="40320"/>
          </a:xfrm>
          <a:custGeom>
            <a:avLst/>
            <a:gdLst/>
            <a:ahLst/>
            <a:rect l="l" t="t" r="r" b="b"/>
            <a:pathLst>
              <a:path w="66456" h="40801">
                <a:moveTo>
                  <a:pt x="25026" y="17380"/>
                </a:moveTo>
                <a:lnTo>
                  <a:pt x="0" y="34144"/>
                </a:lnTo>
                <a:lnTo>
                  <a:pt x="4071" y="40801"/>
                </a:lnTo>
                <a:lnTo>
                  <a:pt x="66456" y="24406"/>
                </a:lnTo>
                <a:lnTo>
                  <a:pt x="63821" y="0"/>
                </a:lnTo>
                <a:lnTo>
                  <a:pt x="37000" y="10354"/>
                </a:lnTo>
                <a:lnTo>
                  <a:pt x="25026" y="17380"/>
                </a:lnTo>
                <a:close/>
              </a:path>
            </a:pathLst>
          </a:custGeom>
          <a:solidFill>
            <a:srgbClr val="f2c8ad"/>
          </a:solidFill>
          <a:ln w="6191">
            <a:solidFill>
              <a:srgbClr val="b7633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07" name="สุขสันต์ 1"/>
          <p:cNvSpPr/>
          <p:nvPr/>
        </p:nvSpPr>
        <p:spPr>
          <a:xfrm>
            <a:off x="5229360" y="4499640"/>
            <a:ext cx="38880" cy="14040"/>
          </a:xfrm>
          <a:custGeom>
            <a:avLst/>
            <a:gdLst/>
            <a:ahLst/>
            <a:rect l="l" t="t" r="r" b="b"/>
            <a:pathLst>
              <a:path w="39155" h="14545">
                <a:moveTo>
                  <a:pt x="39155" y="740"/>
                </a:moveTo>
                <a:lnTo>
                  <a:pt x="20356" y="0"/>
                </a:lnTo>
                <a:lnTo>
                  <a:pt x="0" y="3451"/>
                </a:lnTo>
                <a:lnTo>
                  <a:pt x="1197" y="7889"/>
                </a:lnTo>
                <a:lnTo>
                  <a:pt x="3592" y="7396"/>
                </a:lnTo>
                <a:lnTo>
                  <a:pt x="6825" y="14545"/>
                </a:lnTo>
                <a:lnTo>
                  <a:pt x="36401" y="7273"/>
                </a:lnTo>
                <a:lnTo>
                  <a:pt x="35922" y="3821"/>
                </a:lnTo>
                <a:lnTo>
                  <a:pt x="39155" y="2712"/>
                </a:lnTo>
                <a:lnTo>
                  <a:pt x="39155" y="740"/>
                </a:lnTo>
                <a:close/>
              </a:path>
            </a:pathLst>
          </a:custGeom>
          <a:solidFill>
            <a:srgbClr val="f2c8ad"/>
          </a:solidFill>
          <a:ln w="6191">
            <a:solidFill>
              <a:srgbClr val="b7633d"/>
            </a:solidFill>
            <a:round/>
          </a:ln>
        </p:spPr>
        <p:style>
          <a:lnRef idx="0"/>
          <a:fillRef idx="0"/>
          <a:effectRef idx="0"/>
          <a:fontRef idx="minor"/>
        </p:style>
        <p:txBody>
          <a:bodyPr lIns="90000" rIns="90000" tIns="-30960" bIns="-30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08" name="สุขสันต์ 2"/>
          <p:cNvSpPr/>
          <p:nvPr/>
        </p:nvSpPr>
        <p:spPr>
          <a:xfrm>
            <a:off x="5245200" y="4503240"/>
            <a:ext cx="52200" cy="26280"/>
          </a:xfrm>
          <a:custGeom>
            <a:avLst/>
            <a:gdLst/>
            <a:ahLst/>
            <a:rect l="l" t="t" r="r" b="b"/>
            <a:pathLst>
              <a:path w="52446" h="26625">
                <a:moveTo>
                  <a:pt x="52446" y="6903"/>
                </a:moveTo>
                <a:lnTo>
                  <a:pt x="51488" y="3451"/>
                </a:lnTo>
                <a:lnTo>
                  <a:pt x="46220" y="4807"/>
                </a:lnTo>
                <a:lnTo>
                  <a:pt x="45262" y="493"/>
                </a:lnTo>
                <a:lnTo>
                  <a:pt x="39275" y="0"/>
                </a:lnTo>
                <a:lnTo>
                  <a:pt x="7903" y="7766"/>
                </a:lnTo>
                <a:lnTo>
                  <a:pt x="8142" y="10724"/>
                </a:lnTo>
                <a:lnTo>
                  <a:pt x="9938" y="10847"/>
                </a:lnTo>
                <a:lnTo>
                  <a:pt x="11136" y="18613"/>
                </a:lnTo>
                <a:lnTo>
                  <a:pt x="0" y="21571"/>
                </a:lnTo>
                <a:lnTo>
                  <a:pt x="1557" y="26625"/>
                </a:lnTo>
                <a:lnTo>
                  <a:pt x="30534" y="19722"/>
                </a:lnTo>
                <a:lnTo>
                  <a:pt x="35802" y="19846"/>
                </a:lnTo>
                <a:lnTo>
                  <a:pt x="34246" y="13436"/>
                </a:lnTo>
                <a:lnTo>
                  <a:pt x="52326" y="8875"/>
                </a:lnTo>
                <a:lnTo>
                  <a:pt x="52446" y="6903"/>
                </a:lnTo>
                <a:close/>
              </a:path>
            </a:pathLst>
          </a:custGeom>
          <a:solidFill>
            <a:srgbClr val="f2c8ad"/>
          </a:solidFill>
          <a:ln w="6191">
            <a:solidFill>
              <a:srgbClr val="b7633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09" name="หลังตลาดบางซื่อ"/>
          <p:cNvSpPr/>
          <p:nvPr/>
        </p:nvSpPr>
        <p:spPr>
          <a:xfrm>
            <a:off x="5319000" y="4750200"/>
            <a:ext cx="20880" cy="14760"/>
          </a:xfrm>
          <a:custGeom>
            <a:avLst/>
            <a:gdLst/>
            <a:ahLst/>
            <a:rect l="l" t="t" r="r" b="b"/>
            <a:pathLst>
              <a:path w="21314" h="15038">
                <a:moveTo>
                  <a:pt x="0" y="10971"/>
                </a:moveTo>
                <a:lnTo>
                  <a:pt x="13650" y="12450"/>
                </a:lnTo>
                <a:lnTo>
                  <a:pt x="13411" y="15038"/>
                </a:lnTo>
                <a:lnTo>
                  <a:pt x="15207" y="15038"/>
                </a:lnTo>
                <a:lnTo>
                  <a:pt x="15566" y="12080"/>
                </a:lnTo>
                <a:lnTo>
                  <a:pt x="21314" y="12450"/>
                </a:lnTo>
                <a:lnTo>
                  <a:pt x="21314" y="8998"/>
                </a:lnTo>
                <a:lnTo>
                  <a:pt x="19637" y="8875"/>
                </a:lnTo>
                <a:lnTo>
                  <a:pt x="20715" y="123"/>
                </a:lnTo>
                <a:lnTo>
                  <a:pt x="16285" y="0"/>
                </a:lnTo>
                <a:lnTo>
                  <a:pt x="15806" y="4807"/>
                </a:lnTo>
                <a:lnTo>
                  <a:pt x="6825" y="4438"/>
                </a:lnTo>
                <a:lnTo>
                  <a:pt x="6705" y="8259"/>
                </a:lnTo>
                <a:lnTo>
                  <a:pt x="1197" y="7766"/>
                </a:lnTo>
                <a:lnTo>
                  <a:pt x="0" y="10971"/>
                </a:lnTo>
                <a:close/>
              </a:path>
            </a:pathLst>
          </a:custGeom>
          <a:solidFill>
            <a:srgbClr val="f2c8ad"/>
          </a:solidFill>
          <a:ln w="6191">
            <a:solidFill>
              <a:srgbClr val="b7633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10" name="ซอยโจ๊ก"/>
          <p:cNvSpPr/>
          <p:nvPr/>
        </p:nvSpPr>
        <p:spPr>
          <a:xfrm>
            <a:off x="5261040" y="4768200"/>
            <a:ext cx="15120" cy="20520"/>
          </a:xfrm>
          <a:custGeom>
            <a:avLst/>
            <a:gdLst/>
            <a:ahLst/>
            <a:rect l="l" t="t" r="r" b="b"/>
            <a:pathLst>
              <a:path w="15566" h="20832">
                <a:moveTo>
                  <a:pt x="15087" y="6163"/>
                </a:moveTo>
                <a:lnTo>
                  <a:pt x="15566" y="2958"/>
                </a:lnTo>
                <a:lnTo>
                  <a:pt x="14129" y="2712"/>
                </a:lnTo>
                <a:lnTo>
                  <a:pt x="14369" y="1356"/>
                </a:lnTo>
                <a:lnTo>
                  <a:pt x="6945" y="0"/>
                </a:lnTo>
                <a:lnTo>
                  <a:pt x="6226" y="4191"/>
                </a:lnTo>
                <a:lnTo>
                  <a:pt x="838" y="2712"/>
                </a:lnTo>
                <a:lnTo>
                  <a:pt x="359" y="8998"/>
                </a:lnTo>
                <a:lnTo>
                  <a:pt x="3592" y="11464"/>
                </a:lnTo>
                <a:lnTo>
                  <a:pt x="0" y="17627"/>
                </a:lnTo>
                <a:lnTo>
                  <a:pt x="11735" y="20832"/>
                </a:lnTo>
                <a:lnTo>
                  <a:pt x="14010" y="10724"/>
                </a:lnTo>
                <a:lnTo>
                  <a:pt x="12333" y="10231"/>
                </a:lnTo>
                <a:lnTo>
                  <a:pt x="13171" y="6656"/>
                </a:lnTo>
                <a:lnTo>
                  <a:pt x="15087" y="6163"/>
                </a:lnTo>
                <a:close/>
              </a:path>
            </a:pathLst>
          </a:custGeom>
          <a:solidFill>
            <a:srgbClr val="f2c8ad"/>
          </a:solidFill>
          <a:ln w="6191">
            <a:solidFill>
              <a:srgbClr val="b7633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11" name="สุดซอยสมถวิล"/>
          <p:cNvSpPr/>
          <p:nvPr/>
        </p:nvSpPr>
        <p:spPr>
          <a:xfrm>
            <a:off x="5215680" y="4467240"/>
            <a:ext cx="49680" cy="29520"/>
          </a:xfrm>
          <a:custGeom>
            <a:avLst/>
            <a:gdLst/>
            <a:ahLst/>
            <a:rect l="l" t="t" r="r" b="b"/>
            <a:pathLst>
              <a:path w="50051" h="29830">
                <a:moveTo>
                  <a:pt x="38676" y="24160"/>
                </a:moveTo>
                <a:lnTo>
                  <a:pt x="40831" y="21695"/>
                </a:lnTo>
                <a:lnTo>
                  <a:pt x="36640" y="9984"/>
                </a:lnTo>
                <a:lnTo>
                  <a:pt x="50051" y="5177"/>
                </a:lnTo>
                <a:lnTo>
                  <a:pt x="48375" y="0"/>
                </a:lnTo>
                <a:lnTo>
                  <a:pt x="28378" y="7766"/>
                </a:lnTo>
                <a:lnTo>
                  <a:pt x="26223" y="3082"/>
                </a:lnTo>
                <a:lnTo>
                  <a:pt x="21912" y="5054"/>
                </a:lnTo>
                <a:lnTo>
                  <a:pt x="3712" y="16641"/>
                </a:lnTo>
                <a:lnTo>
                  <a:pt x="5508" y="20585"/>
                </a:lnTo>
                <a:lnTo>
                  <a:pt x="0" y="23174"/>
                </a:lnTo>
                <a:lnTo>
                  <a:pt x="2275" y="29830"/>
                </a:lnTo>
                <a:lnTo>
                  <a:pt x="23110" y="24653"/>
                </a:lnTo>
                <a:lnTo>
                  <a:pt x="38676" y="24160"/>
                </a:lnTo>
                <a:close/>
              </a:path>
            </a:pathLst>
          </a:custGeom>
          <a:solidFill>
            <a:srgbClr val="f2c8ad"/>
          </a:solidFill>
          <a:ln w="6191">
            <a:solidFill>
              <a:srgbClr val="b7633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12" name="ชุมชนปานทิพย์ 1"/>
          <p:cNvSpPr/>
          <p:nvPr/>
        </p:nvSpPr>
        <p:spPr>
          <a:xfrm>
            <a:off x="5214240" y="4452480"/>
            <a:ext cx="30600" cy="23400"/>
          </a:xfrm>
          <a:custGeom>
            <a:avLst/>
            <a:gdLst/>
            <a:ahLst/>
            <a:rect l="l" t="t" r="r" b="b"/>
            <a:pathLst>
              <a:path w="31132" h="23913">
                <a:moveTo>
                  <a:pt x="7184" y="11957"/>
                </a:moveTo>
                <a:lnTo>
                  <a:pt x="0" y="18613"/>
                </a:lnTo>
                <a:lnTo>
                  <a:pt x="1676" y="23913"/>
                </a:lnTo>
                <a:lnTo>
                  <a:pt x="8741" y="18243"/>
                </a:lnTo>
                <a:lnTo>
                  <a:pt x="10058" y="19846"/>
                </a:lnTo>
                <a:lnTo>
                  <a:pt x="12453" y="18243"/>
                </a:lnTo>
                <a:lnTo>
                  <a:pt x="13890" y="19229"/>
                </a:lnTo>
                <a:lnTo>
                  <a:pt x="18679" y="14792"/>
                </a:lnTo>
                <a:lnTo>
                  <a:pt x="19637" y="16641"/>
                </a:lnTo>
                <a:lnTo>
                  <a:pt x="24666" y="14175"/>
                </a:lnTo>
                <a:lnTo>
                  <a:pt x="26582" y="17873"/>
                </a:lnTo>
                <a:lnTo>
                  <a:pt x="31132" y="15408"/>
                </a:lnTo>
                <a:lnTo>
                  <a:pt x="21912" y="0"/>
                </a:lnTo>
                <a:lnTo>
                  <a:pt x="7184" y="11957"/>
                </a:lnTo>
                <a:close/>
              </a:path>
            </a:pathLst>
          </a:custGeom>
          <a:solidFill>
            <a:srgbClr val="f2c8ad"/>
          </a:solidFill>
          <a:ln w="6191">
            <a:solidFill>
              <a:srgbClr val="b7633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13" name="หมู่บ้านพัฒนาหมู่ 2"/>
          <p:cNvSpPr/>
          <p:nvPr/>
        </p:nvSpPr>
        <p:spPr>
          <a:xfrm>
            <a:off x="6407280" y="3440880"/>
            <a:ext cx="37440" cy="40680"/>
          </a:xfrm>
          <a:custGeom>
            <a:avLst/>
            <a:gdLst/>
            <a:ahLst/>
            <a:rect l="l" t="t" r="r" b="b"/>
            <a:pathLst>
              <a:path w="37958" h="40924">
                <a:moveTo>
                  <a:pt x="0" y="16024"/>
                </a:moveTo>
                <a:lnTo>
                  <a:pt x="16644" y="37596"/>
                </a:lnTo>
                <a:lnTo>
                  <a:pt x="22152" y="40924"/>
                </a:lnTo>
                <a:lnTo>
                  <a:pt x="23708" y="39815"/>
                </a:lnTo>
                <a:lnTo>
                  <a:pt x="22272" y="38335"/>
                </a:lnTo>
                <a:lnTo>
                  <a:pt x="26343" y="33405"/>
                </a:lnTo>
                <a:lnTo>
                  <a:pt x="34365" y="30077"/>
                </a:lnTo>
                <a:lnTo>
                  <a:pt x="34126" y="24160"/>
                </a:lnTo>
                <a:lnTo>
                  <a:pt x="37958" y="18243"/>
                </a:lnTo>
                <a:lnTo>
                  <a:pt x="11136" y="0"/>
                </a:lnTo>
                <a:lnTo>
                  <a:pt x="0" y="16024"/>
                </a:lnTo>
                <a:close/>
              </a:path>
            </a:pathLst>
          </a:custGeom>
          <a:solidFill>
            <a:srgbClr val="f2c8ad"/>
          </a:solidFill>
          <a:ln w="6191">
            <a:solidFill>
              <a:srgbClr val="b7633d"/>
            </a:solidFill>
            <a:round/>
          </a:ln>
        </p:spPr>
        <p:style>
          <a:lnRef idx="0"/>
          <a:fillRef idx="0"/>
          <a:effectRef idx="0"/>
          <a:fontRef idx="minor"/>
        </p:style>
        <p:txBody>
          <a:bodyPr lIns="90000" rIns="90000" tIns="-4320" bIns="-4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14" name="ชุมชนวังใหญ่"/>
          <p:cNvSpPr/>
          <p:nvPr/>
        </p:nvSpPr>
        <p:spPr>
          <a:xfrm>
            <a:off x="6926760" y="5382000"/>
            <a:ext cx="111240" cy="23400"/>
          </a:xfrm>
          <a:custGeom>
            <a:avLst/>
            <a:gdLst/>
            <a:ahLst/>
            <a:rect l="l" t="t" r="r" b="b"/>
            <a:pathLst>
              <a:path w="111478" h="23667">
                <a:moveTo>
                  <a:pt x="62025" y="3575"/>
                </a:moveTo>
                <a:lnTo>
                  <a:pt x="2155" y="10108"/>
                </a:lnTo>
                <a:lnTo>
                  <a:pt x="0" y="20585"/>
                </a:lnTo>
                <a:lnTo>
                  <a:pt x="8741" y="22434"/>
                </a:lnTo>
                <a:lnTo>
                  <a:pt x="15207" y="20585"/>
                </a:lnTo>
                <a:lnTo>
                  <a:pt x="17243" y="22681"/>
                </a:lnTo>
                <a:lnTo>
                  <a:pt x="27780" y="23667"/>
                </a:lnTo>
                <a:lnTo>
                  <a:pt x="41191" y="13189"/>
                </a:lnTo>
                <a:lnTo>
                  <a:pt x="47058" y="11340"/>
                </a:lnTo>
                <a:lnTo>
                  <a:pt x="56517" y="13682"/>
                </a:lnTo>
                <a:lnTo>
                  <a:pt x="71724" y="21571"/>
                </a:lnTo>
                <a:lnTo>
                  <a:pt x="82022" y="22188"/>
                </a:lnTo>
                <a:lnTo>
                  <a:pt x="94834" y="18736"/>
                </a:lnTo>
                <a:lnTo>
                  <a:pt x="105611" y="12080"/>
                </a:lnTo>
                <a:lnTo>
                  <a:pt x="111478" y="0"/>
                </a:lnTo>
                <a:lnTo>
                  <a:pt x="62025" y="3575"/>
                </a:lnTo>
                <a:close/>
              </a:path>
            </a:pathLst>
          </a:custGeom>
          <a:solidFill>
            <a:srgbClr val="f2c8ad"/>
          </a:solidFill>
          <a:ln w="6191">
            <a:solidFill>
              <a:srgbClr val="b7633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15" name="ลำชะล่า(โคกบ่าวสาว)"/>
          <p:cNvSpPr/>
          <p:nvPr/>
        </p:nvSpPr>
        <p:spPr>
          <a:xfrm>
            <a:off x="6767280" y="4154760"/>
            <a:ext cx="43560" cy="30240"/>
          </a:xfrm>
          <a:custGeom>
            <a:avLst/>
            <a:gdLst/>
            <a:ahLst/>
            <a:rect l="l" t="t" r="r" b="b"/>
            <a:pathLst>
              <a:path w="44064" h="30446">
                <a:moveTo>
                  <a:pt x="32330" y="16024"/>
                </a:moveTo>
                <a:lnTo>
                  <a:pt x="25984" y="18736"/>
                </a:lnTo>
                <a:lnTo>
                  <a:pt x="25145" y="15901"/>
                </a:lnTo>
                <a:lnTo>
                  <a:pt x="20356" y="15655"/>
                </a:lnTo>
                <a:lnTo>
                  <a:pt x="22631" y="863"/>
                </a:lnTo>
                <a:lnTo>
                  <a:pt x="17841" y="1602"/>
                </a:lnTo>
                <a:lnTo>
                  <a:pt x="15806" y="12450"/>
                </a:lnTo>
                <a:lnTo>
                  <a:pt x="12932" y="12080"/>
                </a:lnTo>
                <a:lnTo>
                  <a:pt x="14848" y="3451"/>
                </a:lnTo>
                <a:lnTo>
                  <a:pt x="8142" y="0"/>
                </a:lnTo>
                <a:lnTo>
                  <a:pt x="0" y="247"/>
                </a:lnTo>
                <a:lnTo>
                  <a:pt x="838" y="9984"/>
                </a:lnTo>
                <a:lnTo>
                  <a:pt x="2036" y="11587"/>
                </a:lnTo>
                <a:lnTo>
                  <a:pt x="12692" y="13313"/>
                </a:lnTo>
                <a:lnTo>
                  <a:pt x="17721" y="24283"/>
                </a:lnTo>
                <a:lnTo>
                  <a:pt x="17003" y="26995"/>
                </a:lnTo>
                <a:lnTo>
                  <a:pt x="28498" y="27611"/>
                </a:lnTo>
                <a:lnTo>
                  <a:pt x="32210" y="29090"/>
                </a:lnTo>
                <a:lnTo>
                  <a:pt x="32210" y="30446"/>
                </a:lnTo>
                <a:lnTo>
                  <a:pt x="39035" y="28967"/>
                </a:lnTo>
                <a:lnTo>
                  <a:pt x="44064" y="16641"/>
                </a:lnTo>
                <a:lnTo>
                  <a:pt x="38317" y="5177"/>
                </a:lnTo>
                <a:lnTo>
                  <a:pt x="37000" y="5793"/>
                </a:lnTo>
                <a:lnTo>
                  <a:pt x="40352" y="14545"/>
                </a:lnTo>
                <a:lnTo>
                  <a:pt x="32330" y="16024"/>
                </a:lnTo>
                <a:close/>
              </a:path>
            </a:pathLst>
          </a:custGeom>
          <a:solidFill>
            <a:srgbClr val="f2c8ad"/>
          </a:solidFill>
          <a:ln w="6191">
            <a:solidFill>
              <a:srgbClr val="b7633d"/>
            </a:solidFill>
            <a:round/>
          </a:ln>
        </p:spPr>
        <p:style>
          <a:lnRef idx="0"/>
          <a:fillRef idx="0"/>
          <a:effectRef idx="0"/>
          <a:fontRef idx="minor"/>
        </p:style>
        <p:txBody>
          <a:bodyPr lIns="90000" rIns="90000" tIns="-14760" bIns="-14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16" name="หมู่บ้านพัฒนาหมู่ 1"/>
          <p:cNvSpPr/>
          <p:nvPr/>
        </p:nvSpPr>
        <p:spPr>
          <a:xfrm>
            <a:off x="6500160" y="3330720"/>
            <a:ext cx="41400" cy="27720"/>
          </a:xfrm>
          <a:custGeom>
            <a:avLst/>
            <a:gdLst/>
            <a:ahLst/>
            <a:rect l="l" t="t" r="r" b="b"/>
            <a:pathLst>
              <a:path w="41789" h="28104">
                <a:moveTo>
                  <a:pt x="36401" y="23667"/>
                </a:moveTo>
                <a:lnTo>
                  <a:pt x="40712" y="15778"/>
                </a:lnTo>
                <a:lnTo>
                  <a:pt x="41789" y="1356"/>
                </a:lnTo>
                <a:lnTo>
                  <a:pt x="6705" y="0"/>
                </a:lnTo>
                <a:lnTo>
                  <a:pt x="0" y="16517"/>
                </a:lnTo>
                <a:lnTo>
                  <a:pt x="10896" y="28104"/>
                </a:lnTo>
                <a:lnTo>
                  <a:pt x="36401" y="23667"/>
                </a:lnTo>
                <a:close/>
              </a:path>
            </a:pathLst>
          </a:custGeom>
          <a:solidFill>
            <a:srgbClr val="f2c8ad"/>
          </a:solidFill>
          <a:ln w="6191">
            <a:solidFill>
              <a:srgbClr val="b7633d"/>
            </a:solidFill>
            <a:round/>
          </a:ln>
        </p:spPr>
        <p:style>
          <a:lnRef idx="0"/>
          <a:fillRef idx="0"/>
          <a:effectRef idx="0"/>
          <a:fontRef idx="minor"/>
        </p:style>
        <p:txBody>
          <a:bodyPr lIns="90000" rIns="90000" tIns="-17280" bIns="-17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17" name="ร่วมใจสามัคคี (หนองผักชี)"/>
          <p:cNvSpPr/>
          <p:nvPr/>
        </p:nvSpPr>
        <p:spPr>
          <a:xfrm>
            <a:off x="6411240" y="3660120"/>
            <a:ext cx="53640" cy="46080"/>
          </a:xfrm>
          <a:custGeom>
            <a:avLst/>
            <a:gdLst/>
            <a:ahLst/>
            <a:rect l="l" t="t" r="r" b="b"/>
            <a:pathLst>
              <a:path w="54003" h="46471">
                <a:moveTo>
                  <a:pt x="42747" y="0"/>
                </a:moveTo>
                <a:lnTo>
                  <a:pt x="39754" y="12696"/>
                </a:lnTo>
                <a:lnTo>
                  <a:pt x="359" y="9491"/>
                </a:lnTo>
                <a:lnTo>
                  <a:pt x="0" y="21941"/>
                </a:lnTo>
                <a:lnTo>
                  <a:pt x="4071" y="22434"/>
                </a:lnTo>
                <a:lnTo>
                  <a:pt x="3951" y="30939"/>
                </a:lnTo>
                <a:lnTo>
                  <a:pt x="38556" y="32788"/>
                </a:lnTo>
                <a:lnTo>
                  <a:pt x="38077" y="45238"/>
                </a:lnTo>
                <a:lnTo>
                  <a:pt x="52326" y="46471"/>
                </a:lnTo>
                <a:lnTo>
                  <a:pt x="54003" y="4191"/>
                </a:lnTo>
                <a:lnTo>
                  <a:pt x="42747" y="0"/>
                </a:lnTo>
                <a:close/>
              </a:path>
            </a:pathLst>
          </a:custGeom>
          <a:solidFill>
            <a:srgbClr val="f2c8ad"/>
          </a:solidFill>
          <a:ln w="6191">
            <a:solidFill>
              <a:srgbClr val="b7633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18" name="ร่วมใจสามัคคี"/>
          <p:cNvSpPr/>
          <p:nvPr/>
        </p:nvSpPr>
        <p:spPr>
          <a:xfrm>
            <a:off x="4951080" y="4735440"/>
            <a:ext cx="39240" cy="30600"/>
          </a:xfrm>
          <a:custGeom>
            <a:avLst/>
            <a:gdLst/>
            <a:ahLst/>
            <a:rect l="l" t="t" r="r" b="b"/>
            <a:pathLst>
              <a:path w="39514" h="30939">
                <a:moveTo>
                  <a:pt x="26822" y="28104"/>
                </a:moveTo>
                <a:lnTo>
                  <a:pt x="31611" y="30939"/>
                </a:lnTo>
                <a:lnTo>
                  <a:pt x="39514" y="9122"/>
                </a:lnTo>
                <a:lnTo>
                  <a:pt x="23589" y="2835"/>
                </a:lnTo>
                <a:lnTo>
                  <a:pt x="23828" y="1109"/>
                </a:lnTo>
                <a:lnTo>
                  <a:pt x="15686" y="0"/>
                </a:lnTo>
                <a:lnTo>
                  <a:pt x="15087" y="2342"/>
                </a:lnTo>
                <a:lnTo>
                  <a:pt x="9699" y="1233"/>
                </a:lnTo>
                <a:lnTo>
                  <a:pt x="6107" y="9491"/>
                </a:lnTo>
                <a:lnTo>
                  <a:pt x="0" y="14915"/>
                </a:lnTo>
                <a:lnTo>
                  <a:pt x="28259" y="25146"/>
                </a:lnTo>
                <a:lnTo>
                  <a:pt x="26822" y="28104"/>
                </a:lnTo>
                <a:close/>
              </a:path>
            </a:pathLst>
          </a:custGeom>
          <a:solidFill>
            <a:srgbClr val="f2c8ad"/>
          </a:solidFill>
          <a:ln w="6191">
            <a:solidFill>
              <a:srgbClr val="b7633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19" name="ยิ้มประยูรพัฒนา"/>
          <p:cNvSpPr/>
          <p:nvPr/>
        </p:nvSpPr>
        <p:spPr>
          <a:xfrm>
            <a:off x="5143320" y="4498200"/>
            <a:ext cx="45000" cy="48240"/>
          </a:xfrm>
          <a:custGeom>
            <a:avLst/>
            <a:gdLst/>
            <a:ahLst/>
            <a:rect l="l" t="t" r="r" b="b"/>
            <a:pathLst>
              <a:path w="45501" h="48566">
                <a:moveTo>
                  <a:pt x="39394" y="6163"/>
                </a:moveTo>
                <a:lnTo>
                  <a:pt x="38197" y="6410"/>
                </a:lnTo>
                <a:lnTo>
                  <a:pt x="35323" y="0"/>
                </a:lnTo>
                <a:lnTo>
                  <a:pt x="25864" y="3205"/>
                </a:lnTo>
                <a:lnTo>
                  <a:pt x="23349" y="2219"/>
                </a:lnTo>
                <a:lnTo>
                  <a:pt x="0" y="23913"/>
                </a:lnTo>
                <a:lnTo>
                  <a:pt x="5269" y="38582"/>
                </a:lnTo>
                <a:lnTo>
                  <a:pt x="6705" y="37842"/>
                </a:lnTo>
                <a:lnTo>
                  <a:pt x="3472" y="41910"/>
                </a:lnTo>
                <a:lnTo>
                  <a:pt x="3832" y="45361"/>
                </a:lnTo>
                <a:lnTo>
                  <a:pt x="6346" y="48566"/>
                </a:lnTo>
                <a:lnTo>
                  <a:pt x="13171" y="44375"/>
                </a:lnTo>
                <a:lnTo>
                  <a:pt x="23708" y="32542"/>
                </a:lnTo>
                <a:lnTo>
                  <a:pt x="45501" y="14422"/>
                </a:lnTo>
                <a:lnTo>
                  <a:pt x="42867" y="13682"/>
                </a:lnTo>
                <a:lnTo>
                  <a:pt x="39394" y="6163"/>
                </a:lnTo>
                <a:close/>
              </a:path>
            </a:pathLst>
          </a:custGeom>
          <a:solidFill>
            <a:srgbClr val="f2c8ad"/>
          </a:solidFill>
          <a:ln w="6191">
            <a:solidFill>
              <a:srgbClr val="b7633d"/>
            </a:solidFill>
            <a:round/>
          </a:ln>
        </p:spPr>
        <p:style>
          <a:lnRef idx="0"/>
          <a:fillRef idx="0"/>
          <a:effectRef idx="0"/>
          <a:fontRef idx="minor"/>
        </p:style>
        <p:txBody>
          <a:bodyPr lIns="90000" rIns="90000" tIns="3240" bIns="3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20" name="พัฒนาประชาราษฎร์ 30"/>
          <p:cNvSpPr/>
          <p:nvPr/>
        </p:nvSpPr>
        <p:spPr>
          <a:xfrm>
            <a:off x="5179680" y="4618440"/>
            <a:ext cx="27000" cy="15480"/>
          </a:xfrm>
          <a:custGeom>
            <a:avLst/>
            <a:gdLst/>
            <a:ahLst/>
            <a:rect l="l" t="t" r="r" b="b"/>
            <a:pathLst>
              <a:path w="27420" h="15901">
                <a:moveTo>
                  <a:pt x="0" y="6040"/>
                </a:moveTo>
                <a:lnTo>
                  <a:pt x="718" y="10354"/>
                </a:lnTo>
                <a:lnTo>
                  <a:pt x="5508" y="9245"/>
                </a:lnTo>
                <a:lnTo>
                  <a:pt x="5867" y="11587"/>
                </a:lnTo>
                <a:lnTo>
                  <a:pt x="13770" y="10477"/>
                </a:lnTo>
                <a:lnTo>
                  <a:pt x="14848" y="15901"/>
                </a:lnTo>
                <a:lnTo>
                  <a:pt x="21194" y="14422"/>
                </a:lnTo>
                <a:lnTo>
                  <a:pt x="20835" y="12820"/>
                </a:lnTo>
                <a:lnTo>
                  <a:pt x="23110" y="12326"/>
                </a:lnTo>
                <a:lnTo>
                  <a:pt x="22152" y="8135"/>
                </a:lnTo>
                <a:lnTo>
                  <a:pt x="24786" y="7396"/>
                </a:lnTo>
                <a:lnTo>
                  <a:pt x="25265" y="1972"/>
                </a:lnTo>
                <a:lnTo>
                  <a:pt x="27420" y="1726"/>
                </a:lnTo>
                <a:lnTo>
                  <a:pt x="27181" y="0"/>
                </a:lnTo>
                <a:lnTo>
                  <a:pt x="4430" y="4807"/>
                </a:lnTo>
                <a:lnTo>
                  <a:pt x="4670" y="6410"/>
                </a:lnTo>
                <a:lnTo>
                  <a:pt x="0" y="6040"/>
                </a:lnTo>
                <a:close/>
              </a:path>
            </a:pathLst>
          </a:custGeom>
          <a:solidFill>
            <a:srgbClr val="f2c8ad"/>
          </a:solidFill>
          <a:ln w="6191">
            <a:solidFill>
              <a:srgbClr val="b7633d"/>
            </a:solidFill>
            <a:round/>
          </a:ln>
        </p:spPr>
        <p:style>
          <a:lnRef idx="0"/>
          <a:fillRef idx="0"/>
          <a:effectRef idx="0"/>
          <a:fontRef idx="minor"/>
        </p:style>
        <p:txBody>
          <a:bodyPr lIns="90000" rIns="90000" tIns="-29520" bIns="-29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21" name="ราชทรัพย์"/>
          <p:cNvSpPr/>
          <p:nvPr/>
        </p:nvSpPr>
        <p:spPr>
          <a:xfrm>
            <a:off x="5129280" y="4647600"/>
            <a:ext cx="37800" cy="10800"/>
          </a:xfrm>
          <a:custGeom>
            <a:avLst/>
            <a:gdLst/>
            <a:ahLst/>
            <a:rect l="l" t="t" r="r" b="b"/>
            <a:pathLst>
              <a:path w="38077" h="11217">
                <a:moveTo>
                  <a:pt x="0" y="3451"/>
                </a:moveTo>
                <a:lnTo>
                  <a:pt x="1916" y="8752"/>
                </a:lnTo>
                <a:lnTo>
                  <a:pt x="19518" y="6780"/>
                </a:lnTo>
                <a:lnTo>
                  <a:pt x="19518" y="11217"/>
                </a:lnTo>
                <a:lnTo>
                  <a:pt x="30653" y="10231"/>
                </a:lnTo>
                <a:lnTo>
                  <a:pt x="35682" y="9368"/>
                </a:lnTo>
                <a:lnTo>
                  <a:pt x="35802" y="6040"/>
                </a:lnTo>
                <a:lnTo>
                  <a:pt x="34605" y="5793"/>
                </a:lnTo>
                <a:lnTo>
                  <a:pt x="38077" y="5547"/>
                </a:lnTo>
                <a:lnTo>
                  <a:pt x="38077" y="0"/>
                </a:lnTo>
                <a:lnTo>
                  <a:pt x="5269" y="1972"/>
                </a:lnTo>
                <a:lnTo>
                  <a:pt x="0" y="3451"/>
                </a:lnTo>
                <a:close/>
              </a:path>
            </a:pathLst>
          </a:custGeom>
          <a:solidFill>
            <a:srgbClr val="f2c8ad"/>
          </a:solidFill>
          <a:ln w="6191">
            <a:solidFill>
              <a:srgbClr val="b7633d"/>
            </a:solidFill>
            <a:round/>
          </a:ln>
        </p:spPr>
        <p:style>
          <a:lnRef idx="0"/>
          <a:fillRef idx="0"/>
          <a:effectRef idx="0"/>
          <a:fontRef idx="minor"/>
        </p:style>
        <p:txBody>
          <a:bodyPr lIns="90000" rIns="90000" tIns="-34200" bIns="-34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22" name="ข้างวัดมัชณันติการาม"/>
          <p:cNvSpPr/>
          <p:nvPr/>
        </p:nvSpPr>
        <p:spPr>
          <a:xfrm>
            <a:off x="5073120" y="4439520"/>
            <a:ext cx="34560" cy="36720"/>
          </a:xfrm>
          <a:custGeom>
            <a:avLst/>
            <a:gdLst/>
            <a:ahLst/>
            <a:rect l="l" t="t" r="r" b="b"/>
            <a:pathLst>
              <a:path w="34844" h="36979">
                <a:moveTo>
                  <a:pt x="25744" y="36979"/>
                </a:moveTo>
                <a:lnTo>
                  <a:pt x="30773" y="32665"/>
                </a:lnTo>
                <a:lnTo>
                  <a:pt x="27061" y="28844"/>
                </a:lnTo>
                <a:lnTo>
                  <a:pt x="34844" y="20832"/>
                </a:lnTo>
                <a:lnTo>
                  <a:pt x="26582" y="10724"/>
                </a:lnTo>
                <a:lnTo>
                  <a:pt x="16524" y="0"/>
                </a:lnTo>
                <a:lnTo>
                  <a:pt x="479" y="7026"/>
                </a:lnTo>
                <a:lnTo>
                  <a:pt x="0" y="11710"/>
                </a:lnTo>
                <a:lnTo>
                  <a:pt x="25744" y="36979"/>
                </a:lnTo>
                <a:close/>
              </a:path>
            </a:pathLst>
          </a:custGeom>
          <a:solidFill>
            <a:srgbClr val="f2c8ad"/>
          </a:solidFill>
          <a:ln w="6191">
            <a:solidFill>
              <a:srgbClr val="b7633d"/>
            </a:solidFill>
            <a:round/>
          </a:ln>
        </p:spPr>
        <p:style>
          <a:lnRef idx="0"/>
          <a:fillRef idx="0"/>
          <a:effectRef idx="0"/>
          <a:fontRef idx="minor"/>
        </p:style>
        <p:txBody>
          <a:bodyPr lIns="90000" rIns="90000" tIns="-8280" bIns="-8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23" name="ซอยวัดหลวง"/>
          <p:cNvSpPr/>
          <p:nvPr/>
        </p:nvSpPr>
        <p:spPr>
          <a:xfrm>
            <a:off x="5109840" y="4439880"/>
            <a:ext cx="79200" cy="52560"/>
          </a:xfrm>
          <a:custGeom>
            <a:avLst/>
            <a:gdLst/>
            <a:ahLst/>
            <a:rect l="l" t="t" r="r" b="b"/>
            <a:pathLst>
              <a:path w="79507" h="52881">
                <a:moveTo>
                  <a:pt x="69329" y="7766"/>
                </a:moveTo>
                <a:lnTo>
                  <a:pt x="65258" y="0"/>
                </a:lnTo>
                <a:lnTo>
                  <a:pt x="32090" y="16887"/>
                </a:lnTo>
                <a:lnTo>
                  <a:pt x="35204" y="23667"/>
                </a:lnTo>
                <a:lnTo>
                  <a:pt x="14848" y="19353"/>
                </a:lnTo>
                <a:lnTo>
                  <a:pt x="14249" y="20955"/>
                </a:lnTo>
                <a:lnTo>
                  <a:pt x="4909" y="16887"/>
                </a:lnTo>
                <a:lnTo>
                  <a:pt x="0" y="21941"/>
                </a:lnTo>
                <a:lnTo>
                  <a:pt x="6705" y="27735"/>
                </a:lnTo>
                <a:lnTo>
                  <a:pt x="18081" y="32172"/>
                </a:lnTo>
                <a:lnTo>
                  <a:pt x="48135" y="40677"/>
                </a:lnTo>
                <a:lnTo>
                  <a:pt x="43585" y="48566"/>
                </a:lnTo>
                <a:lnTo>
                  <a:pt x="62384" y="52881"/>
                </a:lnTo>
                <a:lnTo>
                  <a:pt x="76155" y="38828"/>
                </a:lnTo>
                <a:lnTo>
                  <a:pt x="66815" y="35377"/>
                </a:lnTo>
                <a:lnTo>
                  <a:pt x="68731" y="28844"/>
                </a:lnTo>
                <a:lnTo>
                  <a:pt x="73401" y="29090"/>
                </a:lnTo>
                <a:lnTo>
                  <a:pt x="79507" y="24899"/>
                </a:lnTo>
                <a:lnTo>
                  <a:pt x="69329" y="7766"/>
                </a:lnTo>
                <a:close/>
              </a:path>
            </a:pathLst>
          </a:custGeom>
          <a:solidFill>
            <a:srgbClr val="f2c8ad"/>
          </a:solidFill>
          <a:ln w="6191">
            <a:solidFill>
              <a:srgbClr val="b7633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24" name="สมบุญดี"/>
          <p:cNvSpPr/>
          <p:nvPr/>
        </p:nvSpPr>
        <p:spPr>
          <a:xfrm>
            <a:off x="5124960" y="4472280"/>
            <a:ext cx="32760" cy="19800"/>
          </a:xfrm>
          <a:custGeom>
            <a:avLst/>
            <a:gdLst/>
            <a:ahLst/>
            <a:rect l="l" t="t" r="r" b="b"/>
            <a:pathLst>
              <a:path w="33288" h="20215">
                <a:moveTo>
                  <a:pt x="0" y="7026"/>
                </a:moveTo>
                <a:lnTo>
                  <a:pt x="3592" y="8629"/>
                </a:lnTo>
                <a:lnTo>
                  <a:pt x="2275" y="11710"/>
                </a:lnTo>
                <a:lnTo>
                  <a:pt x="25864" y="20215"/>
                </a:lnTo>
                <a:lnTo>
                  <a:pt x="33288" y="8259"/>
                </a:lnTo>
                <a:lnTo>
                  <a:pt x="3712" y="0"/>
                </a:lnTo>
                <a:lnTo>
                  <a:pt x="0" y="7026"/>
                </a:lnTo>
                <a:close/>
              </a:path>
            </a:pathLst>
          </a:custGeom>
          <a:solidFill>
            <a:srgbClr val="f2c8ad"/>
          </a:solidFill>
          <a:ln w="6191">
            <a:solidFill>
              <a:srgbClr val="b7633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25" name="ซอยสวนรื่น"/>
          <p:cNvSpPr/>
          <p:nvPr/>
        </p:nvSpPr>
        <p:spPr>
          <a:xfrm>
            <a:off x="5103000" y="4523400"/>
            <a:ext cx="21600" cy="19080"/>
          </a:xfrm>
          <a:custGeom>
            <a:avLst/>
            <a:gdLst/>
            <a:ahLst/>
            <a:rect l="l" t="t" r="r" b="b"/>
            <a:pathLst>
              <a:path w="22032" h="19353">
                <a:moveTo>
                  <a:pt x="16404" y="16517"/>
                </a:moveTo>
                <a:lnTo>
                  <a:pt x="22032" y="12326"/>
                </a:lnTo>
                <a:lnTo>
                  <a:pt x="15925" y="10231"/>
                </a:lnTo>
                <a:lnTo>
                  <a:pt x="17721" y="2958"/>
                </a:lnTo>
                <a:lnTo>
                  <a:pt x="5388" y="0"/>
                </a:lnTo>
                <a:lnTo>
                  <a:pt x="1557" y="9368"/>
                </a:lnTo>
                <a:lnTo>
                  <a:pt x="0" y="18736"/>
                </a:lnTo>
                <a:lnTo>
                  <a:pt x="7903" y="19353"/>
                </a:lnTo>
                <a:lnTo>
                  <a:pt x="16404" y="16517"/>
                </a:lnTo>
                <a:close/>
              </a:path>
            </a:pathLst>
          </a:custGeom>
          <a:solidFill>
            <a:srgbClr val="f2c8ad"/>
          </a:solidFill>
          <a:ln w="6191">
            <a:solidFill>
              <a:srgbClr val="b7633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26" name="วัดโพธิ์เรียง"/>
          <p:cNvSpPr/>
          <p:nvPr/>
        </p:nvSpPr>
        <p:spPr>
          <a:xfrm>
            <a:off x="4551120" y="5409720"/>
            <a:ext cx="68760" cy="61200"/>
          </a:xfrm>
          <a:custGeom>
            <a:avLst/>
            <a:gdLst/>
            <a:ahLst/>
            <a:rect l="l" t="t" r="r" b="b"/>
            <a:pathLst>
              <a:path w="69210" h="61509">
                <a:moveTo>
                  <a:pt x="0" y="7273"/>
                </a:moveTo>
                <a:lnTo>
                  <a:pt x="4790" y="61509"/>
                </a:lnTo>
                <a:lnTo>
                  <a:pt x="50291" y="53374"/>
                </a:lnTo>
                <a:lnTo>
                  <a:pt x="63103" y="42650"/>
                </a:lnTo>
                <a:lnTo>
                  <a:pt x="60588" y="33651"/>
                </a:lnTo>
                <a:lnTo>
                  <a:pt x="58074" y="33158"/>
                </a:lnTo>
                <a:lnTo>
                  <a:pt x="52686" y="26995"/>
                </a:lnTo>
                <a:lnTo>
                  <a:pt x="67653" y="20339"/>
                </a:lnTo>
                <a:lnTo>
                  <a:pt x="61666" y="7519"/>
                </a:lnTo>
                <a:lnTo>
                  <a:pt x="69210" y="4931"/>
                </a:lnTo>
                <a:lnTo>
                  <a:pt x="68252" y="0"/>
                </a:lnTo>
                <a:lnTo>
                  <a:pt x="67174" y="1479"/>
                </a:lnTo>
                <a:lnTo>
                  <a:pt x="34605" y="9491"/>
                </a:lnTo>
                <a:lnTo>
                  <a:pt x="0" y="7273"/>
                </a:lnTo>
                <a:close/>
              </a:path>
            </a:pathLst>
          </a:custGeom>
          <a:solidFill>
            <a:srgbClr val="f2c8ad"/>
          </a:solidFill>
          <a:ln w="6191">
            <a:solidFill>
              <a:srgbClr val="b7633d"/>
            </a:solidFill>
            <a:round/>
          </a:ln>
        </p:spPr>
        <p:style>
          <a:lnRef idx="0"/>
          <a:fillRef idx="0"/>
          <a:effectRef idx="0"/>
          <a:fontRef idx="minor"/>
        </p:style>
        <p:txBody>
          <a:bodyPr lIns="90000" rIns="90000" tIns="16200" bIns="16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27" name="วัดอัมพวา"/>
          <p:cNvSpPr/>
          <p:nvPr/>
        </p:nvSpPr>
        <p:spPr>
          <a:xfrm>
            <a:off x="4548960" y="5380200"/>
            <a:ext cx="101160" cy="44640"/>
          </a:xfrm>
          <a:custGeom>
            <a:avLst/>
            <a:gdLst/>
            <a:ahLst/>
            <a:rect l="l" t="t" r="r" b="b"/>
            <a:pathLst>
              <a:path w="101420" h="45115">
                <a:moveTo>
                  <a:pt x="79866" y="4314"/>
                </a:moveTo>
                <a:lnTo>
                  <a:pt x="79388" y="2835"/>
                </a:lnTo>
                <a:lnTo>
                  <a:pt x="74957" y="3328"/>
                </a:lnTo>
                <a:lnTo>
                  <a:pt x="59870" y="7273"/>
                </a:lnTo>
                <a:lnTo>
                  <a:pt x="21553" y="12820"/>
                </a:lnTo>
                <a:lnTo>
                  <a:pt x="19757" y="7396"/>
                </a:lnTo>
                <a:lnTo>
                  <a:pt x="0" y="13929"/>
                </a:lnTo>
                <a:lnTo>
                  <a:pt x="2155" y="36240"/>
                </a:lnTo>
                <a:lnTo>
                  <a:pt x="36760" y="38705"/>
                </a:lnTo>
                <a:lnTo>
                  <a:pt x="69449" y="30693"/>
                </a:lnTo>
                <a:lnTo>
                  <a:pt x="70287" y="29090"/>
                </a:lnTo>
                <a:lnTo>
                  <a:pt x="71604" y="34268"/>
                </a:lnTo>
                <a:lnTo>
                  <a:pt x="63941" y="36856"/>
                </a:lnTo>
                <a:lnTo>
                  <a:pt x="66336" y="43882"/>
                </a:lnTo>
                <a:lnTo>
                  <a:pt x="71604" y="42773"/>
                </a:lnTo>
                <a:lnTo>
                  <a:pt x="72922" y="45115"/>
                </a:lnTo>
                <a:lnTo>
                  <a:pt x="77112" y="44868"/>
                </a:lnTo>
                <a:lnTo>
                  <a:pt x="82022" y="38582"/>
                </a:lnTo>
                <a:lnTo>
                  <a:pt x="86811" y="37226"/>
                </a:lnTo>
                <a:lnTo>
                  <a:pt x="86572" y="35500"/>
                </a:lnTo>
                <a:lnTo>
                  <a:pt x="88368" y="35007"/>
                </a:lnTo>
                <a:lnTo>
                  <a:pt x="92080" y="35624"/>
                </a:lnTo>
                <a:lnTo>
                  <a:pt x="92559" y="37966"/>
                </a:lnTo>
                <a:lnTo>
                  <a:pt x="101420" y="37226"/>
                </a:lnTo>
                <a:lnTo>
                  <a:pt x="95433" y="25886"/>
                </a:lnTo>
                <a:lnTo>
                  <a:pt x="91242" y="0"/>
                </a:lnTo>
                <a:lnTo>
                  <a:pt x="79866" y="4314"/>
                </a:lnTo>
                <a:close/>
              </a:path>
            </a:pathLst>
          </a:custGeom>
          <a:solidFill>
            <a:srgbClr val="f2c8ad"/>
          </a:solidFill>
          <a:ln w="6191">
            <a:solidFill>
              <a:srgbClr val="b7633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28" name="รุ่งเรือง"/>
          <p:cNvSpPr/>
          <p:nvPr/>
        </p:nvSpPr>
        <p:spPr>
          <a:xfrm>
            <a:off x="6238080" y="6280200"/>
            <a:ext cx="36000" cy="13320"/>
          </a:xfrm>
          <a:custGeom>
            <a:avLst/>
            <a:gdLst/>
            <a:ahLst/>
            <a:rect l="l" t="t" r="r" b="b"/>
            <a:pathLst>
              <a:path w="36281" h="13806">
                <a:moveTo>
                  <a:pt x="14369" y="247"/>
                </a:moveTo>
                <a:lnTo>
                  <a:pt x="0" y="0"/>
                </a:lnTo>
                <a:lnTo>
                  <a:pt x="120" y="4068"/>
                </a:lnTo>
                <a:lnTo>
                  <a:pt x="14249" y="4561"/>
                </a:lnTo>
                <a:lnTo>
                  <a:pt x="14010" y="8998"/>
                </a:lnTo>
                <a:lnTo>
                  <a:pt x="19637" y="9738"/>
                </a:lnTo>
                <a:lnTo>
                  <a:pt x="19278" y="12450"/>
                </a:lnTo>
                <a:lnTo>
                  <a:pt x="26702" y="13806"/>
                </a:lnTo>
                <a:lnTo>
                  <a:pt x="36281" y="1972"/>
                </a:lnTo>
                <a:lnTo>
                  <a:pt x="14369" y="247"/>
                </a:lnTo>
                <a:close/>
              </a:path>
            </a:pathLst>
          </a:custGeom>
          <a:solidFill>
            <a:srgbClr val="f2c8ad"/>
          </a:solidFill>
          <a:ln w="6191">
            <a:solidFill>
              <a:srgbClr val="b7633d"/>
            </a:solidFill>
            <a:round/>
          </a:ln>
        </p:spPr>
        <p:style>
          <a:lnRef idx="0"/>
          <a:fillRef idx="0"/>
          <a:effectRef idx="0"/>
          <a:fontRef idx="minor"/>
        </p:style>
        <p:txBody>
          <a:bodyPr lIns="90000" rIns="90000" tIns="-31680" bIns="-31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29" name="วัดเลียบ"/>
          <p:cNvSpPr/>
          <p:nvPr/>
        </p:nvSpPr>
        <p:spPr>
          <a:xfrm>
            <a:off x="5116320" y="4384440"/>
            <a:ext cx="52920" cy="46440"/>
          </a:xfrm>
          <a:custGeom>
            <a:avLst/>
            <a:gdLst/>
            <a:ahLst/>
            <a:rect l="l" t="t" r="r" b="b"/>
            <a:pathLst>
              <a:path w="53404" h="46841">
                <a:moveTo>
                  <a:pt x="19757" y="46841"/>
                </a:moveTo>
                <a:lnTo>
                  <a:pt x="24187" y="43512"/>
                </a:lnTo>
                <a:lnTo>
                  <a:pt x="29456" y="45115"/>
                </a:lnTo>
                <a:lnTo>
                  <a:pt x="47776" y="41540"/>
                </a:lnTo>
                <a:lnTo>
                  <a:pt x="53404" y="38335"/>
                </a:lnTo>
                <a:lnTo>
                  <a:pt x="46339" y="22927"/>
                </a:lnTo>
                <a:lnTo>
                  <a:pt x="24427" y="0"/>
                </a:lnTo>
                <a:lnTo>
                  <a:pt x="0" y="19722"/>
                </a:lnTo>
                <a:lnTo>
                  <a:pt x="19757" y="46841"/>
                </a:lnTo>
                <a:close/>
              </a:path>
            </a:pathLst>
          </a:custGeom>
          <a:solidFill>
            <a:srgbClr val="f2c8ad"/>
          </a:solidFill>
          <a:ln w="6191">
            <a:solidFill>
              <a:srgbClr val="b7633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30" name="วัดเสาหิน"/>
          <p:cNvSpPr/>
          <p:nvPr/>
        </p:nvSpPr>
        <p:spPr>
          <a:xfrm>
            <a:off x="5121360" y="4531320"/>
            <a:ext cx="22680" cy="37080"/>
          </a:xfrm>
          <a:custGeom>
            <a:avLst/>
            <a:gdLst/>
            <a:ahLst/>
            <a:rect l="l" t="t" r="r" b="b"/>
            <a:pathLst>
              <a:path w="22990" h="37472">
                <a:moveTo>
                  <a:pt x="599" y="10601"/>
                </a:moveTo>
                <a:lnTo>
                  <a:pt x="1557" y="21448"/>
                </a:lnTo>
                <a:lnTo>
                  <a:pt x="0" y="23297"/>
                </a:lnTo>
                <a:lnTo>
                  <a:pt x="479" y="24899"/>
                </a:lnTo>
                <a:lnTo>
                  <a:pt x="2275" y="24283"/>
                </a:lnTo>
                <a:lnTo>
                  <a:pt x="3951" y="28104"/>
                </a:lnTo>
                <a:lnTo>
                  <a:pt x="599" y="28844"/>
                </a:lnTo>
                <a:lnTo>
                  <a:pt x="2036" y="34021"/>
                </a:lnTo>
                <a:lnTo>
                  <a:pt x="4191" y="34021"/>
                </a:lnTo>
                <a:lnTo>
                  <a:pt x="4430" y="37472"/>
                </a:lnTo>
                <a:lnTo>
                  <a:pt x="12333" y="34021"/>
                </a:lnTo>
                <a:lnTo>
                  <a:pt x="7783" y="24037"/>
                </a:lnTo>
                <a:lnTo>
                  <a:pt x="11495" y="22557"/>
                </a:lnTo>
                <a:lnTo>
                  <a:pt x="9938" y="18860"/>
                </a:lnTo>
                <a:lnTo>
                  <a:pt x="16285" y="17627"/>
                </a:lnTo>
                <a:lnTo>
                  <a:pt x="15327" y="15285"/>
                </a:lnTo>
                <a:lnTo>
                  <a:pt x="20116" y="13559"/>
                </a:lnTo>
                <a:lnTo>
                  <a:pt x="17721" y="6533"/>
                </a:lnTo>
                <a:lnTo>
                  <a:pt x="22511" y="3328"/>
                </a:lnTo>
                <a:lnTo>
                  <a:pt x="21793" y="1726"/>
                </a:lnTo>
                <a:lnTo>
                  <a:pt x="22990" y="1109"/>
                </a:lnTo>
                <a:lnTo>
                  <a:pt x="22272" y="0"/>
                </a:lnTo>
                <a:lnTo>
                  <a:pt x="10537" y="5424"/>
                </a:lnTo>
                <a:lnTo>
                  <a:pt x="6466" y="5054"/>
                </a:lnTo>
                <a:lnTo>
                  <a:pt x="599" y="10601"/>
                </a:lnTo>
                <a:close/>
              </a:path>
            </a:pathLst>
          </a:custGeom>
          <a:solidFill>
            <a:srgbClr val="f2c8ad"/>
          </a:solidFill>
          <a:ln w="6191">
            <a:solidFill>
              <a:srgbClr val="b7633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31" name="หลังเทคโนโลยีพระจอมเกล้าพระนครเหนือ"/>
          <p:cNvSpPr/>
          <p:nvPr/>
        </p:nvSpPr>
        <p:spPr>
          <a:xfrm>
            <a:off x="5065560" y="4448520"/>
            <a:ext cx="34920" cy="44280"/>
          </a:xfrm>
          <a:custGeom>
            <a:avLst/>
            <a:gdLst/>
            <a:ahLst/>
            <a:rect l="l" t="t" r="r" b="b"/>
            <a:pathLst>
              <a:path w="35204" h="44499">
                <a:moveTo>
                  <a:pt x="11375" y="32665"/>
                </a:moveTo>
                <a:lnTo>
                  <a:pt x="24307" y="44499"/>
                </a:lnTo>
                <a:lnTo>
                  <a:pt x="35204" y="31926"/>
                </a:lnTo>
                <a:lnTo>
                  <a:pt x="1676" y="0"/>
                </a:lnTo>
                <a:lnTo>
                  <a:pt x="0" y="2712"/>
                </a:lnTo>
                <a:lnTo>
                  <a:pt x="239" y="11340"/>
                </a:lnTo>
                <a:lnTo>
                  <a:pt x="15327" y="29214"/>
                </a:lnTo>
                <a:lnTo>
                  <a:pt x="11375" y="32665"/>
                </a:lnTo>
                <a:close/>
              </a:path>
            </a:pathLst>
          </a:custGeom>
          <a:solidFill>
            <a:srgbClr val="f2c8ad"/>
          </a:solidFill>
          <a:ln w="6191">
            <a:solidFill>
              <a:srgbClr val="b7633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32" name="ร่วมใจสามัคคี"/>
          <p:cNvSpPr/>
          <p:nvPr/>
        </p:nvSpPr>
        <p:spPr>
          <a:xfrm>
            <a:off x="5702760" y="5793480"/>
            <a:ext cx="91080" cy="41400"/>
          </a:xfrm>
          <a:custGeom>
            <a:avLst/>
            <a:gdLst/>
            <a:ahLst/>
            <a:rect l="l" t="t" r="r" b="b"/>
            <a:pathLst>
              <a:path w="91481" h="41910">
                <a:moveTo>
                  <a:pt x="65019" y="27118"/>
                </a:moveTo>
                <a:lnTo>
                  <a:pt x="2993" y="493"/>
                </a:lnTo>
                <a:lnTo>
                  <a:pt x="1317" y="0"/>
                </a:lnTo>
                <a:lnTo>
                  <a:pt x="0" y="2465"/>
                </a:lnTo>
                <a:lnTo>
                  <a:pt x="87051" y="40924"/>
                </a:lnTo>
                <a:lnTo>
                  <a:pt x="90164" y="41787"/>
                </a:lnTo>
                <a:lnTo>
                  <a:pt x="90643" y="40801"/>
                </a:lnTo>
                <a:lnTo>
                  <a:pt x="90164" y="41910"/>
                </a:lnTo>
                <a:lnTo>
                  <a:pt x="91481" y="38582"/>
                </a:lnTo>
                <a:lnTo>
                  <a:pt x="65019" y="27118"/>
                </a:lnTo>
                <a:close/>
              </a:path>
            </a:pathLst>
          </a:custGeom>
          <a:solidFill>
            <a:srgbClr val="f2c8ad"/>
          </a:solidFill>
          <a:ln w="6191">
            <a:solidFill>
              <a:srgbClr val="b7633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33" name="สำปาย้าพัฒนา"/>
          <p:cNvSpPr/>
          <p:nvPr/>
        </p:nvSpPr>
        <p:spPr>
          <a:xfrm>
            <a:off x="4855680" y="5780880"/>
            <a:ext cx="60840" cy="24480"/>
          </a:xfrm>
          <a:custGeom>
            <a:avLst/>
            <a:gdLst/>
            <a:ahLst/>
            <a:rect l="l" t="t" r="r" b="b"/>
            <a:pathLst>
              <a:path w="61067" h="24776">
                <a:moveTo>
                  <a:pt x="6586" y="0"/>
                </a:moveTo>
                <a:lnTo>
                  <a:pt x="718" y="0"/>
                </a:lnTo>
                <a:lnTo>
                  <a:pt x="0" y="4684"/>
                </a:lnTo>
                <a:lnTo>
                  <a:pt x="14129" y="5300"/>
                </a:lnTo>
                <a:lnTo>
                  <a:pt x="11615" y="12943"/>
                </a:lnTo>
                <a:lnTo>
                  <a:pt x="18919" y="14422"/>
                </a:lnTo>
                <a:lnTo>
                  <a:pt x="18440" y="15901"/>
                </a:lnTo>
                <a:lnTo>
                  <a:pt x="21433" y="16517"/>
                </a:lnTo>
                <a:lnTo>
                  <a:pt x="20356" y="20708"/>
                </a:lnTo>
                <a:lnTo>
                  <a:pt x="21912" y="22188"/>
                </a:lnTo>
                <a:lnTo>
                  <a:pt x="23349" y="17257"/>
                </a:lnTo>
                <a:lnTo>
                  <a:pt x="27540" y="18490"/>
                </a:lnTo>
                <a:lnTo>
                  <a:pt x="26941" y="20339"/>
                </a:lnTo>
                <a:lnTo>
                  <a:pt x="29576" y="21078"/>
                </a:lnTo>
                <a:lnTo>
                  <a:pt x="28977" y="22804"/>
                </a:lnTo>
                <a:lnTo>
                  <a:pt x="38796" y="24776"/>
                </a:lnTo>
                <a:lnTo>
                  <a:pt x="40951" y="19599"/>
                </a:lnTo>
                <a:lnTo>
                  <a:pt x="42148" y="20092"/>
                </a:lnTo>
                <a:lnTo>
                  <a:pt x="46100" y="14792"/>
                </a:lnTo>
                <a:lnTo>
                  <a:pt x="50889" y="17997"/>
                </a:lnTo>
                <a:lnTo>
                  <a:pt x="48974" y="21078"/>
                </a:lnTo>
                <a:lnTo>
                  <a:pt x="47178" y="20462"/>
                </a:lnTo>
                <a:lnTo>
                  <a:pt x="46220" y="21941"/>
                </a:lnTo>
                <a:lnTo>
                  <a:pt x="50051" y="22064"/>
                </a:lnTo>
                <a:lnTo>
                  <a:pt x="51967" y="18983"/>
                </a:lnTo>
                <a:lnTo>
                  <a:pt x="56876" y="22557"/>
                </a:lnTo>
                <a:lnTo>
                  <a:pt x="61067" y="15162"/>
                </a:lnTo>
                <a:lnTo>
                  <a:pt x="52087" y="7766"/>
                </a:lnTo>
                <a:lnTo>
                  <a:pt x="50410" y="8998"/>
                </a:lnTo>
                <a:lnTo>
                  <a:pt x="33288" y="1356"/>
                </a:lnTo>
                <a:lnTo>
                  <a:pt x="6586" y="0"/>
                </a:lnTo>
                <a:close/>
              </a:path>
            </a:pathLst>
          </a:custGeom>
          <a:solidFill>
            <a:srgbClr val="f2c8ad"/>
          </a:solidFill>
          <a:ln w="6191">
            <a:solidFill>
              <a:srgbClr val="b7633d"/>
            </a:solidFill>
            <a:round/>
          </a:ln>
        </p:spPr>
        <p:style>
          <a:lnRef idx="0"/>
          <a:fillRef idx="0"/>
          <a:effectRef idx="0"/>
          <a:fontRef idx="minor"/>
        </p:style>
        <p:txBody>
          <a:bodyPr lIns="90000" rIns="90000" tIns="-20520" bIns="-20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34" name="ชุมชนทรัพย์สินใหม่"/>
          <p:cNvSpPr/>
          <p:nvPr/>
        </p:nvSpPr>
        <p:spPr>
          <a:xfrm>
            <a:off x="6133320" y="5193720"/>
            <a:ext cx="59760" cy="48600"/>
          </a:xfrm>
          <a:custGeom>
            <a:avLst/>
            <a:gdLst/>
            <a:ahLst/>
            <a:rect l="l" t="t" r="r" b="b"/>
            <a:pathLst>
              <a:path w="60109" h="48936">
                <a:moveTo>
                  <a:pt x="0" y="18736"/>
                </a:moveTo>
                <a:lnTo>
                  <a:pt x="11136" y="28597"/>
                </a:lnTo>
                <a:lnTo>
                  <a:pt x="17721" y="21448"/>
                </a:lnTo>
                <a:lnTo>
                  <a:pt x="49812" y="48936"/>
                </a:lnTo>
                <a:lnTo>
                  <a:pt x="60109" y="37966"/>
                </a:lnTo>
                <a:lnTo>
                  <a:pt x="15806" y="0"/>
                </a:lnTo>
                <a:lnTo>
                  <a:pt x="0" y="18736"/>
                </a:lnTo>
                <a:close/>
              </a:path>
            </a:pathLst>
          </a:custGeom>
          <a:solidFill>
            <a:srgbClr val="f2c8ad"/>
          </a:solidFill>
          <a:ln w="6191">
            <a:solidFill>
              <a:srgbClr val="b7633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35" name="ชุมชนรามคำแหง 53"/>
          <p:cNvSpPr/>
          <p:nvPr/>
        </p:nvSpPr>
        <p:spPr>
          <a:xfrm>
            <a:off x="6336000" y="5157720"/>
            <a:ext cx="30960" cy="82440"/>
          </a:xfrm>
          <a:custGeom>
            <a:avLst/>
            <a:gdLst/>
            <a:ahLst/>
            <a:rect l="l" t="t" r="r" b="b"/>
            <a:pathLst>
              <a:path w="31492" h="82957">
                <a:moveTo>
                  <a:pt x="8502" y="740"/>
                </a:moveTo>
                <a:lnTo>
                  <a:pt x="9100" y="5177"/>
                </a:lnTo>
                <a:lnTo>
                  <a:pt x="5987" y="5670"/>
                </a:lnTo>
                <a:lnTo>
                  <a:pt x="15446" y="52634"/>
                </a:lnTo>
                <a:lnTo>
                  <a:pt x="0" y="55099"/>
                </a:lnTo>
                <a:lnTo>
                  <a:pt x="3113" y="80738"/>
                </a:lnTo>
                <a:lnTo>
                  <a:pt x="4430" y="81848"/>
                </a:lnTo>
                <a:lnTo>
                  <a:pt x="3592" y="82957"/>
                </a:lnTo>
                <a:lnTo>
                  <a:pt x="31492" y="77040"/>
                </a:lnTo>
                <a:lnTo>
                  <a:pt x="30893" y="62742"/>
                </a:lnTo>
                <a:lnTo>
                  <a:pt x="17721" y="0"/>
                </a:lnTo>
                <a:lnTo>
                  <a:pt x="8502" y="740"/>
                </a:lnTo>
                <a:close/>
              </a:path>
            </a:pathLst>
          </a:custGeom>
          <a:solidFill>
            <a:srgbClr val="f2c8ad"/>
          </a:solidFill>
          <a:ln w="6191">
            <a:solidFill>
              <a:srgbClr val="b7633d"/>
            </a:solidFill>
            <a:round/>
          </a:ln>
        </p:spPr>
        <p:style>
          <a:lnRef idx="0"/>
          <a:fillRef idx="0"/>
          <a:effectRef idx="0"/>
          <a:fontRef idx="minor"/>
        </p:style>
        <p:txBody>
          <a:bodyPr lIns="90000" rIns="90000" tIns="37440" bIns="37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36" name="ชุมชนรุ่งมณีพัฒนา"/>
          <p:cNvSpPr/>
          <p:nvPr/>
        </p:nvSpPr>
        <p:spPr>
          <a:xfrm>
            <a:off x="6182640" y="5233680"/>
            <a:ext cx="68760" cy="54000"/>
          </a:xfrm>
          <a:custGeom>
            <a:avLst/>
            <a:gdLst/>
            <a:ahLst/>
            <a:rect l="l" t="t" r="r" b="b"/>
            <a:pathLst>
              <a:path w="68970" h="54236">
                <a:moveTo>
                  <a:pt x="13531" y="10601"/>
                </a:moveTo>
                <a:lnTo>
                  <a:pt x="10777" y="8259"/>
                </a:lnTo>
                <a:lnTo>
                  <a:pt x="0" y="20339"/>
                </a:lnTo>
                <a:lnTo>
                  <a:pt x="40113" y="54236"/>
                </a:lnTo>
                <a:lnTo>
                  <a:pt x="50410" y="43019"/>
                </a:lnTo>
                <a:lnTo>
                  <a:pt x="54362" y="44992"/>
                </a:lnTo>
                <a:lnTo>
                  <a:pt x="68970" y="28474"/>
                </a:lnTo>
                <a:lnTo>
                  <a:pt x="62863" y="24776"/>
                </a:lnTo>
                <a:lnTo>
                  <a:pt x="41550" y="17380"/>
                </a:lnTo>
                <a:lnTo>
                  <a:pt x="19518" y="0"/>
                </a:lnTo>
                <a:lnTo>
                  <a:pt x="13770" y="5424"/>
                </a:lnTo>
                <a:lnTo>
                  <a:pt x="16285" y="7642"/>
                </a:lnTo>
                <a:lnTo>
                  <a:pt x="13531" y="10601"/>
                </a:lnTo>
                <a:close/>
              </a:path>
            </a:pathLst>
          </a:custGeom>
          <a:solidFill>
            <a:srgbClr val="f2c8ad"/>
          </a:solidFill>
          <a:ln w="6191">
            <a:solidFill>
              <a:srgbClr val="b7633d"/>
            </a:solidFill>
            <a:round/>
          </a:ln>
        </p:spPr>
        <p:style>
          <a:lnRef idx="0"/>
          <a:fillRef idx="0"/>
          <a:effectRef idx="0"/>
          <a:fontRef idx="minor"/>
        </p:style>
        <p:txBody>
          <a:bodyPr lIns="90000" rIns="90000" tIns="9000" bIns="9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37" name="ชุมชนเทพลีลา"/>
          <p:cNvSpPr/>
          <p:nvPr/>
        </p:nvSpPr>
        <p:spPr>
          <a:xfrm>
            <a:off x="6222960" y="5267880"/>
            <a:ext cx="39240" cy="30960"/>
          </a:xfrm>
          <a:custGeom>
            <a:avLst/>
            <a:gdLst/>
            <a:ahLst/>
            <a:rect l="l" t="t" r="r" b="b"/>
            <a:pathLst>
              <a:path w="39514" h="31433">
                <a:moveTo>
                  <a:pt x="39514" y="1849"/>
                </a:moveTo>
                <a:lnTo>
                  <a:pt x="36640" y="0"/>
                </a:lnTo>
                <a:lnTo>
                  <a:pt x="26103" y="9861"/>
                </a:lnTo>
                <a:lnTo>
                  <a:pt x="20476" y="4068"/>
                </a:lnTo>
                <a:lnTo>
                  <a:pt x="13890" y="11094"/>
                </a:lnTo>
                <a:lnTo>
                  <a:pt x="10058" y="8875"/>
                </a:lnTo>
                <a:lnTo>
                  <a:pt x="0" y="20215"/>
                </a:lnTo>
                <a:lnTo>
                  <a:pt x="7663" y="31433"/>
                </a:lnTo>
                <a:lnTo>
                  <a:pt x="11974" y="28967"/>
                </a:lnTo>
                <a:lnTo>
                  <a:pt x="39514" y="1849"/>
                </a:lnTo>
                <a:close/>
              </a:path>
            </a:pathLst>
          </a:custGeom>
          <a:solidFill>
            <a:srgbClr val="f2c8ad"/>
          </a:solidFill>
          <a:ln w="6191">
            <a:solidFill>
              <a:srgbClr val="b7633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38" name="ชุมชนน้อมเกล้า"/>
          <p:cNvSpPr/>
          <p:nvPr/>
        </p:nvSpPr>
        <p:spPr>
          <a:xfrm>
            <a:off x="6149880" y="5175000"/>
            <a:ext cx="23040" cy="26640"/>
          </a:xfrm>
          <a:custGeom>
            <a:avLst/>
            <a:gdLst/>
            <a:ahLst/>
            <a:rect l="l" t="t" r="r" b="b"/>
            <a:pathLst>
              <a:path w="23469" h="27118">
                <a:moveTo>
                  <a:pt x="7903" y="0"/>
                </a:moveTo>
                <a:lnTo>
                  <a:pt x="0" y="10354"/>
                </a:lnTo>
                <a:lnTo>
                  <a:pt x="19398" y="27118"/>
                </a:lnTo>
                <a:lnTo>
                  <a:pt x="20954" y="25146"/>
                </a:lnTo>
                <a:lnTo>
                  <a:pt x="18560" y="22927"/>
                </a:lnTo>
                <a:lnTo>
                  <a:pt x="23469" y="16641"/>
                </a:lnTo>
                <a:lnTo>
                  <a:pt x="22391" y="15162"/>
                </a:lnTo>
                <a:lnTo>
                  <a:pt x="23349" y="14052"/>
                </a:lnTo>
                <a:lnTo>
                  <a:pt x="7903" y="0"/>
                </a:lnTo>
                <a:close/>
              </a:path>
            </a:pathLst>
          </a:custGeom>
          <a:solidFill>
            <a:srgbClr val="f2c8ad"/>
          </a:solidFill>
          <a:ln w="6191">
            <a:solidFill>
              <a:srgbClr val="b7633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39" name="ชุมชน ๙ พัฒนา"/>
          <p:cNvSpPr/>
          <p:nvPr/>
        </p:nvSpPr>
        <p:spPr>
          <a:xfrm>
            <a:off x="6190920" y="5234400"/>
            <a:ext cx="7560" cy="9360"/>
          </a:xfrm>
          <a:custGeom>
            <a:avLst/>
            <a:gdLst/>
            <a:ahLst/>
            <a:rect l="l" t="t" r="r" b="b"/>
            <a:pathLst>
              <a:path w="8023" h="9738">
                <a:moveTo>
                  <a:pt x="4550" y="0"/>
                </a:moveTo>
                <a:lnTo>
                  <a:pt x="0" y="5054"/>
                </a:lnTo>
                <a:lnTo>
                  <a:pt x="5269" y="9738"/>
                </a:lnTo>
                <a:lnTo>
                  <a:pt x="8023" y="6780"/>
                </a:lnTo>
                <a:lnTo>
                  <a:pt x="5388" y="4561"/>
                </a:lnTo>
                <a:lnTo>
                  <a:pt x="7184" y="2465"/>
                </a:lnTo>
                <a:lnTo>
                  <a:pt x="4550" y="0"/>
                </a:lnTo>
                <a:close/>
              </a:path>
            </a:pathLst>
          </a:custGeom>
          <a:solidFill>
            <a:srgbClr val="f2c8ad"/>
          </a:solidFill>
          <a:ln w="6191">
            <a:solidFill>
              <a:srgbClr val="b7633d"/>
            </a:solidFill>
            <a:round/>
          </a:ln>
        </p:spPr>
        <p:style>
          <a:lnRef idx="0"/>
          <a:fillRef idx="0"/>
          <a:effectRef idx="0"/>
          <a:fontRef idx="minor"/>
        </p:style>
        <p:txBody>
          <a:bodyPr lIns="90000" rIns="90000" tIns="-35640" bIns="-35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40" name="กลางนา"/>
          <p:cNvSpPr/>
          <p:nvPr/>
        </p:nvSpPr>
        <p:spPr>
          <a:xfrm>
            <a:off x="6051240" y="6396120"/>
            <a:ext cx="20880" cy="46080"/>
          </a:xfrm>
          <a:custGeom>
            <a:avLst/>
            <a:gdLst/>
            <a:ahLst/>
            <a:rect l="l" t="t" r="r" b="b"/>
            <a:pathLst>
              <a:path w="21074" h="46348">
                <a:moveTo>
                  <a:pt x="10298" y="41540"/>
                </a:moveTo>
                <a:lnTo>
                  <a:pt x="21074" y="2342"/>
                </a:lnTo>
                <a:lnTo>
                  <a:pt x="14010" y="0"/>
                </a:lnTo>
                <a:lnTo>
                  <a:pt x="0" y="44129"/>
                </a:lnTo>
                <a:lnTo>
                  <a:pt x="8142" y="46348"/>
                </a:lnTo>
                <a:lnTo>
                  <a:pt x="10298" y="41540"/>
                </a:lnTo>
                <a:close/>
              </a:path>
            </a:pathLst>
          </a:custGeom>
          <a:solidFill>
            <a:srgbClr val="f2c8ad"/>
          </a:solidFill>
          <a:ln w="6191">
            <a:solidFill>
              <a:srgbClr val="b7633d"/>
            </a:solidFill>
            <a:round/>
          </a:ln>
        </p:spPr>
        <p:style>
          <a:lnRef idx="0"/>
          <a:fillRef idx="0"/>
          <a:effectRef idx="0"/>
          <a:fontRef idx="minor"/>
        </p:style>
        <p:txBody>
          <a:bodyPr lIns="90000" rIns="90000" tIns="1080" bIns="1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41" name="ซอยโปษยานนท์"/>
          <p:cNvSpPr/>
          <p:nvPr/>
        </p:nvSpPr>
        <p:spPr>
          <a:xfrm>
            <a:off x="6057720" y="6451560"/>
            <a:ext cx="19440" cy="39960"/>
          </a:xfrm>
          <a:custGeom>
            <a:avLst/>
            <a:gdLst/>
            <a:ahLst/>
            <a:rect l="l" t="t" r="r" b="b"/>
            <a:pathLst>
              <a:path w="19877" h="40184">
                <a:moveTo>
                  <a:pt x="19877" y="3575"/>
                </a:moveTo>
                <a:lnTo>
                  <a:pt x="5628" y="0"/>
                </a:lnTo>
                <a:lnTo>
                  <a:pt x="0" y="37472"/>
                </a:lnTo>
                <a:lnTo>
                  <a:pt x="12812" y="40184"/>
                </a:lnTo>
                <a:lnTo>
                  <a:pt x="19877" y="3575"/>
                </a:lnTo>
                <a:close/>
              </a:path>
            </a:pathLst>
          </a:custGeom>
          <a:solidFill>
            <a:srgbClr val="f2c8ad"/>
          </a:solidFill>
          <a:ln w="6191">
            <a:solidFill>
              <a:srgbClr val="b7633d"/>
            </a:solidFill>
            <a:round/>
          </a:ln>
        </p:spPr>
        <p:style>
          <a:lnRef idx="0"/>
          <a:fillRef idx="0"/>
          <a:effectRef idx="0"/>
          <a:fontRef idx="minor"/>
        </p:style>
        <p:txBody>
          <a:bodyPr lIns="90000" rIns="90000" tIns="-5040" bIns="-5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42" name="หลังกรมทางหลวง"/>
          <p:cNvSpPr/>
          <p:nvPr/>
        </p:nvSpPr>
        <p:spPr>
          <a:xfrm>
            <a:off x="5205600" y="5277600"/>
            <a:ext cx="20880" cy="8640"/>
          </a:xfrm>
          <a:custGeom>
            <a:avLst/>
            <a:gdLst/>
            <a:ahLst/>
            <a:rect l="l" t="t" r="r" b="b"/>
            <a:pathLst>
              <a:path w="21194" h="9122">
                <a:moveTo>
                  <a:pt x="0" y="0"/>
                </a:moveTo>
                <a:lnTo>
                  <a:pt x="1796" y="5300"/>
                </a:lnTo>
                <a:lnTo>
                  <a:pt x="20236" y="9122"/>
                </a:lnTo>
                <a:lnTo>
                  <a:pt x="21194" y="5177"/>
                </a:lnTo>
                <a:lnTo>
                  <a:pt x="0" y="0"/>
                </a:lnTo>
                <a:close/>
              </a:path>
            </a:pathLst>
          </a:custGeom>
          <a:solidFill>
            <a:srgbClr val="f2c8ad"/>
          </a:solidFill>
          <a:ln w="6191">
            <a:solidFill>
              <a:srgbClr val="b7633d"/>
            </a:solidFill>
            <a:round/>
          </a:ln>
        </p:spPr>
        <p:style>
          <a:lnRef idx="0"/>
          <a:fillRef idx="0"/>
          <a:effectRef idx="0"/>
          <a:fontRef idx="minor"/>
        </p:style>
        <p:txBody>
          <a:bodyPr lIns="90000" rIns="90000" tIns="-36360" bIns="-36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43" name="เจริญแพทย์"/>
          <p:cNvSpPr/>
          <p:nvPr/>
        </p:nvSpPr>
        <p:spPr>
          <a:xfrm>
            <a:off x="3530520" y="5525280"/>
            <a:ext cx="27360" cy="43200"/>
          </a:xfrm>
          <a:custGeom>
            <a:avLst/>
            <a:gdLst/>
            <a:ahLst/>
            <a:rect l="l" t="t" r="r" b="b"/>
            <a:pathLst>
              <a:path w="27899" h="43636">
                <a:moveTo>
                  <a:pt x="27899" y="2342"/>
                </a:moveTo>
                <a:lnTo>
                  <a:pt x="0" y="0"/>
                </a:lnTo>
                <a:lnTo>
                  <a:pt x="4550" y="43636"/>
                </a:lnTo>
                <a:lnTo>
                  <a:pt x="26343" y="43143"/>
                </a:lnTo>
                <a:lnTo>
                  <a:pt x="27899" y="2342"/>
                </a:lnTo>
                <a:close/>
              </a:path>
            </a:pathLst>
          </a:custGeom>
          <a:solidFill>
            <a:srgbClr val="f2c8ad"/>
          </a:solidFill>
          <a:ln w="6191">
            <a:solidFill>
              <a:srgbClr val="b7633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44" name="ใต้สะพานโซน 1"/>
          <p:cNvSpPr/>
          <p:nvPr/>
        </p:nvSpPr>
        <p:spPr>
          <a:xfrm>
            <a:off x="4944600" y="7046280"/>
            <a:ext cx="29160" cy="28440"/>
          </a:xfrm>
          <a:custGeom>
            <a:avLst/>
            <a:gdLst/>
            <a:ahLst/>
            <a:rect l="l" t="t" r="r" b="b"/>
            <a:pathLst>
              <a:path w="29695" h="28721">
                <a:moveTo>
                  <a:pt x="0" y="3821"/>
                </a:moveTo>
                <a:lnTo>
                  <a:pt x="22751" y="28721"/>
                </a:lnTo>
                <a:lnTo>
                  <a:pt x="29695" y="22434"/>
                </a:lnTo>
                <a:lnTo>
                  <a:pt x="10298" y="0"/>
                </a:lnTo>
                <a:lnTo>
                  <a:pt x="0" y="3821"/>
                </a:lnTo>
                <a:close/>
              </a:path>
            </a:pathLst>
          </a:custGeom>
          <a:solidFill>
            <a:srgbClr val="f2c8ad"/>
          </a:solidFill>
          <a:ln w="6191">
            <a:solidFill>
              <a:srgbClr val="b7633d"/>
            </a:solidFill>
            <a:round/>
          </a:ln>
        </p:spPr>
        <p:style>
          <a:lnRef idx="0"/>
          <a:fillRef idx="0"/>
          <a:effectRef idx="0"/>
          <a:fontRef idx="minor"/>
        </p:style>
        <p:txBody>
          <a:bodyPr lIns="90000" rIns="90000" tIns="-16560" bIns="-16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45" name="เกษตรรุ่งเรือง"/>
          <p:cNvSpPr/>
          <p:nvPr/>
        </p:nvSpPr>
        <p:spPr>
          <a:xfrm>
            <a:off x="3629880" y="6024240"/>
            <a:ext cx="90720" cy="85680"/>
          </a:xfrm>
          <a:custGeom>
            <a:avLst/>
            <a:gdLst/>
            <a:ahLst/>
            <a:rect l="l" t="t" r="r" b="b"/>
            <a:pathLst>
              <a:path w="91122" h="86162">
                <a:moveTo>
                  <a:pt x="47058" y="63851"/>
                </a:moveTo>
                <a:lnTo>
                  <a:pt x="55679" y="61756"/>
                </a:lnTo>
                <a:lnTo>
                  <a:pt x="53524" y="49676"/>
                </a:lnTo>
                <a:lnTo>
                  <a:pt x="55919" y="47210"/>
                </a:lnTo>
                <a:lnTo>
                  <a:pt x="55080" y="42773"/>
                </a:lnTo>
                <a:lnTo>
                  <a:pt x="59151" y="41294"/>
                </a:lnTo>
                <a:lnTo>
                  <a:pt x="68132" y="86162"/>
                </a:lnTo>
                <a:lnTo>
                  <a:pt x="82740" y="80369"/>
                </a:lnTo>
                <a:lnTo>
                  <a:pt x="79986" y="74575"/>
                </a:lnTo>
                <a:lnTo>
                  <a:pt x="80585" y="72603"/>
                </a:lnTo>
                <a:lnTo>
                  <a:pt x="78549" y="71617"/>
                </a:lnTo>
                <a:lnTo>
                  <a:pt x="67893" y="51525"/>
                </a:lnTo>
                <a:lnTo>
                  <a:pt x="65138" y="37966"/>
                </a:lnTo>
                <a:lnTo>
                  <a:pt x="53404" y="42773"/>
                </a:lnTo>
                <a:lnTo>
                  <a:pt x="45741" y="24160"/>
                </a:lnTo>
                <a:lnTo>
                  <a:pt x="49812" y="22804"/>
                </a:lnTo>
                <a:lnTo>
                  <a:pt x="47896" y="17750"/>
                </a:lnTo>
                <a:lnTo>
                  <a:pt x="54003" y="16024"/>
                </a:lnTo>
                <a:lnTo>
                  <a:pt x="58194" y="26748"/>
                </a:lnTo>
                <a:lnTo>
                  <a:pt x="68371" y="22804"/>
                </a:lnTo>
                <a:lnTo>
                  <a:pt x="66336" y="17011"/>
                </a:lnTo>
                <a:lnTo>
                  <a:pt x="76274" y="12943"/>
                </a:lnTo>
                <a:lnTo>
                  <a:pt x="74957" y="9861"/>
                </a:lnTo>
                <a:lnTo>
                  <a:pt x="91122" y="3451"/>
                </a:lnTo>
                <a:lnTo>
                  <a:pt x="89326" y="0"/>
                </a:lnTo>
                <a:lnTo>
                  <a:pt x="0" y="31802"/>
                </a:lnTo>
                <a:lnTo>
                  <a:pt x="3233" y="42526"/>
                </a:lnTo>
                <a:lnTo>
                  <a:pt x="26103" y="34144"/>
                </a:lnTo>
                <a:lnTo>
                  <a:pt x="35204" y="56948"/>
                </a:lnTo>
                <a:lnTo>
                  <a:pt x="45022" y="52757"/>
                </a:lnTo>
                <a:lnTo>
                  <a:pt x="47058" y="63851"/>
                </a:lnTo>
                <a:close/>
              </a:path>
            </a:pathLst>
          </a:custGeom>
          <a:solidFill>
            <a:srgbClr val="f2c8ad"/>
          </a:solidFill>
          <a:ln w="6191">
            <a:solidFill>
              <a:srgbClr val="b7633d"/>
            </a:solidFill>
            <a:round/>
          </a:ln>
        </p:spPr>
        <p:style>
          <a:lnRef idx="0"/>
          <a:fillRef idx="0"/>
          <a:effectRef idx="0"/>
          <a:fontRef idx="minor"/>
        </p:style>
        <p:txBody>
          <a:bodyPr lIns="90000" rIns="90000" tIns="40680" bIns="40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46" name="ชุมชนสันประเสริฐ"/>
          <p:cNvSpPr/>
          <p:nvPr/>
        </p:nvSpPr>
        <p:spPr>
          <a:xfrm>
            <a:off x="6324480" y="5049720"/>
            <a:ext cx="34560" cy="92520"/>
          </a:xfrm>
          <a:custGeom>
            <a:avLst/>
            <a:gdLst/>
            <a:ahLst/>
            <a:rect l="l" t="t" r="r" b="b"/>
            <a:pathLst>
              <a:path w="34964" h="92818">
                <a:moveTo>
                  <a:pt x="33288" y="37719"/>
                </a:moveTo>
                <a:lnTo>
                  <a:pt x="31731" y="15655"/>
                </a:lnTo>
                <a:lnTo>
                  <a:pt x="29217" y="15778"/>
                </a:lnTo>
                <a:lnTo>
                  <a:pt x="26941" y="0"/>
                </a:lnTo>
                <a:lnTo>
                  <a:pt x="18560" y="986"/>
                </a:lnTo>
                <a:lnTo>
                  <a:pt x="19278" y="4561"/>
                </a:lnTo>
                <a:lnTo>
                  <a:pt x="15446" y="4684"/>
                </a:lnTo>
                <a:lnTo>
                  <a:pt x="14848" y="7396"/>
                </a:lnTo>
                <a:lnTo>
                  <a:pt x="18919" y="44129"/>
                </a:lnTo>
                <a:lnTo>
                  <a:pt x="15806" y="43882"/>
                </a:lnTo>
                <a:lnTo>
                  <a:pt x="17362" y="51155"/>
                </a:lnTo>
                <a:lnTo>
                  <a:pt x="14967" y="53620"/>
                </a:lnTo>
                <a:lnTo>
                  <a:pt x="16285" y="74945"/>
                </a:lnTo>
                <a:lnTo>
                  <a:pt x="0" y="76424"/>
                </a:lnTo>
                <a:lnTo>
                  <a:pt x="2515" y="90846"/>
                </a:lnTo>
                <a:lnTo>
                  <a:pt x="14489" y="89737"/>
                </a:lnTo>
                <a:lnTo>
                  <a:pt x="14728" y="92202"/>
                </a:lnTo>
                <a:lnTo>
                  <a:pt x="16644" y="92202"/>
                </a:lnTo>
                <a:lnTo>
                  <a:pt x="16524" y="89613"/>
                </a:lnTo>
                <a:lnTo>
                  <a:pt x="22631" y="88997"/>
                </a:lnTo>
                <a:lnTo>
                  <a:pt x="23349" y="92818"/>
                </a:lnTo>
                <a:lnTo>
                  <a:pt x="29097" y="90476"/>
                </a:lnTo>
                <a:lnTo>
                  <a:pt x="28977" y="88874"/>
                </a:lnTo>
                <a:lnTo>
                  <a:pt x="34725" y="87764"/>
                </a:lnTo>
                <a:lnTo>
                  <a:pt x="34964" y="84683"/>
                </a:lnTo>
                <a:lnTo>
                  <a:pt x="30773" y="73589"/>
                </a:lnTo>
                <a:lnTo>
                  <a:pt x="28738" y="54113"/>
                </a:lnTo>
                <a:lnTo>
                  <a:pt x="34246" y="52881"/>
                </a:lnTo>
                <a:lnTo>
                  <a:pt x="33288" y="37719"/>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47" name="ชุมชนสุเหร่าดอนสะแก"/>
          <p:cNvSpPr/>
          <p:nvPr/>
        </p:nvSpPr>
        <p:spPr>
          <a:xfrm>
            <a:off x="6245280" y="4955400"/>
            <a:ext cx="34200" cy="124920"/>
          </a:xfrm>
          <a:custGeom>
            <a:avLst/>
            <a:gdLst/>
            <a:ahLst/>
            <a:rect l="l" t="t" r="r" b="b"/>
            <a:pathLst>
              <a:path w="34605" h="125360">
                <a:moveTo>
                  <a:pt x="22751" y="0"/>
                </a:moveTo>
                <a:lnTo>
                  <a:pt x="20954" y="16024"/>
                </a:lnTo>
                <a:lnTo>
                  <a:pt x="5269" y="7149"/>
                </a:lnTo>
                <a:lnTo>
                  <a:pt x="239" y="51155"/>
                </a:lnTo>
                <a:lnTo>
                  <a:pt x="0" y="71617"/>
                </a:lnTo>
                <a:lnTo>
                  <a:pt x="19278" y="103789"/>
                </a:lnTo>
                <a:lnTo>
                  <a:pt x="18679" y="109336"/>
                </a:lnTo>
                <a:lnTo>
                  <a:pt x="23589" y="113897"/>
                </a:lnTo>
                <a:lnTo>
                  <a:pt x="21194" y="117101"/>
                </a:lnTo>
                <a:lnTo>
                  <a:pt x="31252" y="125360"/>
                </a:lnTo>
                <a:lnTo>
                  <a:pt x="34605" y="122155"/>
                </a:lnTo>
                <a:lnTo>
                  <a:pt x="19997" y="79259"/>
                </a:lnTo>
                <a:lnTo>
                  <a:pt x="14249" y="71247"/>
                </a:lnTo>
                <a:lnTo>
                  <a:pt x="19158" y="70754"/>
                </a:lnTo>
                <a:lnTo>
                  <a:pt x="18320" y="49799"/>
                </a:lnTo>
                <a:lnTo>
                  <a:pt x="20476" y="42280"/>
                </a:lnTo>
                <a:lnTo>
                  <a:pt x="32330" y="22434"/>
                </a:lnTo>
                <a:lnTo>
                  <a:pt x="22631" y="16887"/>
                </a:lnTo>
                <a:lnTo>
                  <a:pt x="26822" y="8875"/>
                </a:lnTo>
                <a:lnTo>
                  <a:pt x="28259" y="863"/>
                </a:lnTo>
                <a:lnTo>
                  <a:pt x="22751" y="0"/>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48" name="ชุมชนร่วมสามัคคี"/>
          <p:cNvSpPr/>
          <p:nvPr/>
        </p:nvSpPr>
        <p:spPr>
          <a:xfrm>
            <a:off x="6129360" y="5192280"/>
            <a:ext cx="16200" cy="19080"/>
          </a:xfrm>
          <a:custGeom>
            <a:avLst/>
            <a:gdLst/>
            <a:ahLst/>
            <a:rect l="l" t="t" r="r" b="b"/>
            <a:pathLst>
              <a:path w="16644" h="19599">
                <a:moveTo>
                  <a:pt x="0" y="16887"/>
                </a:moveTo>
                <a:lnTo>
                  <a:pt x="3353" y="19599"/>
                </a:lnTo>
                <a:lnTo>
                  <a:pt x="16644" y="3328"/>
                </a:lnTo>
                <a:lnTo>
                  <a:pt x="13411" y="0"/>
                </a:lnTo>
                <a:lnTo>
                  <a:pt x="0" y="16887"/>
                </a:lnTo>
                <a:close/>
              </a:path>
            </a:pathLst>
          </a:custGeom>
          <a:solidFill>
            <a:srgbClr val="f2c8ad"/>
          </a:solidFill>
          <a:ln w="6191">
            <a:solidFill>
              <a:srgbClr val="b7633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49" name="ชุมชนคลองพลับพลา"/>
          <p:cNvSpPr/>
          <p:nvPr/>
        </p:nvSpPr>
        <p:spPr>
          <a:xfrm>
            <a:off x="6076080" y="5262480"/>
            <a:ext cx="42840" cy="44280"/>
          </a:xfrm>
          <a:custGeom>
            <a:avLst/>
            <a:gdLst/>
            <a:ahLst/>
            <a:rect l="l" t="t" r="r" b="b"/>
            <a:pathLst>
              <a:path w="43226" h="44745">
                <a:moveTo>
                  <a:pt x="19877" y="10231"/>
                </a:moveTo>
                <a:lnTo>
                  <a:pt x="0" y="28474"/>
                </a:lnTo>
                <a:lnTo>
                  <a:pt x="3832" y="34637"/>
                </a:lnTo>
                <a:lnTo>
                  <a:pt x="14608" y="44745"/>
                </a:lnTo>
                <a:lnTo>
                  <a:pt x="43226" y="20215"/>
                </a:lnTo>
                <a:lnTo>
                  <a:pt x="36880" y="11710"/>
                </a:lnTo>
                <a:lnTo>
                  <a:pt x="39754" y="8998"/>
                </a:lnTo>
                <a:lnTo>
                  <a:pt x="27301" y="0"/>
                </a:lnTo>
                <a:lnTo>
                  <a:pt x="19877" y="10231"/>
                </a:lnTo>
                <a:close/>
              </a:path>
            </a:pathLst>
          </a:custGeom>
          <a:solidFill>
            <a:srgbClr val="f2c8ad"/>
          </a:solidFill>
          <a:ln w="6191">
            <a:solidFill>
              <a:srgbClr val="b7633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50" name="วัดบางนานอก"/>
          <p:cNvSpPr/>
          <p:nvPr/>
        </p:nvSpPr>
        <p:spPr>
          <a:xfrm>
            <a:off x="5960520" y="6292440"/>
            <a:ext cx="36000" cy="32760"/>
          </a:xfrm>
          <a:custGeom>
            <a:avLst/>
            <a:gdLst/>
            <a:ahLst/>
            <a:rect l="l" t="t" r="r" b="b"/>
            <a:pathLst>
              <a:path w="36281" h="33158">
                <a:moveTo>
                  <a:pt x="0" y="20708"/>
                </a:moveTo>
                <a:lnTo>
                  <a:pt x="8502" y="25269"/>
                </a:lnTo>
                <a:lnTo>
                  <a:pt x="36281" y="33158"/>
                </a:lnTo>
                <a:lnTo>
                  <a:pt x="34006" y="5177"/>
                </a:lnTo>
                <a:lnTo>
                  <a:pt x="8023" y="0"/>
                </a:lnTo>
                <a:lnTo>
                  <a:pt x="0" y="20708"/>
                </a:lnTo>
                <a:close/>
              </a:path>
            </a:pathLst>
          </a:custGeom>
          <a:solidFill>
            <a:srgbClr val="f2c8ad"/>
          </a:solidFill>
          <a:ln w="6191">
            <a:solidFill>
              <a:srgbClr val="b7633d"/>
            </a:solidFill>
            <a:round/>
          </a:ln>
        </p:spPr>
        <p:style>
          <a:lnRef idx="0"/>
          <a:fillRef idx="0"/>
          <a:effectRef idx="0"/>
          <a:fontRef idx="minor"/>
        </p:style>
        <p:txBody>
          <a:bodyPr lIns="90000" rIns="90000" tIns="-12240" bIns="-12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51" name="เจริญรุ่งเรือง"/>
          <p:cNvSpPr/>
          <p:nvPr/>
        </p:nvSpPr>
        <p:spPr>
          <a:xfrm>
            <a:off x="6115320" y="6333120"/>
            <a:ext cx="9000" cy="35640"/>
          </a:xfrm>
          <a:custGeom>
            <a:avLst/>
            <a:gdLst/>
            <a:ahLst/>
            <a:rect l="l" t="t" r="r" b="b"/>
            <a:pathLst>
              <a:path w="9340" h="35993">
                <a:moveTo>
                  <a:pt x="599" y="29214"/>
                </a:moveTo>
                <a:lnTo>
                  <a:pt x="4191" y="30200"/>
                </a:lnTo>
                <a:lnTo>
                  <a:pt x="2874" y="35993"/>
                </a:lnTo>
                <a:lnTo>
                  <a:pt x="8502" y="35624"/>
                </a:lnTo>
                <a:lnTo>
                  <a:pt x="9340" y="31186"/>
                </a:lnTo>
                <a:lnTo>
                  <a:pt x="718" y="29090"/>
                </a:lnTo>
                <a:lnTo>
                  <a:pt x="7184" y="616"/>
                </a:lnTo>
                <a:lnTo>
                  <a:pt x="5269" y="0"/>
                </a:lnTo>
                <a:lnTo>
                  <a:pt x="0" y="15901"/>
                </a:lnTo>
                <a:lnTo>
                  <a:pt x="2993" y="16887"/>
                </a:lnTo>
                <a:lnTo>
                  <a:pt x="599" y="29214"/>
                </a:lnTo>
                <a:close/>
              </a:path>
            </a:pathLst>
          </a:custGeom>
          <a:solidFill>
            <a:srgbClr val="f2c8ad"/>
          </a:solidFill>
          <a:ln w="6191">
            <a:solidFill>
              <a:srgbClr val="b7633d"/>
            </a:solidFill>
            <a:round/>
          </a:ln>
        </p:spPr>
        <p:style>
          <a:lnRef idx="0"/>
          <a:fillRef idx="0"/>
          <a:effectRef idx="0"/>
          <a:fontRef idx="minor"/>
        </p:style>
        <p:txBody>
          <a:bodyPr lIns="90000" rIns="90000" tIns="-9360" bIns="-9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52" name="ชุมชนศรีบุญยืนพัฒนา"/>
          <p:cNvSpPr/>
          <p:nvPr/>
        </p:nvSpPr>
        <p:spPr>
          <a:xfrm>
            <a:off x="5175720" y="4602960"/>
            <a:ext cx="34560" cy="19440"/>
          </a:xfrm>
          <a:custGeom>
            <a:avLst/>
            <a:gdLst/>
            <a:ahLst/>
            <a:rect l="l" t="t" r="r" b="b"/>
            <a:pathLst>
              <a:path w="34844" h="19722">
                <a:moveTo>
                  <a:pt x="0" y="11217"/>
                </a:moveTo>
                <a:lnTo>
                  <a:pt x="1676" y="15655"/>
                </a:lnTo>
                <a:lnTo>
                  <a:pt x="9938" y="13806"/>
                </a:lnTo>
                <a:lnTo>
                  <a:pt x="11256" y="19722"/>
                </a:lnTo>
                <a:lnTo>
                  <a:pt x="26702" y="16024"/>
                </a:lnTo>
                <a:lnTo>
                  <a:pt x="26463" y="14915"/>
                </a:lnTo>
                <a:lnTo>
                  <a:pt x="28259" y="14422"/>
                </a:lnTo>
                <a:lnTo>
                  <a:pt x="27301" y="9491"/>
                </a:lnTo>
                <a:lnTo>
                  <a:pt x="34844" y="7519"/>
                </a:lnTo>
                <a:lnTo>
                  <a:pt x="32928" y="0"/>
                </a:lnTo>
                <a:lnTo>
                  <a:pt x="16883" y="4807"/>
                </a:lnTo>
                <a:lnTo>
                  <a:pt x="17003" y="6656"/>
                </a:lnTo>
                <a:lnTo>
                  <a:pt x="0" y="11217"/>
                </a:lnTo>
                <a:close/>
              </a:path>
            </a:pathLst>
          </a:custGeom>
          <a:solidFill>
            <a:srgbClr val="f2c8ad"/>
          </a:solidFill>
          <a:ln w="6191">
            <a:solidFill>
              <a:srgbClr val="b7633d"/>
            </a:solidFill>
            <a:round/>
          </a:ln>
        </p:spPr>
        <p:style>
          <a:lnRef idx="0"/>
          <a:fillRef idx="0"/>
          <a:effectRef idx="0"/>
          <a:fontRef idx="minor"/>
        </p:style>
        <p:txBody>
          <a:bodyPr lIns="90000" rIns="90000" tIns="-25560" bIns="-25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53" name="ศรีบุญยืน"/>
          <p:cNvSpPr/>
          <p:nvPr/>
        </p:nvSpPr>
        <p:spPr>
          <a:xfrm>
            <a:off x="5173560" y="4595400"/>
            <a:ext cx="36720" cy="18360"/>
          </a:xfrm>
          <a:custGeom>
            <a:avLst/>
            <a:gdLst/>
            <a:ahLst/>
            <a:rect l="l" t="t" r="r" b="b"/>
            <a:pathLst>
              <a:path w="37239" h="18736">
                <a:moveTo>
                  <a:pt x="0" y="11587"/>
                </a:moveTo>
                <a:lnTo>
                  <a:pt x="2275" y="18736"/>
                </a:lnTo>
                <a:lnTo>
                  <a:pt x="19278" y="14175"/>
                </a:lnTo>
                <a:lnTo>
                  <a:pt x="19158" y="12326"/>
                </a:lnTo>
                <a:lnTo>
                  <a:pt x="35802" y="7273"/>
                </a:lnTo>
                <a:lnTo>
                  <a:pt x="37239" y="4684"/>
                </a:lnTo>
                <a:lnTo>
                  <a:pt x="36281" y="0"/>
                </a:lnTo>
                <a:lnTo>
                  <a:pt x="31013" y="0"/>
                </a:lnTo>
                <a:lnTo>
                  <a:pt x="25984" y="3328"/>
                </a:lnTo>
                <a:lnTo>
                  <a:pt x="19278" y="4191"/>
                </a:lnTo>
                <a:lnTo>
                  <a:pt x="0" y="11587"/>
                </a:lnTo>
                <a:close/>
              </a:path>
            </a:pathLst>
          </a:custGeom>
          <a:solidFill>
            <a:srgbClr val="f2c8ad"/>
          </a:solidFill>
          <a:ln w="6191">
            <a:solidFill>
              <a:srgbClr val="b7633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54" name="บ้านสามเรือน"/>
          <p:cNvSpPr/>
          <p:nvPr/>
        </p:nvSpPr>
        <p:spPr>
          <a:xfrm>
            <a:off x="5142600" y="4356720"/>
            <a:ext cx="51840" cy="50760"/>
          </a:xfrm>
          <a:custGeom>
            <a:avLst/>
            <a:gdLst/>
            <a:ahLst/>
            <a:rect l="l" t="t" r="r" b="b"/>
            <a:pathLst>
              <a:path w="52087" h="51155">
                <a:moveTo>
                  <a:pt x="30893" y="46471"/>
                </a:moveTo>
                <a:lnTo>
                  <a:pt x="35802" y="51155"/>
                </a:lnTo>
                <a:lnTo>
                  <a:pt x="39993" y="48320"/>
                </a:lnTo>
                <a:lnTo>
                  <a:pt x="42268" y="49922"/>
                </a:lnTo>
                <a:lnTo>
                  <a:pt x="44663" y="47580"/>
                </a:lnTo>
                <a:lnTo>
                  <a:pt x="41789" y="45115"/>
                </a:lnTo>
                <a:lnTo>
                  <a:pt x="43106" y="42033"/>
                </a:lnTo>
                <a:lnTo>
                  <a:pt x="52087" y="32419"/>
                </a:lnTo>
                <a:lnTo>
                  <a:pt x="48854" y="29707"/>
                </a:lnTo>
                <a:lnTo>
                  <a:pt x="51967" y="26748"/>
                </a:lnTo>
                <a:lnTo>
                  <a:pt x="46818" y="21695"/>
                </a:lnTo>
                <a:lnTo>
                  <a:pt x="49692" y="18366"/>
                </a:lnTo>
                <a:lnTo>
                  <a:pt x="28618" y="0"/>
                </a:lnTo>
                <a:lnTo>
                  <a:pt x="0" y="27611"/>
                </a:lnTo>
                <a:lnTo>
                  <a:pt x="19398" y="48566"/>
                </a:lnTo>
                <a:lnTo>
                  <a:pt x="24547" y="45238"/>
                </a:lnTo>
                <a:lnTo>
                  <a:pt x="25624" y="47580"/>
                </a:lnTo>
                <a:lnTo>
                  <a:pt x="30893" y="46471"/>
                </a:lnTo>
                <a:close/>
              </a:path>
            </a:pathLst>
          </a:custGeom>
          <a:solidFill>
            <a:srgbClr val="f2c8ad"/>
          </a:solidFill>
          <a:ln w="6191">
            <a:solidFill>
              <a:srgbClr val="b7633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55" name="จินดาบำรุงพัฒนา"/>
          <p:cNvSpPr/>
          <p:nvPr/>
        </p:nvSpPr>
        <p:spPr>
          <a:xfrm>
            <a:off x="6804720" y="4151160"/>
            <a:ext cx="37080" cy="30600"/>
          </a:xfrm>
          <a:custGeom>
            <a:avLst/>
            <a:gdLst/>
            <a:ahLst/>
            <a:rect l="l" t="t" r="r" b="b"/>
            <a:pathLst>
              <a:path w="37479" h="30939">
                <a:moveTo>
                  <a:pt x="0" y="5300"/>
                </a:moveTo>
                <a:lnTo>
                  <a:pt x="7783" y="21941"/>
                </a:lnTo>
                <a:lnTo>
                  <a:pt x="3951" y="30939"/>
                </a:lnTo>
                <a:lnTo>
                  <a:pt x="10417" y="29584"/>
                </a:lnTo>
                <a:lnTo>
                  <a:pt x="10417" y="25516"/>
                </a:lnTo>
                <a:lnTo>
                  <a:pt x="27061" y="23913"/>
                </a:lnTo>
                <a:lnTo>
                  <a:pt x="27181" y="16271"/>
                </a:lnTo>
                <a:lnTo>
                  <a:pt x="33767" y="14422"/>
                </a:lnTo>
                <a:lnTo>
                  <a:pt x="37479" y="4684"/>
                </a:lnTo>
                <a:lnTo>
                  <a:pt x="35323" y="247"/>
                </a:lnTo>
                <a:lnTo>
                  <a:pt x="33767" y="0"/>
                </a:lnTo>
                <a:lnTo>
                  <a:pt x="32210" y="12450"/>
                </a:lnTo>
                <a:lnTo>
                  <a:pt x="23469" y="13929"/>
                </a:lnTo>
                <a:lnTo>
                  <a:pt x="11615" y="8012"/>
                </a:lnTo>
                <a:lnTo>
                  <a:pt x="8142" y="4068"/>
                </a:lnTo>
                <a:lnTo>
                  <a:pt x="0" y="5300"/>
                </a:lnTo>
                <a:close/>
              </a:path>
            </a:pathLst>
          </a:custGeom>
          <a:solidFill>
            <a:srgbClr val="f2c8ad"/>
          </a:solidFill>
          <a:ln w="6191">
            <a:solidFill>
              <a:srgbClr val="b7633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56" name="ชุมชนริมคลองหัวหมากน้อย"/>
          <p:cNvSpPr/>
          <p:nvPr/>
        </p:nvSpPr>
        <p:spPr>
          <a:xfrm>
            <a:off x="6742440" y="5281200"/>
            <a:ext cx="59400" cy="43200"/>
          </a:xfrm>
          <a:custGeom>
            <a:avLst/>
            <a:gdLst/>
            <a:ahLst/>
            <a:rect l="l" t="t" r="r" b="b"/>
            <a:pathLst>
              <a:path w="59750" h="43636">
                <a:moveTo>
                  <a:pt x="53763" y="43636"/>
                </a:moveTo>
                <a:lnTo>
                  <a:pt x="59750" y="28474"/>
                </a:lnTo>
                <a:lnTo>
                  <a:pt x="54841" y="24530"/>
                </a:lnTo>
                <a:lnTo>
                  <a:pt x="46339" y="21325"/>
                </a:lnTo>
                <a:lnTo>
                  <a:pt x="50171" y="10847"/>
                </a:lnTo>
                <a:lnTo>
                  <a:pt x="24427" y="370"/>
                </a:lnTo>
                <a:lnTo>
                  <a:pt x="22990" y="0"/>
                </a:lnTo>
                <a:lnTo>
                  <a:pt x="17602" y="9491"/>
                </a:lnTo>
                <a:lnTo>
                  <a:pt x="9340" y="14299"/>
                </a:lnTo>
                <a:lnTo>
                  <a:pt x="0" y="22557"/>
                </a:lnTo>
                <a:lnTo>
                  <a:pt x="1676" y="24283"/>
                </a:lnTo>
                <a:lnTo>
                  <a:pt x="7544" y="21695"/>
                </a:lnTo>
                <a:lnTo>
                  <a:pt x="14608" y="32049"/>
                </a:lnTo>
                <a:lnTo>
                  <a:pt x="20116" y="33405"/>
                </a:lnTo>
                <a:lnTo>
                  <a:pt x="23230" y="31309"/>
                </a:lnTo>
                <a:lnTo>
                  <a:pt x="53763" y="43636"/>
                </a:lnTo>
                <a:close/>
              </a:path>
            </a:pathLst>
          </a:custGeom>
          <a:solidFill>
            <a:srgbClr val="f2c8ad"/>
          </a:solidFill>
          <a:ln w="6191">
            <a:solidFill>
              <a:srgbClr val="b7633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57" name="สาหร่ายทองคำ"/>
          <p:cNvSpPr/>
          <p:nvPr/>
        </p:nvSpPr>
        <p:spPr>
          <a:xfrm>
            <a:off x="6306120" y="5985000"/>
            <a:ext cx="25200" cy="38880"/>
          </a:xfrm>
          <a:custGeom>
            <a:avLst/>
            <a:gdLst/>
            <a:ahLst/>
            <a:rect l="l" t="t" r="r" b="b"/>
            <a:pathLst>
              <a:path w="25385" h="39198">
                <a:moveTo>
                  <a:pt x="15327" y="39198"/>
                </a:moveTo>
                <a:lnTo>
                  <a:pt x="25385" y="35500"/>
                </a:lnTo>
                <a:lnTo>
                  <a:pt x="24068" y="31802"/>
                </a:lnTo>
                <a:lnTo>
                  <a:pt x="9819" y="0"/>
                </a:lnTo>
                <a:lnTo>
                  <a:pt x="0" y="2342"/>
                </a:lnTo>
                <a:lnTo>
                  <a:pt x="12932" y="37226"/>
                </a:lnTo>
                <a:lnTo>
                  <a:pt x="14010" y="36733"/>
                </a:lnTo>
                <a:lnTo>
                  <a:pt x="15327" y="39198"/>
                </a:lnTo>
                <a:close/>
              </a:path>
            </a:pathLst>
          </a:custGeom>
          <a:solidFill>
            <a:srgbClr val="f2c8ad"/>
          </a:solidFill>
          <a:ln w="6191">
            <a:solidFill>
              <a:srgbClr val="b7633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58" name="ซอยรามอินทรา 83,85"/>
          <p:cNvSpPr/>
          <p:nvPr/>
        </p:nvSpPr>
        <p:spPr>
          <a:xfrm>
            <a:off x="6909120" y="4255920"/>
            <a:ext cx="64080" cy="93240"/>
          </a:xfrm>
          <a:custGeom>
            <a:avLst/>
            <a:gdLst/>
            <a:ahLst/>
            <a:rect l="l" t="t" r="r" b="b"/>
            <a:pathLst>
              <a:path w="64540" h="93435">
                <a:moveTo>
                  <a:pt x="30773" y="65330"/>
                </a:moveTo>
                <a:lnTo>
                  <a:pt x="9699" y="83204"/>
                </a:lnTo>
                <a:lnTo>
                  <a:pt x="10777" y="84929"/>
                </a:lnTo>
                <a:lnTo>
                  <a:pt x="5269" y="89244"/>
                </a:lnTo>
                <a:lnTo>
                  <a:pt x="3472" y="87764"/>
                </a:lnTo>
                <a:lnTo>
                  <a:pt x="0" y="91093"/>
                </a:lnTo>
                <a:lnTo>
                  <a:pt x="2634" y="93435"/>
                </a:lnTo>
                <a:lnTo>
                  <a:pt x="7783" y="89120"/>
                </a:lnTo>
                <a:lnTo>
                  <a:pt x="11735" y="92818"/>
                </a:lnTo>
                <a:lnTo>
                  <a:pt x="21912" y="85422"/>
                </a:lnTo>
                <a:lnTo>
                  <a:pt x="24307" y="87395"/>
                </a:lnTo>
                <a:lnTo>
                  <a:pt x="64540" y="51401"/>
                </a:lnTo>
                <a:lnTo>
                  <a:pt x="56278" y="7149"/>
                </a:lnTo>
                <a:lnTo>
                  <a:pt x="56278" y="740"/>
                </a:lnTo>
                <a:lnTo>
                  <a:pt x="53524" y="0"/>
                </a:lnTo>
                <a:lnTo>
                  <a:pt x="31971" y="18490"/>
                </a:lnTo>
                <a:lnTo>
                  <a:pt x="55320" y="44375"/>
                </a:lnTo>
                <a:lnTo>
                  <a:pt x="30773" y="65330"/>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59" name="หมู่ 11 สะพานสูง (เกาะดอน)"/>
          <p:cNvSpPr/>
          <p:nvPr/>
        </p:nvSpPr>
        <p:spPr>
          <a:xfrm>
            <a:off x="7082280" y="5135760"/>
            <a:ext cx="41040" cy="45000"/>
          </a:xfrm>
          <a:custGeom>
            <a:avLst/>
            <a:gdLst/>
            <a:ahLst/>
            <a:rect l="l" t="t" r="r" b="b"/>
            <a:pathLst>
              <a:path w="41430" h="45238">
                <a:moveTo>
                  <a:pt x="26223" y="25023"/>
                </a:moveTo>
                <a:lnTo>
                  <a:pt x="24547" y="20092"/>
                </a:lnTo>
                <a:lnTo>
                  <a:pt x="41430" y="14052"/>
                </a:lnTo>
                <a:lnTo>
                  <a:pt x="36521" y="0"/>
                </a:lnTo>
                <a:lnTo>
                  <a:pt x="20356" y="4807"/>
                </a:lnTo>
                <a:lnTo>
                  <a:pt x="17721" y="370"/>
                </a:lnTo>
                <a:lnTo>
                  <a:pt x="3472" y="10477"/>
                </a:lnTo>
                <a:lnTo>
                  <a:pt x="6825" y="17011"/>
                </a:lnTo>
                <a:lnTo>
                  <a:pt x="0" y="18983"/>
                </a:lnTo>
                <a:lnTo>
                  <a:pt x="1437" y="28228"/>
                </a:lnTo>
                <a:lnTo>
                  <a:pt x="4071" y="27981"/>
                </a:lnTo>
                <a:lnTo>
                  <a:pt x="6586" y="33651"/>
                </a:lnTo>
                <a:lnTo>
                  <a:pt x="10777" y="34021"/>
                </a:lnTo>
                <a:lnTo>
                  <a:pt x="15806" y="45238"/>
                </a:lnTo>
                <a:lnTo>
                  <a:pt x="24906" y="41170"/>
                </a:lnTo>
                <a:lnTo>
                  <a:pt x="31492" y="40061"/>
                </a:lnTo>
                <a:lnTo>
                  <a:pt x="26223" y="25023"/>
                </a:lnTo>
                <a:close/>
              </a:path>
            </a:pathLst>
          </a:custGeom>
          <a:solidFill>
            <a:srgbClr val="f2c8ad"/>
          </a:solidFill>
          <a:ln w="6191">
            <a:solidFill>
              <a:srgbClr val="b7633d"/>
            </a:solidFill>
            <a:round/>
          </a:ln>
        </p:spPr>
        <p:style>
          <a:lnRef idx="0"/>
          <a:fillRef idx="0"/>
          <a:effectRef idx="0"/>
          <a:fontRef idx="minor"/>
        </p:style>
        <p:txBody>
          <a:bodyPr lIns="90000" rIns="90000" tIns="0" bIns="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60" name="มัสยิดย่ามีลุ้ลอิบาดะห์ (ลาดบัวขาว)"/>
          <p:cNvSpPr/>
          <p:nvPr/>
        </p:nvSpPr>
        <p:spPr>
          <a:xfrm>
            <a:off x="7428600" y="5128200"/>
            <a:ext cx="51480" cy="21600"/>
          </a:xfrm>
          <a:custGeom>
            <a:avLst/>
            <a:gdLst/>
            <a:ahLst/>
            <a:rect l="l" t="t" r="r" b="b"/>
            <a:pathLst>
              <a:path w="51967" h="22064">
                <a:moveTo>
                  <a:pt x="40472" y="18490"/>
                </a:moveTo>
                <a:lnTo>
                  <a:pt x="46220" y="22064"/>
                </a:lnTo>
                <a:lnTo>
                  <a:pt x="51967" y="12943"/>
                </a:lnTo>
                <a:lnTo>
                  <a:pt x="28259" y="5424"/>
                </a:lnTo>
                <a:lnTo>
                  <a:pt x="2515" y="0"/>
                </a:lnTo>
                <a:lnTo>
                  <a:pt x="0" y="9615"/>
                </a:lnTo>
                <a:lnTo>
                  <a:pt x="40472" y="18490"/>
                </a:lnTo>
                <a:close/>
              </a:path>
            </a:pathLst>
          </a:custGeom>
          <a:solidFill>
            <a:srgbClr val="f2c8ad"/>
          </a:solidFill>
          <a:ln w="6191">
            <a:solidFill>
              <a:srgbClr val="b7633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61" name="วังหนับอุทิศ"/>
          <p:cNvSpPr/>
          <p:nvPr/>
        </p:nvSpPr>
        <p:spPr>
          <a:xfrm>
            <a:off x="7244640" y="5134320"/>
            <a:ext cx="38880" cy="21600"/>
          </a:xfrm>
          <a:custGeom>
            <a:avLst/>
            <a:gdLst/>
            <a:ahLst/>
            <a:rect l="l" t="t" r="r" b="b"/>
            <a:pathLst>
              <a:path w="39275" h="22064">
                <a:moveTo>
                  <a:pt x="27061" y="10971"/>
                </a:moveTo>
                <a:lnTo>
                  <a:pt x="20116" y="11587"/>
                </a:lnTo>
                <a:lnTo>
                  <a:pt x="19997" y="9491"/>
                </a:lnTo>
                <a:lnTo>
                  <a:pt x="1916" y="9491"/>
                </a:lnTo>
                <a:lnTo>
                  <a:pt x="0" y="10108"/>
                </a:lnTo>
                <a:lnTo>
                  <a:pt x="0" y="12080"/>
                </a:lnTo>
                <a:lnTo>
                  <a:pt x="7304" y="22064"/>
                </a:lnTo>
                <a:lnTo>
                  <a:pt x="30414" y="21202"/>
                </a:lnTo>
                <a:lnTo>
                  <a:pt x="31851" y="18243"/>
                </a:lnTo>
                <a:lnTo>
                  <a:pt x="36880" y="18613"/>
                </a:lnTo>
                <a:lnTo>
                  <a:pt x="39275" y="1233"/>
                </a:lnTo>
                <a:lnTo>
                  <a:pt x="36042" y="0"/>
                </a:lnTo>
                <a:lnTo>
                  <a:pt x="30174" y="1479"/>
                </a:lnTo>
                <a:lnTo>
                  <a:pt x="31013" y="10477"/>
                </a:lnTo>
                <a:lnTo>
                  <a:pt x="27061" y="10971"/>
                </a:lnTo>
                <a:close/>
              </a:path>
            </a:pathLst>
          </a:custGeom>
          <a:solidFill>
            <a:srgbClr val="f2c8ad"/>
          </a:solidFill>
          <a:ln w="6191">
            <a:solidFill>
              <a:srgbClr val="b7633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62" name="ข้างธนาคารอาคารสงเคราะห์"/>
          <p:cNvSpPr/>
          <p:nvPr/>
        </p:nvSpPr>
        <p:spPr>
          <a:xfrm>
            <a:off x="5035320" y="4536000"/>
            <a:ext cx="16920" cy="15480"/>
          </a:xfrm>
          <a:custGeom>
            <a:avLst/>
            <a:gdLst/>
            <a:ahLst/>
            <a:rect l="l" t="t" r="r" b="b"/>
            <a:pathLst>
              <a:path w="17362" h="15901">
                <a:moveTo>
                  <a:pt x="14728" y="0"/>
                </a:moveTo>
                <a:lnTo>
                  <a:pt x="5987" y="10971"/>
                </a:lnTo>
                <a:lnTo>
                  <a:pt x="0" y="14915"/>
                </a:lnTo>
                <a:lnTo>
                  <a:pt x="4191" y="15901"/>
                </a:lnTo>
                <a:lnTo>
                  <a:pt x="17362" y="4931"/>
                </a:lnTo>
                <a:lnTo>
                  <a:pt x="14728" y="0"/>
                </a:lnTo>
                <a:close/>
              </a:path>
            </a:pathLst>
          </a:custGeom>
          <a:solidFill>
            <a:srgbClr val="f2c8ad"/>
          </a:solidFill>
          <a:ln w="6191">
            <a:solidFill>
              <a:srgbClr val="b7633d"/>
            </a:solidFill>
            <a:round/>
          </a:ln>
        </p:spPr>
        <p:style>
          <a:lnRef idx="0"/>
          <a:fillRef idx="0"/>
          <a:effectRef idx="0"/>
          <a:fontRef idx="minor"/>
        </p:style>
        <p:txBody>
          <a:bodyPr lIns="90000" rIns="90000" tIns="-29520" bIns="-29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63" name="จันทร์ร่ำรวย"/>
          <p:cNvSpPr/>
          <p:nvPr/>
        </p:nvSpPr>
        <p:spPr>
          <a:xfrm>
            <a:off x="5167080" y="5897520"/>
            <a:ext cx="11160" cy="9000"/>
          </a:xfrm>
          <a:custGeom>
            <a:avLst/>
            <a:gdLst/>
            <a:ahLst/>
            <a:rect l="l" t="t" r="r" b="b"/>
            <a:pathLst>
              <a:path w="11375" h="9245">
                <a:moveTo>
                  <a:pt x="11375" y="2465"/>
                </a:moveTo>
                <a:lnTo>
                  <a:pt x="2155" y="0"/>
                </a:lnTo>
                <a:lnTo>
                  <a:pt x="0" y="9245"/>
                </a:lnTo>
                <a:lnTo>
                  <a:pt x="3592" y="8629"/>
                </a:lnTo>
                <a:lnTo>
                  <a:pt x="5388" y="5547"/>
                </a:lnTo>
                <a:lnTo>
                  <a:pt x="10178" y="7026"/>
                </a:lnTo>
                <a:lnTo>
                  <a:pt x="11375" y="2465"/>
                </a:lnTo>
                <a:close/>
              </a:path>
            </a:pathLst>
          </a:custGeom>
          <a:solidFill>
            <a:srgbClr val="f2c8ad"/>
          </a:solidFill>
          <a:ln w="6191">
            <a:solidFill>
              <a:srgbClr val="b7633d"/>
            </a:solidFill>
            <a:round/>
          </a:ln>
        </p:spPr>
        <p:style>
          <a:lnRef idx="0"/>
          <a:fillRef idx="0"/>
          <a:effectRef idx="0"/>
          <a:fontRef idx="minor"/>
        </p:style>
        <p:txBody>
          <a:bodyPr lIns="90000" rIns="90000" tIns="-36000" bIns="-36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64" name="ซาอาดะห์"/>
          <p:cNvSpPr/>
          <p:nvPr/>
        </p:nvSpPr>
        <p:spPr>
          <a:xfrm>
            <a:off x="7161480" y="5521320"/>
            <a:ext cx="29520" cy="13680"/>
          </a:xfrm>
          <a:custGeom>
            <a:avLst/>
            <a:gdLst/>
            <a:ahLst/>
            <a:rect l="l" t="t" r="r" b="b"/>
            <a:pathLst>
              <a:path w="29935" h="14052">
                <a:moveTo>
                  <a:pt x="28977" y="4438"/>
                </a:moveTo>
                <a:lnTo>
                  <a:pt x="8023" y="0"/>
                </a:lnTo>
                <a:lnTo>
                  <a:pt x="0" y="9368"/>
                </a:lnTo>
                <a:lnTo>
                  <a:pt x="28259" y="14052"/>
                </a:lnTo>
                <a:lnTo>
                  <a:pt x="29935" y="4314"/>
                </a:lnTo>
                <a:lnTo>
                  <a:pt x="28977" y="4438"/>
                </a:lnTo>
                <a:close/>
              </a:path>
            </a:pathLst>
          </a:custGeom>
          <a:solidFill>
            <a:srgbClr val="f2c8ad"/>
          </a:solidFill>
          <a:ln w="6191">
            <a:solidFill>
              <a:srgbClr val="b7633d"/>
            </a:solidFill>
            <a:round/>
          </a:ln>
        </p:spPr>
        <p:style>
          <a:lnRef idx="0"/>
          <a:fillRef idx="0"/>
          <a:effectRef idx="0"/>
          <a:fontRef idx="minor"/>
        </p:style>
        <p:txBody>
          <a:bodyPr lIns="90000" rIns="90000" tIns="-31320" bIns="-31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65" name="ริมคลองพระยาราชมนตรี"/>
          <p:cNvSpPr/>
          <p:nvPr/>
        </p:nvSpPr>
        <p:spPr>
          <a:xfrm>
            <a:off x="4045320" y="6170400"/>
            <a:ext cx="14040" cy="27000"/>
          </a:xfrm>
          <a:custGeom>
            <a:avLst/>
            <a:gdLst/>
            <a:ahLst/>
            <a:rect l="l" t="t" r="r" b="b"/>
            <a:pathLst>
              <a:path w="14369" h="27365">
                <a:moveTo>
                  <a:pt x="5149" y="0"/>
                </a:moveTo>
                <a:lnTo>
                  <a:pt x="0" y="1849"/>
                </a:lnTo>
                <a:lnTo>
                  <a:pt x="3592" y="27365"/>
                </a:lnTo>
                <a:lnTo>
                  <a:pt x="14369" y="22188"/>
                </a:lnTo>
                <a:lnTo>
                  <a:pt x="11375" y="12696"/>
                </a:lnTo>
                <a:lnTo>
                  <a:pt x="9340" y="12080"/>
                </a:lnTo>
                <a:lnTo>
                  <a:pt x="7424" y="6163"/>
                </a:lnTo>
                <a:lnTo>
                  <a:pt x="8861" y="5917"/>
                </a:lnTo>
                <a:lnTo>
                  <a:pt x="8023" y="3575"/>
                </a:lnTo>
                <a:lnTo>
                  <a:pt x="6705" y="3821"/>
                </a:lnTo>
                <a:lnTo>
                  <a:pt x="5149" y="0"/>
                </a:lnTo>
                <a:close/>
              </a:path>
            </a:pathLst>
          </a:custGeom>
          <a:solidFill>
            <a:srgbClr val="f2c8ad"/>
          </a:solidFill>
          <a:ln w="6191">
            <a:solidFill>
              <a:srgbClr val="b7633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66" name="คลองบางพรานพัฒนา"/>
          <p:cNvSpPr/>
          <p:nvPr/>
        </p:nvSpPr>
        <p:spPr>
          <a:xfrm>
            <a:off x="4147200" y="6170040"/>
            <a:ext cx="18360" cy="20160"/>
          </a:xfrm>
          <a:custGeom>
            <a:avLst/>
            <a:gdLst/>
            <a:ahLst/>
            <a:rect l="l" t="t" r="r" b="b"/>
            <a:pathLst>
              <a:path w="18560" h="20585">
                <a:moveTo>
                  <a:pt x="0" y="2835"/>
                </a:moveTo>
                <a:lnTo>
                  <a:pt x="13171" y="20585"/>
                </a:lnTo>
                <a:lnTo>
                  <a:pt x="18560" y="17380"/>
                </a:lnTo>
                <a:lnTo>
                  <a:pt x="6586" y="0"/>
                </a:lnTo>
                <a:lnTo>
                  <a:pt x="0" y="2835"/>
                </a:lnTo>
                <a:close/>
              </a:path>
            </a:pathLst>
          </a:custGeom>
          <a:solidFill>
            <a:srgbClr val="f2c8ad"/>
          </a:solidFill>
          <a:ln w="6191">
            <a:solidFill>
              <a:srgbClr val="b7633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67" name="คลองบางพรานพัฒนา"/>
          <p:cNvSpPr/>
          <p:nvPr/>
        </p:nvSpPr>
        <p:spPr>
          <a:xfrm>
            <a:off x="4163400" y="6179040"/>
            <a:ext cx="9720" cy="7920"/>
          </a:xfrm>
          <a:custGeom>
            <a:avLst/>
            <a:gdLst/>
            <a:ahLst/>
            <a:rect l="l" t="t" r="r" b="b"/>
            <a:pathLst>
              <a:path w="10178" h="8382">
                <a:moveTo>
                  <a:pt x="10178" y="4314"/>
                </a:moveTo>
                <a:lnTo>
                  <a:pt x="6466" y="0"/>
                </a:lnTo>
                <a:lnTo>
                  <a:pt x="0" y="3698"/>
                </a:lnTo>
                <a:lnTo>
                  <a:pt x="3353" y="8382"/>
                </a:lnTo>
                <a:lnTo>
                  <a:pt x="10178" y="4314"/>
                </a:lnTo>
                <a:close/>
              </a:path>
            </a:pathLst>
          </a:custGeom>
          <a:solidFill>
            <a:srgbClr val="f2c8ad"/>
          </a:solidFill>
          <a:ln w="6191">
            <a:solidFill>
              <a:srgbClr val="b7633d"/>
            </a:solidFill>
            <a:round/>
          </a:ln>
        </p:spPr>
        <p:style>
          <a:lnRef idx="0"/>
          <a:fillRef idx="0"/>
          <a:effectRef idx="0"/>
          <a:fontRef idx="minor"/>
        </p:style>
        <p:txBody>
          <a:bodyPr lIns="90000" rIns="90000" tIns="-37080" bIns="-37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68" name="คลองบางพรานพัฒนา"/>
          <p:cNvSpPr/>
          <p:nvPr/>
        </p:nvSpPr>
        <p:spPr>
          <a:xfrm>
            <a:off x="4139280" y="6175080"/>
            <a:ext cx="4680" cy="3960"/>
          </a:xfrm>
          <a:custGeom>
            <a:avLst/>
            <a:gdLst/>
            <a:ahLst/>
            <a:rect l="l" t="t" r="r" b="b"/>
            <a:pathLst>
              <a:path w="5029" h="4314">
                <a:moveTo>
                  <a:pt x="958" y="4314"/>
                </a:moveTo>
                <a:lnTo>
                  <a:pt x="5029" y="0"/>
                </a:lnTo>
                <a:lnTo>
                  <a:pt x="0" y="3205"/>
                </a:lnTo>
                <a:lnTo>
                  <a:pt x="958" y="4314"/>
                </a:lnTo>
                <a:close/>
              </a:path>
            </a:pathLst>
          </a:custGeom>
          <a:solidFill>
            <a:srgbClr val="f2c8ad"/>
          </a:solidFill>
          <a:ln w="6191">
            <a:solidFill>
              <a:srgbClr val="b7633d"/>
            </a:solidFill>
            <a:round/>
          </a:ln>
        </p:spPr>
        <p:style>
          <a:lnRef idx="0"/>
          <a:fillRef idx="0"/>
          <a:effectRef idx="0"/>
          <a:fontRef idx="minor"/>
        </p:style>
        <p:txBody>
          <a:bodyPr lIns="90000" rIns="90000" tIns="-41040" bIns="-41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69" name="เชลียง 5"/>
          <p:cNvSpPr/>
          <p:nvPr/>
        </p:nvSpPr>
        <p:spPr>
          <a:xfrm>
            <a:off x="6486480" y="6207840"/>
            <a:ext cx="29880" cy="26640"/>
          </a:xfrm>
          <a:custGeom>
            <a:avLst/>
            <a:gdLst/>
            <a:ahLst/>
            <a:rect l="l" t="t" r="r" b="b"/>
            <a:pathLst>
              <a:path w="30174" h="27118">
                <a:moveTo>
                  <a:pt x="4550" y="13189"/>
                </a:moveTo>
                <a:lnTo>
                  <a:pt x="0" y="16764"/>
                </a:lnTo>
                <a:lnTo>
                  <a:pt x="4550" y="20708"/>
                </a:lnTo>
                <a:lnTo>
                  <a:pt x="8142" y="15901"/>
                </a:lnTo>
                <a:lnTo>
                  <a:pt x="21433" y="27118"/>
                </a:lnTo>
                <a:lnTo>
                  <a:pt x="27540" y="18243"/>
                </a:lnTo>
                <a:lnTo>
                  <a:pt x="30174" y="17257"/>
                </a:lnTo>
                <a:lnTo>
                  <a:pt x="27660" y="5793"/>
                </a:lnTo>
                <a:lnTo>
                  <a:pt x="29815" y="4561"/>
                </a:lnTo>
                <a:lnTo>
                  <a:pt x="28857" y="1726"/>
                </a:lnTo>
                <a:lnTo>
                  <a:pt x="27301" y="2096"/>
                </a:lnTo>
                <a:lnTo>
                  <a:pt x="26582" y="0"/>
                </a:lnTo>
                <a:lnTo>
                  <a:pt x="23948" y="740"/>
                </a:lnTo>
                <a:lnTo>
                  <a:pt x="24427" y="2465"/>
                </a:lnTo>
                <a:lnTo>
                  <a:pt x="12932" y="9738"/>
                </a:lnTo>
                <a:lnTo>
                  <a:pt x="11974" y="7766"/>
                </a:lnTo>
                <a:lnTo>
                  <a:pt x="4550" y="13189"/>
                </a:lnTo>
                <a:close/>
              </a:path>
            </a:pathLst>
          </a:custGeom>
          <a:solidFill>
            <a:srgbClr val="f2c8ad"/>
          </a:solidFill>
          <a:ln w="6191">
            <a:solidFill>
              <a:srgbClr val="b7633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70" name="ซอยเปี่ยมสุข"/>
          <p:cNvSpPr/>
          <p:nvPr/>
        </p:nvSpPr>
        <p:spPr>
          <a:xfrm>
            <a:off x="6315840" y="5981760"/>
            <a:ext cx="21960" cy="38520"/>
          </a:xfrm>
          <a:custGeom>
            <a:avLst/>
            <a:gdLst/>
            <a:ahLst/>
            <a:rect l="l" t="t" r="r" b="b"/>
            <a:pathLst>
              <a:path w="22272" h="38705">
                <a:moveTo>
                  <a:pt x="9938" y="25639"/>
                </a:moveTo>
                <a:lnTo>
                  <a:pt x="16404" y="38705"/>
                </a:lnTo>
                <a:lnTo>
                  <a:pt x="22272" y="37596"/>
                </a:lnTo>
                <a:lnTo>
                  <a:pt x="8861" y="0"/>
                </a:lnTo>
                <a:lnTo>
                  <a:pt x="0" y="1479"/>
                </a:lnTo>
                <a:lnTo>
                  <a:pt x="9938" y="25639"/>
                </a:lnTo>
                <a:close/>
              </a:path>
            </a:pathLst>
          </a:custGeom>
          <a:solidFill>
            <a:srgbClr val="f2c8ad"/>
          </a:solidFill>
          <a:ln w="6191">
            <a:solidFill>
              <a:srgbClr val="b7633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71" name="หัวรถจักรตึกแดง เขต 3"/>
          <p:cNvSpPr/>
          <p:nvPr/>
        </p:nvSpPr>
        <p:spPr>
          <a:xfrm>
            <a:off x="5404320" y="4576680"/>
            <a:ext cx="23040" cy="15120"/>
          </a:xfrm>
          <a:custGeom>
            <a:avLst/>
            <a:gdLst/>
            <a:ahLst/>
            <a:rect l="l" t="t" r="r" b="b"/>
            <a:pathLst>
              <a:path w="23469" h="15531">
                <a:moveTo>
                  <a:pt x="0" y="13313"/>
                </a:moveTo>
                <a:lnTo>
                  <a:pt x="2275" y="12943"/>
                </a:lnTo>
                <a:lnTo>
                  <a:pt x="5029" y="15531"/>
                </a:lnTo>
                <a:lnTo>
                  <a:pt x="6586" y="12820"/>
                </a:lnTo>
                <a:lnTo>
                  <a:pt x="20835" y="11710"/>
                </a:lnTo>
                <a:lnTo>
                  <a:pt x="23469" y="0"/>
                </a:lnTo>
                <a:lnTo>
                  <a:pt x="8621" y="3698"/>
                </a:lnTo>
                <a:lnTo>
                  <a:pt x="5508" y="2589"/>
                </a:lnTo>
                <a:lnTo>
                  <a:pt x="0" y="13313"/>
                </a:lnTo>
                <a:close/>
              </a:path>
            </a:pathLst>
          </a:custGeom>
          <a:solidFill>
            <a:srgbClr val="f2c8ad"/>
          </a:solidFill>
          <a:ln w="6191">
            <a:solidFill>
              <a:srgbClr val="b7633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72" name="หัวรถจักรตึกแดง เขต 2"/>
          <p:cNvSpPr/>
          <p:nvPr/>
        </p:nvSpPr>
        <p:spPr>
          <a:xfrm>
            <a:off x="5409720" y="4568040"/>
            <a:ext cx="29880" cy="21960"/>
          </a:xfrm>
          <a:custGeom>
            <a:avLst/>
            <a:gdLst/>
            <a:ahLst/>
            <a:rect l="l" t="t" r="r" b="b"/>
            <a:pathLst>
              <a:path w="30294" h="22434">
                <a:moveTo>
                  <a:pt x="4670" y="3821"/>
                </a:moveTo>
                <a:lnTo>
                  <a:pt x="4430" y="2835"/>
                </a:lnTo>
                <a:lnTo>
                  <a:pt x="0" y="11340"/>
                </a:lnTo>
                <a:lnTo>
                  <a:pt x="3353" y="12326"/>
                </a:lnTo>
                <a:lnTo>
                  <a:pt x="17961" y="8752"/>
                </a:lnTo>
                <a:lnTo>
                  <a:pt x="15446" y="19722"/>
                </a:lnTo>
                <a:lnTo>
                  <a:pt x="22391" y="22434"/>
                </a:lnTo>
                <a:lnTo>
                  <a:pt x="30294" y="0"/>
                </a:lnTo>
                <a:lnTo>
                  <a:pt x="5748" y="5547"/>
                </a:lnTo>
                <a:lnTo>
                  <a:pt x="4670" y="3821"/>
                </a:lnTo>
                <a:close/>
              </a:path>
            </a:pathLst>
          </a:custGeom>
          <a:solidFill>
            <a:srgbClr val="f2c8ad"/>
          </a:solidFill>
          <a:ln w="6191">
            <a:solidFill>
              <a:srgbClr val="b7633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73" name="ชุมชนปู่เย็น ย่าคำ ยังอยู่"/>
          <p:cNvSpPr/>
          <p:nvPr/>
        </p:nvSpPr>
        <p:spPr>
          <a:xfrm>
            <a:off x="3507480" y="5934600"/>
            <a:ext cx="41760" cy="46440"/>
          </a:xfrm>
          <a:custGeom>
            <a:avLst/>
            <a:gdLst/>
            <a:ahLst/>
            <a:rect l="l" t="t" r="r" b="b"/>
            <a:pathLst>
              <a:path w="42268" h="46717">
                <a:moveTo>
                  <a:pt x="24187" y="123"/>
                </a:moveTo>
                <a:lnTo>
                  <a:pt x="15806" y="0"/>
                </a:lnTo>
                <a:lnTo>
                  <a:pt x="16045" y="8259"/>
                </a:lnTo>
                <a:lnTo>
                  <a:pt x="1916" y="10847"/>
                </a:lnTo>
                <a:lnTo>
                  <a:pt x="2993" y="16641"/>
                </a:lnTo>
                <a:lnTo>
                  <a:pt x="0" y="17257"/>
                </a:lnTo>
                <a:lnTo>
                  <a:pt x="5029" y="46717"/>
                </a:lnTo>
                <a:lnTo>
                  <a:pt x="42268" y="39568"/>
                </a:lnTo>
                <a:lnTo>
                  <a:pt x="40831" y="37719"/>
                </a:lnTo>
                <a:lnTo>
                  <a:pt x="35682" y="11833"/>
                </a:lnTo>
                <a:lnTo>
                  <a:pt x="25265" y="13682"/>
                </a:lnTo>
                <a:lnTo>
                  <a:pt x="24187" y="123"/>
                </a:lnTo>
                <a:close/>
              </a:path>
            </a:pathLst>
          </a:custGeom>
          <a:solidFill>
            <a:srgbClr val="f2c8ad"/>
          </a:solidFill>
          <a:ln w="6191">
            <a:solidFill>
              <a:srgbClr val="b7633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74" name="ชุมชนมีสุวรรณพัฒนา"/>
          <p:cNvSpPr/>
          <p:nvPr/>
        </p:nvSpPr>
        <p:spPr>
          <a:xfrm>
            <a:off x="3516840" y="6223320"/>
            <a:ext cx="70200" cy="38160"/>
          </a:xfrm>
          <a:custGeom>
            <a:avLst/>
            <a:gdLst/>
            <a:ahLst/>
            <a:rect l="l" t="t" r="r" b="b"/>
            <a:pathLst>
              <a:path w="70407" h="38582">
                <a:moveTo>
                  <a:pt x="66935" y="0"/>
                </a:moveTo>
                <a:lnTo>
                  <a:pt x="0" y="29707"/>
                </a:lnTo>
                <a:lnTo>
                  <a:pt x="3113" y="38582"/>
                </a:lnTo>
                <a:lnTo>
                  <a:pt x="11854" y="35747"/>
                </a:lnTo>
                <a:lnTo>
                  <a:pt x="10896" y="29460"/>
                </a:lnTo>
                <a:lnTo>
                  <a:pt x="23349" y="24160"/>
                </a:lnTo>
                <a:lnTo>
                  <a:pt x="22032" y="21325"/>
                </a:lnTo>
                <a:lnTo>
                  <a:pt x="46938" y="9491"/>
                </a:lnTo>
                <a:lnTo>
                  <a:pt x="54003" y="23790"/>
                </a:lnTo>
                <a:lnTo>
                  <a:pt x="63702" y="20955"/>
                </a:lnTo>
                <a:lnTo>
                  <a:pt x="61786" y="14545"/>
                </a:lnTo>
                <a:lnTo>
                  <a:pt x="70407" y="11094"/>
                </a:lnTo>
                <a:lnTo>
                  <a:pt x="66935" y="0"/>
                </a:lnTo>
                <a:close/>
              </a:path>
            </a:pathLst>
          </a:custGeom>
          <a:solidFill>
            <a:srgbClr val="f2c8ad"/>
          </a:solidFill>
          <a:ln w="6191">
            <a:solidFill>
              <a:srgbClr val="b7633d"/>
            </a:solidFill>
            <a:round/>
          </a:ln>
        </p:spPr>
        <p:style>
          <a:lnRef idx="0"/>
          <a:fillRef idx="0"/>
          <a:effectRef idx="0"/>
          <a:fontRef idx="minor"/>
        </p:style>
        <p:txBody>
          <a:bodyPr lIns="90000" rIns="90000" tIns="-6840" bIns="-6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75" name="พัฒนาใหม่"/>
          <p:cNvSpPr/>
          <p:nvPr/>
        </p:nvSpPr>
        <p:spPr>
          <a:xfrm>
            <a:off x="5670360" y="5788080"/>
            <a:ext cx="28080" cy="31320"/>
          </a:xfrm>
          <a:custGeom>
            <a:avLst/>
            <a:gdLst/>
            <a:ahLst/>
            <a:rect l="l" t="t" r="r" b="b"/>
            <a:pathLst>
              <a:path w="28618" h="31679">
                <a:moveTo>
                  <a:pt x="14369" y="12696"/>
                </a:moveTo>
                <a:lnTo>
                  <a:pt x="17003" y="5917"/>
                </a:lnTo>
                <a:lnTo>
                  <a:pt x="27780" y="10354"/>
                </a:lnTo>
                <a:lnTo>
                  <a:pt x="28618" y="8505"/>
                </a:lnTo>
                <a:lnTo>
                  <a:pt x="8741" y="0"/>
                </a:lnTo>
                <a:lnTo>
                  <a:pt x="0" y="24653"/>
                </a:lnTo>
                <a:lnTo>
                  <a:pt x="17602" y="31679"/>
                </a:lnTo>
                <a:lnTo>
                  <a:pt x="23828" y="17873"/>
                </a:lnTo>
                <a:lnTo>
                  <a:pt x="14369" y="12696"/>
                </a:lnTo>
                <a:close/>
              </a:path>
            </a:pathLst>
          </a:custGeom>
          <a:solidFill>
            <a:srgbClr val="f2c8ad"/>
          </a:solidFill>
          <a:ln w="6191">
            <a:solidFill>
              <a:srgbClr val="b7633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76" name="พัฒนาอาเซีย"/>
          <p:cNvSpPr/>
          <p:nvPr/>
        </p:nvSpPr>
        <p:spPr>
          <a:xfrm>
            <a:off x="5565600" y="5850360"/>
            <a:ext cx="6120" cy="32040"/>
          </a:xfrm>
          <a:custGeom>
            <a:avLst/>
            <a:gdLst/>
            <a:ahLst/>
            <a:rect l="l" t="t" r="r" b="b"/>
            <a:pathLst>
              <a:path w="6586" h="32542">
                <a:moveTo>
                  <a:pt x="479" y="6410"/>
                </a:moveTo>
                <a:lnTo>
                  <a:pt x="6586" y="32542"/>
                </a:lnTo>
                <a:lnTo>
                  <a:pt x="0" y="0"/>
                </a:lnTo>
                <a:lnTo>
                  <a:pt x="479" y="6410"/>
                </a:lnTo>
                <a:close/>
              </a:path>
            </a:pathLst>
          </a:custGeom>
          <a:solidFill>
            <a:srgbClr val="f2c8ad"/>
          </a:solidFill>
          <a:ln w="6191">
            <a:solidFill>
              <a:srgbClr val="b7633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77" name="ริมคลองวัดสะพาน"/>
          <p:cNvSpPr/>
          <p:nvPr/>
        </p:nvSpPr>
        <p:spPr>
          <a:xfrm>
            <a:off x="5901840" y="5935680"/>
            <a:ext cx="24480" cy="15840"/>
          </a:xfrm>
          <a:custGeom>
            <a:avLst/>
            <a:gdLst/>
            <a:ahLst/>
            <a:rect l="l" t="t" r="r" b="b"/>
            <a:pathLst>
              <a:path w="24906" h="16271">
                <a:moveTo>
                  <a:pt x="6226" y="6163"/>
                </a:moveTo>
                <a:lnTo>
                  <a:pt x="5149" y="6287"/>
                </a:lnTo>
                <a:lnTo>
                  <a:pt x="4670" y="0"/>
                </a:lnTo>
                <a:lnTo>
                  <a:pt x="0" y="1109"/>
                </a:lnTo>
                <a:lnTo>
                  <a:pt x="3472" y="16271"/>
                </a:lnTo>
                <a:lnTo>
                  <a:pt x="24906" y="9491"/>
                </a:lnTo>
                <a:lnTo>
                  <a:pt x="22751" y="2465"/>
                </a:lnTo>
                <a:lnTo>
                  <a:pt x="6226" y="6163"/>
                </a:lnTo>
                <a:close/>
              </a:path>
            </a:pathLst>
          </a:custGeom>
          <a:solidFill>
            <a:srgbClr val="f2c8ad"/>
          </a:solidFill>
          <a:ln w="6191">
            <a:solidFill>
              <a:srgbClr val="b7633d"/>
            </a:solidFill>
            <a:round/>
          </a:ln>
        </p:spPr>
        <p:style>
          <a:lnRef idx="0"/>
          <a:fillRef idx="0"/>
          <a:effectRef idx="0"/>
          <a:fontRef idx="minor"/>
        </p:style>
        <p:txBody>
          <a:bodyPr lIns="90000" rIns="90000" tIns="-29160" bIns="-29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78" name="ริมคลองวัดสะพาน"/>
          <p:cNvSpPr/>
          <p:nvPr/>
        </p:nvSpPr>
        <p:spPr>
          <a:xfrm>
            <a:off x="5950440" y="5925240"/>
            <a:ext cx="9720" cy="14760"/>
          </a:xfrm>
          <a:custGeom>
            <a:avLst/>
            <a:gdLst/>
            <a:ahLst/>
            <a:rect l="l" t="t" r="r" b="b"/>
            <a:pathLst>
              <a:path w="10058" h="15285">
                <a:moveTo>
                  <a:pt x="6107" y="2589"/>
                </a:moveTo>
                <a:lnTo>
                  <a:pt x="4191" y="0"/>
                </a:lnTo>
                <a:lnTo>
                  <a:pt x="0" y="2465"/>
                </a:lnTo>
                <a:lnTo>
                  <a:pt x="3233" y="15285"/>
                </a:lnTo>
                <a:lnTo>
                  <a:pt x="7783" y="14422"/>
                </a:lnTo>
                <a:lnTo>
                  <a:pt x="9699" y="11094"/>
                </a:lnTo>
                <a:lnTo>
                  <a:pt x="10058" y="7766"/>
                </a:lnTo>
                <a:lnTo>
                  <a:pt x="6107" y="2589"/>
                </a:lnTo>
                <a:close/>
              </a:path>
            </a:pathLst>
          </a:custGeom>
          <a:solidFill>
            <a:srgbClr val="f2c8ad"/>
          </a:solidFill>
          <a:ln w="6191">
            <a:solidFill>
              <a:srgbClr val="b7633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79" name="ริมคลองสามัคคี"/>
          <p:cNvSpPr/>
          <p:nvPr/>
        </p:nvSpPr>
        <p:spPr>
          <a:xfrm>
            <a:off x="5701680" y="5797800"/>
            <a:ext cx="45360" cy="18360"/>
          </a:xfrm>
          <a:custGeom>
            <a:avLst/>
            <a:gdLst/>
            <a:ahLst/>
            <a:rect l="l" t="t" r="r" b="b"/>
            <a:pathLst>
              <a:path w="45621" h="18613">
                <a:moveTo>
                  <a:pt x="9579" y="5793"/>
                </a:moveTo>
                <a:lnTo>
                  <a:pt x="40472" y="18613"/>
                </a:lnTo>
                <a:lnTo>
                  <a:pt x="45621" y="18490"/>
                </a:lnTo>
                <a:lnTo>
                  <a:pt x="0" y="0"/>
                </a:lnTo>
                <a:lnTo>
                  <a:pt x="9938" y="4807"/>
                </a:lnTo>
                <a:lnTo>
                  <a:pt x="9579" y="5793"/>
                </a:lnTo>
                <a:close/>
              </a:path>
            </a:pathLst>
          </a:custGeom>
          <a:solidFill>
            <a:srgbClr val="f2c8ad"/>
          </a:solidFill>
          <a:ln w="6191">
            <a:solidFill>
              <a:srgbClr val="b7633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80" name="ริมทางรถไฟสายท่าเรือ"/>
          <p:cNvSpPr/>
          <p:nvPr/>
        </p:nvSpPr>
        <p:spPr>
          <a:xfrm>
            <a:off x="5544360" y="5741640"/>
            <a:ext cx="30600" cy="48600"/>
          </a:xfrm>
          <a:custGeom>
            <a:avLst/>
            <a:gdLst/>
            <a:ahLst/>
            <a:rect l="l" t="t" r="r" b="b"/>
            <a:pathLst>
              <a:path w="31132" h="48813">
                <a:moveTo>
                  <a:pt x="0" y="370"/>
                </a:moveTo>
                <a:lnTo>
                  <a:pt x="1437" y="16887"/>
                </a:lnTo>
                <a:lnTo>
                  <a:pt x="2515" y="16887"/>
                </a:lnTo>
                <a:lnTo>
                  <a:pt x="4430" y="29707"/>
                </a:lnTo>
                <a:lnTo>
                  <a:pt x="5987" y="29707"/>
                </a:lnTo>
                <a:lnTo>
                  <a:pt x="7903" y="35747"/>
                </a:lnTo>
                <a:lnTo>
                  <a:pt x="9220" y="37103"/>
                </a:lnTo>
                <a:lnTo>
                  <a:pt x="12453" y="34021"/>
                </a:lnTo>
                <a:lnTo>
                  <a:pt x="16285" y="40184"/>
                </a:lnTo>
                <a:lnTo>
                  <a:pt x="15806" y="42526"/>
                </a:lnTo>
                <a:lnTo>
                  <a:pt x="24068" y="48566"/>
                </a:lnTo>
                <a:lnTo>
                  <a:pt x="26941" y="46594"/>
                </a:lnTo>
                <a:lnTo>
                  <a:pt x="30534" y="48813"/>
                </a:lnTo>
                <a:lnTo>
                  <a:pt x="31132" y="47334"/>
                </a:lnTo>
                <a:lnTo>
                  <a:pt x="15207" y="29584"/>
                </a:lnTo>
                <a:lnTo>
                  <a:pt x="8502" y="18120"/>
                </a:lnTo>
                <a:lnTo>
                  <a:pt x="2036" y="0"/>
                </a:lnTo>
                <a:lnTo>
                  <a:pt x="0" y="370"/>
                </a:lnTo>
                <a:close/>
              </a:path>
            </a:pathLst>
          </a:custGeom>
          <a:solidFill>
            <a:srgbClr val="f2c8ad"/>
          </a:solidFill>
          <a:ln w="6191">
            <a:solidFill>
              <a:srgbClr val="b7633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81" name="โรงหมู"/>
          <p:cNvSpPr/>
          <p:nvPr/>
        </p:nvSpPr>
        <p:spPr>
          <a:xfrm>
            <a:off x="5887080" y="5880600"/>
            <a:ext cx="66960" cy="55080"/>
          </a:xfrm>
          <a:custGeom>
            <a:avLst/>
            <a:gdLst/>
            <a:ahLst/>
            <a:rect l="l" t="t" r="r" b="b"/>
            <a:pathLst>
              <a:path w="67414" h="55469">
                <a:moveTo>
                  <a:pt x="13531" y="50908"/>
                </a:moveTo>
                <a:lnTo>
                  <a:pt x="14848" y="55469"/>
                </a:lnTo>
                <a:lnTo>
                  <a:pt x="62504" y="44745"/>
                </a:lnTo>
                <a:lnTo>
                  <a:pt x="63582" y="47087"/>
                </a:lnTo>
                <a:lnTo>
                  <a:pt x="64899" y="46964"/>
                </a:lnTo>
                <a:lnTo>
                  <a:pt x="67414" y="44622"/>
                </a:lnTo>
                <a:lnTo>
                  <a:pt x="58194" y="33405"/>
                </a:lnTo>
                <a:lnTo>
                  <a:pt x="1437" y="0"/>
                </a:lnTo>
                <a:lnTo>
                  <a:pt x="0" y="1602"/>
                </a:lnTo>
                <a:lnTo>
                  <a:pt x="4909" y="10108"/>
                </a:lnTo>
                <a:lnTo>
                  <a:pt x="9579" y="31063"/>
                </a:lnTo>
                <a:lnTo>
                  <a:pt x="11615" y="30570"/>
                </a:lnTo>
                <a:lnTo>
                  <a:pt x="12692" y="35870"/>
                </a:lnTo>
                <a:lnTo>
                  <a:pt x="17841" y="34268"/>
                </a:lnTo>
                <a:lnTo>
                  <a:pt x="19637" y="42157"/>
                </a:lnTo>
                <a:lnTo>
                  <a:pt x="17362" y="43636"/>
                </a:lnTo>
                <a:lnTo>
                  <a:pt x="14369" y="41294"/>
                </a:lnTo>
                <a:lnTo>
                  <a:pt x="11974" y="42526"/>
                </a:lnTo>
                <a:lnTo>
                  <a:pt x="13531" y="50908"/>
                </a:lnTo>
                <a:close/>
              </a:path>
            </a:pathLst>
          </a:custGeom>
          <a:solidFill>
            <a:srgbClr val="f2c8ad"/>
          </a:solidFill>
          <a:ln w="6191">
            <a:solidFill>
              <a:srgbClr val="b7633d"/>
            </a:solidFill>
            <a:round/>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82" name="วัดคลองเตยใน 1"/>
          <p:cNvSpPr/>
          <p:nvPr/>
        </p:nvSpPr>
        <p:spPr>
          <a:xfrm>
            <a:off x="5642640" y="5853600"/>
            <a:ext cx="12960" cy="17640"/>
          </a:xfrm>
          <a:custGeom>
            <a:avLst/>
            <a:gdLst/>
            <a:ahLst/>
            <a:rect l="l" t="t" r="r" b="b"/>
            <a:pathLst>
              <a:path w="13291" h="17997">
                <a:moveTo>
                  <a:pt x="718" y="4068"/>
                </a:moveTo>
                <a:lnTo>
                  <a:pt x="0" y="4807"/>
                </a:lnTo>
                <a:lnTo>
                  <a:pt x="4790" y="9122"/>
                </a:lnTo>
                <a:lnTo>
                  <a:pt x="3832" y="11587"/>
                </a:lnTo>
                <a:lnTo>
                  <a:pt x="5748" y="11710"/>
                </a:lnTo>
                <a:lnTo>
                  <a:pt x="5867" y="17997"/>
                </a:lnTo>
                <a:lnTo>
                  <a:pt x="13291" y="15531"/>
                </a:lnTo>
                <a:lnTo>
                  <a:pt x="10417" y="9615"/>
                </a:lnTo>
                <a:lnTo>
                  <a:pt x="11974" y="8752"/>
                </a:lnTo>
                <a:lnTo>
                  <a:pt x="9819" y="3698"/>
                </a:lnTo>
                <a:lnTo>
                  <a:pt x="7544" y="3328"/>
                </a:lnTo>
                <a:lnTo>
                  <a:pt x="4790" y="0"/>
                </a:lnTo>
                <a:lnTo>
                  <a:pt x="718" y="4068"/>
                </a:lnTo>
                <a:close/>
              </a:path>
            </a:pathLst>
          </a:custGeom>
          <a:solidFill>
            <a:srgbClr val="f2c8ad"/>
          </a:solidFill>
          <a:ln w="6191">
            <a:solidFill>
              <a:srgbClr val="b7633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83" name="พัฒนาประชาอุทิศ"/>
          <p:cNvSpPr/>
          <p:nvPr/>
        </p:nvSpPr>
        <p:spPr>
          <a:xfrm>
            <a:off x="5928120" y="3235320"/>
            <a:ext cx="26640" cy="16920"/>
          </a:xfrm>
          <a:custGeom>
            <a:avLst/>
            <a:gdLst/>
            <a:ahLst/>
            <a:rect l="l" t="t" r="r" b="b"/>
            <a:pathLst>
              <a:path w="26941" h="17257">
                <a:moveTo>
                  <a:pt x="25145" y="17257"/>
                </a:moveTo>
                <a:lnTo>
                  <a:pt x="26941" y="6286"/>
                </a:lnTo>
                <a:lnTo>
                  <a:pt x="7065" y="2095"/>
                </a:lnTo>
                <a:lnTo>
                  <a:pt x="6226" y="493"/>
                </a:lnTo>
                <a:lnTo>
                  <a:pt x="3233" y="0"/>
                </a:lnTo>
                <a:lnTo>
                  <a:pt x="0" y="12573"/>
                </a:lnTo>
                <a:lnTo>
                  <a:pt x="25145" y="17257"/>
                </a:lnTo>
                <a:close/>
              </a:path>
            </a:pathLst>
          </a:custGeom>
          <a:solidFill>
            <a:srgbClr val="f2c8ad"/>
          </a:solidFill>
          <a:ln w="6191">
            <a:solidFill>
              <a:srgbClr val="b7633d"/>
            </a:solidFill>
            <a:round/>
          </a:ln>
        </p:spPr>
        <p:style>
          <a:lnRef idx="0"/>
          <a:fillRef idx="0"/>
          <a:effectRef idx="0"/>
          <a:fontRef idx="minor"/>
        </p:style>
        <p:txBody>
          <a:bodyPr lIns="90000" rIns="90000" tIns="-28080" bIns="-28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84" name="ประชากร 4"/>
          <p:cNvSpPr/>
          <p:nvPr/>
        </p:nvSpPr>
        <p:spPr>
          <a:xfrm>
            <a:off x="6035760" y="3326400"/>
            <a:ext cx="39240" cy="71640"/>
          </a:xfrm>
          <a:custGeom>
            <a:avLst/>
            <a:gdLst/>
            <a:ahLst/>
            <a:rect l="l" t="t" r="r" b="b"/>
            <a:pathLst>
              <a:path w="39514" h="71987">
                <a:moveTo>
                  <a:pt x="14608" y="49922"/>
                </a:moveTo>
                <a:lnTo>
                  <a:pt x="27181" y="28228"/>
                </a:lnTo>
                <a:lnTo>
                  <a:pt x="26103" y="25023"/>
                </a:lnTo>
                <a:lnTo>
                  <a:pt x="36880" y="7149"/>
                </a:lnTo>
                <a:lnTo>
                  <a:pt x="39514" y="863"/>
                </a:lnTo>
                <a:lnTo>
                  <a:pt x="38077" y="0"/>
                </a:lnTo>
                <a:lnTo>
                  <a:pt x="0" y="71124"/>
                </a:lnTo>
                <a:lnTo>
                  <a:pt x="1676" y="71987"/>
                </a:lnTo>
                <a:lnTo>
                  <a:pt x="14608" y="49922"/>
                </a:lnTo>
                <a:close/>
              </a:path>
            </a:pathLst>
          </a:custGeom>
          <a:solidFill>
            <a:srgbClr val="f2c8ad"/>
          </a:solidFill>
          <a:ln w="6191">
            <a:solidFill>
              <a:srgbClr val="b7633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85" name="ซอยสะพานร่วมใจ"/>
          <p:cNvSpPr/>
          <p:nvPr/>
        </p:nvSpPr>
        <p:spPr>
          <a:xfrm>
            <a:off x="6285960" y="3041640"/>
            <a:ext cx="12960" cy="45720"/>
          </a:xfrm>
          <a:custGeom>
            <a:avLst/>
            <a:gdLst/>
            <a:ahLst/>
            <a:rect l="l" t="t" r="r" b="b"/>
            <a:pathLst>
              <a:path w="13291" h="46101">
                <a:moveTo>
                  <a:pt x="8980" y="0"/>
                </a:moveTo>
                <a:lnTo>
                  <a:pt x="4311" y="1109"/>
                </a:lnTo>
                <a:lnTo>
                  <a:pt x="3832" y="3205"/>
                </a:lnTo>
                <a:lnTo>
                  <a:pt x="7065" y="4314"/>
                </a:lnTo>
                <a:lnTo>
                  <a:pt x="5388" y="22927"/>
                </a:lnTo>
                <a:lnTo>
                  <a:pt x="1078" y="23913"/>
                </a:lnTo>
                <a:lnTo>
                  <a:pt x="0" y="26009"/>
                </a:lnTo>
                <a:lnTo>
                  <a:pt x="2754" y="27611"/>
                </a:lnTo>
                <a:lnTo>
                  <a:pt x="2874" y="29584"/>
                </a:lnTo>
                <a:lnTo>
                  <a:pt x="4909" y="29707"/>
                </a:lnTo>
                <a:lnTo>
                  <a:pt x="4909" y="38582"/>
                </a:lnTo>
                <a:lnTo>
                  <a:pt x="7304" y="45854"/>
                </a:lnTo>
                <a:lnTo>
                  <a:pt x="9340" y="46101"/>
                </a:lnTo>
                <a:lnTo>
                  <a:pt x="8741" y="38335"/>
                </a:lnTo>
                <a:lnTo>
                  <a:pt x="13291" y="36856"/>
                </a:lnTo>
                <a:lnTo>
                  <a:pt x="8262" y="31802"/>
                </a:lnTo>
                <a:lnTo>
                  <a:pt x="11016" y="1972"/>
                </a:lnTo>
                <a:lnTo>
                  <a:pt x="8980" y="0"/>
                </a:lnTo>
                <a:close/>
              </a:path>
            </a:pathLst>
          </a:custGeom>
          <a:solidFill>
            <a:srgbClr val="f2c8ad"/>
          </a:solidFill>
          <a:ln w="6191">
            <a:solidFill>
              <a:srgbClr val="b7633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86" name="ทำนบร่วมใจ"/>
          <p:cNvSpPr/>
          <p:nvPr/>
        </p:nvSpPr>
        <p:spPr>
          <a:xfrm>
            <a:off x="5899680" y="3626280"/>
            <a:ext cx="17280" cy="27720"/>
          </a:xfrm>
          <a:custGeom>
            <a:avLst/>
            <a:gdLst/>
            <a:ahLst/>
            <a:rect l="l" t="t" r="r" b="b"/>
            <a:pathLst>
              <a:path w="17482" h="28104">
                <a:moveTo>
                  <a:pt x="15566" y="0"/>
                </a:moveTo>
                <a:lnTo>
                  <a:pt x="0" y="27365"/>
                </a:lnTo>
                <a:lnTo>
                  <a:pt x="5748" y="28104"/>
                </a:lnTo>
                <a:lnTo>
                  <a:pt x="6705" y="21325"/>
                </a:lnTo>
                <a:lnTo>
                  <a:pt x="17482" y="1109"/>
                </a:lnTo>
                <a:lnTo>
                  <a:pt x="15566" y="0"/>
                </a:lnTo>
                <a:close/>
              </a:path>
            </a:pathLst>
          </a:custGeom>
          <a:solidFill>
            <a:srgbClr val="f2c8ad"/>
          </a:solidFill>
          <a:ln w="6191">
            <a:solidFill>
              <a:srgbClr val="b7633d"/>
            </a:solidFill>
            <a:round/>
          </a:ln>
        </p:spPr>
        <p:style>
          <a:lnRef idx="0"/>
          <a:fillRef idx="0"/>
          <a:effectRef idx="0"/>
          <a:fontRef idx="minor"/>
        </p:style>
        <p:txBody>
          <a:bodyPr lIns="90000" rIns="90000" tIns="-17280" bIns="-17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87" name="ก้าวหน้า"/>
          <p:cNvSpPr/>
          <p:nvPr/>
        </p:nvSpPr>
        <p:spPr>
          <a:xfrm>
            <a:off x="5955840" y="3689280"/>
            <a:ext cx="83160" cy="88560"/>
          </a:xfrm>
          <a:custGeom>
            <a:avLst/>
            <a:gdLst/>
            <a:ahLst/>
            <a:rect l="l" t="t" r="r" b="b"/>
            <a:pathLst>
              <a:path w="83459" h="88751">
                <a:moveTo>
                  <a:pt x="28738" y="65084"/>
                </a:moveTo>
                <a:lnTo>
                  <a:pt x="83459" y="1602"/>
                </a:lnTo>
                <a:lnTo>
                  <a:pt x="80824" y="0"/>
                </a:lnTo>
                <a:lnTo>
                  <a:pt x="71844" y="10724"/>
                </a:lnTo>
                <a:lnTo>
                  <a:pt x="70287" y="9491"/>
                </a:lnTo>
                <a:lnTo>
                  <a:pt x="67174" y="13436"/>
                </a:lnTo>
                <a:lnTo>
                  <a:pt x="66096" y="12943"/>
                </a:lnTo>
                <a:lnTo>
                  <a:pt x="62744" y="17504"/>
                </a:lnTo>
                <a:lnTo>
                  <a:pt x="64540" y="18613"/>
                </a:lnTo>
                <a:lnTo>
                  <a:pt x="48854" y="36856"/>
                </a:lnTo>
                <a:lnTo>
                  <a:pt x="40472" y="43266"/>
                </a:lnTo>
                <a:lnTo>
                  <a:pt x="41669" y="44252"/>
                </a:lnTo>
                <a:lnTo>
                  <a:pt x="40352" y="45854"/>
                </a:lnTo>
                <a:lnTo>
                  <a:pt x="17243" y="73343"/>
                </a:lnTo>
                <a:lnTo>
                  <a:pt x="12094" y="77040"/>
                </a:lnTo>
                <a:lnTo>
                  <a:pt x="7304" y="75315"/>
                </a:lnTo>
                <a:lnTo>
                  <a:pt x="6226" y="78027"/>
                </a:lnTo>
                <a:lnTo>
                  <a:pt x="2874" y="77287"/>
                </a:lnTo>
                <a:lnTo>
                  <a:pt x="0" y="82094"/>
                </a:lnTo>
                <a:lnTo>
                  <a:pt x="11136" y="88751"/>
                </a:lnTo>
                <a:lnTo>
                  <a:pt x="28738" y="65084"/>
                </a:lnTo>
                <a:close/>
              </a:path>
            </a:pathLst>
          </a:custGeom>
          <a:solidFill>
            <a:srgbClr val="f2c8ad"/>
          </a:solidFill>
          <a:ln w="6191">
            <a:solidFill>
              <a:srgbClr val="b7633d"/>
            </a:solidFill>
            <a:round/>
          </a:ln>
        </p:spPr>
        <p:style>
          <a:lnRef idx="0"/>
          <a:fillRef idx="0"/>
          <a:effectRef idx="0"/>
          <a:fontRef idx="minor"/>
        </p:style>
        <p:txBody>
          <a:bodyPr lIns="90000" rIns="90000" tIns="43560" bIns="43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88" name="คลองเปรมประชาพัฒนา"/>
          <p:cNvSpPr/>
          <p:nvPr/>
        </p:nvSpPr>
        <p:spPr>
          <a:xfrm>
            <a:off x="5883480" y="3544560"/>
            <a:ext cx="71640" cy="131040"/>
          </a:xfrm>
          <a:custGeom>
            <a:avLst/>
            <a:gdLst/>
            <a:ahLst/>
            <a:rect l="l" t="t" r="r" b="b"/>
            <a:pathLst>
              <a:path w="71844" h="131400">
                <a:moveTo>
                  <a:pt x="2395" y="131400"/>
                </a:moveTo>
                <a:lnTo>
                  <a:pt x="66096" y="13682"/>
                </a:lnTo>
                <a:lnTo>
                  <a:pt x="71844" y="1849"/>
                </a:lnTo>
                <a:lnTo>
                  <a:pt x="69090" y="0"/>
                </a:lnTo>
                <a:lnTo>
                  <a:pt x="59990" y="17504"/>
                </a:lnTo>
                <a:lnTo>
                  <a:pt x="62025" y="18736"/>
                </a:lnTo>
                <a:lnTo>
                  <a:pt x="60469" y="19969"/>
                </a:lnTo>
                <a:lnTo>
                  <a:pt x="59151" y="19106"/>
                </a:lnTo>
                <a:lnTo>
                  <a:pt x="47417" y="41787"/>
                </a:lnTo>
                <a:lnTo>
                  <a:pt x="42627" y="39198"/>
                </a:lnTo>
                <a:lnTo>
                  <a:pt x="42148" y="40431"/>
                </a:lnTo>
                <a:lnTo>
                  <a:pt x="44783" y="41663"/>
                </a:lnTo>
                <a:lnTo>
                  <a:pt x="43466" y="44252"/>
                </a:lnTo>
                <a:lnTo>
                  <a:pt x="37718" y="43389"/>
                </a:lnTo>
                <a:lnTo>
                  <a:pt x="37359" y="44622"/>
                </a:lnTo>
                <a:lnTo>
                  <a:pt x="41550" y="46841"/>
                </a:lnTo>
                <a:lnTo>
                  <a:pt x="39394" y="50539"/>
                </a:lnTo>
                <a:lnTo>
                  <a:pt x="37598" y="50045"/>
                </a:lnTo>
                <a:lnTo>
                  <a:pt x="38317" y="47703"/>
                </a:lnTo>
                <a:lnTo>
                  <a:pt x="37119" y="47334"/>
                </a:lnTo>
                <a:lnTo>
                  <a:pt x="33288" y="52881"/>
                </a:lnTo>
                <a:lnTo>
                  <a:pt x="39754" y="56455"/>
                </a:lnTo>
                <a:lnTo>
                  <a:pt x="38556" y="58674"/>
                </a:lnTo>
                <a:lnTo>
                  <a:pt x="36401" y="58921"/>
                </a:lnTo>
                <a:lnTo>
                  <a:pt x="36640" y="64098"/>
                </a:lnTo>
                <a:lnTo>
                  <a:pt x="0" y="130907"/>
                </a:lnTo>
                <a:lnTo>
                  <a:pt x="2395" y="131400"/>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89" name="ศิษย์หลวงปู่ขาววัดหลักสี่"/>
          <p:cNvSpPr/>
          <p:nvPr/>
        </p:nvSpPr>
        <p:spPr>
          <a:xfrm>
            <a:off x="5832360" y="3721320"/>
            <a:ext cx="28800" cy="51840"/>
          </a:xfrm>
          <a:custGeom>
            <a:avLst/>
            <a:gdLst/>
            <a:ahLst/>
            <a:rect l="l" t="t" r="r" b="b"/>
            <a:pathLst>
              <a:path w="29336" h="52141">
                <a:moveTo>
                  <a:pt x="26223" y="7396"/>
                </a:moveTo>
                <a:lnTo>
                  <a:pt x="29336" y="1356"/>
                </a:lnTo>
                <a:lnTo>
                  <a:pt x="26941" y="0"/>
                </a:lnTo>
                <a:lnTo>
                  <a:pt x="24427" y="1972"/>
                </a:lnTo>
                <a:lnTo>
                  <a:pt x="22152" y="8382"/>
                </a:lnTo>
                <a:lnTo>
                  <a:pt x="18320" y="8752"/>
                </a:lnTo>
                <a:lnTo>
                  <a:pt x="19877" y="9984"/>
                </a:lnTo>
                <a:lnTo>
                  <a:pt x="15446" y="15162"/>
                </a:lnTo>
                <a:lnTo>
                  <a:pt x="15686" y="20585"/>
                </a:lnTo>
                <a:lnTo>
                  <a:pt x="9100" y="32912"/>
                </a:lnTo>
                <a:lnTo>
                  <a:pt x="7304" y="33281"/>
                </a:lnTo>
                <a:lnTo>
                  <a:pt x="0" y="50539"/>
                </a:lnTo>
                <a:lnTo>
                  <a:pt x="2275" y="52141"/>
                </a:lnTo>
                <a:lnTo>
                  <a:pt x="26223" y="7396"/>
                </a:lnTo>
                <a:close/>
              </a:path>
            </a:pathLst>
          </a:custGeom>
          <a:solidFill>
            <a:srgbClr val="f2c8ad"/>
          </a:solidFill>
          <a:ln w="6191">
            <a:solidFill>
              <a:srgbClr val="b7633d"/>
            </a:solidFill>
            <a:round/>
          </a:ln>
        </p:spPr>
        <p:style>
          <a:lnRef idx="0"/>
          <a:fillRef idx="0"/>
          <a:effectRef idx="0"/>
          <a:fontRef idx="minor"/>
        </p:style>
        <p:txBody>
          <a:bodyPr lIns="90000" rIns="90000" tIns="6840" bIns="6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90" name="ศิษย์หลวงปู่ขาววัดหลักสี่"/>
          <p:cNvSpPr/>
          <p:nvPr/>
        </p:nvSpPr>
        <p:spPr>
          <a:xfrm>
            <a:off x="5862240" y="3675960"/>
            <a:ext cx="23760" cy="41400"/>
          </a:xfrm>
          <a:custGeom>
            <a:avLst/>
            <a:gdLst/>
            <a:ahLst/>
            <a:rect l="l" t="t" r="r" b="b"/>
            <a:pathLst>
              <a:path w="24187" h="41663">
                <a:moveTo>
                  <a:pt x="11854" y="23667"/>
                </a:moveTo>
                <a:lnTo>
                  <a:pt x="24187" y="863"/>
                </a:lnTo>
                <a:lnTo>
                  <a:pt x="20954" y="0"/>
                </a:lnTo>
                <a:lnTo>
                  <a:pt x="11854" y="17627"/>
                </a:lnTo>
                <a:lnTo>
                  <a:pt x="4790" y="27981"/>
                </a:lnTo>
                <a:lnTo>
                  <a:pt x="0" y="40431"/>
                </a:lnTo>
                <a:lnTo>
                  <a:pt x="2155" y="41663"/>
                </a:lnTo>
                <a:lnTo>
                  <a:pt x="11854" y="23667"/>
                </a:lnTo>
                <a:close/>
              </a:path>
            </a:pathLst>
          </a:custGeom>
          <a:solidFill>
            <a:srgbClr val="f2c8ad"/>
          </a:solidFill>
          <a:ln w="6191">
            <a:solidFill>
              <a:srgbClr val="b7633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91" name="วัดคลองเตยใน 2"/>
          <p:cNvSpPr/>
          <p:nvPr/>
        </p:nvSpPr>
        <p:spPr>
          <a:xfrm>
            <a:off x="5646600" y="5869080"/>
            <a:ext cx="21960" cy="17640"/>
          </a:xfrm>
          <a:custGeom>
            <a:avLst/>
            <a:gdLst/>
            <a:ahLst/>
            <a:rect l="l" t="t" r="r" b="b"/>
            <a:pathLst>
              <a:path w="22152" h="18120">
                <a:moveTo>
                  <a:pt x="5029" y="740"/>
                </a:moveTo>
                <a:lnTo>
                  <a:pt x="4670" y="2465"/>
                </a:lnTo>
                <a:lnTo>
                  <a:pt x="2036" y="2465"/>
                </a:lnTo>
                <a:lnTo>
                  <a:pt x="838" y="7766"/>
                </a:lnTo>
                <a:lnTo>
                  <a:pt x="3712" y="8752"/>
                </a:lnTo>
                <a:lnTo>
                  <a:pt x="2874" y="13313"/>
                </a:lnTo>
                <a:lnTo>
                  <a:pt x="479" y="14668"/>
                </a:lnTo>
                <a:lnTo>
                  <a:pt x="0" y="17627"/>
                </a:lnTo>
                <a:lnTo>
                  <a:pt x="2515" y="18120"/>
                </a:lnTo>
                <a:lnTo>
                  <a:pt x="3233" y="14545"/>
                </a:lnTo>
                <a:lnTo>
                  <a:pt x="19877" y="17257"/>
                </a:lnTo>
                <a:lnTo>
                  <a:pt x="22152" y="15408"/>
                </a:lnTo>
                <a:lnTo>
                  <a:pt x="21673" y="13189"/>
                </a:lnTo>
                <a:lnTo>
                  <a:pt x="15566" y="8752"/>
                </a:lnTo>
                <a:lnTo>
                  <a:pt x="15446" y="6410"/>
                </a:lnTo>
                <a:lnTo>
                  <a:pt x="13291" y="7519"/>
                </a:lnTo>
                <a:lnTo>
                  <a:pt x="9459" y="0"/>
                </a:lnTo>
                <a:lnTo>
                  <a:pt x="5029" y="740"/>
                </a:lnTo>
                <a:close/>
              </a:path>
            </a:pathLst>
          </a:custGeom>
          <a:solidFill>
            <a:srgbClr val="f2c8ad"/>
          </a:solidFill>
          <a:ln w="6191">
            <a:solidFill>
              <a:srgbClr val="b7633d"/>
            </a:solidFill>
            <a:round/>
          </a:ln>
        </p:spPr>
        <p:style>
          <a:lnRef idx="0"/>
          <a:fillRef idx="0"/>
          <a:effectRef idx="0"/>
          <a:fontRef idx="minor"/>
        </p:style>
        <p:txBody>
          <a:bodyPr lIns="90000" rIns="90000" tIns="-27360" bIns="-27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92" name="หัวโค้ง"/>
          <p:cNvSpPr/>
          <p:nvPr/>
        </p:nvSpPr>
        <p:spPr>
          <a:xfrm>
            <a:off x="5719320" y="5851800"/>
            <a:ext cx="29160" cy="12960"/>
          </a:xfrm>
          <a:custGeom>
            <a:avLst/>
            <a:gdLst/>
            <a:ahLst/>
            <a:rect l="l" t="t" r="r" b="b"/>
            <a:pathLst>
              <a:path w="29576" h="13313">
                <a:moveTo>
                  <a:pt x="1796" y="8875"/>
                </a:moveTo>
                <a:lnTo>
                  <a:pt x="18560" y="13313"/>
                </a:lnTo>
                <a:lnTo>
                  <a:pt x="29576" y="7642"/>
                </a:lnTo>
                <a:lnTo>
                  <a:pt x="26103" y="0"/>
                </a:lnTo>
                <a:lnTo>
                  <a:pt x="0" y="6656"/>
                </a:lnTo>
                <a:lnTo>
                  <a:pt x="1796" y="8875"/>
                </a:lnTo>
                <a:close/>
              </a:path>
            </a:pathLst>
          </a:custGeom>
          <a:solidFill>
            <a:srgbClr val="f2c8ad"/>
          </a:solidFill>
          <a:ln w="6191">
            <a:solidFill>
              <a:srgbClr val="b7633d"/>
            </a:solidFill>
            <a:round/>
          </a:ln>
        </p:spPr>
        <p:style>
          <a:lnRef idx="0"/>
          <a:fillRef idx="0"/>
          <a:effectRef idx="0"/>
          <a:fontRef idx="minor"/>
        </p:style>
        <p:txBody>
          <a:bodyPr lIns="90000" rIns="90000" tIns="-32040" bIns="-32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93" name="ตลาดปีนัง"/>
          <p:cNvSpPr/>
          <p:nvPr/>
        </p:nvSpPr>
        <p:spPr>
          <a:xfrm>
            <a:off x="5578560" y="5811480"/>
            <a:ext cx="24120" cy="33480"/>
          </a:xfrm>
          <a:custGeom>
            <a:avLst/>
            <a:gdLst/>
            <a:ahLst/>
            <a:rect l="l" t="t" r="r" b="b"/>
            <a:pathLst>
              <a:path w="24307" h="33898">
                <a:moveTo>
                  <a:pt x="24307" y="6040"/>
                </a:moveTo>
                <a:lnTo>
                  <a:pt x="16764" y="247"/>
                </a:lnTo>
                <a:lnTo>
                  <a:pt x="12932" y="0"/>
                </a:lnTo>
                <a:lnTo>
                  <a:pt x="7783" y="1849"/>
                </a:lnTo>
                <a:lnTo>
                  <a:pt x="0" y="9368"/>
                </a:lnTo>
                <a:lnTo>
                  <a:pt x="8382" y="33898"/>
                </a:lnTo>
                <a:lnTo>
                  <a:pt x="12213" y="32049"/>
                </a:lnTo>
                <a:lnTo>
                  <a:pt x="10537" y="27858"/>
                </a:lnTo>
                <a:lnTo>
                  <a:pt x="17482" y="25393"/>
                </a:lnTo>
                <a:lnTo>
                  <a:pt x="16045" y="24037"/>
                </a:lnTo>
                <a:lnTo>
                  <a:pt x="14010" y="10108"/>
                </a:lnTo>
                <a:lnTo>
                  <a:pt x="23230" y="8135"/>
                </a:lnTo>
                <a:lnTo>
                  <a:pt x="24307" y="6040"/>
                </a:lnTo>
                <a:close/>
              </a:path>
            </a:pathLst>
          </a:custGeom>
          <a:solidFill>
            <a:srgbClr val="f2c8ad"/>
          </a:solidFill>
          <a:ln w="6191">
            <a:solidFill>
              <a:srgbClr val="b7633d"/>
            </a:solidFill>
            <a:round/>
          </a:ln>
        </p:spPr>
        <p:style>
          <a:lnRef idx="0"/>
          <a:fillRef idx="0"/>
          <a:effectRef idx="0"/>
          <a:fontRef idx="minor"/>
        </p:style>
        <p:txBody>
          <a:bodyPr lIns="90000" rIns="90000" tIns="-11520" bIns="-11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94" name="วัดคลองเตยใน 3"/>
          <p:cNvSpPr/>
          <p:nvPr/>
        </p:nvSpPr>
        <p:spPr>
          <a:xfrm>
            <a:off x="5636160" y="5848560"/>
            <a:ext cx="10080" cy="9360"/>
          </a:xfrm>
          <a:custGeom>
            <a:avLst/>
            <a:gdLst/>
            <a:ahLst/>
            <a:rect l="l" t="t" r="r" b="b"/>
            <a:pathLst>
              <a:path w="10537" h="9615">
                <a:moveTo>
                  <a:pt x="4790" y="8382"/>
                </a:moveTo>
                <a:lnTo>
                  <a:pt x="6466" y="9615"/>
                </a:lnTo>
                <a:lnTo>
                  <a:pt x="10537" y="6040"/>
                </a:lnTo>
                <a:lnTo>
                  <a:pt x="5269" y="0"/>
                </a:lnTo>
                <a:lnTo>
                  <a:pt x="0" y="3698"/>
                </a:lnTo>
                <a:lnTo>
                  <a:pt x="4790" y="8382"/>
                </a:lnTo>
                <a:close/>
              </a:path>
            </a:pathLst>
          </a:custGeom>
          <a:solidFill>
            <a:srgbClr val="f2c8ad"/>
          </a:solidFill>
          <a:ln w="6191">
            <a:solidFill>
              <a:srgbClr val="b7633d"/>
            </a:solidFill>
            <a:round/>
          </a:ln>
        </p:spPr>
        <p:style>
          <a:lnRef idx="0"/>
          <a:fillRef idx="0"/>
          <a:effectRef idx="0"/>
          <a:fontRef idx="minor"/>
        </p:style>
        <p:txBody>
          <a:bodyPr lIns="90000" rIns="90000" tIns="-35640" bIns="-35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95" name="ริมคลองไผ่สิงโต"/>
          <p:cNvSpPr/>
          <p:nvPr/>
        </p:nvSpPr>
        <p:spPr>
          <a:xfrm>
            <a:off x="5631480" y="5743440"/>
            <a:ext cx="1080" cy="16560"/>
          </a:xfrm>
          <a:custGeom>
            <a:avLst/>
            <a:gdLst/>
            <a:ahLst/>
            <a:rect l="l" t="t" r="r" b="b"/>
            <a:pathLst>
              <a:path w="1317" h="16764">
                <a:moveTo>
                  <a:pt x="0" y="0"/>
                </a:moveTo>
                <a:lnTo>
                  <a:pt x="1317" y="16764"/>
                </a:lnTo>
                <a:lnTo>
                  <a:pt x="1078" y="123"/>
                </a:lnTo>
                <a:lnTo>
                  <a:pt x="0" y="0"/>
                </a:lnTo>
                <a:close/>
              </a:path>
            </a:pathLst>
          </a:custGeom>
          <a:solidFill>
            <a:srgbClr val="f2c8ad"/>
          </a:solidFill>
          <a:ln w="6191">
            <a:solidFill>
              <a:srgbClr val="b7633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96" name="สตรีเหล็กพัฒนา"/>
          <p:cNvSpPr/>
          <p:nvPr/>
        </p:nvSpPr>
        <p:spPr>
          <a:xfrm>
            <a:off x="5915160" y="3547080"/>
            <a:ext cx="41760" cy="79920"/>
          </a:xfrm>
          <a:custGeom>
            <a:avLst/>
            <a:gdLst/>
            <a:ahLst/>
            <a:rect l="l" t="t" r="r" b="b"/>
            <a:pathLst>
              <a:path w="42268" h="80122">
                <a:moveTo>
                  <a:pt x="41430" y="0"/>
                </a:moveTo>
                <a:lnTo>
                  <a:pt x="0" y="79013"/>
                </a:lnTo>
                <a:lnTo>
                  <a:pt x="2155" y="80122"/>
                </a:lnTo>
                <a:lnTo>
                  <a:pt x="8741" y="65577"/>
                </a:lnTo>
                <a:lnTo>
                  <a:pt x="22032" y="43882"/>
                </a:lnTo>
                <a:lnTo>
                  <a:pt x="23469" y="38828"/>
                </a:lnTo>
                <a:lnTo>
                  <a:pt x="42268" y="3328"/>
                </a:lnTo>
                <a:lnTo>
                  <a:pt x="41430" y="0"/>
                </a:lnTo>
                <a:close/>
              </a:path>
            </a:pathLst>
          </a:custGeom>
          <a:solidFill>
            <a:srgbClr val="f2c8ad"/>
          </a:solidFill>
          <a:ln w="6191">
            <a:solidFill>
              <a:srgbClr val="b7633d"/>
            </a:solidFill>
            <a:round/>
          </a:ln>
        </p:spPr>
        <p:style>
          <a:lnRef idx="0"/>
          <a:fillRef idx="0"/>
          <a:effectRef idx="0"/>
          <a:fontRef idx="minor"/>
        </p:style>
        <p:txBody>
          <a:bodyPr lIns="90000" rIns="90000" tIns="34920" bIns="34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97" name="เทวสุนทร"/>
          <p:cNvSpPr/>
          <p:nvPr/>
        </p:nvSpPr>
        <p:spPr>
          <a:xfrm>
            <a:off x="5654160" y="4073040"/>
            <a:ext cx="21240" cy="19440"/>
          </a:xfrm>
          <a:custGeom>
            <a:avLst/>
            <a:gdLst/>
            <a:ahLst/>
            <a:rect l="l" t="t" r="r" b="b"/>
            <a:pathLst>
              <a:path w="21433" h="19846">
                <a:moveTo>
                  <a:pt x="17362" y="0"/>
                </a:moveTo>
                <a:lnTo>
                  <a:pt x="7783" y="17627"/>
                </a:lnTo>
                <a:lnTo>
                  <a:pt x="0" y="19846"/>
                </a:lnTo>
                <a:lnTo>
                  <a:pt x="11495" y="18490"/>
                </a:lnTo>
                <a:lnTo>
                  <a:pt x="21433" y="740"/>
                </a:lnTo>
                <a:lnTo>
                  <a:pt x="17362" y="0"/>
                </a:lnTo>
                <a:close/>
              </a:path>
            </a:pathLst>
          </a:custGeom>
          <a:solidFill>
            <a:srgbClr val="f2c8ad"/>
          </a:solidFill>
          <a:ln w="6191">
            <a:solidFill>
              <a:srgbClr val="b7633d"/>
            </a:solidFill>
            <a:round/>
          </a:ln>
        </p:spPr>
        <p:style>
          <a:lnRef idx="0"/>
          <a:fillRef idx="0"/>
          <a:effectRef idx="0"/>
          <a:fontRef idx="minor"/>
        </p:style>
        <p:txBody>
          <a:bodyPr lIns="90000" rIns="90000" tIns="-25560" bIns="-25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98" name="ร่วมพัฒนา"/>
          <p:cNvSpPr/>
          <p:nvPr/>
        </p:nvSpPr>
        <p:spPr>
          <a:xfrm>
            <a:off x="5707800" y="3945600"/>
            <a:ext cx="34200" cy="60480"/>
          </a:xfrm>
          <a:custGeom>
            <a:avLst/>
            <a:gdLst/>
            <a:ahLst/>
            <a:rect l="l" t="t" r="r" b="b"/>
            <a:pathLst>
              <a:path w="34725" h="61016">
                <a:moveTo>
                  <a:pt x="28259" y="0"/>
                </a:moveTo>
                <a:lnTo>
                  <a:pt x="23110" y="4068"/>
                </a:lnTo>
                <a:lnTo>
                  <a:pt x="23349" y="5547"/>
                </a:lnTo>
                <a:lnTo>
                  <a:pt x="20835" y="6040"/>
                </a:lnTo>
                <a:lnTo>
                  <a:pt x="20835" y="12820"/>
                </a:lnTo>
                <a:lnTo>
                  <a:pt x="24427" y="14299"/>
                </a:lnTo>
                <a:lnTo>
                  <a:pt x="0" y="58921"/>
                </a:lnTo>
                <a:lnTo>
                  <a:pt x="3712" y="61016"/>
                </a:lnTo>
                <a:lnTo>
                  <a:pt x="34725" y="1356"/>
                </a:lnTo>
                <a:lnTo>
                  <a:pt x="28259" y="0"/>
                </a:lnTo>
                <a:close/>
              </a:path>
            </a:pathLst>
          </a:custGeom>
          <a:solidFill>
            <a:srgbClr val="f2c8ad"/>
          </a:solidFill>
          <a:ln w="6191">
            <a:solidFill>
              <a:srgbClr val="b7633d"/>
            </a:solidFill>
            <a:round/>
          </a:ln>
        </p:spPr>
        <p:style>
          <a:lnRef idx="0"/>
          <a:fillRef idx="0"/>
          <a:effectRef idx="0"/>
          <a:fontRef idx="minor"/>
        </p:style>
        <p:txBody>
          <a:bodyPr lIns="90000" rIns="90000" tIns="15480" bIns="15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1999" name="ร่วมพัฒนา"/>
          <p:cNvSpPr/>
          <p:nvPr/>
        </p:nvSpPr>
        <p:spPr>
          <a:xfrm>
            <a:off x="5672880" y="4005000"/>
            <a:ext cx="38160" cy="68040"/>
          </a:xfrm>
          <a:custGeom>
            <a:avLst/>
            <a:gdLst/>
            <a:ahLst/>
            <a:rect l="l" t="t" r="r" b="b"/>
            <a:pathLst>
              <a:path w="38436" h="68535">
                <a:moveTo>
                  <a:pt x="38436" y="1972"/>
                </a:moveTo>
                <a:lnTo>
                  <a:pt x="34485" y="0"/>
                </a:lnTo>
                <a:lnTo>
                  <a:pt x="28977" y="14545"/>
                </a:lnTo>
                <a:lnTo>
                  <a:pt x="27301" y="17134"/>
                </a:lnTo>
                <a:lnTo>
                  <a:pt x="25265" y="17504"/>
                </a:lnTo>
                <a:lnTo>
                  <a:pt x="17123" y="34514"/>
                </a:lnTo>
                <a:lnTo>
                  <a:pt x="9699" y="45238"/>
                </a:lnTo>
                <a:lnTo>
                  <a:pt x="6705" y="51155"/>
                </a:lnTo>
                <a:lnTo>
                  <a:pt x="6945" y="54606"/>
                </a:lnTo>
                <a:lnTo>
                  <a:pt x="0" y="66193"/>
                </a:lnTo>
                <a:lnTo>
                  <a:pt x="2515" y="68535"/>
                </a:lnTo>
                <a:lnTo>
                  <a:pt x="38436" y="1972"/>
                </a:lnTo>
                <a:close/>
              </a:path>
            </a:pathLst>
          </a:custGeom>
          <a:solidFill>
            <a:srgbClr val="f2c8ad"/>
          </a:solidFill>
          <a:ln w="6191">
            <a:solidFill>
              <a:srgbClr val="b7633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00" name="มิตรประชาพัฒนา"/>
          <p:cNvSpPr/>
          <p:nvPr/>
        </p:nvSpPr>
        <p:spPr>
          <a:xfrm>
            <a:off x="5788800" y="3816000"/>
            <a:ext cx="22680" cy="37800"/>
          </a:xfrm>
          <a:custGeom>
            <a:avLst/>
            <a:gdLst/>
            <a:ahLst/>
            <a:rect l="l" t="t" r="r" b="b"/>
            <a:pathLst>
              <a:path w="22870" h="38335">
                <a:moveTo>
                  <a:pt x="19398" y="0"/>
                </a:moveTo>
                <a:lnTo>
                  <a:pt x="2036" y="33405"/>
                </a:lnTo>
                <a:lnTo>
                  <a:pt x="1078" y="33158"/>
                </a:lnTo>
                <a:lnTo>
                  <a:pt x="0" y="37596"/>
                </a:lnTo>
                <a:lnTo>
                  <a:pt x="3353" y="38335"/>
                </a:lnTo>
                <a:lnTo>
                  <a:pt x="22870" y="1233"/>
                </a:lnTo>
                <a:lnTo>
                  <a:pt x="19398" y="0"/>
                </a:lnTo>
                <a:close/>
              </a:path>
            </a:pathLst>
          </a:custGeom>
          <a:solidFill>
            <a:srgbClr val="f2c8ad"/>
          </a:solidFill>
          <a:ln w="6191">
            <a:solidFill>
              <a:srgbClr val="b7633d"/>
            </a:solidFill>
            <a:round/>
          </a:ln>
        </p:spPr>
        <p:style>
          <a:lnRef idx="0"/>
          <a:fillRef idx="0"/>
          <a:effectRef idx="0"/>
          <a:fontRef idx="minor"/>
        </p:style>
        <p:txBody>
          <a:bodyPr lIns="90000" rIns="90000" tIns="-7200" bIns="-7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01" name="คลองลำนุ่น"/>
          <p:cNvSpPr/>
          <p:nvPr/>
        </p:nvSpPr>
        <p:spPr>
          <a:xfrm>
            <a:off x="7038720" y="4527360"/>
            <a:ext cx="10080" cy="8640"/>
          </a:xfrm>
          <a:custGeom>
            <a:avLst/>
            <a:gdLst/>
            <a:ahLst/>
            <a:rect l="l" t="t" r="r" b="b"/>
            <a:pathLst>
              <a:path w="10298" h="9122">
                <a:moveTo>
                  <a:pt x="0" y="2342"/>
                </a:moveTo>
                <a:lnTo>
                  <a:pt x="2754" y="9122"/>
                </a:lnTo>
                <a:lnTo>
                  <a:pt x="10298" y="7889"/>
                </a:lnTo>
                <a:lnTo>
                  <a:pt x="7065" y="0"/>
                </a:lnTo>
                <a:lnTo>
                  <a:pt x="0" y="2342"/>
                </a:lnTo>
                <a:close/>
              </a:path>
            </a:pathLst>
          </a:custGeom>
          <a:solidFill>
            <a:srgbClr val="f2c8ad"/>
          </a:solidFill>
          <a:ln w="6191">
            <a:solidFill>
              <a:srgbClr val="b7633d"/>
            </a:solidFill>
            <a:round/>
          </a:ln>
        </p:spPr>
        <p:style>
          <a:lnRef idx="0"/>
          <a:fillRef idx="0"/>
          <a:effectRef idx="0"/>
          <a:fontRef idx="minor"/>
        </p:style>
        <p:txBody>
          <a:bodyPr lIns="90000" rIns="90000" tIns="-36360" bIns="-36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02" name="หมู่ 3 รวมใจพัฒนา"/>
          <p:cNvSpPr/>
          <p:nvPr/>
        </p:nvSpPr>
        <p:spPr>
          <a:xfrm>
            <a:off x="7180200" y="4827240"/>
            <a:ext cx="45360" cy="68040"/>
          </a:xfrm>
          <a:custGeom>
            <a:avLst/>
            <a:gdLst/>
            <a:ahLst/>
            <a:rect l="l" t="t" r="r" b="b"/>
            <a:pathLst>
              <a:path w="45741" h="68535">
                <a:moveTo>
                  <a:pt x="32090" y="23667"/>
                </a:moveTo>
                <a:lnTo>
                  <a:pt x="29695" y="18983"/>
                </a:lnTo>
                <a:lnTo>
                  <a:pt x="33527" y="16024"/>
                </a:lnTo>
                <a:lnTo>
                  <a:pt x="23828" y="0"/>
                </a:lnTo>
                <a:lnTo>
                  <a:pt x="12333" y="5300"/>
                </a:lnTo>
                <a:lnTo>
                  <a:pt x="22870" y="24283"/>
                </a:lnTo>
                <a:lnTo>
                  <a:pt x="0" y="33651"/>
                </a:lnTo>
                <a:lnTo>
                  <a:pt x="12692" y="68535"/>
                </a:lnTo>
                <a:lnTo>
                  <a:pt x="45741" y="49922"/>
                </a:lnTo>
                <a:lnTo>
                  <a:pt x="32090" y="23667"/>
                </a:lnTo>
                <a:close/>
              </a:path>
            </a:pathLst>
          </a:custGeom>
          <a:solidFill>
            <a:srgbClr val="f2c8ad"/>
          </a:solidFill>
          <a:ln w="6191">
            <a:solidFill>
              <a:srgbClr val="b7633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03" name="ซอยผู้ใหญ่ชม"/>
          <p:cNvSpPr/>
          <p:nvPr/>
        </p:nvSpPr>
        <p:spPr>
          <a:xfrm>
            <a:off x="6838560" y="4147560"/>
            <a:ext cx="34560" cy="39240"/>
          </a:xfrm>
          <a:custGeom>
            <a:avLst/>
            <a:gdLst/>
            <a:ahLst/>
            <a:rect l="l" t="t" r="r" b="b"/>
            <a:pathLst>
              <a:path w="34844" h="39691">
                <a:moveTo>
                  <a:pt x="34844" y="29460"/>
                </a:moveTo>
                <a:lnTo>
                  <a:pt x="26223" y="740"/>
                </a:lnTo>
                <a:lnTo>
                  <a:pt x="13052" y="4438"/>
                </a:lnTo>
                <a:lnTo>
                  <a:pt x="10058" y="1233"/>
                </a:lnTo>
                <a:lnTo>
                  <a:pt x="4909" y="0"/>
                </a:lnTo>
                <a:lnTo>
                  <a:pt x="718" y="1972"/>
                </a:lnTo>
                <a:lnTo>
                  <a:pt x="3712" y="8259"/>
                </a:lnTo>
                <a:lnTo>
                  <a:pt x="0" y="17750"/>
                </a:lnTo>
                <a:lnTo>
                  <a:pt x="718" y="22434"/>
                </a:lnTo>
                <a:lnTo>
                  <a:pt x="12094" y="39445"/>
                </a:lnTo>
                <a:lnTo>
                  <a:pt x="15686" y="38459"/>
                </a:lnTo>
                <a:lnTo>
                  <a:pt x="16764" y="39691"/>
                </a:lnTo>
                <a:lnTo>
                  <a:pt x="16883" y="38089"/>
                </a:lnTo>
                <a:lnTo>
                  <a:pt x="20236" y="36856"/>
                </a:lnTo>
                <a:lnTo>
                  <a:pt x="32809" y="33651"/>
                </a:lnTo>
                <a:lnTo>
                  <a:pt x="34844" y="29460"/>
                </a:lnTo>
                <a:close/>
              </a:path>
            </a:pathLst>
          </a:custGeom>
          <a:solidFill>
            <a:srgbClr val="f2c8ad"/>
          </a:solidFill>
          <a:ln w="6191">
            <a:solidFill>
              <a:srgbClr val="b7633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04" name="ริมคลองระหัสพัฒนา"/>
          <p:cNvSpPr/>
          <p:nvPr/>
        </p:nvSpPr>
        <p:spPr>
          <a:xfrm>
            <a:off x="7016400" y="4913640"/>
            <a:ext cx="54720" cy="69120"/>
          </a:xfrm>
          <a:custGeom>
            <a:avLst/>
            <a:gdLst/>
            <a:ahLst/>
            <a:rect l="l" t="t" r="r" b="b"/>
            <a:pathLst>
              <a:path w="54961" h="69398">
                <a:moveTo>
                  <a:pt x="39754" y="16148"/>
                </a:moveTo>
                <a:lnTo>
                  <a:pt x="21912" y="0"/>
                </a:lnTo>
                <a:lnTo>
                  <a:pt x="0" y="28474"/>
                </a:lnTo>
                <a:lnTo>
                  <a:pt x="21793" y="69398"/>
                </a:lnTo>
                <a:lnTo>
                  <a:pt x="54961" y="51525"/>
                </a:lnTo>
                <a:lnTo>
                  <a:pt x="47058" y="37596"/>
                </a:lnTo>
                <a:lnTo>
                  <a:pt x="45381" y="25886"/>
                </a:lnTo>
                <a:lnTo>
                  <a:pt x="39754" y="16148"/>
                </a:lnTo>
                <a:close/>
              </a:path>
            </a:pathLst>
          </a:custGeom>
          <a:solidFill>
            <a:srgbClr val="f2c8ad"/>
          </a:solidFill>
          <a:ln w="6191">
            <a:solidFill>
              <a:srgbClr val="b7633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05" name="ข้างโรงเรียนวัดสะพาน"/>
          <p:cNvSpPr/>
          <p:nvPr/>
        </p:nvSpPr>
        <p:spPr>
          <a:xfrm>
            <a:off x="5950440" y="5956200"/>
            <a:ext cx="13320" cy="11160"/>
          </a:xfrm>
          <a:custGeom>
            <a:avLst/>
            <a:gdLst/>
            <a:ahLst/>
            <a:rect l="l" t="t" r="r" b="b"/>
            <a:pathLst>
              <a:path w="13531" h="11340">
                <a:moveTo>
                  <a:pt x="0" y="1726"/>
                </a:moveTo>
                <a:lnTo>
                  <a:pt x="838" y="7519"/>
                </a:lnTo>
                <a:lnTo>
                  <a:pt x="4790" y="7642"/>
                </a:lnTo>
                <a:lnTo>
                  <a:pt x="5628" y="11340"/>
                </a:lnTo>
                <a:lnTo>
                  <a:pt x="13531" y="9491"/>
                </a:lnTo>
                <a:lnTo>
                  <a:pt x="11256" y="1602"/>
                </a:lnTo>
                <a:lnTo>
                  <a:pt x="8262" y="2219"/>
                </a:lnTo>
                <a:lnTo>
                  <a:pt x="7783" y="0"/>
                </a:lnTo>
                <a:lnTo>
                  <a:pt x="0" y="1726"/>
                </a:lnTo>
                <a:close/>
              </a:path>
            </a:pathLst>
          </a:custGeom>
          <a:solidFill>
            <a:srgbClr val="f2c8ad"/>
          </a:solidFill>
          <a:ln w="6191">
            <a:solidFill>
              <a:srgbClr val="b7633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06" name="บ้านกล้วย"/>
          <p:cNvSpPr/>
          <p:nvPr/>
        </p:nvSpPr>
        <p:spPr>
          <a:xfrm>
            <a:off x="5793840" y="5832360"/>
            <a:ext cx="95400" cy="43200"/>
          </a:xfrm>
          <a:custGeom>
            <a:avLst/>
            <a:gdLst/>
            <a:ahLst/>
            <a:rect l="l" t="t" r="r" b="b"/>
            <a:pathLst>
              <a:path w="95792" h="43389">
                <a:moveTo>
                  <a:pt x="0" y="1602"/>
                </a:moveTo>
                <a:lnTo>
                  <a:pt x="120" y="3821"/>
                </a:lnTo>
                <a:lnTo>
                  <a:pt x="4311" y="5917"/>
                </a:lnTo>
                <a:lnTo>
                  <a:pt x="26941" y="12943"/>
                </a:lnTo>
                <a:lnTo>
                  <a:pt x="67773" y="30816"/>
                </a:lnTo>
                <a:lnTo>
                  <a:pt x="74478" y="35130"/>
                </a:lnTo>
                <a:lnTo>
                  <a:pt x="95792" y="43389"/>
                </a:lnTo>
                <a:lnTo>
                  <a:pt x="80705" y="35130"/>
                </a:lnTo>
                <a:lnTo>
                  <a:pt x="20356" y="8505"/>
                </a:lnTo>
                <a:lnTo>
                  <a:pt x="599" y="0"/>
                </a:lnTo>
                <a:lnTo>
                  <a:pt x="0" y="1602"/>
                </a:lnTo>
                <a:close/>
              </a:path>
            </a:pathLst>
          </a:custGeom>
          <a:solidFill>
            <a:srgbClr val="f2c8ad"/>
          </a:solidFill>
          <a:ln w="6191">
            <a:solidFill>
              <a:srgbClr val="b7633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07" name="ร่วมมิตรแรงศรัทธา"/>
          <p:cNvSpPr/>
          <p:nvPr/>
        </p:nvSpPr>
        <p:spPr>
          <a:xfrm>
            <a:off x="6037920" y="3564720"/>
            <a:ext cx="156240" cy="125280"/>
          </a:xfrm>
          <a:custGeom>
            <a:avLst/>
            <a:gdLst/>
            <a:ahLst/>
            <a:rect l="l" t="t" r="r" b="b"/>
            <a:pathLst>
              <a:path w="156620" h="125730">
                <a:moveTo>
                  <a:pt x="0" y="123511"/>
                </a:moveTo>
                <a:lnTo>
                  <a:pt x="3592" y="125730"/>
                </a:lnTo>
                <a:lnTo>
                  <a:pt x="25864" y="103542"/>
                </a:lnTo>
                <a:lnTo>
                  <a:pt x="49093" y="85546"/>
                </a:lnTo>
                <a:lnTo>
                  <a:pt x="136503" y="27981"/>
                </a:lnTo>
                <a:lnTo>
                  <a:pt x="156620" y="2219"/>
                </a:lnTo>
                <a:lnTo>
                  <a:pt x="155542" y="0"/>
                </a:lnTo>
                <a:lnTo>
                  <a:pt x="150752" y="2096"/>
                </a:lnTo>
                <a:lnTo>
                  <a:pt x="142251" y="13929"/>
                </a:lnTo>
                <a:lnTo>
                  <a:pt x="131834" y="23420"/>
                </a:lnTo>
                <a:lnTo>
                  <a:pt x="108963" y="40924"/>
                </a:lnTo>
                <a:lnTo>
                  <a:pt x="66935" y="67056"/>
                </a:lnTo>
                <a:lnTo>
                  <a:pt x="41909" y="85299"/>
                </a:lnTo>
                <a:lnTo>
                  <a:pt x="39993" y="83573"/>
                </a:lnTo>
                <a:lnTo>
                  <a:pt x="36401" y="90353"/>
                </a:lnTo>
                <a:lnTo>
                  <a:pt x="11974" y="108966"/>
                </a:lnTo>
                <a:lnTo>
                  <a:pt x="0" y="123511"/>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08" name="ชุมชนลาดพร้าว 80 แยก 11"/>
          <p:cNvSpPr/>
          <p:nvPr/>
        </p:nvSpPr>
        <p:spPr>
          <a:xfrm>
            <a:off x="6040080" y="4992480"/>
            <a:ext cx="101520" cy="21240"/>
          </a:xfrm>
          <a:custGeom>
            <a:avLst/>
            <a:gdLst/>
            <a:ahLst/>
            <a:rect l="l" t="t" r="r" b="b"/>
            <a:pathLst>
              <a:path w="102018" h="21571">
                <a:moveTo>
                  <a:pt x="20476" y="19353"/>
                </a:moveTo>
                <a:lnTo>
                  <a:pt x="34126" y="18736"/>
                </a:lnTo>
                <a:lnTo>
                  <a:pt x="34485" y="21571"/>
                </a:lnTo>
                <a:lnTo>
                  <a:pt x="47896" y="20955"/>
                </a:lnTo>
                <a:lnTo>
                  <a:pt x="47656" y="17873"/>
                </a:lnTo>
                <a:lnTo>
                  <a:pt x="101899" y="15038"/>
                </a:lnTo>
                <a:lnTo>
                  <a:pt x="102018" y="8382"/>
                </a:lnTo>
                <a:lnTo>
                  <a:pt x="83818" y="8629"/>
                </a:lnTo>
                <a:lnTo>
                  <a:pt x="83698" y="6040"/>
                </a:lnTo>
                <a:lnTo>
                  <a:pt x="68371" y="6533"/>
                </a:lnTo>
                <a:lnTo>
                  <a:pt x="68371" y="5054"/>
                </a:lnTo>
                <a:lnTo>
                  <a:pt x="66815" y="5054"/>
                </a:lnTo>
                <a:lnTo>
                  <a:pt x="66575" y="0"/>
                </a:lnTo>
                <a:lnTo>
                  <a:pt x="17602" y="3205"/>
                </a:lnTo>
                <a:lnTo>
                  <a:pt x="17362" y="1109"/>
                </a:lnTo>
                <a:lnTo>
                  <a:pt x="0" y="2465"/>
                </a:lnTo>
                <a:lnTo>
                  <a:pt x="359" y="11464"/>
                </a:lnTo>
                <a:lnTo>
                  <a:pt x="41430" y="7889"/>
                </a:lnTo>
                <a:lnTo>
                  <a:pt x="41550" y="11833"/>
                </a:lnTo>
                <a:lnTo>
                  <a:pt x="14249" y="14175"/>
                </a:lnTo>
                <a:lnTo>
                  <a:pt x="14848" y="19476"/>
                </a:lnTo>
                <a:lnTo>
                  <a:pt x="20476" y="19353"/>
                </a:lnTo>
                <a:close/>
              </a:path>
            </a:pathLst>
          </a:custGeom>
          <a:solidFill>
            <a:srgbClr val="f2c8ad"/>
          </a:solidFill>
          <a:ln w="6191">
            <a:solidFill>
              <a:srgbClr val="b7633d"/>
            </a:solidFill>
            <a:round/>
          </a:ln>
        </p:spPr>
        <p:style>
          <a:lnRef idx="0"/>
          <a:fillRef idx="0"/>
          <a:effectRef idx="0"/>
          <a:fontRef idx="minor"/>
        </p:style>
        <p:txBody>
          <a:bodyPr lIns="90000" rIns="90000" tIns="-23760" bIns="-23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09" name="ริมคลองพระโขนง"/>
          <p:cNvSpPr/>
          <p:nvPr/>
        </p:nvSpPr>
        <p:spPr>
          <a:xfrm>
            <a:off x="5964120" y="5893560"/>
            <a:ext cx="28800" cy="42480"/>
          </a:xfrm>
          <a:custGeom>
            <a:avLst/>
            <a:gdLst/>
            <a:ahLst/>
            <a:rect l="l" t="t" r="r" b="b"/>
            <a:pathLst>
              <a:path w="29097" h="42773">
                <a:moveTo>
                  <a:pt x="26941" y="29090"/>
                </a:moveTo>
                <a:lnTo>
                  <a:pt x="29097" y="24899"/>
                </a:lnTo>
                <a:lnTo>
                  <a:pt x="28618" y="22927"/>
                </a:lnTo>
                <a:lnTo>
                  <a:pt x="26343" y="22188"/>
                </a:lnTo>
                <a:lnTo>
                  <a:pt x="16404" y="6163"/>
                </a:lnTo>
                <a:lnTo>
                  <a:pt x="18081" y="5054"/>
                </a:lnTo>
                <a:lnTo>
                  <a:pt x="15327" y="123"/>
                </a:lnTo>
                <a:lnTo>
                  <a:pt x="12453" y="0"/>
                </a:lnTo>
                <a:lnTo>
                  <a:pt x="7903" y="2465"/>
                </a:lnTo>
                <a:lnTo>
                  <a:pt x="15327" y="15408"/>
                </a:lnTo>
                <a:lnTo>
                  <a:pt x="7065" y="19353"/>
                </a:lnTo>
                <a:lnTo>
                  <a:pt x="10417" y="25269"/>
                </a:lnTo>
                <a:lnTo>
                  <a:pt x="0" y="31556"/>
                </a:lnTo>
                <a:lnTo>
                  <a:pt x="8741" y="42773"/>
                </a:lnTo>
                <a:lnTo>
                  <a:pt x="11375" y="42526"/>
                </a:lnTo>
                <a:lnTo>
                  <a:pt x="19877" y="38582"/>
                </a:lnTo>
                <a:lnTo>
                  <a:pt x="26941" y="29090"/>
                </a:lnTo>
                <a:close/>
              </a:path>
            </a:pathLst>
          </a:custGeom>
          <a:solidFill>
            <a:srgbClr val="f2c8ad"/>
          </a:solidFill>
          <a:ln w="6191">
            <a:solidFill>
              <a:srgbClr val="b7633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10" name="สวนอ้อย"/>
          <p:cNvSpPr/>
          <p:nvPr/>
        </p:nvSpPr>
        <p:spPr>
          <a:xfrm>
            <a:off x="5955480" y="6009840"/>
            <a:ext cx="24840" cy="27000"/>
          </a:xfrm>
          <a:custGeom>
            <a:avLst/>
            <a:gdLst/>
            <a:ahLst/>
            <a:rect l="l" t="t" r="r" b="b"/>
            <a:pathLst>
              <a:path w="25145" h="27365">
                <a:moveTo>
                  <a:pt x="0" y="3698"/>
                </a:moveTo>
                <a:lnTo>
                  <a:pt x="718" y="8629"/>
                </a:lnTo>
                <a:lnTo>
                  <a:pt x="16285" y="17134"/>
                </a:lnTo>
                <a:lnTo>
                  <a:pt x="25145" y="27365"/>
                </a:lnTo>
                <a:lnTo>
                  <a:pt x="21673" y="0"/>
                </a:lnTo>
                <a:lnTo>
                  <a:pt x="6705" y="6903"/>
                </a:lnTo>
                <a:lnTo>
                  <a:pt x="0" y="3698"/>
                </a:lnTo>
                <a:close/>
              </a:path>
            </a:pathLst>
          </a:custGeom>
          <a:solidFill>
            <a:srgbClr val="f2c8ad"/>
          </a:solidFill>
          <a:ln w="6191">
            <a:solidFill>
              <a:srgbClr val="b7633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11" name="โค้งรถไฟยมราช"/>
          <p:cNvSpPr/>
          <p:nvPr/>
        </p:nvSpPr>
        <p:spPr>
          <a:xfrm>
            <a:off x="5160600" y="5275440"/>
            <a:ext cx="38880" cy="20160"/>
          </a:xfrm>
          <a:custGeom>
            <a:avLst/>
            <a:gdLst/>
            <a:ahLst/>
            <a:rect l="l" t="t" r="r" b="b"/>
            <a:pathLst>
              <a:path w="39275" h="20462">
                <a:moveTo>
                  <a:pt x="39275" y="370"/>
                </a:moveTo>
                <a:lnTo>
                  <a:pt x="31252" y="0"/>
                </a:lnTo>
                <a:lnTo>
                  <a:pt x="17841" y="2589"/>
                </a:lnTo>
                <a:lnTo>
                  <a:pt x="6825" y="247"/>
                </a:lnTo>
                <a:lnTo>
                  <a:pt x="0" y="18983"/>
                </a:lnTo>
                <a:lnTo>
                  <a:pt x="2874" y="20462"/>
                </a:lnTo>
                <a:lnTo>
                  <a:pt x="17003" y="8752"/>
                </a:lnTo>
                <a:lnTo>
                  <a:pt x="25744" y="5177"/>
                </a:lnTo>
                <a:lnTo>
                  <a:pt x="36281" y="3821"/>
                </a:lnTo>
                <a:lnTo>
                  <a:pt x="39275" y="370"/>
                </a:lnTo>
                <a:close/>
              </a:path>
            </a:pathLst>
          </a:custGeom>
          <a:solidFill>
            <a:srgbClr val="f2c8ad"/>
          </a:solidFill>
          <a:ln w="6191">
            <a:solidFill>
              <a:srgbClr val="b7633d"/>
            </a:solidFill>
            <a:round/>
          </a:ln>
        </p:spPr>
        <p:style>
          <a:lnRef idx="0"/>
          <a:fillRef idx="0"/>
          <a:effectRef idx="0"/>
          <a:fontRef idx="minor"/>
        </p:style>
        <p:txBody>
          <a:bodyPr lIns="90000" rIns="90000" tIns="-24840" bIns="-24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12" name="ซอยแดงบุหงา"/>
          <p:cNvSpPr/>
          <p:nvPr/>
        </p:nvSpPr>
        <p:spPr>
          <a:xfrm>
            <a:off x="5273640" y="5293800"/>
            <a:ext cx="24120" cy="12240"/>
          </a:xfrm>
          <a:custGeom>
            <a:avLst/>
            <a:gdLst/>
            <a:ahLst/>
            <a:rect l="l" t="t" r="r" b="b"/>
            <a:pathLst>
              <a:path w="24547" h="12450">
                <a:moveTo>
                  <a:pt x="0" y="8505"/>
                </a:moveTo>
                <a:lnTo>
                  <a:pt x="10777" y="11217"/>
                </a:lnTo>
                <a:lnTo>
                  <a:pt x="11256" y="9491"/>
                </a:lnTo>
                <a:lnTo>
                  <a:pt x="22631" y="12450"/>
                </a:lnTo>
                <a:lnTo>
                  <a:pt x="24547" y="5300"/>
                </a:lnTo>
                <a:lnTo>
                  <a:pt x="958" y="0"/>
                </a:lnTo>
                <a:lnTo>
                  <a:pt x="0" y="8505"/>
                </a:lnTo>
                <a:close/>
              </a:path>
            </a:pathLst>
          </a:custGeom>
          <a:solidFill>
            <a:srgbClr val="f2c8ad"/>
          </a:solidFill>
          <a:ln w="6191">
            <a:solidFill>
              <a:srgbClr val="b7633d"/>
            </a:solidFill>
            <a:round/>
          </a:ln>
        </p:spPr>
        <p:style>
          <a:lnRef idx="0"/>
          <a:fillRef idx="0"/>
          <a:effectRef idx="0"/>
          <a:fontRef idx="minor"/>
        </p:style>
        <p:txBody>
          <a:bodyPr lIns="90000" rIns="90000" tIns="-32760" bIns="-32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13" name="ซอยสวนเงิน"/>
          <p:cNvSpPr/>
          <p:nvPr/>
        </p:nvSpPr>
        <p:spPr>
          <a:xfrm>
            <a:off x="5260320" y="5124960"/>
            <a:ext cx="32040" cy="25200"/>
          </a:xfrm>
          <a:custGeom>
            <a:avLst/>
            <a:gdLst/>
            <a:ahLst/>
            <a:rect l="l" t="t" r="r" b="b"/>
            <a:pathLst>
              <a:path w="32330" h="25393">
                <a:moveTo>
                  <a:pt x="11495" y="5054"/>
                </a:moveTo>
                <a:lnTo>
                  <a:pt x="3353" y="0"/>
                </a:lnTo>
                <a:lnTo>
                  <a:pt x="0" y="8998"/>
                </a:lnTo>
                <a:lnTo>
                  <a:pt x="5628" y="10354"/>
                </a:lnTo>
                <a:lnTo>
                  <a:pt x="7424" y="6903"/>
                </a:lnTo>
                <a:lnTo>
                  <a:pt x="16045" y="10724"/>
                </a:lnTo>
                <a:lnTo>
                  <a:pt x="11495" y="21818"/>
                </a:lnTo>
                <a:lnTo>
                  <a:pt x="19039" y="25393"/>
                </a:lnTo>
                <a:lnTo>
                  <a:pt x="32330" y="1479"/>
                </a:lnTo>
                <a:lnTo>
                  <a:pt x="29456" y="0"/>
                </a:lnTo>
                <a:lnTo>
                  <a:pt x="23828" y="370"/>
                </a:lnTo>
                <a:lnTo>
                  <a:pt x="11495" y="5054"/>
                </a:lnTo>
                <a:close/>
              </a:path>
            </a:pathLst>
          </a:custGeom>
          <a:solidFill>
            <a:srgbClr val="f2c8ad"/>
          </a:solidFill>
          <a:ln w="6191">
            <a:solidFill>
              <a:srgbClr val="b7633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14" name="ซอยสุเหร่า (เพชรบุรี 7)"/>
          <p:cNvSpPr/>
          <p:nvPr/>
        </p:nvSpPr>
        <p:spPr>
          <a:xfrm>
            <a:off x="5256720" y="5310720"/>
            <a:ext cx="45360" cy="30960"/>
          </a:xfrm>
          <a:custGeom>
            <a:avLst/>
            <a:gdLst/>
            <a:ahLst/>
            <a:rect l="l" t="t" r="r" b="b"/>
            <a:pathLst>
              <a:path w="45741" h="31309">
                <a:moveTo>
                  <a:pt x="0" y="12203"/>
                </a:moveTo>
                <a:lnTo>
                  <a:pt x="8980" y="14792"/>
                </a:lnTo>
                <a:lnTo>
                  <a:pt x="4670" y="25146"/>
                </a:lnTo>
                <a:lnTo>
                  <a:pt x="21793" y="31309"/>
                </a:lnTo>
                <a:lnTo>
                  <a:pt x="23708" y="25269"/>
                </a:lnTo>
                <a:lnTo>
                  <a:pt x="34725" y="28721"/>
                </a:lnTo>
                <a:lnTo>
                  <a:pt x="45741" y="8505"/>
                </a:lnTo>
                <a:lnTo>
                  <a:pt x="14249" y="0"/>
                </a:lnTo>
                <a:lnTo>
                  <a:pt x="12692" y="7026"/>
                </a:lnTo>
                <a:lnTo>
                  <a:pt x="9459" y="6163"/>
                </a:lnTo>
                <a:lnTo>
                  <a:pt x="8980" y="8382"/>
                </a:lnTo>
                <a:lnTo>
                  <a:pt x="2155" y="6780"/>
                </a:lnTo>
                <a:lnTo>
                  <a:pt x="0" y="12203"/>
                </a:lnTo>
                <a:close/>
              </a:path>
            </a:pathLst>
          </a:custGeom>
          <a:solidFill>
            <a:srgbClr val="f2c8ad"/>
          </a:solidFill>
          <a:ln w="6191">
            <a:solidFill>
              <a:srgbClr val="b7633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15" name="หน้าวัดมะกอก"/>
          <p:cNvSpPr/>
          <p:nvPr/>
        </p:nvSpPr>
        <p:spPr>
          <a:xfrm>
            <a:off x="5340600" y="5169600"/>
            <a:ext cx="17280" cy="25200"/>
          </a:xfrm>
          <a:custGeom>
            <a:avLst/>
            <a:gdLst/>
            <a:ahLst/>
            <a:rect l="l" t="t" r="r" b="b"/>
            <a:pathLst>
              <a:path w="17602" h="25393">
                <a:moveTo>
                  <a:pt x="11615" y="25393"/>
                </a:moveTo>
                <a:lnTo>
                  <a:pt x="17602" y="11464"/>
                </a:lnTo>
                <a:lnTo>
                  <a:pt x="11016" y="2342"/>
                </a:lnTo>
                <a:lnTo>
                  <a:pt x="5029" y="0"/>
                </a:lnTo>
                <a:lnTo>
                  <a:pt x="0" y="10231"/>
                </a:lnTo>
                <a:lnTo>
                  <a:pt x="7184" y="13436"/>
                </a:lnTo>
                <a:lnTo>
                  <a:pt x="3712" y="20955"/>
                </a:lnTo>
                <a:lnTo>
                  <a:pt x="11615" y="25393"/>
                </a:lnTo>
                <a:close/>
              </a:path>
            </a:pathLst>
          </a:custGeom>
          <a:solidFill>
            <a:srgbClr val="f2c8ad"/>
          </a:solidFill>
          <a:ln w="6191">
            <a:solidFill>
              <a:srgbClr val="b7633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16" name="สระแก้ว"/>
          <p:cNvSpPr/>
          <p:nvPr/>
        </p:nvSpPr>
        <p:spPr>
          <a:xfrm>
            <a:off x="5167800" y="5239440"/>
            <a:ext cx="33480" cy="38520"/>
          </a:xfrm>
          <a:custGeom>
            <a:avLst/>
            <a:gdLst/>
            <a:ahLst/>
            <a:rect l="l" t="t" r="r" b="b"/>
            <a:pathLst>
              <a:path w="33767" h="38828">
                <a:moveTo>
                  <a:pt x="16045" y="0"/>
                </a:moveTo>
                <a:lnTo>
                  <a:pt x="0" y="36486"/>
                </a:lnTo>
                <a:lnTo>
                  <a:pt x="10178" y="38828"/>
                </a:lnTo>
                <a:lnTo>
                  <a:pt x="32090" y="36363"/>
                </a:lnTo>
                <a:lnTo>
                  <a:pt x="33767" y="32665"/>
                </a:lnTo>
                <a:lnTo>
                  <a:pt x="22870" y="21202"/>
                </a:lnTo>
                <a:lnTo>
                  <a:pt x="17243" y="8998"/>
                </a:lnTo>
                <a:lnTo>
                  <a:pt x="16045" y="0"/>
                </a:lnTo>
                <a:close/>
              </a:path>
            </a:pathLst>
          </a:custGeom>
          <a:solidFill>
            <a:srgbClr val="f2c8ad"/>
          </a:solidFill>
          <a:ln w="6191">
            <a:solidFill>
              <a:srgbClr val="b7633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17" name="ชุมชนริมคลองลาดพร้าว"/>
          <p:cNvSpPr/>
          <p:nvPr/>
        </p:nvSpPr>
        <p:spPr>
          <a:xfrm>
            <a:off x="6017400" y="5005080"/>
            <a:ext cx="141120" cy="163440"/>
          </a:xfrm>
          <a:custGeom>
            <a:avLst/>
            <a:gdLst/>
            <a:ahLst/>
            <a:rect l="l" t="t" r="r" b="b"/>
            <a:pathLst>
              <a:path w="141652" h="163696">
                <a:moveTo>
                  <a:pt x="0" y="1109"/>
                </a:moveTo>
                <a:lnTo>
                  <a:pt x="10417" y="18613"/>
                </a:lnTo>
                <a:lnTo>
                  <a:pt x="10896" y="55592"/>
                </a:lnTo>
                <a:lnTo>
                  <a:pt x="6107" y="82341"/>
                </a:lnTo>
                <a:lnTo>
                  <a:pt x="6346" y="100584"/>
                </a:lnTo>
                <a:lnTo>
                  <a:pt x="14489" y="154451"/>
                </a:lnTo>
                <a:lnTo>
                  <a:pt x="18679" y="163696"/>
                </a:lnTo>
                <a:lnTo>
                  <a:pt x="20954" y="163696"/>
                </a:lnTo>
                <a:lnTo>
                  <a:pt x="21194" y="161970"/>
                </a:lnTo>
                <a:lnTo>
                  <a:pt x="26103" y="162216"/>
                </a:lnTo>
                <a:lnTo>
                  <a:pt x="27061" y="153958"/>
                </a:lnTo>
                <a:lnTo>
                  <a:pt x="40712" y="157532"/>
                </a:lnTo>
                <a:lnTo>
                  <a:pt x="54601" y="57195"/>
                </a:lnTo>
                <a:lnTo>
                  <a:pt x="54242" y="48443"/>
                </a:lnTo>
                <a:lnTo>
                  <a:pt x="130995" y="50539"/>
                </a:lnTo>
                <a:lnTo>
                  <a:pt x="136623" y="26995"/>
                </a:lnTo>
                <a:lnTo>
                  <a:pt x="139138" y="25516"/>
                </a:lnTo>
                <a:lnTo>
                  <a:pt x="141652" y="11587"/>
                </a:lnTo>
                <a:lnTo>
                  <a:pt x="10537" y="17011"/>
                </a:lnTo>
                <a:lnTo>
                  <a:pt x="9340" y="9122"/>
                </a:lnTo>
                <a:lnTo>
                  <a:pt x="12333" y="8875"/>
                </a:lnTo>
                <a:lnTo>
                  <a:pt x="11974" y="4561"/>
                </a:lnTo>
                <a:lnTo>
                  <a:pt x="8262" y="4438"/>
                </a:lnTo>
                <a:lnTo>
                  <a:pt x="7304" y="0"/>
                </a:lnTo>
                <a:lnTo>
                  <a:pt x="0" y="1109"/>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18" name="ชุมชนจันทราสุข"/>
          <p:cNvSpPr/>
          <p:nvPr/>
        </p:nvSpPr>
        <p:spPr>
          <a:xfrm>
            <a:off x="6303240" y="4886640"/>
            <a:ext cx="24480" cy="42480"/>
          </a:xfrm>
          <a:custGeom>
            <a:avLst/>
            <a:gdLst/>
            <a:ahLst/>
            <a:rect l="l" t="t" r="r" b="b"/>
            <a:pathLst>
              <a:path w="24786" h="42773">
                <a:moveTo>
                  <a:pt x="6107" y="4684"/>
                </a:moveTo>
                <a:lnTo>
                  <a:pt x="0" y="36979"/>
                </a:lnTo>
                <a:lnTo>
                  <a:pt x="958" y="39568"/>
                </a:lnTo>
                <a:lnTo>
                  <a:pt x="18440" y="42773"/>
                </a:lnTo>
                <a:lnTo>
                  <a:pt x="24786" y="1479"/>
                </a:lnTo>
                <a:lnTo>
                  <a:pt x="17123" y="0"/>
                </a:lnTo>
                <a:lnTo>
                  <a:pt x="16644" y="3205"/>
                </a:lnTo>
                <a:lnTo>
                  <a:pt x="5748" y="986"/>
                </a:lnTo>
                <a:lnTo>
                  <a:pt x="6107" y="4684"/>
                </a:lnTo>
                <a:close/>
              </a:path>
            </a:pathLst>
          </a:custGeom>
          <a:solidFill>
            <a:srgbClr val="f2c8ad"/>
          </a:solidFill>
          <a:ln w="6191">
            <a:solidFill>
              <a:srgbClr val="b7633d"/>
            </a:solidFill>
            <a:round/>
          </a:ln>
        </p:spPr>
        <p:style>
          <a:lnRef idx="0"/>
          <a:fillRef idx="0"/>
          <a:effectRef idx="0"/>
          <a:fontRef idx="minor"/>
        </p:style>
        <p:txBody>
          <a:bodyPr lIns="90000" rIns="90000" tIns="-2520" bIns="-2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19" name="ชุมชนลาดพร้าว 91"/>
          <p:cNvSpPr/>
          <p:nvPr/>
        </p:nvSpPr>
        <p:spPr>
          <a:xfrm>
            <a:off x="6348960" y="4916520"/>
            <a:ext cx="68400" cy="20520"/>
          </a:xfrm>
          <a:custGeom>
            <a:avLst/>
            <a:gdLst/>
            <a:ahLst/>
            <a:rect l="l" t="t" r="r" b="b"/>
            <a:pathLst>
              <a:path w="68850" h="20832">
                <a:moveTo>
                  <a:pt x="65977" y="0"/>
                </a:moveTo>
                <a:lnTo>
                  <a:pt x="38796" y="3575"/>
                </a:lnTo>
                <a:lnTo>
                  <a:pt x="33048" y="1972"/>
                </a:lnTo>
                <a:lnTo>
                  <a:pt x="10657" y="1479"/>
                </a:lnTo>
                <a:lnTo>
                  <a:pt x="10657" y="6040"/>
                </a:lnTo>
                <a:lnTo>
                  <a:pt x="16285" y="6040"/>
                </a:lnTo>
                <a:lnTo>
                  <a:pt x="16524" y="9984"/>
                </a:lnTo>
                <a:lnTo>
                  <a:pt x="2395" y="10477"/>
                </a:lnTo>
                <a:lnTo>
                  <a:pt x="0" y="15531"/>
                </a:lnTo>
                <a:lnTo>
                  <a:pt x="1796" y="17011"/>
                </a:lnTo>
                <a:lnTo>
                  <a:pt x="4071" y="14299"/>
                </a:lnTo>
                <a:lnTo>
                  <a:pt x="4191" y="17011"/>
                </a:lnTo>
                <a:lnTo>
                  <a:pt x="21194" y="15901"/>
                </a:lnTo>
                <a:lnTo>
                  <a:pt x="20954" y="18243"/>
                </a:lnTo>
                <a:lnTo>
                  <a:pt x="25385" y="17750"/>
                </a:lnTo>
                <a:lnTo>
                  <a:pt x="25265" y="15778"/>
                </a:lnTo>
                <a:lnTo>
                  <a:pt x="33767" y="15038"/>
                </a:lnTo>
                <a:lnTo>
                  <a:pt x="33886" y="20832"/>
                </a:lnTo>
                <a:lnTo>
                  <a:pt x="44304" y="20092"/>
                </a:lnTo>
                <a:lnTo>
                  <a:pt x="68850" y="15162"/>
                </a:lnTo>
                <a:lnTo>
                  <a:pt x="65977" y="0"/>
                </a:lnTo>
                <a:close/>
              </a:path>
            </a:pathLst>
          </a:custGeom>
          <a:solidFill>
            <a:srgbClr val="f2c8ad"/>
          </a:solidFill>
          <a:ln w="6191">
            <a:solidFill>
              <a:srgbClr val="b7633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20" name="ชุมชนไดร์ฟอิน"/>
          <p:cNvSpPr/>
          <p:nvPr/>
        </p:nvSpPr>
        <p:spPr>
          <a:xfrm>
            <a:off x="6420240" y="5087520"/>
            <a:ext cx="29520" cy="20520"/>
          </a:xfrm>
          <a:custGeom>
            <a:avLst/>
            <a:gdLst/>
            <a:ahLst/>
            <a:rect l="l" t="t" r="r" b="b"/>
            <a:pathLst>
              <a:path w="30055" h="20955">
                <a:moveTo>
                  <a:pt x="30055" y="17873"/>
                </a:moveTo>
                <a:lnTo>
                  <a:pt x="25744" y="0"/>
                </a:lnTo>
                <a:lnTo>
                  <a:pt x="0" y="5670"/>
                </a:lnTo>
                <a:lnTo>
                  <a:pt x="599" y="9738"/>
                </a:lnTo>
                <a:lnTo>
                  <a:pt x="14848" y="7026"/>
                </a:lnTo>
                <a:lnTo>
                  <a:pt x="16644" y="15901"/>
                </a:lnTo>
                <a:lnTo>
                  <a:pt x="13531" y="16641"/>
                </a:lnTo>
                <a:lnTo>
                  <a:pt x="14249" y="20955"/>
                </a:lnTo>
                <a:lnTo>
                  <a:pt x="30055" y="17873"/>
                </a:lnTo>
                <a:close/>
              </a:path>
            </a:pathLst>
          </a:custGeom>
          <a:solidFill>
            <a:srgbClr val="f2c8ad"/>
          </a:solidFill>
          <a:ln w="6191">
            <a:solidFill>
              <a:srgbClr val="b7633d"/>
            </a:solidFill>
            <a:round/>
          </a:ln>
        </p:spPr>
        <p:style>
          <a:lnRef idx="0"/>
          <a:fillRef idx="0"/>
          <a:effectRef idx="0"/>
          <a:fontRef idx="minor"/>
        </p:style>
        <p:txBody>
          <a:bodyPr lIns="90000" rIns="90000" tIns="-24480" bIns="-24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21" name="ชุมชนทรัพย์สินเก่า"/>
          <p:cNvSpPr/>
          <p:nvPr/>
        </p:nvSpPr>
        <p:spPr>
          <a:xfrm>
            <a:off x="6168600" y="5189040"/>
            <a:ext cx="85680" cy="71280"/>
          </a:xfrm>
          <a:custGeom>
            <a:avLst/>
            <a:gdLst/>
            <a:ahLst/>
            <a:rect l="l" t="t" r="r" b="b"/>
            <a:pathLst>
              <a:path w="86213" h="71740">
                <a:moveTo>
                  <a:pt x="68850" y="54606"/>
                </a:moveTo>
                <a:lnTo>
                  <a:pt x="37598" y="28351"/>
                </a:lnTo>
                <a:lnTo>
                  <a:pt x="31132" y="24653"/>
                </a:lnTo>
                <a:lnTo>
                  <a:pt x="8741" y="3328"/>
                </a:lnTo>
                <a:lnTo>
                  <a:pt x="4670" y="0"/>
                </a:lnTo>
                <a:lnTo>
                  <a:pt x="3712" y="986"/>
                </a:lnTo>
                <a:lnTo>
                  <a:pt x="4909" y="2342"/>
                </a:lnTo>
                <a:lnTo>
                  <a:pt x="0" y="8752"/>
                </a:lnTo>
                <a:lnTo>
                  <a:pt x="2275" y="11094"/>
                </a:lnTo>
                <a:lnTo>
                  <a:pt x="599" y="13066"/>
                </a:lnTo>
                <a:lnTo>
                  <a:pt x="57954" y="61632"/>
                </a:lnTo>
                <a:lnTo>
                  <a:pt x="84057" y="71740"/>
                </a:lnTo>
                <a:lnTo>
                  <a:pt x="86213" y="68412"/>
                </a:lnTo>
                <a:lnTo>
                  <a:pt x="68850" y="54606"/>
                </a:lnTo>
                <a:close/>
              </a:path>
            </a:pathLst>
          </a:custGeom>
          <a:solidFill>
            <a:srgbClr val="f2c8ad"/>
          </a:solidFill>
          <a:ln w="6191">
            <a:solidFill>
              <a:srgbClr val="b7633d"/>
            </a:solidFill>
            <a:round/>
          </a:ln>
        </p:spPr>
        <p:style>
          <a:lnRef idx="0"/>
          <a:fillRef idx="0"/>
          <a:effectRef idx="0"/>
          <a:fontRef idx="minor"/>
        </p:style>
        <p:txBody>
          <a:bodyPr lIns="90000" rIns="90000" tIns="26280" bIns="26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22" name="ซอยมั่นสิน"/>
          <p:cNvSpPr/>
          <p:nvPr/>
        </p:nvSpPr>
        <p:spPr>
          <a:xfrm>
            <a:off x="5194440" y="5286240"/>
            <a:ext cx="28800" cy="31680"/>
          </a:xfrm>
          <a:custGeom>
            <a:avLst/>
            <a:gdLst/>
            <a:ahLst/>
            <a:rect l="l" t="t" r="r" b="b"/>
            <a:pathLst>
              <a:path w="29217" h="31926">
                <a:moveTo>
                  <a:pt x="0" y="24776"/>
                </a:moveTo>
                <a:lnTo>
                  <a:pt x="20236" y="31926"/>
                </a:lnTo>
                <a:lnTo>
                  <a:pt x="23110" y="24283"/>
                </a:lnTo>
                <a:lnTo>
                  <a:pt x="25385" y="23913"/>
                </a:lnTo>
                <a:lnTo>
                  <a:pt x="25145" y="16517"/>
                </a:lnTo>
                <a:lnTo>
                  <a:pt x="29217" y="2835"/>
                </a:lnTo>
                <a:lnTo>
                  <a:pt x="11974" y="0"/>
                </a:lnTo>
                <a:lnTo>
                  <a:pt x="0" y="24776"/>
                </a:lnTo>
                <a:close/>
              </a:path>
            </a:pathLst>
          </a:custGeom>
          <a:solidFill>
            <a:srgbClr val="f2c8ad"/>
          </a:solidFill>
          <a:ln w="6191">
            <a:solidFill>
              <a:srgbClr val="b7633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23" name="สุเหร่าบางมะเขือ"/>
          <p:cNvSpPr/>
          <p:nvPr/>
        </p:nvSpPr>
        <p:spPr>
          <a:xfrm>
            <a:off x="6044400" y="5783760"/>
            <a:ext cx="48240" cy="51120"/>
          </a:xfrm>
          <a:custGeom>
            <a:avLst/>
            <a:gdLst/>
            <a:ahLst/>
            <a:rect l="l" t="t" r="r" b="b"/>
            <a:pathLst>
              <a:path w="48614" h="51401">
                <a:moveTo>
                  <a:pt x="0" y="34637"/>
                </a:moveTo>
                <a:lnTo>
                  <a:pt x="46699" y="51401"/>
                </a:lnTo>
                <a:lnTo>
                  <a:pt x="48614" y="44005"/>
                </a:lnTo>
                <a:lnTo>
                  <a:pt x="47297" y="42403"/>
                </a:lnTo>
                <a:lnTo>
                  <a:pt x="48495" y="38828"/>
                </a:lnTo>
                <a:lnTo>
                  <a:pt x="45501" y="37103"/>
                </a:lnTo>
                <a:lnTo>
                  <a:pt x="44423" y="35747"/>
                </a:lnTo>
                <a:lnTo>
                  <a:pt x="45381" y="34884"/>
                </a:lnTo>
                <a:lnTo>
                  <a:pt x="41669" y="31556"/>
                </a:lnTo>
                <a:lnTo>
                  <a:pt x="40712" y="32912"/>
                </a:lnTo>
                <a:lnTo>
                  <a:pt x="37598" y="30816"/>
                </a:lnTo>
                <a:lnTo>
                  <a:pt x="37359" y="28351"/>
                </a:lnTo>
                <a:lnTo>
                  <a:pt x="30534" y="24037"/>
                </a:lnTo>
                <a:lnTo>
                  <a:pt x="31731" y="17134"/>
                </a:lnTo>
                <a:lnTo>
                  <a:pt x="37838" y="15038"/>
                </a:lnTo>
                <a:lnTo>
                  <a:pt x="32809" y="5054"/>
                </a:lnTo>
                <a:lnTo>
                  <a:pt x="26463" y="4931"/>
                </a:lnTo>
                <a:lnTo>
                  <a:pt x="26343" y="0"/>
                </a:lnTo>
                <a:lnTo>
                  <a:pt x="22870" y="0"/>
                </a:lnTo>
                <a:lnTo>
                  <a:pt x="22870" y="2219"/>
                </a:lnTo>
                <a:lnTo>
                  <a:pt x="18560" y="1233"/>
                </a:lnTo>
                <a:lnTo>
                  <a:pt x="18679" y="7396"/>
                </a:lnTo>
                <a:lnTo>
                  <a:pt x="17243" y="7396"/>
                </a:lnTo>
                <a:lnTo>
                  <a:pt x="17123" y="4314"/>
                </a:lnTo>
                <a:lnTo>
                  <a:pt x="10298" y="5177"/>
                </a:lnTo>
                <a:lnTo>
                  <a:pt x="0" y="34637"/>
                </a:lnTo>
                <a:close/>
              </a:path>
            </a:pathLst>
          </a:custGeom>
          <a:solidFill>
            <a:srgbClr val="f2c8ad"/>
          </a:solidFill>
          <a:ln w="6191">
            <a:solidFill>
              <a:srgbClr val="b7633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24" name="ศาลาลอย"/>
          <p:cNvSpPr/>
          <p:nvPr/>
        </p:nvSpPr>
        <p:spPr>
          <a:xfrm>
            <a:off x="6089760" y="5694120"/>
            <a:ext cx="34560" cy="28080"/>
          </a:xfrm>
          <a:custGeom>
            <a:avLst/>
            <a:gdLst/>
            <a:ahLst/>
            <a:rect l="l" t="t" r="r" b="b"/>
            <a:pathLst>
              <a:path w="34844" h="28474">
                <a:moveTo>
                  <a:pt x="33407" y="25146"/>
                </a:moveTo>
                <a:lnTo>
                  <a:pt x="34844" y="14052"/>
                </a:lnTo>
                <a:lnTo>
                  <a:pt x="31731" y="6903"/>
                </a:lnTo>
                <a:lnTo>
                  <a:pt x="22511" y="5300"/>
                </a:lnTo>
                <a:lnTo>
                  <a:pt x="21912" y="7396"/>
                </a:lnTo>
                <a:lnTo>
                  <a:pt x="19158" y="6780"/>
                </a:lnTo>
                <a:lnTo>
                  <a:pt x="19877" y="986"/>
                </a:lnTo>
                <a:lnTo>
                  <a:pt x="14369" y="1356"/>
                </a:lnTo>
                <a:lnTo>
                  <a:pt x="14369" y="0"/>
                </a:lnTo>
                <a:lnTo>
                  <a:pt x="10178" y="740"/>
                </a:lnTo>
                <a:lnTo>
                  <a:pt x="12573" y="11094"/>
                </a:lnTo>
                <a:lnTo>
                  <a:pt x="1916" y="13436"/>
                </a:lnTo>
                <a:lnTo>
                  <a:pt x="1796" y="22804"/>
                </a:lnTo>
                <a:lnTo>
                  <a:pt x="0" y="23051"/>
                </a:lnTo>
                <a:lnTo>
                  <a:pt x="359" y="28474"/>
                </a:lnTo>
                <a:lnTo>
                  <a:pt x="33407" y="25146"/>
                </a:lnTo>
                <a:close/>
              </a:path>
            </a:pathLst>
          </a:custGeom>
          <a:solidFill>
            <a:srgbClr val="f2c8ad"/>
          </a:solidFill>
          <a:ln w="6191">
            <a:solidFill>
              <a:srgbClr val="b7633d"/>
            </a:solidFill>
            <a:round/>
          </a:ln>
        </p:spPr>
        <p:style>
          <a:lnRef idx="0"/>
          <a:fillRef idx="0"/>
          <a:effectRef idx="0"/>
          <a:fontRef idx="minor"/>
        </p:style>
        <p:txBody>
          <a:bodyPr lIns="90000" rIns="90000" tIns="-16920" bIns="-16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25" name="มีสุวรรณ 2"/>
          <p:cNvSpPr/>
          <p:nvPr/>
        </p:nvSpPr>
        <p:spPr>
          <a:xfrm>
            <a:off x="6021720" y="5778000"/>
            <a:ext cx="27000" cy="27000"/>
          </a:xfrm>
          <a:custGeom>
            <a:avLst/>
            <a:gdLst/>
            <a:ahLst/>
            <a:rect l="l" t="t" r="r" b="b"/>
            <a:pathLst>
              <a:path w="27181" h="27488">
                <a:moveTo>
                  <a:pt x="27181" y="17504"/>
                </a:moveTo>
                <a:lnTo>
                  <a:pt x="14010" y="11587"/>
                </a:lnTo>
                <a:lnTo>
                  <a:pt x="4430" y="0"/>
                </a:lnTo>
                <a:lnTo>
                  <a:pt x="0" y="2712"/>
                </a:lnTo>
                <a:lnTo>
                  <a:pt x="3233" y="11587"/>
                </a:lnTo>
                <a:lnTo>
                  <a:pt x="3832" y="21448"/>
                </a:lnTo>
                <a:lnTo>
                  <a:pt x="7783" y="22064"/>
                </a:lnTo>
                <a:lnTo>
                  <a:pt x="7663" y="26995"/>
                </a:lnTo>
                <a:lnTo>
                  <a:pt x="9819" y="27488"/>
                </a:lnTo>
                <a:lnTo>
                  <a:pt x="10537" y="23913"/>
                </a:lnTo>
                <a:lnTo>
                  <a:pt x="12573" y="24160"/>
                </a:lnTo>
                <a:lnTo>
                  <a:pt x="13052" y="21448"/>
                </a:lnTo>
                <a:lnTo>
                  <a:pt x="25265" y="23051"/>
                </a:lnTo>
                <a:lnTo>
                  <a:pt x="27181" y="17504"/>
                </a:lnTo>
                <a:close/>
              </a:path>
            </a:pathLst>
          </a:custGeom>
          <a:solidFill>
            <a:srgbClr val="f2c8ad"/>
          </a:solidFill>
          <a:ln w="6191">
            <a:solidFill>
              <a:srgbClr val="b7633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26" name="หลวงวิจิตร"/>
          <p:cNvSpPr/>
          <p:nvPr/>
        </p:nvSpPr>
        <p:spPr>
          <a:xfrm>
            <a:off x="6744240" y="4318560"/>
            <a:ext cx="2520" cy="19800"/>
          </a:xfrm>
          <a:custGeom>
            <a:avLst/>
            <a:gdLst/>
            <a:ahLst/>
            <a:rect l="l" t="t" r="r" b="b"/>
            <a:pathLst>
              <a:path w="2754" h="20092">
                <a:moveTo>
                  <a:pt x="1078" y="20092"/>
                </a:moveTo>
                <a:lnTo>
                  <a:pt x="2754" y="19229"/>
                </a:lnTo>
                <a:lnTo>
                  <a:pt x="1078" y="0"/>
                </a:lnTo>
                <a:lnTo>
                  <a:pt x="0" y="0"/>
                </a:lnTo>
                <a:lnTo>
                  <a:pt x="1078" y="20092"/>
                </a:lnTo>
                <a:close/>
              </a:path>
            </a:pathLst>
          </a:custGeom>
          <a:solidFill>
            <a:srgbClr val="f2c8ad"/>
          </a:solidFill>
          <a:ln w="6191">
            <a:solidFill>
              <a:srgbClr val="b7633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27" name="ชุมชนกระถินทอง"/>
          <p:cNvSpPr/>
          <p:nvPr/>
        </p:nvSpPr>
        <p:spPr>
          <a:xfrm>
            <a:off x="3815280" y="5898960"/>
            <a:ext cx="18360" cy="24120"/>
          </a:xfrm>
          <a:custGeom>
            <a:avLst/>
            <a:gdLst/>
            <a:ahLst/>
            <a:rect l="l" t="t" r="r" b="b"/>
            <a:pathLst>
              <a:path w="18560" h="24530">
                <a:moveTo>
                  <a:pt x="14369" y="0"/>
                </a:moveTo>
                <a:lnTo>
                  <a:pt x="0" y="4314"/>
                </a:lnTo>
                <a:lnTo>
                  <a:pt x="5628" y="24530"/>
                </a:lnTo>
                <a:lnTo>
                  <a:pt x="18560" y="21818"/>
                </a:lnTo>
                <a:lnTo>
                  <a:pt x="14369" y="0"/>
                </a:lnTo>
                <a:close/>
              </a:path>
            </a:pathLst>
          </a:custGeom>
          <a:solidFill>
            <a:srgbClr val="f2c8ad"/>
          </a:solidFill>
          <a:ln w="6191">
            <a:solidFill>
              <a:srgbClr val="b7633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28" name="ชุมชนงามปัญจะ"/>
          <p:cNvSpPr/>
          <p:nvPr/>
        </p:nvSpPr>
        <p:spPr>
          <a:xfrm>
            <a:off x="3996360" y="6086880"/>
            <a:ext cx="25560" cy="24120"/>
          </a:xfrm>
          <a:custGeom>
            <a:avLst/>
            <a:gdLst/>
            <a:ahLst/>
            <a:rect l="l" t="t" r="r" b="b"/>
            <a:pathLst>
              <a:path w="25984" h="24653">
                <a:moveTo>
                  <a:pt x="21553" y="0"/>
                </a:moveTo>
                <a:lnTo>
                  <a:pt x="15566" y="3082"/>
                </a:lnTo>
                <a:lnTo>
                  <a:pt x="20356" y="19476"/>
                </a:lnTo>
                <a:lnTo>
                  <a:pt x="16404" y="21695"/>
                </a:lnTo>
                <a:lnTo>
                  <a:pt x="11016" y="5793"/>
                </a:lnTo>
                <a:lnTo>
                  <a:pt x="0" y="12573"/>
                </a:lnTo>
                <a:lnTo>
                  <a:pt x="2036" y="17380"/>
                </a:lnTo>
                <a:lnTo>
                  <a:pt x="6705" y="15038"/>
                </a:lnTo>
                <a:lnTo>
                  <a:pt x="11615" y="24653"/>
                </a:lnTo>
                <a:lnTo>
                  <a:pt x="25984" y="16271"/>
                </a:lnTo>
                <a:lnTo>
                  <a:pt x="21553" y="0"/>
                </a:lnTo>
                <a:close/>
              </a:path>
            </a:pathLst>
          </a:custGeom>
          <a:solidFill>
            <a:srgbClr val="f2c8ad"/>
          </a:solidFill>
          <a:ln w="6191">
            <a:solidFill>
              <a:srgbClr val="b7633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29" name="ชุมชนซอยพึ่งธรรม"/>
          <p:cNvSpPr/>
          <p:nvPr/>
        </p:nvSpPr>
        <p:spPr>
          <a:xfrm>
            <a:off x="3862080" y="5882400"/>
            <a:ext cx="15480" cy="32040"/>
          </a:xfrm>
          <a:custGeom>
            <a:avLst/>
            <a:gdLst/>
            <a:ahLst/>
            <a:rect l="l" t="t" r="r" b="b"/>
            <a:pathLst>
              <a:path w="15686" h="32419">
                <a:moveTo>
                  <a:pt x="12453" y="31556"/>
                </a:moveTo>
                <a:lnTo>
                  <a:pt x="15686" y="30816"/>
                </a:lnTo>
                <a:lnTo>
                  <a:pt x="11495" y="0"/>
                </a:lnTo>
                <a:lnTo>
                  <a:pt x="0" y="740"/>
                </a:lnTo>
                <a:lnTo>
                  <a:pt x="4311" y="32419"/>
                </a:lnTo>
                <a:lnTo>
                  <a:pt x="12453" y="31556"/>
                </a:lnTo>
                <a:close/>
              </a:path>
            </a:pathLst>
          </a:custGeom>
          <a:solidFill>
            <a:srgbClr val="f2c8ad"/>
          </a:solidFill>
          <a:ln w="6191">
            <a:solidFill>
              <a:srgbClr val="b7633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30" name="ชุมชนนิมมานรดี"/>
          <p:cNvSpPr/>
          <p:nvPr/>
        </p:nvSpPr>
        <p:spPr>
          <a:xfrm>
            <a:off x="4002840" y="5882760"/>
            <a:ext cx="20880" cy="15120"/>
          </a:xfrm>
          <a:custGeom>
            <a:avLst/>
            <a:gdLst/>
            <a:ahLst/>
            <a:rect l="l" t="t" r="r" b="b"/>
            <a:pathLst>
              <a:path w="21074" h="15531">
                <a:moveTo>
                  <a:pt x="838" y="15531"/>
                </a:moveTo>
                <a:lnTo>
                  <a:pt x="21074" y="13682"/>
                </a:lnTo>
                <a:lnTo>
                  <a:pt x="20476" y="0"/>
                </a:lnTo>
                <a:lnTo>
                  <a:pt x="2036" y="3821"/>
                </a:lnTo>
                <a:lnTo>
                  <a:pt x="1916" y="9984"/>
                </a:lnTo>
                <a:lnTo>
                  <a:pt x="0" y="10231"/>
                </a:lnTo>
                <a:lnTo>
                  <a:pt x="838" y="15531"/>
                </a:lnTo>
                <a:close/>
              </a:path>
            </a:pathLst>
          </a:custGeom>
          <a:solidFill>
            <a:srgbClr val="f2c8ad"/>
          </a:solidFill>
          <a:ln w="6191">
            <a:solidFill>
              <a:srgbClr val="b7633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31" name="ชุมชนเพิ่มทรัพย์"/>
          <p:cNvSpPr/>
          <p:nvPr/>
        </p:nvSpPr>
        <p:spPr>
          <a:xfrm>
            <a:off x="3974760" y="6105600"/>
            <a:ext cx="19440" cy="20880"/>
          </a:xfrm>
          <a:custGeom>
            <a:avLst/>
            <a:gdLst/>
            <a:ahLst/>
            <a:rect l="l" t="t" r="r" b="b"/>
            <a:pathLst>
              <a:path w="19637" h="21202">
                <a:moveTo>
                  <a:pt x="0" y="6656"/>
                </a:moveTo>
                <a:lnTo>
                  <a:pt x="9938" y="21202"/>
                </a:lnTo>
                <a:lnTo>
                  <a:pt x="19637" y="15531"/>
                </a:lnTo>
                <a:lnTo>
                  <a:pt x="11495" y="0"/>
                </a:lnTo>
                <a:lnTo>
                  <a:pt x="0" y="6656"/>
                </a:lnTo>
                <a:close/>
              </a:path>
            </a:pathLst>
          </a:custGeom>
          <a:solidFill>
            <a:srgbClr val="f2c8ad"/>
          </a:solidFill>
          <a:ln w="6191">
            <a:solidFill>
              <a:srgbClr val="b7633d"/>
            </a:solidFill>
            <a:round/>
          </a:ln>
        </p:spPr>
        <p:style>
          <a:lnRef idx="0"/>
          <a:fillRef idx="0"/>
          <a:effectRef idx="0"/>
          <a:fontRef idx="minor"/>
        </p:style>
        <p:txBody>
          <a:bodyPr lIns="90000" rIns="90000" tIns="-24120" bIns="-24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32" name="ชุมชนยิ้มประยูร"/>
          <p:cNvSpPr/>
          <p:nvPr/>
        </p:nvSpPr>
        <p:spPr>
          <a:xfrm>
            <a:off x="4016520" y="6062040"/>
            <a:ext cx="14400" cy="22320"/>
          </a:xfrm>
          <a:custGeom>
            <a:avLst/>
            <a:gdLst/>
            <a:ahLst/>
            <a:rect l="l" t="t" r="r" b="b"/>
            <a:pathLst>
              <a:path w="14848" h="22681">
                <a:moveTo>
                  <a:pt x="6226" y="0"/>
                </a:moveTo>
                <a:lnTo>
                  <a:pt x="3233" y="493"/>
                </a:lnTo>
                <a:lnTo>
                  <a:pt x="4311" y="5547"/>
                </a:lnTo>
                <a:lnTo>
                  <a:pt x="0" y="6903"/>
                </a:lnTo>
                <a:lnTo>
                  <a:pt x="3472" y="22681"/>
                </a:lnTo>
                <a:lnTo>
                  <a:pt x="14848" y="16641"/>
                </a:lnTo>
                <a:lnTo>
                  <a:pt x="12812" y="3328"/>
                </a:lnTo>
                <a:lnTo>
                  <a:pt x="8023" y="4807"/>
                </a:lnTo>
                <a:lnTo>
                  <a:pt x="6226" y="0"/>
                </a:lnTo>
                <a:close/>
              </a:path>
            </a:pathLst>
          </a:custGeom>
          <a:solidFill>
            <a:srgbClr val="f2c8ad"/>
          </a:solidFill>
          <a:ln w="6191">
            <a:solidFill>
              <a:srgbClr val="b7633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33" name="หมู่บ้านชัยมงคล"/>
          <p:cNvSpPr/>
          <p:nvPr/>
        </p:nvSpPr>
        <p:spPr>
          <a:xfrm>
            <a:off x="3816360" y="6133680"/>
            <a:ext cx="41760" cy="49320"/>
          </a:xfrm>
          <a:custGeom>
            <a:avLst/>
            <a:gdLst/>
            <a:ahLst/>
            <a:rect l="l" t="t" r="r" b="b"/>
            <a:pathLst>
              <a:path w="42029" h="49799">
                <a:moveTo>
                  <a:pt x="25505" y="41540"/>
                </a:moveTo>
                <a:lnTo>
                  <a:pt x="30653" y="49799"/>
                </a:lnTo>
                <a:lnTo>
                  <a:pt x="41191" y="43512"/>
                </a:lnTo>
                <a:lnTo>
                  <a:pt x="42029" y="41540"/>
                </a:lnTo>
                <a:lnTo>
                  <a:pt x="28139" y="20832"/>
                </a:lnTo>
                <a:lnTo>
                  <a:pt x="39394" y="12943"/>
                </a:lnTo>
                <a:lnTo>
                  <a:pt x="33288" y="3205"/>
                </a:lnTo>
                <a:lnTo>
                  <a:pt x="13052" y="17627"/>
                </a:lnTo>
                <a:lnTo>
                  <a:pt x="5867" y="0"/>
                </a:lnTo>
                <a:lnTo>
                  <a:pt x="0" y="493"/>
                </a:lnTo>
                <a:lnTo>
                  <a:pt x="6825" y="19846"/>
                </a:lnTo>
                <a:lnTo>
                  <a:pt x="9938" y="18736"/>
                </a:lnTo>
                <a:lnTo>
                  <a:pt x="25505" y="41540"/>
                </a:lnTo>
                <a:close/>
              </a:path>
            </a:pathLst>
          </a:custGeom>
          <a:solidFill>
            <a:srgbClr val="f2c8ad"/>
          </a:solidFill>
          <a:ln w="6191">
            <a:solidFill>
              <a:srgbClr val="b7633d"/>
            </a:solidFill>
            <a:round/>
          </a:ln>
        </p:spPr>
        <p:style>
          <a:lnRef idx="0"/>
          <a:fillRef idx="0"/>
          <a:effectRef idx="0"/>
          <a:fontRef idx="minor"/>
        </p:style>
        <p:txBody>
          <a:bodyPr lIns="90000" rIns="90000" tIns="4320" bIns="4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34" name="เลียบคลองทวีวัฒนา"/>
          <p:cNvSpPr/>
          <p:nvPr/>
        </p:nvSpPr>
        <p:spPr>
          <a:xfrm>
            <a:off x="3349080" y="5802120"/>
            <a:ext cx="46440" cy="30600"/>
          </a:xfrm>
          <a:custGeom>
            <a:avLst/>
            <a:gdLst/>
            <a:ahLst/>
            <a:rect l="l" t="t" r="r" b="b"/>
            <a:pathLst>
              <a:path w="46818" h="30816">
                <a:moveTo>
                  <a:pt x="46818" y="15531"/>
                </a:moveTo>
                <a:lnTo>
                  <a:pt x="9699" y="22927"/>
                </a:lnTo>
                <a:lnTo>
                  <a:pt x="3353" y="8505"/>
                </a:lnTo>
                <a:lnTo>
                  <a:pt x="11854" y="5793"/>
                </a:lnTo>
                <a:lnTo>
                  <a:pt x="10777" y="0"/>
                </a:lnTo>
                <a:lnTo>
                  <a:pt x="0" y="4807"/>
                </a:lnTo>
                <a:lnTo>
                  <a:pt x="11136" y="28474"/>
                </a:lnTo>
                <a:lnTo>
                  <a:pt x="26822" y="25269"/>
                </a:lnTo>
                <a:lnTo>
                  <a:pt x="27660" y="30816"/>
                </a:lnTo>
                <a:lnTo>
                  <a:pt x="46699" y="27611"/>
                </a:lnTo>
                <a:lnTo>
                  <a:pt x="46818" y="15531"/>
                </a:lnTo>
                <a:close/>
              </a:path>
            </a:pathLst>
          </a:custGeom>
          <a:solidFill>
            <a:srgbClr val="f2c8ad"/>
          </a:solidFill>
          <a:ln w="6191">
            <a:solidFill>
              <a:srgbClr val="b7633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35" name="ชุมชนคลองยายเทียบฝั่งเหนือ"/>
          <p:cNvSpPr/>
          <p:nvPr/>
        </p:nvSpPr>
        <p:spPr>
          <a:xfrm>
            <a:off x="3924000" y="5836320"/>
            <a:ext cx="5040" cy="22320"/>
          </a:xfrm>
          <a:custGeom>
            <a:avLst/>
            <a:gdLst/>
            <a:ahLst/>
            <a:rect l="l" t="t" r="r" b="b"/>
            <a:pathLst>
              <a:path w="5269" h="22681">
                <a:moveTo>
                  <a:pt x="5149" y="370"/>
                </a:moveTo>
                <a:lnTo>
                  <a:pt x="0" y="0"/>
                </a:lnTo>
                <a:lnTo>
                  <a:pt x="120" y="22681"/>
                </a:lnTo>
                <a:lnTo>
                  <a:pt x="4071" y="22557"/>
                </a:lnTo>
                <a:lnTo>
                  <a:pt x="2754" y="14545"/>
                </a:lnTo>
                <a:lnTo>
                  <a:pt x="239" y="14422"/>
                </a:lnTo>
                <a:lnTo>
                  <a:pt x="239" y="9615"/>
                </a:lnTo>
                <a:lnTo>
                  <a:pt x="5269" y="9615"/>
                </a:lnTo>
                <a:lnTo>
                  <a:pt x="5149" y="370"/>
                </a:lnTo>
                <a:close/>
              </a:path>
            </a:pathLst>
          </a:custGeom>
          <a:solidFill>
            <a:srgbClr val="f2c8ad"/>
          </a:solidFill>
          <a:ln w="6191">
            <a:solidFill>
              <a:srgbClr val="b7633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36" name="เกาะจวน"/>
          <p:cNvSpPr/>
          <p:nvPr/>
        </p:nvSpPr>
        <p:spPr>
          <a:xfrm>
            <a:off x="7254360" y="4715280"/>
            <a:ext cx="59760" cy="61200"/>
          </a:xfrm>
          <a:custGeom>
            <a:avLst/>
            <a:gdLst/>
            <a:ahLst/>
            <a:rect l="l" t="t" r="r" b="b"/>
            <a:pathLst>
              <a:path w="60109" h="61509">
                <a:moveTo>
                  <a:pt x="14967" y="61509"/>
                </a:moveTo>
                <a:lnTo>
                  <a:pt x="45860" y="23544"/>
                </a:lnTo>
                <a:lnTo>
                  <a:pt x="60109" y="11217"/>
                </a:lnTo>
                <a:lnTo>
                  <a:pt x="53164" y="0"/>
                </a:lnTo>
                <a:lnTo>
                  <a:pt x="38796" y="7642"/>
                </a:lnTo>
                <a:lnTo>
                  <a:pt x="35563" y="13066"/>
                </a:lnTo>
                <a:lnTo>
                  <a:pt x="27181" y="17750"/>
                </a:lnTo>
                <a:lnTo>
                  <a:pt x="15806" y="2589"/>
                </a:lnTo>
                <a:lnTo>
                  <a:pt x="8502" y="7026"/>
                </a:lnTo>
                <a:lnTo>
                  <a:pt x="18320" y="22927"/>
                </a:lnTo>
                <a:lnTo>
                  <a:pt x="0" y="34268"/>
                </a:lnTo>
                <a:lnTo>
                  <a:pt x="7544" y="45731"/>
                </a:lnTo>
                <a:lnTo>
                  <a:pt x="14967" y="61509"/>
                </a:lnTo>
                <a:close/>
              </a:path>
            </a:pathLst>
          </a:custGeom>
          <a:solidFill>
            <a:srgbClr val="f2c8ad"/>
          </a:solidFill>
          <a:ln w="6191">
            <a:solidFill>
              <a:srgbClr val="b7633d"/>
            </a:solidFill>
            <a:round/>
          </a:ln>
        </p:spPr>
        <p:style>
          <a:lnRef idx="0"/>
          <a:fillRef idx="0"/>
          <a:effectRef idx="0"/>
          <a:fontRef idx="minor"/>
        </p:style>
        <p:txBody>
          <a:bodyPr lIns="90000" rIns="90000" tIns="16200" bIns="16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37" name="บ้านเกาะ"/>
          <p:cNvSpPr/>
          <p:nvPr/>
        </p:nvSpPr>
        <p:spPr>
          <a:xfrm>
            <a:off x="7160040" y="4691880"/>
            <a:ext cx="32760" cy="49680"/>
          </a:xfrm>
          <a:custGeom>
            <a:avLst/>
            <a:gdLst/>
            <a:ahLst/>
            <a:rect l="l" t="t" r="r" b="b"/>
            <a:pathLst>
              <a:path w="33168" h="49922">
                <a:moveTo>
                  <a:pt x="12453" y="7026"/>
                </a:moveTo>
                <a:lnTo>
                  <a:pt x="8262" y="0"/>
                </a:lnTo>
                <a:lnTo>
                  <a:pt x="0" y="3821"/>
                </a:lnTo>
                <a:lnTo>
                  <a:pt x="3233" y="11587"/>
                </a:lnTo>
                <a:lnTo>
                  <a:pt x="479" y="12943"/>
                </a:lnTo>
                <a:lnTo>
                  <a:pt x="8502" y="30693"/>
                </a:lnTo>
                <a:lnTo>
                  <a:pt x="14848" y="28844"/>
                </a:lnTo>
                <a:lnTo>
                  <a:pt x="18440" y="49922"/>
                </a:lnTo>
                <a:lnTo>
                  <a:pt x="22152" y="49059"/>
                </a:lnTo>
                <a:lnTo>
                  <a:pt x="22990" y="44375"/>
                </a:lnTo>
                <a:lnTo>
                  <a:pt x="25505" y="42650"/>
                </a:lnTo>
                <a:lnTo>
                  <a:pt x="24666" y="39321"/>
                </a:lnTo>
                <a:lnTo>
                  <a:pt x="32450" y="34514"/>
                </a:lnTo>
                <a:lnTo>
                  <a:pt x="33168" y="32788"/>
                </a:lnTo>
                <a:lnTo>
                  <a:pt x="26941" y="27241"/>
                </a:lnTo>
                <a:lnTo>
                  <a:pt x="26702" y="21202"/>
                </a:lnTo>
                <a:lnTo>
                  <a:pt x="32809" y="18736"/>
                </a:lnTo>
                <a:lnTo>
                  <a:pt x="29097" y="10231"/>
                </a:lnTo>
                <a:lnTo>
                  <a:pt x="23469" y="11957"/>
                </a:lnTo>
                <a:lnTo>
                  <a:pt x="20954" y="4438"/>
                </a:lnTo>
                <a:lnTo>
                  <a:pt x="19398" y="3698"/>
                </a:lnTo>
                <a:lnTo>
                  <a:pt x="18081" y="6163"/>
                </a:lnTo>
                <a:lnTo>
                  <a:pt x="12453" y="7026"/>
                </a:lnTo>
                <a:close/>
              </a:path>
            </a:pathLst>
          </a:custGeom>
          <a:solidFill>
            <a:srgbClr val="f2c8ad"/>
          </a:solidFill>
          <a:ln w="6191">
            <a:solidFill>
              <a:srgbClr val="b7633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38" name="ริมคลองหลอแหล"/>
          <p:cNvSpPr/>
          <p:nvPr/>
        </p:nvSpPr>
        <p:spPr>
          <a:xfrm>
            <a:off x="7212240" y="4798800"/>
            <a:ext cx="78120" cy="77400"/>
          </a:xfrm>
          <a:custGeom>
            <a:avLst/>
            <a:gdLst/>
            <a:ahLst/>
            <a:rect l="l" t="t" r="r" b="b"/>
            <a:pathLst>
              <a:path w="78310" h="77903">
                <a:moveTo>
                  <a:pt x="78310" y="40184"/>
                </a:moveTo>
                <a:lnTo>
                  <a:pt x="56757" y="0"/>
                </a:lnTo>
                <a:lnTo>
                  <a:pt x="47896" y="3944"/>
                </a:lnTo>
                <a:lnTo>
                  <a:pt x="48614" y="5054"/>
                </a:lnTo>
                <a:lnTo>
                  <a:pt x="41669" y="17380"/>
                </a:lnTo>
                <a:lnTo>
                  <a:pt x="18320" y="44992"/>
                </a:lnTo>
                <a:lnTo>
                  <a:pt x="5867" y="47950"/>
                </a:lnTo>
                <a:lnTo>
                  <a:pt x="0" y="51648"/>
                </a:lnTo>
                <a:lnTo>
                  <a:pt x="14489" y="77903"/>
                </a:lnTo>
                <a:lnTo>
                  <a:pt x="78310" y="40184"/>
                </a:lnTo>
                <a:close/>
              </a:path>
            </a:pathLst>
          </a:custGeom>
          <a:solidFill>
            <a:srgbClr val="f2c8ad"/>
          </a:solidFill>
          <a:ln w="6191">
            <a:solidFill>
              <a:srgbClr val="b7633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39" name="ชุมชนวิมานสุข"/>
          <p:cNvSpPr/>
          <p:nvPr/>
        </p:nvSpPr>
        <p:spPr>
          <a:xfrm>
            <a:off x="7108560" y="4790880"/>
            <a:ext cx="43920" cy="57960"/>
          </a:xfrm>
          <a:custGeom>
            <a:avLst/>
            <a:gdLst/>
            <a:ahLst/>
            <a:rect l="l" t="t" r="r" b="b"/>
            <a:pathLst>
              <a:path w="44304" h="58427">
                <a:moveTo>
                  <a:pt x="2036" y="2958"/>
                </a:moveTo>
                <a:lnTo>
                  <a:pt x="4670" y="9738"/>
                </a:lnTo>
                <a:lnTo>
                  <a:pt x="0" y="12573"/>
                </a:lnTo>
                <a:lnTo>
                  <a:pt x="5628" y="26255"/>
                </a:lnTo>
                <a:lnTo>
                  <a:pt x="20116" y="50415"/>
                </a:lnTo>
                <a:lnTo>
                  <a:pt x="27420" y="45978"/>
                </a:lnTo>
                <a:lnTo>
                  <a:pt x="32450" y="54976"/>
                </a:lnTo>
                <a:lnTo>
                  <a:pt x="35323" y="52757"/>
                </a:lnTo>
                <a:lnTo>
                  <a:pt x="38436" y="58427"/>
                </a:lnTo>
                <a:lnTo>
                  <a:pt x="44304" y="55592"/>
                </a:lnTo>
                <a:lnTo>
                  <a:pt x="26463" y="16271"/>
                </a:lnTo>
                <a:lnTo>
                  <a:pt x="21912" y="18366"/>
                </a:lnTo>
                <a:lnTo>
                  <a:pt x="15087" y="2219"/>
                </a:lnTo>
                <a:lnTo>
                  <a:pt x="10058" y="3944"/>
                </a:lnTo>
                <a:lnTo>
                  <a:pt x="8262" y="0"/>
                </a:lnTo>
                <a:lnTo>
                  <a:pt x="2036" y="2958"/>
                </a:lnTo>
                <a:close/>
              </a:path>
            </a:pathLst>
          </a:custGeom>
          <a:solidFill>
            <a:srgbClr val="f2c8ad"/>
          </a:solidFill>
          <a:ln w="6191">
            <a:solidFill>
              <a:srgbClr val="b7633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40" name="สยามพัฒนา"/>
          <p:cNvSpPr/>
          <p:nvPr/>
        </p:nvSpPr>
        <p:spPr>
          <a:xfrm>
            <a:off x="7240320" y="4748760"/>
            <a:ext cx="24840" cy="37080"/>
          </a:xfrm>
          <a:custGeom>
            <a:avLst/>
            <a:gdLst/>
            <a:ahLst/>
            <a:rect l="l" t="t" r="r" b="b"/>
            <a:pathLst>
              <a:path w="25265" h="37472">
                <a:moveTo>
                  <a:pt x="18679" y="29214"/>
                </a:moveTo>
                <a:lnTo>
                  <a:pt x="25265" y="23297"/>
                </a:lnTo>
                <a:lnTo>
                  <a:pt x="18560" y="8875"/>
                </a:lnTo>
                <a:lnTo>
                  <a:pt x="8023" y="0"/>
                </a:lnTo>
                <a:lnTo>
                  <a:pt x="2275" y="6410"/>
                </a:lnTo>
                <a:lnTo>
                  <a:pt x="10417" y="16024"/>
                </a:lnTo>
                <a:lnTo>
                  <a:pt x="4430" y="21941"/>
                </a:lnTo>
                <a:lnTo>
                  <a:pt x="8023" y="26502"/>
                </a:lnTo>
                <a:lnTo>
                  <a:pt x="0" y="32665"/>
                </a:lnTo>
                <a:lnTo>
                  <a:pt x="1796" y="34884"/>
                </a:lnTo>
                <a:lnTo>
                  <a:pt x="4909" y="32912"/>
                </a:lnTo>
                <a:lnTo>
                  <a:pt x="6586" y="35007"/>
                </a:lnTo>
                <a:lnTo>
                  <a:pt x="8382" y="33651"/>
                </a:lnTo>
                <a:lnTo>
                  <a:pt x="10896" y="37472"/>
                </a:lnTo>
                <a:lnTo>
                  <a:pt x="15925" y="33651"/>
                </a:lnTo>
                <a:lnTo>
                  <a:pt x="14848" y="32295"/>
                </a:lnTo>
                <a:lnTo>
                  <a:pt x="18679" y="29214"/>
                </a:lnTo>
                <a:close/>
              </a:path>
            </a:pathLst>
          </a:custGeom>
          <a:solidFill>
            <a:srgbClr val="f2c8ad"/>
          </a:solidFill>
          <a:ln w="6191">
            <a:solidFill>
              <a:srgbClr val="b7633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41" name="คลองบางพระครู"/>
          <p:cNvSpPr/>
          <p:nvPr/>
        </p:nvSpPr>
        <p:spPr>
          <a:xfrm>
            <a:off x="4897440" y="4806720"/>
            <a:ext cx="53640" cy="33120"/>
          </a:xfrm>
          <a:custGeom>
            <a:avLst/>
            <a:gdLst/>
            <a:ahLst/>
            <a:rect l="l" t="t" r="r" b="b"/>
            <a:pathLst>
              <a:path w="54003" h="33405">
                <a:moveTo>
                  <a:pt x="0" y="12080"/>
                </a:moveTo>
                <a:lnTo>
                  <a:pt x="6346" y="15778"/>
                </a:lnTo>
                <a:lnTo>
                  <a:pt x="6825" y="18366"/>
                </a:lnTo>
                <a:lnTo>
                  <a:pt x="9220" y="19353"/>
                </a:lnTo>
                <a:lnTo>
                  <a:pt x="9938" y="17997"/>
                </a:lnTo>
                <a:lnTo>
                  <a:pt x="20236" y="24037"/>
                </a:lnTo>
                <a:lnTo>
                  <a:pt x="21553" y="21695"/>
                </a:lnTo>
                <a:lnTo>
                  <a:pt x="35204" y="29214"/>
                </a:lnTo>
                <a:lnTo>
                  <a:pt x="33886" y="32788"/>
                </a:lnTo>
                <a:lnTo>
                  <a:pt x="34964" y="33405"/>
                </a:lnTo>
                <a:lnTo>
                  <a:pt x="36281" y="31063"/>
                </a:lnTo>
                <a:lnTo>
                  <a:pt x="35323" y="30446"/>
                </a:lnTo>
                <a:lnTo>
                  <a:pt x="42029" y="18366"/>
                </a:lnTo>
                <a:lnTo>
                  <a:pt x="50410" y="24653"/>
                </a:lnTo>
                <a:lnTo>
                  <a:pt x="54003" y="19846"/>
                </a:lnTo>
                <a:lnTo>
                  <a:pt x="34964" y="9122"/>
                </a:lnTo>
                <a:lnTo>
                  <a:pt x="7184" y="0"/>
                </a:lnTo>
                <a:lnTo>
                  <a:pt x="0" y="12080"/>
                </a:lnTo>
                <a:close/>
              </a:path>
            </a:pathLst>
          </a:custGeom>
          <a:solidFill>
            <a:srgbClr val="f2c8ad"/>
          </a:solidFill>
          <a:ln w="6191">
            <a:solidFill>
              <a:srgbClr val="b7633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42" name="คลองมะนาว"/>
          <p:cNvSpPr/>
          <p:nvPr/>
        </p:nvSpPr>
        <p:spPr>
          <a:xfrm>
            <a:off x="4885200" y="4816080"/>
            <a:ext cx="84600" cy="46800"/>
          </a:xfrm>
          <a:custGeom>
            <a:avLst/>
            <a:gdLst/>
            <a:ahLst/>
            <a:rect l="l" t="t" r="r" b="b"/>
            <a:pathLst>
              <a:path w="85015" h="47334">
                <a:moveTo>
                  <a:pt x="7663" y="0"/>
                </a:moveTo>
                <a:lnTo>
                  <a:pt x="0" y="11094"/>
                </a:lnTo>
                <a:lnTo>
                  <a:pt x="7783" y="16887"/>
                </a:lnTo>
                <a:lnTo>
                  <a:pt x="11854" y="22434"/>
                </a:lnTo>
                <a:lnTo>
                  <a:pt x="23589" y="30200"/>
                </a:lnTo>
                <a:lnTo>
                  <a:pt x="51728" y="44622"/>
                </a:lnTo>
                <a:lnTo>
                  <a:pt x="58433" y="36240"/>
                </a:lnTo>
                <a:lnTo>
                  <a:pt x="64061" y="39568"/>
                </a:lnTo>
                <a:lnTo>
                  <a:pt x="67533" y="35993"/>
                </a:lnTo>
                <a:lnTo>
                  <a:pt x="79627" y="47334"/>
                </a:lnTo>
                <a:lnTo>
                  <a:pt x="83219" y="43636"/>
                </a:lnTo>
                <a:lnTo>
                  <a:pt x="82261" y="31802"/>
                </a:lnTo>
                <a:lnTo>
                  <a:pt x="85015" y="28474"/>
                </a:lnTo>
                <a:lnTo>
                  <a:pt x="66456" y="10601"/>
                </a:lnTo>
                <a:lnTo>
                  <a:pt x="62863" y="15162"/>
                </a:lnTo>
                <a:lnTo>
                  <a:pt x="54601" y="9122"/>
                </a:lnTo>
                <a:lnTo>
                  <a:pt x="47297" y="24406"/>
                </a:lnTo>
                <a:lnTo>
                  <a:pt x="18081" y="8629"/>
                </a:lnTo>
                <a:lnTo>
                  <a:pt x="14967" y="4314"/>
                </a:lnTo>
                <a:lnTo>
                  <a:pt x="7663" y="0"/>
                </a:lnTo>
                <a:close/>
              </a:path>
            </a:pathLst>
          </a:custGeom>
          <a:solidFill>
            <a:srgbClr val="f2c8ad"/>
          </a:solidFill>
          <a:ln w="6191">
            <a:solidFill>
              <a:srgbClr val="b7633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43" name="ชุมชนชินศรี 91"/>
          <p:cNvSpPr/>
          <p:nvPr/>
        </p:nvSpPr>
        <p:spPr>
          <a:xfrm>
            <a:off x="4998960" y="4743720"/>
            <a:ext cx="41040" cy="27720"/>
          </a:xfrm>
          <a:custGeom>
            <a:avLst/>
            <a:gdLst/>
            <a:ahLst/>
            <a:rect l="l" t="t" r="r" b="b"/>
            <a:pathLst>
              <a:path w="41430" h="28228">
                <a:moveTo>
                  <a:pt x="17841" y="17997"/>
                </a:moveTo>
                <a:lnTo>
                  <a:pt x="33048" y="28228"/>
                </a:lnTo>
                <a:lnTo>
                  <a:pt x="41430" y="15778"/>
                </a:lnTo>
                <a:lnTo>
                  <a:pt x="39754" y="14915"/>
                </a:lnTo>
                <a:lnTo>
                  <a:pt x="39514" y="12080"/>
                </a:lnTo>
                <a:lnTo>
                  <a:pt x="12213" y="0"/>
                </a:lnTo>
                <a:lnTo>
                  <a:pt x="10178" y="4561"/>
                </a:lnTo>
                <a:lnTo>
                  <a:pt x="1796" y="1233"/>
                </a:lnTo>
                <a:lnTo>
                  <a:pt x="0" y="4438"/>
                </a:lnTo>
                <a:lnTo>
                  <a:pt x="19757" y="14299"/>
                </a:lnTo>
                <a:lnTo>
                  <a:pt x="17841" y="17997"/>
                </a:lnTo>
                <a:close/>
              </a:path>
            </a:pathLst>
          </a:custGeom>
          <a:solidFill>
            <a:srgbClr val="f2c8ad"/>
          </a:solidFill>
          <a:ln w="6191">
            <a:solidFill>
              <a:srgbClr val="b7633d"/>
            </a:solidFill>
            <a:round/>
          </a:ln>
        </p:spPr>
        <p:style>
          <a:lnRef idx="0"/>
          <a:fillRef idx="0"/>
          <a:effectRef idx="0"/>
          <a:fontRef idx="minor"/>
        </p:style>
        <p:txBody>
          <a:bodyPr lIns="90000" rIns="90000" tIns="-17280" bIns="-17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44" name="แสงทอง"/>
          <p:cNvSpPr/>
          <p:nvPr/>
        </p:nvSpPr>
        <p:spPr>
          <a:xfrm>
            <a:off x="4928760" y="4748760"/>
            <a:ext cx="84600" cy="53640"/>
          </a:xfrm>
          <a:custGeom>
            <a:avLst/>
            <a:gdLst/>
            <a:ahLst/>
            <a:rect l="l" t="t" r="r" b="b"/>
            <a:pathLst>
              <a:path w="84896" h="53990">
                <a:moveTo>
                  <a:pt x="15566" y="21078"/>
                </a:moveTo>
                <a:lnTo>
                  <a:pt x="44543" y="37966"/>
                </a:lnTo>
                <a:lnTo>
                  <a:pt x="48016" y="40924"/>
                </a:lnTo>
                <a:lnTo>
                  <a:pt x="44902" y="45978"/>
                </a:lnTo>
                <a:lnTo>
                  <a:pt x="56158" y="53990"/>
                </a:lnTo>
                <a:lnTo>
                  <a:pt x="62863" y="45731"/>
                </a:lnTo>
                <a:lnTo>
                  <a:pt x="65019" y="47457"/>
                </a:lnTo>
                <a:lnTo>
                  <a:pt x="71724" y="38828"/>
                </a:lnTo>
                <a:lnTo>
                  <a:pt x="79148" y="44005"/>
                </a:lnTo>
                <a:lnTo>
                  <a:pt x="84896" y="35993"/>
                </a:lnTo>
                <a:lnTo>
                  <a:pt x="49093" y="14422"/>
                </a:lnTo>
                <a:lnTo>
                  <a:pt x="50530" y="11587"/>
                </a:lnTo>
                <a:lnTo>
                  <a:pt x="16883" y="0"/>
                </a:lnTo>
                <a:lnTo>
                  <a:pt x="14369" y="2958"/>
                </a:lnTo>
                <a:lnTo>
                  <a:pt x="5029" y="6903"/>
                </a:lnTo>
                <a:lnTo>
                  <a:pt x="0" y="13066"/>
                </a:lnTo>
                <a:lnTo>
                  <a:pt x="15566" y="21078"/>
                </a:lnTo>
                <a:close/>
              </a:path>
            </a:pathLst>
          </a:custGeom>
          <a:solidFill>
            <a:srgbClr val="f2c8ad"/>
          </a:solidFill>
          <a:ln w="6191">
            <a:solidFill>
              <a:srgbClr val="b7633d"/>
            </a:solidFill>
            <a:round/>
          </a:ln>
        </p:spPr>
        <p:style>
          <a:lnRef idx="0"/>
          <a:fillRef idx="0"/>
          <a:effectRef idx="0"/>
          <a:fontRef idx="minor"/>
        </p:style>
        <p:txBody>
          <a:bodyPr lIns="90000" rIns="90000" tIns="8640" bIns="8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45" name="เติมสุข"/>
          <p:cNvSpPr/>
          <p:nvPr/>
        </p:nvSpPr>
        <p:spPr>
          <a:xfrm>
            <a:off x="4938120" y="4808880"/>
            <a:ext cx="42120" cy="30960"/>
          </a:xfrm>
          <a:custGeom>
            <a:avLst/>
            <a:gdLst/>
            <a:ahLst/>
            <a:rect l="l" t="t" r="r" b="b"/>
            <a:pathLst>
              <a:path w="42627" h="31432">
                <a:moveTo>
                  <a:pt x="21793" y="11957"/>
                </a:moveTo>
                <a:lnTo>
                  <a:pt x="4430" y="0"/>
                </a:lnTo>
                <a:lnTo>
                  <a:pt x="0" y="9491"/>
                </a:lnTo>
                <a:lnTo>
                  <a:pt x="13770" y="17134"/>
                </a:lnTo>
                <a:lnTo>
                  <a:pt x="24307" y="27241"/>
                </a:lnTo>
                <a:lnTo>
                  <a:pt x="28378" y="22804"/>
                </a:lnTo>
                <a:lnTo>
                  <a:pt x="37479" y="31432"/>
                </a:lnTo>
                <a:lnTo>
                  <a:pt x="39155" y="30323"/>
                </a:lnTo>
                <a:lnTo>
                  <a:pt x="42627" y="23790"/>
                </a:lnTo>
                <a:lnTo>
                  <a:pt x="33647" y="15901"/>
                </a:lnTo>
                <a:lnTo>
                  <a:pt x="35323" y="13806"/>
                </a:lnTo>
                <a:lnTo>
                  <a:pt x="33168" y="12820"/>
                </a:lnTo>
                <a:lnTo>
                  <a:pt x="31731" y="14299"/>
                </a:lnTo>
                <a:lnTo>
                  <a:pt x="24906" y="9245"/>
                </a:lnTo>
                <a:lnTo>
                  <a:pt x="21793" y="11957"/>
                </a:lnTo>
                <a:close/>
              </a:path>
            </a:pathLst>
          </a:custGeom>
          <a:solidFill>
            <a:srgbClr val="f2c8ad"/>
          </a:solidFill>
          <a:ln w="6191">
            <a:solidFill>
              <a:srgbClr val="b7633d"/>
            </a:solidFill>
            <a:round/>
          </a:ln>
        </p:spPr>
        <p:style>
          <a:lnRef idx="0"/>
          <a:fillRef idx="0"/>
          <a:effectRef idx="0"/>
          <a:fontRef idx="minor"/>
        </p:style>
        <p:txBody>
          <a:bodyPr lIns="90000" rIns="90000" tIns="-14040" bIns="-14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46" name="โค้งมะขาม"/>
          <p:cNvSpPr/>
          <p:nvPr/>
        </p:nvSpPr>
        <p:spPr>
          <a:xfrm>
            <a:off x="4682160" y="4994640"/>
            <a:ext cx="66600" cy="38520"/>
          </a:xfrm>
          <a:custGeom>
            <a:avLst/>
            <a:gdLst/>
            <a:ahLst/>
            <a:rect l="l" t="t" r="r" b="b"/>
            <a:pathLst>
              <a:path w="67054" h="38952">
                <a:moveTo>
                  <a:pt x="20236" y="28967"/>
                </a:moveTo>
                <a:lnTo>
                  <a:pt x="22391" y="25886"/>
                </a:lnTo>
                <a:lnTo>
                  <a:pt x="21553" y="28721"/>
                </a:lnTo>
                <a:lnTo>
                  <a:pt x="26463" y="31433"/>
                </a:lnTo>
                <a:lnTo>
                  <a:pt x="29097" y="27858"/>
                </a:lnTo>
                <a:lnTo>
                  <a:pt x="45381" y="38952"/>
                </a:lnTo>
                <a:lnTo>
                  <a:pt x="45501" y="35747"/>
                </a:lnTo>
                <a:lnTo>
                  <a:pt x="48614" y="31556"/>
                </a:lnTo>
                <a:lnTo>
                  <a:pt x="42987" y="27488"/>
                </a:lnTo>
                <a:lnTo>
                  <a:pt x="45860" y="23420"/>
                </a:lnTo>
                <a:lnTo>
                  <a:pt x="64061" y="34268"/>
                </a:lnTo>
                <a:lnTo>
                  <a:pt x="67054" y="30323"/>
                </a:lnTo>
                <a:lnTo>
                  <a:pt x="47058" y="20708"/>
                </a:lnTo>
                <a:lnTo>
                  <a:pt x="45860" y="12943"/>
                </a:lnTo>
                <a:lnTo>
                  <a:pt x="39394" y="10971"/>
                </a:lnTo>
                <a:lnTo>
                  <a:pt x="28378" y="2096"/>
                </a:lnTo>
                <a:lnTo>
                  <a:pt x="24906" y="6903"/>
                </a:lnTo>
                <a:lnTo>
                  <a:pt x="16404" y="0"/>
                </a:lnTo>
                <a:lnTo>
                  <a:pt x="0" y="30323"/>
                </a:lnTo>
                <a:lnTo>
                  <a:pt x="6825" y="34637"/>
                </a:lnTo>
                <a:lnTo>
                  <a:pt x="7903" y="33035"/>
                </a:lnTo>
                <a:lnTo>
                  <a:pt x="9819" y="34391"/>
                </a:lnTo>
                <a:lnTo>
                  <a:pt x="15207" y="25393"/>
                </a:lnTo>
                <a:lnTo>
                  <a:pt x="20236" y="28967"/>
                </a:lnTo>
                <a:lnTo>
                  <a:pt x="22391" y="25886"/>
                </a:lnTo>
                <a:lnTo>
                  <a:pt x="20236" y="28967"/>
                </a:lnTo>
                <a:close/>
              </a:path>
            </a:pathLst>
          </a:custGeom>
          <a:solidFill>
            <a:srgbClr val="f2c8ad"/>
          </a:solidFill>
          <a:ln w="6191">
            <a:solidFill>
              <a:srgbClr val="b7633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47" name="ชุมชนริมคลองราชมนตรี"/>
          <p:cNvSpPr/>
          <p:nvPr/>
        </p:nvSpPr>
        <p:spPr>
          <a:xfrm>
            <a:off x="4008240" y="5814720"/>
            <a:ext cx="11520" cy="30240"/>
          </a:xfrm>
          <a:custGeom>
            <a:avLst/>
            <a:gdLst/>
            <a:ahLst/>
            <a:rect l="l" t="t" r="r" b="b"/>
            <a:pathLst>
              <a:path w="11974" h="30693">
                <a:moveTo>
                  <a:pt x="0" y="0"/>
                </a:moveTo>
                <a:lnTo>
                  <a:pt x="0" y="26132"/>
                </a:lnTo>
                <a:lnTo>
                  <a:pt x="5149" y="25762"/>
                </a:lnTo>
                <a:lnTo>
                  <a:pt x="5269" y="30693"/>
                </a:lnTo>
                <a:lnTo>
                  <a:pt x="11974" y="29830"/>
                </a:lnTo>
                <a:lnTo>
                  <a:pt x="10298" y="1233"/>
                </a:lnTo>
                <a:lnTo>
                  <a:pt x="0" y="0"/>
                </a:lnTo>
                <a:close/>
              </a:path>
            </a:pathLst>
          </a:custGeom>
          <a:solidFill>
            <a:srgbClr val="f2c8ad"/>
          </a:solidFill>
          <a:ln w="6191">
            <a:solidFill>
              <a:srgbClr val="b7633d"/>
            </a:solidFill>
            <a:round/>
          </a:ln>
        </p:spPr>
        <p:style>
          <a:lnRef idx="0"/>
          <a:fillRef idx="0"/>
          <a:effectRef idx="0"/>
          <a:fontRef idx="minor"/>
        </p:style>
        <p:txBody>
          <a:bodyPr lIns="90000" rIns="90000" tIns="-14760" bIns="-14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48" name="โรงเรียนราชวินิตประถมบางแค"/>
          <p:cNvSpPr/>
          <p:nvPr/>
        </p:nvSpPr>
        <p:spPr>
          <a:xfrm>
            <a:off x="3957840" y="5775120"/>
            <a:ext cx="24840" cy="25560"/>
          </a:xfrm>
          <a:custGeom>
            <a:avLst/>
            <a:gdLst/>
            <a:ahLst/>
            <a:rect l="l" t="t" r="r" b="b"/>
            <a:pathLst>
              <a:path w="25265" h="26009">
                <a:moveTo>
                  <a:pt x="15446" y="22927"/>
                </a:moveTo>
                <a:lnTo>
                  <a:pt x="25265" y="20708"/>
                </a:lnTo>
                <a:lnTo>
                  <a:pt x="24068" y="8875"/>
                </a:lnTo>
                <a:lnTo>
                  <a:pt x="20116" y="0"/>
                </a:lnTo>
                <a:lnTo>
                  <a:pt x="10657" y="3328"/>
                </a:lnTo>
                <a:lnTo>
                  <a:pt x="11735" y="7396"/>
                </a:lnTo>
                <a:lnTo>
                  <a:pt x="0" y="10847"/>
                </a:lnTo>
                <a:lnTo>
                  <a:pt x="8382" y="25516"/>
                </a:lnTo>
                <a:lnTo>
                  <a:pt x="11136" y="23790"/>
                </a:lnTo>
                <a:lnTo>
                  <a:pt x="12932" y="26009"/>
                </a:lnTo>
                <a:lnTo>
                  <a:pt x="16045" y="25762"/>
                </a:lnTo>
                <a:lnTo>
                  <a:pt x="15446" y="22927"/>
                </a:lnTo>
                <a:close/>
              </a:path>
            </a:pathLst>
          </a:custGeom>
          <a:solidFill>
            <a:srgbClr val="f2c8ad"/>
          </a:solidFill>
          <a:ln w="6191">
            <a:solidFill>
              <a:srgbClr val="b7633d"/>
            </a:solidFill>
            <a:round/>
          </a:ln>
        </p:spPr>
        <p:style>
          <a:lnRef idx="0"/>
          <a:fillRef idx="0"/>
          <a:effectRef idx="0"/>
          <a:fontRef idx="minor"/>
        </p:style>
        <p:txBody>
          <a:bodyPr lIns="90000" rIns="90000" tIns="-19440" bIns="-19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49" name="ชุมชนนครแสงเพชร"/>
          <p:cNvSpPr/>
          <p:nvPr/>
        </p:nvSpPr>
        <p:spPr>
          <a:xfrm>
            <a:off x="3900240" y="5751000"/>
            <a:ext cx="50400" cy="43560"/>
          </a:xfrm>
          <a:custGeom>
            <a:avLst/>
            <a:gdLst/>
            <a:ahLst/>
            <a:rect l="l" t="t" r="r" b="b"/>
            <a:pathLst>
              <a:path w="50770" h="43882">
                <a:moveTo>
                  <a:pt x="3472" y="27118"/>
                </a:moveTo>
                <a:lnTo>
                  <a:pt x="16285" y="23544"/>
                </a:lnTo>
                <a:lnTo>
                  <a:pt x="21912" y="35130"/>
                </a:lnTo>
                <a:lnTo>
                  <a:pt x="27660" y="37103"/>
                </a:lnTo>
                <a:lnTo>
                  <a:pt x="31492" y="43882"/>
                </a:lnTo>
                <a:lnTo>
                  <a:pt x="50770" y="39321"/>
                </a:lnTo>
                <a:lnTo>
                  <a:pt x="41071" y="9861"/>
                </a:lnTo>
                <a:lnTo>
                  <a:pt x="36281" y="1233"/>
                </a:lnTo>
                <a:lnTo>
                  <a:pt x="25744" y="493"/>
                </a:lnTo>
                <a:lnTo>
                  <a:pt x="25744" y="4561"/>
                </a:lnTo>
                <a:lnTo>
                  <a:pt x="22272" y="4684"/>
                </a:lnTo>
                <a:lnTo>
                  <a:pt x="22272" y="0"/>
                </a:lnTo>
                <a:lnTo>
                  <a:pt x="10777" y="247"/>
                </a:lnTo>
                <a:lnTo>
                  <a:pt x="10417" y="6040"/>
                </a:lnTo>
                <a:lnTo>
                  <a:pt x="8262" y="7026"/>
                </a:lnTo>
                <a:lnTo>
                  <a:pt x="7304" y="9984"/>
                </a:lnTo>
                <a:lnTo>
                  <a:pt x="8861" y="9861"/>
                </a:lnTo>
                <a:lnTo>
                  <a:pt x="7903" y="11094"/>
                </a:lnTo>
                <a:lnTo>
                  <a:pt x="11256" y="22311"/>
                </a:lnTo>
                <a:lnTo>
                  <a:pt x="0" y="24160"/>
                </a:lnTo>
                <a:lnTo>
                  <a:pt x="1557" y="29584"/>
                </a:lnTo>
                <a:lnTo>
                  <a:pt x="3832" y="28967"/>
                </a:lnTo>
                <a:lnTo>
                  <a:pt x="3472" y="27118"/>
                </a:lnTo>
                <a:close/>
              </a:path>
            </a:pathLst>
          </a:custGeom>
          <a:solidFill>
            <a:srgbClr val="f2c8ad"/>
          </a:solidFill>
          <a:ln w="6191">
            <a:solidFill>
              <a:srgbClr val="b7633d"/>
            </a:solidFill>
            <a:round/>
          </a:ln>
        </p:spPr>
        <p:style>
          <a:lnRef idx="0"/>
          <a:fillRef idx="0"/>
          <a:effectRef idx="0"/>
          <a:fontRef idx="minor"/>
        </p:style>
        <p:txBody>
          <a:bodyPr lIns="90000" rIns="90000" tIns="-1440" bIns="-1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50" name="ชุมชนพุ่มพวง"/>
          <p:cNvSpPr/>
          <p:nvPr/>
        </p:nvSpPr>
        <p:spPr>
          <a:xfrm>
            <a:off x="3864960" y="5806800"/>
            <a:ext cx="14040" cy="30600"/>
          </a:xfrm>
          <a:custGeom>
            <a:avLst/>
            <a:gdLst/>
            <a:ahLst/>
            <a:rect l="l" t="t" r="r" b="b"/>
            <a:pathLst>
              <a:path w="14489" h="30816">
                <a:moveTo>
                  <a:pt x="0" y="17627"/>
                </a:moveTo>
                <a:lnTo>
                  <a:pt x="7184" y="17873"/>
                </a:lnTo>
                <a:lnTo>
                  <a:pt x="6705" y="30816"/>
                </a:lnTo>
                <a:lnTo>
                  <a:pt x="13291" y="30323"/>
                </a:lnTo>
                <a:lnTo>
                  <a:pt x="14489" y="17134"/>
                </a:lnTo>
                <a:lnTo>
                  <a:pt x="7424" y="15038"/>
                </a:lnTo>
                <a:lnTo>
                  <a:pt x="8023" y="247"/>
                </a:lnTo>
                <a:lnTo>
                  <a:pt x="479" y="0"/>
                </a:lnTo>
                <a:lnTo>
                  <a:pt x="0" y="17627"/>
                </a:lnTo>
                <a:close/>
              </a:path>
            </a:pathLst>
          </a:custGeom>
          <a:solidFill>
            <a:srgbClr val="f2c8ad"/>
          </a:solidFill>
          <a:ln w="6191">
            <a:solidFill>
              <a:srgbClr val="b7633d"/>
            </a:solidFill>
            <a:round/>
          </a:ln>
        </p:spPr>
        <p:style>
          <a:lnRef idx="0"/>
          <a:fillRef idx="0"/>
          <a:effectRef idx="0"/>
          <a:fontRef idx="minor"/>
        </p:style>
        <p:txBody>
          <a:bodyPr lIns="90000" rIns="90000" tIns="-14400" bIns="-14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51" name="ชุมชนรวมใจริมคลองหมู่ 3"/>
          <p:cNvSpPr/>
          <p:nvPr/>
        </p:nvSpPr>
        <p:spPr>
          <a:xfrm>
            <a:off x="4003200" y="5779440"/>
            <a:ext cx="15480" cy="35640"/>
          </a:xfrm>
          <a:custGeom>
            <a:avLst/>
            <a:gdLst/>
            <a:ahLst/>
            <a:rect l="l" t="t" r="r" b="b"/>
            <a:pathLst>
              <a:path w="15925" h="36117">
                <a:moveTo>
                  <a:pt x="13890" y="0"/>
                </a:moveTo>
                <a:lnTo>
                  <a:pt x="718" y="1109"/>
                </a:lnTo>
                <a:lnTo>
                  <a:pt x="4670" y="28351"/>
                </a:lnTo>
                <a:lnTo>
                  <a:pt x="0" y="29090"/>
                </a:lnTo>
                <a:lnTo>
                  <a:pt x="239" y="35007"/>
                </a:lnTo>
                <a:lnTo>
                  <a:pt x="15925" y="36117"/>
                </a:lnTo>
                <a:lnTo>
                  <a:pt x="13890" y="0"/>
                </a:lnTo>
                <a:close/>
              </a:path>
            </a:pathLst>
          </a:custGeom>
          <a:solidFill>
            <a:srgbClr val="f2c8ad"/>
          </a:solidFill>
          <a:ln w="6191">
            <a:solidFill>
              <a:srgbClr val="b7633d"/>
            </a:solidFill>
            <a:round/>
          </a:ln>
        </p:spPr>
        <p:style>
          <a:lnRef idx="0"/>
          <a:fillRef idx="0"/>
          <a:effectRef idx="0"/>
          <a:fontRef idx="minor"/>
        </p:style>
        <p:txBody>
          <a:bodyPr lIns="90000" rIns="90000" tIns="-9360" bIns="-9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52" name="นภาพิไลพัฒนา"/>
          <p:cNvSpPr/>
          <p:nvPr/>
        </p:nvSpPr>
        <p:spPr>
          <a:xfrm>
            <a:off x="7127640" y="4844160"/>
            <a:ext cx="51840" cy="49680"/>
          </a:xfrm>
          <a:custGeom>
            <a:avLst/>
            <a:gdLst/>
            <a:ahLst/>
            <a:rect l="l" t="t" r="r" b="b"/>
            <a:pathLst>
              <a:path w="52326" h="49922">
                <a:moveTo>
                  <a:pt x="7663" y="30939"/>
                </a:moveTo>
                <a:lnTo>
                  <a:pt x="18799" y="49922"/>
                </a:lnTo>
                <a:lnTo>
                  <a:pt x="27181" y="43389"/>
                </a:lnTo>
                <a:lnTo>
                  <a:pt x="29695" y="37719"/>
                </a:lnTo>
                <a:lnTo>
                  <a:pt x="37359" y="30200"/>
                </a:lnTo>
                <a:lnTo>
                  <a:pt x="46938" y="26009"/>
                </a:lnTo>
                <a:lnTo>
                  <a:pt x="52326" y="21571"/>
                </a:lnTo>
                <a:lnTo>
                  <a:pt x="48375" y="17873"/>
                </a:lnTo>
                <a:lnTo>
                  <a:pt x="39873" y="14299"/>
                </a:lnTo>
                <a:lnTo>
                  <a:pt x="38197" y="0"/>
                </a:lnTo>
                <a:lnTo>
                  <a:pt x="0" y="17134"/>
                </a:lnTo>
                <a:lnTo>
                  <a:pt x="7663" y="30939"/>
                </a:lnTo>
                <a:close/>
              </a:path>
            </a:pathLst>
          </a:custGeom>
          <a:solidFill>
            <a:srgbClr val="f2c8ad"/>
          </a:solidFill>
          <a:ln w="6191">
            <a:solidFill>
              <a:srgbClr val="b7633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53" name="สุเหร่าแดง"/>
          <p:cNvSpPr/>
          <p:nvPr/>
        </p:nvSpPr>
        <p:spPr>
          <a:xfrm>
            <a:off x="7145640" y="4870440"/>
            <a:ext cx="46440" cy="46800"/>
          </a:xfrm>
          <a:custGeom>
            <a:avLst/>
            <a:gdLst/>
            <a:ahLst/>
            <a:rect l="l" t="t" r="r" b="b"/>
            <a:pathLst>
              <a:path w="46699" h="47087">
                <a:moveTo>
                  <a:pt x="18679" y="42033"/>
                </a:moveTo>
                <a:lnTo>
                  <a:pt x="46699" y="26255"/>
                </a:lnTo>
                <a:lnTo>
                  <a:pt x="36760" y="0"/>
                </a:lnTo>
                <a:lnTo>
                  <a:pt x="17961" y="8998"/>
                </a:lnTo>
                <a:lnTo>
                  <a:pt x="10298" y="16517"/>
                </a:lnTo>
                <a:lnTo>
                  <a:pt x="9459" y="21571"/>
                </a:lnTo>
                <a:lnTo>
                  <a:pt x="0" y="30693"/>
                </a:lnTo>
                <a:lnTo>
                  <a:pt x="8980" y="47087"/>
                </a:lnTo>
                <a:lnTo>
                  <a:pt x="18679" y="42033"/>
                </a:lnTo>
                <a:close/>
              </a:path>
            </a:pathLst>
          </a:custGeom>
          <a:solidFill>
            <a:srgbClr val="f2c8ad"/>
          </a:solidFill>
          <a:ln w="6191">
            <a:solidFill>
              <a:srgbClr val="b7633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54" name="บ้านญวน"/>
          <p:cNvSpPr/>
          <p:nvPr/>
        </p:nvSpPr>
        <p:spPr>
          <a:xfrm>
            <a:off x="4728600" y="4986000"/>
            <a:ext cx="45720" cy="38520"/>
          </a:xfrm>
          <a:custGeom>
            <a:avLst/>
            <a:gdLst/>
            <a:ahLst/>
            <a:rect l="l" t="t" r="r" b="b"/>
            <a:pathLst>
              <a:path w="46100" h="38705">
                <a:moveTo>
                  <a:pt x="3832" y="30939"/>
                </a:moveTo>
                <a:lnTo>
                  <a:pt x="21673" y="38705"/>
                </a:lnTo>
                <a:lnTo>
                  <a:pt x="29815" y="28474"/>
                </a:lnTo>
                <a:lnTo>
                  <a:pt x="46100" y="16517"/>
                </a:lnTo>
                <a:lnTo>
                  <a:pt x="33288" y="11957"/>
                </a:lnTo>
                <a:lnTo>
                  <a:pt x="34844" y="7149"/>
                </a:lnTo>
                <a:lnTo>
                  <a:pt x="31132" y="5547"/>
                </a:lnTo>
                <a:lnTo>
                  <a:pt x="18081" y="1233"/>
                </a:lnTo>
                <a:lnTo>
                  <a:pt x="16524" y="4314"/>
                </a:lnTo>
                <a:lnTo>
                  <a:pt x="5628" y="0"/>
                </a:lnTo>
                <a:lnTo>
                  <a:pt x="0" y="23420"/>
                </a:lnTo>
                <a:lnTo>
                  <a:pt x="239" y="27611"/>
                </a:lnTo>
                <a:lnTo>
                  <a:pt x="3832" y="30939"/>
                </a:lnTo>
                <a:close/>
              </a:path>
            </a:pathLst>
          </a:custGeom>
          <a:solidFill>
            <a:srgbClr val="f2c8ad"/>
          </a:solidFill>
          <a:ln w="6191">
            <a:solidFill>
              <a:srgbClr val="b7633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55" name="มะพร้าวคู่"/>
          <p:cNvSpPr/>
          <p:nvPr/>
        </p:nvSpPr>
        <p:spPr>
          <a:xfrm>
            <a:off x="4669560" y="4934880"/>
            <a:ext cx="66240" cy="43200"/>
          </a:xfrm>
          <a:custGeom>
            <a:avLst/>
            <a:gdLst/>
            <a:ahLst/>
            <a:rect l="l" t="t" r="r" b="b"/>
            <a:pathLst>
              <a:path w="66695" h="43636">
                <a:moveTo>
                  <a:pt x="59511" y="35747"/>
                </a:moveTo>
                <a:lnTo>
                  <a:pt x="61187" y="31926"/>
                </a:lnTo>
                <a:lnTo>
                  <a:pt x="48614" y="26255"/>
                </a:lnTo>
                <a:lnTo>
                  <a:pt x="51129" y="21078"/>
                </a:lnTo>
                <a:lnTo>
                  <a:pt x="41550" y="16394"/>
                </a:lnTo>
                <a:lnTo>
                  <a:pt x="40831" y="17750"/>
                </a:lnTo>
                <a:lnTo>
                  <a:pt x="6107" y="0"/>
                </a:lnTo>
                <a:lnTo>
                  <a:pt x="2395" y="4684"/>
                </a:lnTo>
                <a:lnTo>
                  <a:pt x="0" y="11094"/>
                </a:lnTo>
                <a:lnTo>
                  <a:pt x="64181" y="43636"/>
                </a:lnTo>
                <a:lnTo>
                  <a:pt x="66695" y="38582"/>
                </a:lnTo>
                <a:lnTo>
                  <a:pt x="59511" y="35747"/>
                </a:lnTo>
                <a:close/>
              </a:path>
            </a:pathLst>
          </a:custGeom>
          <a:solidFill>
            <a:srgbClr val="f2c8ad"/>
          </a:solidFill>
          <a:ln w="6191">
            <a:solidFill>
              <a:srgbClr val="b7633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56" name="วัดรวกบางบำหรุ"/>
          <p:cNvSpPr/>
          <p:nvPr/>
        </p:nvSpPr>
        <p:spPr>
          <a:xfrm>
            <a:off x="4681080" y="4952880"/>
            <a:ext cx="52920" cy="54000"/>
          </a:xfrm>
          <a:custGeom>
            <a:avLst/>
            <a:gdLst/>
            <a:ahLst/>
            <a:rect l="l" t="t" r="r" b="b"/>
            <a:pathLst>
              <a:path w="53284" h="54360">
                <a:moveTo>
                  <a:pt x="8142" y="28351"/>
                </a:moveTo>
                <a:lnTo>
                  <a:pt x="4550" y="34514"/>
                </a:lnTo>
                <a:lnTo>
                  <a:pt x="17841" y="41417"/>
                </a:lnTo>
                <a:lnTo>
                  <a:pt x="25984" y="47950"/>
                </a:lnTo>
                <a:lnTo>
                  <a:pt x="29695" y="43019"/>
                </a:lnTo>
                <a:lnTo>
                  <a:pt x="39993" y="52018"/>
                </a:lnTo>
                <a:lnTo>
                  <a:pt x="47178" y="54360"/>
                </a:lnTo>
                <a:lnTo>
                  <a:pt x="53284" y="30816"/>
                </a:lnTo>
                <a:lnTo>
                  <a:pt x="52207" y="26009"/>
                </a:lnTo>
                <a:lnTo>
                  <a:pt x="2634" y="0"/>
                </a:lnTo>
                <a:lnTo>
                  <a:pt x="0" y="4561"/>
                </a:lnTo>
                <a:lnTo>
                  <a:pt x="16045" y="13066"/>
                </a:lnTo>
                <a:lnTo>
                  <a:pt x="13291" y="20832"/>
                </a:lnTo>
                <a:lnTo>
                  <a:pt x="8142" y="28351"/>
                </a:lnTo>
                <a:close/>
              </a:path>
            </a:pathLst>
          </a:custGeom>
          <a:solidFill>
            <a:srgbClr val="f2c8ad"/>
          </a:solidFill>
          <a:ln w="6191">
            <a:solidFill>
              <a:srgbClr val="b7633d"/>
            </a:solidFill>
            <a:round/>
          </a:ln>
        </p:spPr>
        <p:style>
          <a:lnRef idx="0"/>
          <a:fillRef idx="0"/>
          <a:effectRef idx="0"/>
          <a:fontRef idx="minor"/>
        </p:style>
        <p:txBody>
          <a:bodyPr lIns="90000" rIns="90000" tIns="9000" bIns="9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57" name="คลองบางบำหรุ"/>
          <p:cNvSpPr/>
          <p:nvPr/>
        </p:nvSpPr>
        <p:spPr>
          <a:xfrm>
            <a:off x="4653000" y="4946040"/>
            <a:ext cx="43560" cy="41400"/>
          </a:xfrm>
          <a:custGeom>
            <a:avLst/>
            <a:gdLst/>
            <a:ahLst/>
            <a:rect l="l" t="t" r="r" b="b"/>
            <a:pathLst>
              <a:path w="43945" h="41663">
                <a:moveTo>
                  <a:pt x="32330" y="41663"/>
                </a:moveTo>
                <a:lnTo>
                  <a:pt x="34725" y="37842"/>
                </a:lnTo>
                <a:lnTo>
                  <a:pt x="33527" y="37103"/>
                </a:lnTo>
                <a:lnTo>
                  <a:pt x="37479" y="30570"/>
                </a:lnTo>
                <a:lnTo>
                  <a:pt x="39634" y="30200"/>
                </a:lnTo>
                <a:lnTo>
                  <a:pt x="43945" y="20462"/>
                </a:lnTo>
                <a:lnTo>
                  <a:pt x="27899" y="11587"/>
                </a:lnTo>
                <a:lnTo>
                  <a:pt x="30414" y="7026"/>
                </a:lnTo>
                <a:lnTo>
                  <a:pt x="16285" y="0"/>
                </a:lnTo>
                <a:lnTo>
                  <a:pt x="0" y="24899"/>
                </a:lnTo>
                <a:lnTo>
                  <a:pt x="32330" y="41663"/>
                </a:lnTo>
                <a:close/>
              </a:path>
            </a:pathLst>
          </a:custGeom>
          <a:solidFill>
            <a:srgbClr val="f2c8ad"/>
          </a:solidFill>
          <a:ln w="6191">
            <a:solidFill>
              <a:srgbClr val="b7633d"/>
            </a:solidFill>
            <a:round/>
          </a:ln>
        </p:spPr>
        <p:style>
          <a:lnRef idx="0"/>
          <a:fillRef idx="0"/>
          <a:effectRef idx="0"/>
          <a:fontRef idx="minor"/>
        </p:style>
        <p:txBody>
          <a:bodyPr lIns="90000" rIns="90000" tIns="-3600" bIns="-3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58" name="บางคอแหลม"/>
          <p:cNvSpPr/>
          <p:nvPr/>
        </p:nvSpPr>
        <p:spPr>
          <a:xfrm>
            <a:off x="4925160" y="5995440"/>
            <a:ext cx="59400" cy="47160"/>
          </a:xfrm>
          <a:custGeom>
            <a:avLst/>
            <a:gdLst/>
            <a:ahLst/>
            <a:rect l="l" t="t" r="r" b="b"/>
            <a:pathLst>
              <a:path w="59630" h="47580">
                <a:moveTo>
                  <a:pt x="1676" y="14545"/>
                </a:moveTo>
                <a:lnTo>
                  <a:pt x="4909" y="16887"/>
                </a:lnTo>
                <a:lnTo>
                  <a:pt x="10058" y="27241"/>
                </a:lnTo>
                <a:lnTo>
                  <a:pt x="11735" y="28228"/>
                </a:lnTo>
                <a:lnTo>
                  <a:pt x="17482" y="25886"/>
                </a:lnTo>
                <a:lnTo>
                  <a:pt x="19637" y="33158"/>
                </a:lnTo>
                <a:lnTo>
                  <a:pt x="35802" y="47580"/>
                </a:lnTo>
                <a:lnTo>
                  <a:pt x="46699" y="36363"/>
                </a:lnTo>
                <a:lnTo>
                  <a:pt x="59630" y="27735"/>
                </a:lnTo>
                <a:lnTo>
                  <a:pt x="55440" y="21695"/>
                </a:lnTo>
                <a:lnTo>
                  <a:pt x="40592" y="12080"/>
                </a:lnTo>
                <a:lnTo>
                  <a:pt x="26941" y="19722"/>
                </a:lnTo>
                <a:lnTo>
                  <a:pt x="17362" y="0"/>
                </a:lnTo>
                <a:lnTo>
                  <a:pt x="9579" y="2712"/>
                </a:lnTo>
                <a:lnTo>
                  <a:pt x="9579" y="5054"/>
                </a:lnTo>
                <a:lnTo>
                  <a:pt x="0" y="8012"/>
                </a:lnTo>
                <a:lnTo>
                  <a:pt x="1676" y="14545"/>
                </a:lnTo>
                <a:close/>
              </a:path>
            </a:pathLst>
          </a:custGeom>
          <a:solidFill>
            <a:srgbClr val="f2c8ad"/>
          </a:solidFill>
          <a:ln w="6191">
            <a:solidFill>
              <a:srgbClr val="b7633d"/>
            </a:solidFill>
            <a:round/>
          </a:ln>
        </p:spPr>
        <p:style>
          <a:lnRef idx="0"/>
          <a:fillRef idx="0"/>
          <a:effectRef idx="0"/>
          <a:fontRef idx="minor"/>
        </p:style>
        <p:txBody>
          <a:bodyPr lIns="90000" rIns="90000" tIns="2160" bIns="2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59" name="มาตานุสรณ์"/>
          <p:cNvSpPr/>
          <p:nvPr/>
        </p:nvSpPr>
        <p:spPr>
          <a:xfrm>
            <a:off x="4800960" y="6018840"/>
            <a:ext cx="57960" cy="39240"/>
          </a:xfrm>
          <a:custGeom>
            <a:avLst/>
            <a:gdLst/>
            <a:ahLst/>
            <a:rect l="l" t="t" r="r" b="b"/>
            <a:pathLst>
              <a:path w="58313" h="39445">
                <a:moveTo>
                  <a:pt x="0" y="39445"/>
                </a:moveTo>
                <a:lnTo>
                  <a:pt x="4909" y="39321"/>
                </a:lnTo>
                <a:lnTo>
                  <a:pt x="8741" y="29584"/>
                </a:lnTo>
                <a:lnTo>
                  <a:pt x="16404" y="26995"/>
                </a:lnTo>
                <a:lnTo>
                  <a:pt x="16165" y="26009"/>
                </a:lnTo>
                <a:lnTo>
                  <a:pt x="32090" y="21818"/>
                </a:lnTo>
                <a:lnTo>
                  <a:pt x="58313" y="7766"/>
                </a:lnTo>
                <a:lnTo>
                  <a:pt x="50650" y="0"/>
                </a:lnTo>
                <a:lnTo>
                  <a:pt x="45142" y="1849"/>
                </a:lnTo>
                <a:lnTo>
                  <a:pt x="27061" y="493"/>
                </a:lnTo>
                <a:lnTo>
                  <a:pt x="27420" y="5300"/>
                </a:lnTo>
                <a:lnTo>
                  <a:pt x="22990" y="6287"/>
                </a:lnTo>
                <a:lnTo>
                  <a:pt x="21194" y="11340"/>
                </a:lnTo>
                <a:lnTo>
                  <a:pt x="9819" y="9615"/>
                </a:lnTo>
                <a:lnTo>
                  <a:pt x="4909" y="21078"/>
                </a:lnTo>
                <a:lnTo>
                  <a:pt x="3592" y="28844"/>
                </a:lnTo>
                <a:lnTo>
                  <a:pt x="479" y="28967"/>
                </a:lnTo>
                <a:lnTo>
                  <a:pt x="0" y="39445"/>
                </a:lnTo>
                <a:close/>
              </a:path>
            </a:pathLst>
          </a:custGeom>
          <a:solidFill>
            <a:srgbClr val="f2c8ad"/>
          </a:solidFill>
          <a:ln w="6191">
            <a:solidFill>
              <a:srgbClr val="b7633d"/>
            </a:solidFill>
            <a:round/>
          </a:ln>
        </p:spPr>
        <p:style>
          <a:lnRef idx="0"/>
          <a:fillRef idx="0"/>
          <a:effectRef idx="0"/>
          <a:fontRef idx="minor"/>
        </p:style>
        <p:txBody>
          <a:bodyPr lIns="90000" rIns="90000" tIns="-5760" bIns="-57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60" name="วัดจันทร์ใน"/>
          <p:cNvSpPr/>
          <p:nvPr/>
        </p:nvSpPr>
        <p:spPr>
          <a:xfrm>
            <a:off x="4880880" y="6022440"/>
            <a:ext cx="85320" cy="42120"/>
          </a:xfrm>
          <a:custGeom>
            <a:avLst/>
            <a:gdLst/>
            <a:ahLst/>
            <a:rect l="l" t="t" r="r" b="b"/>
            <a:pathLst>
              <a:path w="85734" h="42650">
                <a:moveTo>
                  <a:pt x="14369" y="3205"/>
                </a:moveTo>
                <a:lnTo>
                  <a:pt x="9459" y="0"/>
                </a:lnTo>
                <a:lnTo>
                  <a:pt x="0" y="9122"/>
                </a:lnTo>
                <a:lnTo>
                  <a:pt x="4790" y="14545"/>
                </a:lnTo>
                <a:lnTo>
                  <a:pt x="32809" y="31926"/>
                </a:lnTo>
                <a:lnTo>
                  <a:pt x="74119" y="42650"/>
                </a:lnTo>
                <a:lnTo>
                  <a:pt x="79028" y="33035"/>
                </a:lnTo>
                <a:lnTo>
                  <a:pt x="82381" y="35254"/>
                </a:lnTo>
                <a:lnTo>
                  <a:pt x="85734" y="30323"/>
                </a:lnTo>
                <a:lnTo>
                  <a:pt x="77711" y="18860"/>
                </a:lnTo>
                <a:lnTo>
                  <a:pt x="63821" y="6163"/>
                </a:lnTo>
                <a:lnTo>
                  <a:pt x="60588" y="8012"/>
                </a:lnTo>
                <a:lnTo>
                  <a:pt x="55679" y="1602"/>
                </a:lnTo>
                <a:lnTo>
                  <a:pt x="47417" y="7642"/>
                </a:lnTo>
                <a:lnTo>
                  <a:pt x="38436" y="18243"/>
                </a:lnTo>
                <a:lnTo>
                  <a:pt x="21673" y="10231"/>
                </a:lnTo>
                <a:lnTo>
                  <a:pt x="18320" y="7519"/>
                </a:lnTo>
                <a:lnTo>
                  <a:pt x="19877" y="5547"/>
                </a:lnTo>
                <a:lnTo>
                  <a:pt x="17243" y="5670"/>
                </a:lnTo>
                <a:lnTo>
                  <a:pt x="14369" y="3205"/>
                </a:lnTo>
                <a:close/>
              </a:path>
            </a:pathLst>
          </a:custGeom>
          <a:solidFill>
            <a:srgbClr val="f2c8ad"/>
          </a:solidFill>
          <a:ln w="6191">
            <a:solidFill>
              <a:srgbClr val="b7633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61" name="วัดลาดบัวขาว"/>
          <p:cNvSpPr/>
          <p:nvPr/>
        </p:nvSpPr>
        <p:spPr>
          <a:xfrm>
            <a:off x="4863600" y="5982120"/>
            <a:ext cx="20160" cy="15120"/>
          </a:xfrm>
          <a:custGeom>
            <a:avLst/>
            <a:gdLst/>
            <a:ahLst/>
            <a:rect l="l" t="t" r="r" b="b"/>
            <a:pathLst>
              <a:path w="20595" h="15408">
                <a:moveTo>
                  <a:pt x="16285" y="15408"/>
                </a:moveTo>
                <a:lnTo>
                  <a:pt x="20595" y="3821"/>
                </a:lnTo>
                <a:lnTo>
                  <a:pt x="14967" y="740"/>
                </a:lnTo>
                <a:lnTo>
                  <a:pt x="12213" y="3575"/>
                </a:lnTo>
                <a:lnTo>
                  <a:pt x="7663" y="0"/>
                </a:lnTo>
                <a:lnTo>
                  <a:pt x="838" y="9615"/>
                </a:lnTo>
                <a:lnTo>
                  <a:pt x="0" y="13313"/>
                </a:lnTo>
                <a:lnTo>
                  <a:pt x="16285" y="15408"/>
                </a:lnTo>
                <a:close/>
              </a:path>
            </a:pathLst>
          </a:custGeom>
          <a:solidFill>
            <a:srgbClr val="f2c8ad"/>
          </a:solidFill>
          <a:ln w="6191">
            <a:solidFill>
              <a:srgbClr val="b7633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62" name="สวนหลวง 1"/>
          <p:cNvSpPr/>
          <p:nvPr/>
        </p:nvSpPr>
        <p:spPr>
          <a:xfrm>
            <a:off x="4927320" y="5980320"/>
            <a:ext cx="43920" cy="34200"/>
          </a:xfrm>
          <a:custGeom>
            <a:avLst/>
            <a:gdLst/>
            <a:ahLst/>
            <a:rect l="l" t="t" r="r" b="b"/>
            <a:pathLst>
              <a:path w="44304" h="34637">
                <a:moveTo>
                  <a:pt x="36042" y="28474"/>
                </a:moveTo>
                <a:lnTo>
                  <a:pt x="44304" y="18366"/>
                </a:lnTo>
                <a:lnTo>
                  <a:pt x="41191" y="15778"/>
                </a:lnTo>
                <a:lnTo>
                  <a:pt x="34725" y="17750"/>
                </a:lnTo>
                <a:lnTo>
                  <a:pt x="31731" y="10971"/>
                </a:lnTo>
                <a:lnTo>
                  <a:pt x="29695" y="9738"/>
                </a:lnTo>
                <a:lnTo>
                  <a:pt x="30653" y="8259"/>
                </a:lnTo>
                <a:lnTo>
                  <a:pt x="18200" y="0"/>
                </a:lnTo>
                <a:lnTo>
                  <a:pt x="15327" y="3698"/>
                </a:lnTo>
                <a:lnTo>
                  <a:pt x="11256" y="247"/>
                </a:lnTo>
                <a:lnTo>
                  <a:pt x="0" y="10601"/>
                </a:lnTo>
                <a:lnTo>
                  <a:pt x="2275" y="13066"/>
                </a:lnTo>
                <a:lnTo>
                  <a:pt x="6825" y="13313"/>
                </a:lnTo>
                <a:lnTo>
                  <a:pt x="13171" y="16271"/>
                </a:lnTo>
                <a:lnTo>
                  <a:pt x="15446" y="14792"/>
                </a:lnTo>
                <a:lnTo>
                  <a:pt x="24906" y="34637"/>
                </a:lnTo>
                <a:lnTo>
                  <a:pt x="36042" y="28474"/>
                </a:lnTo>
                <a:close/>
              </a:path>
            </a:pathLst>
          </a:custGeom>
          <a:solidFill>
            <a:srgbClr val="f2c8ad"/>
          </a:solidFill>
          <a:ln w="6191">
            <a:solidFill>
              <a:srgbClr val="b7633d"/>
            </a:solidFill>
            <a:round/>
          </a:ln>
        </p:spPr>
        <p:style>
          <a:lnRef idx="0"/>
          <a:fillRef idx="0"/>
          <a:effectRef idx="0"/>
          <a:fontRef idx="minor"/>
        </p:style>
        <p:txBody>
          <a:bodyPr lIns="90000" rIns="90000" tIns="-10800" bIns="-10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63" name="หลังโรงพยาบาลเจริญกรุงประชารักษ์"/>
          <p:cNvSpPr/>
          <p:nvPr/>
        </p:nvSpPr>
        <p:spPr>
          <a:xfrm>
            <a:off x="4822200" y="6084720"/>
            <a:ext cx="40320" cy="32040"/>
          </a:xfrm>
          <a:custGeom>
            <a:avLst/>
            <a:gdLst/>
            <a:ahLst/>
            <a:rect l="l" t="t" r="r" b="b"/>
            <a:pathLst>
              <a:path w="40712" h="32419">
                <a:moveTo>
                  <a:pt x="9340" y="7396"/>
                </a:moveTo>
                <a:lnTo>
                  <a:pt x="0" y="18736"/>
                </a:lnTo>
                <a:lnTo>
                  <a:pt x="20236" y="32419"/>
                </a:lnTo>
                <a:lnTo>
                  <a:pt x="40712" y="8259"/>
                </a:lnTo>
                <a:lnTo>
                  <a:pt x="35563" y="4807"/>
                </a:lnTo>
                <a:lnTo>
                  <a:pt x="25864" y="15038"/>
                </a:lnTo>
                <a:lnTo>
                  <a:pt x="19757" y="10354"/>
                </a:lnTo>
                <a:lnTo>
                  <a:pt x="24547" y="4684"/>
                </a:lnTo>
                <a:lnTo>
                  <a:pt x="18440" y="0"/>
                </a:lnTo>
                <a:lnTo>
                  <a:pt x="9340" y="7396"/>
                </a:lnTo>
                <a:close/>
              </a:path>
            </a:pathLst>
          </a:custGeom>
          <a:solidFill>
            <a:srgbClr val="f2c8ad"/>
          </a:solidFill>
          <a:ln w="6191">
            <a:solidFill>
              <a:srgbClr val="b7633d"/>
            </a:solidFill>
            <a:round/>
          </a:ln>
        </p:spPr>
        <p:style>
          <a:lnRef idx="0"/>
          <a:fillRef idx="0"/>
          <a:effectRef idx="0"/>
          <a:fontRef idx="minor"/>
        </p:style>
        <p:txBody>
          <a:bodyPr lIns="90000" rIns="90000" tIns="-12960" bIns="-12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64" name="ซอยเจริญกรุง 89"/>
          <p:cNvSpPr/>
          <p:nvPr/>
        </p:nvSpPr>
        <p:spPr>
          <a:xfrm>
            <a:off x="4981680" y="5950800"/>
            <a:ext cx="24120" cy="18360"/>
          </a:xfrm>
          <a:custGeom>
            <a:avLst/>
            <a:gdLst/>
            <a:ahLst/>
            <a:rect l="l" t="t" r="r" b="b"/>
            <a:pathLst>
              <a:path w="24307" h="18613">
                <a:moveTo>
                  <a:pt x="13171" y="370"/>
                </a:moveTo>
                <a:lnTo>
                  <a:pt x="9579" y="3082"/>
                </a:lnTo>
                <a:lnTo>
                  <a:pt x="5628" y="0"/>
                </a:lnTo>
                <a:lnTo>
                  <a:pt x="0" y="6780"/>
                </a:lnTo>
                <a:lnTo>
                  <a:pt x="12094" y="18613"/>
                </a:lnTo>
                <a:lnTo>
                  <a:pt x="19039" y="12080"/>
                </a:lnTo>
                <a:lnTo>
                  <a:pt x="20954" y="12573"/>
                </a:lnTo>
                <a:lnTo>
                  <a:pt x="24307" y="7889"/>
                </a:lnTo>
                <a:lnTo>
                  <a:pt x="13171" y="370"/>
                </a:lnTo>
                <a:close/>
              </a:path>
            </a:pathLst>
          </a:custGeom>
          <a:solidFill>
            <a:srgbClr val="f2c8ad"/>
          </a:solidFill>
          <a:ln w="6191">
            <a:solidFill>
              <a:srgbClr val="b7633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65" name="ซอยโรงเจ"/>
          <p:cNvSpPr/>
          <p:nvPr/>
        </p:nvSpPr>
        <p:spPr>
          <a:xfrm>
            <a:off x="5028480" y="5934960"/>
            <a:ext cx="39600" cy="39600"/>
          </a:xfrm>
          <a:custGeom>
            <a:avLst/>
            <a:gdLst/>
            <a:ahLst/>
            <a:rect l="l" t="t" r="r" b="b"/>
            <a:pathLst>
              <a:path w="39993" h="39938">
                <a:moveTo>
                  <a:pt x="12573" y="0"/>
                </a:moveTo>
                <a:lnTo>
                  <a:pt x="0" y="9861"/>
                </a:lnTo>
                <a:lnTo>
                  <a:pt x="30653" y="39938"/>
                </a:lnTo>
                <a:lnTo>
                  <a:pt x="39993" y="26625"/>
                </a:lnTo>
                <a:lnTo>
                  <a:pt x="12573" y="0"/>
                </a:lnTo>
                <a:close/>
              </a:path>
            </a:pathLst>
          </a:custGeom>
          <a:solidFill>
            <a:srgbClr val="f2c8ad"/>
          </a:solidFill>
          <a:ln w="6191">
            <a:solidFill>
              <a:srgbClr val="b7633d"/>
            </a:solidFill>
            <a:round/>
          </a:ln>
        </p:spPr>
        <p:style>
          <a:lnRef idx="0"/>
          <a:fillRef idx="0"/>
          <a:effectRef idx="0"/>
          <a:fontRef idx="minor"/>
        </p:style>
        <p:txBody>
          <a:bodyPr lIns="90000" rIns="90000" tIns="-5400" bIns="-5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66" name="วัดใต้"/>
          <p:cNvSpPr/>
          <p:nvPr/>
        </p:nvSpPr>
        <p:spPr>
          <a:xfrm>
            <a:off x="6127920" y="5834160"/>
            <a:ext cx="38880" cy="32400"/>
          </a:xfrm>
          <a:custGeom>
            <a:avLst/>
            <a:gdLst/>
            <a:ahLst/>
            <a:rect l="l" t="t" r="r" b="b"/>
            <a:pathLst>
              <a:path w="39275" h="32788">
                <a:moveTo>
                  <a:pt x="8980" y="21571"/>
                </a:moveTo>
                <a:lnTo>
                  <a:pt x="14249" y="32788"/>
                </a:lnTo>
                <a:lnTo>
                  <a:pt x="39275" y="20955"/>
                </a:lnTo>
                <a:lnTo>
                  <a:pt x="35922" y="12203"/>
                </a:lnTo>
                <a:lnTo>
                  <a:pt x="27780" y="14052"/>
                </a:lnTo>
                <a:lnTo>
                  <a:pt x="22870" y="0"/>
                </a:lnTo>
                <a:lnTo>
                  <a:pt x="6226" y="4561"/>
                </a:lnTo>
                <a:lnTo>
                  <a:pt x="2874" y="8259"/>
                </a:lnTo>
                <a:lnTo>
                  <a:pt x="0" y="22064"/>
                </a:lnTo>
                <a:lnTo>
                  <a:pt x="2993" y="23050"/>
                </a:lnTo>
                <a:lnTo>
                  <a:pt x="7304" y="20339"/>
                </a:lnTo>
                <a:lnTo>
                  <a:pt x="8980" y="21571"/>
                </a:lnTo>
                <a:close/>
              </a:path>
            </a:pathLst>
          </a:custGeom>
          <a:solidFill>
            <a:srgbClr val="f2c8ad"/>
          </a:solidFill>
          <a:ln w="6191">
            <a:solidFill>
              <a:srgbClr val="b7633d"/>
            </a:solidFill>
            <a:round/>
          </a:ln>
        </p:spPr>
        <p:style>
          <a:lnRef idx="0"/>
          <a:fillRef idx="0"/>
          <a:effectRef idx="0"/>
          <a:fontRef idx="minor"/>
        </p:style>
        <p:txBody>
          <a:bodyPr lIns="90000" rIns="90000" tIns="-12600" bIns="-12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67" name="โรงหวาย"/>
          <p:cNvSpPr/>
          <p:nvPr/>
        </p:nvSpPr>
        <p:spPr>
          <a:xfrm>
            <a:off x="6154560" y="5878080"/>
            <a:ext cx="49320" cy="25200"/>
          </a:xfrm>
          <a:custGeom>
            <a:avLst/>
            <a:gdLst/>
            <a:ahLst/>
            <a:rect l="l" t="t" r="r" b="b"/>
            <a:pathLst>
              <a:path w="49572" h="25393">
                <a:moveTo>
                  <a:pt x="2036" y="18613"/>
                </a:moveTo>
                <a:lnTo>
                  <a:pt x="7544" y="25393"/>
                </a:lnTo>
                <a:lnTo>
                  <a:pt x="17961" y="23420"/>
                </a:lnTo>
                <a:lnTo>
                  <a:pt x="16883" y="19106"/>
                </a:lnTo>
                <a:lnTo>
                  <a:pt x="49572" y="9615"/>
                </a:lnTo>
                <a:lnTo>
                  <a:pt x="47058" y="0"/>
                </a:lnTo>
                <a:lnTo>
                  <a:pt x="39873" y="1849"/>
                </a:lnTo>
                <a:lnTo>
                  <a:pt x="39155" y="370"/>
                </a:lnTo>
                <a:lnTo>
                  <a:pt x="32090" y="1233"/>
                </a:lnTo>
                <a:lnTo>
                  <a:pt x="12453" y="9861"/>
                </a:lnTo>
                <a:lnTo>
                  <a:pt x="0" y="13682"/>
                </a:lnTo>
                <a:lnTo>
                  <a:pt x="2036" y="18613"/>
                </a:lnTo>
                <a:close/>
              </a:path>
            </a:pathLst>
          </a:custGeom>
          <a:solidFill>
            <a:srgbClr val="f2c8ad"/>
          </a:solidFill>
          <a:ln w="6191">
            <a:solidFill>
              <a:srgbClr val="b7633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68" name="ริมทางรถไฟหลังโรงพยาบาลเดชา"/>
          <p:cNvSpPr/>
          <p:nvPr/>
        </p:nvSpPr>
        <p:spPr>
          <a:xfrm>
            <a:off x="5349960" y="5310720"/>
            <a:ext cx="39960" cy="11880"/>
          </a:xfrm>
          <a:custGeom>
            <a:avLst/>
            <a:gdLst/>
            <a:ahLst/>
            <a:rect l="l" t="t" r="r" b="b"/>
            <a:pathLst>
              <a:path w="40352" h="12080">
                <a:moveTo>
                  <a:pt x="0" y="2589"/>
                </a:moveTo>
                <a:lnTo>
                  <a:pt x="40113" y="12080"/>
                </a:lnTo>
                <a:lnTo>
                  <a:pt x="40352" y="9245"/>
                </a:lnTo>
                <a:lnTo>
                  <a:pt x="718" y="0"/>
                </a:lnTo>
                <a:lnTo>
                  <a:pt x="0" y="2589"/>
                </a:lnTo>
                <a:close/>
              </a:path>
            </a:pathLst>
          </a:custGeom>
          <a:solidFill>
            <a:srgbClr val="f2c8ad"/>
          </a:solidFill>
          <a:ln w="6191">
            <a:solidFill>
              <a:srgbClr val="b7633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69" name="คลองส้มป่อย"/>
          <p:cNvSpPr/>
          <p:nvPr/>
        </p:nvSpPr>
        <p:spPr>
          <a:xfrm>
            <a:off x="5142960" y="5308560"/>
            <a:ext cx="15480" cy="33120"/>
          </a:xfrm>
          <a:custGeom>
            <a:avLst/>
            <a:gdLst/>
            <a:ahLst/>
            <a:rect l="l" t="t" r="r" b="b"/>
            <a:pathLst>
              <a:path w="15925" h="33651">
                <a:moveTo>
                  <a:pt x="6346" y="32912"/>
                </a:moveTo>
                <a:lnTo>
                  <a:pt x="8142" y="33651"/>
                </a:lnTo>
                <a:lnTo>
                  <a:pt x="8861" y="29337"/>
                </a:lnTo>
                <a:lnTo>
                  <a:pt x="13411" y="27981"/>
                </a:lnTo>
                <a:lnTo>
                  <a:pt x="15925" y="493"/>
                </a:lnTo>
                <a:lnTo>
                  <a:pt x="12094" y="0"/>
                </a:lnTo>
                <a:lnTo>
                  <a:pt x="0" y="30939"/>
                </a:lnTo>
                <a:lnTo>
                  <a:pt x="6346" y="32912"/>
                </a:lnTo>
                <a:close/>
              </a:path>
            </a:pathLst>
          </a:custGeom>
          <a:solidFill>
            <a:srgbClr val="f2c8ad"/>
          </a:solidFill>
          <a:ln w="6191">
            <a:solidFill>
              <a:srgbClr val="b7633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70" name="ซอยสมประสงค์ 5"/>
          <p:cNvSpPr/>
          <p:nvPr/>
        </p:nvSpPr>
        <p:spPr>
          <a:xfrm>
            <a:off x="5310360" y="5383800"/>
            <a:ext cx="9360" cy="12960"/>
          </a:xfrm>
          <a:custGeom>
            <a:avLst/>
            <a:gdLst/>
            <a:ahLst/>
            <a:rect l="l" t="t" r="r" b="b"/>
            <a:pathLst>
              <a:path w="9819" h="13313">
                <a:moveTo>
                  <a:pt x="0" y="11340"/>
                </a:moveTo>
                <a:lnTo>
                  <a:pt x="239" y="13313"/>
                </a:lnTo>
                <a:lnTo>
                  <a:pt x="5987" y="12943"/>
                </a:lnTo>
                <a:lnTo>
                  <a:pt x="7304" y="3575"/>
                </a:lnTo>
                <a:lnTo>
                  <a:pt x="8741" y="3698"/>
                </a:lnTo>
                <a:lnTo>
                  <a:pt x="9819" y="0"/>
                </a:lnTo>
                <a:lnTo>
                  <a:pt x="1078" y="247"/>
                </a:lnTo>
                <a:lnTo>
                  <a:pt x="0" y="11340"/>
                </a:lnTo>
                <a:close/>
              </a:path>
            </a:pathLst>
          </a:custGeom>
          <a:solidFill>
            <a:srgbClr val="f2c8ad"/>
          </a:solidFill>
          <a:ln w="6191">
            <a:solidFill>
              <a:srgbClr val="b7633d"/>
            </a:solidFill>
            <a:round/>
          </a:ln>
        </p:spPr>
        <p:style>
          <a:lnRef idx="0"/>
          <a:fillRef idx="0"/>
          <a:effectRef idx="0"/>
          <a:fontRef idx="minor"/>
        </p:style>
        <p:txBody>
          <a:bodyPr lIns="90000" rIns="90000" tIns="-32040" bIns="-32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71" name="บ้านครัวตะวันตก"/>
          <p:cNvSpPr/>
          <p:nvPr/>
        </p:nvSpPr>
        <p:spPr>
          <a:xfrm>
            <a:off x="5177520" y="5365800"/>
            <a:ext cx="28800" cy="23040"/>
          </a:xfrm>
          <a:custGeom>
            <a:avLst/>
            <a:gdLst/>
            <a:ahLst/>
            <a:rect l="l" t="t" r="r" b="b"/>
            <a:pathLst>
              <a:path w="29097" h="23420">
                <a:moveTo>
                  <a:pt x="23948" y="23420"/>
                </a:moveTo>
                <a:lnTo>
                  <a:pt x="29097" y="14422"/>
                </a:lnTo>
                <a:lnTo>
                  <a:pt x="27780" y="14175"/>
                </a:lnTo>
                <a:lnTo>
                  <a:pt x="28498" y="9245"/>
                </a:lnTo>
                <a:lnTo>
                  <a:pt x="16045" y="6287"/>
                </a:lnTo>
                <a:lnTo>
                  <a:pt x="15686" y="8505"/>
                </a:lnTo>
                <a:lnTo>
                  <a:pt x="10896" y="7519"/>
                </a:lnTo>
                <a:lnTo>
                  <a:pt x="12453" y="370"/>
                </a:lnTo>
                <a:lnTo>
                  <a:pt x="3233" y="0"/>
                </a:lnTo>
                <a:lnTo>
                  <a:pt x="0" y="9368"/>
                </a:lnTo>
                <a:lnTo>
                  <a:pt x="23948" y="23420"/>
                </a:lnTo>
                <a:close/>
              </a:path>
            </a:pathLst>
          </a:custGeom>
          <a:solidFill>
            <a:srgbClr val="f2c8ad"/>
          </a:solidFill>
          <a:ln w="6191">
            <a:solidFill>
              <a:srgbClr val="b7633d"/>
            </a:solidFill>
            <a:round/>
          </a:ln>
        </p:spPr>
        <p:style>
          <a:lnRef idx="0"/>
          <a:fillRef idx="0"/>
          <a:effectRef idx="0"/>
          <a:fontRef idx="minor"/>
        </p:style>
        <p:txBody>
          <a:bodyPr lIns="90000" rIns="90000" tIns="-21960" bIns="-21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72" name="บ้านครัวเหนือ"/>
          <p:cNvSpPr/>
          <p:nvPr/>
        </p:nvSpPr>
        <p:spPr>
          <a:xfrm>
            <a:off x="5202000" y="5376960"/>
            <a:ext cx="57960" cy="18720"/>
          </a:xfrm>
          <a:custGeom>
            <a:avLst/>
            <a:gdLst/>
            <a:ahLst/>
            <a:rect l="l" t="t" r="r" b="b"/>
            <a:pathLst>
              <a:path w="58433" h="19106">
                <a:moveTo>
                  <a:pt x="55799" y="3575"/>
                </a:moveTo>
                <a:lnTo>
                  <a:pt x="50291" y="3205"/>
                </a:lnTo>
                <a:lnTo>
                  <a:pt x="50051" y="7026"/>
                </a:lnTo>
                <a:lnTo>
                  <a:pt x="37359" y="5547"/>
                </a:lnTo>
                <a:lnTo>
                  <a:pt x="36760" y="7273"/>
                </a:lnTo>
                <a:lnTo>
                  <a:pt x="31372" y="6040"/>
                </a:lnTo>
                <a:lnTo>
                  <a:pt x="31611" y="4561"/>
                </a:lnTo>
                <a:lnTo>
                  <a:pt x="7424" y="0"/>
                </a:lnTo>
                <a:lnTo>
                  <a:pt x="0" y="12696"/>
                </a:lnTo>
                <a:lnTo>
                  <a:pt x="9579" y="19106"/>
                </a:lnTo>
                <a:lnTo>
                  <a:pt x="35204" y="14299"/>
                </a:lnTo>
                <a:lnTo>
                  <a:pt x="56038" y="17257"/>
                </a:lnTo>
                <a:lnTo>
                  <a:pt x="58433" y="3944"/>
                </a:lnTo>
                <a:lnTo>
                  <a:pt x="55799" y="3575"/>
                </a:lnTo>
                <a:close/>
              </a:path>
            </a:pathLst>
          </a:custGeom>
          <a:solidFill>
            <a:srgbClr val="f2c8ad"/>
          </a:solidFill>
          <a:ln w="6191">
            <a:solidFill>
              <a:srgbClr val="b7633d"/>
            </a:solidFill>
            <a:round/>
          </a:ln>
        </p:spPr>
        <p:style>
          <a:lnRef idx="0"/>
          <a:fillRef idx="0"/>
          <a:effectRef idx="0"/>
          <a:fontRef idx="minor"/>
        </p:style>
        <p:txBody>
          <a:bodyPr lIns="90000" rIns="90000" tIns="-26280" bIns="-26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73" name="ริมคลองสามเสน"/>
          <p:cNvSpPr/>
          <p:nvPr/>
        </p:nvSpPr>
        <p:spPr>
          <a:xfrm>
            <a:off x="5539680" y="5312160"/>
            <a:ext cx="80280" cy="18720"/>
          </a:xfrm>
          <a:custGeom>
            <a:avLst/>
            <a:gdLst/>
            <a:ahLst/>
            <a:rect l="l" t="t" r="r" b="b"/>
            <a:pathLst>
              <a:path w="80585" h="18983">
                <a:moveTo>
                  <a:pt x="0" y="1972"/>
                </a:moveTo>
                <a:lnTo>
                  <a:pt x="5628" y="4807"/>
                </a:lnTo>
                <a:lnTo>
                  <a:pt x="34844" y="12080"/>
                </a:lnTo>
                <a:lnTo>
                  <a:pt x="46579" y="12820"/>
                </a:lnTo>
                <a:lnTo>
                  <a:pt x="51728" y="15901"/>
                </a:lnTo>
                <a:lnTo>
                  <a:pt x="78430" y="18983"/>
                </a:lnTo>
                <a:lnTo>
                  <a:pt x="80585" y="4931"/>
                </a:lnTo>
                <a:lnTo>
                  <a:pt x="46459" y="3328"/>
                </a:lnTo>
                <a:lnTo>
                  <a:pt x="21074" y="0"/>
                </a:lnTo>
                <a:lnTo>
                  <a:pt x="16764" y="123"/>
                </a:lnTo>
                <a:lnTo>
                  <a:pt x="13291" y="2712"/>
                </a:lnTo>
                <a:lnTo>
                  <a:pt x="0" y="1972"/>
                </a:lnTo>
                <a:close/>
              </a:path>
            </a:pathLst>
          </a:custGeom>
          <a:solidFill>
            <a:srgbClr val="f2c8ad"/>
          </a:solidFill>
          <a:ln w="6191">
            <a:solidFill>
              <a:srgbClr val="b7633d"/>
            </a:solidFill>
            <a:round/>
          </a:ln>
        </p:spPr>
        <p:style>
          <a:lnRef idx="0"/>
          <a:fillRef idx="0"/>
          <a:effectRef idx="0"/>
          <a:fontRef idx="minor"/>
        </p:style>
        <p:txBody>
          <a:bodyPr lIns="90000" rIns="90000" tIns="-26280" bIns="-26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74" name="นิคมมักกะสัน"/>
          <p:cNvSpPr/>
          <p:nvPr/>
        </p:nvSpPr>
        <p:spPr>
          <a:xfrm>
            <a:off x="5546880" y="5396040"/>
            <a:ext cx="10440" cy="11160"/>
          </a:xfrm>
          <a:custGeom>
            <a:avLst/>
            <a:gdLst/>
            <a:ahLst/>
            <a:rect l="l" t="t" r="r" b="b"/>
            <a:pathLst>
              <a:path w="10777" h="11587">
                <a:moveTo>
                  <a:pt x="1676" y="11587"/>
                </a:moveTo>
                <a:lnTo>
                  <a:pt x="9220" y="11587"/>
                </a:lnTo>
                <a:lnTo>
                  <a:pt x="10777" y="2712"/>
                </a:lnTo>
                <a:lnTo>
                  <a:pt x="958" y="0"/>
                </a:lnTo>
                <a:lnTo>
                  <a:pt x="0" y="2342"/>
                </a:lnTo>
                <a:lnTo>
                  <a:pt x="1916" y="5424"/>
                </a:lnTo>
                <a:lnTo>
                  <a:pt x="1676" y="11587"/>
                </a:lnTo>
                <a:close/>
              </a:path>
            </a:pathLst>
          </a:custGeom>
          <a:solidFill>
            <a:srgbClr val="f2c8ad"/>
          </a:solidFill>
          <a:ln w="6191">
            <a:solidFill>
              <a:srgbClr val="b7633d"/>
            </a:solidFill>
            <a:round/>
          </a:ln>
        </p:spPr>
        <p:style>
          <a:lnRef idx="0"/>
          <a:fillRef idx="0"/>
          <a:effectRef idx="0"/>
          <a:fontRef idx="minor"/>
        </p:style>
        <p:txBody>
          <a:bodyPr lIns="90000" rIns="90000" tIns="-33840" bIns="-33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75" name="ริมทางรถไฟมักกะสัน"/>
          <p:cNvSpPr/>
          <p:nvPr/>
        </p:nvSpPr>
        <p:spPr>
          <a:xfrm>
            <a:off x="5479560" y="5347800"/>
            <a:ext cx="37800" cy="39960"/>
          </a:xfrm>
          <a:custGeom>
            <a:avLst/>
            <a:gdLst/>
            <a:ahLst/>
            <a:rect l="l" t="t" r="r" b="b"/>
            <a:pathLst>
              <a:path w="38077" h="40184">
                <a:moveTo>
                  <a:pt x="0" y="0"/>
                </a:moveTo>
                <a:lnTo>
                  <a:pt x="17243" y="18243"/>
                </a:lnTo>
                <a:lnTo>
                  <a:pt x="25744" y="40184"/>
                </a:lnTo>
                <a:lnTo>
                  <a:pt x="31851" y="39938"/>
                </a:lnTo>
                <a:lnTo>
                  <a:pt x="38077" y="7273"/>
                </a:lnTo>
                <a:lnTo>
                  <a:pt x="0" y="0"/>
                </a:lnTo>
                <a:close/>
              </a:path>
            </a:pathLst>
          </a:custGeom>
          <a:solidFill>
            <a:srgbClr val="f2c8ad"/>
          </a:solidFill>
          <a:ln w="6191">
            <a:solidFill>
              <a:srgbClr val="b7633d"/>
            </a:solidFill>
            <a:round/>
          </a:ln>
        </p:spPr>
        <p:style>
          <a:lnRef idx="0"/>
          <a:fillRef idx="0"/>
          <a:effectRef idx="0"/>
          <a:fontRef idx="minor"/>
        </p:style>
        <p:txBody>
          <a:bodyPr lIns="90000" rIns="90000" tIns="-5040" bIns="-5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76" name="โรงเจมักกะสัน"/>
          <p:cNvSpPr/>
          <p:nvPr/>
        </p:nvSpPr>
        <p:spPr>
          <a:xfrm>
            <a:off x="5556600" y="5390280"/>
            <a:ext cx="14760" cy="17280"/>
          </a:xfrm>
          <a:custGeom>
            <a:avLst/>
            <a:gdLst/>
            <a:ahLst/>
            <a:rect l="l" t="t" r="r" b="b"/>
            <a:pathLst>
              <a:path w="15207" h="17750">
                <a:moveTo>
                  <a:pt x="5029" y="863"/>
                </a:moveTo>
                <a:lnTo>
                  <a:pt x="2993" y="2219"/>
                </a:lnTo>
                <a:lnTo>
                  <a:pt x="0" y="17627"/>
                </a:lnTo>
                <a:lnTo>
                  <a:pt x="10178" y="17750"/>
                </a:lnTo>
                <a:lnTo>
                  <a:pt x="15207" y="5793"/>
                </a:lnTo>
                <a:lnTo>
                  <a:pt x="7424" y="0"/>
                </a:lnTo>
                <a:lnTo>
                  <a:pt x="5029" y="863"/>
                </a:lnTo>
                <a:close/>
              </a:path>
            </a:pathLst>
          </a:custGeom>
          <a:solidFill>
            <a:srgbClr val="f2c8ad"/>
          </a:solidFill>
          <a:ln w="6191">
            <a:solidFill>
              <a:srgbClr val="b7633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77" name="หลังวัดมักกะสัน"/>
          <p:cNvSpPr/>
          <p:nvPr/>
        </p:nvSpPr>
        <p:spPr>
          <a:xfrm>
            <a:off x="5505840" y="5390280"/>
            <a:ext cx="6120" cy="15840"/>
          </a:xfrm>
          <a:custGeom>
            <a:avLst/>
            <a:gdLst/>
            <a:ahLst/>
            <a:rect l="l" t="t" r="r" b="b"/>
            <a:pathLst>
              <a:path w="6346" h="16271">
                <a:moveTo>
                  <a:pt x="4909" y="4191"/>
                </a:moveTo>
                <a:lnTo>
                  <a:pt x="5508" y="0"/>
                </a:lnTo>
                <a:lnTo>
                  <a:pt x="0" y="0"/>
                </a:lnTo>
                <a:lnTo>
                  <a:pt x="1796" y="15655"/>
                </a:lnTo>
                <a:lnTo>
                  <a:pt x="4430" y="16271"/>
                </a:lnTo>
                <a:lnTo>
                  <a:pt x="6346" y="8505"/>
                </a:lnTo>
                <a:lnTo>
                  <a:pt x="4909" y="4191"/>
                </a:lnTo>
                <a:close/>
              </a:path>
            </a:pathLst>
          </a:custGeom>
          <a:solidFill>
            <a:srgbClr val="f2c8ad"/>
          </a:solidFill>
          <a:ln w="6191">
            <a:solidFill>
              <a:srgbClr val="b7633d"/>
            </a:solidFill>
            <a:round/>
          </a:ln>
        </p:spPr>
        <p:style>
          <a:lnRef idx="0"/>
          <a:fillRef idx="0"/>
          <a:effectRef idx="0"/>
          <a:fontRef idx="minor"/>
        </p:style>
        <p:txBody>
          <a:bodyPr lIns="90000" rIns="90000" tIns="-29160" bIns="-29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78" name="ไทรงาม"/>
          <p:cNvSpPr/>
          <p:nvPr/>
        </p:nvSpPr>
        <p:spPr>
          <a:xfrm>
            <a:off x="5628600" y="3582360"/>
            <a:ext cx="13680" cy="5400"/>
          </a:xfrm>
          <a:custGeom>
            <a:avLst/>
            <a:gdLst/>
            <a:ahLst/>
            <a:rect l="l" t="t" r="r" b="b"/>
            <a:pathLst>
              <a:path w="14129" h="5917">
                <a:moveTo>
                  <a:pt x="2155" y="4807"/>
                </a:moveTo>
                <a:lnTo>
                  <a:pt x="12333" y="5917"/>
                </a:lnTo>
                <a:lnTo>
                  <a:pt x="14129" y="1602"/>
                </a:lnTo>
                <a:lnTo>
                  <a:pt x="718" y="0"/>
                </a:lnTo>
                <a:lnTo>
                  <a:pt x="0" y="2835"/>
                </a:lnTo>
                <a:lnTo>
                  <a:pt x="2155" y="4807"/>
                </a:lnTo>
                <a:close/>
              </a:path>
            </a:pathLst>
          </a:custGeom>
          <a:solidFill>
            <a:srgbClr val="f2c8ad"/>
          </a:solidFill>
          <a:ln w="6191">
            <a:solidFill>
              <a:srgbClr val="b7633d"/>
            </a:solidFill>
            <a:round/>
          </a:ln>
        </p:spPr>
        <p:style>
          <a:lnRef idx="0"/>
          <a:fillRef idx="0"/>
          <a:effectRef idx="0"/>
          <a:fontRef idx="minor"/>
        </p:style>
        <p:txBody>
          <a:bodyPr lIns="90000" rIns="90000" tIns="-39600" bIns="-39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79" name="บางอุทิศ"/>
          <p:cNvSpPr/>
          <p:nvPr/>
        </p:nvSpPr>
        <p:spPr>
          <a:xfrm>
            <a:off x="4965840" y="5971320"/>
            <a:ext cx="60120" cy="45360"/>
          </a:xfrm>
          <a:custGeom>
            <a:avLst/>
            <a:gdLst/>
            <a:ahLst/>
            <a:rect l="l" t="t" r="r" b="b"/>
            <a:pathLst>
              <a:path w="60349" h="45731">
                <a:moveTo>
                  <a:pt x="51488" y="0"/>
                </a:moveTo>
                <a:lnTo>
                  <a:pt x="34844" y="15778"/>
                </a:lnTo>
                <a:lnTo>
                  <a:pt x="33407" y="14668"/>
                </a:lnTo>
                <a:lnTo>
                  <a:pt x="14489" y="19846"/>
                </a:lnTo>
                <a:lnTo>
                  <a:pt x="9579" y="22681"/>
                </a:lnTo>
                <a:lnTo>
                  <a:pt x="0" y="35623"/>
                </a:lnTo>
                <a:lnTo>
                  <a:pt x="14489" y="45731"/>
                </a:lnTo>
                <a:lnTo>
                  <a:pt x="42627" y="27981"/>
                </a:lnTo>
                <a:lnTo>
                  <a:pt x="60349" y="8752"/>
                </a:lnTo>
                <a:lnTo>
                  <a:pt x="51488" y="0"/>
                </a:lnTo>
                <a:close/>
              </a:path>
            </a:pathLst>
          </a:custGeom>
          <a:solidFill>
            <a:srgbClr val="f2c8ad"/>
          </a:solidFill>
          <a:ln w="6191">
            <a:solidFill>
              <a:srgbClr val="b7633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80" name="วัดพระยาไกรระยะ 3"/>
          <p:cNvSpPr/>
          <p:nvPr/>
        </p:nvSpPr>
        <p:spPr>
          <a:xfrm>
            <a:off x="5001840" y="5941080"/>
            <a:ext cx="41760" cy="43200"/>
          </a:xfrm>
          <a:custGeom>
            <a:avLst/>
            <a:gdLst/>
            <a:ahLst/>
            <a:rect l="l" t="t" r="r" b="b"/>
            <a:pathLst>
              <a:path w="42029" h="43512">
                <a:moveTo>
                  <a:pt x="1197" y="21941"/>
                </a:moveTo>
                <a:lnTo>
                  <a:pt x="0" y="25023"/>
                </a:lnTo>
                <a:lnTo>
                  <a:pt x="3592" y="27488"/>
                </a:lnTo>
                <a:lnTo>
                  <a:pt x="359" y="30446"/>
                </a:lnTo>
                <a:lnTo>
                  <a:pt x="7544" y="38582"/>
                </a:lnTo>
                <a:lnTo>
                  <a:pt x="15207" y="29707"/>
                </a:lnTo>
                <a:lnTo>
                  <a:pt x="29456" y="43512"/>
                </a:lnTo>
                <a:lnTo>
                  <a:pt x="37000" y="33651"/>
                </a:lnTo>
                <a:lnTo>
                  <a:pt x="32928" y="29584"/>
                </a:lnTo>
                <a:lnTo>
                  <a:pt x="42029" y="19599"/>
                </a:lnTo>
                <a:lnTo>
                  <a:pt x="22631" y="0"/>
                </a:lnTo>
                <a:lnTo>
                  <a:pt x="1197" y="21941"/>
                </a:lnTo>
                <a:close/>
              </a:path>
            </a:pathLst>
          </a:custGeom>
          <a:solidFill>
            <a:srgbClr val="f2c8ad"/>
          </a:solidFill>
          <a:ln w="6191">
            <a:solidFill>
              <a:srgbClr val="b7633d"/>
            </a:solidFill>
            <a:round/>
          </a:ln>
        </p:spPr>
        <p:style>
          <a:lnRef idx="0"/>
          <a:fillRef idx="0"/>
          <a:effectRef idx="0"/>
          <a:fontRef idx="minor"/>
        </p:style>
        <p:txBody>
          <a:bodyPr lIns="90000" rIns="90000" tIns="-1800" bIns="-1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81" name="สวนหลวง 2"/>
          <p:cNvSpPr/>
          <p:nvPr/>
        </p:nvSpPr>
        <p:spPr>
          <a:xfrm>
            <a:off x="4990320" y="5931000"/>
            <a:ext cx="25560" cy="27000"/>
          </a:xfrm>
          <a:custGeom>
            <a:avLst/>
            <a:gdLst/>
            <a:ahLst/>
            <a:rect l="l" t="t" r="r" b="b"/>
            <a:pathLst>
              <a:path w="25744" h="27241">
                <a:moveTo>
                  <a:pt x="9819" y="0"/>
                </a:moveTo>
                <a:lnTo>
                  <a:pt x="7065" y="2958"/>
                </a:lnTo>
                <a:lnTo>
                  <a:pt x="4909" y="2712"/>
                </a:lnTo>
                <a:lnTo>
                  <a:pt x="2275" y="6410"/>
                </a:lnTo>
                <a:lnTo>
                  <a:pt x="3712" y="7766"/>
                </a:lnTo>
                <a:lnTo>
                  <a:pt x="0" y="15901"/>
                </a:lnTo>
                <a:lnTo>
                  <a:pt x="16045" y="27241"/>
                </a:lnTo>
                <a:lnTo>
                  <a:pt x="25744" y="17504"/>
                </a:lnTo>
                <a:lnTo>
                  <a:pt x="11256" y="3205"/>
                </a:lnTo>
                <a:lnTo>
                  <a:pt x="11854" y="2096"/>
                </a:lnTo>
                <a:lnTo>
                  <a:pt x="9819" y="0"/>
                </a:lnTo>
                <a:close/>
              </a:path>
            </a:pathLst>
          </a:custGeom>
          <a:solidFill>
            <a:srgbClr val="f2c8ad"/>
          </a:solidFill>
          <a:ln w="6191">
            <a:solidFill>
              <a:srgbClr val="b7633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82" name="หลังตลาดเก่าวัดพระยาไกร"/>
          <p:cNvSpPr/>
          <p:nvPr/>
        </p:nvSpPr>
        <p:spPr>
          <a:xfrm>
            <a:off x="4914000" y="5964480"/>
            <a:ext cx="24120" cy="17280"/>
          </a:xfrm>
          <a:custGeom>
            <a:avLst/>
            <a:gdLst/>
            <a:ahLst/>
            <a:rect l="l" t="t" r="r" b="b"/>
            <a:pathLst>
              <a:path w="24307" h="17627">
                <a:moveTo>
                  <a:pt x="24307" y="12203"/>
                </a:moveTo>
                <a:lnTo>
                  <a:pt x="10298" y="0"/>
                </a:lnTo>
                <a:lnTo>
                  <a:pt x="0" y="9984"/>
                </a:lnTo>
                <a:lnTo>
                  <a:pt x="14129" y="17627"/>
                </a:lnTo>
                <a:lnTo>
                  <a:pt x="15327" y="15162"/>
                </a:lnTo>
                <a:lnTo>
                  <a:pt x="18919" y="17134"/>
                </a:lnTo>
                <a:lnTo>
                  <a:pt x="24307" y="12203"/>
                </a:lnTo>
                <a:close/>
              </a:path>
            </a:pathLst>
          </a:custGeom>
          <a:solidFill>
            <a:srgbClr val="f2c8ad"/>
          </a:solidFill>
          <a:ln w="6191">
            <a:solidFill>
              <a:srgbClr val="b7633d"/>
            </a:solidFill>
            <a:round/>
          </a:ln>
        </p:spPr>
        <p:style>
          <a:lnRef idx="0"/>
          <a:fillRef idx="0"/>
          <a:effectRef idx="0"/>
          <a:fontRef idx="minor"/>
        </p:style>
        <p:txBody>
          <a:bodyPr lIns="90000" rIns="90000" tIns="-27720" bIns="-27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83" name="ศาลเจ้าแดง"/>
          <p:cNvSpPr/>
          <p:nvPr/>
        </p:nvSpPr>
        <p:spPr>
          <a:xfrm>
            <a:off x="5003280" y="5923800"/>
            <a:ext cx="16200" cy="16560"/>
          </a:xfrm>
          <a:custGeom>
            <a:avLst/>
            <a:gdLst/>
            <a:ahLst/>
            <a:rect l="l" t="t" r="r" b="b"/>
            <a:pathLst>
              <a:path w="16644" h="16887">
                <a:moveTo>
                  <a:pt x="3472" y="0"/>
                </a:moveTo>
                <a:lnTo>
                  <a:pt x="958" y="2465"/>
                </a:lnTo>
                <a:lnTo>
                  <a:pt x="4071" y="5793"/>
                </a:lnTo>
                <a:lnTo>
                  <a:pt x="0" y="10478"/>
                </a:lnTo>
                <a:lnTo>
                  <a:pt x="4191" y="13929"/>
                </a:lnTo>
                <a:lnTo>
                  <a:pt x="6107" y="11957"/>
                </a:lnTo>
                <a:lnTo>
                  <a:pt x="11735" y="16887"/>
                </a:lnTo>
                <a:lnTo>
                  <a:pt x="16644" y="12696"/>
                </a:lnTo>
                <a:lnTo>
                  <a:pt x="9579" y="5547"/>
                </a:lnTo>
                <a:lnTo>
                  <a:pt x="13052" y="2096"/>
                </a:lnTo>
                <a:lnTo>
                  <a:pt x="11136" y="247"/>
                </a:lnTo>
                <a:lnTo>
                  <a:pt x="7663" y="3328"/>
                </a:lnTo>
                <a:lnTo>
                  <a:pt x="3472" y="0"/>
                </a:lnTo>
                <a:close/>
              </a:path>
            </a:pathLst>
          </a:custGeom>
          <a:solidFill>
            <a:srgbClr val="f2c8ad"/>
          </a:solidFill>
          <a:ln w="6191">
            <a:solidFill>
              <a:srgbClr val="b7633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84" name="ร่วมใจพัฒนา"/>
          <p:cNvSpPr/>
          <p:nvPr/>
        </p:nvSpPr>
        <p:spPr>
          <a:xfrm>
            <a:off x="5009040" y="5960880"/>
            <a:ext cx="51480" cy="52560"/>
          </a:xfrm>
          <a:custGeom>
            <a:avLst/>
            <a:gdLst/>
            <a:ahLst/>
            <a:rect l="l" t="t" r="r" b="b"/>
            <a:pathLst>
              <a:path w="51847" h="52757">
                <a:moveTo>
                  <a:pt x="20356" y="41787"/>
                </a:moveTo>
                <a:lnTo>
                  <a:pt x="38796" y="22434"/>
                </a:lnTo>
                <a:lnTo>
                  <a:pt x="44184" y="26379"/>
                </a:lnTo>
                <a:lnTo>
                  <a:pt x="51847" y="15901"/>
                </a:lnTo>
                <a:lnTo>
                  <a:pt x="35204" y="0"/>
                </a:lnTo>
                <a:lnTo>
                  <a:pt x="26103" y="9491"/>
                </a:lnTo>
                <a:lnTo>
                  <a:pt x="30414" y="13929"/>
                </a:lnTo>
                <a:lnTo>
                  <a:pt x="22391" y="24037"/>
                </a:lnTo>
                <a:lnTo>
                  <a:pt x="17123" y="19476"/>
                </a:lnTo>
                <a:lnTo>
                  <a:pt x="0" y="38089"/>
                </a:lnTo>
                <a:lnTo>
                  <a:pt x="11016" y="52757"/>
                </a:lnTo>
                <a:lnTo>
                  <a:pt x="21793" y="44005"/>
                </a:lnTo>
                <a:lnTo>
                  <a:pt x="20356" y="41787"/>
                </a:lnTo>
                <a:close/>
              </a:path>
            </a:pathLst>
          </a:custGeom>
          <a:solidFill>
            <a:srgbClr val="f2c8ad"/>
          </a:solidFill>
          <a:ln w="6191">
            <a:solidFill>
              <a:srgbClr val="b7633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85" name="หลังสามร้อยห้อง"/>
          <p:cNvSpPr/>
          <p:nvPr/>
        </p:nvSpPr>
        <p:spPr>
          <a:xfrm>
            <a:off x="4980600" y="5999040"/>
            <a:ext cx="38880" cy="33840"/>
          </a:xfrm>
          <a:custGeom>
            <a:avLst/>
            <a:gdLst/>
            <a:ahLst/>
            <a:rect l="l" t="t" r="r" b="b"/>
            <a:pathLst>
              <a:path w="39394" h="34144">
                <a:moveTo>
                  <a:pt x="11615" y="34144"/>
                </a:moveTo>
                <a:lnTo>
                  <a:pt x="39394" y="14545"/>
                </a:lnTo>
                <a:lnTo>
                  <a:pt x="28498" y="0"/>
                </a:lnTo>
                <a:lnTo>
                  <a:pt x="0" y="17997"/>
                </a:lnTo>
                <a:lnTo>
                  <a:pt x="11615" y="34144"/>
                </a:lnTo>
                <a:close/>
              </a:path>
            </a:pathLst>
          </a:custGeom>
          <a:solidFill>
            <a:srgbClr val="f2c8ad"/>
          </a:solidFill>
          <a:ln w="6191">
            <a:solidFill>
              <a:srgbClr val="b7633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86" name="บาหยัน"/>
          <p:cNvSpPr/>
          <p:nvPr/>
        </p:nvSpPr>
        <p:spPr>
          <a:xfrm>
            <a:off x="5034600" y="5888880"/>
            <a:ext cx="19440" cy="14400"/>
          </a:xfrm>
          <a:custGeom>
            <a:avLst/>
            <a:gdLst/>
            <a:ahLst/>
            <a:rect l="l" t="t" r="r" b="b"/>
            <a:pathLst>
              <a:path w="19757" h="14792">
                <a:moveTo>
                  <a:pt x="0" y="2342"/>
                </a:moveTo>
                <a:lnTo>
                  <a:pt x="8262" y="5054"/>
                </a:lnTo>
                <a:lnTo>
                  <a:pt x="5748" y="10354"/>
                </a:lnTo>
                <a:lnTo>
                  <a:pt x="14129" y="14792"/>
                </a:lnTo>
                <a:lnTo>
                  <a:pt x="19757" y="3082"/>
                </a:lnTo>
                <a:lnTo>
                  <a:pt x="10537" y="0"/>
                </a:lnTo>
                <a:lnTo>
                  <a:pt x="9699" y="1849"/>
                </a:lnTo>
                <a:lnTo>
                  <a:pt x="7663" y="493"/>
                </a:lnTo>
                <a:lnTo>
                  <a:pt x="6586" y="2958"/>
                </a:lnTo>
                <a:lnTo>
                  <a:pt x="1197" y="247"/>
                </a:lnTo>
                <a:lnTo>
                  <a:pt x="0" y="2342"/>
                </a:lnTo>
                <a:close/>
              </a:path>
            </a:pathLst>
          </a:custGeom>
          <a:solidFill>
            <a:srgbClr val="f2c8ad"/>
          </a:solidFill>
          <a:ln w="6191">
            <a:solidFill>
              <a:srgbClr val="b7633d"/>
            </a:solidFill>
            <a:round/>
          </a:ln>
        </p:spPr>
        <p:style>
          <a:lnRef idx="0"/>
          <a:fillRef idx="0"/>
          <a:effectRef idx="0"/>
          <a:fontRef idx="minor"/>
        </p:style>
        <p:txBody>
          <a:bodyPr lIns="90000" rIns="90000" tIns="-30600" bIns="-30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87" name="มิตรสัมพันธ์"/>
          <p:cNvSpPr/>
          <p:nvPr/>
        </p:nvSpPr>
        <p:spPr>
          <a:xfrm>
            <a:off x="5040000" y="5904360"/>
            <a:ext cx="27360" cy="22680"/>
          </a:xfrm>
          <a:custGeom>
            <a:avLst/>
            <a:gdLst/>
            <a:ahLst/>
            <a:rect l="l" t="t" r="r" b="b"/>
            <a:pathLst>
              <a:path w="27899" h="23174">
                <a:moveTo>
                  <a:pt x="2634" y="3698"/>
                </a:moveTo>
                <a:lnTo>
                  <a:pt x="0" y="7766"/>
                </a:lnTo>
                <a:lnTo>
                  <a:pt x="1317" y="8752"/>
                </a:lnTo>
                <a:lnTo>
                  <a:pt x="2155" y="7519"/>
                </a:lnTo>
                <a:lnTo>
                  <a:pt x="13291" y="15408"/>
                </a:lnTo>
                <a:lnTo>
                  <a:pt x="10777" y="18490"/>
                </a:lnTo>
                <a:lnTo>
                  <a:pt x="12333" y="19353"/>
                </a:lnTo>
                <a:lnTo>
                  <a:pt x="14129" y="16887"/>
                </a:lnTo>
                <a:lnTo>
                  <a:pt x="22272" y="23174"/>
                </a:lnTo>
                <a:lnTo>
                  <a:pt x="25265" y="18490"/>
                </a:lnTo>
                <a:lnTo>
                  <a:pt x="22032" y="14915"/>
                </a:lnTo>
                <a:lnTo>
                  <a:pt x="24427" y="12820"/>
                </a:lnTo>
                <a:lnTo>
                  <a:pt x="25864" y="13559"/>
                </a:lnTo>
                <a:lnTo>
                  <a:pt x="27899" y="10724"/>
                </a:lnTo>
                <a:lnTo>
                  <a:pt x="24427" y="8875"/>
                </a:lnTo>
                <a:lnTo>
                  <a:pt x="25624" y="6533"/>
                </a:lnTo>
                <a:lnTo>
                  <a:pt x="24068" y="5670"/>
                </a:lnTo>
                <a:lnTo>
                  <a:pt x="25864" y="1479"/>
                </a:lnTo>
                <a:lnTo>
                  <a:pt x="19997" y="0"/>
                </a:lnTo>
                <a:lnTo>
                  <a:pt x="19158" y="1849"/>
                </a:lnTo>
                <a:lnTo>
                  <a:pt x="24068" y="4068"/>
                </a:lnTo>
                <a:lnTo>
                  <a:pt x="21314" y="9615"/>
                </a:lnTo>
                <a:lnTo>
                  <a:pt x="17243" y="7273"/>
                </a:lnTo>
                <a:lnTo>
                  <a:pt x="16404" y="8629"/>
                </a:lnTo>
                <a:lnTo>
                  <a:pt x="20954" y="12080"/>
                </a:lnTo>
                <a:lnTo>
                  <a:pt x="19398" y="14545"/>
                </a:lnTo>
                <a:lnTo>
                  <a:pt x="2634" y="3698"/>
                </a:lnTo>
                <a:close/>
              </a:path>
            </a:pathLst>
          </a:custGeom>
          <a:solidFill>
            <a:srgbClr val="f2c8ad"/>
          </a:solidFill>
          <a:ln w="6191">
            <a:solidFill>
              <a:srgbClr val="b7633d"/>
            </a:solidFill>
            <a:round/>
          </a:ln>
        </p:spPr>
        <p:style>
          <a:lnRef idx="0"/>
          <a:fillRef idx="0"/>
          <a:effectRef idx="0"/>
          <a:fontRef idx="minor"/>
        </p:style>
        <p:txBody>
          <a:bodyPr lIns="90000" rIns="90000" tIns="-22320" bIns="-22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88" name="ซอยบุญประทานพร"/>
          <p:cNvSpPr/>
          <p:nvPr/>
        </p:nvSpPr>
        <p:spPr>
          <a:xfrm>
            <a:off x="5069520" y="5951520"/>
            <a:ext cx="43200" cy="23400"/>
          </a:xfrm>
          <a:custGeom>
            <a:avLst/>
            <a:gdLst/>
            <a:ahLst/>
            <a:rect l="l" t="t" r="r" b="b"/>
            <a:pathLst>
              <a:path w="43585" h="23913">
                <a:moveTo>
                  <a:pt x="0" y="15408"/>
                </a:moveTo>
                <a:lnTo>
                  <a:pt x="35204" y="23913"/>
                </a:lnTo>
                <a:lnTo>
                  <a:pt x="43585" y="9738"/>
                </a:lnTo>
                <a:lnTo>
                  <a:pt x="38077" y="8135"/>
                </a:lnTo>
                <a:lnTo>
                  <a:pt x="37239" y="9122"/>
                </a:lnTo>
                <a:lnTo>
                  <a:pt x="8980" y="0"/>
                </a:lnTo>
                <a:lnTo>
                  <a:pt x="0" y="15408"/>
                </a:lnTo>
                <a:close/>
              </a:path>
            </a:pathLst>
          </a:custGeom>
          <a:solidFill>
            <a:srgbClr val="f2c8ad"/>
          </a:solidFill>
          <a:ln w="6191">
            <a:solidFill>
              <a:srgbClr val="b7633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89" name="บางโคล่"/>
          <p:cNvSpPr/>
          <p:nvPr/>
        </p:nvSpPr>
        <p:spPr>
          <a:xfrm>
            <a:off x="5039640" y="6150960"/>
            <a:ext cx="23760" cy="18720"/>
          </a:xfrm>
          <a:custGeom>
            <a:avLst/>
            <a:gdLst/>
            <a:ahLst/>
            <a:rect l="l" t="t" r="r" b="b"/>
            <a:pathLst>
              <a:path w="24068" h="19229">
                <a:moveTo>
                  <a:pt x="18799" y="3944"/>
                </a:moveTo>
                <a:lnTo>
                  <a:pt x="17602" y="2342"/>
                </a:lnTo>
                <a:lnTo>
                  <a:pt x="6226" y="0"/>
                </a:lnTo>
                <a:lnTo>
                  <a:pt x="0" y="12820"/>
                </a:lnTo>
                <a:lnTo>
                  <a:pt x="3712" y="13806"/>
                </a:lnTo>
                <a:lnTo>
                  <a:pt x="2634" y="16517"/>
                </a:lnTo>
                <a:lnTo>
                  <a:pt x="14249" y="19229"/>
                </a:lnTo>
                <a:lnTo>
                  <a:pt x="22152" y="14792"/>
                </a:lnTo>
                <a:lnTo>
                  <a:pt x="24068" y="9615"/>
                </a:lnTo>
                <a:lnTo>
                  <a:pt x="17961" y="7766"/>
                </a:lnTo>
                <a:lnTo>
                  <a:pt x="18799" y="3944"/>
                </a:lnTo>
                <a:close/>
              </a:path>
            </a:pathLst>
          </a:custGeom>
          <a:solidFill>
            <a:srgbClr val="f2c8ad"/>
          </a:solidFill>
          <a:ln w="6191">
            <a:solidFill>
              <a:srgbClr val="b7633d"/>
            </a:solidFill>
            <a:round/>
          </a:ln>
        </p:spPr>
        <p:style>
          <a:lnRef idx="0"/>
          <a:fillRef idx="0"/>
          <a:effectRef idx="0"/>
          <a:fontRef idx="minor"/>
        </p:style>
        <p:txBody>
          <a:bodyPr lIns="90000" rIns="90000" tIns="-26280" bIns="-26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90" name="โรงแก้ว"/>
          <p:cNvSpPr/>
          <p:nvPr/>
        </p:nvSpPr>
        <p:spPr>
          <a:xfrm>
            <a:off x="5225400" y="6009480"/>
            <a:ext cx="51840" cy="65160"/>
          </a:xfrm>
          <a:custGeom>
            <a:avLst/>
            <a:gdLst/>
            <a:ahLst/>
            <a:rect l="l" t="t" r="r" b="b"/>
            <a:pathLst>
              <a:path w="52087" h="65577">
                <a:moveTo>
                  <a:pt x="0" y="61263"/>
                </a:moveTo>
                <a:lnTo>
                  <a:pt x="5748" y="65577"/>
                </a:lnTo>
                <a:lnTo>
                  <a:pt x="14608" y="56209"/>
                </a:lnTo>
                <a:lnTo>
                  <a:pt x="17482" y="58551"/>
                </a:lnTo>
                <a:lnTo>
                  <a:pt x="21912" y="53004"/>
                </a:lnTo>
                <a:lnTo>
                  <a:pt x="17123" y="51401"/>
                </a:lnTo>
                <a:lnTo>
                  <a:pt x="37119" y="26132"/>
                </a:lnTo>
                <a:lnTo>
                  <a:pt x="40831" y="17134"/>
                </a:lnTo>
                <a:lnTo>
                  <a:pt x="46699" y="9122"/>
                </a:lnTo>
                <a:lnTo>
                  <a:pt x="52087" y="4931"/>
                </a:lnTo>
                <a:lnTo>
                  <a:pt x="48016" y="0"/>
                </a:lnTo>
                <a:lnTo>
                  <a:pt x="43346" y="2589"/>
                </a:lnTo>
                <a:lnTo>
                  <a:pt x="32450" y="20339"/>
                </a:lnTo>
                <a:lnTo>
                  <a:pt x="31731" y="19476"/>
                </a:lnTo>
                <a:lnTo>
                  <a:pt x="24068" y="29460"/>
                </a:lnTo>
                <a:lnTo>
                  <a:pt x="25265" y="30323"/>
                </a:lnTo>
                <a:lnTo>
                  <a:pt x="17602" y="41417"/>
                </a:lnTo>
                <a:lnTo>
                  <a:pt x="13650" y="38828"/>
                </a:lnTo>
                <a:lnTo>
                  <a:pt x="2874" y="54853"/>
                </a:lnTo>
                <a:lnTo>
                  <a:pt x="4311" y="56332"/>
                </a:lnTo>
                <a:lnTo>
                  <a:pt x="0" y="61263"/>
                </a:lnTo>
                <a:close/>
              </a:path>
            </a:pathLst>
          </a:custGeom>
          <a:solidFill>
            <a:srgbClr val="f2c8ad"/>
          </a:solidFill>
          <a:ln w="6191">
            <a:solidFill>
              <a:srgbClr val="b7633d"/>
            </a:solidFill>
            <a:round/>
          </a:ln>
        </p:spPr>
        <p:style>
          <a:lnRef idx="0"/>
          <a:fillRef idx="0"/>
          <a:effectRef idx="0"/>
          <a:fontRef idx="minor"/>
        </p:style>
        <p:txBody>
          <a:bodyPr lIns="90000" rIns="90000" tIns="20160" bIns="20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91" name="วัดไผ่เงิน"/>
          <p:cNvSpPr/>
          <p:nvPr/>
        </p:nvSpPr>
        <p:spPr>
          <a:xfrm>
            <a:off x="5155920" y="6001920"/>
            <a:ext cx="60480" cy="63720"/>
          </a:xfrm>
          <a:custGeom>
            <a:avLst/>
            <a:gdLst/>
            <a:ahLst/>
            <a:rect l="l" t="t" r="r" b="b"/>
            <a:pathLst>
              <a:path w="60948" h="64221">
                <a:moveTo>
                  <a:pt x="46220" y="0"/>
                </a:moveTo>
                <a:lnTo>
                  <a:pt x="0" y="53867"/>
                </a:lnTo>
                <a:lnTo>
                  <a:pt x="24547" y="64221"/>
                </a:lnTo>
                <a:lnTo>
                  <a:pt x="60948" y="15655"/>
                </a:lnTo>
                <a:lnTo>
                  <a:pt x="51608" y="10108"/>
                </a:lnTo>
                <a:lnTo>
                  <a:pt x="54721" y="4807"/>
                </a:lnTo>
                <a:lnTo>
                  <a:pt x="46220" y="0"/>
                </a:lnTo>
                <a:close/>
              </a:path>
            </a:pathLst>
          </a:custGeom>
          <a:solidFill>
            <a:srgbClr val="f2c8ad"/>
          </a:solidFill>
          <a:ln w="6191">
            <a:solidFill>
              <a:srgbClr val="b7633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92" name="ห้องเย็น"/>
          <p:cNvSpPr/>
          <p:nvPr/>
        </p:nvSpPr>
        <p:spPr>
          <a:xfrm>
            <a:off x="5030280" y="6059520"/>
            <a:ext cx="15120" cy="16560"/>
          </a:xfrm>
          <a:custGeom>
            <a:avLst/>
            <a:gdLst/>
            <a:ahLst/>
            <a:rect l="l" t="t" r="r" b="b"/>
            <a:pathLst>
              <a:path w="15566" h="17011">
                <a:moveTo>
                  <a:pt x="4909" y="14422"/>
                </a:moveTo>
                <a:lnTo>
                  <a:pt x="6945" y="12696"/>
                </a:lnTo>
                <a:lnTo>
                  <a:pt x="8861" y="13559"/>
                </a:lnTo>
                <a:lnTo>
                  <a:pt x="7663" y="15162"/>
                </a:lnTo>
                <a:lnTo>
                  <a:pt x="10657" y="17011"/>
                </a:lnTo>
                <a:lnTo>
                  <a:pt x="15566" y="9738"/>
                </a:lnTo>
                <a:lnTo>
                  <a:pt x="10896" y="6410"/>
                </a:lnTo>
                <a:lnTo>
                  <a:pt x="12812" y="3821"/>
                </a:lnTo>
                <a:lnTo>
                  <a:pt x="7663" y="0"/>
                </a:lnTo>
                <a:lnTo>
                  <a:pt x="0" y="11217"/>
                </a:lnTo>
                <a:lnTo>
                  <a:pt x="4909" y="14422"/>
                </a:lnTo>
                <a:close/>
              </a:path>
            </a:pathLst>
          </a:custGeom>
          <a:solidFill>
            <a:srgbClr val="f2c8ad"/>
          </a:solidFill>
          <a:ln w="6191">
            <a:solidFill>
              <a:srgbClr val="b7633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93" name="ศาลเจ้าแม่ตะเคียนทอง"/>
          <p:cNvSpPr/>
          <p:nvPr/>
        </p:nvSpPr>
        <p:spPr>
          <a:xfrm>
            <a:off x="5013000" y="5925960"/>
            <a:ext cx="27720" cy="18360"/>
          </a:xfrm>
          <a:custGeom>
            <a:avLst/>
            <a:gdLst/>
            <a:ahLst/>
            <a:rect l="l" t="t" r="r" b="b"/>
            <a:pathLst>
              <a:path w="28019" h="18860">
                <a:moveTo>
                  <a:pt x="15207" y="18860"/>
                </a:moveTo>
                <a:lnTo>
                  <a:pt x="28019" y="8998"/>
                </a:lnTo>
                <a:lnTo>
                  <a:pt x="22990" y="3328"/>
                </a:lnTo>
                <a:lnTo>
                  <a:pt x="17841" y="8012"/>
                </a:lnTo>
                <a:lnTo>
                  <a:pt x="12932" y="3451"/>
                </a:lnTo>
                <a:lnTo>
                  <a:pt x="9938" y="6287"/>
                </a:lnTo>
                <a:lnTo>
                  <a:pt x="3113" y="0"/>
                </a:lnTo>
                <a:lnTo>
                  <a:pt x="0" y="3451"/>
                </a:lnTo>
                <a:lnTo>
                  <a:pt x="15207" y="18860"/>
                </a:lnTo>
                <a:close/>
              </a:path>
            </a:pathLst>
          </a:custGeom>
          <a:solidFill>
            <a:srgbClr val="f2c8ad"/>
          </a:solidFill>
          <a:ln w="6191">
            <a:solidFill>
              <a:srgbClr val="b7633d"/>
            </a:solidFill>
            <a:round/>
          </a:ln>
        </p:spPr>
        <p:style>
          <a:lnRef idx="0"/>
          <a:fillRef idx="0"/>
          <a:effectRef idx="0"/>
          <a:fontRef idx="minor"/>
        </p:style>
        <p:txBody>
          <a:bodyPr lIns="90000" rIns="90000" tIns="-26640" bIns="-26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94" name="ซอยนกแก้วน้อย 1-2"/>
          <p:cNvSpPr/>
          <p:nvPr/>
        </p:nvSpPr>
        <p:spPr>
          <a:xfrm>
            <a:off x="6211080" y="4636800"/>
            <a:ext cx="55080" cy="37080"/>
          </a:xfrm>
          <a:custGeom>
            <a:avLst/>
            <a:gdLst/>
            <a:ahLst/>
            <a:rect l="l" t="t" r="r" b="b"/>
            <a:pathLst>
              <a:path w="55440" h="37472">
                <a:moveTo>
                  <a:pt x="31492" y="14422"/>
                </a:moveTo>
                <a:lnTo>
                  <a:pt x="3233" y="18366"/>
                </a:lnTo>
                <a:lnTo>
                  <a:pt x="0" y="29090"/>
                </a:lnTo>
                <a:lnTo>
                  <a:pt x="47656" y="24406"/>
                </a:lnTo>
                <a:lnTo>
                  <a:pt x="49213" y="37472"/>
                </a:lnTo>
                <a:lnTo>
                  <a:pt x="54841" y="36610"/>
                </a:lnTo>
                <a:lnTo>
                  <a:pt x="50171" y="2712"/>
                </a:lnTo>
                <a:lnTo>
                  <a:pt x="55440" y="2589"/>
                </a:lnTo>
                <a:lnTo>
                  <a:pt x="55440" y="0"/>
                </a:lnTo>
                <a:lnTo>
                  <a:pt x="43466" y="247"/>
                </a:lnTo>
                <a:lnTo>
                  <a:pt x="45501" y="12450"/>
                </a:lnTo>
                <a:lnTo>
                  <a:pt x="31492" y="14422"/>
                </a:lnTo>
                <a:close/>
              </a:path>
            </a:pathLst>
          </a:custGeom>
          <a:solidFill>
            <a:srgbClr val="f2c8ad"/>
          </a:solidFill>
          <a:ln w="6191">
            <a:solidFill>
              <a:srgbClr val="b7633d"/>
            </a:solidFill>
            <a:round/>
          </a:ln>
        </p:spPr>
        <p:style>
          <a:lnRef idx="0"/>
          <a:fillRef idx="0"/>
          <a:effectRef idx="0"/>
          <a:fontRef idx="minor"/>
        </p:style>
        <p:txBody>
          <a:bodyPr lIns="90000" rIns="90000" tIns="-7920" bIns="-7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95" name="ซอยโรงน้ำแข็ง"/>
          <p:cNvSpPr/>
          <p:nvPr/>
        </p:nvSpPr>
        <p:spPr>
          <a:xfrm>
            <a:off x="6117120" y="4724640"/>
            <a:ext cx="70560" cy="25200"/>
          </a:xfrm>
          <a:custGeom>
            <a:avLst/>
            <a:gdLst/>
            <a:ahLst/>
            <a:rect l="l" t="t" r="r" b="b"/>
            <a:pathLst>
              <a:path w="71006" h="25393">
                <a:moveTo>
                  <a:pt x="44543" y="21078"/>
                </a:moveTo>
                <a:lnTo>
                  <a:pt x="69689" y="17750"/>
                </a:lnTo>
                <a:lnTo>
                  <a:pt x="71006" y="8998"/>
                </a:lnTo>
                <a:lnTo>
                  <a:pt x="36640" y="12820"/>
                </a:lnTo>
                <a:lnTo>
                  <a:pt x="35563" y="3944"/>
                </a:lnTo>
                <a:lnTo>
                  <a:pt x="54003" y="2219"/>
                </a:lnTo>
                <a:lnTo>
                  <a:pt x="54003" y="0"/>
                </a:lnTo>
                <a:lnTo>
                  <a:pt x="239" y="4314"/>
                </a:lnTo>
                <a:lnTo>
                  <a:pt x="0" y="8629"/>
                </a:lnTo>
                <a:lnTo>
                  <a:pt x="11735" y="6410"/>
                </a:lnTo>
                <a:lnTo>
                  <a:pt x="13411" y="15285"/>
                </a:lnTo>
                <a:lnTo>
                  <a:pt x="3712" y="17627"/>
                </a:lnTo>
                <a:lnTo>
                  <a:pt x="6586" y="25393"/>
                </a:lnTo>
                <a:lnTo>
                  <a:pt x="44543" y="21078"/>
                </a:lnTo>
                <a:close/>
              </a:path>
            </a:pathLst>
          </a:custGeom>
          <a:solidFill>
            <a:srgbClr val="f2c8ad"/>
          </a:solidFill>
          <a:ln w="6191">
            <a:solidFill>
              <a:srgbClr val="b7633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96" name="สันติสุข"/>
          <p:cNvSpPr/>
          <p:nvPr/>
        </p:nvSpPr>
        <p:spPr>
          <a:xfrm>
            <a:off x="5985360" y="4726800"/>
            <a:ext cx="26280" cy="12600"/>
          </a:xfrm>
          <a:custGeom>
            <a:avLst/>
            <a:gdLst/>
            <a:ahLst/>
            <a:rect l="l" t="t" r="r" b="b"/>
            <a:pathLst>
              <a:path w="26463" h="12943">
                <a:moveTo>
                  <a:pt x="0" y="247"/>
                </a:moveTo>
                <a:lnTo>
                  <a:pt x="239" y="9245"/>
                </a:lnTo>
                <a:lnTo>
                  <a:pt x="25145" y="12943"/>
                </a:lnTo>
                <a:lnTo>
                  <a:pt x="26463" y="0"/>
                </a:lnTo>
                <a:lnTo>
                  <a:pt x="0" y="247"/>
                </a:lnTo>
                <a:close/>
              </a:path>
            </a:pathLst>
          </a:custGeom>
          <a:solidFill>
            <a:srgbClr val="f2c8ad"/>
          </a:solidFill>
          <a:ln w="6191">
            <a:solidFill>
              <a:srgbClr val="b7633d"/>
            </a:solidFill>
            <a:round/>
          </a:ln>
        </p:spPr>
        <p:style>
          <a:lnRef idx="0"/>
          <a:fillRef idx="0"/>
          <a:effectRef idx="0"/>
          <a:fontRef idx="minor"/>
        </p:style>
        <p:txBody>
          <a:bodyPr lIns="90000" rIns="90000" tIns="-32400" bIns="-32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97" name="สุขทรัพย์"/>
          <p:cNvSpPr/>
          <p:nvPr/>
        </p:nvSpPr>
        <p:spPr>
          <a:xfrm>
            <a:off x="6256800" y="4440600"/>
            <a:ext cx="18720" cy="23400"/>
          </a:xfrm>
          <a:custGeom>
            <a:avLst/>
            <a:gdLst/>
            <a:ahLst/>
            <a:rect l="l" t="t" r="r" b="b"/>
            <a:pathLst>
              <a:path w="18919" h="23913">
                <a:moveTo>
                  <a:pt x="0" y="247"/>
                </a:moveTo>
                <a:lnTo>
                  <a:pt x="479" y="23913"/>
                </a:lnTo>
                <a:lnTo>
                  <a:pt x="1916" y="22311"/>
                </a:lnTo>
                <a:lnTo>
                  <a:pt x="11495" y="21695"/>
                </a:lnTo>
                <a:lnTo>
                  <a:pt x="10777" y="5917"/>
                </a:lnTo>
                <a:lnTo>
                  <a:pt x="18919" y="5670"/>
                </a:lnTo>
                <a:lnTo>
                  <a:pt x="18919" y="0"/>
                </a:lnTo>
                <a:lnTo>
                  <a:pt x="0" y="247"/>
                </a:lnTo>
                <a:close/>
              </a:path>
            </a:pathLst>
          </a:custGeom>
          <a:solidFill>
            <a:srgbClr val="f2c8ad"/>
          </a:solidFill>
          <a:ln w="6191">
            <a:solidFill>
              <a:srgbClr val="b7633d"/>
            </a:solidFill>
            <a:round/>
          </a:ln>
        </p:spPr>
        <p:style>
          <a:lnRef idx="0"/>
          <a:fillRef idx="0"/>
          <a:effectRef idx="0"/>
          <a:fontRef idx="minor"/>
        </p:style>
        <p:txBody>
          <a:bodyPr lIns="90000" rIns="90000" tIns="-21600" bIns="-21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98" name="คนรักถิ่น"/>
          <p:cNvSpPr/>
          <p:nvPr/>
        </p:nvSpPr>
        <p:spPr>
          <a:xfrm>
            <a:off x="5739480" y="3889080"/>
            <a:ext cx="33480" cy="52560"/>
          </a:xfrm>
          <a:custGeom>
            <a:avLst/>
            <a:gdLst/>
            <a:ahLst/>
            <a:rect l="l" t="t" r="r" b="b"/>
            <a:pathLst>
              <a:path w="33767" h="52881">
                <a:moveTo>
                  <a:pt x="6586" y="52881"/>
                </a:moveTo>
                <a:lnTo>
                  <a:pt x="32928" y="2712"/>
                </a:lnTo>
                <a:lnTo>
                  <a:pt x="33767" y="616"/>
                </a:lnTo>
                <a:lnTo>
                  <a:pt x="32689" y="0"/>
                </a:lnTo>
                <a:lnTo>
                  <a:pt x="30294" y="3575"/>
                </a:lnTo>
                <a:lnTo>
                  <a:pt x="28977" y="2835"/>
                </a:lnTo>
                <a:lnTo>
                  <a:pt x="22631" y="13682"/>
                </a:lnTo>
                <a:lnTo>
                  <a:pt x="11016" y="37349"/>
                </a:lnTo>
                <a:lnTo>
                  <a:pt x="7184" y="37349"/>
                </a:lnTo>
                <a:lnTo>
                  <a:pt x="7424" y="39075"/>
                </a:lnTo>
                <a:lnTo>
                  <a:pt x="9459" y="38828"/>
                </a:lnTo>
                <a:lnTo>
                  <a:pt x="6346" y="44868"/>
                </a:lnTo>
                <a:lnTo>
                  <a:pt x="2395" y="44252"/>
                </a:lnTo>
                <a:lnTo>
                  <a:pt x="0" y="46224"/>
                </a:lnTo>
                <a:lnTo>
                  <a:pt x="1317" y="49183"/>
                </a:lnTo>
                <a:lnTo>
                  <a:pt x="3592" y="50169"/>
                </a:lnTo>
                <a:lnTo>
                  <a:pt x="3592" y="52018"/>
                </a:lnTo>
                <a:lnTo>
                  <a:pt x="6586" y="52881"/>
                </a:lnTo>
                <a:close/>
              </a:path>
            </a:pathLst>
          </a:custGeom>
          <a:solidFill>
            <a:srgbClr val="f2c8ad"/>
          </a:solidFill>
          <a:ln w="6191">
            <a:solidFill>
              <a:srgbClr val="b7633d"/>
            </a:solidFill>
            <a:round/>
          </a:ln>
        </p:spPr>
        <p:style>
          <a:lnRef idx="0"/>
          <a:fillRef idx="0"/>
          <a:effectRef idx="0"/>
          <a:fontRef idx="minor"/>
        </p:style>
        <p:txBody>
          <a:bodyPr lIns="90000" rIns="90000" tIns="7560" bIns="75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099" name="เกาะมุสลิม"/>
          <p:cNvSpPr/>
          <p:nvPr/>
        </p:nvSpPr>
        <p:spPr>
          <a:xfrm>
            <a:off x="7153920" y="5749200"/>
            <a:ext cx="29520" cy="18720"/>
          </a:xfrm>
          <a:custGeom>
            <a:avLst/>
            <a:gdLst/>
            <a:ahLst/>
            <a:rect l="l" t="t" r="r" b="b"/>
            <a:pathLst>
              <a:path w="29935" h="19229">
                <a:moveTo>
                  <a:pt x="28498" y="0"/>
                </a:moveTo>
                <a:lnTo>
                  <a:pt x="0" y="3698"/>
                </a:lnTo>
                <a:lnTo>
                  <a:pt x="239" y="19229"/>
                </a:lnTo>
                <a:lnTo>
                  <a:pt x="29935" y="15162"/>
                </a:lnTo>
                <a:lnTo>
                  <a:pt x="28498" y="0"/>
                </a:lnTo>
                <a:close/>
              </a:path>
            </a:pathLst>
          </a:custGeom>
          <a:solidFill>
            <a:srgbClr val="f2c8ad"/>
          </a:solidFill>
          <a:ln w="6191">
            <a:solidFill>
              <a:srgbClr val="b7633d"/>
            </a:solidFill>
            <a:round/>
          </a:ln>
        </p:spPr>
        <p:style>
          <a:lnRef idx="0"/>
          <a:fillRef idx="0"/>
          <a:effectRef idx="0"/>
          <a:fontRef idx="minor"/>
        </p:style>
        <p:txBody>
          <a:bodyPr lIns="90000" rIns="90000" tIns="-26280" bIns="-26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00" name="เทพรักษา"/>
          <p:cNvSpPr/>
          <p:nvPr/>
        </p:nvSpPr>
        <p:spPr>
          <a:xfrm>
            <a:off x="7087320" y="5765040"/>
            <a:ext cx="34920" cy="34200"/>
          </a:xfrm>
          <a:custGeom>
            <a:avLst/>
            <a:gdLst/>
            <a:ahLst/>
            <a:rect l="l" t="t" r="r" b="b"/>
            <a:pathLst>
              <a:path w="35204" h="34391">
                <a:moveTo>
                  <a:pt x="8142" y="2835"/>
                </a:moveTo>
                <a:lnTo>
                  <a:pt x="6346" y="5300"/>
                </a:lnTo>
                <a:lnTo>
                  <a:pt x="6825" y="11464"/>
                </a:lnTo>
                <a:lnTo>
                  <a:pt x="4670" y="12203"/>
                </a:lnTo>
                <a:lnTo>
                  <a:pt x="3233" y="17750"/>
                </a:lnTo>
                <a:lnTo>
                  <a:pt x="5029" y="21325"/>
                </a:lnTo>
                <a:lnTo>
                  <a:pt x="0" y="22681"/>
                </a:lnTo>
                <a:lnTo>
                  <a:pt x="3233" y="34391"/>
                </a:lnTo>
                <a:lnTo>
                  <a:pt x="9340" y="33158"/>
                </a:lnTo>
                <a:lnTo>
                  <a:pt x="7544" y="26255"/>
                </a:lnTo>
                <a:lnTo>
                  <a:pt x="8980" y="25886"/>
                </a:lnTo>
                <a:lnTo>
                  <a:pt x="8502" y="22188"/>
                </a:lnTo>
                <a:lnTo>
                  <a:pt x="16764" y="19846"/>
                </a:lnTo>
                <a:lnTo>
                  <a:pt x="20356" y="31063"/>
                </a:lnTo>
                <a:lnTo>
                  <a:pt x="23230" y="29460"/>
                </a:lnTo>
                <a:lnTo>
                  <a:pt x="22152" y="26625"/>
                </a:lnTo>
                <a:lnTo>
                  <a:pt x="25265" y="25269"/>
                </a:lnTo>
                <a:lnTo>
                  <a:pt x="24547" y="23297"/>
                </a:lnTo>
                <a:lnTo>
                  <a:pt x="27181" y="22804"/>
                </a:lnTo>
                <a:lnTo>
                  <a:pt x="26343" y="18243"/>
                </a:lnTo>
                <a:lnTo>
                  <a:pt x="35204" y="14915"/>
                </a:lnTo>
                <a:lnTo>
                  <a:pt x="32210" y="7396"/>
                </a:lnTo>
                <a:lnTo>
                  <a:pt x="31971" y="0"/>
                </a:lnTo>
                <a:lnTo>
                  <a:pt x="14010" y="1602"/>
                </a:lnTo>
                <a:lnTo>
                  <a:pt x="13650" y="123"/>
                </a:lnTo>
                <a:lnTo>
                  <a:pt x="9819" y="493"/>
                </a:lnTo>
                <a:lnTo>
                  <a:pt x="10058" y="2342"/>
                </a:lnTo>
                <a:lnTo>
                  <a:pt x="8142" y="2835"/>
                </a:lnTo>
                <a:close/>
              </a:path>
            </a:pathLst>
          </a:custGeom>
          <a:solidFill>
            <a:srgbClr val="f2c8ad"/>
          </a:solidFill>
          <a:ln w="6191">
            <a:solidFill>
              <a:srgbClr val="b7633d"/>
            </a:solidFill>
            <a:round/>
          </a:ln>
        </p:spPr>
        <p:style>
          <a:lnRef idx="0"/>
          <a:fillRef idx="0"/>
          <a:effectRef idx="0"/>
          <a:fontRef idx="minor"/>
        </p:style>
        <p:txBody>
          <a:bodyPr lIns="90000" rIns="90000" tIns="-10800" bIns="-10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01" name="สามัคคีธรรม"/>
          <p:cNvSpPr/>
          <p:nvPr/>
        </p:nvSpPr>
        <p:spPr>
          <a:xfrm>
            <a:off x="7114320" y="5748840"/>
            <a:ext cx="38880" cy="19800"/>
          </a:xfrm>
          <a:custGeom>
            <a:avLst/>
            <a:gdLst/>
            <a:ahLst/>
            <a:rect l="l" t="t" r="r" b="b"/>
            <a:pathLst>
              <a:path w="39275" h="20092">
                <a:moveTo>
                  <a:pt x="39155" y="19476"/>
                </a:moveTo>
                <a:lnTo>
                  <a:pt x="39275" y="0"/>
                </a:lnTo>
                <a:lnTo>
                  <a:pt x="6825" y="1233"/>
                </a:lnTo>
                <a:lnTo>
                  <a:pt x="7304" y="9368"/>
                </a:lnTo>
                <a:lnTo>
                  <a:pt x="0" y="9368"/>
                </a:lnTo>
                <a:lnTo>
                  <a:pt x="1317" y="15655"/>
                </a:lnTo>
                <a:lnTo>
                  <a:pt x="27540" y="13559"/>
                </a:lnTo>
                <a:lnTo>
                  <a:pt x="29336" y="14052"/>
                </a:lnTo>
                <a:lnTo>
                  <a:pt x="30893" y="20092"/>
                </a:lnTo>
                <a:lnTo>
                  <a:pt x="39155" y="19476"/>
                </a:lnTo>
                <a:close/>
              </a:path>
            </a:pathLst>
          </a:custGeom>
          <a:solidFill>
            <a:srgbClr val="f2c8ad"/>
          </a:solidFill>
          <a:ln w="6191">
            <a:solidFill>
              <a:srgbClr val="b7633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02" name="หลังโรงเจ"/>
          <p:cNvSpPr/>
          <p:nvPr/>
        </p:nvSpPr>
        <p:spPr>
          <a:xfrm>
            <a:off x="5963400" y="4543560"/>
            <a:ext cx="14760" cy="70920"/>
          </a:xfrm>
          <a:custGeom>
            <a:avLst/>
            <a:gdLst/>
            <a:ahLst/>
            <a:rect l="l" t="t" r="r" b="b"/>
            <a:pathLst>
              <a:path w="14967" h="71124">
                <a:moveTo>
                  <a:pt x="10298" y="19969"/>
                </a:moveTo>
                <a:lnTo>
                  <a:pt x="10178" y="28474"/>
                </a:lnTo>
                <a:lnTo>
                  <a:pt x="5987" y="41540"/>
                </a:lnTo>
                <a:lnTo>
                  <a:pt x="4430" y="62249"/>
                </a:lnTo>
                <a:lnTo>
                  <a:pt x="0" y="70507"/>
                </a:lnTo>
                <a:lnTo>
                  <a:pt x="2395" y="71124"/>
                </a:lnTo>
                <a:lnTo>
                  <a:pt x="7065" y="62125"/>
                </a:lnTo>
                <a:lnTo>
                  <a:pt x="8382" y="42650"/>
                </a:lnTo>
                <a:lnTo>
                  <a:pt x="13052" y="27858"/>
                </a:lnTo>
                <a:lnTo>
                  <a:pt x="14967" y="7519"/>
                </a:lnTo>
                <a:lnTo>
                  <a:pt x="14010" y="123"/>
                </a:lnTo>
                <a:lnTo>
                  <a:pt x="11016" y="0"/>
                </a:lnTo>
                <a:lnTo>
                  <a:pt x="11974" y="11710"/>
                </a:lnTo>
                <a:lnTo>
                  <a:pt x="10298" y="19969"/>
                </a:lnTo>
                <a:close/>
              </a:path>
            </a:pathLst>
          </a:custGeom>
          <a:solidFill>
            <a:srgbClr val="f2c8ad"/>
          </a:solidFill>
          <a:ln w="6191">
            <a:solidFill>
              <a:srgbClr val="b7633d"/>
            </a:solidFill>
            <a:round/>
          </a:ln>
        </p:spPr>
        <p:style>
          <a:lnRef idx="0"/>
          <a:fillRef idx="0"/>
          <a:effectRef idx="0"/>
          <a:fontRef idx="minor"/>
        </p:style>
        <p:txBody>
          <a:bodyPr lIns="90000" rIns="90000" tIns="25920" bIns="25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03" name="หลัง วค.จันทรเกษม"/>
          <p:cNvSpPr/>
          <p:nvPr/>
        </p:nvSpPr>
        <p:spPr>
          <a:xfrm>
            <a:off x="5970600" y="4474800"/>
            <a:ext cx="6480" cy="67680"/>
          </a:xfrm>
          <a:custGeom>
            <a:avLst/>
            <a:gdLst/>
            <a:ahLst/>
            <a:rect l="l" t="t" r="r" b="b"/>
            <a:pathLst>
              <a:path w="6825" h="68165">
                <a:moveTo>
                  <a:pt x="0" y="10724"/>
                </a:moveTo>
                <a:lnTo>
                  <a:pt x="2515" y="34884"/>
                </a:lnTo>
                <a:lnTo>
                  <a:pt x="2634" y="62742"/>
                </a:lnTo>
                <a:lnTo>
                  <a:pt x="3233" y="68165"/>
                </a:lnTo>
                <a:lnTo>
                  <a:pt x="6825" y="67919"/>
                </a:lnTo>
                <a:lnTo>
                  <a:pt x="3832" y="56332"/>
                </a:lnTo>
                <a:lnTo>
                  <a:pt x="5149" y="18490"/>
                </a:lnTo>
                <a:lnTo>
                  <a:pt x="2634" y="0"/>
                </a:lnTo>
                <a:lnTo>
                  <a:pt x="1197" y="123"/>
                </a:lnTo>
                <a:lnTo>
                  <a:pt x="0" y="10724"/>
                </a:lnTo>
                <a:close/>
              </a:path>
            </a:pathLst>
          </a:custGeom>
          <a:solidFill>
            <a:srgbClr val="f2c8ad"/>
          </a:solidFill>
          <a:ln w="6191">
            <a:solidFill>
              <a:srgbClr val="b7633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04" name="หลังตลาดสุภาพงษ์"/>
          <p:cNvSpPr/>
          <p:nvPr/>
        </p:nvSpPr>
        <p:spPr>
          <a:xfrm>
            <a:off x="5961960" y="4699800"/>
            <a:ext cx="6480" cy="32400"/>
          </a:xfrm>
          <a:custGeom>
            <a:avLst/>
            <a:gdLst/>
            <a:ahLst/>
            <a:rect l="l" t="t" r="r" b="b"/>
            <a:pathLst>
              <a:path w="6705" h="32912">
                <a:moveTo>
                  <a:pt x="6705" y="3575"/>
                </a:moveTo>
                <a:lnTo>
                  <a:pt x="6586" y="123"/>
                </a:lnTo>
                <a:lnTo>
                  <a:pt x="4790" y="0"/>
                </a:lnTo>
                <a:lnTo>
                  <a:pt x="4311" y="17504"/>
                </a:lnTo>
                <a:lnTo>
                  <a:pt x="0" y="32665"/>
                </a:lnTo>
                <a:lnTo>
                  <a:pt x="2275" y="32912"/>
                </a:lnTo>
                <a:lnTo>
                  <a:pt x="6705" y="20832"/>
                </a:lnTo>
                <a:lnTo>
                  <a:pt x="6705" y="3575"/>
                </a:lnTo>
                <a:close/>
              </a:path>
            </a:pathLst>
          </a:custGeom>
          <a:solidFill>
            <a:srgbClr val="f2c8ad"/>
          </a:solidFill>
          <a:ln w="6191">
            <a:solidFill>
              <a:srgbClr val="b7633d"/>
            </a:solidFill>
            <a:round/>
          </a:ln>
        </p:spPr>
        <p:style>
          <a:lnRef idx="0"/>
          <a:fillRef idx="0"/>
          <a:effectRef idx="0"/>
          <a:fontRef idx="minor"/>
        </p:style>
        <p:txBody>
          <a:bodyPr lIns="90000" rIns="90000" tIns="-12600" bIns="-126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05" name="ริมคลองลาดพร้าวภาวนา"/>
          <p:cNvSpPr/>
          <p:nvPr/>
        </p:nvSpPr>
        <p:spPr>
          <a:xfrm>
            <a:off x="5963760" y="4614480"/>
            <a:ext cx="8640" cy="84960"/>
          </a:xfrm>
          <a:custGeom>
            <a:avLst/>
            <a:gdLst/>
            <a:ahLst/>
            <a:rect l="l" t="t" r="r" b="b"/>
            <a:pathLst>
              <a:path w="8861" h="85422">
                <a:moveTo>
                  <a:pt x="7903" y="24160"/>
                </a:moveTo>
                <a:lnTo>
                  <a:pt x="2275" y="8382"/>
                </a:lnTo>
                <a:lnTo>
                  <a:pt x="2275" y="493"/>
                </a:lnTo>
                <a:lnTo>
                  <a:pt x="0" y="0"/>
                </a:lnTo>
                <a:lnTo>
                  <a:pt x="239" y="10231"/>
                </a:lnTo>
                <a:lnTo>
                  <a:pt x="5508" y="21818"/>
                </a:lnTo>
                <a:lnTo>
                  <a:pt x="6226" y="31063"/>
                </a:lnTo>
                <a:lnTo>
                  <a:pt x="3233" y="64344"/>
                </a:lnTo>
                <a:lnTo>
                  <a:pt x="3353" y="85299"/>
                </a:lnTo>
                <a:lnTo>
                  <a:pt x="5149" y="85422"/>
                </a:lnTo>
                <a:lnTo>
                  <a:pt x="5508" y="54976"/>
                </a:lnTo>
                <a:lnTo>
                  <a:pt x="8861" y="34144"/>
                </a:lnTo>
                <a:lnTo>
                  <a:pt x="7903" y="24160"/>
                </a:lnTo>
                <a:close/>
              </a:path>
            </a:pathLst>
          </a:custGeom>
          <a:solidFill>
            <a:srgbClr val="f2c8ad"/>
          </a:solidFill>
          <a:ln w="6191">
            <a:solidFill>
              <a:srgbClr val="b7633d"/>
            </a:solidFill>
            <a:round/>
          </a:ln>
        </p:spPr>
        <p:style>
          <a:lnRef idx="0"/>
          <a:fillRef idx="0"/>
          <a:effectRef idx="0"/>
          <a:fontRef idx="minor"/>
        </p:style>
        <p:txBody>
          <a:bodyPr lIns="90000" rIns="90000" tIns="39960" bIns="39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06" name="คลองน้ำแก้ว"/>
          <p:cNvSpPr/>
          <p:nvPr/>
        </p:nvSpPr>
        <p:spPr>
          <a:xfrm>
            <a:off x="5805000" y="4707720"/>
            <a:ext cx="68760" cy="49680"/>
          </a:xfrm>
          <a:custGeom>
            <a:avLst/>
            <a:gdLst/>
            <a:ahLst/>
            <a:rect l="l" t="t" r="r" b="b"/>
            <a:pathLst>
              <a:path w="69210" h="49922">
                <a:moveTo>
                  <a:pt x="64420" y="40431"/>
                </a:moveTo>
                <a:lnTo>
                  <a:pt x="69210" y="38952"/>
                </a:lnTo>
                <a:lnTo>
                  <a:pt x="2155" y="0"/>
                </a:lnTo>
                <a:lnTo>
                  <a:pt x="0" y="49922"/>
                </a:lnTo>
                <a:lnTo>
                  <a:pt x="9938" y="45608"/>
                </a:lnTo>
                <a:lnTo>
                  <a:pt x="26343" y="48196"/>
                </a:lnTo>
                <a:lnTo>
                  <a:pt x="50889" y="41910"/>
                </a:lnTo>
                <a:lnTo>
                  <a:pt x="64420" y="40431"/>
                </a:lnTo>
                <a:close/>
              </a:path>
            </a:pathLst>
          </a:custGeom>
          <a:solidFill>
            <a:srgbClr val="f2c8ad"/>
          </a:solidFill>
          <a:ln w="6191">
            <a:solidFill>
              <a:srgbClr val="b7633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07" name="พหลโยธิน 32"/>
          <p:cNvSpPr/>
          <p:nvPr/>
        </p:nvSpPr>
        <p:spPr>
          <a:xfrm>
            <a:off x="5971320" y="4376160"/>
            <a:ext cx="12240" cy="97920"/>
          </a:xfrm>
          <a:custGeom>
            <a:avLst/>
            <a:gdLst/>
            <a:ahLst/>
            <a:rect l="l" t="t" r="r" b="b"/>
            <a:pathLst>
              <a:path w="12453" h="98119">
                <a:moveTo>
                  <a:pt x="8861" y="0"/>
                </a:moveTo>
                <a:lnTo>
                  <a:pt x="7304" y="3451"/>
                </a:lnTo>
                <a:lnTo>
                  <a:pt x="9459" y="24406"/>
                </a:lnTo>
                <a:lnTo>
                  <a:pt x="8980" y="36117"/>
                </a:lnTo>
                <a:lnTo>
                  <a:pt x="5269" y="59167"/>
                </a:lnTo>
                <a:lnTo>
                  <a:pt x="3951" y="59167"/>
                </a:lnTo>
                <a:lnTo>
                  <a:pt x="3832" y="60646"/>
                </a:lnTo>
                <a:lnTo>
                  <a:pt x="5149" y="60646"/>
                </a:lnTo>
                <a:lnTo>
                  <a:pt x="3233" y="66933"/>
                </a:lnTo>
                <a:lnTo>
                  <a:pt x="3113" y="84683"/>
                </a:lnTo>
                <a:lnTo>
                  <a:pt x="0" y="98119"/>
                </a:lnTo>
                <a:lnTo>
                  <a:pt x="1916" y="97379"/>
                </a:lnTo>
                <a:lnTo>
                  <a:pt x="6226" y="76917"/>
                </a:lnTo>
                <a:lnTo>
                  <a:pt x="12453" y="36979"/>
                </a:lnTo>
                <a:lnTo>
                  <a:pt x="10896" y="740"/>
                </a:lnTo>
                <a:lnTo>
                  <a:pt x="8861" y="0"/>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08" name="ชายคลองบางบัว"/>
          <p:cNvSpPr/>
          <p:nvPr/>
        </p:nvSpPr>
        <p:spPr>
          <a:xfrm>
            <a:off x="5942160" y="3779280"/>
            <a:ext cx="23400" cy="207720"/>
          </a:xfrm>
          <a:custGeom>
            <a:avLst/>
            <a:gdLst/>
            <a:ahLst/>
            <a:rect l="l" t="t" r="r" b="b"/>
            <a:pathLst>
              <a:path w="23589" h="208071">
                <a:moveTo>
                  <a:pt x="4311" y="208071"/>
                </a:moveTo>
                <a:lnTo>
                  <a:pt x="16883" y="29830"/>
                </a:lnTo>
                <a:lnTo>
                  <a:pt x="19039" y="15778"/>
                </a:lnTo>
                <a:lnTo>
                  <a:pt x="23589" y="1972"/>
                </a:lnTo>
                <a:lnTo>
                  <a:pt x="20356" y="0"/>
                </a:lnTo>
                <a:lnTo>
                  <a:pt x="15806" y="8135"/>
                </a:lnTo>
                <a:lnTo>
                  <a:pt x="17243" y="8629"/>
                </a:lnTo>
                <a:lnTo>
                  <a:pt x="15327" y="10847"/>
                </a:lnTo>
                <a:lnTo>
                  <a:pt x="16285" y="12943"/>
                </a:lnTo>
                <a:lnTo>
                  <a:pt x="13770" y="24653"/>
                </a:lnTo>
                <a:lnTo>
                  <a:pt x="5987" y="127456"/>
                </a:lnTo>
                <a:lnTo>
                  <a:pt x="3353" y="128072"/>
                </a:lnTo>
                <a:lnTo>
                  <a:pt x="3951" y="130414"/>
                </a:lnTo>
                <a:lnTo>
                  <a:pt x="6107" y="129921"/>
                </a:lnTo>
                <a:lnTo>
                  <a:pt x="6346" y="132016"/>
                </a:lnTo>
                <a:lnTo>
                  <a:pt x="5388" y="138919"/>
                </a:lnTo>
                <a:lnTo>
                  <a:pt x="3233" y="139166"/>
                </a:lnTo>
                <a:lnTo>
                  <a:pt x="3472" y="140522"/>
                </a:lnTo>
                <a:lnTo>
                  <a:pt x="5508" y="140522"/>
                </a:lnTo>
                <a:lnTo>
                  <a:pt x="4550" y="153218"/>
                </a:lnTo>
                <a:lnTo>
                  <a:pt x="2036" y="154451"/>
                </a:lnTo>
                <a:lnTo>
                  <a:pt x="2395" y="156176"/>
                </a:lnTo>
                <a:lnTo>
                  <a:pt x="0" y="158765"/>
                </a:lnTo>
                <a:lnTo>
                  <a:pt x="718" y="160367"/>
                </a:lnTo>
                <a:lnTo>
                  <a:pt x="3951" y="160367"/>
                </a:lnTo>
                <a:lnTo>
                  <a:pt x="0" y="203880"/>
                </a:lnTo>
                <a:lnTo>
                  <a:pt x="479" y="207578"/>
                </a:lnTo>
                <a:lnTo>
                  <a:pt x="4311" y="208071"/>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09" name="หลังแฟลตร่วมพัฒนา"/>
          <p:cNvSpPr/>
          <p:nvPr/>
        </p:nvSpPr>
        <p:spPr>
          <a:xfrm>
            <a:off x="5712840" y="3948120"/>
            <a:ext cx="32760" cy="60120"/>
          </a:xfrm>
          <a:custGeom>
            <a:avLst/>
            <a:gdLst/>
            <a:ahLst/>
            <a:rect l="l" t="t" r="r" b="b"/>
            <a:pathLst>
              <a:path w="33048" h="60400">
                <a:moveTo>
                  <a:pt x="1916" y="60400"/>
                </a:moveTo>
                <a:lnTo>
                  <a:pt x="13890" y="36486"/>
                </a:lnTo>
                <a:lnTo>
                  <a:pt x="17123" y="33898"/>
                </a:lnTo>
                <a:lnTo>
                  <a:pt x="16165" y="32542"/>
                </a:lnTo>
                <a:lnTo>
                  <a:pt x="33048" y="0"/>
                </a:lnTo>
                <a:lnTo>
                  <a:pt x="30414" y="1356"/>
                </a:lnTo>
                <a:lnTo>
                  <a:pt x="26582" y="10231"/>
                </a:lnTo>
                <a:lnTo>
                  <a:pt x="15087" y="28474"/>
                </a:lnTo>
                <a:lnTo>
                  <a:pt x="0" y="59167"/>
                </a:lnTo>
                <a:lnTo>
                  <a:pt x="1916" y="60400"/>
                </a:lnTo>
                <a:close/>
              </a:path>
            </a:pathLst>
          </a:custGeom>
          <a:solidFill>
            <a:srgbClr val="f2c8ad"/>
          </a:solidFill>
          <a:ln w="6191">
            <a:solidFill>
              <a:srgbClr val="b7633d"/>
            </a:solidFill>
            <a:round/>
          </a:ln>
        </p:spPr>
        <p:style>
          <a:lnRef idx="0"/>
          <a:fillRef idx="0"/>
          <a:effectRef idx="0"/>
          <a:fontRef idx="minor"/>
        </p:style>
        <p:txBody>
          <a:bodyPr lIns="90000" rIns="90000" tIns="15120" bIns="15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10" name="เปรมสุขสันต์"/>
          <p:cNvSpPr/>
          <p:nvPr/>
        </p:nvSpPr>
        <p:spPr>
          <a:xfrm>
            <a:off x="5747040" y="3805560"/>
            <a:ext cx="74880" cy="137160"/>
          </a:xfrm>
          <a:custGeom>
            <a:avLst/>
            <a:gdLst/>
            <a:ahLst/>
            <a:rect l="l" t="t" r="r" b="b"/>
            <a:pathLst>
              <a:path w="75077" h="137563">
                <a:moveTo>
                  <a:pt x="12573" y="117595"/>
                </a:moveTo>
                <a:lnTo>
                  <a:pt x="41310" y="64714"/>
                </a:lnTo>
                <a:lnTo>
                  <a:pt x="56158" y="34021"/>
                </a:lnTo>
                <a:lnTo>
                  <a:pt x="75077" y="1479"/>
                </a:lnTo>
                <a:lnTo>
                  <a:pt x="72682" y="0"/>
                </a:lnTo>
                <a:lnTo>
                  <a:pt x="0" y="136947"/>
                </a:lnTo>
                <a:lnTo>
                  <a:pt x="1796" y="137563"/>
                </a:lnTo>
                <a:lnTo>
                  <a:pt x="12573" y="117595"/>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11" name="อยู่ดีมีสุขร่วมใจ"/>
          <p:cNvSpPr/>
          <p:nvPr/>
        </p:nvSpPr>
        <p:spPr>
          <a:xfrm>
            <a:off x="5890320" y="3654000"/>
            <a:ext cx="21960" cy="27360"/>
          </a:xfrm>
          <a:custGeom>
            <a:avLst/>
            <a:gdLst/>
            <a:ahLst/>
            <a:rect l="l" t="t" r="r" b="b"/>
            <a:pathLst>
              <a:path w="22391" h="27735">
                <a:moveTo>
                  <a:pt x="7065" y="4807"/>
                </a:moveTo>
                <a:lnTo>
                  <a:pt x="0" y="18736"/>
                </a:lnTo>
                <a:lnTo>
                  <a:pt x="8861" y="23790"/>
                </a:lnTo>
                <a:lnTo>
                  <a:pt x="9938" y="27735"/>
                </a:lnTo>
                <a:lnTo>
                  <a:pt x="18799" y="11587"/>
                </a:lnTo>
                <a:lnTo>
                  <a:pt x="14489" y="8505"/>
                </a:lnTo>
                <a:lnTo>
                  <a:pt x="15925" y="5670"/>
                </a:lnTo>
                <a:lnTo>
                  <a:pt x="19039" y="6287"/>
                </a:lnTo>
                <a:lnTo>
                  <a:pt x="22391" y="2712"/>
                </a:lnTo>
                <a:lnTo>
                  <a:pt x="19637" y="986"/>
                </a:lnTo>
                <a:lnTo>
                  <a:pt x="9819" y="0"/>
                </a:lnTo>
                <a:lnTo>
                  <a:pt x="7065" y="4807"/>
                </a:lnTo>
                <a:close/>
              </a:path>
            </a:pathLst>
          </a:custGeom>
          <a:solidFill>
            <a:srgbClr val="f2c8ad"/>
          </a:solidFill>
          <a:ln w="6191">
            <a:solidFill>
              <a:srgbClr val="b7633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12" name="ตลาดหลักสี่"/>
          <p:cNvSpPr/>
          <p:nvPr/>
        </p:nvSpPr>
        <p:spPr>
          <a:xfrm>
            <a:off x="5819760" y="3723120"/>
            <a:ext cx="49320" cy="83520"/>
          </a:xfrm>
          <a:custGeom>
            <a:avLst/>
            <a:gdLst/>
            <a:ahLst/>
            <a:rect l="l" t="t" r="r" b="b"/>
            <a:pathLst>
              <a:path w="49812" h="83820">
                <a:moveTo>
                  <a:pt x="2634" y="83820"/>
                </a:moveTo>
                <a:lnTo>
                  <a:pt x="22152" y="44622"/>
                </a:lnTo>
                <a:lnTo>
                  <a:pt x="37958" y="17134"/>
                </a:lnTo>
                <a:lnTo>
                  <a:pt x="43226" y="18859"/>
                </a:lnTo>
                <a:lnTo>
                  <a:pt x="45142" y="16148"/>
                </a:lnTo>
                <a:lnTo>
                  <a:pt x="48974" y="18366"/>
                </a:lnTo>
                <a:lnTo>
                  <a:pt x="49812" y="16641"/>
                </a:lnTo>
                <a:lnTo>
                  <a:pt x="41071" y="12203"/>
                </a:lnTo>
                <a:lnTo>
                  <a:pt x="45501" y="1356"/>
                </a:lnTo>
                <a:lnTo>
                  <a:pt x="43226" y="0"/>
                </a:lnTo>
                <a:lnTo>
                  <a:pt x="0" y="82218"/>
                </a:lnTo>
                <a:lnTo>
                  <a:pt x="2634" y="83820"/>
                </a:lnTo>
                <a:close/>
              </a:path>
            </a:pathLst>
          </a:custGeom>
          <a:solidFill>
            <a:srgbClr val="f2c8ad"/>
          </a:solidFill>
          <a:ln w="6191">
            <a:solidFill>
              <a:srgbClr val="b7633d"/>
            </a:solidFill>
            <a:round/>
          </a:ln>
        </p:spPr>
        <p:style>
          <a:lnRef idx="0"/>
          <a:fillRef idx="0"/>
          <a:effectRef idx="0"/>
          <a:fontRef idx="minor"/>
        </p:style>
        <p:txBody>
          <a:bodyPr lIns="90000" rIns="90000" tIns="38520" bIns="38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13" name="คลองเตยล็อค 1-2-3"/>
          <p:cNvSpPr/>
          <p:nvPr/>
        </p:nvSpPr>
        <p:spPr>
          <a:xfrm>
            <a:off x="5760000" y="5844240"/>
            <a:ext cx="30960" cy="22320"/>
          </a:xfrm>
          <a:custGeom>
            <a:avLst/>
            <a:gdLst/>
            <a:ahLst/>
            <a:rect l="l" t="t" r="r" b="b"/>
            <a:pathLst>
              <a:path w="31492" h="22681">
                <a:moveTo>
                  <a:pt x="0" y="13559"/>
                </a:moveTo>
                <a:lnTo>
                  <a:pt x="1437" y="13806"/>
                </a:lnTo>
                <a:lnTo>
                  <a:pt x="1197" y="15408"/>
                </a:lnTo>
                <a:lnTo>
                  <a:pt x="24906" y="22681"/>
                </a:lnTo>
                <a:lnTo>
                  <a:pt x="31492" y="0"/>
                </a:lnTo>
                <a:lnTo>
                  <a:pt x="359" y="4314"/>
                </a:lnTo>
                <a:lnTo>
                  <a:pt x="0" y="13559"/>
                </a:lnTo>
                <a:close/>
              </a:path>
            </a:pathLst>
          </a:custGeom>
          <a:solidFill>
            <a:srgbClr val="f2c8ad"/>
          </a:solidFill>
          <a:ln w="6191">
            <a:solidFill>
              <a:srgbClr val="b7633d"/>
            </a:solidFill>
            <a:round/>
          </a:ln>
        </p:spPr>
        <p:style>
          <a:lnRef idx="0"/>
          <a:fillRef idx="0"/>
          <a:effectRef idx="0"/>
          <a:fontRef idx="minor"/>
        </p:style>
        <p:txBody>
          <a:bodyPr lIns="90000" rIns="90000" tIns="-22680" bIns="-22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14" name="คลองเตยล็อค 4-5-6"/>
          <p:cNvSpPr/>
          <p:nvPr/>
        </p:nvSpPr>
        <p:spPr>
          <a:xfrm>
            <a:off x="5784840" y="5844240"/>
            <a:ext cx="49680" cy="36000"/>
          </a:xfrm>
          <a:custGeom>
            <a:avLst/>
            <a:gdLst/>
            <a:ahLst/>
            <a:rect l="l" t="t" r="r" b="b"/>
            <a:pathLst>
              <a:path w="50171" h="36486">
                <a:moveTo>
                  <a:pt x="6466" y="2465"/>
                </a:moveTo>
                <a:lnTo>
                  <a:pt x="0" y="22804"/>
                </a:lnTo>
                <a:lnTo>
                  <a:pt x="4311" y="24406"/>
                </a:lnTo>
                <a:lnTo>
                  <a:pt x="3832" y="26009"/>
                </a:lnTo>
                <a:lnTo>
                  <a:pt x="6945" y="27365"/>
                </a:lnTo>
                <a:lnTo>
                  <a:pt x="36880" y="36486"/>
                </a:lnTo>
                <a:lnTo>
                  <a:pt x="44783" y="34391"/>
                </a:lnTo>
                <a:lnTo>
                  <a:pt x="50171" y="16764"/>
                </a:lnTo>
                <a:lnTo>
                  <a:pt x="34126" y="13559"/>
                </a:lnTo>
                <a:lnTo>
                  <a:pt x="13411" y="1479"/>
                </a:lnTo>
                <a:lnTo>
                  <a:pt x="6825" y="0"/>
                </a:lnTo>
                <a:lnTo>
                  <a:pt x="6466" y="2465"/>
                </a:lnTo>
                <a:close/>
              </a:path>
            </a:pathLst>
          </a:custGeom>
          <a:solidFill>
            <a:srgbClr val="f2c8ad"/>
          </a:solidFill>
          <a:ln w="6191">
            <a:solidFill>
              <a:srgbClr val="b7633d"/>
            </a:solidFill>
            <a:round/>
          </a:ln>
        </p:spPr>
        <p:style>
          <a:lnRef idx="0"/>
          <a:fillRef idx="0"/>
          <a:effectRef idx="0"/>
          <a:fontRef idx="minor"/>
        </p:style>
        <p:txBody>
          <a:bodyPr lIns="90000" rIns="90000" tIns="-9000" bIns="-9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15" name="โชคชัยร่วมมิตร"/>
          <p:cNvSpPr/>
          <p:nvPr/>
        </p:nvSpPr>
        <p:spPr>
          <a:xfrm>
            <a:off x="5649480" y="4811040"/>
            <a:ext cx="59400" cy="25920"/>
          </a:xfrm>
          <a:custGeom>
            <a:avLst/>
            <a:gdLst/>
            <a:ahLst/>
            <a:rect l="l" t="t" r="r" b="b"/>
            <a:pathLst>
              <a:path w="59870" h="26379">
                <a:moveTo>
                  <a:pt x="59870" y="22434"/>
                </a:moveTo>
                <a:lnTo>
                  <a:pt x="59271" y="19476"/>
                </a:lnTo>
                <a:lnTo>
                  <a:pt x="46699" y="21941"/>
                </a:lnTo>
                <a:lnTo>
                  <a:pt x="46818" y="740"/>
                </a:lnTo>
                <a:lnTo>
                  <a:pt x="2515" y="0"/>
                </a:lnTo>
                <a:lnTo>
                  <a:pt x="0" y="22064"/>
                </a:lnTo>
                <a:lnTo>
                  <a:pt x="50530" y="26379"/>
                </a:lnTo>
                <a:lnTo>
                  <a:pt x="59870" y="22434"/>
                </a:lnTo>
                <a:close/>
              </a:path>
            </a:pathLst>
          </a:custGeom>
          <a:solidFill>
            <a:srgbClr val="f2c8ad"/>
          </a:solidFill>
          <a:ln w="6191">
            <a:solidFill>
              <a:srgbClr val="b7633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16" name="คลองพระยาเวิก"/>
          <p:cNvSpPr/>
          <p:nvPr/>
        </p:nvSpPr>
        <p:spPr>
          <a:xfrm>
            <a:off x="5703480" y="4753080"/>
            <a:ext cx="16920" cy="27000"/>
          </a:xfrm>
          <a:custGeom>
            <a:avLst/>
            <a:gdLst/>
            <a:ahLst/>
            <a:rect l="l" t="t" r="r" b="b"/>
            <a:pathLst>
              <a:path w="17243" h="27488">
                <a:moveTo>
                  <a:pt x="8262" y="8135"/>
                </a:moveTo>
                <a:lnTo>
                  <a:pt x="3951" y="6903"/>
                </a:lnTo>
                <a:lnTo>
                  <a:pt x="2275" y="9245"/>
                </a:lnTo>
                <a:lnTo>
                  <a:pt x="0" y="23174"/>
                </a:lnTo>
                <a:lnTo>
                  <a:pt x="8741" y="24776"/>
                </a:lnTo>
                <a:lnTo>
                  <a:pt x="8621" y="26872"/>
                </a:lnTo>
                <a:lnTo>
                  <a:pt x="11016" y="27488"/>
                </a:lnTo>
                <a:lnTo>
                  <a:pt x="12573" y="26872"/>
                </a:lnTo>
                <a:lnTo>
                  <a:pt x="17243" y="0"/>
                </a:lnTo>
                <a:lnTo>
                  <a:pt x="13770" y="9491"/>
                </a:lnTo>
                <a:lnTo>
                  <a:pt x="8262" y="8135"/>
                </a:lnTo>
                <a:close/>
              </a:path>
            </a:pathLst>
          </a:custGeom>
          <a:solidFill>
            <a:srgbClr val="f2c8ad"/>
          </a:solidFill>
          <a:ln w="6191">
            <a:solidFill>
              <a:srgbClr val="b7633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17" name="หนองจุฬา"/>
          <p:cNvSpPr/>
          <p:nvPr/>
        </p:nvSpPr>
        <p:spPr>
          <a:xfrm>
            <a:off x="5428080" y="4469760"/>
            <a:ext cx="34200" cy="18000"/>
          </a:xfrm>
          <a:custGeom>
            <a:avLst/>
            <a:gdLst/>
            <a:ahLst/>
            <a:rect l="l" t="t" r="r" b="b"/>
            <a:pathLst>
              <a:path w="34605" h="18366">
                <a:moveTo>
                  <a:pt x="29815" y="0"/>
                </a:moveTo>
                <a:lnTo>
                  <a:pt x="10657" y="740"/>
                </a:lnTo>
                <a:lnTo>
                  <a:pt x="0" y="3451"/>
                </a:lnTo>
                <a:lnTo>
                  <a:pt x="2874" y="18366"/>
                </a:lnTo>
                <a:lnTo>
                  <a:pt x="13650" y="17997"/>
                </a:lnTo>
                <a:lnTo>
                  <a:pt x="16883" y="15285"/>
                </a:lnTo>
                <a:lnTo>
                  <a:pt x="24906" y="14545"/>
                </a:lnTo>
                <a:lnTo>
                  <a:pt x="27780" y="16024"/>
                </a:lnTo>
                <a:lnTo>
                  <a:pt x="34365" y="4561"/>
                </a:lnTo>
                <a:lnTo>
                  <a:pt x="34605" y="986"/>
                </a:lnTo>
                <a:lnTo>
                  <a:pt x="29815" y="0"/>
                </a:lnTo>
                <a:close/>
              </a:path>
            </a:pathLst>
          </a:custGeom>
          <a:solidFill>
            <a:srgbClr val="f2c8ad"/>
          </a:solidFill>
          <a:ln w="6191">
            <a:solidFill>
              <a:srgbClr val="b7633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18" name="พรรณี 1"/>
          <p:cNvSpPr/>
          <p:nvPr/>
        </p:nvSpPr>
        <p:spPr>
          <a:xfrm>
            <a:off x="5501880" y="4457880"/>
            <a:ext cx="24840" cy="14040"/>
          </a:xfrm>
          <a:custGeom>
            <a:avLst/>
            <a:gdLst/>
            <a:ahLst/>
            <a:rect l="l" t="t" r="r" b="b"/>
            <a:pathLst>
              <a:path w="25145" h="14422">
                <a:moveTo>
                  <a:pt x="11854" y="12203"/>
                </a:moveTo>
                <a:lnTo>
                  <a:pt x="17123" y="14422"/>
                </a:lnTo>
                <a:lnTo>
                  <a:pt x="25145" y="11710"/>
                </a:lnTo>
                <a:lnTo>
                  <a:pt x="24547" y="8752"/>
                </a:lnTo>
                <a:lnTo>
                  <a:pt x="16285" y="7642"/>
                </a:lnTo>
                <a:lnTo>
                  <a:pt x="15686" y="0"/>
                </a:lnTo>
                <a:lnTo>
                  <a:pt x="10777" y="3944"/>
                </a:lnTo>
                <a:lnTo>
                  <a:pt x="9220" y="1972"/>
                </a:lnTo>
                <a:lnTo>
                  <a:pt x="1676" y="1479"/>
                </a:lnTo>
                <a:lnTo>
                  <a:pt x="0" y="4931"/>
                </a:lnTo>
                <a:lnTo>
                  <a:pt x="2275" y="5917"/>
                </a:lnTo>
                <a:lnTo>
                  <a:pt x="2155" y="7642"/>
                </a:lnTo>
                <a:lnTo>
                  <a:pt x="11854" y="12203"/>
                </a:lnTo>
                <a:close/>
              </a:path>
            </a:pathLst>
          </a:custGeom>
          <a:solidFill>
            <a:srgbClr val="f2c8ad"/>
          </a:solidFill>
          <a:ln w="6191">
            <a:solidFill>
              <a:srgbClr val="b7633d"/>
            </a:solidFill>
            <a:round/>
          </a:ln>
        </p:spPr>
        <p:style>
          <a:lnRef idx="0"/>
          <a:fillRef idx="0"/>
          <a:effectRef idx="0"/>
          <a:fontRef idx="minor"/>
        </p:style>
        <p:txBody>
          <a:bodyPr lIns="90000" rIns="90000" tIns="-30960" bIns="-309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19" name="ร่วมสุขพัฒนา"/>
          <p:cNvSpPr/>
          <p:nvPr/>
        </p:nvSpPr>
        <p:spPr>
          <a:xfrm>
            <a:off x="5562000" y="4435920"/>
            <a:ext cx="35280" cy="11880"/>
          </a:xfrm>
          <a:custGeom>
            <a:avLst/>
            <a:gdLst/>
            <a:ahLst/>
            <a:rect l="l" t="t" r="r" b="b"/>
            <a:pathLst>
              <a:path w="35802" h="12080">
                <a:moveTo>
                  <a:pt x="9938" y="7273"/>
                </a:moveTo>
                <a:lnTo>
                  <a:pt x="0" y="10477"/>
                </a:lnTo>
                <a:lnTo>
                  <a:pt x="718" y="12080"/>
                </a:lnTo>
                <a:lnTo>
                  <a:pt x="35802" y="1479"/>
                </a:lnTo>
                <a:lnTo>
                  <a:pt x="35443" y="0"/>
                </a:lnTo>
                <a:lnTo>
                  <a:pt x="9938" y="7273"/>
                </a:lnTo>
                <a:close/>
              </a:path>
            </a:pathLst>
          </a:custGeom>
          <a:solidFill>
            <a:srgbClr val="f2c8ad"/>
          </a:solidFill>
          <a:ln w="6191">
            <a:solidFill>
              <a:srgbClr val="b7633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20" name="ชุมชนเฉลิมอนุสรณ์"/>
          <p:cNvSpPr/>
          <p:nvPr/>
        </p:nvSpPr>
        <p:spPr>
          <a:xfrm>
            <a:off x="5511240" y="5408640"/>
            <a:ext cx="5760" cy="25920"/>
          </a:xfrm>
          <a:custGeom>
            <a:avLst/>
            <a:gdLst/>
            <a:ahLst/>
            <a:rect l="l" t="t" r="r" b="b"/>
            <a:pathLst>
              <a:path w="6107" h="26132">
                <a:moveTo>
                  <a:pt x="2993" y="123"/>
                </a:moveTo>
                <a:lnTo>
                  <a:pt x="0" y="0"/>
                </a:lnTo>
                <a:lnTo>
                  <a:pt x="1676" y="26132"/>
                </a:lnTo>
                <a:lnTo>
                  <a:pt x="4430" y="20092"/>
                </a:lnTo>
                <a:lnTo>
                  <a:pt x="3712" y="13806"/>
                </a:lnTo>
                <a:lnTo>
                  <a:pt x="4670" y="14175"/>
                </a:lnTo>
                <a:lnTo>
                  <a:pt x="6107" y="8505"/>
                </a:lnTo>
                <a:lnTo>
                  <a:pt x="3832" y="5917"/>
                </a:lnTo>
                <a:lnTo>
                  <a:pt x="2993" y="123"/>
                </a:lnTo>
                <a:close/>
              </a:path>
            </a:pathLst>
          </a:custGeom>
          <a:solidFill>
            <a:srgbClr val="f2c8ad"/>
          </a:solidFill>
          <a:ln w="6191">
            <a:solidFill>
              <a:srgbClr val="b7633d"/>
            </a:solidFill>
            <a:round/>
          </a:ln>
        </p:spPr>
        <p:style>
          <a:lnRef idx="0"/>
          <a:fillRef idx="0"/>
          <a:effectRef idx="0"/>
          <a:fontRef idx="minor"/>
        </p:style>
        <p:txBody>
          <a:bodyPr lIns="90000" rIns="90000" tIns="-19080" bIns="-19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21" name="ชุมชนรื่นฤดี"/>
          <p:cNvSpPr/>
          <p:nvPr/>
        </p:nvSpPr>
        <p:spPr>
          <a:xfrm>
            <a:off x="5540760" y="5409720"/>
            <a:ext cx="7920" cy="7920"/>
          </a:xfrm>
          <a:custGeom>
            <a:avLst/>
            <a:gdLst/>
            <a:ahLst/>
            <a:rect l="l" t="t" r="r" b="b"/>
            <a:pathLst>
              <a:path w="8142" h="8259">
                <a:moveTo>
                  <a:pt x="8142" y="370"/>
                </a:moveTo>
                <a:lnTo>
                  <a:pt x="718" y="0"/>
                </a:lnTo>
                <a:lnTo>
                  <a:pt x="0" y="8012"/>
                </a:lnTo>
                <a:lnTo>
                  <a:pt x="6586" y="8259"/>
                </a:lnTo>
                <a:lnTo>
                  <a:pt x="8142" y="370"/>
                </a:lnTo>
                <a:close/>
              </a:path>
            </a:pathLst>
          </a:custGeom>
          <a:solidFill>
            <a:srgbClr val="f2c8ad"/>
          </a:solidFill>
          <a:ln w="6191">
            <a:solidFill>
              <a:srgbClr val="b7633d"/>
            </a:solidFill>
            <a:round/>
          </a:ln>
        </p:spPr>
        <p:style>
          <a:lnRef idx="0"/>
          <a:fillRef idx="0"/>
          <a:effectRef idx="0"/>
          <a:fontRef idx="minor"/>
        </p:style>
        <p:txBody>
          <a:bodyPr lIns="90000" rIns="90000" tIns="-37080" bIns="-37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22" name="ชุมชนข้างสะพานคลองตัน"/>
          <p:cNvSpPr/>
          <p:nvPr/>
        </p:nvSpPr>
        <p:spPr>
          <a:xfrm>
            <a:off x="6086880" y="5535000"/>
            <a:ext cx="13680" cy="16560"/>
          </a:xfrm>
          <a:custGeom>
            <a:avLst/>
            <a:gdLst/>
            <a:ahLst/>
            <a:rect l="l" t="t" r="r" b="b"/>
            <a:pathLst>
              <a:path w="14129" h="16764">
                <a:moveTo>
                  <a:pt x="12333" y="3944"/>
                </a:moveTo>
                <a:lnTo>
                  <a:pt x="14129" y="3575"/>
                </a:lnTo>
                <a:lnTo>
                  <a:pt x="14010" y="1356"/>
                </a:lnTo>
                <a:lnTo>
                  <a:pt x="2275" y="0"/>
                </a:lnTo>
                <a:lnTo>
                  <a:pt x="0" y="16271"/>
                </a:lnTo>
                <a:lnTo>
                  <a:pt x="2874" y="16764"/>
                </a:lnTo>
                <a:lnTo>
                  <a:pt x="2874" y="13806"/>
                </a:lnTo>
                <a:lnTo>
                  <a:pt x="5867" y="9122"/>
                </a:lnTo>
                <a:lnTo>
                  <a:pt x="12453" y="10231"/>
                </a:lnTo>
                <a:lnTo>
                  <a:pt x="12333" y="3944"/>
                </a:lnTo>
                <a:close/>
              </a:path>
            </a:pathLst>
          </a:custGeom>
          <a:solidFill>
            <a:srgbClr val="f2c8ad"/>
          </a:solidFill>
          <a:ln w="6191">
            <a:solidFill>
              <a:srgbClr val="b7633d"/>
            </a:solidFill>
            <a:round/>
          </a:ln>
        </p:spPr>
        <p:style>
          <a:lnRef idx="0"/>
          <a:fillRef idx="0"/>
          <a:effectRef idx="0"/>
          <a:fontRef idx="minor"/>
        </p:style>
        <p:txBody>
          <a:bodyPr lIns="90000" rIns="90000" tIns="-28440" bIns="-284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23" name="นวลจิตร"/>
          <p:cNvSpPr/>
          <p:nvPr/>
        </p:nvSpPr>
        <p:spPr>
          <a:xfrm>
            <a:off x="6014880" y="5492160"/>
            <a:ext cx="50400" cy="45720"/>
          </a:xfrm>
          <a:custGeom>
            <a:avLst/>
            <a:gdLst/>
            <a:ahLst/>
            <a:rect l="l" t="t" r="r" b="b"/>
            <a:pathLst>
              <a:path w="50770" h="46224">
                <a:moveTo>
                  <a:pt x="48016" y="25639"/>
                </a:moveTo>
                <a:lnTo>
                  <a:pt x="50770" y="6163"/>
                </a:lnTo>
                <a:lnTo>
                  <a:pt x="20236" y="0"/>
                </a:lnTo>
                <a:lnTo>
                  <a:pt x="239" y="34268"/>
                </a:lnTo>
                <a:lnTo>
                  <a:pt x="0" y="37966"/>
                </a:lnTo>
                <a:lnTo>
                  <a:pt x="14010" y="46224"/>
                </a:lnTo>
                <a:lnTo>
                  <a:pt x="25145" y="45731"/>
                </a:lnTo>
                <a:lnTo>
                  <a:pt x="27301" y="42403"/>
                </a:lnTo>
                <a:lnTo>
                  <a:pt x="26941" y="43882"/>
                </a:lnTo>
                <a:lnTo>
                  <a:pt x="29097" y="44129"/>
                </a:lnTo>
                <a:lnTo>
                  <a:pt x="31372" y="42403"/>
                </a:lnTo>
                <a:lnTo>
                  <a:pt x="42987" y="43389"/>
                </a:lnTo>
                <a:lnTo>
                  <a:pt x="48016" y="25639"/>
                </a:lnTo>
                <a:close/>
              </a:path>
            </a:pathLst>
          </a:custGeom>
          <a:solidFill>
            <a:srgbClr val="f2c8ad"/>
          </a:solidFill>
          <a:ln w="6191">
            <a:solidFill>
              <a:srgbClr val="b7633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24" name="สุเหร่าบ้านดอน"/>
          <p:cNvSpPr/>
          <p:nvPr/>
        </p:nvSpPr>
        <p:spPr>
          <a:xfrm>
            <a:off x="5814720" y="5444280"/>
            <a:ext cx="98280" cy="51480"/>
          </a:xfrm>
          <a:custGeom>
            <a:avLst/>
            <a:gdLst/>
            <a:ahLst/>
            <a:rect l="l" t="t" r="r" b="b"/>
            <a:pathLst>
              <a:path w="98785" h="52018">
                <a:moveTo>
                  <a:pt x="5149" y="0"/>
                </a:moveTo>
                <a:lnTo>
                  <a:pt x="4550" y="8752"/>
                </a:lnTo>
                <a:lnTo>
                  <a:pt x="5987" y="10108"/>
                </a:lnTo>
                <a:lnTo>
                  <a:pt x="7065" y="25023"/>
                </a:lnTo>
                <a:lnTo>
                  <a:pt x="1317" y="25146"/>
                </a:lnTo>
                <a:lnTo>
                  <a:pt x="0" y="36117"/>
                </a:lnTo>
                <a:lnTo>
                  <a:pt x="9220" y="37472"/>
                </a:lnTo>
                <a:lnTo>
                  <a:pt x="10417" y="49922"/>
                </a:lnTo>
                <a:lnTo>
                  <a:pt x="27181" y="48443"/>
                </a:lnTo>
                <a:lnTo>
                  <a:pt x="30174" y="48813"/>
                </a:lnTo>
                <a:lnTo>
                  <a:pt x="29815" y="51401"/>
                </a:lnTo>
                <a:lnTo>
                  <a:pt x="33288" y="52018"/>
                </a:lnTo>
                <a:lnTo>
                  <a:pt x="33527" y="48690"/>
                </a:lnTo>
                <a:lnTo>
                  <a:pt x="35682" y="48690"/>
                </a:lnTo>
                <a:lnTo>
                  <a:pt x="37000" y="43882"/>
                </a:lnTo>
                <a:lnTo>
                  <a:pt x="41669" y="44005"/>
                </a:lnTo>
                <a:lnTo>
                  <a:pt x="48974" y="29214"/>
                </a:lnTo>
                <a:lnTo>
                  <a:pt x="52326" y="30816"/>
                </a:lnTo>
                <a:lnTo>
                  <a:pt x="55080" y="26255"/>
                </a:lnTo>
                <a:lnTo>
                  <a:pt x="56038" y="28597"/>
                </a:lnTo>
                <a:lnTo>
                  <a:pt x="63941" y="31309"/>
                </a:lnTo>
                <a:lnTo>
                  <a:pt x="60828" y="38952"/>
                </a:lnTo>
                <a:lnTo>
                  <a:pt x="56637" y="37226"/>
                </a:lnTo>
                <a:lnTo>
                  <a:pt x="54601" y="40924"/>
                </a:lnTo>
                <a:lnTo>
                  <a:pt x="63342" y="45238"/>
                </a:lnTo>
                <a:lnTo>
                  <a:pt x="74239" y="28967"/>
                </a:lnTo>
                <a:lnTo>
                  <a:pt x="76993" y="30077"/>
                </a:lnTo>
                <a:lnTo>
                  <a:pt x="79388" y="29830"/>
                </a:lnTo>
                <a:lnTo>
                  <a:pt x="80465" y="27611"/>
                </a:lnTo>
                <a:lnTo>
                  <a:pt x="82740" y="28474"/>
                </a:lnTo>
                <a:lnTo>
                  <a:pt x="79747" y="35623"/>
                </a:lnTo>
                <a:lnTo>
                  <a:pt x="84297" y="37719"/>
                </a:lnTo>
                <a:lnTo>
                  <a:pt x="79148" y="47950"/>
                </a:lnTo>
                <a:lnTo>
                  <a:pt x="86931" y="50662"/>
                </a:lnTo>
                <a:lnTo>
                  <a:pt x="98785" y="23667"/>
                </a:lnTo>
                <a:lnTo>
                  <a:pt x="79866" y="17750"/>
                </a:lnTo>
                <a:lnTo>
                  <a:pt x="5149" y="0"/>
                </a:lnTo>
                <a:close/>
              </a:path>
            </a:pathLst>
          </a:custGeom>
          <a:solidFill>
            <a:srgbClr val="f2c8ad"/>
          </a:solidFill>
          <a:ln w="6191">
            <a:solidFill>
              <a:srgbClr val="b7633d"/>
            </a:solidFill>
            <a:round/>
          </a:ln>
        </p:spPr>
        <p:style>
          <a:lnRef idx="0"/>
          <a:fillRef idx="0"/>
          <a:effectRef idx="0"/>
          <a:fontRef idx="minor"/>
        </p:style>
        <p:txBody>
          <a:bodyPr lIns="90000" rIns="90000" tIns="6480" bIns="64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25" name="แจ่มจันทร์"/>
          <p:cNvSpPr/>
          <p:nvPr/>
        </p:nvSpPr>
        <p:spPr>
          <a:xfrm>
            <a:off x="5936040" y="5479560"/>
            <a:ext cx="37080" cy="44280"/>
          </a:xfrm>
          <a:custGeom>
            <a:avLst/>
            <a:gdLst/>
            <a:ahLst/>
            <a:rect l="l" t="t" r="r" b="b"/>
            <a:pathLst>
              <a:path w="37359" h="44745">
                <a:moveTo>
                  <a:pt x="14967" y="11340"/>
                </a:moveTo>
                <a:lnTo>
                  <a:pt x="8382" y="24037"/>
                </a:lnTo>
                <a:lnTo>
                  <a:pt x="4191" y="30446"/>
                </a:lnTo>
                <a:lnTo>
                  <a:pt x="2874" y="29953"/>
                </a:lnTo>
                <a:lnTo>
                  <a:pt x="0" y="41047"/>
                </a:lnTo>
                <a:lnTo>
                  <a:pt x="17362" y="44745"/>
                </a:lnTo>
                <a:lnTo>
                  <a:pt x="21074" y="34514"/>
                </a:lnTo>
                <a:lnTo>
                  <a:pt x="27061" y="36117"/>
                </a:lnTo>
                <a:lnTo>
                  <a:pt x="33407" y="19476"/>
                </a:lnTo>
                <a:lnTo>
                  <a:pt x="28498" y="16764"/>
                </a:lnTo>
                <a:lnTo>
                  <a:pt x="29456" y="13436"/>
                </a:lnTo>
                <a:lnTo>
                  <a:pt x="36760" y="17873"/>
                </a:lnTo>
                <a:lnTo>
                  <a:pt x="37359" y="16271"/>
                </a:lnTo>
                <a:lnTo>
                  <a:pt x="29456" y="11587"/>
                </a:lnTo>
                <a:lnTo>
                  <a:pt x="26343" y="5177"/>
                </a:lnTo>
                <a:lnTo>
                  <a:pt x="20116" y="247"/>
                </a:lnTo>
                <a:lnTo>
                  <a:pt x="18679" y="0"/>
                </a:lnTo>
                <a:lnTo>
                  <a:pt x="14967" y="11340"/>
                </a:lnTo>
                <a:close/>
              </a:path>
            </a:pathLst>
          </a:custGeom>
          <a:solidFill>
            <a:srgbClr val="f2c8ad"/>
          </a:solidFill>
          <a:ln w="6191">
            <a:solidFill>
              <a:srgbClr val="b7633d"/>
            </a:solidFill>
            <a:round/>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26" name="บางบัวร่วมใจพัฒนา(เชิงสะพานไม้ 2)"/>
          <p:cNvSpPr/>
          <p:nvPr/>
        </p:nvSpPr>
        <p:spPr>
          <a:xfrm>
            <a:off x="5916960" y="3987360"/>
            <a:ext cx="29160" cy="31680"/>
          </a:xfrm>
          <a:custGeom>
            <a:avLst/>
            <a:gdLst/>
            <a:ahLst/>
            <a:rect l="l" t="t" r="r" b="b"/>
            <a:pathLst>
              <a:path w="29456" h="32172">
                <a:moveTo>
                  <a:pt x="26822" y="32172"/>
                </a:moveTo>
                <a:lnTo>
                  <a:pt x="29456" y="247"/>
                </a:lnTo>
                <a:lnTo>
                  <a:pt x="27899" y="0"/>
                </a:lnTo>
                <a:lnTo>
                  <a:pt x="25744" y="616"/>
                </a:lnTo>
                <a:lnTo>
                  <a:pt x="25026" y="4561"/>
                </a:lnTo>
                <a:lnTo>
                  <a:pt x="25864" y="9245"/>
                </a:lnTo>
                <a:lnTo>
                  <a:pt x="24547" y="9122"/>
                </a:lnTo>
                <a:lnTo>
                  <a:pt x="23349" y="25393"/>
                </a:lnTo>
                <a:lnTo>
                  <a:pt x="4071" y="17997"/>
                </a:lnTo>
                <a:lnTo>
                  <a:pt x="0" y="20832"/>
                </a:lnTo>
                <a:lnTo>
                  <a:pt x="12333" y="28721"/>
                </a:lnTo>
                <a:lnTo>
                  <a:pt x="26822" y="32172"/>
                </a:lnTo>
                <a:close/>
              </a:path>
            </a:pathLst>
          </a:custGeom>
          <a:solidFill>
            <a:srgbClr val="f2c8ad"/>
          </a:solidFill>
          <a:ln w="6191">
            <a:solidFill>
              <a:srgbClr val="b7633d"/>
            </a:solidFill>
            <a:round/>
          </a:ln>
        </p:spPr>
        <p:style>
          <a:lnRef idx="0"/>
          <a:fillRef idx="0"/>
          <a:effectRef idx="0"/>
          <a:fontRef idx="minor"/>
        </p:style>
        <p:txBody>
          <a:bodyPr lIns="90000" rIns="90000" tIns="-13320" bIns="-13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27" name="หลักสี่พัฒนา 99"/>
          <p:cNvSpPr/>
          <p:nvPr/>
        </p:nvSpPr>
        <p:spPr>
          <a:xfrm>
            <a:off x="5865840" y="3692160"/>
            <a:ext cx="15480" cy="27360"/>
          </a:xfrm>
          <a:custGeom>
            <a:avLst/>
            <a:gdLst/>
            <a:ahLst/>
            <a:rect l="l" t="t" r="r" b="b"/>
            <a:pathLst>
              <a:path w="15925" h="27735">
                <a:moveTo>
                  <a:pt x="14249" y="0"/>
                </a:moveTo>
                <a:lnTo>
                  <a:pt x="0" y="25886"/>
                </a:lnTo>
                <a:lnTo>
                  <a:pt x="2634" y="27735"/>
                </a:lnTo>
                <a:lnTo>
                  <a:pt x="15925" y="863"/>
                </a:lnTo>
                <a:lnTo>
                  <a:pt x="14249" y="0"/>
                </a:lnTo>
                <a:close/>
              </a:path>
            </a:pathLst>
          </a:custGeom>
          <a:solidFill>
            <a:srgbClr val="f2c8ad"/>
          </a:solidFill>
          <a:ln w="6191">
            <a:solidFill>
              <a:srgbClr val="b7633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28" name="หมู่บ้านพัฒนา 70 ไร่"/>
          <p:cNvSpPr/>
          <p:nvPr/>
        </p:nvSpPr>
        <p:spPr>
          <a:xfrm>
            <a:off x="5779080" y="5871600"/>
            <a:ext cx="47160" cy="38880"/>
          </a:xfrm>
          <a:custGeom>
            <a:avLst/>
            <a:gdLst/>
            <a:ahLst/>
            <a:rect l="l" t="t" r="r" b="b"/>
            <a:pathLst>
              <a:path w="47537" h="39075">
                <a:moveTo>
                  <a:pt x="9220" y="29953"/>
                </a:moveTo>
                <a:lnTo>
                  <a:pt x="38915" y="39075"/>
                </a:lnTo>
                <a:lnTo>
                  <a:pt x="47537" y="12450"/>
                </a:lnTo>
                <a:lnTo>
                  <a:pt x="8861" y="0"/>
                </a:lnTo>
                <a:lnTo>
                  <a:pt x="0" y="27981"/>
                </a:lnTo>
                <a:lnTo>
                  <a:pt x="9220" y="29953"/>
                </a:lnTo>
                <a:close/>
              </a:path>
            </a:pathLst>
          </a:custGeom>
          <a:solidFill>
            <a:srgbClr val="f2c8ad"/>
          </a:solidFill>
          <a:ln w="6191">
            <a:solidFill>
              <a:srgbClr val="b7633d"/>
            </a:solidFill>
            <a:round/>
          </a:ln>
        </p:spPr>
        <p:style>
          <a:lnRef idx="0"/>
          <a:fillRef idx="0"/>
          <a:effectRef idx="0"/>
          <a:fontRef idx="minor"/>
        </p:style>
        <p:txBody>
          <a:bodyPr lIns="90000" rIns="90000" tIns="-6120" bIns="-6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29" name="ซอยภักดี"/>
          <p:cNvSpPr/>
          <p:nvPr/>
        </p:nvSpPr>
        <p:spPr>
          <a:xfrm>
            <a:off x="5457240" y="4470120"/>
            <a:ext cx="21600" cy="19800"/>
          </a:xfrm>
          <a:custGeom>
            <a:avLst/>
            <a:gdLst/>
            <a:ahLst/>
            <a:rect l="l" t="t" r="r" b="b"/>
            <a:pathLst>
              <a:path w="22032" h="20215">
                <a:moveTo>
                  <a:pt x="18679" y="17134"/>
                </a:moveTo>
                <a:lnTo>
                  <a:pt x="22032" y="11587"/>
                </a:lnTo>
                <a:lnTo>
                  <a:pt x="10537" y="0"/>
                </a:lnTo>
                <a:lnTo>
                  <a:pt x="0" y="20215"/>
                </a:lnTo>
                <a:lnTo>
                  <a:pt x="18679" y="17134"/>
                </a:lnTo>
                <a:close/>
              </a:path>
            </a:pathLst>
          </a:custGeom>
          <a:solidFill>
            <a:srgbClr val="f2c8ad"/>
          </a:solidFill>
          <a:ln w="6191">
            <a:solidFill>
              <a:srgbClr val="b7633d"/>
            </a:solidFill>
            <a:round/>
          </a:ln>
        </p:spPr>
        <p:style>
          <a:lnRef idx="0"/>
          <a:fillRef idx="0"/>
          <a:effectRef idx="0"/>
          <a:fontRef idx="minor"/>
        </p:style>
        <p:txBody>
          <a:bodyPr lIns="90000" rIns="90000" tIns="-25200" bIns="-25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30" name="ไทรคู่"/>
          <p:cNvSpPr/>
          <p:nvPr/>
        </p:nvSpPr>
        <p:spPr>
          <a:xfrm>
            <a:off x="5447880" y="4487400"/>
            <a:ext cx="27360" cy="21600"/>
          </a:xfrm>
          <a:custGeom>
            <a:avLst/>
            <a:gdLst/>
            <a:ahLst/>
            <a:rect l="l" t="t" r="r" b="b"/>
            <a:pathLst>
              <a:path w="27899" h="22064">
                <a:moveTo>
                  <a:pt x="1197" y="22064"/>
                </a:moveTo>
                <a:lnTo>
                  <a:pt x="19398" y="14299"/>
                </a:lnTo>
                <a:lnTo>
                  <a:pt x="20356" y="16148"/>
                </a:lnTo>
                <a:lnTo>
                  <a:pt x="21912" y="15285"/>
                </a:lnTo>
                <a:lnTo>
                  <a:pt x="27899" y="0"/>
                </a:lnTo>
                <a:lnTo>
                  <a:pt x="8023" y="2958"/>
                </a:lnTo>
                <a:lnTo>
                  <a:pt x="3712" y="9861"/>
                </a:lnTo>
                <a:lnTo>
                  <a:pt x="0" y="21695"/>
                </a:lnTo>
                <a:lnTo>
                  <a:pt x="1197" y="22064"/>
                </a:lnTo>
                <a:close/>
              </a:path>
            </a:pathLst>
          </a:custGeom>
          <a:solidFill>
            <a:srgbClr val="f2c8ad"/>
          </a:solidFill>
          <a:ln w="6191">
            <a:solidFill>
              <a:srgbClr val="b7633d"/>
            </a:solidFill>
            <a:round/>
          </a:ln>
        </p:spPr>
        <p:style>
          <a:lnRef idx="0"/>
          <a:fillRef idx="0"/>
          <a:effectRef idx="0"/>
          <a:fontRef idx="minor"/>
        </p:style>
        <p:txBody>
          <a:bodyPr lIns="90000" rIns="90000" tIns="-23400" bIns="-234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31" name="เชิงสะพานกรุงเทพ"/>
          <p:cNvSpPr/>
          <p:nvPr/>
        </p:nvSpPr>
        <p:spPr>
          <a:xfrm>
            <a:off x="4851720" y="6047280"/>
            <a:ext cx="45000" cy="40320"/>
          </a:xfrm>
          <a:custGeom>
            <a:avLst/>
            <a:gdLst/>
            <a:ahLst/>
            <a:rect l="l" t="t" r="r" b="b"/>
            <a:pathLst>
              <a:path w="45501" h="40677">
                <a:moveTo>
                  <a:pt x="0" y="23420"/>
                </a:moveTo>
                <a:lnTo>
                  <a:pt x="36760" y="40677"/>
                </a:lnTo>
                <a:lnTo>
                  <a:pt x="45501" y="20708"/>
                </a:lnTo>
                <a:lnTo>
                  <a:pt x="26463" y="0"/>
                </a:lnTo>
                <a:lnTo>
                  <a:pt x="19757" y="6533"/>
                </a:lnTo>
                <a:lnTo>
                  <a:pt x="15806" y="6533"/>
                </a:lnTo>
                <a:lnTo>
                  <a:pt x="0" y="23420"/>
                </a:lnTo>
                <a:close/>
              </a:path>
            </a:pathLst>
          </a:custGeom>
          <a:solidFill>
            <a:srgbClr val="f2c8ad"/>
          </a:solidFill>
          <a:ln w="6191">
            <a:solidFill>
              <a:srgbClr val="b7633d"/>
            </a:solidFill>
            <a:round/>
          </a:ln>
        </p:spPr>
        <p:style>
          <a:lnRef idx="0"/>
          <a:fillRef idx="0"/>
          <a:effectRef idx="0"/>
          <a:fontRef idx="minor"/>
        </p:style>
        <p:txBody>
          <a:bodyPr lIns="90000" rIns="90000" tIns="-4680" bIns="-4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32" name="วัดอินทร์บรรจง"/>
          <p:cNvSpPr/>
          <p:nvPr/>
        </p:nvSpPr>
        <p:spPr>
          <a:xfrm>
            <a:off x="4858200" y="6069240"/>
            <a:ext cx="74520" cy="79920"/>
          </a:xfrm>
          <a:custGeom>
            <a:avLst/>
            <a:gdLst/>
            <a:ahLst/>
            <a:rect l="l" t="t" r="r" b="b"/>
            <a:pathLst>
              <a:path w="74718" h="80245">
                <a:moveTo>
                  <a:pt x="54721" y="80245"/>
                </a:moveTo>
                <a:lnTo>
                  <a:pt x="66695" y="49429"/>
                </a:lnTo>
                <a:lnTo>
                  <a:pt x="71485" y="47210"/>
                </a:lnTo>
                <a:lnTo>
                  <a:pt x="74718" y="37966"/>
                </a:lnTo>
                <a:lnTo>
                  <a:pt x="40831" y="0"/>
                </a:lnTo>
                <a:lnTo>
                  <a:pt x="30893" y="17873"/>
                </a:lnTo>
                <a:lnTo>
                  <a:pt x="28738" y="25023"/>
                </a:lnTo>
                <a:lnTo>
                  <a:pt x="29336" y="29460"/>
                </a:lnTo>
                <a:lnTo>
                  <a:pt x="7424" y="44252"/>
                </a:lnTo>
                <a:lnTo>
                  <a:pt x="0" y="54853"/>
                </a:lnTo>
                <a:lnTo>
                  <a:pt x="10298" y="63974"/>
                </a:lnTo>
                <a:lnTo>
                  <a:pt x="54721" y="80245"/>
                </a:lnTo>
                <a:close/>
              </a:path>
            </a:pathLst>
          </a:custGeom>
          <a:solidFill>
            <a:srgbClr val="f2c8ad"/>
          </a:solidFill>
          <a:ln w="6191">
            <a:solidFill>
              <a:srgbClr val="b7633d"/>
            </a:solidFill>
            <a:round/>
          </a:ln>
        </p:spPr>
        <p:style>
          <a:lnRef idx="0"/>
          <a:fillRef idx="0"/>
          <a:effectRef idx="0"/>
          <a:fontRef idx="minor"/>
        </p:style>
        <p:txBody>
          <a:bodyPr lIns="90000" rIns="90000" tIns="34920" bIns="349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33" name="เซ่งกี่"/>
          <p:cNvSpPr/>
          <p:nvPr/>
        </p:nvSpPr>
        <p:spPr>
          <a:xfrm>
            <a:off x="4886280" y="5982840"/>
            <a:ext cx="19080" cy="10800"/>
          </a:xfrm>
          <a:custGeom>
            <a:avLst/>
            <a:gdLst/>
            <a:ahLst/>
            <a:rect l="l" t="t" r="r" b="b"/>
            <a:pathLst>
              <a:path w="19398" h="11217">
                <a:moveTo>
                  <a:pt x="19398" y="8998"/>
                </a:moveTo>
                <a:lnTo>
                  <a:pt x="9459" y="0"/>
                </a:lnTo>
                <a:lnTo>
                  <a:pt x="5269" y="3821"/>
                </a:lnTo>
                <a:lnTo>
                  <a:pt x="1796" y="1602"/>
                </a:lnTo>
                <a:lnTo>
                  <a:pt x="0" y="4561"/>
                </a:lnTo>
                <a:lnTo>
                  <a:pt x="11136" y="10108"/>
                </a:lnTo>
                <a:lnTo>
                  <a:pt x="12094" y="8382"/>
                </a:lnTo>
                <a:lnTo>
                  <a:pt x="18200" y="11217"/>
                </a:lnTo>
                <a:lnTo>
                  <a:pt x="19398" y="8998"/>
                </a:lnTo>
                <a:close/>
              </a:path>
            </a:pathLst>
          </a:custGeom>
          <a:solidFill>
            <a:srgbClr val="f2c8ad"/>
          </a:solidFill>
          <a:ln w="6191">
            <a:solidFill>
              <a:srgbClr val="b7633d"/>
            </a:solidFill>
            <a:round/>
          </a:ln>
        </p:spPr>
        <p:style>
          <a:lnRef idx="0"/>
          <a:fillRef idx="0"/>
          <a:effectRef idx="0"/>
          <a:fontRef idx="minor"/>
        </p:style>
        <p:txBody>
          <a:bodyPr lIns="90000" rIns="90000" tIns="-34200" bIns="-342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34" name="ชุมชนชวาลา"/>
          <p:cNvSpPr/>
          <p:nvPr/>
        </p:nvSpPr>
        <p:spPr>
          <a:xfrm>
            <a:off x="6042240" y="5535000"/>
            <a:ext cx="28440" cy="12960"/>
          </a:xfrm>
          <a:custGeom>
            <a:avLst/>
            <a:gdLst/>
            <a:ahLst/>
            <a:rect l="l" t="t" r="r" b="b"/>
            <a:pathLst>
              <a:path w="28977" h="13189">
                <a:moveTo>
                  <a:pt x="28977" y="13189"/>
                </a:moveTo>
                <a:lnTo>
                  <a:pt x="27660" y="3821"/>
                </a:lnTo>
                <a:lnTo>
                  <a:pt x="14967" y="986"/>
                </a:lnTo>
                <a:lnTo>
                  <a:pt x="8861" y="1602"/>
                </a:lnTo>
                <a:lnTo>
                  <a:pt x="6586" y="0"/>
                </a:lnTo>
                <a:lnTo>
                  <a:pt x="0" y="863"/>
                </a:lnTo>
                <a:lnTo>
                  <a:pt x="359" y="3328"/>
                </a:lnTo>
                <a:lnTo>
                  <a:pt x="3113" y="3821"/>
                </a:lnTo>
                <a:lnTo>
                  <a:pt x="24786" y="5054"/>
                </a:lnTo>
                <a:lnTo>
                  <a:pt x="28977" y="13189"/>
                </a:lnTo>
                <a:close/>
              </a:path>
            </a:pathLst>
          </a:custGeom>
          <a:solidFill>
            <a:srgbClr val="f2c8ad"/>
          </a:solidFill>
          <a:ln w="6191">
            <a:solidFill>
              <a:srgbClr val="b7633d"/>
            </a:solidFill>
            <a:round/>
          </a:ln>
        </p:spPr>
        <p:style>
          <a:lnRef idx="0"/>
          <a:fillRef idx="0"/>
          <a:effectRef idx="0"/>
          <a:fontRef idx="minor"/>
        </p:style>
        <p:txBody>
          <a:bodyPr lIns="90000" rIns="90000" tIns="-32040" bIns="-32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35" name="พัฒนาบ้านสามอิน"/>
          <p:cNvSpPr/>
          <p:nvPr/>
        </p:nvSpPr>
        <p:spPr>
          <a:xfrm>
            <a:off x="6057360" y="5595120"/>
            <a:ext cx="43200" cy="91080"/>
          </a:xfrm>
          <a:custGeom>
            <a:avLst/>
            <a:gdLst/>
            <a:ahLst/>
            <a:rect l="l" t="t" r="r" b="b"/>
            <a:pathLst>
              <a:path w="43705" h="91339">
                <a:moveTo>
                  <a:pt x="36521" y="51894"/>
                </a:moveTo>
                <a:lnTo>
                  <a:pt x="36640" y="35993"/>
                </a:lnTo>
                <a:lnTo>
                  <a:pt x="31851" y="35993"/>
                </a:lnTo>
                <a:lnTo>
                  <a:pt x="31492" y="0"/>
                </a:lnTo>
                <a:lnTo>
                  <a:pt x="15686" y="1726"/>
                </a:lnTo>
                <a:lnTo>
                  <a:pt x="1916" y="56332"/>
                </a:lnTo>
                <a:lnTo>
                  <a:pt x="0" y="69398"/>
                </a:lnTo>
                <a:lnTo>
                  <a:pt x="9699" y="70754"/>
                </a:lnTo>
                <a:lnTo>
                  <a:pt x="8980" y="76301"/>
                </a:lnTo>
                <a:lnTo>
                  <a:pt x="15207" y="77657"/>
                </a:lnTo>
                <a:lnTo>
                  <a:pt x="14608" y="90476"/>
                </a:lnTo>
                <a:lnTo>
                  <a:pt x="25265" y="91339"/>
                </a:lnTo>
                <a:lnTo>
                  <a:pt x="25984" y="85916"/>
                </a:lnTo>
                <a:lnTo>
                  <a:pt x="24068" y="85422"/>
                </a:lnTo>
                <a:lnTo>
                  <a:pt x="24906" y="81355"/>
                </a:lnTo>
                <a:lnTo>
                  <a:pt x="26223" y="81601"/>
                </a:lnTo>
                <a:lnTo>
                  <a:pt x="27061" y="74822"/>
                </a:lnTo>
                <a:lnTo>
                  <a:pt x="26103" y="68658"/>
                </a:lnTo>
                <a:lnTo>
                  <a:pt x="29336" y="68289"/>
                </a:lnTo>
                <a:lnTo>
                  <a:pt x="28977" y="66933"/>
                </a:lnTo>
                <a:lnTo>
                  <a:pt x="32928" y="65577"/>
                </a:lnTo>
                <a:lnTo>
                  <a:pt x="37000" y="59907"/>
                </a:lnTo>
                <a:lnTo>
                  <a:pt x="43705" y="56948"/>
                </a:lnTo>
                <a:lnTo>
                  <a:pt x="43585" y="51278"/>
                </a:lnTo>
                <a:lnTo>
                  <a:pt x="36521" y="51894"/>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36" name="หลัง สน.ทองหล่อ"/>
          <p:cNvSpPr/>
          <p:nvPr/>
        </p:nvSpPr>
        <p:spPr>
          <a:xfrm>
            <a:off x="5913000" y="5564520"/>
            <a:ext cx="27360" cy="7920"/>
          </a:xfrm>
          <a:custGeom>
            <a:avLst/>
            <a:gdLst/>
            <a:ahLst/>
            <a:rect l="l" t="t" r="r" b="b"/>
            <a:pathLst>
              <a:path w="27899" h="8135">
                <a:moveTo>
                  <a:pt x="4670" y="493"/>
                </a:moveTo>
                <a:lnTo>
                  <a:pt x="0" y="0"/>
                </a:lnTo>
                <a:lnTo>
                  <a:pt x="27899" y="8135"/>
                </a:lnTo>
                <a:lnTo>
                  <a:pt x="4670" y="493"/>
                </a:lnTo>
                <a:close/>
              </a:path>
            </a:pathLst>
          </a:custGeom>
          <a:solidFill>
            <a:srgbClr val="f2c8ad"/>
          </a:solidFill>
          <a:ln w="6191">
            <a:solidFill>
              <a:srgbClr val="b7633d"/>
            </a:solidFill>
            <a:round/>
          </a:ln>
        </p:spPr>
        <p:style>
          <a:lnRef idx="0"/>
          <a:fillRef idx="0"/>
          <a:effectRef idx="0"/>
          <a:fontRef idx="minor"/>
        </p:style>
        <p:txBody>
          <a:bodyPr lIns="90000" rIns="90000" tIns="-37080" bIns="-37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37" name="คลองเป้ง (ลีลานุช)"/>
          <p:cNvSpPr/>
          <p:nvPr/>
        </p:nvSpPr>
        <p:spPr>
          <a:xfrm>
            <a:off x="5947200" y="5538240"/>
            <a:ext cx="12240" cy="25200"/>
          </a:xfrm>
          <a:custGeom>
            <a:avLst/>
            <a:gdLst/>
            <a:ahLst/>
            <a:rect l="l" t="t" r="r" b="b"/>
            <a:pathLst>
              <a:path w="12692" h="25516">
                <a:moveTo>
                  <a:pt x="1437" y="25516"/>
                </a:moveTo>
                <a:lnTo>
                  <a:pt x="6466" y="18613"/>
                </a:lnTo>
                <a:lnTo>
                  <a:pt x="10417" y="8752"/>
                </a:lnTo>
                <a:lnTo>
                  <a:pt x="8980" y="7889"/>
                </a:lnTo>
                <a:lnTo>
                  <a:pt x="12692" y="493"/>
                </a:lnTo>
                <a:lnTo>
                  <a:pt x="11256" y="0"/>
                </a:lnTo>
                <a:lnTo>
                  <a:pt x="6466" y="9861"/>
                </a:lnTo>
                <a:lnTo>
                  <a:pt x="0" y="25023"/>
                </a:lnTo>
                <a:lnTo>
                  <a:pt x="1437" y="25516"/>
                </a:lnTo>
                <a:close/>
              </a:path>
            </a:pathLst>
          </a:custGeom>
          <a:solidFill>
            <a:srgbClr val="f2c8ad"/>
          </a:solidFill>
          <a:ln w="6191">
            <a:solidFill>
              <a:srgbClr val="b7633d"/>
            </a:solidFill>
            <a:round/>
          </a:ln>
        </p:spPr>
        <p:style>
          <a:lnRef idx="0"/>
          <a:fillRef idx="0"/>
          <a:effectRef idx="0"/>
          <a:fontRef idx="minor"/>
        </p:style>
        <p:txBody>
          <a:bodyPr lIns="90000" rIns="90000" tIns="-19800" bIns="-198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38" name="ข้าวธนาคารศรีนคร(มีสุวรรณ 3)"/>
          <p:cNvSpPr/>
          <p:nvPr/>
        </p:nvSpPr>
        <p:spPr>
          <a:xfrm>
            <a:off x="6075000" y="5759280"/>
            <a:ext cx="32400" cy="63000"/>
          </a:xfrm>
          <a:custGeom>
            <a:avLst/>
            <a:gdLst/>
            <a:ahLst/>
            <a:rect l="l" t="t" r="r" b="b"/>
            <a:pathLst>
              <a:path w="32928" h="63235">
                <a:moveTo>
                  <a:pt x="20236" y="63235"/>
                </a:moveTo>
                <a:lnTo>
                  <a:pt x="26822" y="55099"/>
                </a:lnTo>
                <a:lnTo>
                  <a:pt x="30414" y="56332"/>
                </a:lnTo>
                <a:lnTo>
                  <a:pt x="32928" y="55099"/>
                </a:lnTo>
                <a:lnTo>
                  <a:pt x="31492" y="52881"/>
                </a:lnTo>
                <a:lnTo>
                  <a:pt x="27540" y="51894"/>
                </a:lnTo>
                <a:lnTo>
                  <a:pt x="31731" y="47950"/>
                </a:lnTo>
                <a:lnTo>
                  <a:pt x="23349" y="43143"/>
                </a:lnTo>
                <a:lnTo>
                  <a:pt x="21194" y="45978"/>
                </a:lnTo>
                <a:lnTo>
                  <a:pt x="16165" y="40677"/>
                </a:lnTo>
                <a:lnTo>
                  <a:pt x="27301" y="30200"/>
                </a:lnTo>
                <a:lnTo>
                  <a:pt x="22751" y="15408"/>
                </a:lnTo>
                <a:lnTo>
                  <a:pt x="23349" y="0"/>
                </a:lnTo>
                <a:lnTo>
                  <a:pt x="5748" y="1726"/>
                </a:lnTo>
                <a:lnTo>
                  <a:pt x="6705" y="8998"/>
                </a:lnTo>
                <a:lnTo>
                  <a:pt x="3592" y="8998"/>
                </a:lnTo>
                <a:lnTo>
                  <a:pt x="3592" y="11094"/>
                </a:lnTo>
                <a:lnTo>
                  <a:pt x="6586" y="11340"/>
                </a:lnTo>
                <a:lnTo>
                  <a:pt x="7424" y="17134"/>
                </a:lnTo>
                <a:lnTo>
                  <a:pt x="5508" y="17627"/>
                </a:lnTo>
                <a:lnTo>
                  <a:pt x="6945" y="23667"/>
                </a:lnTo>
                <a:lnTo>
                  <a:pt x="1197" y="25639"/>
                </a:lnTo>
                <a:lnTo>
                  <a:pt x="3353" y="33281"/>
                </a:lnTo>
                <a:lnTo>
                  <a:pt x="7304" y="39568"/>
                </a:lnTo>
                <a:lnTo>
                  <a:pt x="1197" y="42033"/>
                </a:lnTo>
                <a:lnTo>
                  <a:pt x="0" y="48690"/>
                </a:lnTo>
                <a:lnTo>
                  <a:pt x="6226" y="52511"/>
                </a:lnTo>
                <a:lnTo>
                  <a:pt x="7184" y="55469"/>
                </a:lnTo>
                <a:lnTo>
                  <a:pt x="10058" y="57565"/>
                </a:lnTo>
                <a:lnTo>
                  <a:pt x="11016" y="56209"/>
                </a:lnTo>
                <a:lnTo>
                  <a:pt x="14848" y="59660"/>
                </a:lnTo>
                <a:lnTo>
                  <a:pt x="13890" y="60523"/>
                </a:lnTo>
                <a:lnTo>
                  <a:pt x="14848" y="61756"/>
                </a:lnTo>
                <a:lnTo>
                  <a:pt x="17243" y="60523"/>
                </a:lnTo>
                <a:lnTo>
                  <a:pt x="20236" y="63235"/>
                </a:lnTo>
                <a:close/>
              </a:path>
            </a:pathLst>
          </a:custGeom>
          <a:solidFill>
            <a:srgbClr val="f2c8ad"/>
          </a:solidFill>
          <a:ln w="6191">
            <a:solidFill>
              <a:srgbClr val="b7633d"/>
            </a:solidFill>
            <a:round/>
          </a:ln>
        </p:spPr>
        <p:style>
          <a:lnRef idx="0"/>
          <a:fillRef idx="0"/>
          <a:effectRef idx="0"/>
          <a:fontRef idx="minor"/>
        </p:style>
        <p:txBody>
          <a:bodyPr lIns="90000" rIns="90000" tIns="18000" bIns="18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39" name="ร่วมใจรักคลองเปรมประชากร"/>
          <p:cNvSpPr/>
          <p:nvPr/>
        </p:nvSpPr>
        <p:spPr>
          <a:xfrm>
            <a:off x="6171480" y="2969280"/>
            <a:ext cx="19080" cy="109440"/>
          </a:xfrm>
          <a:custGeom>
            <a:avLst/>
            <a:gdLst/>
            <a:ahLst/>
            <a:rect l="l" t="t" r="r" b="b"/>
            <a:pathLst>
              <a:path w="19518" h="109706">
                <a:moveTo>
                  <a:pt x="120" y="0"/>
                </a:moveTo>
                <a:lnTo>
                  <a:pt x="3832" y="27365"/>
                </a:lnTo>
                <a:lnTo>
                  <a:pt x="0" y="27981"/>
                </a:lnTo>
                <a:lnTo>
                  <a:pt x="8262" y="84683"/>
                </a:lnTo>
                <a:lnTo>
                  <a:pt x="11854" y="87641"/>
                </a:lnTo>
                <a:lnTo>
                  <a:pt x="14489" y="109706"/>
                </a:lnTo>
                <a:lnTo>
                  <a:pt x="18560" y="109706"/>
                </a:lnTo>
                <a:lnTo>
                  <a:pt x="19518" y="107610"/>
                </a:lnTo>
                <a:lnTo>
                  <a:pt x="16045" y="85546"/>
                </a:lnTo>
                <a:lnTo>
                  <a:pt x="17602" y="85299"/>
                </a:lnTo>
                <a:lnTo>
                  <a:pt x="16883" y="79259"/>
                </a:lnTo>
                <a:lnTo>
                  <a:pt x="14249" y="79752"/>
                </a:lnTo>
                <a:lnTo>
                  <a:pt x="7304" y="32788"/>
                </a:lnTo>
                <a:lnTo>
                  <a:pt x="6705" y="29584"/>
                </a:lnTo>
                <a:lnTo>
                  <a:pt x="3951" y="27242"/>
                </a:lnTo>
                <a:lnTo>
                  <a:pt x="120" y="0"/>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40" name="ร่วมใจรักคลองเปรมประชากร"/>
          <p:cNvSpPr/>
          <p:nvPr/>
        </p:nvSpPr>
        <p:spPr>
          <a:xfrm>
            <a:off x="6159600" y="2879280"/>
            <a:ext cx="9720" cy="58680"/>
          </a:xfrm>
          <a:custGeom>
            <a:avLst/>
            <a:gdLst/>
            <a:ahLst/>
            <a:rect l="l" t="t" r="r" b="b"/>
            <a:pathLst>
              <a:path w="9938" h="58921">
                <a:moveTo>
                  <a:pt x="1078" y="0"/>
                </a:moveTo>
                <a:lnTo>
                  <a:pt x="0" y="123"/>
                </a:lnTo>
                <a:lnTo>
                  <a:pt x="2634" y="26625"/>
                </a:lnTo>
                <a:lnTo>
                  <a:pt x="7663" y="58921"/>
                </a:lnTo>
                <a:lnTo>
                  <a:pt x="9938" y="58551"/>
                </a:lnTo>
                <a:lnTo>
                  <a:pt x="1078" y="0"/>
                </a:lnTo>
                <a:close/>
              </a:path>
            </a:pathLst>
          </a:custGeom>
          <a:solidFill>
            <a:srgbClr val="f2c8ad"/>
          </a:solidFill>
          <a:ln w="6191">
            <a:solidFill>
              <a:srgbClr val="b7633d"/>
            </a:solidFill>
            <a:round/>
          </a:ln>
        </p:spPr>
        <p:style>
          <a:lnRef idx="0"/>
          <a:fillRef idx="0"/>
          <a:effectRef idx="0"/>
          <a:fontRef idx="minor"/>
        </p:style>
        <p:txBody>
          <a:bodyPr lIns="90000" rIns="90000" tIns="13680" bIns="136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41" name="ร่วมใจรักคลองเปรมประชากร"/>
          <p:cNvSpPr/>
          <p:nvPr/>
        </p:nvSpPr>
        <p:spPr>
          <a:xfrm>
            <a:off x="6167880" y="2942640"/>
            <a:ext cx="3240" cy="26280"/>
          </a:xfrm>
          <a:custGeom>
            <a:avLst/>
            <a:gdLst/>
            <a:ahLst/>
            <a:rect l="l" t="t" r="r" b="b"/>
            <a:pathLst>
              <a:path w="3712" h="26748">
                <a:moveTo>
                  <a:pt x="0" y="0"/>
                </a:moveTo>
                <a:lnTo>
                  <a:pt x="3712" y="26748"/>
                </a:lnTo>
                <a:lnTo>
                  <a:pt x="838" y="5424"/>
                </a:lnTo>
                <a:lnTo>
                  <a:pt x="0" y="0"/>
                </a:lnTo>
                <a:close/>
              </a:path>
            </a:pathLst>
          </a:custGeom>
          <a:solidFill>
            <a:srgbClr val="f2c8ad"/>
          </a:solidFill>
          <a:ln w="6191">
            <a:solidFill>
              <a:srgbClr val="b7633d"/>
            </a:solidFill>
            <a:round/>
          </a:ln>
        </p:spPr>
        <p:style>
          <a:lnRef idx="0"/>
          <a:fillRef idx="0"/>
          <a:effectRef idx="0"/>
          <a:fontRef idx="minor"/>
        </p:style>
        <p:txBody>
          <a:bodyPr lIns="90000" rIns="90000" tIns="-18720" bIns="-187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42" name="ศิลปเดช"/>
          <p:cNvSpPr/>
          <p:nvPr/>
        </p:nvSpPr>
        <p:spPr>
          <a:xfrm>
            <a:off x="4572360" y="5991840"/>
            <a:ext cx="68040" cy="42120"/>
          </a:xfrm>
          <a:custGeom>
            <a:avLst/>
            <a:gdLst/>
            <a:ahLst/>
            <a:rect l="l" t="t" r="r" b="b"/>
            <a:pathLst>
              <a:path w="68491" h="42403">
                <a:moveTo>
                  <a:pt x="0" y="34637"/>
                </a:moveTo>
                <a:lnTo>
                  <a:pt x="8502" y="26379"/>
                </a:lnTo>
                <a:lnTo>
                  <a:pt x="13171" y="30446"/>
                </a:lnTo>
                <a:lnTo>
                  <a:pt x="18919" y="32049"/>
                </a:lnTo>
                <a:lnTo>
                  <a:pt x="21912" y="29090"/>
                </a:lnTo>
                <a:lnTo>
                  <a:pt x="26463" y="33405"/>
                </a:lnTo>
                <a:lnTo>
                  <a:pt x="24427" y="36610"/>
                </a:lnTo>
                <a:lnTo>
                  <a:pt x="29695" y="42403"/>
                </a:lnTo>
                <a:lnTo>
                  <a:pt x="35323" y="37596"/>
                </a:lnTo>
                <a:lnTo>
                  <a:pt x="38915" y="39938"/>
                </a:lnTo>
                <a:lnTo>
                  <a:pt x="56517" y="24653"/>
                </a:lnTo>
                <a:lnTo>
                  <a:pt x="68491" y="18366"/>
                </a:lnTo>
                <a:lnTo>
                  <a:pt x="66096" y="8875"/>
                </a:lnTo>
                <a:lnTo>
                  <a:pt x="59750" y="10724"/>
                </a:lnTo>
                <a:lnTo>
                  <a:pt x="56278" y="493"/>
                </a:lnTo>
                <a:lnTo>
                  <a:pt x="33407" y="8505"/>
                </a:lnTo>
                <a:lnTo>
                  <a:pt x="29336" y="3575"/>
                </a:lnTo>
                <a:lnTo>
                  <a:pt x="26702" y="7149"/>
                </a:lnTo>
                <a:lnTo>
                  <a:pt x="21553" y="2712"/>
                </a:lnTo>
                <a:lnTo>
                  <a:pt x="14608" y="0"/>
                </a:lnTo>
                <a:lnTo>
                  <a:pt x="6466" y="19229"/>
                </a:lnTo>
                <a:lnTo>
                  <a:pt x="11016" y="21818"/>
                </a:lnTo>
                <a:lnTo>
                  <a:pt x="0" y="34637"/>
                </a:lnTo>
                <a:close/>
              </a:path>
            </a:pathLst>
          </a:custGeom>
          <a:solidFill>
            <a:srgbClr val="f2c8ad"/>
          </a:solidFill>
          <a:ln w="6191">
            <a:solidFill>
              <a:srgbClr val="b7633d"/>
            </a:solidFill>
            <a:round/>
          </a:ln>
        </p:spPr>
        <p:style>
          <a:lnRef idx="0"/>
          <a:fillRef idx="0"/>
          <a:effectRef idx="0"/>
          <a:fontRef idx="minor"/>
        </p:style>
        <p:txBody>
          <a:bodyPr lIns="90000" rIns="90000" tIns="-2880" bIns="-2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43" name="สุขศิริ"/>
          <p:cNvSpPr/>
          <p:nvPr/>
        </p:nvSpPr>
        <p:spPr>
          <a:xfrm>
            <a:off x="4458960" y="5924520"/>
            <a:ext cx="10080" cy="21960"/>
          </a:xfrm>
          <a:custGeom>
            <a:avLst/>
            <a:gdLst/>
            <a:ahLst/>
            <a:rect l="l" t="t" r="r" b="b"/>
            <a:pathLst>
              <a:path w="10537" h="22311">
                <a:moveTo>
                  <a:pt x="2515" y="0"/>
                </a:moveTo>
                <a:lnTo>
                  <a:pt x="1916" y="7396"/>
                </a:lnTo>
                <a:lnTo>
                  <a:pt x="479" y="7519"/>
                </a:lnTo>
                <a:lnTo>
                  <a:pt x="0" y="18860"/>
                </a:lnTo>
                <a:lnTo>
                  <a:pt x="7424" y="22311"/>
                </a:lnTo>
                <a:lnTo>
                  <a:pt x="9340" y="17380"/>
                </a:lnTo>
                <a:lnTo>
                  <a:pt x="10537" y="2342"/>
                </a:lnTo>
                <a:lnTo>
                  <a:pt x="2515" y="0"/>
                </a:lnTo>
                <a:close/>
              </a:path>
            </a:pathLst>
          </a:custGeom>
          <a:solidFill>
            <a:srgbClr val="f2c8ad"/>
          </a:solidFill>
          <a:ln w="6191">
            <a:solidFill>
              <a:srgbClr val="b7633d"/>
            </a:solidFill>
            <a:round/>
          </a:ln>
        </p:spPr>
        <p:style>
          <a:lnRef idx="0"/>
          <a:fillRef idx="0"/>
          <a:effectRef idx="0"/>
          <a:fontRef idx="minor"/>
        </p:style>
        <p:txBody>
          <a:bodyPr lIns="90000" rIns="90000" tIns="-23040" bIns="-230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44" name="ชุมชนวัดดอนเมืองด้านเหนือ"/>
          <p:cNvSpPr/>
          <p:nvPr/>
        </p:nvSpPr>
        <p:spPr>
          <a:xfrm>
            <a:off x="6114600" y="3183480"/>
            <a:ext cx="36720" cy="72000"/>
          </a:xfrm>
          <a:custGeom>
            <a:avLst/>
            <a:gdLst/>
            <a:ahLst/>
            <a:rect l="l" t="t" r="r" b="b"/>
            <a:pathLst>
              <a:path w="37119" h="72356">
                <a:moveTo>
                  <a:pt x="34964" y="0"/>
                </a:moveTo>
                <a:lnTo>
                  <a:pt x="0" y="65947"/>
                </a:lnTo>
                <a:lnTo>
                  <a:pt x="16644" y="72356"/>
                </a:lnTo>
                <a:lnTo>
                  <a:pt x="22990" y="60893"/>
                </a:lnTo>
                <a:lnTo>
                  <a:pt x="7903" y="54483"/>
                </a:lnTo>
                <a:lnTo>
                  <a:pt x="37119" y="1109"/>
                </a:lnTo>
                <a:lnTo>
                  <a:pt x="34964" y="0"/>
                </a:lnTo>
                <a:close/>
              </a:path>
            </a:pathLst>
          </a:custGeom>
          <a:solidFill>
            <a:srgbClr val="f2c8ad"/>
          </a:solidFill>
          <a:ln w="6191">
            <a:solidFill>
              <a:srgbClr val="b7633d"/>
            </a:solidFill>
            <a:round/>
          </a:ln>
        </p:spPr>
        <p:style>
          <a:lnRef idx="0"/>
          <a:fillRef idx="0"/>
          <a:effectRef idx="0"/>
          <a:fontRef idx="minor"/>
        </p:style>
        <p:txBody>
          <a:bodyPr lIns="90000" rIns="90000" tIns="27000" bIns="27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45" name="ป้าแดงพัฒนา1"/>
          <p:cNvSpPr/>
          <p:nvPr/>
        </p:nvSpPr>
        <p:spPr>
          <a:xfrm>
            <a:off x="4619520" y="6253920"/>
            <a:ext cx="14040" cy="15120"/>
          </a:xfrm>
          <a:custGeom>
            <a:avLst/>
            <a:gdLst/>
            <a:ahLst/>
            <a:rect l="l" t="t" r="r" b="b"/>
            <a:pathLst>
              <a:path w="14369" h="15655">
                <a:moveTo>
                  <a:pt x="2874" y="7889"/>
                </a:moveTo>
                <a:lnTo>
                  <a:pt x="6945" y="15655"/>
                </a:lnTo>
                <a:lnTo>
                  <a:pt x="14369" y="12573"/>
                </a:lnTo>
                <a:lnTo>
                  <a:pt x="11495" y="0"/>
                </a:lnTo>
                <a:lnTo>
                  <a:pt x="0" y="2219"/>
                </a:lnTo>
                <a:lnTo>
                  <a:pt x="2874" y="7889"/>
                </a:lnTo>
                <a:close/>
              </a:path>
            </a:pathLst>
          </a:custGeom>
          <a:solidFill>
            <a:srgbClr val="f2c8ad"/>
          </a:solidFill>
          <a:ln w="6191">
            <a:solidFill>
              <a:srgbClr val="b7633d"/>
            </a:solidFill>
            <a:round/>
          </a:ln>
        </p:spPr>
        <p:style>
          <a:lnRef idx="0"/>
          <a:fillRef idx="0"/>
          <a:effectRef idx="0"/>
          <a:fontRef idx="minor"/>
        </p:style>
        <p:txBody>
          <a:bodyPr lIns="90000" rIns="90000" tIns="-29880" bIns="-29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46" name="พรหมสัมฤทธิ์"/>
          <p:cNvSpPr/>
          <p:nvPr/>
        </p:nvSpPr>
        <p:spPr>
          <a:xfrm>
            <a:off x="6144120" y="3056040"/>
            <a:ext cx="40680" cy="128880"/>
          </a:xfrm>
          <a:custGeom>
            <a:avLst/>
            <a:gdLst/>
            <a:ahLst/>
            <a:rect l="l" t="t" r="r" b="b"/>
            <a:pathLst>
              <a:path w="40951" h="129181">
                <a:moveTo>
                  <a:pt x="2754" y="129181"/>
                </a:moveTo>
                <a:lnTo>
                  <a:pt x="38436" y="63112"/>
                </a:lnTo>
                <a:lnTo>
                  <a:pt x="40951" y="54113"/>
                </a:lnTo>
                <a:lnTo>
                  <a:pt x="40472" y="17627"/>
                </a:lnTo>
                <a:lnTo>
                  <a:pt x="37718" y="0"/>
                </a:lnTo>
                <a:lnTo>
                  <a:pt x="29695" y="247"/>
                </a:lnTo>
                <a:lnTo>
                  <a:pt x="31372" y="31186"/>
                </a:lnTo>
                <a:lnTo>
                  <a:pt x="33288" y="31679"/>
                </a:lnTo>
                <a:lnTo>
                  <a:pt x="33048" y="34637"/>
                </a:lnTo>
                <a:lnTo>
                  <a:pt x="38197" y="36856"/>
                </a:lnTo>
                <a:lnTo>
                  <a:pt x="37479" y="42650"/>
                </a:lnTo>
                <a:lnTo>
                  <a:pt x="36042" y="42403"/>
                </a:lnTo>
                <a:lnTo>
                  <a:pt x="34365" y="48443"/>
                </a:lnTo>
                <a:lnTo>
                  <a:pt x="29336" y="56579"/>
                </a:lnTo>
                <a:lnTo>
                  <a:pt x="33647" y="59660"/>
                </a:lnTo>
                <a:lnTo>
                  <a:pt x="23708" y="83573"/>
                </a:lnTo>
                <a:lnTo>
                  <a:pt x="0" y="128442"/>
                </a:lnTo>
                <a:lnTo>
                  <a:pt x="2754" y="129181"/>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47" name="ร่วมพัฒนา"/>
          <p:cNvSpPr/>
          <p:nvPr/>
        </p:nvSpPr>
        <p:spPr>
          <a:xfrm>
            <a:off x="6149880" y="3079080"/>
            <a:ext cx="44280" cy="105120"/>
          </a:xfrm>
          <a:custGeom>
            <a:avLst/>
            <a:gdLst/>
            <a:ahLst/>
            <a:rect l="l" t="t" r="r" b="b"/>
            <a:pathLst>
              <a:path w="44783" h="105515">
                <a:moveTo>
                  <a:pt x="2155" y="105515"/>
                </a:moveTo>
                <a:lnTo>
                  <a:pt x="18919" y="75438"/>
                </a:lnTo>
                <a:lnTo>
                  <a:pt x="24307" y="62495"/>
                </a:lnTo>
                <a:lnTo>
                  <a:pt x="31252" y="51032"/>
                </a:lnTo>
                <a:lnTo>
                  <a:pt x="35922" y="51032"/>
                </a:lnTo>
                <a:lnTo>
                  <a:pt x="39035" y="42896"/>
                </a:lnTo>
                <a:lnTo>
                  <a:pt x="44783" y="21941"/>
                </a:lnTo>
                <a:lnTo>
                  <a:pt x="39035" y="21695"/>
                </a:lnTo>
                <a:lnTo>
                  <a:pt x="40352" y="0"/>
                </a:lnTo>
                <a:lnTo>
                  <a:pt x="36401" y="247"/>
                </a:lnTo>
                <a:lnTo>
                  <a:pt x="35802" y="31186"/>
                </a:lnTo>
                <a:lnTo>
                  <a:pt x="33048" y="40677"/>
                </a:lnTo>
                <a:lnTo>
                  <a:pt x="0" y="104405"/>
                </a:lnTo>
                <a:lnTo>
                  <a:pt x="2155" y="105515"/>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48" name="หน้าท่าอากาศยานด้านใต้"/>
          <p:cNvSpPr/>
          <p:nvPr/>
        </p:nvSpPr>
        <p:spPr>
          <a:xfrm>
            <a:off x="6075000" y="3268080"/>
            <a:ext cx="39600" cy="56880"/>
          </a:xfrm>
          <a:custGeom>
            <a:avLst/>
            <a:gdLst/>
            <a:ahLst/>
            <a:rect l="l" t="t" r="r" b="b"/>
            <a:pathLst>
              <a:path w="39993" h="57195">
                <a:moveTo>
                  <a:pt x="1317" y="57195"/>
                </a:moveTo>
                <a:lnTo>
                  <a:pt x="29217" y="4561"/>
                </a:lnTo>
                <a:lnTo>
                  <a:pt x="38676" y="9491"/>
                </a:lnTo>
                <a:lnTo>
                  <a:pt x="39993" y="5300"/>
                </a:lnTo>
                <a:lnTo>
                  <a:pt x="30055" y="0"/>
                </a:lnTo>
                <a:lnTo>
                  <a:pt x="0" y="56085"/>
                </a:lnTo>
                <a:lnTo>
                  <a:pt x="1317" y="57195"/>
                </a:lnTo>
                <a:close/>
              </a:path>
            </a:pathLst>
          </a:custGeom>
          <a:solidFill>
            <a:srgbClr val="f2c8ad"/>
          </a:solidFill>
          <a:ln w="6191">
            <a:solidFill>
              <a:srgbClr val="b7633d"/>
            </a:solidFill>
            <a:round/>
          </a:ln>
        </p:spPr>
        <p:style>
          <a:lnRef idx="0"/>
          <a:fillRef idx="0"/>
          <a:effectRef idx="0"/>
          <a:fontRef idx="minor"/>
        </p:style>
        <p:txBody>
          <a:bodyPr lIns="90000" rIns="90000" tIns="11880" bIns="11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49" name="ร่มเกล้า"/>
          <p:cNvSpPr/>
          <p:nvPr/>
        </p:nvSpPr>
        <p:spPr>
          <a:xfrm>
            <a:off x="5700240" y="5858640"/>
            <a:ext cx="22680" cy="14760"/>
          </a:xfrm>
          <a:custGeom>
            <a:avLst/>
            <a:gdLst/>
            <a:ahLst/>
            <a:rect l="l" t="t" r="r" b="b"/>
            <a:pathLst>
              <a:path w="22870" h="15162">
                <a:moveTo>
                  <a:pt x="20116" y="2096"/>
                </a:moveTo>
                <a:lnTo>
                  <a:pt x="18919" y="0"/>
                </a:lnTo>
                <a:lnTo>
                  <a:pt x="0" y="4931"/>
                </a:lnTo>
                <a:lnTo>
                  <a:pt x="1557" y="12450"/>
                </a:lnTo>
                <a:lnTo>
                  <a:pt x="12213" y="15162"/>
                </a:lnTo>
                <a:lnTo>
                  <a:pt x="20715" y="11340"/>
                </a:lnTo>
                <a:lnTo>
                  <a:pt x="21194" y="4561"/>
                </a:lnTo>
                <a:lnTo>
                  <a:pt x="22870" y="4068"/>
                </a:lnTo>
                <a:lnTo>
                  <a:pt x="22511" y="2342"/>
                </a:lnTo>
                <a:lnTo>
                  <a:pt x="20116" y="2096"/>
                </a:lnTo>
                <a:close/>
              </a:path>
            </a:pathLst>
          </a:custGeom>
          <a:solidFill>
            <a:srgbClr val="f2c8ad"/>
          </a:solidFill>
          <a:ln w="6191">
            <a:solidFill>
              <a:srgbClr val="b7633d"/>
            </a:solidFill>
            <a:round/>
          </a:ln>
        </p:spPr>
        <p:style>
          <a:lnRef idx="0"/>
          <a:fillRef idx="0"/>
          <a:effectRef idx="0"/>
          <a:fontRef idx="minor"/>
        </p:style>
        <p:txBody>
          <a:bodyPr lIns="90000" rIns="90000" tIns="-30240" bIns="-302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50" name="น้องใหม่"/>
          <p:cNvSpPr/>
          <p:nvPr/>
        </p:nvSpPr>
        <p:spPr>
          <a:xfrm>
            <a:off x="5720760" y="5840640"/>
            <a:ext cx="12960" cy="11880"/>
          </a:xfrm>
          <a:custGeom>
            <a:avLst/>
            <a:gdLst/>
            <a:ahLst/>
            <a:rect l="l" t="t" r="r" b="b"/>
            <a:pathLst>
              <a:path w="13411" h="12203">
                <a:moveTo>
                  <a:pt x="0" y="3451"/>
                </a:moveTo>
                <a:lnTo>
                  <a:pt x="1078" y="12203"/>
                </a:lnTo>
                <a:lnTo>
                  <a:pt x="13411" y="9615"/>
                </a:lnTo>
                <a:lnTo>
                  <a:pt x="9340" y="4314"/>
                </a:lnTo>
                <a:lnTo>
                  <a:pt x="10537" y="1726"/>
                </a:lnTo>
                <a:lnTo>
                  <a:pt x="6466" y="0"/>
                </a:lnTo>
                <a:lnTo>
                  <a:pt x="5748" y="2095"/>
                </a:lnTo>
                <a:lnTo>
                  <a:pt x="2874" y="1109"/>
                </a:lnTo>
                <a:lnTo>
                  <a:pt x="2395" y="3205"/>
                </a:lnTo>
                <a:lnTo>
                  <a:pt x="0" y="3451"/>
                </a:lnTo>
                <a:close/>
              </a:path>
            </a:pathLst>
          </a:custGeom>
          <a:solidFill>
            <a:srgbClr val="f2c8ad"/>
          </a:solidFill>
          <a:ln w="6191">
            <a:solidFill>
              <a:srgbClr val="b7633d"/>
            </a:solidFill>
            <a:round/>
          </a:ln>
        </p:spPr>
        <p:style>
          <a:lnRef idx="0"/>
          <a:fillRef idx="0"/>
          <a:effectRef idx="0"/>
          <a:fontRef idx="minor"/>
        </p:style>
        <p:txBody>
          <a:bodyPr lIns="90000" rIns="90000" tIns="-33120" bIns="-331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51" name="ประเสริฐเปรมประชา"/>
          <p:cNvSpPr/>
          <p:nvPr/>
        </p:nvSpPr>
        <p:spPr>
          <a:xfrm>
            <a:off x="6050160" y="3306240"/>
            <a:ext cx="31320" cy="56520"/>
          </a:xfrm>
          <a:custGeom>
            <a:avLst/>
            <a:gdLst/>
            <a:ahLst/>
            <a:rect l="l" t="t" r="r" b="b"/>
            <a:pathLst>
              <a:path w="31731" h="56825">
                <a:moveTo>
                  <a:pt x="21553" y="21941"/>
                </a:moveTo>
                <a:lnTo>
                  <a:pt x="31731" y="1972"/>
                </a:lnTo>
                <a:lnTo>
                  <a:pt x="29097" y="0"/>
                </a:lnTo>
                <a:lnTo>
                  <a:pt x="13411" y="27858"/>
                </a:lnTo>
                <a:lnTo>
                  <a:pt x="0" y="55962"/>
                </a:lnTo>
                <a:lnTo>
                  <a:pt x="2155" y="56825"/>
                </a:lnTo>
                <a:lnTo>
                  <a:pt x="21553" y="21941"/>
                </a:lnTo>
                <a:close/>
              </a:path>
            </a:pathLst>
          </a:custGeom>
          <a:solidFill>
            <a:srgbClr val="f2c8ad"/>
          </a:solidFill>
          <a:ln w="6191">
            <a:solidFill>
              <a:srgbClr val="b7633d"/>
            </a:solidFill>
            <a:round/>
          </a:ln>
        </p:spPr>
        <p:style>
          <a:lnRef idx="0"/>
          <a:fillRef idx="0"/>
          <a:effectRef idx="0"/>
          <a:fontRef idx="minor"/>
        </p:style>
        <p:txBody>
          <a:bodyPr lIns="90000" rIns="90000" tIns="11520" bIns="11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52" name="สะพานปูน"/>
          <p:cNvSpPr/>
          <p:nvPr/>
        </p:nvSpPr>
        <p:spPr>
          <a:xfrm>
            <a:off x="6037920" y="3375720"/>
            <a:ext cx="21960" cy="29160"/>
          </a:xfrm>
          <a:custGeom>
            <a:avLst/>
            <a:gdLst/>
            <a:ahLst/>
            <a:rect l="l" t="t" r="r" b="b"/>
            <a:pathLst>
              <a:path w="22272" h="29460">
                <a:moveTo>
                  <a:pt x="12573" y="1479"/>
                </a:moveTo>
                <a:lnTo>
                  <a:pt x="0" y="22311"/>
                </a:lnTo>
                <a:lnTo>
                  <a:pt x="11974" y="29460"/>
                </a:lnTo>
                <a:lnTo>
                  <a:pt x="22272" y="11094"/>
                </a:lnTo>
                <a:lnTo>
                  <a:pt x="16404" y="7396"/>
                </a:lnTo>
                <a:lnTo>
                  <a:pt x="18560" y="2958"/>
                </a:lnTo>
                <a:lnTo>
                  <a:pt x="13531" y="0"/>
                </a:lnTo>
                <a:lnTo>
                  <a:pt x="12573" y="1479"/>
                </a:lnTo>
                <a:close/>
              </a:path>
            </a:pathLst>
          </a:custGeom>
          <a:solidFill>
            <a:srgbClr val="f2c8ad"/>
          </a:solidFill>
          <a:ln w="6191">
            <a:solidFill>
              <a:srgbClr val="b7633d"/>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53" name="ประชากร 3"/>
          <p:cNvSpPr/>
          <p:nvPr/>
        </p:nvSpPr>
        <p:spPr>
          <a:xfrm>
            <a:off x="5974560" y="3398040"/>
            <a:ext cx="68040" cy="117000"/>
          </a:xfrm>
          <a:custGeom>
            <a:avLst/>
            <a:gdLst/>
            <a:ahLst/>
            <a:rect l="l" t="t" r="r" b="b"/>
            <a:pathLst>
              <a:path w="68491" h="117471">
                <a:moveTo>
                  <a:pt x="59630" y="10108"/>
                </a:moveTo>
                <a:lnTo>
                  <a:pt x="62025" y="6410"/>
                </a:lnTo>
                <a:lnTo>
                  <a:pt x="66456" y="8135"/>
                </a:lnTo>
                <a:lnTo>
                  <a:pt x="68491" y="4191"/>
                </a:lnTo>
                <a:lnTo>
                  <a:pt x="60469" y="0"/>
                </a:lnTo>
                <a:lnTo>
                  <a:pt x="2155" y="111801"/>
                </a:lnTo>
                <a:lnTo>
                  <a:pt x="0" y="116115"/>
                </a:lnTo>
                <a:lnTo>
                  <a:pt x="1796" y="117471"/>
                </a:lnTo>
                <a:lnTo>
                  <a:pt x="59630" y="10108"/>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54" name="ปู่เจ้าสมิงพรายสะพานปูน"/>
          <p:cNvSpPr/>
          <p:nvPr/>
        </p:nvSpPr>
        <p:spPr>
          <a:xfrm>
            <a:off x="6018480" y="3362760"/>
            <a:ext cx="33480" cy="33840"/>
          </a:xfrm>
          <a:custGeom>
            <a:avLst/>
            <a:gdLst/>
            <a:ahLst/>
            <a:rect l="l" t="t" r="r" b="b"/>
            <a:pathLst>
              <a:path w="33886" h="34144">
                <a:moveTo>
                  <a:pt x="31731" y="0"/>
                </a:moveTo>
                <a:lnTo>
                  <a:pt x="22032" y="17011"/>
                </a:lnTo>
                <a:lnTo>
                  <a:pt x="4550" y="8259"/>
                </a:lnTo>
                <a:lnTo>
                  <a:pt x="0" y="15162"/>
                </a:lnTo>
                <a:lnTo>
                  <a:pt x="6466" y="16887"/>
                </a:lnTo>
                <a:lnTo>
                  <a:pt x="5269" y="19106"/>
                </a:lnTo>
                <a:lnTo>
                  <a:pt x="6945" y="19846"/>
                </a:lnTo>
                <a:lnTo>
                  <a:pt x="3592" y="28228"/>
                </a:lnTo>
                <a:lnTo>
                  <a:pt x="16285" y="34144"/>
                </a:lnTo>
                <a:lnTo>
                  <a:pt x="33886" y="986"/>
                </a:lnTo>
                <a:lnTo>
                  <a:pt x="31731" y="0"/>
                </a:lnTo>
                <a:close/>
              </a:path>
            </a:pathLst>
          </a:custGeom>
          <a:solidFill>
            <a:srgbClr val="f2c8ad"/>
          </a:solidFill>
          <a:ln w="6191">
            <a:solidFill>
              <a:srgbClr val="b7633d"/>
            </a:solidFill>
            <a:round/>
          </a:ln>
        </p:spPr>
        <p:style>
          <a:lnRef idx="0"/>
          <a:fillRef idx="0"/>
          <a:effectRef idx="0"/>
          <a:fontRef idx="minor"/>
        </p:style>
        <p:txBody>
          <a:bodyPr lIns="90000" rIns="90000" tIns="-11160" bIns="-111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55" name="ตลาดกลาง"/>
          <p:cNvSpPr/>
          <p:nvPr/>
        </p:nvSpPr>
        <p:spPr>
          <a:xfrm>
            <a:off x="6047640" y="3274200"/>
            <a:ext cx="46800" cy="27360"/>
          </a:xfrm>
          <a:custGeom>
            <a:avLst/>
            <a:gdLst/>
            <a:ahLst/>
            <a:rect l="l" t="t" r="r" b="b"/>
            <a:pathLst>
              <a:path w="47058" h="27858">
                <a:moveTo>
                  <a:pt x="34126" y="27858"/>
                </a:moveTo>
                <a:lnTo>
                  <a:pt x="38317" y="23174"/>
                </a:lnTo>
                <a:lnTo>
                  <a:pt x="42627" y="12080"/>
                </a:lnTo>
                <a:lnTo>
                  <a:pt x="43705" y="12450"/>
                </a:lnTo>
                <a:lnTo>
                  <a:pt x="47058" y="6163"/>
                </a:lnTo>
                <a:lnTo>
                  <a:pt x="43346" y="5177"/>
                </a:lnTo>
                <a:lnTo>
                  <a:pt x="41669" y="9122"/>
                </a:lnTo>
                <a:lnTo>
                  <a:pt x="5508" y="0"/>
                </a:lnTo>
                <a:lnTo>
                  <a:pt x="0" y="13436"/>
                </a:lnTo>
                <a:lnTo>
                  <a:pt x="35682" y="22927"/>
                </a:lnTo>
                <a:lnTo>
                  <a:pt x="34126" y="27858"/>
                </a:lnTo>
                <a:close/>
              </a:path>
            </a:pathLst>
          </a:custGeom>
          <a:solidFill>
            <a:srgbClr val="f2c8ad"/>
          </a:solidFill>
          <a:ln w="6191">
            <a:solidFill>
              <a:srgbClr val="b7633d"/>
            </a:solidFill>
            <a:round/>
          </a:ln>
        </p:spPr>
        <p:style>
          <a:lnRef idx="0"/>
          <a:fillRef idx="0"/>
          <a:effectRef idx="0"/>
          <a:fontRef idx="minor"/>
        </p:style>
        <p:txBody>
          <a:bodyPr lIns="90000" rIns="90000" tIns="-17640" bIns="-176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56" name="ร่มไทรงามพัฒนา"/>
          <p:cNvSpPr/>
          <p:nvPr/>
        </p:nvSpPr>
        <p:spPr>
          <a:xfrm>
            <a:off x="5952960" y="3396600"/>
            <a:ext cx="80640" cy="149040"/>
          </a:xfrm>
          <a:custGeom>
            <a:avLst/>
            <a:gdLst/>
            <a:ahLst/>
            <a:rect l="l" t="t" r="r" b="b"/>
            <a:pathLst>
              <a:path w="80944" h="149520">
                <a:moveTo>
                  <a:pt x="50770" y="52141"/>
                </a:moveTo>
                <a:lnTo>
                  <a:pt x="0" y="147425"/>
                </a:lnTo>
                <a:lnTo>
                  <a:pt x="2754" y="149520"/>
                </a:lnTo>
                <a:lnTo>
                  <a:pt x="80944" y="1479"/>
                </a:lnTo>
                <a:lnTo>
                  <a:pt x="78190" y="0"/>
                </a:lnTo>
                <a:lnTo>
                  <a:pt x="50770" y="52141"/>
                </a:lnTo>
                <a:close/>
              </a:path>
            </a:pathLst>
          </a:custGeom>
          <a:solidFill>
            <a:srgbClr val="f2c8ad"/>
          </a:solidFill>
          <a:ln w="6191">
            <a:solidFill>
              <a:srgbClr val="b763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57" name="ชุมชนเจิมจิตต์"/>
          <p:cNvSpPr/>
          <p:nvPr/>
        </p:nvSpPr>
        <p:spPr>
          <a:xfrm>
            <a:off x="3551040" y="6002640"/>
            <a:ext cx="34200" cy="45360"/>
          </a:xfrm>
          <a:custGeom>
            <a:avLst/>
            <a:gdLst/>
            <a:ahLst/>
            <a:rect l="l" t="t" r="r" b="b"/>
            <a:pathLst>
              <a:path w="34725" h="45854">
                <a:moveTo>
                  <a:pt x="32330" y="36486"/>
                </a:moveTo>
                <a:lnTo>
                  <a:pt x="32809" y="8382"/>
                </a:lnTo>
                <a:lnTo>
                  <a:pt x="24427" y="8875"/>
                </a:lnTo>
                <a:lnTo>
                  <a:pt x="23828" y="3205"/>
                </a:lnTo>
                <a:lnTo>
                  <a:pt x="14249" y="3328"/>
                </a:lnTo>
                <a:lnTo>
                  <a:pt x="14129" y="0"/>
                </a:lnTo>
                <a:lnTo>
                  <a:pt x="6226" y="986"/>
                </a:lnTo>
                <a:lnTo>
                  <a:pt x="7184" y="15038"/>
                </a:lnTo>
                <a:lnTo>
                  <a:pt x="0" y="16887"/>
                </a:lnTo>
                <a:lnTo>
                  <a:pt x="239" y="19229"/>
                </a:lnTo>
                <a:lnTo>
                  <a:pt x="10777" y="17011"/>
                </a:lnTo>
                <a:lnTo>
                  <a:pt x="10537" y="15162"/>
                </a:lnTo>
                <a:lnTo>
                  <a:pt x="13650" y="14668"/>
                </a:lnTo>
                <a:lnTo>
                  <a:pt x="14369" y="23790"/>
                </a:lnTo>
                <a:lnTo>
                  <a:pt x="22870" y="23297"/>
                </a:lnTo>
                <a:lnTo>
                  <a:pt x="23589" y="29460"/>
                </a:lnTo>
                <a:lnTo>
                  <a:pt x="30534" y="45854"/>
                </a:lnTo>
                <a:lnTo>
                  <a:pt x="34725" y="44499"/>
                </a:lnTo>
                <a:lnTo>
                  <a:pt x="32330" y="36486"/>
                </a:lnTo>
                <a:close/>
              </a:path>
            </a:pathLst>
          </a:custGeom>
          <a:solidFill>
            <a:srgbClr val="f2c8ad"/>
          </a:solidFill>
          <a:ln w="6191">
            <a:solidFill>
              <a:srgbClr val="b7633d"/>
            </a:solidFill>
            <a:round/>
          </a:ln>
        </p:spPr>
        <p:style>
          <a:lnRef idx="0"/>
          <a:fillRef idx="0"/>
          <a:effectRef idx="0"/>
          <a:fontRef idx="minor"/>
        </p:style>
        <p:txBody>
          <a:bodyPr lIns="90000" rIns="90000" tIns="360" bIns="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58" name="ชุมชนชาววัดม่วง"/>
          <p:cNvSpPr/>
          <p:nvPr/>
        </p:nvSpPr>
        <p:spPr>
          <a:xfrm>
            <a:off x="3601800" y="6057360"/>
            <a:ext cx="31320" cy="40680"/>
          </a:xfrm>
          <a:custGeom>
            <a:avLst/>
            <a:gdLst/>
            <a:ahLst/>
            <a:rect l="l" t="t" r="r" b="b"/>
            <a:pathLst>
              <a:path w="31731" h="41047">
                <a:moveTo>
                  <a:pt x="3113" y="19229"/>
                </a:moveTo>
                <a:lnTo>
                  <a:pt x="9579" y="41047"/>
                </a:lnTo>
                <a:lnTo>
                  <a:pt x="31731" y="31063"/>
                </a:lnTo>
                <a:lnTo>
                  <a:pt x="27061" y="0"/>
                </a:lnTo>
                <a:lnTo>
                  <a:pt x="0" y="9245"/>
                </a:lnTo>
                <a:lnTo>
                  <a:pt x="3113" y="19229"/>
                </a:lnTo>
                <a:close/>
              </a:path>
            </a:pathLst>
          </a:custGeom>
          <a:solidFill>
            <a:srgbClr val="f2c8ad"/>
          </a:solidFill>
          <a:ln w="6191">
            <a:solidFill>
              <a:srgbClr val="b7633d"/>
            </a:solidFill>
            <a:round/>
          </a:ln>
        </p:spPr>
        <p:style>
          <a:lnRef idx="0"/>
          <a:fillRef idx="0"/>
          <a:effectRef idx="0"/>
          <a:fontRef idx="minor"/>
        </p:style>
        <p:txBody>
          <a:bodyPr lIns="90000" rIns="90000" tIns="-4320" bIns="-43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59" name="ร่วมใจพัฒนา&#10;"/>
          <p:cNvSpPr/>
          <p:nvPr/>
        </p:nvSpPr>
        <p:spPr>
          <a:xfrm>
            <a:off x="3580560" y="6066360"/>
            <a:ext cx="29880" cy="34920"/>
          </a:xfrm>
          <a:custGeom>
            <a:avLst/>
            <a:gdLst/>
            <a:ahLst/>
            <a:rect l="l" t="t" r="r" b="b"/>
            <a:pathLst>
              <a:path w="30414" h="35254">
                <a:moveTo>
                  <a:pt x="20954" y="0"/>
                </a:moveTo>
                <a:lnTo>
                  <a:pt x="0" y="7396"/>
                </a:lnTo>
                <a:lnTo>
                  <a:pt x="2275" y="14792"/>
                </a:lnTo>
                <a:lnTo>
                  <a:pt x="8980" y="16517"/>
                </a:lnTo>
                <a:lnTo>
                  <a:pt x="15327" y="14299"/>
                </a:lnTo>
                <a:lnTo>
                  <a:pt x="22272" y="35254"/>
                </a:lnTo>
                <a:lnTo>
                  <a:pt x="30414" y="32172"/>
                </a:lnTo>
                <a:lnTo>
                  <a:pt x="20954" y="0"/>
                </a:lnTo>
                <a:close/>
              </a:path>
            </a:pathLst>
          </a:custGeom>
          <a:solidFill>
            <a:srgbClr val="f2c8ad"/>
          </a:solidFill>
          <a:ln w="6191">
            <a:solidFill>
              <a:srgbClr val="b7633d"/>
            </a:solidFill>
            <a:round/>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60" name="ชุมชนเลียบคลองบางแค"/>
          <p:cNvSpPr/>
          <p:nvPr/>
        </p:nvSpPr>
        <p:spPr>
          <a:xfrm>
            <a:off x="3620160" y="5958360"/>
            <a:ext cx="9000" cy="24120"/>
          </a:xfrm>
          <a:custGeom>
            <a:avLst/>
            <a:gdLst/>
            <a:ahLst/>
            <a:rect l="l" t="t" r="r" b="b"/>
            <a:pathLst>
              <a:path w="9340" h="24530">
                <a:moveTo>
                  <a:pt x="8861" y="19599"/>
                </a:moveTo>
                <a:lnTo>
                  <a:pt x="6945" y="0"/>
                </a:lnTo>
                <a:lnTo>
                  <a:pt x="0" y="1479"/>
                </a:lnTo>
                <a:lnTo>
                  <a:pt x="2395" y="24530"/>
                </a:lnTo>
                <a:lnTo>
                  <a:pt x="9340" y="23667"/>
                </a:lnTo>
                <a:lnTo>
                  <a:pt x="8861" y="19599"/>
                </a:lnTo>
                <a:close/>
              </a:path>
            </a:pathLst>
          </a:custGeom>
          <a:solidFill>
            <a:srgbClr val="f2c8ad"/>
          </a:solidFill>
          <a:ln w="6191">
            <a:solidFill>
              <a:srgbClr val="b7633d"/>
            </a:solidFill>
            <a:round/>
          </a:ln>
        </p:spPr>
        <p:style>
          <a:lnRef idx="0"/>
          <a:fillRef idx="0"/>
          <a:effectRef idx="0"/>
          <a:fontRef idx="minor"/>
        </p:style>
        <p:txBody>
          <a:bodyPr lIns="90000" rIns="90000" tIns="-20880" bIns="-208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61" name="วัดชัยมงคล (ศาลเจ้าแป๊ะกง)"/>
          <p:cNvSpPr/>
          <p:nvPr/>
        </p:nvSpPr>
        <p:spPr>
          <a:xfrm>
            <a:off x="5163480" y="5387400"/>
            <a:ext cx="32400" cy="26640"/>
          </a:xfrm>
          <a:custGeom>
            <a:avLst/>
            <a:gdLst/>
            <a:ahLst/>
            <a:rect l="l" t="t" r="r" b="b"/>
            <a:pathLst>
              <a:path w="32928" h="27118">
                <a:moveTo>
                  <a:pt x="10777" y="27118"/>
                </a:moveTo>
                <a:lnTo>
                  <a:pt x="11136" y="23544"/>
                </a:lnTo>
                <a:lnTo>
                  <a:pt x="16165" y="22804"/>
                </a:lnTo>
                <a:lnTo>
                  <a:pt x="16045" y="18983"/>
                </a:lnTo>
                <a:lnTo>
                  <a:pt x="20595" y="15285"/>
                </a:lnTo>
                <a:lnTo>
                  <a:pt x="32210" y="13436"/>
                </a:lnTo>
                <a:lnTo>
                  <a:pt x="32928" y="9984"/>
                </a:lnTo>
                <a:lnTo>
                  <a:pt x="22751" y="9861"/>
                </a:lnTo>
                <a:lnTo>
                  <a:pt x="23110" y="4931"/>
                </a:lnTo>
                <a:lnTo>
                  <a:pt x="18679" y="4068"/>
                </a:lnTo>
                <a:lnTo>
                  <a:pt x="18560" y="7766"/>
                </a:lnTo>
                <a:lnTo>
                  <a:pt x="13171" y="8382"/>
                </a:lnTo>
                <a:lnTo>
                  <a:pt x="14489" y="1479"/>
                </a:lnTo>
                <a:lnTo>
                  <a:pt x="11256" y="0"/>
                </a:lnTo>
                <a:lnTo>
                  <a:pt x="8382" y="1972"/>
                </a:lnTo>
                <a:lnTo>
                  <a:pt x="0" y="25146"/>
                </a:lnTo>
                <a:lnTo>
                  <a:pt x="10777" y="27118"/>
                </a:lnTo>
                <a:close/>
              </a:path>
            </a:pathLst>
          </a:custGeom>
          <a:solidFill>
            <a:srgbClr val="f2c8ad"/>
          </a:solidFill>
          <a:ln w="6191">
            <a:solidFill>
              <a:srgbClr val="b7633d"/>
            </a:solidFill>
            <a:round/>
          </a:ln>
        </p:spPr>
        <p:style>
          <a:lnRef idx="0"/>
          <a:fillRef idx="0"/>
          <a:effectRef idx="0"/>
          <a:fontRef idx="minor"/>
        </p:style>
        <p:txBody>
          <a:bodyPr lIns="90000" rIns="90000" tIns="-18360" bIns="-1836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62" name="Oval 2114"/>
          <p:cNvSpPr/>
          <p:nvPr/>
        </p:nvSpPr>
        <p:spPr>
          <a:xfrm>
            <a:off x="4736880" y="53071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63" name="Oval 2115"/>
          <p:cNvSpPr/>
          <p:nvPr/>
        </p:nvSpPr>
        <p:spPr>
          <a:xfrm>
            <a:off x="4829760" y="52052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64" name="Oval 2116"/>
          <p:cNvSpPr/>
          <p:nvPr/>
        </p:nvSpPr>
        <p:spPr>
          <a:xfrm>
            <a:off x="5013360" y="48495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65" name="Oval 2117"/>
          <p:cNvSpPr/>
          <p:nvPr/>
        </p:nvSpPr>
        <p:spPr>
          <a:xfrm>
            <a:off x="5087520" y="47534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66" name="Oval 2118"/>
          <p:cNvSpPr/>
          <p:nvPr/>
        </p:nvSpPr>
        <p:spPr>
          <a:xfrm>
            <a:off x="4938120" y="49316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67" name="Oval 2119"/>
          <p:cNvSpPr/>
          <p:nvPr/>
        </p:nvSpPr>
        <p:spPr>
          <a:xfrm>
            <a:off x="9748800" y="35301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68" name="Oval 2120"/>
          <p:cNvSpPr/>
          <p:nvPr/>
        </p:nvSpPr>
        <p:spPr>
          <a:xfrm>
            <a:off x="8940960" y="34099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69" name="Oval 2121"/>
          <p:cNvSpPr/>
          <p:nvPr/>
        </p:nvSpPr>
        <p:spPr>
          <a:xfrm>
            <a:off x="8903520" y="33372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70" name="Oval 2122"/>
          <p:cNvSpPr/>
          <p:nvPr/>
        </p:nvSpPr>
        <p:spPr>
          <a:xfrm>
            <a:off x="8956080" y="50176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71" name="Oval 2123"/>
          <p:cNvSpPr/>
          <p:nvPr/>
        </p:nvSpPr>
        <p:spPr>
          <a:xfrm>
            <a:off x="9495720" y="53006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72" name="Oval 2124"/>
          <p:cNvSpPr/>
          <p:nvPr/>
        </p:nvSpPr>
        <p:spPr>
          <a:xfrm>
            <a:off x="5076360" y="57236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73" name="Oval 2125"/>
          <p:cNvSpPr/>
          <p:nvPr/>
        </p:nvSpPr>
        <p:spPr>
          <a:xfrm>
            <a:off x="5219280" y="55774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74" name="Oval 2126"/>
          <p:cNvSpPr/>
          <p:nvPr/>
        </p:nvSpPr>
        <p:spPr>
          <a:xfrm>
            <a:off x="5902920" y="39877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75" name="Oval 2127"/>
          <p:cNvSpPr/>
          <p:nvPr/>
        </p:nvSpPr>
        <p:spPr>
          <a:xfrm>
            <a:off x="5918760" y="37893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76" name="Oval 2128"/>
          <p:cNvSpPr/>
          <p:nvPr/>
        </p:nvSpPr>
        <p:spPr>
          <a:xfrm>
            <a:off x="5923800" y="39074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77" name="Oval 2129"/>
          <p:cNvSpPr/>
          <p:nvPr/>
        </p:nvSpPr>
        <p:spPr>
          <a:xfrm>
            <a:off x="6021360" y="37386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78" name="Oval 2130"/>
          <p:cNvSpPr/>
          <p:nvPr/>
        </p:nvSpPr>
        <p:spPr>
          <a:xfrm>
            <a:off x="6021360" y="38469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79" name="Oval 2131"/>
          <p:cNvSpPr/>
          <p:nvPr/>
        </p:nvSpPr>
        <p:spPr>
          <a:xfrm>
            <a:off x="6071040" y="39531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80" name="Oval 2132"/>
          <p:cNvSpPr/>
          <p:nvPr/>
        </p:nvSpPr>
        <p:spPr>
          <a:xfrm>
            <a:off x="6084720" y="35852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81" name="Oval 2133"/>
          <p:cNvSpPr/>
          <p:nvPr/>
        </p:nvSpPr>
        <p:spPr>
          <a:xfrm>
            <a:off x="6017400" y="36662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82" name="Oval 2134"/>
          <p:cNvSpPr/>
          <p:nvPr/>
        </p:nvSpPr>
        <p:spPr>
          <a:xfrm>
            <a:off x="5916600" y="38127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83" name="Oval 2135"/>
          <p:cNvSpPr/>
          <p:nvPr/>
        </p:nvSpPr>
        <p:spPr>
          <a:xfrm>
            <a:off x="6870600" y="52084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84" name="Oval 2136"/>
          <p:cNvSpPr/>
          <p:nvPr/>
        </p:nvSpPr>
        <p:spPr>
          <a:xfrm>
            <a:off x="6674400" y="51426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85" name="Oval 2137"/>
          <p:cNvSpPr/>
          <p:nvPr/>
        </p:nvSpPr>
        <p:spPr>
          <a:xfrm>
            <a:off x="6735960" y="52110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86" name="Oval 2138"/>
          <p:cNvSpPr/>
          <p:nvPr/>
        </p:nvSpPr>
        <p:spPr>
          <a:xfrm>
            <a:off x="5469480" y="56570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87" name="Oval 2139"/>
          <p:cNvSpPr/>
          <p:nvPr/>
        </p:nvSpPr>
        <p:spPr>
          <a:xfrm>
            <a:off x="5312880" y="53596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88" name="Oval 2140"/>
          <p:cNvSpPr/>
          <p:nvPr/>
        </p:nvSpPr>
        <p:spPr>
          <a:xfrm>
            <a:off x="4977360" y="52563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89" name="Oval 2141"/>
          <p:cNvSpPr/>
          <p:nvPr/>
        </p:nvSpPr>
        <p:spPr>
          <a:xfrm>
            <a:off x="4967280" y="53128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90" name="Oval 2142"/>
          <p:cNvSpPr/>
          <p:nvPr/>
        </p:nvSpPr>
        <p:spPr>
          <a:xfrm>
            <a:off x="6489000" y="60872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91" name="Oval 2143"/>
          <p:cNvSpPr/>
          <p:nvPr/>
        </p:nvSpPr>
        <p:spPr>
          <a:xfrm>
            <a:off x="6486840" y="60739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92" name="Oval 2144"/>
          <p:cNvSpPr/>
          <p:nvPr/>
        </p:nvSpPr>
        <p:spPr>
          <a:xfrm>
            <a:off x="6225840" y="61146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93" name="Oval 2145"/>
          <p:cNvSpPr/>
          <p:nvPr/>
        </p:nvSpPr>
        <p:spPr>
          <a:xfrm>
            <a:off x="6378480" y="61578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94" name="Oval 2146"/>
          <p:cNvSpPr/>
          <p:nvPr/>
        </p:nvSpPr>
        <p:spPr>
          <a:xfrm>
            <a:off x="6498000" y="60559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95" name="Oval 2147"/>
          <p:cNvSpPr/>
          <p:nvPr/>
        </p:nvSpPr>
        <p:spPr>
          <a:xfrm>
            <a:off x="6019920" y="60094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96" name="Oval 2148"/>
          <p:cNvSpPr/>
          <p:nvPr/>
        </p:nvSpPr>
        <p:spPr>
          <a:xfrm>
            <a:off x="7964280" y="46015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97" name="Oval 2149"/>
          <p:cNvSpPr/>
          <p:nvPr/>
        </p:nvSpPr>
        <p:spPr>
          <a:xfrm>
            <a:off x="7599600" y="46112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98" name="Oval 2150"/>
          <p:cNvSpPr/>
          <p:nvPr/>
        </p:nvSpPr>
        <p:spPr>
          <a:xfrm>
            <a:off x="7495200" y="49345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199" name="Oval 2151"/>
          <p:cNvSpPr/>
          <p:nvPr/>
        </p:nvSpPr>
        <p:spPr>
          <a:xfrm>
            <a:off x="7625880" y="46490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00" name="Oval 2152"/>
          <p:cNvSpPr/>
          <p:nvPr/>
        </p:nvSpPr>
        <p:spPr>
          <a:xfrm>
            <a:off x="8766000" y="55724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01" name="Oval 2153"/>
          <p:cNvSpPr/>
          <p:nvPr/>
        </p:nvSpPr>
        <p:spPr>
          <a:xfrm>
            <a:off x="8269200" y="56444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02" name="Oval 2154"/>
          <p:cNvSpPr/>
          <p:nvPr/>
        </p:nvSpPr>
        <p:spPr>
          <a:xfrm>
            <a:off x="8694720" y="57477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03" name="Oval 2155"/>
          <p:cNvSpPr/>
          <p:nvPr/>
        </p:nvSpPr>
        <p:spPr>
          <a:xfrm>
            <a:off x="4894560" y="50997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04" name="Oval 2156"/>
          <p:cNvSpPr/>
          <p:nvPr/>
        </p:nvSpPr>
        <p:spPr>
          <a:xfrm>
            <a:off x="8134560" y="57178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05" name="Oval 2157"/>
          <p:cNvSpPr/>
          <p:nvPr/>
        </p:nvSpPr>
        <p:spPr>
          <a:xfrm>
            <a:off x="5325120" y="63014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06" name="Oval 2158"/>
          <p:cNvSpPr/>
          <p:nvPr/>
        </p:nvSpPr>
        <p:spPr>
          <a:xfrm>
            <a:off x="5312520" y="62812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07" name="Oval 2159"/>
          <p:cNvSpPr/>
          <p:nvPr/>
        </p:nvSpPr>
        <p:spPr>
          <a:xfrm>
            <a:off x="5116320" y="61329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08" name="Oval 2160"/>
          <p:cNvSpPr/>
          <p:nvPr/>
        </p:nvSpPr>
        <p:spPr>
          <a:xfrm>
            <a:off x="5567400" y="47952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09" name="Oval 2161"/>
          <p:cNvSpPr/>
          <p:nvPr/>
        </p:nvSpPr>
        <p:spPr>
          <a:xfrm>
            <a:off x="5286240" y="50720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10" name="Oval 2162"/>
          <p:cNvSpPr/>
          <p:nvPr/>
        </p:nvSpPr>
        <p:spPr>
          <a:xfrm>
            <a:off x="4642200" y="59684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11" name="Oval 2163"/>
          <p:cNvSpPr/>
          <p:nvPr/>
        </p:nvSpPr>
        <p:spPr>
          <a:xfrm>
            <a:off x="4701960" y="56343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12" name="Oval 2164"/>
          <p:cNvSpPr/>
          <p:nvPr/>
        </p:nvSpPr>
        <p:spPr>
          <a:xfrm>
            <a:off x="4709160" y="54572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13" name="Oval 2165"/>
          <p:cNvSpPr/>
          <p:nvPr/>
        </p:nvSpPr>
        <p:spPr>
          <a:xfrm>
            <a:off x="4561200" y="54874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14" name="Oval 2166"/>
          <p:cNvSpPr/>
          <p:nvPr/>
        </p:nvSpPr>
        <p:spPr>
          <a:xfrm>
            <a:off x="4737240" y="54597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15" name="Oval 2167"/>
          <p:cNvSpPr/>
          <p:nvPr/>
        </p:nvSpPr>
        <p:spPr>
          <a:xfrm>
            <a:off x="5998680" y="54122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16" name="Oval 2168"/>
          <p:cNvSpPr/>
          <p:nvPr/>
        </p:nvSpPr>
        <p:spPr>
          <a:xfrm>
            <a:off x="5998680" y="54187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17" name="Oval 2169"/>
          <p:cNvSpPr/>
          <p:nvPr/>
        </p:nvSpPr>
        <p:spPr>
          <a:xfrm>
            <a:off x="6046920" y="54212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18" name="Oval 2170"/>
          <p:cNvSpPr/>
          <p:nvPr/>
        </p:nvSpPr>
        <p:spPr>
          <a:xfrm>
            <a:off x="4960440" y="56426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19" name="Oval 2171"/>
          <p:cNvSpPr/>
          <p:nvPr/>
        </p:nvSpPr>
        <p:spPr>
          <a:xfrm>
            <a:off x="4480560" y="50994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20" name="Oval 2172"/>
          <p:cNvSpPr/>
          <p:nvPr/>
        </p:nvSpPr>
        <p:spPr>
          <a:xfrm>
            <a:off x="4472280" y="51436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21" name="Oval 2173"/>
          <p:cNvSpPr/>
          <p:nvPr/>
        </p:nvSpPr>
        <p:spPr>
          <a:xfrm>
            <a:off x="4426200" y="51213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22" name="Oval 2174"/>
          <p:cNvSpPr/>
          <p:nvPr/>
        </p:nvSpPr>
        <p:spPr>
          <a:xfrm>
            <a:off x="3406680" y="70707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23" name="Oval 2175"/>
          <p:cNvSpPr/>
          <p:nvPr/>
        </p:nvSpPr>
        <p:spPr>
          <a:xfrm>
            <a:off x="4037040" y="68828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24" name="Oval 2176"/>
          <p:cNvSpPr/>
          <p:nvPr/>
        </p:nvSpPr>
        <p:spPr>
          <a:xfrm>
            <a:off x="3376800" y="69703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25" name="Oval 2177"/>
          <p:cNvSpPr/>
          <p:nvPr/>
        </p:nvSpPr>
        <p:spPr>
          <a:xfrm>
            <a:off x="4186800" y="64112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26" name="Oval 2178"/>
          <p:cNvSpPr/>
          <p:nvPr/>
        </p:nvSpPr>
        <p:spPr>
          <a:xfrm>
            <a:off x="4245480" y="62701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27" name="Oval 2179"/>
          <p:cNvSpPr/>
          <p:nvPr/>
        </p:nvSpPr>
        <p:spPr>
          <a:xfrm>
            <a:off x="4048920" y="57942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28" name="Oval 2180"/>
          <p:cNvSpPr/>
          <p:nvPr/>
        </p:nvSpPr>
        <p:spPr>
          <a:xfrm>
            <a:off x="4179240" y="57049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29" name="Oval 2181"/>
          <p:cNvSpPr/>
          <p:nvPr/>
        </p:nvSpPr>
        <p:spPr>
          <a:xfrm>
            <a:off x="4138920" y="57333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30" name="Oval 2182"/>
          <p:cNvSpPr/>
          <p:nvPr/>
        </p:nvSpPr>
        <p:spPr>
          <a:xfrm>
            <a:off x="4314240" y="55173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31" name="Oval 2183"/>
          <p:cNvSpPr/>
          <p:nvPr/>
        </p:nvSpPr>
        <p:spPr>
          <a:xfrm>
            <a:off x="4105800" y="56084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32" name="Oval 2184"/>
          <p:cNvSpPr/>
          <p:nvPr/>
        </p:nvSpPr>
        <p:spPr>
          <a:xfrm>
            <a:off x="3243600" y="56592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33" name="Oval 2185"/>
          <p:cNvSpPr/>
          <p:nvPr/>
        </p:nvSpPr>
        <p:spPr>
          <a:xfrm>
            <a:off x="3224520" y="57772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34" name="Oval 2186"/>
          <p:cNvSpPr/>
          <p:nvPr/>
        </p:nvSpPr>
        <p:spPr>
          <a:xfrm>
            <a:off x="3241800" y="56948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35" name="Oval 2187"/>
          <p:cNvSpPr/>
          <p:nvPr/>
        </p:nvSpPr>
        <p:spPr>
          <a:xfrm>
            <a:off x="4791240" y="61408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36" name="Oval 2188"/>
          <p:cNvSpPr/>
          <p:nvPr/>
        </p:nvSpPr>
        <p:spPr>
          <a:xfrm>
            <a:off x="4982040" y="62200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37" name="Oval 2189"/>
          <p:cNvSpPr/>
          <p:nvPr/>
        </p:nvSpPr>
        <p:spPr>
          <a:xfrm>
            <a:off x="5064840" y="64245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38" name="Oval 2190"/>
          <p:cNvSpPr/>
          <p:nvPr/>
        </p:nvSpPr>
        <p:spPr>
          <a:xfrm>
            <a:off x="4952880" y="48416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39" name="Oval 2191"/>
          <p:cNvSpPr/>
          <p:nvPr/>
        </p:nvSpPr>
        <p:spPr>
          <a:xfrm>
            <a:off x="4832280" y="48718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40" name="Oval 2192"/>
          <p:cNvSpPr/>
          <p:nvPr/>
        </p:nvSpPr>
        <p:spPr>
          <a:xfrm>
            <a:off x="4568760" y="60850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41" name="Oval 2193"/>
          <p:cNvSpPr/>
          <p:nvPr/>
        </p:nvSpPr>
        <p:spPr>
          <a:xfrm>
            <a:off x="4524120" y="58752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42" name="Oval 2194"/>
          <p:cNvSpPr/>
          <p:nvPr/>
        </p:nvSpPr>
        <p:spPr>
          <a:xfrm>
            <a:off x="4839840" y="48074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43" name="Oval 2195"/>
          <p:cNvSpPr/>
          <p:nvPr/>
        </p:nvSpPr>
        <p:spPr>
          <a:xfrm>
            <a:off x="5731920" y="47707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44" name="Oval 2196"/>
          <p:cNvSpPr/>
          <p:nvPr/>
        </p:nvSpPr>
        <p:spPr>
          <a:xfrm>
            <a:off x="5703480" y="47772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45" name="Oval 2197"/>
          <p:cNvSpPr/>
          <p:nvPr/>
        </p:nvSpPr>
        <p:spPr>
          <a:xfrm>
            <a:off x="5614200" y="49928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46" name="Oval 2198"/>
          <p:cNvSpPr/>
          <p:nvPr/>
        </p:nvSpPr>
        <p:spPr>
          <a:xfrm>
            <a:off x="6788520" y="48826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47" name="Oval 2199"/>
          <p:cNvSpPr/>
          <p:nvPr/>
        </p:nvSpPr>
        <p:spPr>
          <a:xfrm>
            <a:off x="6698520" y="48808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48" name="Oval 2200"/>
          <p:cNvSpPr/>
          <p:nvPr/>
        </p:nvSpPr>
        <p:spPr>
          <a:xfrm>
            <a:off x="6738840" y="50418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49" name="Oval 2201"/>
          <p:cNvSpPr/>
          <p:nvPr/>
        </p:nvSpPr>
        <p:spPr>
          <a:xfrm>
            <a:off x="6630840" y="41608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50" name="Oval 2202"/>
          <p:cNvSpPr/>
          <p:nvPr/>
        </p:nvSpPr>
        <p:spPr>
          <a:xfrm>
            <a:off x="5353920" y="57312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51" name="Oval 2203"/>
          <p:cNvSpPr/>
          <p:nvPr/>
        </p:nvSpPr>
        <p:spPr>
          <a:xfrm>
            <a:off x="5394960" y="57322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52" name="Oval 2204"/>
          <p:cNvSpPr/>
          <p:nvPr/>
        </p:nvSpPr>
        <p:spPr>
          <a:xfrm>
            <a:off x="5081760" y="45057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53" name="Oval 2205"/>
          <p:cNvSpPr/>
          <p:nvPr/>
        </p:nvSpPr>
        <p:spPr>
          <a:xfrm>
            <a:off x="5235480" y="44701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54" name="Oval 2206"/>
          <p:cNvSpPr/>
          <p:nvPr/>
        </p:nvSpPr>
        <p:spPr>
          <a:xfrm>
            <a:off x="5349960" y="46022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55" name="Oval 2207"/>
          <p:cNvSpPr/>
          <p:nvPr/>
        </p:nvSpPr>
        <p:spPr>
          <a:xfrm>
            <a:off x="5259600" y="42631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56" name="Oval 2208"/>
          <p:cNvSpPr/>
          <p:nvPr/>
        </p:nvSpPr>
        <p:spPr>
          <a:xfrm>
            <a:off x="5904000" y="40276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57" name="Oval 2209"/>
          <p:cNvSpPr/>
          <p:nvPr/>
        </p:nvSpPr>
        <p:spPr>
          <a:xfrm>
            <a:off x="5836680" y="41018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58" name="Oval 2210"/>
          <p:cNvSpPr/>
          <p:nvPr/>
        </p:nvSpPr>
        <p:spPr>
          <a:xfrm>
            <a:off x="5476680" y="44172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59" name="Oval 2211"/>
          <p:cNvSpPr/>
          <p:nvPr/>
        </p:nvSpPr>
        <p:spPr>
          <a:xfrm>
            <a:off x="5588640" y="40723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60" name="Oval 2212"/>
          <p:cNvSpPr/>
          <p:nvPr/>
        </p:nvSpPr>
        <p:spPr>
          <a:xfrm>
            <a:off x="5429520" y="44481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61" name="Oval 2213"/>
          <p:cNvSpPr/>
          <p:nvPr/>
        </p:nvSpPr>
        <p:spPr>
          <a:xfrm>
            <a:off x="5554800" y="41590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62" name="Oval 2214"/>
          <p:cNvSpPr/>
          <p:nvPr/>
        </p:nvSpPr>
        <p:spPr>
          <a:xfrm>
            <a:off x="5497200" y="42678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63" name="Oval 2215"/>
          <p:cNvSpPr/>
          <p:nvPr/>
        </p:nvSpPr>
        <p:spPr>
          <a:xfrm>
            <a:off x="5446080" y="43934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64" name="Oval 2216"/>
          <p:cNvSpPr/>
          <p:nvPr/>
        </p:nvSpPr>
        <p:spPr>
          <a:xfrm>
            <a:off x="5851800" y="40629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65" name="Oval 2217"/>
          <p:cNvSpPr/>
          <p:nvPr/>
        </p:nvSpPr>
        <p:spPr>
          <a:xfrm>
            <a:off x="4892760" y="59086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66" name="Oval 2218"/>
          <p:cNvSpPr/>
          <p:nvPr/>
        </p:nvSpPr>
        <p:spPr>
          <a:xfrm>
            <a:off x="6955200" y="57384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67" name="Oval 2219"/>
          <p:cNvSpPr/>
          <p:nvPr/>
        </p:nvSpPr>
        <p:spPr>
          <a:xfrm>
            <a:off x="6931800" y="62182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68" name="Oval 2220"/>
          <p:cNvSpPr/>
          <p:nvPr/>
        </p:nvSpPr>
        <p:spPr>
          <a:xfrm>
            <a:off x="6943680" y="62308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69" name="Oval 2221"/>
          <p:cNvSpPr/>
          <p:nvPr/>
        </p:nvSpPr>
        <p:spPr>
          <a:xfrm>
            <a:off x="6952680" y="62866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70" name="Oval 2222"/>
          <p:cNvSpPr/>
          <p:nvPr/>
        </p:nvSpPr>
        <p:spPr>
          <a:xfrm>
            <a:off x="6985800" y="63259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71" name="Oval 2223"/>
          <p:cNvSpPr/>
          <p:nvPr/>
        </p:nvSpPr>
        <p:spPr>
          <a:xfrm>
            <a:off x="7022520" y="62514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72" name="Oval 2224"/>
          <p:cNvSpPr/>
          <p:nvPr/>
        </p:nvSpPr>
        <p:spPr>
          <a:xfrm>
            <a:off x="7240680" y="56646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73" name="Oval 2225"/>
          <p:cNvSpPr/>
          <p:nvPr/>
        </p:nvSpPr>
        <p:spPr>
          <a:xfrm>
            <a:off x="5556600" y="57736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74" name="Oval 2226"/>
          <p:cNvSpPr/>
          <p:nvPr/>
        </p:nvSpPr>
        <p:spPr>
          <a:xfrm>
            <a:off x="5589360" y="57067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75" name="Oval 2227"/>
          <p:cNvSpPr/>
          <p:nvPr/>
        </p:nvSpPr>
        <p:spPr>
          <a:xfrm>
            <a:off x="5068800" y="59688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76" name="Oval 2228"/>
          <p:cNvSpPr/>
          <p:nvPr/>
        </p:nvSpPr>
        <p:spPr>
          <a:xfrm>
            <a:off x="5082480" y="61261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77" name="Oval 2229"/>
          <p:cNvSpPr/>
          <p:nvPr/>
        </p:nvSpPr>
        <p:spPr>
          <a:xfrm>
            <a:off x="5510880" y="57243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78" name="Oval 2230"/>
          <p:cNvSpPr/>
          <p:nvPr/>
        </p:nvSpPr>
        <p:spPr>
          <a:xfrm>
            <a:off x="5605560" y="58161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79" name="Oval 2231"/>
          <p:cNvSpPr/>
          <p:nvPr/>
        </p:nvSpPr>
        <p:spPr>
          <a:xfrm>
            <a:off x="5743440" y="58104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80" name="Oval 2232"/>
          <p:cNvSpPr/>
          <p:nvPr/>
        </p:nvSpPr>
        <p:spPr>
          <a:xfrm>
            <a:off x="6153480" y="57942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81" name="Oval 2233"/>
          <p:cNvSpPr/>
          <p:nvPr/>
        </p:nvSpPr>
        <p:spPr>
          <a:xfrm>
            <a:off x="6121800" y="58453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82" name="Oval 2234"/>
          <p:cNvSpPr/>
          <p:nvPr/>
        </p:nvSpPr>
        <p:spPr>
          <a:xfrm>
            <a:off x="4570560" y="60181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83" name="Oval 2235"/>
          <p:cNvSpPr/>
          <p:nvPr/>
        </p:nvSpPr>
        <p:spPr>
          <a:xfrm>
            <a:off x="6113880" y="35578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84" name="Oval 2236"/>
          <p:cNvSpPr/>
          <p:nvPr/>
        </p:nvSpPr>
        <p:spPr>
          <a:xfrm>
            <a:off x="6108480" y="31410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85" name="Oval 2237"/>
          <p:cNvSpPr/>
          <p:nvPr/>
        </p:nvSpPr>
        <p:spPr>
          <a:xfrm>
            <a:off x="5947920" y="34340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86" name="Oval 2238"/>
          <p:cNvSpPr/>
          <p:nvPr/>
        </p:nvSpPr>
        <p:spPr>
          <a:xfrm>
            <a:off x="5331240" y="52650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87" name="Oval 2239"/>
          <p:cNvSpPr/>
          <p:nvPr/>
        </p:nvSpPr>
        <p:spPr>
          <a:xfrm>
            <a:off x="5463360" y="53362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88" name="Oval 2240"/>
          <p:cNvSpPr/>
          <p:nvPr/>
        </p:nvSpPr>
        <p:spPr>
          <a:xfrm>
            <a:off x="6220080" y="44132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89" name="Oval 2241"/>
          <p:cNvSpPr/>
          <p:nvPr/>
        </p:nvSpPr>
        <p:spPr>
          <a:xfrm>
            <a:off x="5758200" y="53971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90" name="Oval 2242"/>
          <p:cNvSpPr/>
          <p:nvPr/>
        </p:nvSpPr>
        <p:spPr>
          <a:xfrm>
            <a:off x="5474520" y="54277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91" name="Oval 2243"/>
          <p:cNvSpPr/>
          <p:nvPr/>
        </p:nvSpPr>
        <p:spPr>
          <a:xfrm>
            <a:off x="5886000" y="55148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92" name="Oval 2244"/>
          <p:cNvSpPr/>
          <p:nvPr/>
        </p:nvSpPr>
        <p:spPr>
          <a:xfrm>
            <a:off x="5473440" y="53798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93" name="Oval 2245"/>
          <p:cNvSpPr/>
          <p:nvPr/>
        </p:nvSpPr>
        <p:spPr>
          <a:xfrm>
            <a:off x="3977640" y="59230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94" name="Oval 2246"/>
          <p:cNvSpPr/>
          <p:nvPr/>
        </p:nvSpPr>
        <p:spPr>
          <a:xfrm>
            <a:off x="3492720" y="58143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95" name="Oval 2247"/>
          <p:cNvSpPr/>
          <p:nvPr/>
        </p:nvSpPr>
        <p:spPr>
          <a:xfrm>
            <a:off x="3971520" y="60703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96" name="Oval 2248"/>
          <p:cNvSpPr/>
          <p:nvPr/>
        </p:nvSpPr>
        <p:spPr>
          <a:xfrm>
            <a:off x="3486600" y="59122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97" name="Oval 2249"/>
          <p:cNvSpPr/>
          <p:nvPr/>
        </p:nvSpPr>
        <p:spPr>
          <a:xfrm>
            <a:off x="3825000" y="58240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98" name="Oval 2250"/>
          <p:cNvSpPr/>
          <p:nvPr/>
        </p:nvSpPr>
        <p:spPr>
          <a:xfrm>
            <a:off x="5967360" y="36802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299" name="Oval 2251"/>
          <p:cNvSpPr/>
          <p:nvPr/>
        </p:nvSpPr>
        <p:spPr>
          <a:xfrm>
            <a:off x="5910480" y="38350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00" name="Oval 2252"/>
          <p:cNvSpPr/>
          <p:nvPr/>
        </p:nvSpPr>
        <p:spPr>
          <a:xfrm>
            <a:off x="5857560" y="40129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01" name="Oval 2253"/>
          <p:cNvSpPr/>
          <p:nvPr/>
        </p:nvSpPr>
        <p:spPr>
          <a:xfrm>
            <a:off x="5884560" y="35564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02" name="Oval 2254"/>
          <p:cNvSpPr/>
          <p:nvPr/>
        </p:nvSpPr>
        <p:spPr>
          <a:xfrm>
            <a:off x="5819400" y="36950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03" name="Oval 2255"/>
          <p:cNvSpPr/>
          <p:nvPr/>
        </p:nvSpPr>
        <p:spPr>
          <a:xfrm>
            <a:off x="5766480" y="37861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04" name="Oval 2256"/>
          <p:cNvSpPr/>
          <p:nvPr/>
        </p:nvSpPr>
        <p:spPr>
          <a:xfrm>
            <a:off x="5762880" y="37839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05" name="Oval 2257"/>
          <p:cNvSpPr/>
          <p:nvPr/>
        </p:nvSpPr>
        <p:spPr>
          <a:xfrm>
            <a:off x="5726880" y="38516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06" name="Oval 2258"/>
          <p:cNvSpPr/>
          <p:nvPr/>
        </p:nvSpPr>
        <p:spPr>
          <a:xfrm>
            <a:off x="5631840" y="40435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07" name="Oval 2259"/>
          <p:cNvSpPr/>
          <p:nvPr/>
        </p:nvSpPr>
        <p:spPr>
          <a:xfrm>
            <a:off x="5624640" y="40334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08" name="Oval 2260"/>
          <p:cNvSpPr/>
          <p:nvPr/>
        </p:nvSpPr>
        <p:spPr>
          <a:xfrm>
            <a:off x="5696280" y="39171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09" name="Oval 2261"/>
          <p:cNvSpPr/>
          <p:nvPr/>
        </p:nvSpPr>
        <p:spPr>
          <a:xfrm>
            <a:off x="5646600" y="40003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10" name="Oval 2262"/>
          <p:cNvSpPr/>
          <p:nvPr/>
        </p:nvSpPr>
        <p:spPr>
          <a:xfrm>
            <a:off x="5851440" y="36342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11" name="Oval 2263"/>
          <p:cNvSpPr/>
          <p:nvPr/>
        </p:nvSpPr>
        <p:spPr>
          <a:xfrm>
            <a:off x="5860080" y="36198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12" name="Oval 2264"/>
          <p:cNvSpPr/>
          <p:nvPr/>
        </p:nvSpPr>
        <p:spPr>
          <a:xfrm>
            <a:off x="5825880" y="39247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13" name="Oval 2265"/>
          <p:cNvSpPr/>
          <p:nvPr/>
        </p:nvSpPr>
        <p:spPr>
          <a:xfrm>
            <a:off x="5883120" y="39650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14" name="Oval 2266"/>
          <p:cNvSpPr/>
          <p:nvPr/>
        </p:nvSpPr>
        <p:spPr>
          <a:xfrm>
            <a:off x="5868000" y="39160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15" name="Oval 2267"/>
          <p:cNvSpPr/>
          <p:nvPr/>
        </p:nvSpPr>
        <p:spPr>
          <a:xfrm>
            <a:off x="5812560" y="36871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16" name="Oval 2268"/>
          <p:cNvSpPr/>
          <p:nvPr/>
        </p:nvSpPr>
        <p:spPr>
          <a:xfrm>
            <a:off x="6542640" y="31093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17" name="Oval 2269"/>
          <p:cNvSpPr/>
          <p:nvPr/>
        </p:nvSpPr>
        <p:spPr>
          <a:xfrm>
            <a:off x="6685920" y="31183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18" name="Oval 2270"/>
          <p:cNvSpPr/>
          <p:nvPr/>
        </p:nvSpPr>
        <p:spPr>
          <a:xfrm>
            <a:off x="6751080" y="41860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19" name="Oval 2271"/>
          <p:cNvSpPr/>
          <p:nvPr/>
        </p:nvSpPr>
        <p:spPr>
          <a:xfrm>
            <a:off x="6791400" y="41248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20" name="Oval 2272"/>
          <p:cNvSpPr/>
          <p:nvPr/>
        </p:nvSpPr>
        <p:spPr>
          <a:xfrm>
            <a:off x="7247160" y="46328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21" name="Oval 2273"/>
          <p:cNvSpPr/>
          <p:nvPr/>
        </p:nvSpPr>
        <p:spPr>
          <a:xfrm>
            <a:off x="7430400" y="51055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22" name="Oval 2274"/>
          <p:cNvSpPr/>
          <p:nvPr/>
        </p:nvSpPr>
        <p:spPr>
          <a:xfrm>
            <a:off x="7355160" y="47952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23" name="Oval 2275"/>
          <p:cNvSpPr/>
          <p:nvPr/>
        </p:nvSpPr>
        <p:spPr>
          <a:xfrm>
            <a:off x="6080760" y="51620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24" name="Oval 2276"/>
          <p:cNvSpPr/>
          <p:nvPr/>
        </p:nvSpPr>
        <p:spPr>
          <a:xfrm>
            <a:off x="6117120" y="51631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25" name="Oval 2277"/>
          <p:cNvSpPr/>
          <p:nvPr/>
        </p:nvSpPr>
        <p:spPr>
          <a:xfrm>
            <a:off x="6127200" y="51800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26" name="Oval 2278"/>
          <p:cNvSpPr/>
          <p:nvPr/>
        </p:nvSpPr>
        <p:spPr>
          <a:xfrm>
            <a:off x="6301440" y="51735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27" name="Oval 2279"/>
          <p:cNvSpPr/>
          <p:nvPr/>
        </p:nvSpPr>
        <p:spPr>
          <a:xfrm>
            <a:off x="7773480" y="38581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28" name="Oval 2280"/>
          <p:cNvSpPr/>
          <p:nvPr/>
        </p:nvSpPr>
        <p:spPr>
          <a:xfrm>
            <a:off x="7197120" y="41968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29" name="Oval 2281"/>
          <p:cNvSpPr/>
          <p:nvPr/>
        </p:nvSpPr>
        <p:spPr>
          <a:xfrm>
            <a:off x="6132960" y="626544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30" name="Oval 2282"/>
          <p:cNvSpPr/>
          <p:nvPr/>
        </p:nvSpPr>
        <p:spPr>
          <a:xfrm>
            <a:off x="6274800" y="62416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31" name="Oval 2283"/>
          <p:cNvSpPr/>
          <p:nvPr/>
        </p:nvSpPr>
        <p:spPr>
          <a:xfrm>
            <a:off x="6532200" y="63795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32" name="Oval 2284"/>
          <p:cNvSpPr/>
          <p:nvPr/>
        </p:nvSpPr>
        <p:spPr>
          <a:xfrm>
            <a:off x="6019920" y="64396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33" name="Oval 2285"/>
          <p:cNvSpPr/>
          <p:nvPr/>
        </p:nvSpPr>
        <p:spPr>
          <a:xfrm>
            <a:off x="3389040" y="47163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34" name="Oval 2286"/>
          <p:cNvSpPr/>
          <p:nvPr/>
        </p:nvSpPr>
        <p:spPr>
          <a:xfrm>
            <a:off x="2899800" y="46980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35" name="Oval 2287"/>
          <p:cNvSpPr/>
          <p:nvPr/>
        </p:nvSpPr>
        <p:spPr>
          <a:xfrm>
            <a:off x="3601800" y="472392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36" name="Oval 2288"/>
          <p:cNvSpPr/>
          <p:nvPr/>
        </p:nvSpPr>
        <p:spPr>
          <a:xfrm>
            <a:off x="2883240" y="471348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37" name="Oval 2289"/>
          <p:cNvSpPr/>
          <p:nvPr/>
        </p:nvSpPr>
        <p:spPr>
          <a:xfrm>
            <a:off x="4161240" y="611820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38" name="Oval 2290"/>
          <p:cNvSpPr/>
          <p:nvPr/>
        </p:nvSpPr>
        <p:spPr>
          <a:xfrm>
            <a:off x="4103280" y="6150960"/>
            <a:ext cx="85320" cy="85320"/>
          </a:xfrm>
          <a:prstGeom prst="ellipse">
            <a:avLst/>
          </a:prstGeom>
          <a:solidFill>
            <a:srgbClr val="217e86"/>
          </a:solidFill>
          <a:ln w="14288">
            <a:solidFill>
              <a:srgbClr val="f8fafc"/>
            </a:solidFill>
            <a:round/>
          </a:ln>
        </p:spPr>
        <p:style>
          <a:lnRef idx="0"/>
          <a:fillRef idx="0"/>
          <a:effectRef idx="0"/>
          <a:fontRef idx="minor"/>
        </p:style>
        <p:txBody>
          <a:bodyPr lIns="90000" rIns="90000" tIns="15840" bIns="1584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39" name="Freeform: Shape 2291"/>
          <p:cNvSpPr/>
          <p:nvPr/>
        </p:nvSpPr>
        <p:spPr>
          <a:xfrm>
            <a:off x="7447320" y="7480440"/>
            <a:ext cx="1107000" cy="720"/>
          </a:xfrm>
          <a:custGeom>
            <a:avLst/>
            <a:gdLst/>
            <a:ahLst/>
            <a:rect l="l" t="t" r="r" b="b"/>
            <a:pathLst>
              <a:path w="1107301" h="953">
                <a:moveTo>
                  <a:pt x="0" y="0"/>
                </a:moveTo>
                <a:lnTo>
                  <a:pt x="1107301" y="0"/>
                </a:lnTo>
              </a:path>
            </a:pathLst>
          </a:custGeom>
          <a:noFill/>
          <a:ln w="28575">
            <a:solidFill>
              <a:srgbClr val="14293d"/>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40" name="Freeform: Shape 2292"/>
          <p:cNvSpPr/>
          <p:nvPr/>
        </p:nvSpPr>
        <p:spPr>
          <a:xfrm>
            <a:off x="7447320" y="7423560"/>
            <a:ext cx="720" cy="114120"/>
          </a:xfrm>
          <a:custGeom>
            <a:avLst/>
            <a:gdLst/>
            <a:ahLst/>
            <a:rect l="l" t="t" r="r" b="b"/>
            <a:pathLst>
              <a:path w="953" h="114300">
                <a:moveTo>
                  <a:pt x="0" y="0"/>
                </a:moveTo>
                <a:lnTo>
                  <a:pt x="0" y="114300"/>
                </a:lnTo>
              </a:path>
            </a:pathLst>
          </a:custGeom>
          <a:noFill/>
          <a:ln w="19050">
            <a:solidFill>
              <a:srgbClr val="1429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41" name="Freeform: Shape 2293"/>
          <p:cNvSpPr/>
          <p:nvPr/>
        </p:nvSpPr>
        <p:spPr>
          <a:xfrm>
            <a:off x="8554680" y="7423560"/>
            <a:ext cx="720" cy="114120"/>
          </a:xfrm>
          <a:custGeom>
            <a:avLst/>
            <a:gdLst/>
            <a:ahLst/>
            <a:rect l="l" t="t" r="r" b="b"/>
            <a:pathLst>
              <a:path w="953" h="114300">
                <a:moveTo>
                  <a:pt x="0" y="0"/>
                </a:moveTo>
                <a:lnTo>
                  <a:pt x="0" y="114300"/>
                </a:lnTo>
              </a:path>
            </a:pathLst>
          </a:custGeom>
          <a:noFill/>
          <a:ln w="19050">
            <a:solidFill>
              <a:srgbClr val="1429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42" name="Rectangle 2294"/>
          <p:cNvSpPr/>
          <p:nvPr/>
        </p:nvSpPr>
        <p:spPr>
          <a:xfrm>
            <a:off x="7447320" y="7108920"/>
            <a:ext cx="1523520" cy="3045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650" strike="noStrike" u="none">
                <a:solidFill>
                  <a:srgbClr val="526779"/>
                </a:solidFill>
                <a:effectLst/>
                <a:uFillTx/>
                <a:latin typeface="Century Gothic"/>
                <a:ea typeface="Century Gothic"/>
              </a:rPr>
              <a:t>10 km</a:t>
            </a:r>
            <a:endParaRPr b="0" lang="en-US" sz="1650" strike="noStrike" u="none">
              <a:solidFill>
                <a:srgbClr val="000000"/>
              </a:solidFill>
              <a:effectLst/>
              <a:uFillTx/>
              <a:latin typeface="Arial"/>
            </a:endParaRPr>
          </a:p>
        </p:txBody>
      </p:sp>
      <p:sp>
        <p:nvSpPr>
          <p:cNvPr id="2343" name="Rectangle 2295"/>
          <p:cNvSpPr/>
          <p:nvPr/>
        </p:nvSpPr>
        <p:spPr>
          <a:xfrm>
            <a:off x="11525400" y="2571840"/>
            <a:ext cx="666360" cy="3330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70" strike="noStrike" u="none">
                <a:solidFill>
                  <a:srgbClr val="526779"/>
                </a:solidFill>
                <a:effectLst/>
                <a:uFillTx/>
                <a:latin typeface="Century Gothic"/>
                <a:ea typeface="Century Gothic"/>
              </a:rPr>
              <a:t>N ↑</a:t>
            </a:r>
            <a:endParaRPr b="0" lang="en-US" sz="1870" strike="noStrike" u="none">
              <a:solidFill>
                <a:srgbClr val="000000"/>
              </a:solidFill>
              <a:effectLst/>
              <a:uFillTx/>
              <a:latin typeface="Arial"/>
            </a:endParaRPr>
          </a:p>
        </p:txBody>
      </p:sp>
      <p:sp>
        <p:nvSpPr>
          <p:cNvPr id="2344" name="Oval 2296"/>
          <p:cNvSpPr/>
          <p:nvPr/>
        </p:nvSpPr>
        <p:spPr>
          <a:xfrm>
            <a:off x="6094080" y="5146920"/>
            <a:ext cx="151920" cy="151920"/>
          </a:xfrm>
          <a:prstGeom prst="ellipse">
            <a:avLst/>
          </a:prstGeom>
          <a:solidFill>
            <a:srgbClr val="bd481d"/>
          </a:solidFill>
          <a:ln w="14288">
            <a:solidFill>
              <a:srgbClr val="ffffff"/>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45" name="Oval 2297"/>
          <p:cNvSpPr/>
          <p:nvPr/>
        </p:nvSpPr>
        <p:spPr>
          <a:xfrm>
            <a:off x="4763520" y="5653440"/>
            <a:ext cx="151920" cy="151920"/>
          </a:xfrm>
          <a:prstGeom prst="ellipse">
            <a:avLst/>
          </a:prstGeom>
          <a:solidFill>
            <a:srgbClr val="bd481d"/>
          </a:solidFill>
          <a:ln w="14288">
            <a:solidFill>
              <a:srgbClr val="ffffff"/>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46" name="Oval 2298"/>
          <p:cNvSpPr/>
          <p:nvPr/>
        </p:nvSpPr>
        <p:spPr>
          <a:xfrm>
            <a:off x="5899320" y="5848920"/>
            <a:ext cx="151920" cy="151920"/>
          </a:xfrm>
          <a:prstGeom prst="ellipse">
            <a:avLst/>
          </a:prstGeom>
          <a:solidFill>
            <a:srgbClr val="bd481d"/>
          </a:solidFill>
          <a:ln w="14288">
            <a:solidFill>
              <a:srgbClr val="ffffff"/>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47" name="Oval 2299"/>
          <p:cNvSpPr/>
          <p:nvPr/>
        </p:nvSpPr>
        <p:spPr>
          <a:xfrm>
            <a:off x="6174000" y="5168520"/>
            <a:ext cx="151920" cy="151920"/>
          </a:xfrm>
          <a:prstGeom prst="ellipse">
            <a:avLst/>
          </a:prstGeom>
          <a:solidFill>
            <a:srgbClr val="bd481d"/>
          </a:solidFill>
          <a:ln w="14288">
            <a:solidFill>
              <a:srgbClr val="ffffff"/>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48" name="Oval 2300"/>
          <p:cNvSpPr/>
          <p:nvPr/>
        </p:nvSpPr>
        <p:spPr>
          <a:xfrm>
            <a:off x="3544920" y="6134040"/>
            <a:ext cx="151920" cy="151920"/>
          </a:xfrm>
          <a:prstGeom prst="ellipse">
            <a:avLst/>
          </a:prstGeom>
          <a:solidFill>
            <a:srgbClr val="bd481d"/>
          </a:solidFill>
          <a:ln w="14288">
            <a:solidFill>
              <a:srgbClr val="ffffff"/>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49" name="Oval 2301"/>
          <p:cNvSpPr/>
          <p:nvPr/>
        </p:nvSpPr>
        <p:spPr>
          <a:xfrm>
            <a:off x="6176880" y="4977720"/>
            <a:ext cx="151920" cy="151920"/>
          </a:xfrm>
          <a:prstGeom prst="ellipse">
            <a:avLst/>
          </a:prstGeom>
          <a:solidFill>
            <a:srgbClr val="bd481d"/>
          </a:solidFill>
          <a:ln w="14288">
            <a:solidFill>
              <a:srgbClr val="ffffff"/>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50" name="Rectangle 2302"/>
          <p:cNvSpPr/>
          <p:nvPr/>
        </p:nvSpPr>
        <p:spPr>
          <a:xfrm>
            <a:off x="12953880" y="2571840"/>
            <a:ext cx="4285800" cy="9522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6450" strike="noStrike" u="none">
                <a:solidFill>
                  <a:srgbClr val="c76a38"/>
                </a:solidFill>
                <a:effectLst/>
                <a:uFillTx/>
                <a:latin typeface="Century Gothic"/>
                <a:ea typeface="Century Gothic"/>
              </a:rPr>
              <a:t>626</a:t>
            </a:r>
            <a:endParaRPr b="0" lang="en-US" sz="6450" strike="noStrike" u="none">
              <a:solidFill>
                <a:srgbClr val="000000"/>
              </a:solidFill>
              <a:effectLst/>
              <a:uFillTx/>
              <a:latin typeface="Arial"/>
            </a:endParaRPr>
          </a:p>
        </p:txBody>
      </p:sp>
      <p:sp>
        <p:nvSpPr>
          <p:cNvPr id="2351" name="Rectangle 2303"/>
          <p:cNvSpPr/>
          <p:nvPr/>
        </p:nvSpPr>
        <p:spPr>
          <a:xfrm>
            <a:off x="12953880" y="3666960"/>
            <a:ext cx="4285800" cy="9046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400" strike="noStrike" u="none">
                <a:solidFill>
                  <a:srgbClr val="14293d"/>
                </a:solidFill>
                <a:effectLst/>
                <a:uFillTx/>
                <a:latin typeface="Century Gothic"/>
                <a:ea typeface="Century Gothic"/>
              </a:rPr>
              <a:t>congested-community polygons</a:t>
            </a:r>
            <a:endParaRPr b="0" lang="en-US" sz="2400" strike="noStrike" u="none">
              <a:solidFill>
                <a:srgbClr val="000000"/>
              </a:solidFill>
              <a:effectLst/>
              <a:uFillTx/>
              <a:latin typeface="Arial"/>
            </a:endParaRPr>
          </a:p>
        </p:txBody>
      </p:sp>
      <p:sp>
        <p:nvSpPr>
          <p:cNvPr id="2352" name="Rectangle 2304"/>
          <p:cNvSpPr/>
          <p:nvPr/>
        </p:nvSpPr>
        <p:spPr>
          <a:xfrm>
            <a:off x="12953880" y="4762440"/>
            <a:ext cx="4285800" cy="9046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6450" strike="noStrike" u="none">
                <a:solidFill>
                  <a:srgbClr val="217e86"/>
                </a:solidFill>
                <a:effectLst/>
                <a:uFillTx/>
                <a:latin typeface="Century Gothic"/>
                <a:ea typeface="Century Gothic"/>
              </a:rPr>
              <a:t>177</a:t>
            </a:r>
            <a:endParaRPr b="0" lang="en-US" sz="6450" strike="noStrike" u="none">
              <a:solidFill>
                <a:srgbClr val="000000"/>
              </a:solidFill>
              <a:effectLst/>
              <a:uFillTx/>
              <a:latin typeface="Arial"/>
            </a:endParaRPr>
          </a:p>
        </p:txBody>
      </p:sp>
      <p:sp>
        <p:nvSpPr>
          <p:cNvPr id="2353" name="Rectangle 2305"/>
          <p:cNvSpPr/>
          <p:nvPr/>
        </p:nvSpPr>
        <p:spPr>
          <a:xfrm>
            <a:off x="12953880" y="5810400"/>
            <a:ext cx="428580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400" strike="noStrike" u="none">
                <a:solidFill>
                  <a:srgbClr val="14293d"/>
                </a:solidFill>
                <a:effectLst/>
                <a:uFillTx/>
                <a:latin typeface="Century Gothic"/>
                <a:ea typeface="Century Gothic"/>
              </a:rPr>
              <a:t>Baan Mankong locations</a:t>
            </a:r>
            <a:endParaRPr b="0" lang="en-US" sz="2400" strike="noStrike" u="none">
              <a:solidFill>
                <a:srgbClr val="000000"/>
              </a:solidFill>
              <a:effectLst/>
              <a:uFillTx/>
              <a:latin typeface="Arial"/>
            </a:endParaRPr>
          </a:p>
        </p:txBody>
      </p:sp>
      <p:sp>
        <p:nvSpPr>
          <p:cNvPr id="2354" name="Rectangle 2306"/>
          <p:cNvSpPr/>
          <p:nvPr/>
        </p:nvSpPr>
        <p:spPr>
          <a:xfrm>
            <a:off x="12953880" y="6927480"/>
            <a:ext cx="4285800" cy="6188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400" strike="noStrike" u="none">
                <a:solidFill>
                  <a:srgbClr val="c76a38"/>
                </a:solidFill>
                <a:effectLst/>
                <a:uFillTx/>
                <a:latin typeface="Century Gothic"/>
                <a:ea typeface="Century Gothic"/>
              </a:rPr>
              <a:t>6 high / critical</a:t>
            </a:r>
            <a:endParaRPr b="0" lang="en-US" sz="4400" strike="noStrike" u="none">
              <a:solidFill>
                <a:srgbClr val="000000"/>
              </a:solidFill>
              <a:effectLst/>
              <a:uFillTx/>
              <a:latin typeface="Arial"/>
            </a:endParaRPr>
          </a:p>
        </p:txBody>
      </p:sp>
      <p:sp>
        <p:nvSpPr>
          <p:cNvPr id="2355" name="Rectangle 2307"/>
          <p:cNvSpPr/>
          <p:nvPr/>
        </p:nvSpPr>
        <p:spPr>
          <a:xfrm>
            <a:off x="12953880" y="7715160"/>
            <a:ext cx="4285800" cy="5713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250" strike="noStrike" u="none">
                <a:solidFill>
                  <a:srgbClr val="14293d"/>
                </a:solidFill>
                <a:effectLst/>
                <a:uFillTx/>
                <a:latin typeface="Century Gothic"/>
                <a:ea typeface="Century Gothic"/>
              </a:rPr>
              <a:t>high-risk communities</a:t>
            </a:r>
            <a:endParaRPr b="0" lang="en-US" sz="2250" strike="noStrike" u="none">
              <a:solidFill>
                <a:srgbClr val="000000"/>
              </a:solidFill>
              <a:effectLst/>
              <a:uFillTx/>
              <a:latin typeface="Arial"/>
            </a:endParaRPr>
          </a:p>
        </p:txBody>
      </p:sp>
      <p:sp>
        <p:nvSpPr>
          <p:cNvPr id="2356" name="Rectangle 2308"/>
          <p:cNvSpPr/>
          <p:nvPr/>
        </p:nvSpPr>
        <p:spPr>
          <a:xfrm>
            <a:off x="12953880" y="8334360"/>
            <a:ext cx="4285800" cy="6188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Project points show locations,</a:t>
            </a:r>
            <a:endParaRPr b="0" lang="en-US" sz="1800" strike="noStrike" u="none">
              <a:solidFill>
                <a:srgbClr val="000000"/>
              </a:solidFill>
              <a:effectLst/>
              <a:uFillTx/>
              <a:latin typeface="Arial"/>
            </a:endParaRPr>
          </a:p>
          <a:p>
            <a:pPr defTabSz="914400">
              <a:lnSpc>
                <a:spcPct val="100000"/>
              </a:lnSpc>
            </a:pPr>
            <a:r>
              <a:rPr b="0" lang="en-US" sz="1800" strike="noStrike" u="none">
                <a:solidFill>
                  <a:srgbClr val="526779"/>
                </a:solidFill>
                <a:effectLst/>
                <a:uFillTx/>
                <a:latin typeface="Century Gothic"/>
                <a:ea typeface="Century Gothic"/>
              </a:rPr>
              <a:t>not project boundaries.</a:t>
            </a:r>
            <a:endParaRPr b="0" lang="en-US" sz="1800" strike="noStrike" u="none">
              <a:solidFill>
                <a:srgbClr val="000000"/>
              </a:solidFill>
              <a:effectLst/>
              <a:uFillTx/>
              <a:latin typeface="Arial"/>
            </a:endParaRPr>
          </a:p>
        </p:txBody>
      </p:sp>
      <p:sp>
        <p:nvSpPr>
          <p:cNvPr id="2357" name="Rectangle 2309"/>
          <p:cNvSpPr/>
          <p:nvPr/>
        </p:nvSpPr>
        <p:spPr>
          <a:xfrm>
            <a:off x="7447320" y="7639560"/>
            <a:ext cx="4744440" cy="13856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950" strike="noStrike" u="none">
                <a:solidFill>
                  <a:schemeClr val="accent2">
                    <a:lumMod val="75000"/>
                  </a:schemeClr>
                </a:solidFill>
                <a:effectLst/>
                <a:uFillTx/>
                <a:latin typeface="Century Gothic"/>
                <a:ea typeface="Century Gothic"/>
              </a:rPr>
              <a:t>Orange: </a:t>
            </a:r>
            <a:r>
              <a:rPr b="0" lang="en-US" sz="1950" strike="noStrike" u="none">
                <a:solidFill>
                  <a:srgbClr val="526779"/>
                </a:solidFill>
                <a:effectLst/>
                <a:uFillTx/>
                <a:latin typeface="Century Gothic"/>
                <a:ea typeface="Century Gothic"/>
              </a:rPr>
              <a:t>congested boundaries    </a:t>
            </a:r>
            <a:endParaRPr b="0" lang="en-US" sz="1950" strike="noStrike" u="none">
              <a:solidFill>
                <a:srgbClr val="000000"/>
              </a:solidFill>
              <a:effectLst/>
              <a:uFillTx/>
              <a:latin typeface="Arial"/>
            </a:endParaRPr>
          </a:p>
          <a:p>
            <a:pPr defTabSz="914400">
              <a:lnSpc>
                <a:spcPct val="100000"/>
              </a:lnSpc>
            </a:pPr>
            <a:r>
              <a:rPr b="1" lang="en-US" sz="1950" strike="noStrike" u="none">
                <a:solidFill>
                  <a:srgbClr val="b7a890"/>
                </a:solidFill>
                <a:effectLst/>
                <a:uFillTx/>
                <a:latin typeface="Century Gothic"/>
                <a:ea typeface="Century Gothic"/>
              </a:rPr>
              <a:t>Beige: </a:t>
            </a:r>
            <a:r>
              <a:rPr b="0" lang="en-US" sz="1950" strike="noStrike" u="none">
                <a:solidFill>
                  <a:srgbClr val="526779"/>
                </a:solidFill>
                <a:effectLst/>
                <a:uFillTx/>
                <a:latin typeface="Century Gothic"/>
                <a:ea typeface="Century Gothic"/>
              </a:rPr>
              <a:t>other communities    </a:t>
            </a:r>
            <a:endParaRPr b="0" lang="en-US" sz="1950" strike="noStrike" u="none">
              <a:solidFill>
                <a:srgbClr val="000000"/>
              </a:solidFill>
              <a:effectLst/>
              <a:uFillTx/>
              <a:latin typeface="Arial"/>
            </a:endParaRPr>
          </a:p>
          <a:p>
            <a:pPr defTabSz="914400">
              <a:lnSpc>
                <a:spcPct val="100000"/>
              </a:lnSpc>
            </a:pPr>
            <a:r>
              <a:rPr b="1" lang="en-US" sz="1950" strike="noStrike" u="none">
                <a:solidFill>
                  <a:schemeClr val="accent1"/>
                </a:solidFill>
                <a:effectLst/>
                <a:uFillTx/>
                <a:latin typeface="Century Gothic"/>
                <a:ea typeface="Century Gothic"/>
              </a:rPr>
              <a:t>Blue: </a:t>
            </a:r>
            <a:r>
              <a:rPr b="0" lang="en-US" sz="1950" strike="noStrike" u="none">
                <a:solidFill>
                  <a:srgbClr val="526779"/>
                </a:solidFill>
                <a:effectLst/>
                <a:uFillTx/>
                <a:latin typeface="Century Gothic"/>
                <a:ea typeface="Century Gothic"/>
              </a:rPr>
              <a:t>Baan Mankong    </a:t>
            </a:r>
            <a:endParaRPr b="0" lang="en-US" sz="1950" strike="noStrike" u="none">
              <a:solidFill>
                <a:srgbClr val="000000"/>
              </a:solidFill>
              <a:effectLst/>
              <a:uFillTx/>
              <a:latin typeface="Arial"/>
            </a:endParaRPr>
          </a:p>
          <a:p>
            <a:pPr defTabSz="914400">
              <a:lnSpc>
                <a:spcPct val="100000"/>
              </a:lnSpc>
            </a:pPr>
            <a:r>
              <a:rPr b="1" lang="en-US" sz="1950" strike="noStrike" u="none">
                <a:solidFill>
                  <a:srgbClr val="c00000"/>
                </a:solidFill>
                <a:effectLst/>
                <a:uFillTx/>
                <a:latin typeface="Century Gothic"/>
                <a:ea typeface="Century Gothic"/>
              </a:rPr>
              <a:t>Red: </a:t>
            </a:r>
            <a:r>
              <a:rPr b="0" lang="en-US" sz="1950" strike="noStrike" u="none">
                <a:solidFill>
                  <a:srgbClr val="526779"/>
                </a:solidFill>
                <a:effectLst/>
                <a:uFillTx/>
                <a:latin typeface="Century Gothic"/>
                <a:ea typeface="Century Gothic"/>
              </a:rPr>
              <a:t>fire risk</a:t>
            </a:r>
            <a:endParaRPr b="0" lang="en-US" sz="19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358" name="Freeform: Shape 17"/>
          <p:cNvSpPr/>
          <p:nvPr/>
        </p:nvSpPr>
        <p:spPr>
          <a:xfrm>
            <a:off x="952560" y="685800"/>
            <a:ext cx="16382520" cy="720"/>
          </a:xfrm>
          <a:custGeom>
            <a:avLst/>
            <a:gdLst/>
            <a:ahLst/>
            <a:rect l="l" t="t" r="r" b="b"/>
            <a:pathLst>
              <a:path w="16383000" h="953">
                <a:moveTo>
                  <a:pt x="0" y="0"/>
                </a:moveTo>
                <a:lnTo>
                  <a:pt x="16383000" y="0"/>
                </a:lnTo>
              </a:path>
            </a:pathLst>
          </a:custGeom>
          <a:noFill/>
          <a:ln w="28575">
            <a:solidFill>
              <a:srgbClr val="217e86"/>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59" name="Rectangle 1"/>
          <p:cNvSpPr/>
          <p:nvPr/>
        </p:nvSpPr>
        <p:spPr>
          <a:xfrm>
            <a:off x="952560" y="905040"/>
            <a:ext cx="16287480" cy="11426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rgbClr val="14293d"/>
                </a:solidFill>
                <a:effectLst/>
                <a:uFillTx/>
                <a:latin typeface="Century Gothic"/>
                <a:ea typeface="Century Gothic"/>
              </a:rPr>
              <a:t>Citywide screening produces a review queue</a:t>
            </a:r>
            <a:endParaRPr b="0" lang="en-US" sz="4120" strike="noStrike" u="none">
              <a:solidFill>
                <a:srgbClr val="000000"/>
              </a:solidFill>
              <a:effectLst/>
              <a:uFillTx/>
              <a:latin typeface="Arial"/>
            </a:endParaRPr>
          </a:p>
        </p:txBody>
      </p:sp>
      <p:sp>
        <p:nvSpPr>
          <p:cNvPr id="2360" name="Freeform: Shape 2"/>
          <p:cNvSpPr/>
          <p:nvPr/>
        </p:nvSpPr>
        <p:spPr>
          <a:xfrm>
            <a:off x="952560" y="9429840"/>
            <a:ext cx="16382520" cy="720"/>
          </a:xfrm>
          <a:custGeom>
            <a:avLst/>
            <a:gdLst/>
            <a:ahLst/>
            <a:rect l="l" t="t" r="r" b="b"/>
            <a:pathLst>
              <a:path w="16383000" h="953">
                <a:moveTo>
                  <a:pt x="0" y="0"/>
                </a:moveTo>
                <a:lnTo>
                  <a:pt x="16383000" y="0"/>
                </a:lnTo>
              </a:path>
            </a:pathLst>
          </a:custGeom>
          <a:noFill/>
          <a:ln w="9525">
            <a:solidFill>
              <a:srgbClr val="cad5df"/>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61" name="Rectangle 3"/>
          <p:cNvSpPr/>
          <p:nvPr/>
        </p:nvSpPr>
        <p:spPr>
          <a:xfrm>
            <a:off x="952560" y="9667800"/>
            <a:ext cx="1238220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350" strike="noStrike" u="none">
                <a:solidFill>
                  <a:srgbClr val="526779"/>
                </a:solidFill>
                <a:effectLst/>
                <a:uFillTx/>
                <a:latin typeface="Century Gothic"/>
                <a:ea typeface="Century Gothic"/>
              </a:rPr>
              <a:t>PIXELS TO METRO POLICY / GEOHACKATHON 2026</a:t>
            </a:r>
            <a:endParaRPr b="0" lang="en-US" sz="1350" strike="noStrike" u="none">
              <a:solidFill>
                <a:srgbClr val="000000"/>
              </a:solidFill>
              <a:effectLst/>
              <a:uFillTx/>
              <a:latin typeface="Arial"/>
            </a:endParaRPr>
          </a:p>
        </p:txBody>
      </p:sp>
      <p:sp>
        <p:nvSpPr>
          <p:cNvPr id="2362" name="Rectangle 4"/>
          <p:cNvSpPr/>
          <p:nvPr/>
        </p:nvSpPr>
        <p:spPr>
          <a:xfrm>
            <a:off x="16859160" y="9601200"/>
            <a:ext cx="57132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04</a:t>
            </a:r>
            <a:endParaRPr b="0" lang="en-US" sz="1800" strike="noStrike" u="none">
              <a:solidFill>
                <a:srgbClr val="000000"/>
              </a:solidFill>
              <a:effectLst/>
              <a:uFillTx/>
              <a:latin typeface="Arial"/>
            </a:endParaRPr>
          </a:p>
        </p:txBody>
      </p:sp>
      <p:sp>
        <p:nvSpPr>
          <p:cNvPr id="2363" name="Rectangle 5"/>
          <p:cNvSpPr/>
          <p:nvPr/>
        </p:nvSpPr>
        <p:spPr>
          <a:xfrm>
            <a:off x="952560" y="1952640"/>
            <a:ext cx="1628748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020" strike="noStrike" u="none">
                <a:solidFill>
                  <a:srgbClr val="526779"/>
                </a:solidFill>
                <a:effectLst/>
                <a:uFillTx/>
                <a:latin typeface="Century Gothic"/>
                <a:ea typeface="Century Gothic"/>
              </a:rPr>
              <a:t>Local satellite segmentation and the citywide building model use separate inputs and serve different scales.</a:t>
            </a:r>
            <a:endParaRPr b="0" lang="en-US" sz="2020" strike="noStrike" u="none">
              <a:solidFill>
                <a:srgbClr val="000000"/>
              </a:solidFill>
              <a:effectLst/>
              <a:uFillTx/>
              <a:latin typeface="Arial"/>
            </a:endParaRPr>
          </a:p>
        </p:txBody>
      </p:sp>
      <p:pic>
        <p:nvPicPr>
          <p:cNvPr id="2364" name="Picture 6" descr=""/>
          <p:cNvPicPr/>
          <p:nvPr/>
        </p:nvPicPr>
        <p:blipFill>
          <a:blip r:embed="rId1"/>
          <a:srcRect l="53130" t="34449" r="3959" b="22222"/>
          <a:stretch/>
        </p:blipFill>
        <p:spPr>
          <a:xfrm>
            <a:off x="952560" y="2762280"/>
            <a:ext cx="9429480" cy="5352840"/>
          </a:xfrm>
          <a:prstGeom prst="rect">
            <a:avLst/>
          </a:prstGeom>
          <a:noFill/>
          <a:ln w="0">
            <a:noFill/>
          </a:ln>
        </p:spPr>
      </p:pic>
      <p:sp>
        <p:nvSpPr>
          <p:cNvPr id="2365" name="Rectangle 7"/>
          <p:cNvSpPr/>
          <p:nvPr/>
        </p:nvSpPr>
        <p:spPr>
          <a:xfrm>
            <a:off x="952560" y="8286840"/>
            <a:ext cx="9334080" cy="5234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470" strike="noStrike" u="none">
                <a:solidFill>
                  <a:srgbClr val="217e86"/>
                </a:solidFill>
                <a:effectLst/>
                <a:uFillTx/>
                <a:latin typeface="Century Gothic"/>
                <a:ea typeface="Century Gothic"/>
              </a:rPr>
              <a:t>THEOS-2 roof extraction</a:t>
            </a:r>
            <a:endParaRPr b="0" lang="en-US" sz="2470" strike="noStrike" u="none">
              <a:solidFill>
                <a:srgbClr val="000000"/>
              </a:solidFill>
              <a:effectLst/>
              <a:uFillTx/>
              <a:latin typeface="Arial"/>
            </a:endParaRPr>
          </a:p>
        </p:txBody>
      </p:sp>
      <p:sp>
        <p:nvSpPr>
          <p:cNvPr id="2366" name="Rectangle 8"/>
          <p:cNvSpPr/>
          <p:nvPr/>
        </p:nvSpPr>
        <p:spPr>
          <a:xfrm>
            <a:off x="952560" y="8810640"/>
            <a:ext cx="933408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020" strike="noStrike" u="none">
                <a:solidFill>
                  <a:srgbClr val="526779"/>
                </a:solidFill>
                <a:effectLst/>
                <a:uFillTx/>
                <a:latin typeface="Century Gothic"/>
                <a:ea typeface="Century Gothic"/>
              </a:rPr>
              <a:t>2,284 polygons across two scenes</a:t>
            </a:r>
            <a:endParaRPr b="0" lang="en-US" sz="2020" strike="noStrike" u="none">
              <a:solidFill>
                <a:srgbClr val="000000"/>
              </a:solidFill>
              <a:effectLst/>
              <a:uFillTx/>
              <a:latin typeface="Arial"/>
            </a:endParaRPr>
          </a:p>
        </p:txBody>
      </p:sp>
      <p:sp>
        <p:nvSpPr>
          <p:cNvPr id="2367" name="Rectangle 9"/>
          <p:cNvSpPr/>
          <p:nvPr/>
        </p:nvSpPr>
        <p:spPr>
          <a:xfrm>
            <a:off x="11430000" y="2714760"/>
            <a:ext cx="5714640" cy="475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870" strike="noStrike" u="none">
                <a:solidFill>
                  <a:srgbClr val="526779"/>
                </a:solidFill>
                <a:effectLst/>
                <a:uFillTx/>
                <a:latin typeface="Century Gothic"/>
                <a:ea typeface="Century Gothic"/>
              </a:rPr>
              <a:t>SEPARATE CITYWIDE PIPELINE</a:t>
            </a:r>
            <a:endParaRPr b="0" lang="en-US" sz="1870" strike="noStrike" u="none">
              <a:solidFill>
                <a:srgbClr val="000000"/>
              </a:solidFill>
              <a:effectLst/>
              <a:uFillTx/>
              <a:latin typeface="Arial"/>
            </a:endParaRPr>
          </a:p>
        </p:txBody>
      </p:sp>
      <p:sp>
        <p:nvSpPr>
          <p:cNvPr id="2368" name="Rectangle 10"/>
          <p:cNvSpPr/>
          <p:nvPr/>
        </p:nvSpPr>
        <p:spPr>
          <a:xfrm>
            <a:off x="11430000" y="3381480"/>
            <a:ext cx="5905080" cy="7138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rgbClr val="14293d"/>
                </a:solidFill>
                <a:effectLst/>
                <a:uFillTx/>
                <a:latin typeface="Century Gothic"/>
                <a:ea typeface="Century Gothic"/>
              </a:rPr>
              <a:t>1.80M footprints</a:t>
            </a:r>
            <a:endParaRPr b="0" lang="en-US" sz="4120" strike="noStrike" u="none">
              <a:solidFill>
                <a:srgbClr val="000000"/>
              </a:solidFill>
              <a:effectLst/>
              <a:uFillTx/>
              <a:latin typeface="Arial"/>
            </a:endParaRPr>
          </a:p>
        </p:txBody>
      </p:sp>
      <p:sp>
        <p:nvSpPr>
          <p:cNvPr id="2369" name="Rectangle 11"/>
          <p:cNvSpPr/>
          <p:nvPr/>
        </p:nvSpPr>
        <p:spPr>
          <a:xfrm>
            <a:off x="11430000" y="4143240"/>
            <a:ext cx="590508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950" strike="noStrike" u="none">
                <a:solidFill>
                  <a:srgbClr val="526779"/>
                </a:solidFill>
                <a:effectLst/>
                <a:uFillTx/>
                <a:latin typeface="Century Gothic"/>
                <a:ea typeface="Century Gothic"/>
              </a:rPr>
              <a:t>Open building records clipped to the study area</a:t>
            </a:r>
            <a:endParaRPr b="0" lang="en-US" sz="1950" strike="noStrike" u="none">
              <a:solidFill>
                <a:srgbClr val="000000"/>
              </a:solidFill>
              <a:effectLst/>
              <a:uFillTx/>
              <a:latin typeface="Arial"/>
            </a:endParaRPr>
          </a:p>
        </p:txBody>
      </p:sp>
      <p:sp>
        <p:nvSpPr>
          <p:cNvPr id="2370" name="Rectangle 12"/>
          <p:cNvSpPr/>
          <p:nvPr/>
        </p:nvSpPr>
        <p:spPr>
          <a:xfrm>
            <a:off x="11430000" y="5095800"/>
            <a:ext cx="5905080" cy="7138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rgbClr val="217e86"/>
                </a:solidFill>
                <a:effectLst/>
                <a:uFillTx/>
                <a:latin typeface="Century Gothic"/>
                <a:ea typeface="Century Gothic"/>
              </a:rPr>
              <a:t>123,917 grid cells</a:t>
            </a:r>
            <a:endParaRPr b="0" lang="en-US" sz="4120" strike="noStrike" u="none">
              <a:solidFill>
                <a:srgbClr val="000000"/>
              </a:solidFill>
              <a:effectLst/>
              <a:uFillTx/>
              <a:latin typeface="Arial"/>
            </a:endParaRPr>
          </a:p>
        </p:txBody>
      </p:sp>
      <p:sp>
        <p:nvSpPr>
          <p:cNvPr id="2371" name="Rectangle 13"/>
          <p:cNvSpPr/>
          <p:nvPr/>
        </p:nvSpPr>
        <p:spPr>
          <a:xfrm>
            <a:off x="11430000" y="5857920"/>
            <a:ext cx="590508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950" strike="noStrike" u="none">
                <a:solidFill>
                  <a:srgbClr val="526779"/>
                </a:solidFill>
                <a:effectLst/>
                <a:uFillTx/>
                <a:latin typeface="Century Gothic"/>
                <a:ea typeface="Century Gothic"/>
              </a:rPr>
              <a:t>Building patterns summarized at 100 m resolution</a:t>
            </a:r>
            <a:endParaRPr b="0" lang="en-US" sz="1950" strike="noStrike" u="none">
              <a:solidFill>
                <a:srgbClr val="000000"/>
              </a:solidFill>
              <a:effectLst/>
              <a:uFillTx/>
              <a:latin typeface="Arial"/>
            </a:endParaRPr>
          </a:p>
        </p:txBody>
      </p:sp>
      <p:sp>
        <p:nvSpPr>
          <p:cNvPr id="2372" name="Rectangle 14"/>
          <p:cNvSpPr/>
          <p:nvPr/>
        </p:nvSpPr>
        <p:spPr>
          <a:xfrm>
            <a:off x="11430000" y="6810480"/>
            <a:ext cx="5905080" cy="7138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rgbClr val="c76a38"/>
                </a:solidFill>
                <a:effectLst/>
                <a:uFillTx/>
                <a:latin typeface="Century Gothic"/>
                <a:ea typeface="Century Gothic"/>
              </a:rPr>
              <a:t>244 review areas</a:t>
            </a:r>
            <a:endParaRPr b="0" lang="en-US" sz="4120" strike="noStrike" u="none">
              <a:solidFill>
                <a:srgbClr val="000000"/>
              </a:solidFill>
              <a:effectLst/>
              <a:uFillTx/>
              <a:latin typeface="Arial"/>
            </a:endParaRPr>
          </a:p>
        </p:txBody>
      </p:sp>
      <p:sp>
        <p:nvSpPr>
          <p:cNvPr id="2373" name="Rectangle 15"/>
          <p:cNvSpPr/>
          <p:nvPr/>
        </p:nvSpPr>
        <p:spPr>
          <a:xfrm>
            <a:off x="11430000" y="7572240"/>
            <a:ext cx="590508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950" strike="noStrike" u="none">
                <a:solidFill>
                  <a:srgbClr val="526779"/>
                </a:solidFill>
                <a:effectLst/>
                <a:uFillTx/>
                <a:latin typeface="Century Gothic"/>
                <a:ea typeface="Century Gothic"/>
              </a:rPr>
              <a:t>Clusters retained after register and distance filters</a:t>
            </a:r>
            <a:endParaRPr b="0" lang="en-US" sz="1950" strike="noStrike" u="none">
              <a:solidFill>
                <a:srgbClr val="000000"/>
              </a:solidFill>
              <a:effectLst/>
              <a:uFillTx/>
              <a:latin typeface="Arial"/>
            </a:endParaRPr>
          </a:p>
        </p:txBody>
      </p:sp>
      <p:sp>
        <p:nvSpPr>
          <p:cNvPr id="2374" name="Rectangle 16"/>
          <p:cNvSpPr/>
          <p:nvPr/>
        </p:nvSpPr>
        <p:spPr>
          <a:xfrm>
            <a:off x="11430000" y="8572680"/>
            <a:ext cx="590508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950" strike="noStrike" u="none">
                <a:solidFill>
                  <a:srgbClr val="526779"/>
                </a:solidFill>
                <a:effectLst/>
                <a:uFillTx/>
                <a:latin typeface="Century Gothic"/>
                <a:ea typeface="Century Gothic"/>
              </a:rPr>
              <a:t>Output supports a survey queue; validation is pending.</a:t>
            </a:r>
            <a:endParaRPr b="0" lang="en-US" sz="19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375" name="Freeform: Shape 11"/>
          <p:cNvSpPr/>
          <p:nvPr/>
        </p:nvSpPr>
        <p:spPr>
          <a:xfrm>
            <a:off x="952560" y="685800"/>
            <a:ext cx="16382520" cy="720"/>
          </a:xfrm>
          <a:custGeom>
            <a:avLst/>
            <a:gdLst/>
            <a:ahLst/>
            <a:rect l="l" t="t" r="r" b="b"/>
            <a:pathLst>
              <a:path w="16383000" h="953">
                <a:moveTo>
                  <a:pt x="0" y="0"/>
                </a:moveTo>
                <a:lnTo>
                  <a:pt x="16383000" y="0"/>
                </a:lnTo>
              </a:path>
            </a:pathLst>
          </a:custGeom>
          <a:noFill/>
          <a:ln w="28575">
            <a:solidFill>
              <a:srgbClr val="217e86"/>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76" name="Rectangle 1"/>
          <p:cNvSpPr/>
          <p:nvPr/>
        </p:nvSpPr>
        <p:spPr>
          <a:xfrm>
            <a:off x="952560" y="905040"/>
            <a:ext cx="16287480" cy="11426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rgbClr val="14293d"/>
                </a:solidFill>
                <a:effectLst/>
                <a:uFillTx/>
                <a:latin typeface="Century Gothic"/>
                <a:ea typeface="Century Gothic"/>
              </a:rPr>
              <a:t>244 areas to check, with boundaries to reconcile</a:t>
            </a:r>
            <a:endParaRPr b="0" lang="en-US" sz="4120" strike="noStrike" u="none">
              <a:solidFill>
                <a:srgbClr val="000000"/>
              </a:solidFill>
              <a:effectLst/>
              <a:uFillTx/>
              <a:latin typeface="Arial"/>
            </a:endParaRPr>
          </a:p>
        </p:txBody>
      </p:sp>
      <p:sp>
        <p:nvSpPr>
          <p:cNvPr id="2377" name="Freeform: Shape 2"/>
          <p:cNvSpPr/>
          <p:nvPr/>
        </p:nvSpPr>
        <p:spPr>
          <a:xfrm>
            <a:off x="952560" y="9429840"/>
            <a:ext cx="16382520" cy="720"/>
          </a:xfrm>
          <a:custGeom>
            <a:avLst/>
            <a:gdLst/>
            <a:ahLst/>
            <a:rect l="l" t="t" r="r" b="b"/>
            <a:pathLst>
              <a:path w="16383000" h="953">
                <a:moveTo>
                  <a:pt x="0" y="0"/>
                </a:moveTo>
                <a:lnTo>
                  <a:pt x="16383000" y="0"/>
                </a:lnTo>
              </a:path>
            </a:pathLst>
          </a:custGeom>
          <a:noFill/>
          <a:ln w="9525">
            <a:solidFill>
              <a:srgbClr val="cad5df"/>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78" name="Rectangle 3"/>
          <p:cNvSpPr/>
          <p:nvPr/>
        </p:nvSpPr>
        <p:spPr>
          <a:xfrm>
            <a:off x="952560" y="9667800"/>
            <a:ext cx="1238220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350" strike="noStrike" u="none">
                <a:solidFill>
                  <a:srgbClr val="526779"/>
                </a:solidFill>
                <a:effectLst/>
                <a:uFillTx/>
                <a:latin typeface="Century Gothic"/>
                <a:ea typeface="Century Gothic"/>
              </a:rPr>
              <a:t>PIXELS TO METRO POLICY / GEOHACKATHON 2026</a:t>
            </a:r>
            <a:endParaRPr b="0" lang="en-US" sz="1350" strike="noStrike" u="none">
              <a:solidFill>
                <a:srgbClr val="000000"/>
              </a:solidFill>
              <a:effectLst/>
              <a:uFillTx/>
              <a:latin typeface="Arial"/>
            </a:endParaRPr>
          </a:p>
        </p:txBody>
      </p:sp>
      <p:sp>
        <p:nvSpPr>
          <p:cNvPr id="2379" name="Rectangle 4"/>
          <p:cNvSpPr/>
          <p:nvPr/>
        </p:nvSpPr>
        <p:spPr>
          <a:xfrm>
            <a:off x="16859160" y="9601200"/>
            <a:ext cx="57132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05</a:t>
            </a:r>
            <a:endParaRPr b="0" lang="en-US" sz="1800" strike="noStrike" u="none">
              <a:solidFill>
                <a:srgbClr val="000000"/>
              </a:solidFill>
              <a:effectLst/>
              <a:uFillTx/>
              <a:latin typeface="Arial"/>
            </a:endParaRPr>
          </a:p>
        </p:txBody>
      </p:sp>
      <p:sp>
        <p:nvSpPr>
          <p:cNvPr id="2380" name="Rectangle 5"/>
          <p:cNvSpPr/>
          <p:nvPr/>
        </p:nvSpPr>
        <p:spPr>
          <a:xfrm>
            <a:off x="952560" y="1952640"/>
            <a:ext cx="1628748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020" strike="noStrike" u="none">
                <a:solidFill>
                  <a:srgbClr val="526779"/>
                </a:solidFill>
                <a:effectLst/>
                <a:uFillTx/>
                <a:latin typeface="Century Gothic"/>
                <a:ea typeface="Century Gothic"/>
              </a:rPr>
              <a:t>The final polygon check separates areas with no register overlap from areas needing boundary review.</a:t>
            </a:r>
            <a:endParaRPr b="0" lang="en-US" sz="2020" strike="noStrike" u="none">
              <a:solidFill>
                <a:srgbClr val="000000"/>
              </a:solidFill>
              <a:effectLst/>
              <a:uFillTx/>
              <a:latin typeface="Arial"/>
            </a:endParaRPr>
          </a:p>
        </p:txBody>
      </p:sp>
      <p:pic>
        <p:nvPicPr>
          <p:cNvPr id="2381" name="Picture 6" descr=""/>
          <p:cNvPicPr/>
          <p:nvPr/>
        </p:nvPicPr>
        <p:blipFill>
          <a:blip r:embed="rId1"/>
          <a:srcRect l="11999" t="9001" r="0" b="9001"/>
          <a:stretch/>
        </p:blipFill>
        <p:spPr>
          <a:xfrm>
            <a:off x="9334440" y="2571840"/>
            <a:ext cx="8000640" cy="6476760"/>
          </a:xfrm>
          <a:prstGeom prst="rect">
            <a:avLst/>
          </a:prstGeom>
          <a:noFill/>
          <a:ln w="0">
            <a:noFill/>
          </a:ln>
        </p:spPr>
      </p:pic>
      <p:graphicFrame>
        <p:nvGraphicFramePr>
          <p:cNvPr id="2382" name="Chart"/>
          <p:cNvGraphicFramePr/>
          <p:nvPr/>
        </p:nvGraphicFramePr>
        <p:xfrm>
          <a:off x="571680" y="2857680"/>
          <a:ext cx="7714800" cy="4095360"/>
        </p:xfrm>
        <a:graphic>
          <a:graphicData uri="http://schemas.openxmlformats.org/drawingml/2006/chart">
            <c:chart xmlns:c="http://schemas.openxmlformats.org/drawingml/2006/chart" xmlns:r="http://schemas.openxmlformats.org/officeDocument/2006/relationships" r:id="rId2"/>
          </a:graphicData>
        </a:graphic>
      </p:graphicFrame>
      <p:sp>
        <p:nvSpPr>
          <p:cNvPr id="2383" name="Rectangle 8"/>
          <p:cNvSpPr/>
          <p:nvPr/>
        </p:nvSpPr>
        <p:spPr>
          <a:xfrm>
            <a:off x="952560" y="7381800"/>
            <a:ext cx="7524360" cy="1047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250" strike="noStrike" u="none">
                <a:solidFill>
                  <a:srgbClr val="14293d"/>
                </a:solidFill>
                <a:effectLst/>
                <a:uFillTx/>
                <a:latin typeface="Century Gothic"/>
                <a:ea typeface="Century Gothic"/>
              </a:rPr>
              <a:t>154 areas: inspect evidence beyond the register</a:t>
            </a:r>
            <a:endParaRPr b="0" lang="en-US" sz="2250" strike="noStrike" u="none">
              <a:solidFill>
                <a:srgbClr val="000000"/>
              </a:solidFill>
              <a:effectLst/>
              <a:uFillTx/>
              <a:latin typeface="Arial"/>
            </a:endParaRPr>
          </a:p>
          <a:p>
            <a:pPr defTabSz="914400">
              <a:lnSpc>
                <a:spcPct val="100000"/>
              </a:lnSpc>
            </a:pPr>
            <a:r>
              <a:rPr b="0" lang="en-US" sz="2250" strike="noStrike" u="none">
                <a:solidFill>
                  <a:srgbClr val="14293d"/>
                </a:solidFill>
                <a:effectLst/>
                <a:uFillTx/>
                <a:latin typeface="Century Gothic"/>
                <a:ea typeface="Century Gothic"/>
              </a:rPr>
              <a:t>90 areas: reconcile overlapping boundaries</a:t>
            </a:r>
            <a:endParaRPr b="0" lang="en-US" sz="2250" strike="noStrike" u="none">
              <a:solidFill>
                <a:srgbClr val="000000"/>
              </a:solidFill>
              <a:effectLst/>
              <a:uFillTx/>
              <a:latin typeface="Arial"/>
            </a:endParaRPr>
          </a:p>
        </p:txBody>
      </p:sp>
      <p:sp>
        <p:nvSpPr>
          <p:cNvPr id="2384" name="Rectangle 9"/>
          <p:cNvSpPr/>
          <p:nvPr/>
        </p:nvSpPr>
        <p:spPr>
          <a:xfrm>
            <a:off x="952560" y="8524800"/>
            <a:ext cx="752436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950" strike="noStrike" u="none">
                <a:solidFill>
                  <a:srgbClr val="526779"/>
                </a:solidFill>
                <a:effectLst/>
                <a:uFillTx/>
                <a:latin typeface="Century Gothic"/>
                <a:ea typeface="Century Gothic"/>
              </a:rPr>
              <a:t>Use together with existing registered communities.</a:t>
            </a:r>
            <a:endParaRPr b="0" lang="en-US" sz="1950" strike="noStrike" u="none">
              <a:solidFill>
                <a:srgbClr val="000000"/>
              </a:solidFill>
              <a:effectLst/>
              <a:uFillTx/>
              <a:latin typeface="Arial"/>
            </a:endParaRPr>
          </a:p>
        </p:txBody>
      </p:sp>
      <p:sp>
        <p:nvSpPr>
          <p:cNvPr id="2385" name="Rectangle 10"/>
          <p:cNvSpPr/>
          <p:nvPr/>
        </p:nvSpPr>
        <p:spPr>
          <a:xfrm>
            <a:off x="952560" y="8953560"/>
            <a:ext cx="1619208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70" strike="noStrike" u="none">
                <a:solidFill>
                  <a:srgbClr val="c76a38"/>
                </a:solidFill>
                <a:effectLst/>
                <a:uFillTx/>
                <a:latin typeface="Century Gothic"/>
                <a:ea typeface="Century Gothic"/>
              </a:rPr>
              <a:t>Unranked screening output. Zero independently confirmed settlements.</a:t>
            </a:r>
            <a:endParaRPr b="0" lang="en-US" sz="217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386" name="Freeform: Shape 15"/>
          <p:cNvSpPr/>
          <p:nvPr/>
        </p:nvSpPr>
        <p:spPr>
          <a:xfrm>
            <a:off x="952560" y="685800"/>
            <a:ext cx="16382520" cy="720"/>
          </a:xfrm>
          <a:custGeom>
            <a:avLst/>
            <a:gdLst/>
            <a:ahLst/>
            <a:rect l="l" t="t" r="r" b="b"/>
            <a:pathLst>
              <a:path w="16383000" h="953">
                <a:moveTo>
                  <a:pt x="0" y="0"/>
                </a:moveTo>
                <a:lnTo>
                  <a:pt x="16383000" y="0"/>
                </a:lnTo>
              </a:path>
            </a:pathLst>
          </a:custGeom>
          <a:noFill/>
          <a:ln w="28575">
            <a:solidFill>
              <a:srgbClr val="217e86"/>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87" name="Rectangle 1"/>
          <p:cNvSpPr/>
          <p:nvPr/>
        </p:nvSpPr>
        <p:spPr>
          <a:xfrm>
            <a:off x="952560" y="905040"/>
            <a:ext cx="16287480" cy="11426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rgbClr val="14293d"/>
                </a:solidFill>
                <a:effectLst/>
                <a:uFillTx/>
                <a:latin typeface="Century Gothic"/>
                <a:ea typeface="Century Gothic"/>
              </a:rPr>
              <a:t>The audit changed what we could claim</a:t>
            </a:r>
            <a:endParaRPr b="0" lang="en-US" sz="4120" strike="noStrike" u="none">
              <a:solidFill>
                <a:srgbClr val="000000"/>
              </a:solidFill>
              <a:effectLst/>
              <a:uFillTx/>
              <a:latin typeface="Arial"/>
            </a:endParaRPr>
          </a:p>
        </p:txBody>
      </p:sp>
      <p:sp>
        <p:nvSpPr>
          <p:cNvPr id="2388" name="Freeform: Shape 2"/>
          <p:cNvSpPr/>
          <p:nvPr/>
        </p:nvSpPr>
        <p:spPr>
          <a:xfrm>
            <a:off x="952560" y="9429840"/>
            <a:ext cx="16382520" cy="720"/>
          </a:xfrm>
          <a:custGeom>
            <a:avLst/>
            <a:gdLst/>
            <a:ahLst/>
            <a:rect l="l" t="t" r="r" b="b"/>
            <a:pathLst>
              <a:path w="16383000" h="953">
                <a:moveTo>
                  <a:pt x="0" y="0"/>
                </a:moveTo>
                <a:lnTo>
                  <a:pt x="16383000" y="0"/>
                </a:lnTo>
              </a:path>
            </a:pathLst>
          </a:custGeom>
          <a:noFill/>
          <a:ln w="9525">
            <a:solidFill>
              <a:srgbClr val="cad5df"/>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389" name="Rectangle 3"/>
          <p:cNvSpPr/>
          <p:nvPr/>
        </p:nvSpPr>
        <p:spPr>
          <a:xfrm>
            <a:off x="952560" y="9667800"/>
            <a:ext cx="1238220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350" strike="noStrike" u="none">
                <a:solidFill>
                  <a:srgbClr val="526779"/>
                </a:solidFill>
                <a:effectLst/>
                <a:uFillTx/>
                <a:latin typeface="Century Gothic"/>
                <a:ea typeface="Century Gothic"/>
              </a:rPr>
              <a:t>PIXELS TO METRO POLICY / GEOHACKATHON 2026</a:t>
            </a:r>
            <a:endParaRPr b="0" lang="en-US" sz="1350" strike="noStrike" u="none">
              <a:solidFill>
                <a:srgbClr val="000000"/>
              </a:solidFill>
              <a:effectLst/>
              <a:uFillTx/>
              <a:latin typeface="Arial"/>
            </a:endParaRPr>
          </a:p>
        </p:txBody>
      </p:sp>
      <p:sp>
        <p:nvSpPr>
          <p:cNvPr id="2390" name="Rectangle 4"/>
          <p:cNvSpPr/>
          <p:nvPr/>
        </p:nvSpPr>
        <p:spPr>
          <a:xfrm>
            <a:off x="16859160" y="9601200"/>
            <a:ext cx="57132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06</a:t>
            </a:r>
            <a:endParaRPr b="0" lang="en-US" sz="1800" strike="noStrike" u="none">
              <a:solidFill>
                <a:srgbClr val="000000"/>
              </a:solidFill>
              <a:effectLst/>
              <a:uFillTx/>
              <a:latin typeface="Arial"/>
            </a:endParaRPr>
          </a:p>
        </p:txBody>
      </p:sp>
      <p:sp>
        <p:nvSpPr>
          <p:cNvPr id="2391" name="Rectangle 5"/>
          <p:cNvSpPr/>
          <p:nvPr/>
        </p:nvSpPr>
        <p:spPr>
          <a:xfrm>
            <a:off x="952560" y="1952640"/>
            <a:ext cx="1628748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020" strike="noStrike" u="none">
                <a:solidFill>
                  <a:srgbClr val="526779"/>
                </a:solidFill>
                <a:effectLst/>
                <a:uFillTx/>
                <a:latin typeface="Century Gothic"/>
                <a:ea typeface="Century Gothic"/>
              </a:rPr>
              <a:t>Spatial validation limits classification; a corrected join changes how buildings count inside communities.</a:t>
            </a:r>
            <a:endParaRPr b="0" lang="en-US" sz="2020" strike="noStrike" u="none">
              <a:solidFill>
                <a:srgbClr val="000000"/>
              </a:solidFill>
              <a:effectLst/>
              <a:uFillTx/>
              <a:latin typeface="Arial"/>
            </a:endParaRPr>
          </a:p>
        </p:txBody>
      </p:sp>
      <p:sp>
        <p:nvSpPr>
          <p:cNvPr id="2392" name="Rectangle 6"/>
          <p:cNvSpPr/>
          <p:nvPr/>
        </p:nvSpPr>
        <p:spPr>
          <a:xfrm>
            <a:off x="952560" y="2571840"/>
            <a:ext cx="771480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020" strike="noStrike" u="none">
                <a:solidFill>
                  <a:srgbClr val="526779"/>
                </a:solidFill>
                <a:effectLst/>
                <a:uFillTx/>
                <a:latin typeface="Century Gothic"/>
                <a:ea typeface="Century Gothic"/>
              </a:rPr>
              <a:t>MODEL PERFORMANCE</a:t>
            </a:r>
            <a:endParaRPr b="0" lang="en-US" sz="2020" strike="noStrike" u="none">
              <a:solidFill>
                <a:srgbClr val="000000"/>
              </a:solidFill>
              <a:effectLst/>
              <a:uFillTx/>
              <a:latin typeface="Arial"/>
            </a:endParaRPr>
          </a:p>
        </p:txBody>
      </p:sp>
      <p:graphicFrame>
        <p:nvGraphicFramePr>
          <p:cNvPr id="2393" name="Chart"/>
          <p:cNvGraphicFramePr/>
          <p:nvPr/>
        </p:nvGraphicFramePr>
        <p:xfrm>
          <a:off x="666720" y="3333600"/>
          <a:ext cx="7810200" cy="4476240"/>
        </p:xfrm>
        <a:graphic>
          <a:graphicData uri="http://schemas.openxmlformats.org/drawingml/2006/chart">
            <c:chart xmlns:c="http://schemas.openxmlformats.org/drawingml/2006/chart" xmlns:r="http://schemas.openxmlformats.org/officeDocument/2006/relationships" r:id="rId1"/>
          </a:graphicData>
        </a:graphic>
      </p:graphicFrame>
      <p:sp>
        <p:nvSpPr>
          <p:cNvPr id="2394" name="Rectangle 8"/>
          <p:cNvSpPr/>
          <p:nvPr/>
        </p:nvSpPr>
        <p:spPr>
          <a:xfrm>
            <a:off x="952560" y="7858080"/>
            <a:ext cx="7810200" cy="475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400" strike="noStrike" u="none">
                <a:solidFill>
                  <a:srgbClr val="c76a38"/>
                </a:solidFill>
                <a:effectLst/>
                <a:uFillTx/>
                <a:latin typeface="Century Gothic"/>
                <a:ea typeface="Century Gothic"/>
              </a:rPr>
              <a:t>Below the gate for classification</a:t>
            </a:r>
            <a:endParaRPr b="0" lang="en-US" sz="2400" strike="noStrike" u="none">
              <a:solidFill>
                <a:srgbClr val="000000"/>
              </a:solidFill>
              <a:effectLst/>
              <a:uFillTx/>
              <a:latin typeface="Arial"/>
            </a:endParaRPr>
          </a:p>
        </p:txBody>
      </p:sp>
      <p:sp>
        <p:nvSpPr>
          <p:cNvPr id="2395" name="Rectangle 9"/>
          <p:cNvSpPr/>
          <p:nvPr/>
        </p:nvSpPr>
        <p:spPr>
          <a:xfrm>
            <a:off x="952560" y="8429760"/>
            <a:ext cx="7810200" cy="6188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70" strike="noStrike" u="none">
                <a:solidFill>
                  <a:srgbClr val="526779"/>
                </a:solidFill>
                <a:effectLst/>
                <a:uFillTx/>
                <a:latin typeface="Century Gothic"/>
                <a:ea typeface="Century Gothic"/>
              </a:rPr>
              <a:t>AUC measures discrimination across held-out districts.</a:t>
            </a:r>
            <a:endParaRPr b="0" lang="en-US" sz="1870" strike="noStrike" u="none">
              <a:solidFill>
                <a:srgbClr val="000000"/>
              </a:solidFill>
              <a:effectLst/>
              <a:uFillTx/>
              <a:latin typeface="Arial"/>
            </a:endParaRPr>
          </a:p>
          <a:p>
            <a:pPr defTabSz="914400">
              <a:lnSpc>
                <a:spcPct val="100000"/>
              </a:lnSpc>
            </a:pPr>
            <a:r>
              <a:rPr b="0" lang="en-US" sz="1870" strike="noStrike" u="none">
                <a:solidFill>
                  <a:srgbClr val="526779"/>
                </a:solidFill>
                <a:effectLst/>
                <a:uFillTx/>
                <a:latin typeface="Century Gothic"/>
                <a:ea typeface="Century Gothic"/>
              </a:rPr>
              <a:t>Registration-derived labels do not establish settlement status.</a:t>
            </a:r>
            <a:endParaRPr b="0" lang="en-US" sz="1870" strike="noStrike" u="none">
              <a:solidFill>
                <a:srgbClr val="000000"/>
              </a:solidFill>
              <a:effectLst/>
              <a:uFillTx/>
              <a:latin typeface="Arial"/>
            </a:endParaRPr>
          </a:p>
        </p:txBody>
      </p:sp>
      <p:sp>
        <p:nvSpPr>
          <p:cNvPr id="2396" name="Rectangle 14"/>
          <p:cNvSpPr/>
          <p:nvPr/>
        </p:nvSpPr>
        <p:spPr>
          <a:xfrm>
            <a:off x="952560" y="9048600"/>
            <a:ext cx="1628748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70" strike="noStrike" u="none">
                <a:solidFill>
                  <a:srgbClr val="526779"/>
                </a:solidFill>
                <a:effectLst/>
                <a:uFillTx/>
                <a:latin typeface="Century Gothic"/>
                <a:ea typeface="Century Gothic"/>
              </a:rPr>
              <a:t>A counting correction, not newly detected buildings. Independent settlement validation remains open.</a:t>
            </a:r>
            <a:endParaRPr b="0" lang="en-US" sz="1870" strike="noStrike" u="none">
              <a:solidFill>
                <a:srgbClr val="000000"/>
              </a:solidFill>
              <a:effectLst/>
              <a:uFillTx/>
              <a:latin typeface="Arial"/>
            </a:endParaRPr>
          </a:p>
        </p:txBody>
      </p:sp>
      <p:pic>
        <p:nvPicPr>
          <p:cNvPr id="2397" name="Picture 17" descr=""/>
          <p:cNvPicPr/>
          <p:nvPr/>
        </p:nvPicPr>
        <p:blipFill>
          <a:blip r:embed="rId2"/>
          <a:srcRect l="11999" t="8999" r="0" b="10000"/>
          <a:stretch/>
        </p:blipFill>
        <p:spPr>
          <a:xfrm>
            <a:off x="8763120" y="2381400"/>
            <a:ext cx="8667360" cy="6476760"/>
          </a:xfrm>
          <a:prstGeom prst="rect">
            <a:avLst/>
          </a:prstGeom>
          <a:noFill/>
          <a:ln w="0">
            <a:noFill/>
          </a:ln>
        </p:spPr>
      </p:pic>
      <p:sp>
        <p:nvSpPr>
          <p:cNvPr id="2398" name="Rectangle 19"/>
          <p:cNvSpPr/>
          <p:nvPr/>
        </p:nvSpPr>
        <p:spPr>
          <a:xfrm>
            <a:off x="895320" y="2877480"/>
            <a:ext cx="6762240" cy="856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270" strike="noStrike" u="none">
                <a:solidFill>
                  <a:srgbClr val="c76a38"/>
                </a:solidFill>
                <a:effectLst/>
                <a:uFillTx/>
                <a:latin typeface="Century Gothic"/>
                <a:ea typeface="Century Gothic"/>
              </a:rPr>
              <a:t>Spatial AUC 0.733</a:t>
            </a:r>
            <a:endParaRPr b="0" lang="en-US" sz="4270" strike="noStrike" u="none">
              <a:solidFill>
                <a:srgbClr val="000000"/>
              </a:solidFill>
              <a:effectLst/>
              <a:uFillTx/>
              <a:latin typeface="Arial"/>
            </a:endParaRPr>
          </a:p>
        </p:txBody>
      </p:sp>
      <p:sp>
        <p:nvSpPr>
          <p:cNvPr id="2399" name="Rectangle 21"/>
          <p:cNvSpPr/>
          <p:nvPr/>
        </p:nvSpPr>
        <p:spPr>
          <a:xfrm>
            <a:off x="9096480" y="2523960"/>
            <a:ext cx="2809440" cy="1428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000" strike="noStrike" u="none">
                <a:solidFill>
                  <a:srgbClr val="14293d"/>
                </a:solidFill>
                <a:effectLst/>
                <a:uFillTx/>
                <a:latin typeface="Century Gothic"/>
                <a:ea typeface="Century Gothic"/>
              </a:rPr>
              <a:t>Darker areas indicate a higher</a:t>
            </a:r>
            <a:endParaRPr b="0" lang="en-US" sz="2000" strike="noStrike" u="none">
              <a:solidFill>
                <a:srgbClr val="000000"/>
              </a:solidFill>
              <a:effectLst/>
              <a:uFillTx/>
              <a:latin typeface="Arial"/>
            </a:endParaRPr>
          </a:p>
          <a:p>
            <a:pPr defTabSz="914400">
              <a:lnSpc>
                <a:spcPct val="100000"/>
              </a:lnSpc>
            </a:pPr>
            <a:r>
              <a:rPr b="0" lang="en-US" sz="2000" strike="noStrike" u="none">
                <a:solidFill>
                  <a:srgbClr val="14293d"/>
                </a:solidFill>
                <a:effectLst/>
                <a:uFillTx/>
                <a:latin typeface="Century Gothic"/>
                <a:ea typeface="Century Gothic"/>
              </a:rPr>
              <a:t>modelled building-pattern score.</a:t>
            </a:r>
            <a:endParaRPr b="0" lang="en-US" sz="2000" strike="noStrike" u="none">
              <a:solidFill>
                <a:srgbClr val="000000"/>
              </a:solidFill>
              <a:effectLst/>
              <a:uFillTx/>
              <a:latin typeface="Arial"/>
            </a:endParaRPr>
          </a:p>
        </p:txBody>
      </p:sp>
      <p:sp>
        <p:nvSpPr>
          <p:cNvPr id="2400" name="Rectangle 23"/>
          <p:cNvSpPr/>
          <p:nvPr/>
        </p:nvSpPr>
        <p:spPr>
          <a:xfrm>
            <a:off x="14487480" y="8176680"/>
            <a:ext cx="3571560" cy="12380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600" strike="noStrike" u="none">
                <a:solidFill>
                  <a:srgbClr val="526779"/>
                </a:solidFill>
                <a:effectLst/>
                <a:uFillTx/>
                <a:latin typeface="Century Gothic"/>
                <a:ea typeface="Century Gothic"/>
              </a:rPr>
              <a:t>*The map does not establish</a:t>
            </a:r>
            <a:endParaRPr b="0" lang="en-US" sz="1600" strike="noStrike" u="none">
              <a:solidFill>
                <a:srgbClr val="000000"/>
              </a:solidFill>
              <a:effectLst/>
              <a:uFillTx/>
              <a:latin typeface="Arial"/>
            </a:endParaRPr>
          </a:p>
          <a:p>
            <a:pPr defTabSz="914400">
              <a:lnSpc>
                <a:spcPct val="100000"/>
              </a:lnSpc>
            </a:pPr>
            <a:r>
              <a:rPr b="0" lang="en-US" sz="1600" strike="noStrike" u="none">
                <a:solidFill>
                  <a:srgbClr val="526779"/>
                </a:solidFill>
                <a:effectLst/>
                <a:uFillTx/>
                <a:latin typeface="Century Gothic"/>
                <a:ea typeface="Century Gothic"/>
              </a:rPr>
              <a:t>poverty, tenure or legality.</a:t>
            </a:r>
            <a:endParaRPr b="0" lang="en-US" sz="1600" strike="noStrike" u="none">
              <a:solidFill>
                <a:srgbClr val="000000"/>
              </a:solidFill>
              <a:effectLst/>
              <a:uFillTx/>
              <a:latin typeface="Arial"/>
            </a:endParaRPr>
          </a:p>
        </p:txBody>
      </p:sp>
      <p:sp>
        <p:nvSpPr>
          <p:cNvPr id="2401" name="TextBox 25"/>
          <p:cNvSpPr/>
          <p:nvPr/>
        </p:nvSpPr>
        <p:spPr>
          <a:xfrm>
            <a:off x="857160" y="1608480"/>
            <a:ext cx="17163720" cy="403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2020" strike="noStrike" u="none">
                <a:solidFill>
                  <a:srgbClr val="526779"/>
                </a:solidFill>
                <a:effectLst/>
                <a:uFillTx/>
                <a:latin typeface="Century Gothic"/>
                <a:ea typeface="Century Gothic"/>
              </a:rPr>
              <a:t>Scores show resemblance to patterns in the training labels. Independent evidence must establish local conditions.</a:t>
            </a:r>
            <a:endParaRPr b="0" lang="en-US" sz="202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2402" name="Freeform: Shape 658"/>
          <p:cNvSpPr/>
          <p:nvPr/>
        </p:nvSpPr>
        <p:spPr>
          <a:xfrm>
            <a:off x="952560" y="685800"/>
            <a:ext cx="16382520" cy="720"/>
          </a:xfrm>
          <a:custGeom>
            <a:avLst/>
            <a:gdLst/>
            <a:ahLst/>
            <a:rect l="l" t="t" r="r" b="b"/>
            <a:pathLst>
              <a:path w="16383000" h="953">
                <a:moveTo>
                  <a:pt x="0" y="0"/>
                </a:moveTo>
                <a:lnTo>
                  <a:pt x="16383000" y="0"/>
                </a:lnTo>
              </a:path>
            </a:pathLst>
          </a:custGeom>
          <a:noFill/>
          <a:ln w="28575">
            <a:solidFill>
              <a:srgbClr val="217e86"/>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03" name="Rectangle 1"/>
          <p:cNvSpPr/>
          <p:nvPr/>
        </p:nvSpPr>
        <p:spPr>
          <a:xfrm>
            <a:off x="952560" y="905040"/>
            <a:ext cx="16287480" cy="11426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rgbClr val="14293d"/>
                </a:solidFill>
                <a:effectLst/>
                <a:uFillTx/>
                <a:latin typeface="Century Gothic"/>
                <a:ea typeface="Century Gothic"/>
              </a:rPr>
              <a:t>SEA evidence: fire risk by community</a:t>
            </a:r>
            <a:endParaRPr b="0" lang="en-US" sz="4120" strike="noStrike" u="none">
              <a:solidFill>
                <a:srgbClr val="000000"/>
              </a:solidFill>
              <a:effectLst/>
              <a:uFillTx/>
              <a:latin typeface="Arial"/>
            </a:endParaRPr>
          </a:p>
        </p:txBody>
      </p:sp>
      <p:sp>
        <p:nvSpPr>
          <p:cNvPr id="2404" name="Freeform: Shape 2"/>
          <p:cNvSpPr/>
          <p:nvPr/>
        </p:nvSpPr>
        <p:spPr>
          <a:xfrm>
            <a:off x="952560" y="9429840"/>
            <a:ext cx="16382520" cy="720"/>
          </a:xfrm>
          <a:custGeom>
            <a:avLst/>
            <a:gdLst/>
            <a:ahLst/>
            <a:rect l="l" t="t" r="r" b="b"/>
            <a:pathLst>
              <a:path w="16383000" h="953">
                <a:moveTo>
                  <a:pt x="0" y="0"/>
                </a:moveTo>
                <a:lnTo>
                  <a:pt x="16383000" y="0"/>
                </a:lnTo>
              </a:path>
            </a:pathLst>
          </a:custGeom>
          <a:noFill/>
          <a:ln w="9525">
            <a:solidFill>
              <a:srgbClr val="cad5df"/>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05" name="Rectangle 3"/>
          <p:cNvSpPr/>
          <p:nvPr/>
        </p:nvSpPr>
        <p:spPr>
          <a:xfrm>
            <a:off x="952560" y="9667800"/>
            <a:ext cx="1238220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350" strike="noStrike" u="none">
                <a:solidFill>
                  <a:srgbClr val="526779"/>
                </a:solidFill>
                <a:effectLst/>
                <a:uFillTx/>
                <a:latin typeface="Century Gothic"/>
                <a:ea typeface="Century Gothic"/>
              </a:rPr>
              <a:t>PIXELS TO METRO POLICY / GEOHACKATHON 2026</a:t>
            </a:r>
            <a:endParaRPr b="0" lang="en-US" sz="1350" strike="noStrike" u="none">
              <a:solidFill>
                <a:srgbClr val="000000"/>
              </a:solidFill>
              <a:effectLst/>
              <a:uFillTx/>
              <a:latin typeface="Arial"/>
            </a:endParaRPr>
          </a:p>
        </p:txBody>
      </p:sp>
      <p:sp>
        <p:nvSpPr>
          <p:cNvPr id="2406" name="Rectangle 4"/>
          <p:cNvSpPr/>
          <p:nvPr/>
        </p:nvSpPr>
        <p:spPr>
          <a:xfrm>
            <a:off x="16859160" y="9601200"/>
            <a:ext cx="57132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09</a:t>
            </a:r>
            <a:endParaRPr b="0" lang="en-US" sz="1800" strike="noStrike" u="none">
              <a:solidFill>
                <a:srgbClr val="000000"/>
              </a:solidFill>
              <a:effectLst/>
              <a:uFillTx/>
              <a:latin typeface="Arial"/>
            </a:endParaRPr>
          </a:p>
        </p:txBody>
      </p:sp>
      <p:sp>
        <p:nvSpPr>
          <p:cNvPr id="2407" name="Rectangle 5"/>
          <p:cNvSpPr/>
          <p:nvPr/>
        </p:nvSpPr>
        <p:spPr>
          <a:xfrm>
            <a:off x="952560" y="1952640"/>
            <a:ext cx="1628748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020" strike="noStrike" u="none">
                <a:solidFill>
                  <a:srgbClr val="526779"/>
                </a:solidFill>
                <a:effectLst/>
                <a:uFillTx/>
                <a:latin typeface="Century Gothic"/>
                <a:ea typeface="Century Gothic"/>
              </a:rPr>
              <a:t>Assessment year 2568: 2 critical and 4 high-risk communities. Three are in Wang Thong Lang.</a:t>
            </a:r>
            <a:endParaRPr b="0" lang="en-US" sz="2020" strike="noStrike" u="none">
              <a:solidFill>
                <a:srgbClr val="000000"/>
              </a:solidFill>
              <a:effectLst/>
              <a:uFillTx/>
              <a:latin typeface="Arial"/>
            </a:endParaRPr>
          </a:p>
        </p:txBody>
      </p:sp>
      <p:sp>
        <p:nvSpPr>
          <p:cNvPr id="2408" name="เขตคลองสาน"/>
          <p:cNvSpPr/>
          <p:nvPr/>
        </p:nvSpPr>
        <p:spPr>
          <a:xfrm>
            <a:off x="5464800" y="6134400"/>
            <a:ext cx="556200" cy="999000"/>
          </a:xfrm>
          <a:custGeom>
            <a:avLst/>
            <a:gdLst/>
            <a:ahLst/>
            <a:rect l="l" t="t" r="r" b="b"/>
            <a:pathLst>
              <a:path w="556417" h="999506">
                <a:moveTo>
                  <a:pt x="163197" y="999506"/>
                </a:moveTo>
                <a:lnTo>
                  <a:pt x="860" y="539172"/>
                </a:lnTo>
                <a:lnTo>
                  <a:pt x="0" y="531495"/>
                </a:lnTo>
                <a:lnTo>
                  <a:pt x="11186" y="354330"/>
                </a:lnTo>
                <a:lnTo>
                  <a:pt x="49045" y="240354"/>
                </a:lnTo>
                <a:lnTo>
                  <a:pt x="88912" y="121063"/>
                </a:lnTo>
                <a:lnTo>
                  <a:pt x="158894" y="0"/>
                </a:lnTo>
                <a:lnTo>
                  <a:pt x="197901" y="10630"/>
                </a:lnTo>
                <a:lnTo>
                  <a:pt x="388632" y="58760"/>
                </a:lnTo>
                <a:lnTo>
                  <a:pt x="466932" y="107480"/>
                </a:lnTo>
                <a:lnTo>
                  <a:pt x="543511" y="240354"/>
                </a:lnTo>
                <a:lnTo>
                  <a:pt x="556417" y="290255"/>
                </a:lnTo>
                <a:lnTo>
                  <a:pt x="547526" y="580215"/>
                </a:lnTo>
                <a:lnTo>
                  <a:pt x="425631" y="797833"/>
                </a:lnTo>
                <a:lnTo>
                  <a:pt x="163197" y="999506"/>
                </a:lnTo>
                <a:close/>
              </a:path>
            </a:pathLst>
          </a:custGeom>
          <a:solidFill>
            <a:srgbClr val="f2dfd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09" name="เขตคลองเตย"/>
          <p:cNvSpPr/>
          <p:nvPr/>
        </p:nvSpPr>
        <p:spPr>
          <a:xfrm>
            <a:off x="7122600" y="6024600"/>
            <a:ext cx="1457280" cy="1357920"/>
          </a:xfrm>
          <a:custGeom>
            <a:avLst/>
            <a:gdLst/>
            <a:ahLst/>
            <a:rect l="l" t="t" r="r" b="b"/>
            <a:pathLst>
              <a:path w="1457584" h="1358265">
                <a:moveTo>
                  <a:pt x="1457584" y="1124407"/>
                </a:moveTo>
                <a:lnTo>
                  <a:pt x="934150" y="1358265"/>
                </a:lnTo>
                <a:lnTo>
                  <a:pt x="917228" y="1344092"/>
                </a:lnTo>
                <a:lnTo>
                  <a:pt x="822580" y="1285332"/>
                </a:lnTo>
                <a:lnTo>
                  <a:pt x="600586" y="1183167"/>
                </a:lnTo>
                <a:lnTo>
                  <a:pt x="120461" y="1088974"/>
                </a:lnTo>
                <a:lnTo>
                  <a:pt x="87765" y="773030"/>
                </a:lnTo>
                <a:lnTo>
                  <a:pt x="63959" y="590255"/>
                </a:lnTo>
                <a:lnTo>
                  <a:pt x="0" y="0"/>
                </a:lnTo>
                <a:lnTo>
                  <a:pt x="417026" y="268700"/>
                </a:lnTo>
                <a:lnTo>
                  <a:pt x="437963" y="284350"/>
                </a:lnTo>
                <a:lnTo>
                  <a:pt x="771814" y="527656"/>
                </a:lnTo>
                <a:lnTo>
                  <a:pt x="968568" y="670274"/>
                </a:lnTo>
                <a:lnTo>
                  <a:pt x="1457584" y="1124407"/>
                </a:lnTo>
                <a:close/>
              </a:path>
            </a:pathLst>
          </a:custGeom>
          <a:solidFill>
            <a:srgbClr val="f2dfd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10" name="เขตคันนายาว"/>
          <p:cNvSpPr/>
          <p:nvPr/>
        </p:nvSpPr>
        <p:spPr>
          <a:xfrm>
            <a:off x="9929160" y="2857680"/>
            <a:ext cx="612720" cy="1446120"/>
          </a:xfrm>
          <a:custGeom>
            <a:avLst/>
            <a:gdLst/>
            <a:ahLst/>
            <a:rect l="l" t="t" r="r" b="b"/>
            <a:pathLst>
              <a:path w="612919" h="1446502">
                <a:moveTo>
                  <a:pt x="612919" y="1446502"/>
                </a:moveTo>
                <a:lnTo>
                  <a:pt x="408995" y="1174013"/>
                </a:lnTo>
                <a:lnTo>
                  <a:pt x="372283" y="563089"/>
                </a:lnTo>
                <a:lnTo>
                  <a:pt x="248954" y="426082"/>
                </a:lnTo>
                <a:lnTo>
                  <a:pt x="0" y="474802"/>
                </a:lnTo>
                <a:lnTo>
                  <a:pt x="30976" y="107775"/>
                </a:lnTo>
                <a:lnTo>
                  <a:pt x="289394" y="66142"/>
                </a:lnTo>
                <a:lnTo>
                  <a:pt x="324571" y="0"/>
                </a:lnTo>
                <a:lnTo>
                  <a:pt x="612919" y="0"/>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11" name="เขตจตุจักร"/>
          <p:cNvSpPr/>
          <p:nvPr/>
        </p:nvSpPr>
        <p:spPr>
          <a:xfrm>
            <a:off x="6733440" y="2857680"/>
            <a:ext cx="1531080" cy="1624320"/>
          </a:xfrm>
          <a:custGeom>
            <a:avLst/>
            <a:gdLst/>
            <a:ahLst/>
            <a:rect l="l" t="t" r="r" b="b"/>
            <a:pathLst>
              <a:path w="1531582" h="1624603">
                <a:moveTo>
                  <a:pt x="1509497" y="181594"/>
                </a:moveTo>
                <a:lnTo>
                  <a:pt x="1531582" y="435826"/>
                </a:lnTo>
                <a:lnTo>
                  <a:pt x="1465041" y="1387202"/>
                </a:lnTo>
                <a:lnTo>
                  <a:pt x="1078130" y="1445666"/>
                </a:lnTo>
                <a:lnTo>
                  <a:pt x="689499" y="1624603"/>
                </a:lnTo>
                <a:lnTo>
                  <a:pt x="8318" y="1541926"/>
                </a:lnTo>
                <a:lnTo>
                  <a:pt x="221133" y="949900"/>
                </a:lnTo>
                <a:lnTo>
                  <a:pt x="0" y="840057"/>
                </a:lnTo>
                <a:lnTo>
                  <a:pt x="188723" y="2657"/>
                </a:lnTo>
                <a:lnTo>
                  <a:pt x="198400" y="0"/>
                </a:lnTo>
                <a:lnTo>
                  <a:pt x="1469493" y="0"/>
                </a:lnTo>
                <a:lnTo>
                  <a:pt x="1509497" y="181594"/>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12" name="เขตจอมทอง"/>
          <p:cNvSpPr/>
          <p:nvPr/>
        </p:nvSpPr>
        <p:spPr>
          <a:xfrm>
            <a:off x="3780000" y="6757560"/>
            <a:ext cx="1556280" cy="1836720"/>
          </a:xfrm>
          <a:custGeom>
            <a:avLst/>
            <a:gdLst/>
            <a:ahLst/>
            <a:rect l="l" t="t" r="r" b="b"/>
            <a:pathLst>
              <a:path w="1556534" h="1837201">
                <a:moveTo>
                  <a:pt x="1540760" y="962892"/>
                </a:moveTo>
                <a:lnTo>
                  <a:pt x="1556534" y="1135923"/>
                </a:lnTo>
                <a:lnTo>
                  <a:pt x="1316472" y="1435036"/>
                </a:lnTo>
                <a:lnTo>
                  <a:pt x="1372400" y="1569091"/>
                </a:lnTo>
                <a:lnTo>
                  <a:pt x="1193429" y="1646749"/>
                </a:lnTo>
                <a:lnTo>
                  <a:pt x="1033961" y="1737989"/>
                </a:lnTo>
                <a:lnTo>
                  <a:pt x="872485" y="1837201"/>
                </a:lnTo>
                <a:lnTo>
                  <a:pt x="470087" y="1671552"/>
                </a:lnTo>
                <a:lnTo>
                  <a:pt x="498194" y="1255509"/>
                </a:lnTo>
                <a:lnTo>
                  <a:pt x="415018" y="1259643"/>
                </a:lnTo>
                <a:lnTo>
                  <a:pt x="412437" y="1070962"/>
                </a:lnTo>
                <a:lnTo>
                  <a:pt x="361671" y="1043502"/>
                </a:lnTo>
                <a:lnTo>
                  <a:pt x="99524" y="716632"/>
                </a:lnTo>
                <a:lnTo>
                  <a:pt x="0" y="538582"/>
                </a:lnTo>
                <a:lnTo>
                  <a:pt x="119888" y="245078"/>
                </a:lnTo>
                <a:lnTo>
                  <a:pt x="447428" y="369684"/>
                </a:lnTo>
                <a:lnTo>
                  <a:pt x="532038" y="230610"/>
                </a:lnTo>
                <a:lnTo>
                  <a:pt x="623245" y="281988"/>
                </a:lnTo>
                <a:lnTo>
                  <a:pt x="605462" y="177165"/>
                </a:lnTo>
                <a:lnTo>
                  <a:pt x="742559" y="143208"/>
                </a:lnTo>
                <a:lnTo>
                  <a:pt x="818851" y="0"/>
                </a:lnTo>
                <a:lnTo>
                  <a:pt x="1001838" y="58464"/>
                </a:lnTo>
                <a:lnTo>
                  <a:pt x="913213" y="250393"/>
                </a:lnTo>
                <a:lnTo>
                  <a:pt x="1226413" y="269881"/>
                </a:lnTo>
                <a:lnTo>
                  <a:pt x="1382439" y="666140"/>
                </a:lnTo>
                <a:lnTo>
                  <a:pt x="1387315" y="687400"/>
                </a:lnTo>
                <a:lnTo>
                  <a:pt x="1350889" y="822046"/>
                </a:lnTo>
                <a:lnTo>
                  <a:pt x="1540760" y="962892"/>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13" name="เขตดินแดง"/>
          <p:cNvSpPr/>
          <p:nvPr/>
        </p:nvSpPr>
        <p:spPr>
          <a:xfrm>
            <a:off x="6906600" y="4303080"/>
            <a:ext cx="904680" cy="1354680"/>
          </a:xfrm>
          <a:custGeom>
            <a:avLst/>
            <a:gdLst/>
            <a:ahLst/>
            <a:rect l="l" t="t" r="r" b="b"/>
            <a:pathLst>
              <a:path w="905182" h="1355017">
                <a:moveTo>
                  <a:pt x="905182" y="0"/>
                </a:moveTo>
                <a:lnTo>
                  <a:pt x="888260" y="332184"/>
                </a:lnTo>
                <a:lnTo>
                  <a:pt x="856997" y="903246"/>
                </a:lnTo>
                <a:lnTo>
                  <a:pt x="618369" y="1355017"/>
                </a:lnTo>
                <a:lnTo>
                  <a:pt x="263008" y="1329623"/>
                </a:lnTo>
                <a:lnTo>
                  <a:pt x="0" y="1129132"/>
                </a:lnTo>
                <a:lnTo>
                  <a:pt x="141112" y="1095470"/>
                </a:lnTo>
                <a:lnTo>
                  <a:pt x="516550" y="178937"/>
                </a:lnTo>
                <a:lnTo>
                  <a:pt x="905182" y="0"/>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14" name="เขตดุสิต"/>
          <p:cNvSpPr/>
          <p:nvPr/>
        </p:nvSpPr>
        <p:spPr>
          <a:xfrm>
            <a:off x="5633280" y="4320720"/>
            <a:ext cx="1108080" cy="1409760"/>
          </a:xfrm>
          <a:custGeom>
            <a:avLst/>
            <a:gdLst/>
            <a:ahLst/>
            <a:rect l="l" t="t" r="r" b="b"/>
            <a:pathLst>
              <a:path w="1108532" h="1410233">
                <a:moveTo>
                  <a:pt x="630415" y="1279131"/>
                </a:moveTo>
                <a:lnTo>
                  <a:pt x="578215" y="1410233"/>
                </a:lnTo>
                <a:lnTo>
                  <a:pt x="532325" y="1396355"/>
                </a:lnTo>
                <a:lnTo>
                  <a:pt x="504504" y="1293009"/>
                </a:lnTo>
                <a:lnTo>
                  <a:pt x="403546" y="1187596"/>
                </a:lnTo>
                <a:lnTo>
                  <a:pt x="382322" y="1166336"/>
                </a:lnTo>
                <a:lnTo>
                  <a:pt x="303161" y="1084840"/>
                </a:lnTo>
                <a:lnTo>
                  <a:pt x="143407" y="905904"/>
                </a:lnTo>
                <a:lnTo>
                  <a:pt x="0" y="815254"/>
                </a:lnTo>
                <a:lnTo>
                  <a:pt x="99524" y="568700"/>
                </a:lnTo>
                <a:lnTo>
                  <a:pt x="199335" y="398621"/>
                </a:lnTo>
                <a:lnTo>
                  <a:pt x="265015" y="328936"/>
                </a:lnTo>
                <a:lnTo>
                  <a:pt x="507372" y="0"/>
                </a:lnTo>
                <a:lnTo>
                  <a:pt x="1108532" y="78543"/>
                </a:lnTo>
                <a:lnTo>
                  <a:pt x="828603" y="768601"/>
                </a:lnTo>
                <a:lnTo>
                  <a:pt x="630415" y="1279131"/>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15" name="เขตตลิ่งชัน"/>
          <p:cNvSpPr/>
          <p:nvPr/>
        </p:nvSpPr>
        <p:spPr>
          <a:xfrm>
            <a:off x="2967840" y="4286160"/>
            <a:ext cx="1827360" cy="1808640"/>
          </a:xfrm>
          <a:custGeom>
            <a:avLst/>
            <a:gdLst/>
            <a:ahLst/>
            <a:rect l="l" t="t" r="r" b="b"/>
            <a:pathLst>
              <a:path w="1827573" h="1808855">
                <a:moveTo>
                  <a:pt x="1461886" y="1715252"/>
                </a:moveTo>
                <a:lnTo>
                  <a:pt x="756900" y="1808855"/>
                </a:lnTo>
                <a:lnTo>
                  <a:pt x="213963" y="1586217"/>
                </a:lnTo>
                <a:lnTo>
                  <a:pt x="0" y="1540745"/>
                </a:lnTo>
                <a:lnTo>
                  <a:pt x="11186" y="1267025"/>
                </a:lnTo>
                <a:lnTo>
                  <a:pt x="15775" y="1224505"/>
                </a:lnTo>
                <a:lnTo>
                  <a:pt x="84897" y="622735"/>
                </a:lnTo>
                <a:lnTo>
                  <a:pt x="140252" y="0"/>
                </a:lnTo>
                <a:lnTo>
                  <a:pt x="182987" y="3248"/>
                </a:lnTo>
                <a:lnTo>
                  <a:pt x="269891" y="9449"/>
                </a:lnTo>
                <a:lnTo>
                  <a:pt x="567316" y="33071"/>
                </a:lnTo>
                <a:lnTo>
                  <a:pt x="1672120" y="130512"/>
                </a:lnTo>
                <a:lnTo>
                  <a:pt x="1827573" y="207874"/>
                </a:lnTo>
                <a:lnTo>
                  <a:pt x="1827573" y="207874"/>
                </a:lnTo>
                <a:lnTo>
                  <a:pt x="1823844" y="216732"/>
                </a:lnTo>
                <a:lnTo>
                  <a:pt x="1711413" y="358169"/>
                </a:lnTo>
                <a:lnTo>
                  <a:pt x="1711413" y="358169"/>
                </a:lnTo>
                <a:lnTo>
                  <a:pt x="1711127" y="369684"/>
                </a:lnTo>
                <a:lnTo>
                  <a:pt x="1726041" y="378543"/>
                </a:lnTo>
                <a:lnTo>
                  <a:pt x="1726901" y="378543"/>
                </a:lnTo>
                <a:lnTo>
                  <a:pt x="1723746" y="430511"/>
                </a:lnTo>
                <a:lnTo>
                  <a:pt x="1744684" y="600885"/>
                </a:lnTo>
                <a:lnTo>
                  <a:pt x="1763613" y="646948"/>
                </a:lnTo>
                <a:lnTo>
                  <a:pt x="1462173" y="745865"/>
                </a:lnTo>
                <a:lnTo>
                  <a:pt x="1364656" y="1055018"/>
                </a:lnTo>
                <a:lnTo>
                  <a:pt x="1611316" y="1689859"/>
                </a:lnTo>
                <a:lnTo>
                  <a:pt x="1558255" y="1702851"/>
                </a:lnTo>
                <a:lnTo>
                  <a:pt x="1550798" y="1706394"/>
                </a:lnTo>
                <a:lnTo>
                  <a:pt x="1461886" y="1715252"/>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16" name="เขตทวีวัฒนา"/>
          <p:cNvSpPr/>
          <p:nvPr/>
        </p:nvSpPr>
        <p:spPr>
          <a:xfrm>
            <a:off x="1364040" y="4228200"/>
            <a:ext cx="1743840" cy="1965600"/>
          </a:xfrm>
          <a:custGeom>
            <a:avLst/>
            <a:gdLst/>
            <a:ahLst/>
            <a:rect l="l" t="t" r="r" b="b"/>
            <a:pathLst>
              <a:path w="1744110" h="1965997">
                <a:moveTo>
                  <a:pt x="1619633" y="1282691"/>
                </a:moveTo>
                <a:lnTo>
                  <a:pt x="1615044" y="1325211"/>
                </a:lnTo>
                <a:lnTo>
                  <a:pt x="1603858" y="1598931"/>
                </a:lnTo>
                <a:lnTo>
                  <a:pt x="74858" y="1518911"/>
                </a:lnTo>
                <a:lnTo>
                  <a:pt x="267310" y="1936430"/>
                </a:lnTo>
                <a:lnTo>
                  <a:pt x="0" y="1965997"/>
                </a:lnTo>
                <a:lnTo>
                  <a:pt x="0" y="0"/>
                </a:lnTo>
                <a:lnTo>
                  <a:pt x="1360641" y="39879"/>
                </a:lnTo>
                <a:lnTo>
                  <a:pt x="1678717" y="53756"/>
                </a:lnTo>
                <a:lnTo>
                  <a:pt x="1744110" y="58186"/>
                </a:lnTo>
                <a:lnTo>
                  <a:pt x="1688755" y="680921"/>
                </a:lnTo>
                <a:lnTo>
                  <a:pt x="1619633" y="1282691"/>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17" name="เขตทุ่งครุ"/>
          <p:cNvSpPr/>
          <p:nvPr/>
        </p:nvSpPr>
        <p:spPr>
          <a:xfrm>
            <a:off x="4813920" y="8404200"/>
            <a:ext cx="1519920" cy="358560"/>
          </a:xfrm>
          <a:custGeom>
            <a:avLst/>
            <a:gdLst/>
            <a:ahLst/>
            <a:rect l="l" t="t" r="r" b="b"/>
            <a:pathLst>
              <a:path w="1520109" h="358759">
                <a:moveTo>
                  <a:pt x="49324" y="358759"/>
                </a:moveTo>
                <a:lnTo>
                  <a:pt x="0" y="91240"/>
                </a:lnTo>
                <a:lnTo>
                  <a:pt x="159468" y="0"/>
                </a:lnTo>
                <a:lnTo>
                  <a:pt x="604602" y="163878"/>
                </a:lnTo>
                <a:lnTo>
                  <a:pt x="651066" y="50197"/>
                </a:lnTo>
                <a:lnTo>
                  <a:pt x="764930" y="93012"/>
                </a:lnTo>
                <a:lnTo>
                  <a:pt x="827742" y="231496"/>
                </a:lnTo>
                <a:lnTo>
                  <a:pt x="927267" y="69980"/>
                </a:lnTo>
                <a:lnTo>
                  <a:pt x="1188553" y="165354"/>
                </a:lnTo>
                <a:lnTo>
                  <a:pt x="1512939" y="30709"/>
                </a:lnTo>
                <a:lnTo>
                  <a:pt x="1512939" y="30709"/>
                </a:lnTo>
                <a:lnTo>
                  <a:pt x="1517241" y="54331"/>
                </a:lnTo>
                <a:lnTo>
                  <a:pt x="1517241" y="54331"/>
                </a:lnTo>
                <a:lnTo>
                  <a:pt x="1518388" y="88287"/>
                </a:lnTo>
                <a:lnTo>
                  <a:pt x="1518388" y="88287"/>
                </a:lnTo>
                <a:lnTo>
                  <a:pt x="1520109" y="112795"/>
                </a:lnTo>
                <a:lnTo>
                  <a:pt x="1520109" y="112795"/>
                </a:lnTo>
                <a:lnTo>
                  <a:pt x="1520109" y="146456"/>
                </a:lnTo>
                <a:lnTo>
                  <a:pt x="1520109" y="146456"/>
                </a:lnTo>
                <a:lnTo>
                  <a:pt x="1518388" y="174508"/>
                </a:lnTo>
                <a:lnTo>
                  <a:pt x="1518388" y="174508"/>
                </a:lnTo>
                <a:lnTo>
                  <a:pt x="1512652" y="213779"/>
                </a:lnTo>
                <a:lnTo>
                  <a:pt x="1512652" y="213779"/>
                </a:lnTo>
                <a:lnTo>
                  <a:pt x="1505768" y="247736"/>
                </a:lnTo>
                <a:lnTo>
                  <a:pt x="1505768" y="247736"/>
                </a:lnTo>
                <a:lnTo>
                  <a:pt x="1502327" y="272539"/>
                </a:lnTo>
                <a:lnTo>
                  <a:pt x="1502327" y="272539"/>
                </a:lnTo>
                <a:lnTo>
                  <a:pt x="1500606" y="309448"/>
                </a:lnTo>
                <a:lnTo>
                  <a:pt x="1500606" y="309448"/>
                </a:lnTo>
                <a:lnTo>
                  <a:pt x="1498885" y="328641"/>
                </a:lnTo>
                <a:lnTo>
                  <a:pt x="1498885" y="328641"/>
                </a:lnTo>
                <a:lnTo>
                  <a:pt x="1494870" y="352558"/>
                </a:lnTo>
                <a:lnTo>
                  <a:pt x="1494870" y="352558"/>
                </a:lnTo>
                <a:lnTo>
                  <a:pt x="1494258" y="358759"/>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18" name="เขตธนบุรี"/>
          <p:cNvSpPr/>
          <p:nvPr/>
        </p:nvSpPr>
        <p:spPr>
          <a:xfrm>
            <a:off x="4693320" y="6035400"/>
            <a:ext cx="934560" cy="1409400"/>
          </a:xfrm>
          <a:custGeom>
            <a:avLst/>
            <a:gdLst/>
            <a:ahLst/>
            <a:rect l="l" t="t" r="r" b="b"/>
            <a:pathLst>
              <a:path w="935010" h="1409643">
                <a:moveTo>
                  <a:pt x="935010" y="1098718"/>
                </a:moveTo>
                <a:lnTo>
                  <a:pt x="687778" y="1401080"/>
                </a:lnTo>
                <a:lnTo>
                  <a:pt x="474102" y="1409643"/>
                </a:lnTo>
                <a:lnTo>
                  <a:pt x="469226" y="1388383"/>
                </a:lnTo>
                <a:lnTo>
                  <a:pt x="313200" y="992124"/>
                </a:lnTo>
                <a:lnTo>
                  <a:pt x="0" y="972636"/>
                </a:lnTo>
                <a:lnTo>
                  <a:pt x="88625" y="780707"/>
                </a:lnTo>
                <a:lnTo>
                  <a:pt x="158321" y="584645"/>
                </a:lnTo>
                <a:lnTo>
                  <a:pt x="358803" y="577263"/>
                </a:lnTo>
                <a:lnTo>
                  <a:pt x="558712" y="436712"/>
                </a:lnTo>
                <a:lnTo>
                  <a:pt x="620663" y="187204"/>
                </a:lnTo>
                <a:lnTo>
                  <a:pt x="739978" y="0"/>
                </a:lnTo>
                <a:lnTo>
                  <a:pt x="786155" y="45472"/>
                </a:lnTo>
                <a:lnTo>
                  <a:pt x="930708" y="99212"/>
                </a:lnTo>
                <a:lnTo>
                  <a:pt x="860726" y="220275"/>
                </a:lnTo>
                <a:lnTo>
                  <a:pt x="820859" y="339566"/>
                </a:lnTo>
                <a:lnTo>
                  <a:pt x="783000" y="453542"/>
                </a:lnTo>
                <a:lnTo>
                  <a:pt x="771814" y="630707"/>
                </a:lnTo>
                <a:lnTo>
                  <a:pt x="772674" y="638385"/>
                </a:lnTo>
                <a:lnTo>
                  <a:pt x="935010" y="1098718"/>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19" name="เขตบางกอกน้อย"/>
          <p:cNvSpPr/>
          <p:nvPr/>
        </p:nvSpPr>
        <p:spPr>
          <a:xfrm>
            <a:off x="4332600" y="4696920"/>
            <a:ext cx="1075320" cy="1314720"/>
          </a:xfrm>
          <a:custGeom>
            <a:avLst/>
            <a:gdLst/>
            <a:ahLst/>
            <a:rect l="l" t="t" r="r" b="b"/>
            <a:pathLst>
              <a:path w="1075549" h="1315155">
                <a:moveTo>
                  <a:pt x="884245" y="1208561"/>
                </a:moveTo>
                <a:lnTo>
                  <a:pt x="760055" y="1232183"/>
                </a:lnTo>
                <a:lnTo>
                  <a:pt x="488156" y="1315155"/>
                </a:lnTo>
                <a:lnTo>
                  <a:pt x="246659" y="1279427"/>
                </a:lnTo>
                <a:lnTo>
                  <a:pt x="0" y="644585"/>
                </a:lnTo>
                <a:lnTo>
                  <a:pt x="97516" y="335432"/>
                </a:lnTo>
                <a:lnTo>
                  <a:pt x="398957" y="236515"/>
                </a:lnTo>
                <a:lnTo>
                  <a:pt x="380027" y="190452"/>
                </a:lnTo>
                <a:lnTo>
                  <a:pt x="359090" y="20079"/>
                </a:lnTo>
                <a:lnTo>
                  <a:pt x="433088" y="0"/>
                </a:lnTo>
                <a:lnTo>
                  <a:pt x="819998" y="426968"/>
                </a:lnTo>
                <a:lnTo>
                  <a:pt x="1075549" y="760038"/>
                </a:lnTo>
                <a:lnTo>
                  <a:pt x="1028798" y="819093"/>
                </a:lnTo>
                <a:lnTo>
                  <a:pt x="998396" y="1163679"/>
                </a:lnTo>
                <a:lnTo>
                  <a:pt x="884245" y="1208561"/>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20" name="เขตบางกอกใหญ่"/>
          <p:cNvSpPr/>
          <p:nvPr/>
        </p:nvSpPr>
        <p:spPr>
          <a:xfrm>
            <a:off x="4579200" y="5860440"/>
            <a:ext cx="853560" cy="759240"/>
          </a:xfrm>
          <a:custGeom>
            <a:avLst/>
            <a:gdLst/>
            <a:ahLst/>
            <a:rect l="l" t="t" r="r" b="b"/>
            <a:pathLst>
              <a:path w="853842" h="759447">
                <a:moveTo>
                  <a:pt x="734528" y="362007"/>
                </a:moveTo>
                <a:lnTo>
                  <a:pt x="672577" y="611515"/>
                </a:lnTo>
                <a:lnTo>
                  <a:pt x="472668" y="752065"/>
                </a:lnTo>
                <a:lnTo>
                  <a:pt x="272186" y="759447"/>
                </a:lnTo>
                <a:lnTo>
                  <a:pt x="40727" y="504034"/>
                </a:lnTo>
                <a:lnTo>
                  <a:pt x="0" y="115748"/>
                </a:lnTo>
                <a:lnTo>
                  <a:pt x="241497" y="151476"/>
                </a:lnTo>
                <a:lnTo>
                  <a:pt x="513395" y="68504"/>
                </a:lnTo>
                <a:lnTo>
                  <a:pt x="637585" y="44882"/>
                </a:lnTo>
                <a:lnTo>
                  <a:pt x="751737" y="0"/>
                </a:lnTo>
                <a:lnTo>
                  <a:pt x="853842" y="174803"/>
                </a:lnTo>
                <a:lnTo>
                  <a:pt x="734528" y="362007"/>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21" name="เขตบางกะปิ"/>
          <p:cNvSpPr/>
          <p:nvPr/>
        </p:nvSpPr>
        <p:spPr>
          <a:xfrm>
            <a:off x="8565120" y="3766680"/>
            <a:ext cx="1976760" cy="2386800"/>
          </a:xfrm>
          <a:custGeom>
            <a:avLst/>
            <a:gdLst/>
            <a:ahLst/>
            <a:rect l="l" t="t" r="r" b="b"/>
            <a:pathLst>
              <a:path w="1977002" h="2387003">
                <a:moveTo>
                  <a:pt x="1872602" y="2134543"/>
                </a:moveTo>
                <a:lnTo>
                  <a:pt x="1665810" y="2387003"/>
                </a:lnTo>
                <a:lnTo>
                  <a:pt x="1002985" y="2042417"/>
                </a:lnTo>
                <a:lnTo>
                  <a:pt x="281077" y="2228736"/>
                </a:lnTo>
                <a:lnTo>
                  <a:pt x="0" y="2098519"/>
                </a:lnTo>
                <a:lnTo>
                  <a:pt x="85757" y="2013185"/>
                </a:lnTo>
                <a:lnTo>
                  <a:pt x="408995" y="1715548"/>
                </a:lnTo>
                <a:lnTo>
                  <a:pt x="843230" y="1655607"/>
                </a:lnTo>
                <a:lnTo>
                  <a:pt x="801356" y="902065"/>
                </a:lnTo>
                <a:lnTo>
                  <a:pt x="713304" y="919191"/>
                </a:lnTo>
                <a:lnTo>
                  <a:pt x="647337" y="561023"/>
                </a:lnTo>
                <a:lnTo>
                  <a:pt x="392360" y="574900"/>
                </a:lnTo>
                <a:lnTo>
                  <a:pt x="645616" y="58760"/>
                </a:lnTo>
                <a:lnTo>
                  <a:pt x="868470" y="0"/>
                </a:lnTo>
                <a:lnTo>
                  <a:pt x="1193142" y="954329"/>
                </a:lnTo>
                <a:lnTo>
                  <a:pt x="1352610" y="1019880"/>
                </a:lnTo>
                <a:lnTo>
                  <a:pt x="1580053" y="1434741"/>
                </a:lnTo>
                <a:lnTo>
                  <a:pt x="1824704" y="1296553"/>
                </a:lnTo>
                <a:lnTo>
                  <a:pt x="1970406" y="1858756"/>
                </a:lnTo>
                <a:lnTo>
                  <a:pt x="1977002" y="1862030"/>
                </a:lnTo>
                <a:lnTo>
                  <a:pt x="1977002" y="2092811"/>
                </a:lnTo>
                <a:lnTo>
                  <a:pt x="1872602" y="2134543"/>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22" name="เขตบางขุนเทียน"/>
          <p:cNvSpPr/>
          <p:nvPr/>
        </p:nvSpPr>
        <p:spPr>
          <a:xfrm>
            <a:off x="3092040" y="7800840"/>
            <a:ext cx="1770840" cy="961560"/>
          </a:xfrm>
          <a:custGeom>
            <a:avLst/>
            <a:gdLst/>
            <a:ahLst/>
            <a:rect l="l" t="t" r="r" b="b"/>
            <a:pathLst>
              <a:path w="1771267" h="962006">
                <a:moveTo>
                  <a:pt x="1560468" y="793699"/>
                </a:moveTo>
                <a:lnTo>
                  <a:pt x="1721944" y="694487"/>
                </a:lnTo>
                <a:lnTo>
                  <a:pt x="1771267" y="962006"/>
                </a:lnTo>
                <a:lnTo>
                  <a:pt x="0" y="962006"/>
                </a:lnTo>
                <a:lnTo>
                  <a:pt x="1049654" y="0"/>
                </a:lnTo>
                <a:lnTo>
                  <a:pt x="1100420" y="27461"/>
                </a:lnTo>
                <a:lnTo>
                  <a:pt x="1103001" y="216141"/>
                </a:lnTo>
                <a:lnTo>
                  <a:pt x="1186177" y="212007"/>
                </a:lnTo>
                <a:lnTo>
                  <a:pt x="1158069" y="628050"/>
                </a:lnTo>
                <a:lnTo>
                  <a:pt x="1560468" y="793699"/>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23" name="เขตบางคอแหลม"/>
          <p:cNvSpPr/>
          <p:nvPr/>
        </p:nvSpPr>
        <p:spPr>
          <a:xfrm>
            <a:off x="5380920" y="6932160"/>
            <a:ext cx="1186920" cy="875880"/>
          </a:xfrm>
          <a:custGeom>
            <a:avLst/>
            <a:gdLst/>
            <a:ahLst/>
            <a:rect l="l" t="t" r="r" b="b"/>
            <a:pathLst>
              <a:path w="1187119" h="876081">
                <a:moveTo>
                  <a:pt x="705560" y="209941"/>
                </a:moveTo>
                <a:lnTo>
                  <a:pt x="1152415" y="296751"/>
                </a:lnTo>
                <a:lnTo>
                  <a:pt x="1187119" y="383267"/>
                </a:lnTo>
                <a:lnTo>
                  <a:pt x="791030" y="876081"/>
                </a:lnTo>
                <a:lnTo>
                  <a:pt x="462056" y="775687"/>
                </a:lnTo>
                <a:lnTo>
                  <a:pt x="292836" y="743207"/>
                </a:lnTo>
                <a:lnTo>
                  <a:pt x="0" y="504034"/>
                </a:lnTo>
                <a:lnTo>
                  <a:pt x="247233" y="201673"/>
                </a:lnTo>
                <a:lnTo>
                  <a:pt x="509667" y="0"/>
                </a:lnTo>
                <a:lnTo>
                  <a:pt x="757473" y="106594"/>
                </a:lnTo>
                <a:lnTo>
                  <a:pt x="705560" y="209941"/>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24" name="เขตบางซื่อ"/>
          <p:cNvSpPr/>
          <p:nvPr/>
        </p:nvSpPr>
        <p:spPr>
          <a:xfrm>
            <a:off x="5852880" y="2860200"/>
            <a:ext cx="1101240" cy="1539000"/>
          </a:xfrm>
          <a:custGeom>
            <a:avLst/>
            <a:gdLst/>
            <a:ahLst/>
            <a:rect l="l" t="t" r="r" b="b"/>
            <a:pathLst>
              <a:path w="1101649" h="1539269">
                <a:moveTo>
                  <a:pt x="880516" y="837400"/>
                </a:moveTo>
                <a:lnTo>
                  <a:pt x="1101649" y="947242"/>
                </a:lnTo>
                <a:lnTo>
                  <a:pt x="888834" y="1539269"/>
                </a:lnTo>
                <a:lnTo>
                  <a:pt x="287673" y="1460725"/>
                </a:lnTo>
                <a:lnTo>
                  <a:pt x="246946" y="1078344"/>
                </a:lnTo>
                <a:lnTo>
                  <a:pt x="247520" y="1076277"/>
                </a:lnTo>
                <a:lnTo>
                  <a:pt x="247520" y="1076277"/>
                </a:lnTo>
                <a:lnTo>
                  <a:pt x="18930" y="1000687"/>
                </a:lnTo>
                <a:lnTo>
                  <a:pt x="1434" y="972636"/>
                </a:lnTo>
                <a:lnTo>
                  <a:pt x="0" y="965549"/>
                </a:lnTo>
                <a:lnTo>
                  <a:pt x="0" y="965549"/>
                </a:lnTo>
                <a:lnTo>
                  <a:pt x="574" y="956396"/>
                </a:lnTo>
                <a:lnTo>
                  <a:pt x="574" y="956396"/>
                </a:lnTo>
                <a:lnTo>
                  <a:pt x="2295" y="944289"/>
                </a:lnTo>
                <a:lnTo>
                  <a:pt x="2295" y="944289"/>
                </a:lnTo>
                <a:lnTo>
                  <a:pt x="6023" y="924211"/>
                </a:lnTo>
                <a:lnTo>
                  <a:pt x="6023" y="924211"/>
                </a:lnTo>
                <a:lnTo>
                  <a:pt x="16922" y="893502"/>
                </a:lnTo>
                <a:lnTo>
                  <a:pt x="16635" y="886120"/>
                </a:lnTo>
                <a:lnTo>
                  <a:pt x="16635" y="886120"/>
                </a:lnTo>
                <a:lnTo>
                  <a:pt x="4302" y="865451"/>
                </a:lnTo>
                <a:lnTo>
                  <a:pt x="1721" y="851573"/>
                </a:lnTo>
                <a:lnTo>
                  <a:pt x="1721" y="851573"/>
                </a:lnTo>
                <a:lnTo>
                  <a:pt x="3155" y="843601"/>
                </a:lnTo>
                <a:lnTo>
                  <a:pt x="3155" y="843601"/>
                </a:lnTo>
                <a:lnTo>
                  <a:pt x="20651" y="827656"/>
                </a:lnTo>
                <a:lnTo>
                  <a:pt x="63672" y="780412"/>
                </a:lnTo>
                <a:lnTo>
                  <a:pt x="63672" y="779821"/>
                </a:lnTo>
                <a:lnTo>
                  <a:pt x="63672" y="779821"/>
                </a:lnTo>
                <a:lnTo>
                  <a:pt x="95796" y="777164"/>
                </a:lnTo>
                <a:lnTo>
                  <a:pt x="97230" y="768601"/>
                </a:lnTo>
                <a:lnTo>
                  <a:pt x="97230" y="768601"/>
                </a:lnTo>
                <a:lnTo>
                  <a:pt x="98950" y="755904"/>
                </a:lnTo>
                <a:lnTo>
                  <a:pt x="98950" y="755904"/>
                </a:lnTo>
                <a:lnTo>
                  <a:pt x="197327" y="732577"/>
                </a:lnTo>
                <a:lnTo>
                  <a:pt x="197614" y="725491"/>
                </a:lnTo>
                <a:lnTo>
                  <a:pt x="197614" y="725491"/>
                </a:lnTo>
                <a:lnTo>
                  <a:pt x="197041" y="717223"/>
                </a:lnTo>
                <a:lnTo>
                  <a:pt x="197041" y="717223"/>
                </a:lnTo>
                <a:lnTo>
                  <a:pt x="1051457" y="4134"/>
                </a:lnTo>
                <a:lnTo>
                  <a:pt x="1069239" y="0"/>
                </a:lnTo>
                <a:lnTo>
                  <a:pt x="880516" y="837400"/>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25" name="เขตบางนา"/>
          <p:cNvSpPr/>
          <p:nvPr/>
        </p:nvSpPr>
        <p:spPr>
          <a:xfrm>
            <a:off x="7941600" y="7744320"/>
            <a:ext cx="2128320" cy="963000"/>
          </a:xfrm>
          <a:custGeom>
            <a:avLst/>
            <a:gdLst/>
            <a:ahLst/>
            <a:rect l="l" t="t" r="r" b="b"/>
            <a:pathLst>
              <a:path w="2128726" h="963187">
                <a:moveTo>
                  <a:pt x="1291519" y="0"/>
                </a:moveTo>
                <a:lnTo>
                  <a:pt x="1336836" y="182775"/>
                </a:lnTo>
                <a:lnTo>
                  <a:pt x="1747839" y="196358"/>
                </a:lnTo>
                <a:lnTo>
                  <a:pt x="1893826" y="441141"/>
                </a:lnTo>
                <a:lnTo>
                  <a:pt x="2128726" y="454428"/>
                </a:lnTo>
                <a:lnTo>
                  <a:pt x="2102626" y="521751"/>
                </a:lnTo>
                <a:lnTo>
                  <a:pt x="2102626" y="521751"/>
                </a:lnTo>
                <a:lnTo>
                  <a:pt x="2094309" y="561613"/>
                </a:lnTo>
                <a:lnTo>
                  <a:pt x="2029489" y="763286"/>
                </a:lnTo>
                <a:lnTo>
                  <a:pt x="1965243" y="963187"/>
                </a:lnTo>
                <a:lnTo>
                  <a:pt x="1927097" y="954034"/>
                </a:lnTo>
                <a:lnTo>
                  <a:pt x="1876904" y="941632"/>
                </a:lnTo>
                <a:lnTo>
                  <a:pt x="1855107" y="936317"/>
                </a:lnTo>
                <a:lnTo>
                  <a:pt x="1836464" y="931593"/>
                </a:lnTo>
                <a:lnTo>
                  <a:pt x="1670686" y="891140"/>
                </a:lnTo>
                <a:lnTo>
                  <a:pt x="1476513" y="843305"/>
                </a:lnTo>
                <a:lnTo>
                  <a:pt x="1447259" y="835924"/>
                </a:lnTo>
                <a:lnTo>
                  <a:pt x="1060061" y="735530"/>
                </a:lnTo>
                <a:lnTo>
                  <a:pt x="361384" y="596160"/>
                </a:lnTo>
                <a:lnTo>
                  <a:pt x="0" y="479527"/>
                </a:lnTo>
                <a:lnTo>
                  <a:pt x="0" y="479527"/>
                </a:lnTo>
                <a:lnTo>
                  <a:pt x="860" y="473326"/>
                </a:lnTo>
                <a:lnTo>
                  <a:pt x="1721" y="468601"/>
                </a:lnTo>
                <a:lnTo>
                  <a:pt x="1721" y="468601"/>
                </a:lnTo>
                <a:lnTo>
                  <a:pt x="267597" y="62303"/>
                </a:lnTo>
                <a:lnTo>
                  <a:pt x="272472" y="43110"/>
                </a:lnTo>
                <a:lnTo>
                  <a:pt x="601160" y="134645"/>
                </a:lnTo>
                <a:lnTo>
                  <a:pt x="1291519" y="0"/>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26" name="เขตบางบอน"/>
          <p:cNvSpPr/>
          <p:nvPr/>
        </p:nvSpPr>
        <p:spPr>
          <a:xfrm>
            <a:off x="1364040" y="7473960"/>
            <a:ext cx="2777040" cy="1288440"/>
          </a:xfrm>
          <a:custGeom>
            <a:avLst/>
            <a:gdLst/>
            <a:ahLst/>
            <a:rect l="l" t="t" r="r" b="b"/>
            <a:pathLst>
              <a:path w="2777497" h="1288875">
                <a:moveTo>
                  <a:pt x="2777497" y="326869"/>
                </a:moveTo>
                <a:lnTo>
                  <a:pt x="1727844" y="1288875"/>
                </a:lnTo>
                <a:lnTo>
                  <a:pt x="0" y="1288875"/>
                </a:lnTo>
                <a:lnTo>
                  <a:pt x="0" y="1081972"/>
                </a:lnTo>
                <a:lnTo>
                  <a:pt x="1003846" y="658463"/>
                </a:lnTo>
                <a:lnTo>
                  <a:pt x="1211211" y="732577"/>
                </a:lnTo>
                <a:lnTo>
                  <a:pt x="1619920" y="514664"/>
                </a:lnTo>
                <a:lnTo>
                  <a:pt x="2226816" y="180413"/>
                </a:lnTo>
                <a:lnTo>
                  <a:pt x="2515350" y="0"/>
                </a:lnTo>
                <a:lnTo>
                  <a:pt x="2777497" y="326869"/>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27" name="เขตบางพลัด"/>
          <p:cNvSpPr/>
          <p:nvPr/>
        </p:nvSpPr>
        <p:spPr>
          <a:xfrm>
            <a:off x="4691880" y="3938400"/>
            <a:ext cx="1448640" cy="1518120"/>
          </a:xfrm>
          <a:custGeom>
            <a:avLst/>
            <a:gdLst/>
            <a:ahLst/>
            <a:rect l="l" t="t" r="r" b="b"/>
            <a:pathLst>
              <a:path w="1448979" h="1518304">
                <a:moveTo>
                  <a:pt x="719040" y="1516237"/>
                </a:moveTo>
                <a:lnTo>
                  <a:pt x="716459" y="1518304"/>
                </a:lnTo>
                <a:lnTo>
                  <a:pt x="460909" y="1185234"/>
                </a:lnTo>
                <a:lnTo>
                  <a:pt x="73998" y="758266"/>
                </a:lnTo>
                <a:lnTo>
                  <a:pt x="0" y="778345"/>
                </a:lnTo>
                <a:lnTo>
                  <a:pt x="3155" y="726376"/>
                </a:lnTo>
                <a:lnTo>
                  <a:pt x="22085" y="723424"/>
                </a:lnTo>
                <a:lnTo>
                  <a:pt x="505938" y="552164"/>
                </a:lnTo>
                <a:lnTo>
                  <a:pt x="807379" y="446456"/>
                </a:lnTo>
                <a:lnTo>
                  <a:pt x="1408252" y="0"/>
                </a:lnTo>
                <a:lnTo>
                  <a:pt x="1448979" y="382381"/>
                </a:lnTo>
                <a:lnTo>
                  <a:pt x="1206622" y="711317"/>
                </a:lnTo>
                <a:lnTo>
                  <a:pt x="1140942" y="781002"/>
                </a:lnTo>
                <a:lnTo>
                  <a:pt x="1041131" y="951081"/>
                </a:lnTo>
                <a:lnTo>
                  <a:pt x="941607" y="1197635"/>
                </a:lnTo>
                <a:lnTo>
                  <a:pt x="826308" y="1414663"/>
                </a:lnTo>
                <a:lnTo>
                  <a:pt x="719040" y="1516237"/>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28" name="เขตบางรัก"/>
          <p:cNvSpPr/>
          <p:nvPr/>
        </p:nvSpPr>
        <p:spPr>
          <a:xfrm>
            <a:off x="6012360" y="6163920"/>
            <a:ext cx="931320" cy="573840"/>
          </a:xfrm>
          <a:custGeom>
            <a:avLst/>
            <a:gdLst/>
            <a:ahLst/>
            <a:rect l="l" t="t" r="r" b="b"/>
            <a:pathLst>
              <a:path w="931856" h="574310">
                <a:moveTo>
                  <a:pt x="711296" y="251870"/>
                </a:moveTo>
                <a:lnTo>
                  <a:pt x="931856" y="347243"/>
                </a:lnTo>
                <a:lnTo>
                  <a:pt x="521426" y="476279"/>
                </a:lnTo>
                <a:lnTo>
                  <a:pt x="88625" y="574310"/>
                </a:lnTo>
                <a:lnTo>
                  <a:pt x="0" y="550688"/>
                </a:lnTo>
                <a:lnTo>
                  <a:pt x="8891" y="260728"/>
                </a:lnTo>
                <a:lnTo>
                  <a:pt x="90920" y="183366"/>
                </a:lnTo>
                <a:lnTo>
                  <a:pt x="104687" y="0"/>
                </a:lnTo>
                <a:lnTo>
                  <a:pt x="267310" y="64370"/>
                </a:lnTo>
                <a:lnTo>
                  <a:pt x="479551" y="151476"/>
                </a:lnTo>
                <a:lnTo>
                  <a:pt x="618943" y="212893"/>
                </a:lnTo>
                <a:lnTo>
                  <a:pt x="703266" y="248622"/>
                </a:lnTo>
                <a:lnTo>
                  <a:pt x="711296" y="251870"/>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29" name="เขตบางเขน"/>
          <p:cNvSpPr/>
          <p:nvPr/>
        </p:nvSpPr>
        <p:spPr>
          <a:xfrm>
            <a:off x="8202960" y="2857680"/>
            <a:ext cx="2050560" cy="215640"/>
          </a:xfrm>
          <a:custGeom>
            <a:avLst/>
            <a:gdLst/>
            <a:ahLst/>
            <a:rect l="l" t="t" r="r" b="b"/>
            <a:pathLst>
              <a:path w="2050749" h="216141">
                <a:moveTo>
                  <a:pt x="2050749" y="0"/>
                </a:moveTo>
                <a:lnTo>
                  <a:pt x="2015572" y="66142"/>
                </a:lnTo>
                <a:lnTo>
                  <a:pt x="1757153" y="107775"/>
                </a:lnTo>
                <a:lnTo>
                  <a:pt x="1373111" y="174508"/>
                </a:lnTo>
                <a:lnTo>
                  <a:pt x="1155993" y="216141"/>
                </a:lnTo>
                <a:lnTo>
                  <a:pt x="874343" y="43701"/>
                </a:lnTo>
                <a:lnTo>
                  <a:pt x="40004" y="181594"/>
                </a:lnTo>
                <a:lnTo>
                  <a:pt x="0" y="0"/>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30" name="เขตบางแค"/>
          <p:cNvSpPr/>
          <p:nvPr/>
        </p:nvSpPr>
        <p:spPr>
          <a:xfrm>
            <a:off x="1438920" y="5747040"/>
            <a:ext cx="2151720" cy="2459160"/>
          </a:xfrm>
          <a:custGeom>
            <a:avLst/>
            <a:gdLst/>
            <a:ahLst/>
            <a:rect l="l" t="t" r="r" b="b"/>
            <a:pathLst>
              <a:path w="2151958" h="2459641">
                <a:moveTo>
                  <a:pt x="2104634" y="1178738"/>
                </a:moveTo>
                <a:lnTo>
                  <a:pt x="2151958" y="1907477"/>
                </a:lnTo>
                <a:lnTo>
                  <a:pt x="1545062" y="2241728"/>
                </a:lnTo>
                <a:lnTo>
                  <a:pt x="1136353" y="2459641"/>
                </a:lnTo>
                <a:lnTo>
                  <a:pt x="928987" y="2385527"/>
                </a:lnTo>
                <a:lnTo>
                  <a:pt x="706994" y="1523028"/>
                </a:lnTo>
                <a:lnTo>
                  <a:pt x="350772" y="762695"/>
                </a:lnTo>
                <a:lnTo>
                  <a:pt x="192452" y="417519"/>
                </a:lnTo>
                <a:lnTo>
                  <a:pt x="0" y="0"/>
                </a:lnTo>
                <a:lnTo>
                  <a:pt x="1529000" y="80020"/>
                </a:lnTo>
                <a:lnTo>
                  <a:pt x="1742963" y="125492"/>
                </a:lnTo>
                <a:lnTo>
                  <a:pt x="1869734" y="619487"/>
                </a:lnTo>
                <a:lnTo>
                  <a:pt x="2071937" y="592322"/>
                </a:lnTo>
                <a:lnTo>
                  <a:pt x="2077387" y="680018"/>
                </a:lnTo>
                <a:lnTo>
                  <a:pt x="2098611" y="1091041"/>
                </a:lnTo>
                <a:lnTo>
                  <a:pt x="2104634" y="1178738"/>
                </a:lnTo>
                <a:close/>
              </a:path>
            </a:pathLst>
          </a:custGeom>
          <a:solidFill>
            <a:srgbClr val="f2dfd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31" name="เขตบึงกุ่ม"/>
          <p:cNvSpPr/>
          <p:nvPr/>
        </p:nvSpPr>
        <p:spPr>
          <a:xfrm>
            <a:off x="9210600" y="2965320"/>
            <a:ext cx="1330920" cy="2235600"/>
          </a:xfrm>
          <a:custGeom>
            <a:avLst/>
            <a:gdLst/>
            <a:ahLst/>
            <a:rect l="l" t="t" r="r" b="b"/>
            <a:pathLst>
              <a:path w="1331386" h="2236118">
                <a:moveTo>
                  <a:pt x="749442" y="0"/>
                </a:moveTo>
                <a:lnTo>
                  <a:pt x="718467" y="367027"/>
                </a:lnTo>
                <a:lnTo>
                  <a:pt x="967420" y="318306"/>
                </a:lnTo>
                <a:lnTo>
                  <a:pt x="1090750" y="455314"/>
                </a:lnTo>
                <a:lnTo>
                  <a:pt x="1127462" y="1066238"/>
                </a:lnTo>
                <a:lnTo>
                  <a:pt x="1331386" y="1338727"/>
                </a:lnTo>
                <a:lnTo>
                  <a:pt x="1331386" y="2011552"/>
                </a:lnTo>
                <a:lnTo>
                  <a:pt x="1179088" y="2097929"/>
                </a:lnTo>
                <a:lnTo>
                  <a:pt x="934437" y="2236118"/>
                </a:lnTo>
                <a:lnTo>
                  <a:pt x="706994" y="1821256"/>
                </a:lnTo>
                <a:lnTo>
                  <a:pt x="547526" y="1755705"/>
                </a:lnTo>
                <a:lnTo>
                  <a:pt x="222854" y="801376"/>
                </a:lnTo>
                <a:lnTo>
                  <a:pt x="0" y="860136"/>
                </a:lnTo>
                <a:lnTo>
                  <a:pt x="365400" y="66732"/>
                </a:lnTo>
                <a:lnTo>
                  <a:pt x="749442" y="0"/>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32" name="เขตปทุมวัน"/>
          <p:cNvSpPr/>
          <p:nvPr/>
        </p:nvSpPr>
        <p:spPr>
          <a:xfrm>
            <a:off x="6117120" y="5717160"/>
            <a:ext cx="1068840" cy="897120"/>
          </a:xfrm>
          <a:custGeom>
            <a:avLst/>
            <a:gdLst/>
            <a:ahLst/>
            <a:rect l="l" t="t" r="r" b="b"/>
            <a:pathLst>
              <a:path w="1069239" h="897636">
                <a:moveTo>
                  <a:pt x="988645" y="142618"/>
                </a:moveTo>
                <a:lnTo>
                  <a:pt x="1005280" y="307381"/>
                </a:lnTo>
                <a:lnTo>
                  <a:pt x="1069239" y="897636"/>
                </a:lnTo>
                <a:lnTo>
                  <a:pt x="827169" y="793994"/>
                </a:lnTo>
                <a:lnTo>
                  <a:pt x="606610" y="698621"/>
                </a:lnTo>
                <a:lnTo>
                  <a:pt x="598579" y="695373"/>
                </a:lnTo>
                <a:lnTo>
                  <a:pt x="514256" y="659644"/>
                </a:lnTo>
                <a:lnTo>
                  <a:pt x="374865" y="598227"/>
                </a:lnTo>
                <a:lnTo>
                  <a:pt x="162623" y="511121"/>
                </a:lnTo>
                <a:lnTo>
                  <a:pt x="0" y="446751"/>
                </a:lnTo>
                <a:lnTo>
                  <a:pt x="17782" y="223523"/>
                </a:lnTo>
                <a:lnTo>
                  <a:pt x="33844" y="120472"/>
                </a:lnTo>
                <a:lnTo>
                  <a:pt x="48471" y="0"/>
                </a:lnTo>
                <a:lnTo>
                  <a:pt x="94361" y="13878"/>
                </a:lnTo>
                <a:lnTo>
                  <a:pt x="273620" y="114567"/>
                </a:lnTo>
                <a:lnTo>
                  <a:pt x="445134" y="115157"/>
                </a:lnTo>
                <a:lnTo>
                  <a:pt x="725924" y="110433"/>
                </a:lnTo>
                <a:lnTo>
                  <a:pt x="988645" y="142618"/>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33" name="เขตประเวศ"/>
          <p:cNvSpPr/>
          <p:nvPr/>
        </p:nvSpPr>
        <p:spPr>
          <a:xfrm>
            <a:off x="9512640" y="6158880"/>
            <a:ext cx="1028880" cy="2134800"/>
          </a:xfrm>
          <a:custGeom>
            <a:avLst/>
            <a:gdLst/>
            <a:ahLst/>
            <a:rect l="l" t="t" r="r" b="b"/>
            <a:pathLst>
              <a:path w="1029372" h="2135247">
                <a:moveTo>
                  <a:pt x="1029372" y="2135247"/>
                </a:moveTo>
                <a:lnTo>
                  <a:pt x="931569" y="2097338"/>
                </a:lnTo>
                <a:lnTo>
                  <a:pt x="937305" y="2062496"/>
                </a:lnTo>
                <a:lnTo>
                  <a:pt x="937305" y="2062496"/>
                </a:lnTo>
                <a:lnTo>
                  <a:pt x="618082" y="1946748"/>
                </a:lnTo>
                <a:lnTo>
                  <a:pt x="557565" y="2039760"/>
                </a:lnTo>
                <a:lnTo>
                  <a:pt x="322665" y="2026472"/>
                </a:lnTo>
                <a:lnTo>
                  <a:pt x="176677" y="1781689"/>
                </a:lnTo>
                <a:lnTo>
                  <a:pt x="0" y="1107577"/>
                </a:lnTo>
                <a:lnTo>
                  <a:pt x="482993" y="1039663"/>
                </a:lnTo>
                <a:lnTo>
                  <a:pt x="450010" y="275196"/>
                </a:lnTo>
                <a:lnTo>
                  <a:pt x="717893" y="0"/>
                </a:lnTo>
                <a:lnTo>
                  <a:pt x="1029372" y="41183"/>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34" name="เขตป้อมปราบศัตรูพ่าย"/>
          <p:cNvSpPr/>
          <p:nvPr/>
        </p:nvSpPr>
        <p:spPr>
          <a:xfrm>
            <a:off x="5779080" y="5405760"/>
            <a:ext cx="386280" cy="757800"/>
          </a:xfrm>
          <a:custGeom>
            <a:avLst/>
            <a:gdLst/>
            <a:ahLst/>
            <a:rect l="l" t="t" r="r" b="b"/>
            <a:pathLst>
              <a:path w="386624" h="758266">
                <a:moveTo>
                  <a:pt x="338153" y="758266"/>
                </a:moveTo>
                <a:lnTo>
                  <a:pt x="239776" y="685333"/>
                </a:lnTo>
                <a:lnTo>
                  <a:pt x="51626" y="533267"/>
                </a:lnTo>
                <a:lnTo>
                  <a:pt x="0" y="498719"/>
                </a:lnTo>
                <a:lnTo>
                  <a:pt x="6310" y="471259"/>
                </a:lnTo>
                <a:lnTo>
                  <a:pt x="48471" y="292322"/>
                </a:lnTo>
                <a:lnTo>
                  <a:pt x="51913" y="220570"/>
                </a:lnTo>
                <a:lnTo>
                  <a:pt x="58510" y="216732"/>
                </a:lnTo>
                <a:lnTo>
                  <a:pt x="107842" y="109547"/>
                </a:lnTo>
                <a:lnTo>
                  <a:pt x="157460" y="0"/>
                </a:lnTo>
                <a:lnTo>
                  <a:pt x="236621" y="81496"/>
                </a:lnTo>
                <a:lnTo>
                  <a:pt x="257845" y="102756"/>
                </a:lnTo>
                <a:lnTo>
                  <a:pt x="358803" y="208169"/>
                </a:lnTo>
                <a:lnTo>
                  <a:pt x="386624" y="311515"/>
                </a:lnTo>
                <a:lnTo>
                  <a:pt x="371996" y="431987"/>
                </a:lnTo>
                <a:lnTo>
                  <a:pt x="355935" y="535038"/>
                </a:lnTo>
                <a:lnTo>
                  <a:pt x="338153" y="758266"/>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35" name="เขตพญาไท"/>
          <p:cNvSpPr/>
          <p:nvPr/>
        </p:nvSpPr>
        <p:spPr>
          <a:xfrm>
            <a:off x="6462000" y="4399560"/>
            <a:ext cx="960840" cy="1032480"/>
          </a:xfrm>
          <a:custGeom>
            <a:avLst/>
            <a:gdLst/>
            <a:ahLst/>
            <a:rect l="l" t="t" r="r" b="b"/>
            <a:pathLst>
              <a:path w="961110" h="1032872">
                <a:moveTo>
                  <a:pt x="961110" y="82677"/>
                </a:moveTo>
                <a:lnTo>
                  <a:pt x="585672" y="999211"/>
                </a:lnTo>
                <a:lnTo>
                  <a:pt x="444560" y="1032872"/>
                </a:lnTo>
                <a:lnTo>
                  <a:pt x="320657" y="937793"/>
                </a:lnTo>
                <a:lnTo>
                  <a:pt x="0" y="690058"/>
                </a:lnTo>
                <a:lnTo>
                  <a:pt x="279930" y="0"/>
                </a:lnTo>
                <a:lnTo>
                  <a:pt x="961110" y="82677"/>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36" name="เขตพระนคร"/>
          <p:cNvSpPr/>
          <p:nvPr/>
        </p:nvSpPr>
        <p:spPr>
          <a:xfrm>
            <a:off x="5330880" y="5136120"/>
            <a:ext cx="605160" cy="1008720"/>
          </a:xfrm>
          <a:custGeom>
            <a:avLst/>
            <a:gdLst/>
            <a:ahLst/>
            <a:rect l="l" t="t" r="r" b="b"/>
            <a:pathLst>
              <a:path w="605462" h="1008955">
                <a:moveTo>
                  <a:pt x="331843" y="1008955"/>
                </a:moveTo>
                <a:lnTo>
                  <a:pt x="292836" y="998325"/>
                </a:lnTo>
                <a:lnTo>
                  <a:pt x="148282" y="944585"/>
                </a:lnTo>
                <a:lnTo>
                  <a:pt x="102105" y="899112"/>
                </a:lnTo>
                <a:lnTo>
                  <a:pt x="0" y="724310"/>
                </a:lnTo>
                <a:lnTo>
                  <a:pt x="30402" y="379724"/>
                </a:lnTo>
                <a:lnTo>
                  <a:pt x="77153" y="320669"/>
                </a:lnTo>
                <a:lnTo>
                  <a:pt x="79734" y="318602"/>
                </a:lnTo>
                <a:lnTo>
                  <a:pt x="187002" y="217027"/>
                </a:lnTo>
                <a:lnTo>
                  <a:pt x="302301" y="0"/>
                </a:lnTo>
                <a:lnTo>
                  <a:pt x="445707" y="90649"/>
                </a:lnTo>
                <a:lnTo>
                  <a:pt x="605462" y="269586"/>
                </a:lnTo>
                <a:lnTo>
                  <a:pt x="555844" y="379133"/>
                </a:lnTo>
                <a:lnTo>
                  <a:pt x="506512" y="486318"/>
                </a:lnTo>
                <a:lnTo>
                  <a:pt x="499915" y="490157"/>
                </a:lnTo>
                <a:lnTo>
                  <a:pt x="496473" y="561908"/>
                </a:lnTo>
                <a:lnTo>
                  <a:pt x="454312" y="740845"/>
                </a:lnTo>
                <a:lnTo>
                  <a:pt x="448002" y="768306"/>
                </a:lnTo>
                <a:lnTo>
                  <a:pt x="427351" y="827656"/>
                </a:lnTo>
                <a:lnTo>
                  <a:pt x="331843" y="1008955"/>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37" name="เขตพระโขนง"/>
          <p:cNvSpPr/>
          <p:nvPr/>
        </p:nvSpPr>
        <p:spPr>
          <a:xfrm>
            <a:off x="8056440" y="7092720"/>
            <a:ext cx="1632600" cy="847800"/>
          </a:xfrm>
          <a:custGeom>
            <a:avLst/>
            <a:gdLst/>
            <a:ahLst/>
            <a:rect l="l" t="t" r="r" b="b"/>
            <a:pathLst>
              <a:path w="1632827" h="848030">
                <a:moveTo>
                  <a:pt x="1402229" y="54626"/>
                </a:moveTo>
                <a:lnTo>
                  <a:pt x="1456150" y="173917"/>
                </a:lnTo>
                <a:lnTo>
                  <a:pt x="1632827" y="848030"/>
                </a:lnTo>
                <a:lnTo>
                  <a:pt x="1221824" y="834447"/>
                </a:lnTo>
                <a:lnTo>
                  <a:pt x="1176507" y="651672"/>
                </a:lnTo>
                <a:lnTo>
                  <a:pt x="486148" y="786317"/>
                </a:lnTo>
                <a:lnTo>
                  <a:pt x="157460" y="694782"/>
                </a:lnTo>
                <a:lnTo>
                  <a:pt x="158608" y="690058"/>
                </a:lnTo>
                <a:lnTo>
                  <a:pt x="161476" y="677066"/>
                </a:lnTo>
                <a:lnTo>
                  <a:pt x="161476" y="677066"/>
                </a:lnTo>
                <a:lnTo>
                  <a:pt x="170080" y="654920"/>
                </a:lnTo>
                <a:lnTo>
                  <a:pt x="171514" y="641928"/>
                </a:lnTo>
                <a:lnTo>
                  <a:pt x="171514" y="641928"/>
                </a:lnTo>
                <a:lnTo>
                  <a:pt x="174096" y="619782"/>
                </a:lnTo>
                <a:lnTo>
                  <a:pt x="174096" y="619782"/>
                </a:lnTo>
                <a:lnTo>
                  <a:pt x="173235" y="600294"/>
                </a:lnTo>
                <a:lnTo>
                  <a:pt x="173235" y="600294"/>
                </a:lnTo>
                <a:lnTo>
                  <a:pt x="170367" y="581396"/>
                </a:lnTo>
                <a:lnTo>
                  <a:pt x="170367" y="581396"/>
                </a:lnTo>
                <a:lnTo>
                  <a:pt x="156026" y="538286"/>
                </a:lnTo>
                <a:lnTo>
                  <a:pt x="151437" y="513778"/>
                </a:lnTo>
                <a:lnTo>
                  <a:pt x="151437" y="513778"/>
                </a:lnTo>
                <a:lnTo>
                  <a:pt x="133942" y="467420"/>
                </a:lnTo>
                <a:lnTo>
                  <a:pt x="131934" y="464172"/>
                </a:lnTo>
                <a:lnTo>
                  <a:pt x="131934" y="464172"/>
                </a:lnTo>
                <a:lnTo>
                  <a:pt x="10038" y="298818"/>
                </a:lnTo>
                <a:lnTo>
                  <a:pt x="0" y="290255"/>
                </a:lnTo>
                <a:lnTo>
                  <a:pt x="523434" y="56398"/>
                </a:lnTo>
                <a:lnTo>
                  <a:pt x="643035" y="0"/>
                </a:lnTo>
                <a:lnTo>
                  <a:pt x="1402229" y="54626"/>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38" name="เขตภาษีเจริญ"/>
          <p:cNvSpPr/>
          <p:nvPr/>
        </p:nvSpPr>
        <p:spPr>
          <a:xfrm>
            <a:off x="3182040" y="5872680"/>
            <a:ext cx="1669320" cy="1781640"/>
          </a:xfrm>
          <a:custGeom>
            <a:avLst/>
            <a:gdLst/>
            <a:ahLst/>
            <a:rect l="l" t="t" r="r" b="b"/>
            <a:pathLst>
              <a:path w="1669539" h="1781985">
                <a:moveTo>
                  <a:pt x="1340564" y="1028148"/>
                </a:moveTo>
                <a:lnTo>
                  <a:pt x="1203467" y="1062104"/>
                </a:lnTo>
                <a:lnTo>
                  <a:pt x="1221250" y="1166927"/>
                </a:lnTo>
                <a:lnTo>
                  <a:pt x="1130043" y="1115549"/>
                </a:lnTo>
                <a:lnTo>
                  <a:pt x="1045433" y="1254623"/>
                </a:lnTo>
                <a:lnTo>
                  <a:pt x="717893" y="1130017"/>
                </a:lnTo>
                <a:lnTo>
                  <a:pt x="598005" y="1423521"/>
                </a:lnTo>
                <a:lnTo>
                  <a:pt x="697529" y="1601572"/>
                </a:lnTo>
                <a:lnTo>
                  <a:pt x="408995" y="1781985"/>
                </a:lnTo>
                <a:lnTo>
                  <a:pt x="361671" y="1053246"/>
                </a:lnTo>
                <a:lnTo>
                  <a:pt x="355648" y="965549"/>
                </a:lnTo>
                <a:lnTo>
                  <a:pt x="334424" y="554526"/>
                </a:lnTo>
                <a:lnTo>
                  <a:pt x="328975" y="466830"/>
                </a:lnTo>
                <a:lnTo>
                  <a:pt x="126771" y="493995"/>
                </a:lnTo>
                <a:lnTo>
                  <a:pt x="0" y="0"/>
                </a:lnTo>
                <a:lnTo>
                  <a:pt x="542937" y="222637"/>
                </a:lnTo>
                <a:lnTo>
                  <a:pt x="1247923" y="129035"/>
                </a:lnTo>
                <a:lnTo>
                  <a:pt x="1336836" y="120177"/>
                </a:lnTo>
                <a:lnTo>
                  <a:pt x="1344293" y="116634"/>
                </a:lnTo>
                <a:lnTo>
                  <a:pt x="1397353" y="103642"/>
                </a:lnTo>
                <a:lnTo>
                  <a:pt x="1438081" y="491928"/>
                </a:lnTo>
                <a:lnTo>
                  <a:pt x="1669539" y="747341"/>
                </a:lnTo>
                <a:lnTo>
                  <a:pt x="1599843" y="943404"/>
                </a:lnTo>
                <a:lnTo>
                  <a:pt x="1416856" y="884939"/>
                </a:lnTo>
                <a:lnTo>
                  <a:pt x="1340564" y="1028148"/>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39" name="เขตยานนาวา"/>
          <p:cNvSpPr/>
          <p:nvPr/>
        </p:nvSpPr>
        <p:spPr>
          <a:xfrm>
            <a:off x="6171840" y="6717600"/>
            <a:ext cx="1070640" cy="1473840"/>
          </a:xfrm>
          <a:custGeom>
            <a:avLst/>
            <a:gdLst/>
            <a:ahLst/>
            <a:rect l="l" t="t" r="r" b="b"/>
            <a:pathLst>
              <a:path w="1070960" h="1474308">
                <a:moveTo>
                  <a:pt x="564161" y="1474308"/>
                </a:moveTo>
                <a:lnTo>
                  <a:pt x="305743" y="1352950"/>
                </a:lnTo>
                <a:lnTo>
                  <a:pt x="292262" y="1343501"/>
                </a:lnTo>
                <a:lnTo>
                  <a:pt x="125911" y="1186710"/>
                </a:lnTo>
                <a:lnTo>
                  <a:pt x="114438" y="1174013"/>
                </a:lnTo>
                <a:lnTo>
                  <a:pt x="105260" y="1167517"/>
                </a:lnTo>
                <a:lnTo>
                  <a:pt x="0" y="1090746"/>
                </a:lnTo>
                <a:lnTo>
                  <a:pt x="396089" y="597932"/>
                </a:lnTo>
                <a:lnTo>
                  <a:pt x="361384" y="511416"/>
                </a:lnTo>
                <a:lnTo>
                  <a:pt x="317789" y="393897"/>
                </a:lnTo>
                <a:lnTo>
                  <a:pt x="569324" y="359350"/>
                </a:lnTo>
                <a:lnTo>
                  <a:pt x="749442" y="361121"/>
                </a:lnTo>
                <a:lnTo>
                  <a:pt x="694088" y="255118"/>
                </a:lnTo>
                <a:lnTo>
                  <a:pt x="901740" y="0"/>
                </a:lnTo>
                <a:lnTo>
                  <a:pt x="1038263" y="80020"/>
                </a:lnTo>
                <a:lnTo>
                  <a:pt x="1070960" y="395964"/>
                </a:lnTo>
                <a:lnTo>
                  <a:pt x="1050883" y="407184"/>
                </a:lnTo>
                <a:lnTo>
                  <a:pt x="962545" y="515550"/>
                </a:lnTo>
                <a:lnTo>
                  <a:pt x="962545" y="515550"/>
                </a:lnTo>
                <a:lnTo>
                  <a:pt x="956808" y="547440"/>
                </a:lnTo>
                <a:lnTo>
                  <a:pt x="956808" y="547440"/>
                </a:lnTo>
                <a:lnTo>
                  <a:pt x="949351" y="580806"/>
                </a:lnTo>
                <a:lnTo>
                  <a:pt x="949351" y="580806"/>
                </a:lnTo>
                <a:lnTo>
                  <a:pt x="950498" y="622440"/>
                </a:lnTo>
                <a:lnTo>
                  <a:pt x="950498" y="622440"/>
                </a:lnTo>
                <a:lnTo>
                  <a:pt x="951072" y="652558"/>
                </a:lnTo>
                <a:lnTo>
                  <a:pt x="951072" y="652558"/>
                </a:lnTo>
                <a:lnTo>
                  <a:pt x="958242" y="689172"/>
                </a:lnTo>
                <a:lnTo>
                  <a:pt x="992373" y="816731"/>
                </a:lnTo>
                <a:lnTo>
                  <a:pt x="992373" y="816731"/>
                </a:lnTo>
                <a:lnTo>
                  <a:pt x="996388" y="841238"/>
                </a:lnTo>
                <a:lnTo>
                  <a:pt x="996388" y="841238"/>
                </a:lnTo>
                <a:lnTo>
                  <a:pt x="997823" y="868994"/>
                </a:lnTo>
                <a:lnTo>
                  <a:pt x="997823" y="868994"/>
                </a:lnTo>
                <a:lnTo>
                  <a:pt x="1000977" y="893207"/>
                </a:lnTo>
                <a:lnTo>
                  <a:pt x="1000977" y="893207"/>
                </a:lnTo>
                <a:lnTo>
                  <a:pt x="1001551" y="902951"/>
                </a:lnTo>
                <a:lnTo>
                  <a:pt x="1003272" y="925687"/>
                </a:lnTo>
                <a:lnTo>
                  <a:pt x="1003272" y="925687"/>
                </a:lnTo>
                <a:lnTo>
                  <a:pt x="1003272" y="953738"/>
                </a:lnTo>
                <a:lnTo>
                  <a:pt x="1003272" y="953738"/>
                </a:lnTo>
                <a:lnTo>
                  <a:pt x="1001838" y="983856"/>
                </a:lnTo>
                <a:lnTo>
                  <a:pt x="1001838" y="983856"/>
                </a:lnTo>
                <a:lnTo>
                  <a:pt x="995528" y="1015451"/>
                </a:lnTo>
                <a:lnTo>
                  <a:pt x="995528" y="1015451"/>
                </a:lnTo>
                <a:lnTo>
                  <a:pt x="985203" y="1049998"/>
                </a:lnTo>
                <a:lnTo>
                  <a:pt x="985203" y="1049998"/>
                </a:lnTo>
                <a:lnTo>
                  <a:pt x="982621" y="1070962"/>
                </a:lnTo>
                <a:lnTo>
                  <a:pt x="982621" y="1070962"/>
                </a:lnTo>
                <a:lnTo>
                  <a:pt x="979753" y="1092517"/>
                </a:lnTo>
                <a:lnTo>
                  <a:pt x="979753" y="1092517"/>
                </a:lnTo>
                <a:lnTo>
                  <a:pt x="977172" y="1119978"/>
                </a:lnTo>
                <a:lnTo>
                  <a:pt x="977172" y="1119978"/>
                </a:lnTo>
                <a:lnTo>
                  <a:pt x="973443" y="1141828"/>
                </a:lnTo>
                <a:lnTo>
                  <a:pt x="973443" y="1141828"/>
                </a:lnTo>
                <a:lnTo>
                  <a:pt x="966560" y="1174013"/>
                </a:lnTo>
                <a:lnTo>
                  <a:pt x="966560" y="1174013"/>
                </a:lnTo>
                <a:lnTo>
                  <a:pt x="960250" y="1199407"/>
                </a:lnTo>
                <a:lnTo>
                  <a:pt x="926119" y="1282379"/>
                </a:lnTo>
                <a:lnTo>
                  <a:pt x="825735" y="1406985"/>
                </a:lnTo>
                <a:lnTo>
                  <a:pt x="564161" y="1474308"/>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40" name="เขตราชเทวี"/>
          <p:cNvSpPr/>
          <p:nvPr/>
        </p:nvSpPr>
        <p:spPr>
          <a:xfrm>
            <a:off x="6211440" y="5089320"/>
            <a:ext cx="1312920" cy="785160"/>
          </a:xfrm>
          <a:custGeom>
            <a:avLst/>
            <a:gdLst/>
            <a:ahLst/>
            <a:rect l="l" t="t" r="r" b="b"/>
            <a:pathLst>
              <a:path w="1313317" h="785432">
                <a:moveTo>
                  <a:pt x="631562" y="738188"/>
                </a:moveTo>
                <a:lnTo>
                  <a:pt x="350772" y="742912"/>
                </a:lnTo>
                <a:lnTo>
                  <a:pt x="179258" y="742321"/>
                </a:lnTo>
                <a:lnTo>
                  <a:pt x="0" y="641633"/>
                </a:lnTo>
                <a:lnTo>
                  <a:pt x="52200" y="510530"/>
                </a:lnTo>
                <a:lnTo>
                  <a:pt x="250388" y="0"/>
                </a:lnTo>
                <a:lnTo>
                  <a:pt x="571045" y="247736"/>
                </a:lnTo>
                <a:lnTo>
                  <a:pt x="694948" y="342814"/>
                </a:lnTo>
                <a:lnTo>
                  <a:pt x="957956" y="543306"/>
                </a:lnTo>
                <a:lnTo>
                  <a:pt x="1313317" y="568700"/>
                </a:lnTo>
                <a:lnTo>
                  <a:pt x="1266280" y="785432"/>
                </a:lnTo>
                <a:lnTo>
                  <a:pt x="894283" y="770372"/>
                </a:lnTo>
                <a:lnTo>
                  <a:pt x="631562" y="738188"/>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41" name="เขตราษฎร์บูรณะ"/>
          <p:cNvSpPr/>
          <p:nvPr/>
        </p:nvSpPr>
        <p:spPr>
          <a:xfrm>
            <a:off x="4973400" y="7436160"/>
            <a:ext cx="1353240" cy="1199160"/>
          </a:xfrm>
          <a:custGeom>
            <a:avLst/>
            <a:gdLst/>
            <a:ahLst/>
            <a:rect l="l" t="t" r="r" b="b"/>
            <a:pathLst>
              <a:path w="1353471" h="1199407">
                <a:moveTo>
                  <a:pt x="1029085" y="1133265"/>
                </a:moveTo>
                <a:lnTo>
                  <a:pt x="767798" y="1037892"/>
                </a:lnTo>
                <a:lnTo>
                  <a:pt x="668274" y="1199407"/>
                </a:lnTo>
                <a:lnTo>
                  <a:pt x="605462" y="1060923"/>
                </a:lnTo>
                <a:lnTo>
                  <a:pt x="491598" y="1018108"/>
                </a:lnTo>
                <a:lnTo>
                  <a:pt x="445134" y="1131789"/>
                </a:lnTo>
                <a:lnTo>
                  <a:pt x="0" y="967911"/>
                </a:lnTo>
                <a:lnTo>
                  <a:pt x="178971" y="890254"/>
                </a:lnTo>
                <a:lnTo>
                  <a:pt x="123043" y="756199"/>
                </a:lnTo>
                <a:lnTo>
                  <a:pt x="363105" y="457086"/>
                </a:lnTo>
                <a:lnTo>
                  <a:pt x="347331" y="284055"/>
                </a:lnTo>
                <a:lnTo>
                  <a:pt x="157460" y="143208"/>
                </a:lnTo>
                <a:lnTo>
                  <a:pt x="193886" y="8563"/>
                </a:lnTo>
                <a:lnTo>
                  <a:pt x="407561" y="0"/>
                </a:lnTo>
                <a:lnTo>
                  <a:pt x="700397" y="239173"/>
                </a:lnTo>
                <a:lnTo>
                  <a:pt x="869617" y="271653"/>
                </a:lnTo>
                <a:lnTo>
                  <a:pt x="1198592" y="372046"/>
                </a:lnTo>
                <a:lnTo>
                  <a:pt x="1303852" y="448818"/>
                </a:lnTo>
                <a:lnTo>
                  <a:pt x="1303852" y="448818"/>
                </a:lnTo>
                <a:lnTo>
                  <a:pt x="1303852" y="450294"/>
                </a:lnTo>
                <a:lnTo>
                  <a:pt x="1303852" y="450294"/>
                </a:lnTo>
                <a:lnTo>
                  <a:pt x="1301844" y="461220"/>
                </a:lnTo>
                <a:lnTo>
                  <a:pt x="1179088" y="664959"/>
                </a:lnTo>
                <a:lnTo>
                  <a:pt x="1179088" y="664959"/>
                </a:lnTo>
                <a:lnTo>
                  <a:pt x="1172492" y="702459"/>
                </a:lnTo>
                <a:lnTo>
                  <a:pt x="1172492" y="702459"/>
                </a:lnTo>
                <a:lnTo>
                  <a:pt x="1171918" y="724605"/>
                </a:lnTo>
                <a:lnTo>
                  <a:pt x="1171918" y="724605"/>
                </a:lnTo>
                <a:lnTo>
                  <a:pt x="1173065" y="750294"/>
                </a:lnTo>
                <a:lnTo>
                  <a:pt x="1173065" y="750294"/>
                </a:lnTo>
                <a:lnTo>
                  <a:pt x="1177081" y="779821"/>
                </a:lnTo>
                <a:lnTo>
                  <a:pt x="1350316" y="982085"/>
                </a:lnTo>
                <a:lnTo>
                  <a:pt x="1350316" y="982085"/>
                </a:lnTo>
                <a:lnTo>
                  <a:pt x="1353471" y="998620"/>
                </a:lnTo>
                <a:lnTo>
                  <a:pt x="1029085" y="1133265"/>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42" name="เขตลาดพร้าว"/>
          <p:cNvSpPr/>
          <p:nvPr/>
        </p:nvSpPr>
        <p:spPr>
          <a:xfrm>
            <a:off x="8198640" y="2901240"/>
            <a:ext cx="1377360" cy="1583640"/>
          </a:xfrm>
          <a:custGeom>
            <a:avLst/>
            <a:gdLst/>
            <a:ahLst/>
            <a:rect l="l" t="t" r="r" b="b"/>
            <a:pathLst>
              <a:path w="1377563" h="1584150">
                <a:moveTo>
                  <a:pt x="1377563" y="130807"/>
                </a:moveTo>
                <a:lnTo>
                  <a:pt x="1012163" y="924211"/>
                </a:lnTo>
                <a:lnTo>
                  <a:pt x="758907" y="1440351"/>
                </a:lnTo>
                <a:lnTo>
                  <a:pt x="681181" y="1584150"/>
                </a:lnTo>
                <a:lnTo>
                  <a:pt x="499628" y="1575587"/>
                </a:lnTo>
                <a:lnTo>
                  <a:pt x="409282" y="1424997"/>
                </a:lnTo>
                <a:lnTo>
                  <a:pt x="2295" y="1350883"/>
                </a:lnTo>
                <a:lnTo>
                  <a:pt x="0" y="1343501"/>
                </a:lnTo>
                <a:lnTo>
                  <a:pt x="66541" y="392125"/>
                </a:lnTo>
                <a:lnTo>
                  <a:pt x="44456" y="137893"/>
                </a:lnTo>
                <a:lnTo>
                  <a:pt x="878795" y="0"/>
                </a:lnTo>
                <a:lnTo>
                  <a:pt x="1160446" y="172441"/>
                </a:lnTo>
                <a:lnTo>
                  <a:pt x="1377563" y="130807"/>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43" name="เขตวังทองหลาง"/>
          <p:cNvSpPr/>
          <p:nvPr/>
        </p:nvSpPr>
        <p:spPr>
          <a:xfrm>
            <a:off x="8200800" y="4251960"/>
            <a:ext cx="1207080" cy="1527480"/>
          </a:xfrm>
          <a:custGeom>
            <a:avLst/>
            <a:gdLst/>
            <a:ahLst/>
            <a:rect l="l" t="t" r="r" b="b"/>
            <a:pathLst>
              <a:path w="1207483" h="1527753">
                <a:moveTo>
                  <a:pt x="406988" y="74114"/>
                </a:moveTo>
                <a:lnTo>
                  <a:pt x="497334" y="224704"/>
                </a:lnTo>
                <a:lnTo>
                  <a:pt x="678886" y="233267"/>
                </a:lnTo>
                <a:lnTo>
                  <a:pt x="756613" y="89468"/>
                </a:lnTo>
                <a:lnTo>
                  <a:pt x="1011590" y="75590"/>
                </a:lnTo>
                <a:lnTo>
                  <a:pt x="1077557" y="433759"/>
                </a:lnTo>
                <a:lnTo>
                  <a:pt x="1165608" y="416633"/>
                </a:lnTo>
                <a:lnTo>
                  <a:pt x="1207483" y="1170175"/>
                </a:lnTo>
                <a:lnTo>
                  <a:pt x="773248" y="1230116"/>
                </a:lnTo>
                <a:lnTo>
                  <a:pt x="450010" y="1527753"/>
                </a:lnTo>
                <a:lnTo>
                  <a:pt x="180692" y="1145372"/>
                </a:lnTo>
                <a:lnTo>
                  <a:pt x="0" y="0"/>
                </a:lnTo>
                <a:lnTo>
                  <a:pt x="406988" y="74114"/>
                </a:lnTo>
                <a:close/>
              </a:path>
            </a:pathLst>
          </a:custGeom>
          <a:solidFill>
            <a:srgbClr val="f2dfd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44" name="เขตวัฒนา"/>
          <p:cNvSpPr/>
          <p:nvPr/>
        </p:nvSpPr>
        <p:spPr>
          <a:xfrm>
            <a:off x="7105680" y="5859720"/>
            <a:ext cx="1611360" cy="1288800"/>
          </a:xfrm>
          <a:custGeom>
            <a:avLst/>
            <a:gdLst/>
            <a:ahLst/>
            <a:rect l="l" t="t" r="r" b="b"/>
            <a:pathLst>
              <a:path w="1611602" h="1289171">
                <a:moveTo>
                  <a:pt x="1586076" y="742321"/>
                </a:moveTo>
                <a:lnTo>
                  <a:pt x="1611602" y="976770"/>
                </a:lnTo>
                <a:lnTo>
                  <a:pt x="1478521" y="1070962"/>
                </a:lnTo>
                <a:lnTo>
                  <a:pt x="1593820" y="1232773"/>
                </a:lnTo>
                <a:lnTo>
                  <a:pt x="1474219" y="1289171"/>
                </a:lnTo>
                <a:lnTo>
                  <a:pt x="985203" y="835038"/>
                </a:lnTo>
                <a:lnTo>
                  <a:pt x="788449" y="692420"/>
                </a:lnTo>
                <a:lnTo>
                  <a:pt x="454599" y="449113"/>
                </a:lnTo>
                <a:lnTo>
                  <a:pt x="433661" y="433464"/>
                </a:lnTo>
                <a:lnTo>
                  <a:pt x="16635" y="164763"/>
                </a:lnTo>
                <a:lnTo>
                  <a:pt x="0" y="0"/>
                </a:lnTo>
                <a:lnTo>
                  <a:pt x="371996" y="15059"/>
                </a:lnTo>
                <a:lnTo>
                  <a:pt x="591408" y="55512"/>
                </a:lnTo>
                <a:lnTo>
                  <a:pt x="1368385" y="214074"/>
                </a:lnTo>
                <a:lnTo>
                  <a:pt x="1569154" y="314173"/>
                </a:lnTo>
                <a:lnTo>
                  <a:pt x="1586076" y="742321"/>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45" name="เขตสวนหลวง"/>
          <p:cNvSpPr/>
          <p:nvPr/>
        </p:nvSpPr>
        <p:spPr>
          <a:xfrm>
            <a:off x="8474040" y="5808960"/>
            <a:ext cx="1756440" cy="1457280"/>
          </a:xfrm>
          <a:custGeom>
            <a:avLst/>
            <a:gdLst/>
            <a:ahLst/>
            <a:rect l="l" t="t" r="r" b="b"/>
            <a:pathLst>
              <a:path w="1756730" h="1457477">
                <a:moveTo>
                  <a:pt x="1756730" y="344586"/>
                </a:moveTo>
                <a:lnTo>
                  <a:pt x="1756443" y="349901"/>
                </a:lnTo>
                <a:lnTo>
                  <a:pt x="1488560" y="625097"/>
                </a:lnTo>
                <a:lnTo>
                  <a:pt x="1521543" y="1389564"/>
                </a:lnTo>
                <a:lnTo>
                  <a:pt x="1038550" y="1457477"/>
                </a:lnTo>
                <a:lnTo>
                  <a:pt x="984629" y="1338186"/>
                </a:lnTo>
                <a:lnTo>
                  <a:pt x="225435" y="1283560"/>
                </a:lnTo>
                <a:lnTo>
                  <a:pt x="110136" y="1121750"/>
                </a:lnTo>
                <a:lnTo>
                  <a:pt x="243217" y="1027557"/>
                </a:lnTo>
                <a:lnTo>
                  <a:pt x="217691" y="793109"/>
                </a:lnTo>
                <a:lnTo>
                  <a:pt x="200769" y="364960"/>
                </a:lnTo>
                <a:lnTo>
                  <a:pt x="0" y="264862"/>
                </a:lnTo>
                <a:lnTo>
                  <a:pt x="90920" y="56102"/>
                </a:lnTo>
                <a:lnTo>
                  <a:pt x="371996" y="186319"/>
                </a:lnTo>
                <a:lnTo>
                  <a:pt x="1093905" y="0"/>
                </a:lnTo>
                <a:lnTo>
                  <a:pt x="1756730" y="344586"/>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46" name="เขตสะพานสูง"/>
          <p:cNvSpPr/>
          <p:nvPr/>
        </p:nvSpPr>
        <p:spPr>
          <a:xfrm>
            <a:off x="10230480" y="4977000"/>
            <a:ext cx="311040" cy="1222920"/>
          </a:xfrm>
          <a:custGeom>
            <a:avLst/>
            <a:gdLst/>
            <a:ahLst/>
            <a:rect l="l" t="t" r="r" b="b"/>
            <a:pathLst>
              <a:path w="311479" h="1223326">
                <a:moveTo>
                  <a:pt x="311479" y="1223326"/>
                </a:moveTo>
                <a:lnTo>
                  <a:pt x="0" y="1182142"/>
                </a:lnTo>
                <a:lnTo>
                  <a:pt x="287" y="1176827"/>
                </a:lnTo>
                <a:lnTo>
                  <a:pt x="207079" y="924367"/>
                </a:lnTo>
                <a:lnTo>
                  <a:pt x="311479" y="882636"/>
                </a:lnTo>
                <a:lnTo>
                  <a:pt x="311479" y="651854"/>
                </a:lnTo>
                <a:lnTo>
                  <a:pt x="304882" y="648580"/>
                </a:lnTo>
                <a:lnTo>
                  <a:pt x="159181" y="86377"/>
                </a:lnTo>
                <a:lnTo>
                  <a:pt x="311479" y="0"/>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47" name="เขตสัมพันธวงศ์"/>
          <p:cNvSpPr/>
          <p:nvPr/>
        </p:nvSpPr>
        <p:spPr>
          <a:xfrm>
            <a:off x="5662800" y="5904360"/>
            <a:ext cx="453960" cy="519840"/>
          </a:xfrm>
          <a:custGeom>
            <a:avLst/>
            <a:gdLst/>
            <a:ahLst/>
            <a:rect l="l" t="t" r="r" b="b"/>
            <a:pathLst>
              <a:path w="454312" h="520275">
                <a:moveTo>
                  <a:pt x="440545" y="442913"/>
                </a:moveTo>
                <a:lnTo>
                  <a:pt x="358516" y="520275"/>
                </a:lnTo>
                <a:lnTo>
                  <a:pt x="345610" y="470373"/>
                </a:lnTo>
                <a:lnTo>
                  <a:pt x="269031" y="337499"/>
                </a:lnTo>
                <a:lnTo>
                  <a:pt x="190731" y="288779"/>
                </a:lnTo>
                <a:lnTo>
                  <a:pt x="0" y="240649"/>
                </a:lnTo>
                <a:lnTo>
                  <a:pt x="95509" y="59350"/>
                </a:lnTo>
                <a:lnTo>
                  <a:pt x="116159" y="0"/>
                </a:lnTo>
                <a:lnTo>
                  <a:pt x="167786" y="34547"/>
                </a:lnTo>
                <a:lnTo>
                  <a:pt x="355935" y="186614"/>
                </a:lnTo>
                <a:lnTo>
                  <a:pt x="454312" y="259547"/>
                </a:lnTo>
                <a:lnTo>
                  <a:pt x="440545" y="442913"/>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48" name="เขตสาทร"/>
          <p:cNvSpPr/>
          <p:nvPr/>
        </p:nvSpPr>
        <p:spPr>
          <a:xfrm>
            <a:off x="5890680" y="6511320"/>
            <a:ext cx="1319400" cy="717480"/>
          </a:xfrm>
          <a:custGeom>
            <a:avLst/>
            <a:gdLst/>
            <a:ahLst/>
            <a:rect l="l" t="t" r="r" b="b"/>
            <a:pathLst>
              <a:path w="1319627" h="717814">
                <a:moveTo>
                  <a:pt x="850687" y="565747"/>
                </a:moveTo>
                <a:lnTo>
                  <a:pt x="599152" y="600294"/>
                </a:lnTo>
                <a:lnTo>
                  <a:pt x="642748" y="717814"/>
                </a:lnTo>
                <a:lnTo>
                  <a:pt x="195893" y="631003"/>
                </a:lnTo>
                <a:lnTo>
                  <a:pt x="247806" y="527656"/>
                </a:lnTo>
                <a:lnTo>
                  <a:pt x="0" y="421062"/>
                </a:lnTo>
                <a:lnTo>
                  <a:pt x="121896" y="203444"/>
                </a:lnTo>
                <a:lnTo>
                  <a:pt x="210521" y="227066"/>
                </a:lnTo>
                <a:lnTo>
                  <a:pt x="643322" y="129035"/>
                </a:lnTo>
                <a:lnTo>
                  <a:pt x="1053751" y="0"/>
                </a:lnTo>
                <a:lnTo>
                  <a:pt x="1295821" y="103642"/>
                </a:lnTo>
                <a:lnTo>
                  <a:pt x="1319627" y="286417"/>
                </a:lnTo>
                <a:lnTo>
                  <a:pt x="1183104" y="206397"/>
                </a:lnTo>
                <a:lnTo>
                  <a:pt x="975451" y="461515"/>
                </a:lnTo>
                <a:lnTo>
                  <a:pt x="1030806" y="567519"/>
                </a:lnTo>
                <a:lnTo>
                  <a:pt x="850687" y="565747"/>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49" name="เขตหนองแขม"/>
          <p:cNvSpPr/>
          <p:nvPr/>
        </p:nvSpPr>
        <p:spPr>
          <a:xfrm>
            <a:off x="1364040" y="6164640"/>
            <a:ext cx="1003320" cy="2391120"/>
          </a:xfrm>
          <a:custGeom>
            <a:avLst/>
            <a:gdLst/>
            <a:ahLst/>
            <a:rect l="l" t="t" r="r" b="b"/>
            <a:pathLst>
              <a:path w="1003846" h="2391516">
                <a:moveTo>
                  <a:pt x="781852" y="1105510"/>
                </a:moveTo>
                <a:lnTo>
                  <a:pt x="1003846" y="1968008"/>
                </a:lnTo>
                <a:lnTo>
                  <a:pt x="0" y="2391516"/>
                </a:lnTo>
                <a:lnTo>
                  <a:pt x="0" y="29567"/>
                </a:lnTo>
                <a:lnTo>
                  <a:pt x="267310" y="0"/>
                </a:lnTo>
                <a:lnTo>
                  <a:pt x="425631" y="345176"/>
                </a:lnTo>
                <a:lnTo>
                  <a:pt x="781852" y="1105510"/>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50" name="เขตหลักสี่"/>
          <p:cNvSpPr/>
          <p:nvPr/>
        </p:nvSpPr>
        <p:spPr>
          <a:xfrm>
            <a:off x="6904440" y="2857680"/>
            <a:ext cx="27000" cy="6480"/>
          </a:xfrm>
          <a:custGeom>
            <a:avLst/>
            <a:gdLst/>
            <a:ahLst/>
            <a:rect l="l" t="t" r="r" b="b"/>
            <a:pathLst>
              <a:path w="27460" h="6791">
                <a:moveTo>
                  <a:pt x="27460" y="0"/>
                </a:moveTo>
                <a:lnTo>
                  <a:pt x="17782" y="2657"/>
                </a:lnTo>
                <a:lnTo>
                  <a:pt x="0" y="6791"/>
                </a:lnTo>
                <a:lnTo>
                  <a:pt x="5163" y="0"/>
                </a:lnTo>
                <a:lnTo>
                  <a:pt x="5163" y="0"/>
                </a:lnTo>
                <a:lnTo>
                  <a:pt x="4589" y="295"/>
                </a:lnTo>
                <a:lnTo>
                  <a:pt x="4589" y="295"/>
                </a:lnTo>
                <a:lnTo>
                  <a:pt x="4680" y="0"/>
                </a:lnTo>
                <a:close/>
              </a:path>
            </a:pathLst>
          </a:custGeom>
          <a:solidFill>
            <a:srgbClr val="e8eef1"/>
          </a:solidFill>
          <a:ln w="9525">
            <a:solidFill>
              <a:srgbClr val="beccd5"/>
            </a:solidFill>
            <a:round/>
          </a:ln>
        </p:spPr>
        <p:style>
          <a:lnRef idx="0"/>
          <a:fillRef idx="0"/>
          <a:effectRef idx="0"/>
          <a:fontRef idx="minor"/>
        </p:style>
        <p:txBody>
          <a:bodyPr lIns="90000" rIns="90000" tIns="-38520" bIns="-3852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51" name="เขตห้วยขวาง"/>
          <p:cNvSpPr/>
          <p:nvPr/>
        </p:nvSpPr>
        <p:spPr>
          <a:xfrm>
            <a:off x="7477920" y="4244760"/>
            <a:ext cx="1172880" cy="1828800"/>
          </a:xfrm>
          <a:custGeom>
            <a:avLst/>
            <a:gdLst/>
            <a:ahLst/>
            <a:rect l="l" t="t" r="r" b="b"/>
            <a:pathLst>
              <a:path w="1173065" h="1829229">
                <a:moveTo>
                  <a:pt x="1173065" y="1535135"/>
                </a:moveTo>
                <a:lnTo>
                  <a:pt x="1087308" y="1620469"/>
                </a:lnTo>
                <a:lnTo>
                  <a:pt x="996388" y="1829229"/>
                </a:lnTo>
                <a:lnTo>
                  <a:pt x="219412" y="1670666"/>
                </a:lnTo>
                <a:lnTo>
                  <a:pt x="0" y="1630213"/>
                </a:lnTo>
                <a:lnTo>
                  <a:pt x="47037" y="1413481"/>
                </a:lnTo>
                <a:lnTo>
                  <a:pt x="285666" y="961711"/>
                </a:lnTo>
                <a:lnTo>
                  <a:pt x="316928" y="390649"/>
                </a:lnTo>
                <a:lnTo>
                  <a:pt x="333850" y="58464"/>
                </a:lnTo>
                <a:lnTo>
                  <a:pt x="720761" y="0"/>
                </a:lnTo>
                <a:lnTo>
                  <a:pt x="723056" y="7382"/>
                </a:lnTo>
                <a:lnTo>
                  <a:pt x="903748" y="1152754"/>
                </a:lnTo>
                <a:lnTo>
                  <a:pt x="1173065" y="1535135"/>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52" name="Oval 50"/>
          <p:cNvSpPr/>
          <p:nvPr/>
        </p:nvSpPr>
        <p:spPr>
          <a:xfrm>
            <a:off x="4943520" y="5718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53" name="Oval 51"/>
          <p:cNvSpPr/>
          <p:nvPr/>
        </p:nvSpPr>
        <p:spPr>
          <a:xfrm>
            <a:off x="5059440" y="5631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54" name="Oval 52"/>
          <p:cNvSpPr/>
          <p:nvPr/>
        </p:nvSpPr>
        <p:spPr>
          <a:xfrm>
            <a:off x="4901760" y="5594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55" name="Oval 53"/>
          <p:cNvSpPr/>
          <p:nvPr/>
        </p:nvSpPr>
        <p:spPr>
          <a:xfrm>
            <a:off x="5417640" y="6860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56" name="Oval 54"/>
          <p:cNvSpPr/>
          <p:nvPr/>
        </p:nvSpPr>
        <p:spPr>
          <a:xfrm>
            <a:off x="5140080" y="6877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57" name="Oval 55"/>
          <p:cNvSpPr/>
          <p:nvPr/>
        </p:nvSpPr>
        <p:spPr>
          <a:xfrm>
            <a:off x="3598200" y="5025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58" name="Oval 56"/>
          <p:cNvSpPr/>
          <p:nvPr/>
        </p:nvSpPr>
        <p:spPr>
          <a:xfrm>
            <a:off x="5206680" y="5630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59" name="Oval 57"/>
          <p:cNvSpPr/>
          <p:nvPr/>
        </p:nvSpPr>
        <p:spPr>
          <a:xfrm>
            <a:off x="4406400" y="4890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60" name="Oval 58"/>
          <p:cNvSpPr/>
          <p:nvPr/>
        </p:nvSpPr>
        <p:spPr>
          <a:xfrm>
            <a:off x="4456800" y="4846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61" name="Oval 59"/>
          <p:cNvSpPr/>
          <p:nvPr/>
        </p:nvSpPr>
        <p:spPr>
          <a:xfrm>
            <a:off x="5227560" y="5880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62" name="Oval 60"/>
          <p:cNvSpPr/>
          <p:nvPr/>
        </p:nvSpPr>
        <p:spPr>
          <a:xfrm>
            <a:off x="5181840" y="5901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63" name="Oval 61"/>
          <p:cNvSpPr/>
          <p:nvPr/>
        </p:nvSpPr>
        <p:spPr>
          <a:xfrm>
            <a:off x="6567480" y="6507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64" name="Oval 62"/>
          <p:cNvSpPr/>
          <p:nvPr/>
        </p:nvSpPr>
        <p:spPr>
          <a:xfrm>
            <a:off x="5113800" y="6706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65" name="Oval 63"/>
          <p:cNvSpPr/>
          <p:nvPr/>
        </p:nvSpPr>
        <p:spPr>
          <a:xfrm>
            <a:off x="8413200" y="7387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66" name="Oval 64"/>
          <p:cNvSpPr/>
          <p:nvPr/>
        </p:nvSpPr>
        <p:spPr>
          <a:xfrm>
            <a:off x="5826960" y="6247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67" name="Oval 65"/>
          <p:cNvSpPr/>
          <p:nvPr/>
        </p:nvSpPr>
        <p:spPr>
          <a:xfrm>
            <a:off x="5859720" y="6235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68" name="Oval 66"/>
          <p:cNvSpPr/>
          <p:nvPr/>
        </p:nvSpPr>
        <p:spPr>
          <a:xfrm>
            <a:off x="5794560" y="6291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69" name="Oval 67"/>
          <p:cNvSpPr/>
          <p:nvPr/>
        </p:nvSpPr>
        <p:spPr>
          <a:xfrm>
            <a:off x="5744880" y="6346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70" name="Oval 68"/>
          <p:cNvSpPr/>
          <p:nvPr/>
        </p:nvSpPr>
        <p:spPr>
          <a:xfrm>
            <a:off x="5762160" y="6387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71" name="Oval 69"/>
          <p:cNvSpPr/>
          <p:nvPr/>
        </p:nvSpPr>
        <p:spPr>
          <a:xfrm>
            <a:off x="5863680" y="6306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72" name="Oval 70"/>
          <p:cNvSpPr/>
          <p:nvPr/>
        </p:nvSpPr>
        <p:spPr>
          <a:xfrm>
            <a:off x="5478120" y="6605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73" name="Oval 71"/>
          <p:cNvSpPr/>
          <p:nvPr/>
        </p:nvSpPr>
        <p:spPr>
          <a:xfrm>
            <a:off x="5934240" y="6514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74" name="Oval 72"/>
          <p:cNvSpPr/>
          <p:nvPr/>
        </p:nvSpPr>
        <p:spPr>
          <a:xfrm>
            <a:off x="5933880" y="6561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75" name="Oval 73"/>
          <p:cNvSpPr/>
          <p:nvPr/>
        </p:nvSpPr>
        <p:spPr>
          <a:xfrm>
            <a:off x="5838480" y="6442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76" name="Oval 74"/>
          <p:cNvSpPr/>
          <p:nvPr/>
        </p:nvSpPr>
        <p:spPr>
          <a:xfrm>
            <a:off x="5869800" y="6500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77" name="Oval 75"/>
          <p:cNvSpPr/>
          <p:nvPr/>
        </p:nvSpPr>
        <p:spPr>
          <a:xfrm>
            <a:off x="5863680" y="6821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78" name="Oval 76"/>
          <p:cNvSpPr/>
          <p:nvPr/>
        </p:nvSpPr>
        <p:spPr>
          <a:xfrm>
            <a:off x="7106400" y="3564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79" name="Oval 77"/>
          <p:cNvSpPr/>
          <p:nvPr/>
        </p:nvSpPr>
        <p:spPr>
          <a:xfrm>
            <a:off x="5732640" y="6579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80" name="Oval 78"/>
          <p:cNvSpPr/>
          <p:nvPr/>
        </p:nvSpPr>
        <p:spPr>
          <a:xfrm>
            <a:off x="5474880" y="6907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81" name="Oval 79"/>
          <p:cNvSpPr/>
          <p:nvPr/>
        </p:nvSpPr>
        <p:spPr>
          <a:xfrm>
            <a:off x="5271120" y="5976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82" name="Oval 80"/>
          <p:cNvSpPr/>
          <p:nvPr/>
        </p:nvSpPr>
        <p:spPr>
          <a:xfrm>
            <a:off x="5691240" y="6842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83" name="Oval 81"/>
          <p:cNvSpPr/>
          <p:nvPr/>
        </p:nvSpPr>
        <p:spPr>
          <a:xfrm>
            <a:off x="5497920" y="6775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84" name="Oval 82"/>
          <p:cNvSpPr/>
          <p:nvPr/>
        </p:nvSpPr>
        <p:spPr>
          <a:xfrm>
            <a:off x="5537880" y="6737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85" name="Oval 83"/>
          <p:cNvSpPr/>
          <p:nvPr/>
        </p:nvSpPr>
        <p:spPr>
          <a:xfrm>
            <a:off x="5470200" y="6689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86" name="Oval 84"/>
          <p:cNvSpPr/>
          <p:nvPr/>
        </p:nvSpPr>
        <p:spPr>
          <a:xfrm>
            <a:off x="5669280" y="6551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87" name="Oval 85"/>
          <p:cNvSpPr/>
          <p:nvPr/>
        </p:nvSpPr>
        <p:spPr>
          <a:xfrm>
            <a:off x="5682960" y="6488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88" name="Oval 86"/>
          <p:cNvSpPr/>
          <p:nvPr/>
        </p:nvSpPr>
        <p:spPr>
          <a:xfrm>
            <a:off x="5543280" y="6567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89" name="Oval 87"/>
          <p:cNvSpPr/>
          <p:nvPr/>
        </p:nvSpPr>
        <p:spPr>
          <a:xfrm>
            <a:off x="5559120" y="6590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90" name="Oval 88"/>
          <p:cNvSpPr/>
          <p:nvPr/>
        </p:nvSpPr>
        <p:spPr>
          <a:xfrm>
            <a:off x="5582880" y="6897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91" name="Oval 89"/>
          <p:cNvSpPr/>
          <p:nvPr/>
        </p:nvSpPr>
        <p:spPr>
          <a:xfrm>
            <a:off x="5768640" y="6445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92" name="Oval 90"/>
          <p:cNvSpPr/>
          <p:nvPr/>
        </p:nvSpPr>
        <p:spPr>
          <a:xfrm>
            <a:off x="8324280" y="7434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93" name="Oval 91"/>
          <p:cNvSpPr/>
          <p:nvPr/>
        </p:nvSpPr>
        <p:spPr>
          <a:xfrm>
            <a:off x="5289480" y="7372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94" name="Oval 92"/>
          <p:cNvSpPr/>
          <p:nvPr/>
        </p:nvSpPr>
        <p:spPr>
          <a:xfrm>
            <a:off x="5241600" y="7314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95" name="Oval 93"/>
          <p:cNvSpPr/>
          <p:nvPr/>
        </p:nvSpPr>
        <p:spPr>
          <a:xfrm>
            <a:off x="5189400" y="6025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96" name="Oval 94"/>
          <p:cNvSpPr/>
          <p:nvPr/>
        </p:nvSpPr>
        <p:spPr>
          <a:xfrm>
            <a:off x="4014000" y="4419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97" name="Oval 95"/>
          <p:cNvSpPr/>
          <p:nvPr/>
        </p:nvSpPr>
        <p:spPr>
          <a:xfrm>
            <a:off x="5267520" y="7193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98" name="Oval 96"/>
          <p:cNvSpPr/>
          <p:nvPr/>
        </p:nvSpPr>
        <p:spPr>
          <a:xfrm>
            <a:off x="5107320" y="7279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499" name="Oval 97"/>
          <p:cNvSpPr/>
          <p:nvPr/>
        </p:nvSpPr>
        <p:spPr>
          <a:xfrm>
            <a:off x="5278320" y="6066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00" name="Oval 98"/>
          <p:cNvSpPr/>
          <p:nvPr/>
        </p:nvSpPr>
        <p:spPr>
          <a:xfrm>
            <a:off x="6321600" y="5789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01" name="Oval 99"/>
          <p:cNvSpPr/>
          <p:nvPr/>
        </p:nvSpPr>
        <p:spPr>
          <a:xfrm>
            <a:off x="4322160" y="5105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02" name="Oval 100"/>
          <p:cNvSpPr/>
          <p:nvPr/>
        </p:nvSpPr>
        <p:spPr>
          <a:xfrm>
            <a:off x="9952920" y="5810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03" name="Oval 101"/>
          <p:cNvSpPr/>
          <p:nvPr/>
        </p:nvSpPr>
        <p:spPr>
          <a:xfrm>
            <a:off x="5169600" y="7119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04" name="Oval 102"/>
          <p:cNvSpPr/>
          <p:nvPr/>
        </p:nvSpPr>
        <p:spPr>
          <a:xfrm>
            <a:off x="9349920" y="5810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05" name="Oval 103"/>
          <p:cNvSpPr/>
          <p:nvPr/>
        </p:nvSpPr>
        <p:spPr>
          <a:xfrm>
            <a:off x="10165320" y="5547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06" name="Oval 104"/>
          <p:cNvSpPr/>
          <p:nvPr/>
        </p:nvSpPr>
        <p:spPr>
          <a:xfrm>
            <a:off x="10122120" y="5464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07" name="Oval 105"/>
          <p:cNvSpPr/>
          <p:nvPr/>
        </p:nvSpPr>
        <p:spPr>
          <a:xfrm>
            <a:off x="4327920" y="5476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08" name="Oval 106"/>
          <p:cNvSpPr/>
          <p:nvPr/>
        </p:nvSpPr>
        <p:spPr>
          <a:xfrm>
            <a:off x="10180080" y="2877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09" name="Oval 107"/>
          <p:cNvSpPr/>
          <p:nvPr/>
        </p:nvSpPr>
        <p:spPr>
          <a:xfrm>
            <a:off x="8302320" y="7444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10" name="Oval 108"/>
          <p:cNvSpPr/>
          <p:nvPr/>
        </p:nvSpPr>
        <p:spPr>
          <a:xfrm>
            <a:off x="9530640" y="7564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11" name="Oval 109"/>
          <p:cNvSpPr/>
          <p:nvPr/>
        </p:nvSpPr>
        <p:spPr>
          <a:xfrm>
            <a:off x="5392440" y="7160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12" name="Oval 110"/>
          <p:cNvSpPr/>
          <p:nvPr/>
        </p:nvSpPr>
        <p:spPr>
          <a:xfrm>
            <a:off x="5427720" y="6943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13" name="Oval 111"/>
          <p:cNvSpPr/>
          <p:nvPr/>
        </p:nvSpPr>
        <p:spPr>
          <a:xfrm>
            <a:off x="9552600" y="7490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14" name="Oval 112"/>
          <p:cNvSpPr/>
          <p:nvPr/>
        </p:nvSpPr>
        <p:spPr>
          <a:xfrm>
            <a:off x="3588120" y="6950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15" name="Oval 113"/>
          <p:cNvSpPr/>
          <p:nvPr/>
        </p:nvSpPr>
        <p:spPr>
          <a:xfrm>
            <a:off x="8294400" y="4905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16" name="Oval 114"/>
          <p:cNvSpPr/>
          <p:nvPr/>
        </p:nvSpPr>
        <p:spPr>
          <a:xfrm>
            <a:off x="8343000" y="5321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17" name="Oval 115"/>
          <p:cNvSpPr/>
          <p:nvPr/>
        </p:nvSpPr>
        <p:spPr>
          <a:xfrm>
            <a:off x="6168600" y="5815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18" name="Oval 116"/>
          <p:cNvSpPr/>
          <p:nvPr/>
        </p:nvSpPr>
        <p:spPr>
          <a:xfrm>
            <a:off x="6161040" y="6072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19" name="Oval 117"/>
          <p:cNvSpPr/>
          <p:nvPr/>
        </p:nvSpPr>
        <p:spPr>
          <a:xfrm>
            <a:off x="5137200" y="6791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20" name="Oval 118"/>
          <p:cNvSpPr/>
          <p:nvPr/>
        </p:nvSpPr>
        <p:spPr>
          <a:xfrm>
            <a:off x="4427280" y="5618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21" name="Oval 119"/>
          <p:cNvSpPr/>
          <p:nvPr/>
        </p:nvSpPr>
        <p:spPr>
          <a:xfrm>
            <a:off x="8799120" y="7250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22" name="Oval 120"/>
          <p:cNvSpPr/>
          <p:nvPr/>
        </p:nvSpPr>
        <p:spPr>
          <a:xfrm>
            <a:off x="6714000" y="5811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23" name="Oval 121"/>
          <p:cNvSpPr/>
          <p:nvPr/>
        </p:nvSpPr>
        <p:spPr>
          <a:xfrm>
            <a:off x="6980040" y="6345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24" name="Oval 122"/>
          <p:cNvSpPr/>
          <p:nvPr/>
        </p:nvSpPr>
        <p:spPr>
          <a:xfrm>
            <a:off x="4914360" y="6936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25" name="Oval 123"/>
          <p:cNvSpPr/>
          <p:nvPr/>
        </p:nvSpPr>
        <p:spPr>
          <a:xfrm>
            <a:off x="4759200" y="6924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26" name="Oval 124"/>
          <p:cNvSpPr/>
          <p:nvPr/>
        </p:nvSpPr>
        <p:spPr>
          <a:xfrm>
            <a:off x="5335200" y="6061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27" name="Oval 125"/>
          <p:cNvSpPr/>
          <p:nvPr/>
        </p:nvSpPr>
        <p:spPr>
          <a:xfrm>
            <a:off x="4862520" y="5992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28" name="Oval 126"/>
          <p:cNvSpPr/>
          <p:nvPr/>
        </p:nvSpPr>
        <p:spPr>
          <a:xfrm>
            <a:off x="5137200" y="6094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29" name="Oval 127"/>
          <p:cNvSpPr/>
          <p:nvPr/>
        </p:nvSpPr>
        <p:spPr>
          <a:xfrm>
            <a:off x="4061520" y="6892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30" name="Oval 128"/>
          <p:cNvSpPr/>
          <p:nvPr/>
        </p:nvSpPr>
        <p:spPr>
          <a:xfrm>
            <a:off x="8879400" y="7226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31" name="Oval 129"/>
          <p:cNvSpPr/>
          <p:nvPr/>
        </p:nvSpPr>
        <p:spPr>
          <a:xfrm>
            <a:off x="7088760" y="6534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32" name="Oval 130"/>
          <p:cNvSpPr/>
          <p:nvPr/>
        </p:nvSpPr>
        <p:spPr>
          <a:xfrm>
            <a:off x="4866120" y="6697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33" name="Oval 131"/>
          <p:cNvSpPr/>
          <p:nvPr/>
        </p:nvSpPr>
        <p:spPr>
          <a:xfrm>
            <a:off x="5011560" y="6667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34" name="Oval 132"/>
          <p:cNvSpPr/>
          <p:nvPr/>
        </p:nvSpPr>
        <p:spPr>
          <a:xfrm>
            <a:off x="8845920" y="7233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35" name="Oval 133"/>
          <p:cNvSpPr/>
          <p:nvPr/>
        </p:nvSpPr>
        <p:spPr>
          <a:xfrm>
            <a:off x="4495680" y="6198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36" name="Oval 134"/>
          <p:cNvSpPr/>
          <p:nvPr/>
        </p:nvSpPr>
        <p:spPr>
          <a:xfrm>
            <a:off x="3686400" y="6864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37" name="Oval 135"/>
          <p:cNvSpPr/>
          <p:nvPr/>
        </p:nvSpPr>
        <p:spPr>
          <a:xfrm>
            <a:off x="3723840" y="6753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38" name="Oval 136"/>
          <p:cNvSpPr/>
          <p:nvPr/>
        </p:nvSpPr>
        <p:spPr>
          <a:xfrm>
            <a:off x="3872520" y="6863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39" name="Oval 137"/>
          <p:cNvSpPr/>
          <p:nvPr/>
        </p:nvSpPr>
        <p:spPr>
          <a:xfrm>
            <a:off x="4920120" y="6040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40" name="Oval 138"/>
          <p:cNvSpPr/>
          <p:nvPr/>
        </p:nvSpPr>
        <p:spPr>
          <a:xfrm>
            <a:off x="5139000" y="6118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41" name="Oval 139"/>
          <p:cNvSpPr/>
          <p:nvPr/>
        </p:nvSpPr>
        <p:spPr>
          <a:xfrm>
            <a:off x="4702320" y="4476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42" name="Oval 140"/>
          <p:cNvSpPr/>
          <p:nvPr/>
        </p:nvSpPr>
        <p:spPr>
          <a:xfrm>
            <a:off x="3991680" y="6651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43" name="Oval 141"/>
          <p:cNvSpPr/>
          <p:nvPr/>
        </p:nvSpPr>
        <p:spPr>
          <a:xfrm>
            <a:off x="3957480" y="6684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44" name="Oval 142"/>
          <p:cNvSpPr/>
          <p:nvPr/>
        </p:nvSpPr>
        <p:spPr>
          <a:xfrm>
            <a:off x="4118400" y="6649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45" name="Oval 143"/>
          <p:cNvSpPr/>
          <p:nvPr/>
        </p:nvSpPr>
        <p:spPr>
          <a:xfrm>
            <a:off x="4199040" y="6887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46" name="Oval 144"/>
          <p:cNvSpPr/>
          <p:nvPr/>
        </p:nvSpPr>
        <p:spPr>
          <a:xfrm>
            <a:off x="4200480" y="6798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47" name="Oval 145"/>
          <p:cNvSpPr/>
          <p:nvPr/>
        </p:nvSpPr>
        <p:spPr>
          <a:xfrm>
            <a:off x="5063040" y="6654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48" name="Oval 146"/>
          <p:cNvSpPr/>
          <p:nvPr/>
        </p:nvSpPr>
        <p:spPr>
          <a:xfrm>
            <a:off x="8821800" y="7211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49" name="Oval 147"/>
          <p:cNvSpPr/>
          <p:nvPr/>
        </p:nvSpPr>
        <p:spPr>
          <a:xfrm>
            <a:off x="5113080" y="6643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50" name="Oval 148"/>
          <p:cNvSpPr/>
          <p:nvPr/>
        </p:nvSpPr>
        <p:spPr>
          <a:xfrm>
            <a:off x="5092920" y="6187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51" name="Oval 149"/>
          <p:cNvSpPr/>
          <p:nvPr/>
        </p:nvSpPr>
        <p:spPr>
          <a:xfrm>
            <a:off x="5279760" y="6770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52" name="Oval 150"/>
          <p:cNvSpPr/>
          <p:nvPr/>
        </p:nvSpPr>
        <p:spPr>
          <a:xfrm>
            <a:off x="5427360" y="7655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53" name="Oval 151"/>
          <p:cNvSpPr/>
          <p:nvPr/>
        </p:nvSpPr>
        <p:spPr>
          <a:xfrm>
            <a:off x="6018840" y="8203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54" name="Oval 152"/>
          <p:cNvSpPr/>
          <p:nvPr/>
        </p:nvSpPr>
        <p:spPr>
          <a:xfrm>
            <a:off x="6072480" y="8244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55" name="Oval 153"/>
          <p:cNvSpPr/>
          <p:nvPr/>
        </p:nvSpPr>
        <p:spPr>
          <a:xfrm>
            <a:off x="6120000" y="8372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56" name="Oval 154"/>
          <p:cNvSpPr/>
          <p:nvPr/>
        </p:nvSpPr>
        <p:spPr>
          <a:xfrm>
            <a:off x="6135480" y="7926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57" name="Oval 155"/>
          <p:cNvSpPr/>
          <p:nvPr/>
        </p:nvSpPr>
        <p:spPr>
          <a:xfrm>
            <a:off x="5920920" y="7881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58" name="Oval 156"/>
          <p:cNvSpPr/>
          <p:nvPr/>
        </p:nvSpPr>
        <p:spPr>
          <a:xfrm>
            <a:off x="5857560" y="7927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59" name="Oval 157"/>
          <p:cNvSpPr/>
          <p:nvPr/>
        </p:nvSpPr>
        <p:spPr>
          <a:xfrm>
            <a:off x="5805000" y="8026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60" name="Oval 158"/>
          <p:cNvSpPr/>
          <p:nvPr/>
        </p:nvSpPr>
        <p:spPr>
          <a:xfrm>
            <a:off x="5791680" y="7823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61" name="Oval 159"/>
          <p:cNvSpPr/>
          <p:nvPr/>
        </p:nvSpPr>
        <p:spPr>
          <a:xfrm>
            <a:off x="5667480" y="7807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62" name="Oval 160"/>
          <p:cNvSpPr/>
          <p:nvPr/>
        </p:nvSpPr>
        <p:spPr>
          <a:xfrm>
            <a:off x="5521320" y="7743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63" name="Oval 161"/>
          <p:cNvSpPr/>
          <p:nvPr/>
        </p:nvSpPr>
        <p:spPr>
          <a:xfrm>
            <a:off x="5362200" y="6098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64" name="Oval 162"/>
          <p:cNvSpPr/>
          <p:nvPr/>
        </p:nvSpPr>
        <p:spPr>
          <a:xfrm>
            <a:off x="5209920" y="5951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65" name="Oval 163"/>
          <p:cNvSpPr/>
          <p:nvPr/>
        </p:nvSpPr>
        <p:spPr>
          <a:xfrm>
            <a:off x="5321880" y="6138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66" name="Oval 164"/>
          <p:cNvSpPr/>
          <p:nvPr/>
        </p:nvSpPr>
        <p:spPr>
          <a:xfrm>
            <a:off x="5709600" y="8012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67" name="Oval 165"/>
          <p:cNvSpPr/>
          <p:nvPr/>
        </p:nvSpPr>
        <p:spPr>
          <a:xfrm>
            <a:off x="5568120" y="7952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68" name="Oval 166"/>
          <p:cNvSpPr/>
          <p:nvPr/>
        </p:nvSpPr>
        <p:spPr>
          <a:xfrm>
            <a:off x="5449320" y="8129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69" name="Oval 167"/>
          <p:cNvSpPr/>
          <p:nvPr/>
        </p:nvSpPr>
        <p:spPr>
          <a:xfrm>
            <a:off x="5482080" y="8085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70" name="Oval 168"/>
          <p:cNvSpPr/>
          <p:nvPr/>
        </p:nvSpPr>
        <p:spPr>
          <a:xfrm>
            <a:off x="6032880" y="8005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71" name="Oval 169"/>
          <p:cNvSpPr/>
          <p:nvPr/>
        </p:nvSpPr>
        <p:spPr>
          <a:xfrm>
            <a:off x="5774040" y="7800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72" name="Oval 170"/>
          <p:cNvSpPr/>
          <p:nvPr/>
        </p:nvSpPr>
        <p:spPr>
          <a:xfrm>
            <a:off x="5310360" y="7678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73" name="Oval 171"/>
          <p:cNvSpPr/>
          <p:nvPr/>
        </p:nvSpPr>
        <p:spPr>
          <a:xfrm>
            <a:off x="6035400" y="8019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74" name="Oval 172"/>
          <p:cNvSpPr/>
          <p:nvPr/>
        </p:nvSpPr>
        <p:spPr>
          <a:xfrm>
            <a:off x="6489360" y="6344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75" name="Oval 173"/>
          <p:cNvSpPr/>
          <p:nvPr/>
        </p:nvSpPr>
        <p:spPr>
          <a:xfrm>
            <a:off x="4156560" y="8001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76" name="Oval 174"/>
          <p:cNvSpPr/>
          <p:nvPr/>
        </p:nvSpPr>
        <p:spPr>
          <a:xfrm>
            <a:off x="6135120" y="8012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77" name="Oval 175"/>
          <p:cNvSpPr/>
          <p:nvPr/>
        </p:nvSpPr>
        <p:spPr>
          <a:xfrm>
            <a:off x="5189400" y="7487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78" name="Oval 176"/>
          <p:cNvSpPr/>
          <p:nvPr/>
        </p:nvSpPr>
        <p:spPr>
          <a:xfrm>
            <a:off x="5396760" y="6205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79" name="Oval 177"/>
          <p:cNvSpPr/>
          <p:nvPr/>
        </p:nvSpPr>
        <p:spPr>
          <a:xfrm>
            <a:off x="5329440" y="6363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80" name="Oval 178"/>
          <p:cNvSpPr/>
          <p:nvPr/>
        </p:nvSpPr>
        <p:spPr>
          <a:xfrm>
            <a:off x="6143400" y="6985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81" name="Oval 179"/>
          <p:cNvSpPr/>
          <p:nvPr/>
        </p:nvSpPr>
        <p:spPr>
          <a:xfrm>
            <a:off x="6089040" y="7092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82" name="Oval 180"/>
          <p:cNvSpPr/>
          <p:nvPr/>
        </p:nvSpPr>
        <p:spPr>
          <a:xfrm>
            <a:off x="6264360" y="6797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83" name="Oval 181"/>
          <p:cNvSpPr/>
          <p:nvPr/>
        </p:nvSpPr>
        <p:spPr>
          <a:xfrm>
            <a:off x="6910560" y="6715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84" name="Oval 182"/>
          <p:cNvSpPr/>
          <p:nvPr/>
        </p:nvSpPr>
        <p:spPr>
          <a:xfrm>
            <a:off x="6117480" y="7009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85" name="Oval 183"/>
          <p:cNvSpPr/>
          <p:nvPr/>
        </p:nvSpPr>
        <p:spPr>
          <a:xfrm>
            <a:off x="6547320" y="6851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86" name="Oval 184"/>
          <p:cNvSpPr/>
          <p:nvPr/>
        </p:nvSpPr>
        <p:spPr>
          <a:xfrm>
            <a:off x="6239880" y="6969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87" name="Oval 185"/>
          <p:cNvSpPr/>
          <p:nvPr/>
        </p:nvSpPr>
        <p:spPr>
          <a:xfrm>
            <a:off x="6270840" y="7017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88" name="Oval 186"/>
          <p:cNvSpPr/>
          <p:nvPr/>
        </p:nvSpPr>
        <p:spPr>
          <a:xfrm>
            <a:off x="5420880" y="7335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89" name="Oval 187"/>
          <p:cNvSpPr/>
          <p:nvPr/>
        </p:nvSpPr>
        <p:spPr>
          <a:xfrm>
            <a:off x="5564520" y="7387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90" name="Oval 188"/>
          <p:cNvSpPr/>
          <p:nvPr/>
        </p:nvSpPr>
        <p:spPr>
          <a:xfrm>
            <a:off x="5649120" y="7588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91" name="Oval 189"/>
          <p:cNvSpPr/>
          <p:nvPr/>
        </p:nvSpPr>
        <p:spPr>
          <a:xfrm>
            <a:off x="5748840" y="7365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92" name="Oval 190"/>
          <p:cNvSpPr/>
          <p:nvPr/>
        </p:nvSpPr>
        <p:spPr>
          <a:xfrm>
            <a:off x="5574600" y="7234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93" name="Oval 191"/>
          <p:cNvSpPr/>
          <p:nvPr/>
        </p:nvSpPr>
        <p:spPr>
          <a:xfrm>
            <a:off x="5607360" y="7200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94" name="Oval 192"/>
          <p:cNvSpPr/>
          <p:nvPr/>
        </p:nvSpPr>
        <p:spPr>
          <a:xfrm>
            <a:off x="8330760" y="4209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95" name="Oval 193"/>
          <p:cNvSpPr/>
          <p:nvPr/>
        </p:nvSpPr>
        <p:spPr>
          <a:xfrm>
            <a:off x="5707080" y="7137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96" name="Oval 194"/>
          <p:cNvSpPr/>
          <p:nvPr/>
        </p:nvSpPr>
        <p:spPr>
          <a:xfrm>
            <a:off x="8700840" y="7541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97" name="Oval 195"/>
          <p:cNvSpPr/>
          <p:nvPr/>
        </p:nvSpPr>
        <p:spPr>
          <a:xfrm>
            <a:off x="5704200" y="7291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98" name="Oval 196"/>
          <p:cNvSpPr/>
          <p:nvPr/>
        </p:nvSpPr>
        <p:spPr>
          <a:xfrm>
            <a:off x="5755320" y="7276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599" name="Oval 197"/>
          <p:cNvSpPr/>
          <p:nvPr/>
        </p:nvSpPr>
        <p:spPr>
          <a:xfrm>
            <a:off x="5833800" y="7245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00" name="Oval 198"/>
          <p:cNvSpPr/>
          <p:nvPr/>
        </p:nvSpPr>
        <p:spPr>
          <a:xfrm>
            <a:off x="5910120" y="7206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01" name="Oval 199"/>
          <p:cNvSpPr/>
          <p:nvPr/>
        </p:nvSpPr>
        <p:spPr>
          <a:xfrm>
            <a:off x="5985360" y="7633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02" name="Oval 200"/>
          <p:cNvSpPr/>
          <p:nvPr/>
        </p:nvSpPr>
        <p:spPr>
          <a:xfrm>
            <a:off x="6408000" y="7360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03" name="Oval 201"/>
          <p:cNvSpPr/>
          <p:nvPr/>
        </p:nvSpPr>
        <p:spPr>
          <a:xfrm>
            <a:off x="5982480" y="7148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04" name="Oval 202"/>
          <p:cNvSpPr/>
          <p:nvPr/>
        </p:nvSpPr>
        <p:spPr>
          <a:xfrm>
            <a:off x="6003360" y="7011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05" name="Oval 203"/>
          <p:cNvSpPr/>
          <p:nvPr/>
        </p:nvSpPr>
        <p:spPr>
          <a:xfrm>
            <a:off x="5412600" y="6355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06" name="Oval 204"/>
          <p:cNvSpPr/>
          <p:nvPr/>
        </p:nvSpPr>
        <p:spPr>
          <a:xfrm>
            <a:off x="5355720" y="6319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07" name="Oval 205"/>
          <p:cNvSpPr/>
          <p:nvPr/>
        </p:nvSpPr>
        <p:spPr>
          <a:xfrm>
            <a:off x="5871960" y="7084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08" name="Oval 206"/>
          <p:cNvSpPr/>
          <p:nvPr/>
        </p:nvSpPr>
        <p:spPr>
          <a:xfrm>
            <a:off x="5865480" y="7114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09" name="Oval 207"/>
          <p:cNvSpPr/>
          <p:nvPr/>
        </p:nvSpPr>
        <p:spPr>
          <a:xfrm>
            <a:off x="5894640" y="7075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10" name="Oval 208"/>
          <p:cNvSpPr/>
          <p:nvPr/>
        </p:nvSpPr>
        <p:spPr>
          <a:xfrm>
            <a:off x="5999040" y="7183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11" name="Oval 209"/>
          <p:cNvSpPr/>
          <p:nvPr/>
        </p:nvSpPr>
        <p:spPr>
          <a:xfrm>
            <a:off x="5848560" y="7295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12" name="Oval 210"/>
          <p:cNvSpPr/>
          <p:nvPr/>
        </p:nvSpPr>
        <p:spPr>
          <a:xfrm>
            <a:off x="5913720" y="7175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13" name="Oval 211"/>
          <p:cNvSpPr/>
          <p:nvPr/>
        </p:nvSpPr>
        <p:spPr>
          <a:xfrm>
            <a:off x="5954400" y="6990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14" name="Oval 212"/>
          <p:cNvSpPr/>
          <p:nvPr/>
        </p:nvSpPr>
        <p:spPr>
          <a:xfrm>
            <a:off x="8169120" y="4216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15" name="Oval 213"/>
          <p:cNvSpPr/>
          <p:nvPr/>
        </p:nvSpPr>
        <p:spPr>
          <a:xfrm>
            <a:off x="8157240" y="3626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16" name="Oval 214"/>
          <p:cNvSpPr/>
          <p:nvPr/>
        </p:nvSpPr>
        <p:spPr>
          <a:xfrm>
            <a:off x="8213760" y="3342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17" name="Oval 215"/>
          <p:cNvSpPr/>
          <p:nvPr/>
        </p:nvSpPr>
        <p:spPr>
          <a:xfrm>
            <a:off x="7292880" y="2948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18" name="Oval 216"/>
          <p:cNvSpPr/>
          <p:nvPr/>
        </p:nvSpPr>
        <p:spPr>
          <a:xfrm>
            <a:off x="7154280" y="3205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19" name="Oval 217"/>
          <p:cNvSpPr/>
          <p:nvPr/>
        </p:nvSpPr>
        <p:spPr>
          <a:xfrm>
            <a:off x="6905520" y="3621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20" name="Oval 218"/>
          <p:cNvSpPr/>
          <p:nvPr/>
        </p:nvSpPr>
        <p:spPr>
          <a:xfrm>
            <a:off x="8170200" y="4064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21" name="Oval 219"/>
          <p:cNvSpPr/>
          <p:nvPr/>
        </p:nvSpPr>
        <p:spPr>
          <a:xfrm>
            <a:off x="6991920" y="3635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22" name="Oval 220"/>
          <p:cNvSpPr/>
          <p:nvPr/>
        </p:nvSpPr>
        <p:spPr>
          <a:xfrm>
            <a:off x="8391960" y="7511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23" name="Oval 221"/>
          <p:cNvSpPr/>
          <p:nvPr/>
        </p:nvSpPr>
        <p:spPr>
          <a:xfrm>
            <a:off x="7071480" y="6251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24" name="Oval 222"/>
          <p:cNvSpPr/>
          <p:nvPr/>
        </p:nvSpPr>
        <p:spPr>
          <a:xfrm>
            <a:off x="7871760" y="4258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25" name="Oval 223"/>
          <p:cNvSpPr/>
          <p:nvPr/>
        </p:nvSpPr>
        <p:spPr>
          <a:xfrm>
            <a:off x="7552800" y="4275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26" name="Oval 224"/>
          <p:cNvSpPr/>
          <p:nvPr/>
        </p:nvSpPr>
        <p:spPr>
          <a:xfrm>
            <a:off x="7265880" y="3514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27" name="Oval 225"/>
          <p:cNvSpPr/>
          <p:nvPr/>
        </p:nvSpPr>
        <p:spPr>
          <a:xfrm>
            <a:off x="8859600" y="3553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28" name="Oval 226"/>
          <p:cNvSpPr/>
          <p:nvPr/>
        </p:nvSpPr>
        <p:spPr>
          <a:xfrm>
            <a:off x="8839080" y="4024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29" name="Oval 227"/>
          <p:cNvSpPr/>
          <p:nvPr/>
        </p:nvSpPr>
        <p:spPr>
          <a:xfrm>
            <a:off x="6308640" y="7218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30" name="Oval 228"/>
          <p:cNvSpPr/>
          <p:nvPr/>
        </p:nvSpPr>
        <p:spPr>
          <a:xfrm>
            <a:off x="9681120" y="2984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31" name="Oval 229"/>
          <p:cNvSpPr/>
          <p:nvPr/>
        </p:nvSpPr>
        <p:spPr>
          <a:xfrm>
            <a:off x="9855720" y="3771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32" name="Oval 230"/>
          <p:cNvSpPr/>
          <p:nvPr/>
        </p:nvSpPr>
        <p:spPr>
          <a:xfrm>
            <a:off x="10152720" y="5100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33" name="Oval 231"/>
          <p:cNvSpPr/>
          <p:nvPr/>
        </p:nvSpPr>
        <p:spPr>
          <a:xfrm>
            <a:off x="10096560" y="5059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34" name="Oval 232"/>
          <p:cNvSpPr/>
          <p:nvPr/>
        </p:nvSpPr>
        <p:spPr>
          <a:xfrm>
            <a:off x="10165680" y="4971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35" name="Oval 233"/>
          <p:cNvSpPr/>
          <p:nvPr/>
        </p:nvSpPr>
        <p:spPr>
          <a:xfrm>
            <a:off x="5110560" y="5644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36" name="Oval 234"/>
          <p:cNvSpPr/>
          <p:nvPr/>
        </p:nvSpPr>
        <p:spPr>
          <a:xfrm>
            <a:off x="10327320" y="4117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37" name="Oval 235"/>
          <p:cNvSpPr/>
          <p:nvPr/>
        </p:nvSpPr>
        <p:spPr>
          <a:xfrm>
            <a:off x="6292800" y="5837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38" name="Oval 236"/>
          <p:cNvSpPr/>
          <p:nvPr/>
        </p:nvSpPr>
        <p:spPr>
          <a:xfrm>
            <a:off x="10317600" y="4189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39" name="Oval 237"/>
          <p:cNvSpPr/>
          <p:nvPr/>
        </p:nvSpPr>
        <p:spPr>
          <a:xfrm>
            <a:off x="10310400" y="4295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40" name="Oval 238"/>
          <p:cNvSpPr/>
          <p:nvPr/>
        </p:nvSpPr>
        <p:spPr>
          <a:xfrm>
            <a:off x="10129320" y="5060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41" name="Oval 239"/>
          <p:cNvSpPr/>
          <p:nvPr/>
        </p:nvSpPr>
        <p:spPr>
          <a:xfrm>
            <a:off x="10248480" y="4677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42" name="Oval 240"/>
          <p:cNvSpPr/>
          <p:nvPr/>
        </p:nvSpPr>
        <p:spPr>
          <a:xfrm>
            <a:off x="5287320" y="6248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43" name="Oval 241"/>
          <p:cNvSpPr/>
          <p:nvPr/>
        </p:nvSpPr>
        <p:spPr>
          <a:xfrm>
            <a:off x="10131480" y="3673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44" name="Oval 242"/>
          <p:cNvSpPr/>
          <p:nvPr/>
        </p:nvSpPr>
        <p:spPr>
          <a:xfrm>
            <a:off x="7737120" y="3323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45" name="Oval 243"/>
          <p:cNvSpPr/>
          <p:nvPr/>
        </p:nvSpPr>
        <p:spPr>
          <a:xfrm>
            <a:off x="8113320" y="2940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46" name="Oval 244"/>
          <p:cNvSpPr/>
          <p:nvPr/>
        </p:nvSpPr>
        <p:spPr>
          <a:xfrm>
            <a:off x="6040800" y="4002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47" name="Oval 245"/>
          <p:cNvSpPr/>
          <p:nvPr/>
        </p:nvSpPr>
        <p:spPr>
          <a:xfrm>
            <a:off x="6059880" y="4255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48" name="Oval 246"/>
          <p:cNvSpPr/>
          <p:nvPr/>
        </p:nvSpPr>
        <p:spPr>
          <a:xfrm>
            <a:off x="5677560" y="4375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49" name="Oval 247"/>
          <p:cNvSpPr/>
          <p:nvPr/>
        </p:nvSpPr>
        <p:spPr>
          <a:xfrm>
            <a:off x="5697000" y="4476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50" name="Oval 248"/>
          <p:cNvSpPr/>
          <p:nvPr/>
        </p:nvSpPr>
        <p:spPr>
          <a:xfrm>
            <a:off x="5511960" y="4488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51" name="Oval 249"/>
          <p:cNvSpPr/>
          <p:nvPr/>
        </p:nvSpPr>
        <p:spPr>
          <a:xfrm>
            <a:off x="5635440" y="4528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52" name="Oval 250"/>
          <p:cNvSpPr/>
          <p:nvPr/>
        </p:nvSpPr>
        <p:spPr>
          <a:xfrm>
            <a:off x="5580000" y="4501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53" name="Oval 251"/>
          <p:cNvSpPr/>
          <p:nvPr/>
        </p:nvSpPr>
        <p:spPr>
          <a:xfrm>
            <a:off x="5107680" y="4795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54" name="Oval 252"/>
          <p:cNvSpPr/>
          <p:nvPr/>
        </p:nvSpPr>
        <p:spPr>
          <a:xfrm>
            <a:off x="5346360" y="5276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55" name="Oval 253"/>
          <p:cNvSpPr/>
          <p:nvPr/>
        </p:nvSpPr>
        <p:spPr>
          <a:xfrm>
            <a:off x="5851440" y="4579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56" name="Oval 254"/>
          <p:cNvSpPr/>
          <p:nvPr/>
        </p:nvSpPr>
        <p:spPr>
          <a:xfrm>
            <a:off x="5826960" y="4575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57" name="Oval 255"/>
          <p:cNvSpPr/>
          <p:nvPr/>
        </p:nvSpPr>
        <p:spPr>
          <a:xfrm>
            <a:off x="5793480" y="4620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58" name="Oval 256"/>
          <p:cNvSpPr/>
          <p:nvPr/>
        </p:nvSpPr>
        <p:spPr>
          <a:xfrm>
            <a:off x="5756040" y="4664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59" name="Oval 257"/>
          <p:cNvSpPr/>
          <p:nvPr/>
        </p:nvSpPr>
        <p:spPr>
          <a:xfrm>
            <a:off x="5694120" y="4721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60" name="Oval 258"/>
          <p:cNvSpPr/>
          <p:nvPr/>
        </p:nvSpPr>
        <p:spPr>
          <a:xfrm>
            <a:off x="5643720" y="4879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61" name="Oval 259"/>
          <p:cNvSpPr/>
          <p:nvPr/>
        </p:nvSpPr>
        <p:spPr>
          <a:xfrm>
            <a:off x="5505480" y="4845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62" name="Oval 260"/>
          <p:cNvSpPr/>
          <p:nvPr/>
        </p:nvSpPr>
        <p:spPr>
          <a:xfrm>
            <a:off x="5556240" y="5009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63" name="Oval 261"/>
          <p:cNvSpPr/>
          <p:nvPr/>
        </p:nvSpPr>
        <p:spPr>
          <a:xfrm>
            <a:off x="5541120" y="5084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64" name="Oval 262"/>
          <p:cNvSpPr/>
          <p:nvPr/>
        </p:nvSpPr>
        <p:spPr>
          <a:xfrm>
            <a:off x="5487120" y="5129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65" name="Oval 263"/>
          <p:cNvSpPr/>
          <p:nvPr/>
        </p:nvSpPr>
        <p:spPr>
          <a:xfrm>
            <a:off x="5066280" y="6213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66" name="Oval 264"/>
          <p:cNvSpPr/>
          <p:nvPr/>
        </p:nvSpPr>
        <p:spPr>
          <a:xfrm>
            <a:off x="5447160" y="5212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67" name="Oval 265"/>
          <p:cNvSpPr/>
          <p:nvPr/>
        </p:nvSpPr>
        <p:spPr>
          <a:xfrm>
            <a:off x="5422320" y="5257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68" name="Oval 266"/>
          <p:cNvSpPr/>
          <p:nvPr/>
        </p:nvSpPr>
        <p:spPr>
          <a:xfrm>
            <a:off x="5389560" y="5236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69" name="Oval 267"/>
          <p:cNvSpPr/>
          <p:nvPr/>
        </p:nvSpPr>
        <p:spPr>
          <a:xfrm>
            <a:off x="5990760" y="4404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70" name="Oval 268"/>
          <p:cNvSpPr/>
          <p:nvPr/>
        </p:nvSpPr>
        <p:spPr>
          <a:xfrm>
            <a:off x="5460480" y="6359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71" name="Oval 269"/>
          <p:cNvSpPr/>
          <p:nvPr/>
        </p:nvSpPr>
        <p:spPr>
          <a:xfrm>
            <a:off x="5677200" y="4776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72" name="Oval 270"/>
          <p:cNvSpPr/>
          <p:nvPr/>
        </p:nvSpPr>
        <p:spPr>
          <a:xfrm>
            <a:off x="5536440" y="4474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73" name="Oval 271"/>
          <p:cNvSpPr/>
          <p:nvPr/>
        </p:nvSpPr>
        <p:spPr>
          <a:xfrm>
            <a:off x="5562360" y="4652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74" name="Oval 272"/>
          <p:cNvSpPr/>
          <p:nvPr/>
        </p:nvSpPr>
        <p:spPr>
          <a:xfrm>
            <a:off x="5770800" y="4290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75" name="Oval 273"/>
          <p:cNvSpPr/>
          <p:nvPr/>
        </p:nvSpPr>
        <p:spPr>
          <a:xfrm>
            <a:off x="5662800" y="4434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76" name="Oval 274"/>
          <p:cNvSpPr/>
          <p:nvPr/>
        </p:nvSpPr>
        <p:spPr>
          <a:xfrm>
            <a:off x="5206320" y="4843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77" name="Oval 275"/>
          <p:cNvSpPr/>
          <p:nvPr/>
        </p:nvSpPr>
        <p:spPr>
          <a:xfrm>
            <a:off x="5230080" y="4806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78" name="Oval 276"/>
          <p:cNvSpPr/>
          <p:nvPr/>
        </p:nvSpPr>
        <p:spPr>
          <a:xfrm>
            <a:off x="5135760" y="4757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79" name="Oval 277"/>
          <p:cNvSpPr/>
          <p:nvPr/>
        </p:nvSpPr>
        <p:spPr>
          <a:xfrm>
            <a:off x="4617360" y="7107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80" name="Oval 278"/>
          <p:cNvSpPr/>
          <p:nvPr/>
        </p:nvSpPr>
        <p:spPr>
          <a:xfrm>
            <a:off x="4892040" y="7265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81" name="Oval 279"/>
          <p:cNvSpPr/>
          <p:nvPr/>
        </p:nvSpPr>
        <p:spPr>
          <a:xfrm>
            <a:off x="4968360" y="7905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82" name="Oval 280"/>
          <p:cNvSpPr/>
          <p:nvPr/>
        </p:nvSpPr>
        <p:spPr>
          <a:xfrm>
            <a:off x="5132520" y="5840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83" name="Oval 281"/>
          <p:cNvSpPr/>
          <p:nvPr/>
        </p:nvSpPr>
        <p:spPr>
          <a:xfrm>
            <a:off x="2558880" y="7757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84" name="Oval 282"/>
          <p:cNvSpPr/>
          <p:nvPr/>
        </p:nvSpPr>
        <p:spPr>
          <a:xfrm>
            <a:off x="3328560" y="6847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85" name="Oval 283"/>
          <p:cNvSpPr/>
          <p:nvPr/>
        </p:nvSpPr>
        <p:spPr>
          <a:xfrm>
            <a:off x="3502080" y="6976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86" name="Oval 284"/>
          <p:cNvSpPr/>
          <p:nvPr/>
        </p:nvSpPr>
        <p:spPr>
          <a:xfrm>
            <a:off x="3495600" y="7414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87" name="Oval 285"/>
          <p:cNvSpPr/>
          <p:nvPr/>
        </p:nvSpPr>
        <p:spPr>
          <a:xfrm>
            <a:off x="3417480" y="7549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88" name="Oval 286"/>
          <p:cNvSpPr/>
          <p:nvPr/>
        </p:nvSpPr>
        <p:spPr>
          <a:xfrm>
            <a:off x="3304440" y="6955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89" name="Oval 287"/>
          <p:cNvSpPr/>
          <p:nvPr/>
        </p:nvSpPr>
        <p:spPr>
          <a:xfrm>
            <a:off x="1954440" y="6828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90" name="Oval 288"/>
          <p:cNvSpPr/>
          <p:nvPr/>
        </p:nvSpPr>
        <p:spPr>
          <a:xfrm>
            <a:off x="2339640" y="7145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91" name="Oval 289"/>
          <p:cNvSpPr/>
          <p:nvPr/>
        </p:nvSpPr>
        <p:spPr>
          <a:xfrm>
            <a:off x="2494080" y="7352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92" name="Oval 290"/>
          <p:cNvSpPr/>
          <p:nvPr/>
        </p:nvSpPr>
        <p:spPr>
          <a:xfrm>
            <a:off x="2545560" y="7431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93" name="Oval 291"/>
          <p:cNvSpPr/>
          <p:nvPr/>
        </p:nvSpPr>
        <p:spPr>
          <a:xfrm>
            <a:off x="2572200" y="7456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94" name="Oval 292"/>
          <p:cNvSpPr/>
          <p:nvPr/>
        </p:nvSpPr>
        <p:spPr>
          <a:xfrm>
            <a:off x="3175560" y="6803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95" name="Oval 293"/>
          <p:cNvSpPr/>
          <p:nvPr/>
        </p:nvSpPr>
        <p:spPr>
          <a:xfrm>
            <a:off x="3414600" y="6756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96" name="Oval 294"/>
          <p:cNvSpPr/>
          <p:nvPr/>
        </p:nvSpPr>
        <p:spPr>
          <a:xfrm>
            <a:off x="3499560" y="6771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97" name="Oval 295"/>
          <p:cNvSpPr/>
          <p:nvPr/>
        </p:nvSpPr>
        <p:spPr>
          <a:xfrm>
            <a:off x="3173760" y="6950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98" name="Oval 296"/>
          <p:cNvSpPr/>
          <p:nvPr/>
        </p:nvSpPr>
        <p:spPr>
          <a:xfrm>
            <a:off x="3026880" y="6971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699" name="Oval 297"/>
          <p:cNvSpPr/>
          <p:nvPr/>
        </p:nvSpPr>
        <p:spPr>
          <a:xfrm>
            <a:off x="8476920" y="7247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00" name="Oval 298"/>
          <p:cNvSpPr/>
          <p:nvPr/>
        </p:nvSpPr>
        <p:spPr>
          <a:xfrm>
            <a:off x="2349000" y="6150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01" name="Oval 299"/>
          <p:cNvSpPr/>
          <p:nvPr/>
        </p:nvSpPr>
        <p:spPr>
          <a:xfrm>
            <a:off x="3244320" y="6678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02" name="Oval 300"/>
          <p:cNvSpPr/>
          <p:nvPr/>
        </p:nvSpPr>
        <p:spPr>
          <a:xfrm>
            <a:off x="3489480" y="6800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03" name="Oval 301"/>
          <p:cNvSpPr/>
          <p:nvPr/>
        </p:nvSpPr>
        <p:spPr>
          <a:xfrm>
            <a:off x="7341120" y="5117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04" name="Oval 302"/>
          <p:cNvSpPr/>
          <p:nvPr/>
        </p:nvSpPr>
        <p:spPr>
          <a:xfrm>
            <a:off x="5325120" y="6409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05" name="Oval 303"/>
          <p:cNvSpPr/>
          <p:nvPr/>
        </p:nvSpPr>
        <p:spPr>
          <a:xfrm>
            <a:off x="7488720" y="4885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06" name="Oval 304"/>
          <p:cNvSpPr/>
          <p:nvPr/>
        </p:nvSpPr>
        <p:spPr>
          <a:xfrm>
            <a:off x="7509960" y="4865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07" name="Oval 305"/>
          <p:cNvSpPr/>
          <p:nvPr/>
        </p:nvSpPr>
        <p:spPr>
          <a:xfrm>
            <a:off x="7627320" y="4820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08" name="Oval 306"/>
          <p:cNvSpPr/>
          <p:nvPr/>
        </p:nvSpPr>
        <p:spPr>
          <a:xfrm>
            <a:off x="7717680" y="4410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09" name="Oval 307"/>
          <p:cNvSpPr/>
          <p:nvPr/>
        </p:nvSpPr>
        <p:spPr>
          <a:xfrm>
            <a:off x="7648920" y="4427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10" name="Oval 308"/>
          <p:cNvSpPr/>
          <p:nvPr/>
        </p:nvSpPr>
        <p:spPr>
          <a:xfrm>
            <a:off x="7558200" y="5183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11" name="Oval 309"/>
          <p:cNvSpPr/>
          <p:nvPr/>
        </p:nvSpPr>
        <p:spPr>
          <a:xfrm>
            <a:off x="5284800" y="4440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12" name="Oval 310"/>
          <p:cNvSpPr/>
          <p:nvPr/>
        </p:nvSpPr>
        <p:spPr>
          <a:xfrm>
            <a:off x="8152560" y="6030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13" name="Oval 311"/>
          <p:cNvSpPr/>
          <p:nvPr/>
        </p:nvSpPr>
        <p:spPr>
          <a:xfrm>
            <a:off x="8114040" y="6135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14" name="Oval 312"/>
          <p:cNvSpPr/>
          <p:nvPr/>
        </p:nvSpPr>
        <p:spPr>
          <a:xfrm>
            <a:off x="7863480" y="6045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15" name="Oval 313"/>
          <p:cNvSpPr/>
          <p:nvPr/>
        </p:nvSpPr>
        <p:spPr>
          <a:xfrm>
            <a:off x="8481600" y="6167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16" name="Oval 314"/>
          <p:cNvSpPr/>
          <p:nvPr/>
        </p:nvSpPr>
        <p:spPr>
          <a:xfrm>
            <a:off x="8401680" y="6135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17" name="Oval 315"/>
          <p:cNvSpPr/>
          <p:nvPr/>
        </p:nvSpPr>
        <p:spPr>
          <a:xfrm>
            <a:off x="8352720" y="6109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18" name="Oval 316"/>
          <p:cNvSpPr/>
          <p:nvPr/>
        </p:nvSpPr>
        <p:spPr>
          <a:xfrm>
            <a:off x="8447760" y="6374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19" name="Oval 317"/>
          <p:cNvSpPr/>
          <p:nvPr/>
        </p:nvSpPr>
        <p:spPr>
          <a:xfrm>
            <a:off x="7094880" y="5867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20" name="Oval 318"/>
          <p:cNvSpPr/>
          <p:nvPr/>
        </p:nvSpPr>
        <p:spPr>
          <a:xfrm>
            <a:off x="8053560" y="6207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21" name="Oval 319"/>
          <p:cNvSpPr/>
          <p:nvPr/>
        </p:nvSpPr>
        <p:spPr>
          <a:xfrm>
            <a:off x="8528040" y="6571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22" name="Oval 320"/>
          <p:cNvSpPr/>
          <p:nvPr/>
        </p:nvSpPr>
        <p:spPr>
          <a:xfrm>
            <a:off x="8423640" y="6761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23" name="Oval 321"/>
          <p:cNvSpPr/>
          <p:nvPr/>
        </p:nvSpPr>
        <p:spPr>
          <a:xfrm>
            <a:off x="8494560" y="6798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24" name="Oval 322"/>
          <p:cNvSpPr/>
          <p:nvPr/>
        </p:nvSpPr>
        <p:spPr>
          <a:xfrm>
            <a:off x="6719040" y="4408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25" name="Oval 323"/>
          <p:cNvSpPr/>
          <p:nvPr/>
        </p:nvSpPr>
        <p:spPr>
          <a:xfrm>
            <a:off x="5761800" y="5447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26" name="Oval 324"/>
          <p:cNvSpPr/>
          <p:nvPr/>
        </p:nvSpPr>
        <p:spPr>
          <a:xfrm>
            <a:off x="7100640" y="5986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27" name="Oval 325"/>
          <p:cNvSpPr/>
          <p:nvPr/>
        </p:nvSpPr>
        <p:spPr>
          <a:xfrm>
            <a:off x="8439120" y="6788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28" name="Oval 326"/>
          <p:cNvSpPr/>
          <p:nvPr/>
        </p:nvSpPr>
        <p:spPr>
          <a:xfrm>
            <a:off x="5244840" y="6233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29" name="Oval 327"/>
          <p:cNvSpPr/>
          <p:nvPr/>
        </p:nvSpPr>
        <p:spPr>
          <a:xfrm>
            <a:off x="8054280" y="7030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30" name="Oval 328"/>
          <p:cNvSpPr/>
          <p:nvPr/>
        </p:nvSpPr>
        <p:spPr>
          <a:xfrm>
            <a:off x="8060760" y="7119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31" name="Oval 329"/>
          <p:cNvSpPr/>
          <p:nvPr/>
        </p:nvSpPr>
        <p:spPr>
          <a:xfrm>
            <a:off x="7822440" y="6934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32" name="Oval 330"/>
          <p:cNvSpPr/>
          <p:nvPr/>
        </p:nvSpPr>
        <p:spPr>
          <a:xfrm>
            <a:off x="7746120" y="6901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33" name="Oval 331"/>
          <p:cNvSpPr/>
          <p:nvPr/>
        </p:nvSpPr>
        <p:spPr>
          <a:xfrm>
            <a:off x="7566480" y="6931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34" name="Oval 332"/>
          <p:cNvSpPr/>
          <p:nvPr/>
        </p:nvSpPr>
        <p:spPr>
          <a:xfrm>
            <a:off x="7626240" y="6910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35" name="Oval 333"/>
          <p:cNvSpPr/>
          <p:nvPr/>
        </p:nvSpPr>
        <p:spPr>
          <a:xfrm>
            <a:off x="7601040" y="6884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36" name="Oval 334"/>
          <p:cNvSpPr/>
          <p:nvPr/>
        </p:nvSpPr>
        <p:spPr>
          <a:xfrm>
            <a:off x="7432560" y="6958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37" name="Oval 335"/>
          <p:cNvSpPr/>
          <p:nvPr/>
        </p:nvSpPr>
        <p:spPr>
          <a:xfrm>
            <a:off x="7414200" y="6916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38" name="Oval 336"/>
          <p:cNvSpPr/>
          <p:nvPr/>
        </p:nvSpPr>
        <p:spPr>
          <a:xfrm>
            <a:off x="7297200" y="6812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39" name="Oval 337"/>
          <p:cNvSpPr/>
          <p:nvPr/>
        </p:nvSpPr>
        <p:spPr>
          <a:xfrm>
            <a:off x="7220880" y="6913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40" name="Oval 338"/>
          <p:cNvSpPr/>
          <p:nvPr/>
        </p:nvSpPr>
        <p:spPr>
          <a:xfrm>
            <a:off x="7188480" y="6696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41" name="Oval 339"/>
          <p:cNvSpPr/>
          <p:nvPr/>
        </p:nvSpPr>
        <p:spPr>
          <a:xfrm>
            <a:off x="7614720" y="6800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42" name="Oval 340"/>
          <p:cNvSpPr/>
          <p:nvPr/>
        </p:nvSpPr>
        <p:spPr>
          <a:xfrm>
            <a:off x="7487640" y="6782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43" name="Oval 341"/>
          <p:cNvSpPr/>
          <p:nvPr/>
        </p:nvSpPr>
        <p:spPr>
          <a:xfrm>
            <a:off x="7806240" y="6871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44" name="Oval 342"/>
          <p:cNvSpPr/>
          <p:nvPr/>
        </p:nvSpPr>
        <p:spPr>
          <a:xfrm>
            <a:off x="8198280" y="7074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45" name="Oval 343"/>
          <p:cNvSpPr/>
          <p:nvPr/>
        </p:nvSpPr>
        <p:spPr>
          <a:xfrm>
            <a:off x="8152560" y="7161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46" name="Oval 344"/>
          <p:cNvSpPr/>
          <p:nvPr/>
        </p:nvSpPr>
        <p:spPr>
          <a:xfrm>
            <a:off x="8184960" y="7214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47" name="Oval 345"/>
          <p:cNvSpPr/>
          <p:nvPr/>
        </p:nvSpPr>
        <p:spPr>
          <a:xfrm>
            <a:off x="7690320" y="6814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48" name="Oval 346"/>
          <p:cNvSpPr/>
          <p:nvPr/>
        </p:nvSpPr>
        <p:spPr>
          <a:xfrm>
            <a:off x="7398360" y="6902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49" name="Oval 347"/>
          <p:cNvSpPr/>
          <p:nvPr/>
        </p:nvSpPr>
        <p:spPr>
          <a:xfrm>
            <a:off x="7376400" y="6653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50" name="Oval 348"/>
          <p:cNvSpPr/>
          <p:nvPr/>
        </p:nvSpPr>
        <p:spPr>
          <a:xfrm>
            <a:off x="6918840" y="4422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51" name="Oval 349"/>
          <p:cNvSpPr/>
          <p:nvPr/>
        </p:nvSpPr>
        <p:spPr>
          <a:xfrm>
            <a:off x="4909680" y="5504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52" name="Oval 350"/>
          <p:cNvSpPr/>
          <p:nvPr/>
        </p:nvSpPr>
        <p:spPr>
          <a:xfrm>
            <a:off x="5211000" y="6276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53" name="Oval 351"/>
          <p:cNvSpPr/>
          <p:nvPr/>
        </p:nvSpPr>
        <p:spPr>
          <a:xfrm>
            <a:off x="5263560" y="6531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54" name="Oval 352"/>
          <p:cNvSpPr/>
          <p:nvPr/>
        </p:nvSpPr>
        <p:spPr>
          <a:xfrm>
            <a:off x="5176800" y="6395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55" name="Oval 353"/>
          <p:cNvSpPr/>
          <p:nvPr/>
        </p:nvSpPr>
        <p:spPr>
          <a:xfrm>
            <a:off x="4973760" y="5534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56" name="Oval 354"/>
          <p:cNvSpPr/>
          <p:nvPr/>
        </p:nvSpPr>
        <p:spPr>
          <a:xfrm>
            <a:off x="8616240" y="6890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57" name="Oval 355"/>
          <p:cNvSpPr/>
          <p:nvPr/>
        </p:nvSpPr>
        <p:spPr>
          <a:xfrm>
            <a:off x="5169960" y="6581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58" name="Oval 356"/>
          <p:cNvSpPr/>
          <p:nvPr/>
        </p:nvSpPr>
        <p:spPr>
          <a:xfrm>
            <a:off x="6803280" y="4008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59" name="Oval 357"/>
          <p:cNvSpPr/>
          <p:nvPr/>
        </p:nvSpPr>
        <p:spPr>
          <a:xfrm>
            <a:off x="6859440" y="3897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60" name="Oval 358"/>
          <p:cNvSpPr/>
          <p:nvPr/>
        </p:nvSpPr>
        <p:spPr>
          <a:xfrm>
            <a:off x="6884640" y="3836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61" name="Oval 359"/>
          <p:cNvSpPr/>
          <p:nvPr/>
        </p:nvSpPr>
        <p:spPr>
          <a:xfrm>
            <a:off x="6901920" y="3781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62" name="Oval 360"/>
          <p:cNvSpPr/>
          <p:nvPr/>
        </p:nvSpPr>
        <p:spPr>
          <a:xfrm>
            <a:off x="6216120" y="3411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63" name="Oval 361"/>
          <p:cNvSpPr/>
          <p:nvPr/>
        </p:nvSpPr>
        <p:spPr>
          <a:xfrm>
            <a:off x="6184080" y="3571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64" name="Oval 362"/>
          <p:cNvSpPr/>
          <p:nvPr/>
        </p:nvSpPr>
        <p:spPr>
          <a:xfrm>
            <a:off x="6083640" y="3548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65" name="Oval 363"/>
          <p:cNvSpPr/>
          <p:nvPr/>
        </p:nvSpPr>
        <p:spPr>
          <a:xfrm>
            <a:off x="6137280" y="3578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66" name="Oval 364"/>
          <p:cNvSpPr/>
          <p:nvPr/>
        </p:nvSpPr>
        <p:spPr>
          <a:xfrm>
            <a:off x="6273000" y="3693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67" name="Oval 365"/>
          <p:cNvSpPr/>
          <p:nvPr/>
        </p:nvSpPr>
        <p:spPr>
          <a:xfrm>
            <a:off x="6229800" y="3905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68" name="Oval 366"/>
          <p:cNvSpPr/>
          <p:nvPr/>
        </p:nvSpPr>
        <p:spPr>
          <a:xfrm>
            <a:off x="6287040" y="3885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69" name="Oval 367"/>
          <p:cNvSpPr/>
          <p:nvPr/>
        </p:nvSpPr>
        <p:spPr>
          <a:xfrm>
            <a:off x="6302520" y="3832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70" name="Oval 368"/>
          <p:cNvSpPr/>
          <p:nvPr/>
        </p:nvSpPr>
        <p:spPr>
          <a:xfrm>
            <a:off x="6342840" y="3858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71" name="Oval 369"/>
          <p:cNvSpPr/>
          <p:nvPr/>
        </p:nvSpPr>
        <p:spPr>
          <a:xfrm>
            <a:off x="6222600" y="4035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72" name="Oval 370"/>
          <p:cNvSpPr/>
          <p:nvPr/>
        </p:nvSpPr>
        <p:spPr>
          <a:xfrm>
            <a:off x="6178320" y="4291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73" name="Oval 371"/>
          <p:cNvSpPr/>
          <p:nvPr/>
        </p:nvSpPr>
        <p:spPr>
          <a:xfrm>
            <a:off x="6313680" y="4264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74" name="Oval 372"/>
          <p:cNvSpPr/>
          <p:nvPr/>
        </p:nvSpPr>
        <p:spPr>
          <a:xfrm>
            <a:off x="7112160" y="6925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75" name="Oval 373"/>
          <p:cNvSpPr/>
          <p:nvPr/>
        </p:nvSpPr>
        <p:spPr>
          <a:xfrm>
            <a:off x="6509160" y="4295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76" name="Oval 374"/>
          <p:cNvSpPr/>
          <p:nvPr/>
        </p:nvSpPr>
        <p:spPr>
          <a:xfrm>
            <a:off x="6538680" y="4196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77" name="Oval 375"/>
          <p:cNvSpPr/>
          <p:nvPr/>
        </p:nvSpPr>
        <p:spPr>
          <a:xfrm>
            <a:off x="6392880" y="4030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78" name="Oval 376"/>
          <p:cNvSpPr/>
          <p:nvPr/>
        </p:nvSpPr>
        <p:spPr>
          <a:xfrm>
            <a:off x="6360120" y="4070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79" name="Oval 377"/>
          <p:cNvSpPr/>
          <p:nvPr/>
        </p:nvSpPr>
        <p:spPr>
          <a:xfrm>
            <a:off x="6419520" y="4086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80" name="Oval 378"/>
          <p:cNvSpPr/>
          <p:nvPr/>
        </p:nvSpPr>
        <p:spPr>
          <a:xfrm>
            <a:off x="5114520" y="6463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81" name="Oval 379"/>
          <p:cNvSpPr/>
          <p:nvPr/>
        </p:nvSpPr>
        <p:spPr>
          <a:xfrm>
            <a:off x="6505560" y="4091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82" name="Oval 380"/>
          <p:cNvSpPr/>
          <p:nvPr/>
        </p:nvSpPr>
        <p:spPr>
          <a:xfrm>
            <a:off x="6476760" y="4070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83" name="Oval 381"/>
          <p:cNvSpPr/>
          <p:nvPr/>
        </p:nvSpPr>
        <p:spPr>
          <a:xfrm>
            <a:off x="6410520" y="3569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84" name="Oval 382"/>
          <p:cNvSpPr/>
          <p:nvPr/>
        </p:nvSpPr>
        <p:spPr>
          <a:xfrm>
            <a:off x="6460920" y="3637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85" name="Oval 383"/>
          <p:cNvSpPr/>
          <p:nvPr/>
        </p:nvSpPr>
        <p:spPr>
          <a:xfrm>
            <a:off x="6617160" y="3790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86" name="Oval 384"/>
          <p:cNvSpPr/>
          <p:nvPr/>
        </p:nvSpPr>
        <p:spPr>
          <a:xfrm>
            <a:off x="6607440" y="3918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87" name="Oval 385"/>
          <p:cNvSpPr/>
          <p:nvPr/>
        </p:nvSpPr>
        <p:spPr>
          <a:xfrm>
            <a:off x="6258600" y="3797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88" name="Oval 386"/>
          <p:cNvSpPr/>
          <p:nvPr/>
        </p:nvSpPr>
        <p:spPr>
          <a:xfrm>
            <a:off x="6457680" y="3793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89" name="Oval 387"/>
          <p:cNvSpPr/>
          <p:nvPr/>
        </p:nvSpPr>
        <p:spPr>
          <a:xfrm>
            <a:off x="6505920" y="3665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90" name="Oval 388"/>
          <p:cNvSpPr/>
          <p:nvPr/>
        </p:nvSpPr>
        <p:spPr>
          <a:xfrm>
            <a:off x="5289840" y="6612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91" name="Oval 389"/>
          <p:cNvSpPr/>
          <p:nvPr/>
        </p:nvSpPr>
        <p:spPr>
          <a:xfrm>
            <a:off x="6528240" y="3692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92" name="Oval 390"/>
          <p:cNvSpPr/>
          <p:nvPr/>
        </p:nvSpPr>
        <p:spPr>
          <a:xfrm>
            <a:off x="6611400" y="3232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93" name="Oval 391"/>
          <p:cNvSpPr/>
          <p:nvPr/>
        </p:nvSpPr>
        <p:spPr>
          <a:xfrm>
            <a:off x="6826680" y="3762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94" name="Oval 392"/>
          <p:cNvSpPr/>
          <p:nvPr/>
        </p:nvSpPr>
        <p:spPr>
          <a:xfrm>
            <a:off x="6369120" y="4263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95" name="Oval 393"/>
          <p:cNvSpPr/>
          <p:nvPr/>
        </p:nvSpPr>
        <p:spPr>
          <a:xfrm>
            <a:off x="6661080" y="4291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96" name="Oval 394"/>
          <p:cNvSpPr/>
          <p:nvPr/>
        </p:nvSpPr>
        <p:spPr>
          <a:xfrm>
            <a:off x="6184080" y="4024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97" name="Oval 395"/>
          <p:cNvSpPr/>
          <p:nvPr/>
        </p:nvSpPr>
        <p:spPr>
          <a:xfrm>
            <a:off x="6482160" y="5215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98" name="Oval 396"/>
          <p:cNvSpPr/>
          <p:nvPr/>
        </p:nvSpPr>
        <p:spPr>
          <a:xfrm>
            <a:off x="6707160" y="5292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799" name="Oval 397"/>
          <p:cNvSpPr/>
          <p:nvPr/>
        </p:nvSpPr>
        <p:spPr>
          <a:xfrm>
            <a:off x="6277680" y="5526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00" name="Oval 398"/>
          <p:cNvSpPr/>
          <p:nvPr/>
        </p:nvSpPr>
        <p:spPr>
          <a:xfrm>
            <a:off x="6535080" y="5606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01" name="Oval 399"/>
          <p:cNvSpPr/>
          <p:nvPr/>
        </p:nvSpPr>
        <p:spPr>
          <a:xfrm>
            <a:off x="6514560" y="5621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02" name="Oval 400"/>
          <p:cNvSpPr/>
          <p:nvPr/>
        </p:nvSpPr>
        <p:spPr>
          <a:xfrm>
            <a:off x="6420600" y="5550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03" name="Oval 401"/>
          <p:cNvSpPr/>
          <p:nvPr/>
        </p:nvSpPr>
        <p:spPr>
          <a:xfrm>
            <a:off x="6405480" y="5775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04" name="Oval 402"/>
          <p:cNvSpPr/>
          <p:nvPr/>
        </p:nvSpPr>
        <p:spPr>
          <a:xfrm>
            <a:off x="6752520" y="5602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05" name="Oval 403"/>
          <p:cNvSpPr/>
          <p:nvPr/>
        </p:nvSpPr>
        <p:spPr>
          <a:xfrm>
            <a:off x="6424200" y="4296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06" name="Oval 404"/>
          <p:cNvSpPr/>
          <p:nvPr/>
        </p:nvSpPr>
        <p:spPr>
          <a:xfrm>
            <a:off x="6656760" y="5779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07" name="Oval 405"/>
          <p:cNvSpPr/>
          <p:nvPr/>
        </p:nvSpPr>
        <p:spPr>
          <a:xfrm>
            <a:off x="7163280" y="6936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08" name="Oval 406"/>
          <p:cNvSpPr/>
          <p:nvPr/>
        </p:nvSpPr>
        <p:spPr>
          <a:xfrm>
            <a:off x="6485040" y="7421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09" name="Oval 407"/>
          <p:cNvSpPr/>
          <p:nvPr/>
        </p:nvSpPr>
        <p:spPr>
          <a:xfrm>
            <a:off x="9018360" y="7935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10" name="Oval 408"/>
          <p:cNvSpPr/>
          <p:nvPr/>
        </p:nvSpPr>
        <p:spPr>
          <a:xfrm>
            <a:off x="8046000" y="4447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11" name="Oval 409"/>
          <p:cNvSpPr/>
          <p:nvPr/>
        </p:nvSpPr>
        <p:spPr>
          <a:xfrm>
            <a:off x="6997320" y="3591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12" name="Oval 410"/>
          <p:cNvSpPr/>
          <p:nvPr/>
        </p:nvSpPr>
        <p:spPr>
          <a:xfrm>
            <a:off x="6467400" y="4124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13" name="Oval 411"/>
          <p:cNvSpPr/>
          <p:nvPr/>
        </p:nvSpPr>
        <p:spPr>
          <a:xfrm>
            <a:off x="5317200" y="6653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14" name="Oval 412"/>
          <p:cNvSpPr/>
          <p:nvPr/>
        </p:nvSpPr>
        <p:spPr>
          <a:xfrm>
            <a:off x="5006880" y="5433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15" name="Oval 413"/>
          <p:cNvSpPr/>
          <p:nvPr/>
        </p:nvSpPr>
        <p:spPr>
          <a:xfrm>
            <a:off x="5200200" y="5694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16" name="Oval 414"/>
          <p:cNvSpPr/>
          <p:nvPr/>
        </p:nvSpPr>
        <p:spPr>
          <a:xfrm>
            <a:off x="5049000" y="5557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17" name="Oval 415"/>
          <p:cNvSpPr/>
          <p:nvPr/>
        </p:nvSpPr>
        <p:spPr>
          <a:xfrm>
            <a:off x="5356800" y="6519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18" name="Oval 416"/>
          <p:cNvSpPr/>
          <p:nvPr/>
        </p:nvSpPr>
        <p:spPr>
          <a:xfrm>
            <a:off x="6947640" y="4433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19" name="Oval 417"/>
          <p:cNvSpPr/>
          <p:nvPr/>
        </p:nvSpPr>
        <p:spPr>
          <a:xfrm>
            <a:off x="7013160" y="4431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20" name="Oval 418"/>
          <p:cNvSpPr/>
          <p:nvPr/>
        </p:nvSpPr>
        <p:spPr>
          <a:xfrm>
            <a:off x="7112880" y="4444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21" name="Oval 419"/>
          <p:cNvSpPr/>
          <p:nvPr/>
        </p:nvSpPr>
        <p:spPr>
          <a:xfrm>
            <a:off x="7395840" y="6519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22" name="Oval 420"/>
          <p:cNvSpPr/>
          <p:nvPr/>
        </p:nvSpPr>
        <p:spPr>
          <a:xfrm>
            <a:off x="5982120" y="7409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23" name="Oval 421"/>
          <p:cNvSpPr/>
          <p:nvPr/>
        </p:nvSpPr>
        <p:spPr>
          <a:xfrm>
            <a:off x="7323480" y="4471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24" name="Oval 422"/>
          <p:cNvSpPr/>
          <p:nvPr/>
        </p:nvSpPr>
        <p:spPr>
          <a:xfrm>
            <a:off x="5179320" y="5260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25" name="Oval 423"/>
          <p:cNvSpPr/>
          <p:nvPr/>
        </p:nvSpPr>
        <p:spPr>
          <a:xfrm>
            <a:off x="5524560" y="6157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26" name="Oval 424"/>
          <p:cNvSpPr/>
          <p:nvPr/>
        </p:nvSpPr>
        <p:spPr>
          <a:xfrm>
            <a:off x="5459040" y="6109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27" name="Oval 425"/>
          <p:cNvSpPr/>
          <p:nvPr/>
        </p:nvSpPr>
        <p:spPr>
          <a:xfrm>
            <a:off x="5301360" y="6186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28" name="Oval 426"/>
          <p:cNvSpPr/>
          <p:nvPr/>
        </p:nvSpPr>
        <p:spPr>
          <a:xfrm>
            <a:off x="4841640" y="6568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29" name="Oval 427"/>
          <p:cNvSpPr/>
          <p:nvPr/>
        </p:nvSpPr>
        <p:spPr>
          <a:xfrm>
            <a:off x="4740120" y="6532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30" name="Oval 428"/>
          <p:cNvSpPr/>
          <p:nvPr/>
        </p:nvSpPr>
        <p:spPr>
          <a:xfrm>
            <a:off x="4957920" y="6283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31" name="Oval 429"/>
          <p:cNvSpPr/>
          <p:nvPr/>
        </p:nvSpPr>
        <p:spPr>
          <a:xfrm>
            <a:off x="5817240" y="8147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32" name="Oval 430"/>
          <p:cNvSpPr/>
          <p:nvPr/>
        </p:nvSpPr>
        <p:spPr>
          <a:xfrm>
            <a:off x="9656280" y="3141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33" name="Oval 431"/>
          <p:cNvSpPr/>
          <p:nvPr/>
        </p:nvSpPr>
        <p:spPr>
          <a:xfrm>
            <a:off x="2535480" y="7178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34" name="Oval 432"/>
          <p:cNvSpPr/>
          <p:nvPr/>
        </p:nvSpPr>
        <p:spPr>
          <a:xfrm>
            <a:off x="4825440" y="5689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35" name="Oval 433"/>
          <p:cNvSpPr/>
          <p:nvPr/>
        </p:nvSpPr>
        <p:spPr>
          <a:xfrm>
            <a:off x="9018720" y="7174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36" name="Oval 434"/>
          <p:cNvSpPr/>
          <p:nvPr/>
        </p:nvSpPr>
        <p:spPr>
          <a:xfrm>
            <a:off x="4719600" y="5198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37" name="Oval 435"/>
          <p:cNvSpPr/>
          <p:nvPr/>
        </p:nvSpPr>
        <p:spPr>
          <a:xfrm>
            <a:off x="4885920" y="5337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38" name="Oval 436"/>
          <p:cNvSpPr/>
          <p:nvPr/>
        </p:nvSpPr>
        <p:spPr>
          <a:xfrm>
            <a:off x="5370120" y="7024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39" name="Oval 437"/>
          <p:cNvSpPr/>
          <p:nvPr/>
        </p:nvSpPr>
        <p:spPr>
          <a:xfrm>
            <a:off x="6246000" y="5748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40" name="Oval 438"/>
          <p:cNvSpPr/>
          <p:nvPr/>
        </p:nvSpPr>
        <p:spPr>
          <a:xfrm>
            <a:off x="4962240" y="6152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41" name="Oval 439"/>
          <p:cNvSpPr/>
          <p:nvPr/>
        </p:nvSpPr>
        <p:spPr>
          <a:xfrm>
            <a:off x="4956480" y="5815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42" name="Oval 440"/>
          <p:cNvSpPr/>
          <p:nvPr/>
        </p:nvSpPr>
        <p:spPr>
          <a:xfrm>
            <a:off x="4846320" y="5945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43" name="Oval 441"/>
          <p:cNvSpPr/>
          <p:nvPr/>
        </p:nvSpPr>
        <p:spPr>
          <a:xfrm>
            <a:off x="3669120" y="6689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44" name="Oval 442"/>
          <p:cNvSpPr/>
          <p:nvPr/>
        </p:nvSpPr>
        <p:spPr>
          <a:xfrm>
            <a:off x="5464440" y="7692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45" name="Oval 443"/>
          <p:cNvSpPr/>
          <p:nvPr/>
        </p:nvSpPr>
        <p:spPr>
          <a:xfrm>
            <a:off x="6088320" y="7177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46" name="Oval 444"/>
          <p:cNvSpPr/>
          <p:nvPr/>
        </p:nvSpPr>
        <p:spPr>
          <a:xfrm>
            <a:off x="5604120" y="4574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47" name="Oval 445"/>
          <p:cNvSpPr/>
          <p:nvPr/>
        </p:nvSpPr>
        <p:spPr>
          <a:xfrm>
            <a:off x="7786440" y="6986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48" name="Oval 446"/>
          <p:cNvSpPr/>
          <p:nvPr/>
        </p:nvSpPr>
        <p:spPr>
          <a:xfrm>
            <a:off x="6369840" y="4222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49" name="Oval 447"/>
          <p:cNvSpPr/>
          <p:nvPr/>
        </p:nvSpPr>
        <p:spPr>
          <a:xfrm>
            <a:off x="5386680" y="5361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50" name="Oval 448"/>
          <p:cNvSpPr/>
          <p:nvPr/>
        </p:nvSpPr>
        <p:spPr>
          <a:xfrm>
            <a:off x="8155080" y="3579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51" name="Oval 449"/>
          <p:cNvSpPr/>
          <p:nvPr/>
        </p:nvSpPr>
        <p:spPr>
          <a:xfrm>
            <a:off x="4893120" y="5655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52" name="Oval 450"/>
          <p:cNvSpPr/>
          <p:nvPr/>
        </p:nvSpPr>
        <p:spPr>
          <a:xfrm>
            <a:off x="5248440" y="6415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53" name="Oval 451"/>
          <p:cNvSpPr/>
          <p:nvPr/>
        </p:nvSpPr>
        <p:spPr>
          <a:xfrm>
            <a:off x="5302080" y="6388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54" name="Oval 452"/>
          <p:cNvSpPr/>
          <p:nvPr/>
        </p:nvSpPr>
        <p:spPr>
          <a:xfrm>
            <a:off x="5833080" y="6862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55" name="Oval 453"/>
          <p:cNvSpPr/>
          <p:nvPr/>
        </p:nvSpPr>
        <p:spPr>
          <a:xfrm>
            <a:off x="5667480" y="8094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56" name="Oval 454"/>
          <p:cNvSpPr/>
          <p:nvPr/>
        </p:nvSpPr>
        <p:spPr>
          <a:xfrm>
            <a:off x="10032480" y="4674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57" name="Oval 455"/>
          <p:cNvSpPr/>
          <p:nvPr/>
        </p:nvSpPr>
        <p:spPr>
          <a:xfrm>
            <a:off x="5232960" y="6567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58" name="Oval 456"/>
          <p:cNvSpPr/>
          <p:nvPr/>
        </p:nvSpPr>
        <p:spPr>
          <a:xfrm>
            <a:off x="5404320" y="6790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59" name="Oval 457"/>
          <p:cNvSpPr/>
          <p:nvPr/>
        </p:nvSpPr>
        <p:spPr>
          <a:xfrm>
            <a:off x="5255280" y="6744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60" name="Oval 458"/>
          <p:cNvSpPr/>
          <p:nvPr/>
        </p:nvSpPr>
        <p:spPr>
          <a:xfrm>
            <a:off x="4854960" y="6622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61" name="Oval 459"/>
          <p:cNvSpPr/>
          <p:nvPr/>
        </p:nvSpPr>
        <p:spPr>
          <a:xfrm>
            <a:off x="4977360" y="5925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62" name="Oval 460"/>
          <p:cNvSpPr/>
          <p:nvPr/>
        </p:nvSpPr>
        <p:spPr>
          <a:xfrm>
            <a:off x="6305400" y="3972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63" name="Oval 461"/>
          <p:cNvSpPr/>
          <p:nvPr/>
        </p:nvSpPr>
        <p:spPr>
          <a:xfrm>
            <a:off x="8607960" y="4237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64" name="Oval 462"/>
          <p:cNvSpPr/>
          <p:nvPr/>
        </p:nvSpPr>
        <p:spPr>
          <a:xfrm>
            <a:off x="8837640" y="5504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65" name="Oval 463"/>
          <p:cNvSpPr/>
          <p:nvPr/>
        </p:nvSpPr>
        <p:spPr>
          <a:xfrm>
            <a:off x="9307440" y="5139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66" name="Oval 464"/>
          <p:cNvSpPr/>
          <p:nvPr/>
        </p:nvSpPr>
        <p:spPr>
          <a:xfrm>
            <a:off x="9005760" y="4748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67" name="Oval 465"/>
          <p:cNvSpPr/>
          <p:nvPr/>
        </p:nvSpPr>
        <p:spPr>
          <a:xfrm>
            <a:off x="9144000" y="4664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68" name="Oval 466"/>
          <p:cNvSpPr/>
          <p:nvPr/>
        </p:nvSpPr>
        <p:spPr>
          <a:xfrm>
            <a:off x="8664840" y="5392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69" name="Oval 467"/>
          <p:cNvSpPr/>
          <p:nvPr/>
        </p:nvSpPr>
        <p:spPr>
          <a:xfrm>
            <a:off x="5632920" y="6266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70" name="Oval 468"/>
          <p:cNvSpPr/>
          <p:nvPr/>
        </p:nvSpPr>
        <p:spPr>
          <a:xfrm>
            <a:off x="5940720" y="8341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71" name="Oval 469"/>
          <p:cNvSpPr/>
          <p:nvPr/>
        </p:nvSpPr>
        <p:spPr>
          <a:xfrm>
            <a:off x="5765400" y="6685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72" name="Oval 470"/>
          <p:cNvSpPr/>
          <p:nvPr/>
        </p:nvSpPr>
        <p:spPr>
          <a:xfrm>
            <a:off x="5761080" y="6830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73" name="Oval 471"/>
          <p:cNvSpPr/>
          <p:nvPr/>
        </p:nvSpPr>
        <p:spPr>
          <a:xfrm>
            <a:off x="5248080" y="4913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74" name="Oval 472"/>
          <p:cNvSpPr/>
          <p:nvPr/>
        </p:nvSpPr>
        <p:spPr>
          <a:xfrm>
            <a:off x="5348160" y="4961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75" name="Oval 473"/>
          <p:cNvSpPr/>
          <p:nvPr/>
        </p:nvSpPr>
        <p:spPr>
          <a:xfrm>
            <a:off x="7075080" y="5771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76" name="Oval 474"/>
          <p:cNvSpPr/>
          <p:nvPr/>
        </p:nvSpPr>
        <p:spPr>
          <a:xfrm>
            <a:off x="5744160" y="4501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77" name="Oval 475"/>
          <p:cNvSpPr/>
          <p:nvPr/>
        </p:nvSpPr>
        <p:spPr>
          <a:xfrm>
            <a:off x="8217000" y="3059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78" name="Oval 476"/>
          <p:cNvSpPr/>
          <p:nvPr/>
        </p:nvSpPr>
        <p:spPr>
          <a:xfrm>
            <a:off x="4597200" y="5316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79" name="Oval 477"/>
          <p:cNvSpPr/>
          <p:nvPr/>
        </p:nvSpPr>
        <p:spPr>
          <a:xfrm>
            <a:off x="8856000" y="5444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80" name="Oval 478"/>
          <p:cNvSpPr/>
          <p:nvPr/>
        </p:nvSpPr>
        <p:spPr>
          <a:xfrm>
            <a:off x="9829080" y="5846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81" name="Oval 479"/>
          <p:cNvSpPr/>
          <p:nvPr/>
        </p:nvSpPr>
        <p:spPr>
          <a:xfrm>
            <a:off x="7116840" y="5800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82" name="Oval 480"/>
          <p:cNvSpPr/>
          <p:nvPr/>
        </p:nvSpPr>
        <p:spPr>
          <a:xfrm>
            <a:off x="10276560" y="3031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83" name="Oval 481"/>
          <p:cNvSpPr/>
          <p:nvPr/>
        </p:nvSpPr>
        <p:spPr>
          <a:xfrm>
            <a:off x="7190640" y="5814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84" name="Oval 482"/>
          <p:cNvSpPr/>
          <p:nvPr/>
        </p:nvSpPr>
        <p:spPr>
          <a:xfrm>
            <a:off x="7209720" y="5824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85" name="Oval 483"/>
          <p:cNvSpPr/>
          <p:nvPr/>
        </p:nvSpPr>
        <p:spPr>
          <a:xfrm>
            <a:off x="6351840" y="5735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86" name="Oval 484"/>
          <p:cNvSpPr/>
          <p:nvPr/>
        </p:nvSpPr>
        <p:spPr>
          <a:xfrm>
            <a:off x="6254640" y="5601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87" name="Oval 485"/>
          <p:cNvSpPr/>
          <p:nvPr/>
        </p:nvSpPr>
        <p:spPr>
          <a:xfrm>
            <a:off x="6406560" y="5493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88" name="Oval 486"/>
          <p:cNvSpPr/>
          <p:nvPr/>
        </p:nvSpPr>
        <p:spPr>
          <a:xfrm>
            <a:off x="6350040" y="5583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89" name="Oval 487"/>
          <p:cNvSpPr/>
          <p:nvPr/>
        </p:nvSpPr>
        <p:spPr>
          <a:xfrm>
            <a:off x="5910480" y="4304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90" name="Oval 488"/>
          <p:cNvSpPr/>
          <p:nvPr/>
        </p:nvSpPr>
        <p:spPr>
          <a:xfrm>
            <a:off x="8664120" y="6977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91" name="Oval 489"/>
          <p:cNvSpPr/>
          <p:nvPr/>
        </p:nvSpPr>
        <p:spPr>
          <a:xfrm>
            <a:off x="8418240" y="8371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92" name="Oval 490"/>
          <p:cNvSpPr/>
          <p:nvPr/>
        </p:nvSpPr>
        <p:spPr>
          <a:xfrm>
            <a:off x="5402160" y="6414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93" name="Oval 491"/>
          <p:cNvSpPr/>
          <p:nvPr/>
        </p:nvSpPr>
        <p:spPr>
          <a:xfrm>
            <a:off x="7290360" y="5636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94" name="Oval 492"/>
          <p:cNvSpPr/>
          <p:nvPr/>
        </p:nvSpPr>
        <p:spPr>
          <a:xfrm>
            <a:off x="6757200" y="7575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95" name="Oval 493"/>
          <p:cNvSpPr/>
          <p:nvPr/>
        </p:nvSpPr>
        <p:spPr>
          <a:xfrm>
            <a:off x="6926040" y="7569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96" name="Oval 494"/>
          <p:cNvSpPr/>
          <p:nvPr/>
        </p:nvSpPr>
        <p:spPr>
          <a:xfrm>
            <a:off x="6958080" y="7515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97" name="Oval 495"/>
          <p:cNvSpPr/>
          <p:nvPr/>
        </p:nvSpPr>
        <p:spPr>
          <a:xfrm>
            <a:off x="6992280" y="7383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98" name="Oval 496"/>
          <p:cNvSpPr/>
          <p:nvPr/>
        </p:nvSpPr>
        <p:spPr>
          <a:xfrm>
            <a:off x="7051680" y="7424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899" name="Oval 497"/>
          <p:cNvSpPr/>
          <p:nvPr/>
        </p:nvSpPr>
        <p:spPr>
          <a:xfrm>
            <a:off x="8286120" y="5950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00" name="Oval 498"/>
          <p:cNvSpPr/>
          <p:nvPr/>
        </p:nvSpPr>
        <p:spPr>
          <a:xfrm>
            <a:off x="5637960" y="5343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01" name="Oval 499"/>
          <p:cNvSpPr/>
          <p:nvPr/>
        </p:nvSpPr>
        <p:spPr>
          <a:xfrm>
            <a:off x="5744520" y="5276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02" name="Oval 500"/>
          <p:cNvSpPr/>
          <p:nvPr/>
        </p:nvSpPr>
        <p:spPr>
          <a:xfrm>
            <a:off x="9379440" y="7656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03" name="Oval 501"/>
          <p:cNvSpPr/>
          <p:nvPr/>
        </p:nvSpPr>
        <p:spPr>
          <a:xfrm>
            <a:off x="9450000" y="7810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04" name="Oval 502"/>
          <p:cNvSpPr/>
          <p:nvPr/>
        </p:nvSpPr>
        <p:spPr>
          <a:xfrm>
            <a:off x="9525240" y="7531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05" name="Oval 503"/>
          <p:cNvSpPr/>
          <p:nvPr/>
        </p:nvSpPr>
        <p:spPr>
          <a:xfrm>
            <a:off x="7479000" y="4427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06" name="Oval 504"/>
          <p:cNvSpPr/>
          <p:nvPr/>
        </p:nvSpPr>
        <p:spPr>
          <a:xfrm>
            <a:off x="9429840" y="7523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07" name="Oval 505"/>
          <p:cNvSpPr/>
          <p:nvPr/>
        </p:nvSpPr>
        <p:spPr>
          <a:xfrm>
            <a:off x="9385920" y="7462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08" name="Oval 506"/>
          <p:cNvSpPr/>
          <p:nvPr/>
        </p:nvSpPr>
        <p:spPr>
          <a:xfrm>
            <a:off x="9369000" y="7440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09" name="Oval 507"/>
          <p:cNvSpPr/>
          <p:nvPr/>
        </p:nvSpPr>
        <p:spPr>
          <a:xfrm>
            <a:off x="9355680" y="7409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10" name="Oval 508"/>
          <p:cNvSpPr/>
          <p:nvPr/>
        </p:nvSpPr>
        <p:spPr>
          <a:xfrm>
            <a:off x="9335160" y="7371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11" name="Oval 509"/>
          <p:cNvSpPr/>
          <p:nvPr/>
        </p:nvSpPr>
        <p:spPr>
          <a:xfrm>
            <a:off x="8569800" y="5373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12" name="Oval 510"/>
          <p:cNvSpPr/>
          <p:nvPr/>
        </p:nvSpPr>
        <p:spPr>
          <a:xfrm>
            <a:off x="7050240" y="7053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13" name="Oval 511"/>
          <p:cNvSpPr/>
          <p:nvPr/>
        </p:nvSpPr>
        <p:spPr>
          <a:xfrm>
            <a:off x="6357600" y="3763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14" name="Oval 512"/>
          <p:cNvSpPr/>
          <p:nvPr/>
        </p:nvSpPr>
        <p:spPr>
          <a:xfrm>
            <a:off x="5381640" y="5015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15" name="Oval 513"/>
          <p:cNvSpPr/>
          <p:nvPr/>
        </p:nvSpPr>
        <p:spPr>
          <a:xfrm>
            <a:off x="10513800" y="3235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16" name="Oval 514"/>
          <p:cNvSpPr/>
          <p:nvPr/>
        </p:nvSpPr>
        <p:spPr>
          <a:xfrm>
            <a:off x="5333760" y="5695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17" name="Oval 515"/>
          <p:cNvSpPr/>
          <p:nvPr/>
        </p:nvSpPr>
        <p:spPr>
          <a:xfrm>
            <a:off x="5945400" y="8242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18" name="Oval 516"/>
          <p:cNvSpPr/>
          <p:nvPr/>
        </p:nvSpPr>
        <p:spPr>
          <a:xfrm>
            <a:off x="6122160" y="3712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19" name="Oval 517"/>
          <p:cNvSpPr/>
          <p:nvPr/>
        </p:nvSpPr>
        <p:spPr>
          <a:xfrm>
            <a:off x="7218720" y="4614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20" name="Oval 518"/>
          <p:cNvSpPr/>
          <p:nvPr/>
        </p:nvSpPr>
        <p:spPr>
          <a:xfrm>
            <a:off x="8472240" y="5971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21" name="Oval 519"/>
          <p:cNvSpPr/>
          <p:nvPr/>
        </p:nvSpPr>
        <p:spPr>
          <a:xfrm>
            <a:off x="8293320" y="5925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22" name="Oval 520"/>
          <p:cNvSpPr/>
          <p:nvPr/>
        </p:nvSpPr>
        <p:spPr>
          <a:xfrm>
            <a:off x="8301240" y="5449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23" name="Oval 521"/>
          <p:cNvSpPr/>
          <p:nvPr/>
        </p:nvSpPr>
        <p:spPr>
          <a:xfrm>
            <a:off x="8593560" y="5756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24" name="Oval 522"/>
          <p:cNvSpPr/>
          <p:nvPr/>
        </p:nvSpPr>
        <p:spPr>
          <a:xfrm>
            <a:off x="8561160" y="5708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25" name="Oval 523"/>
          <p:cNvSpPr/>
          <p:nvPr/>
        </p:nvSpPr>
        <p:spPr>
          <a:xfrm>
            <a:off x="5558040" y="5452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26" name="Oval 524"/>
          <p:cNvSpPr/>
          <p:nvPr/>
        </p:nvSpPr>
        <p:spPr>
          <a:xfrm>
            <a:off x="6085080" y="4613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27" name="Oval 525"/>
          <p:cNvSpPr/>
          <p:nvPr/>
        </p:nvSpPr>
        <p:spPr>
          <a:xfrm>
            <a:off x="6512400" y="4578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28" name="Oval 526"/>
          <p:cNvSpPr/>
          <p:nvPr/>
        </p:nvSpPr>
        <p:spPr>
          <a:xfrm>
            <a:off x="6312240" y="4516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29" name="Oval 527"/>
          <p:cNvSpPr/>
          <p:nvPr/>
        </p:nvSpPr>
        <p:spPr>
          <a:xfrm>
            <a:off x="5838120" y="5757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30" name="Oval 528"/>
          <p:cNvSpPr/>
          <p:nvPr/>
        </p:nvSpPr>
        <p:spPr>
          <a:xfrm>
            <a:off x="5892480" y="4238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31" name="Oval 529"/>
          <p:cNvSpPr/>
          <p:nvPr/>
        </p:nvSpPr>
        <p:spPr>
          <a:xfrm>
            <a:off x="3501000" y="7525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32" name="Oval 530"/>
          <p:cNvSpPr/>
          <p:nvPr/>
        </p:nvSpPr>
        <p:spPr>
          <a:xfrm>
            <a:off x="7298640" y="5110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33" name="Oval 531"/>
          <p:cNvSpPr/>
          <p:nvPr/>
        </p:nvSpPr>
        <p:spPr>
          <a:xfrm>
            <a:off x="6175440" y="3681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34" name="Oval 532"/>
          <p:cNvSpPr/>
          <p:nvPr/>
        </p:nvSpPr>
        <p:spPr>
          <a:xfrm>
            <a:off x="6159960" y="3775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35" name="Oval 533"/>
          <p:cNvSpPr/>
          <p:nvPr/>
        </p:nvSpPr>
        <p:spPr>
          <a:xfrm>
            <a:off x="6456600" y="4261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36" name="Oval 534"/>
          <p:cNvSpPr/>
          <p:nvPr/>
        </p:nvSpPr>
        <p:spPr>
          <a:xfrm>
            <a:off x="8407080" y="8247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37" name="Oval 535"/>
          <p:cNvSpPr/>
          <p:nvPr/>
        </p:nvSpPr>
        <p:spPr>
          <a:xfrm>
            <a:off x="6452280" y="3207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38" name="Oval 536"/>
          <p:cNvSpPr/>
          <p:nvPr/>
        </p:nvSpPr>
        <p:spPr>
          <a:xfrm>
            <a:off x="7072200" y="6289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39" name="Oval 537"/>
          <p:cNvSpPr/>
          <p:nvPr/>
        </p:nvSpPr>
        <p:spPr>
          <a:xfrm>
            <a:off x="8768520" y="5472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40" name="Oval 538"/>
          <p:cNvSpPr/>
          <p:nvPr/>
        </p:nvSpPr>
        <p:spPr>
          <a:xfrm>
            <a:off x="9081720" y="5375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41" name="Oval 539"/>
          <p:cNvSpPr/>
          <p:nvPr/>
        </p:nvSpPr>
        <p:spPr>
          <a:xfrm>
            <a:off x="9029520" y="4929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42" name="Oval 540"/>
          <p:cNvSpPr/>
          <p:nvPr/>
        </p:nvSpPr>
        <p:spPr>
          <a:xfrm>
            <a:off x="8648280" y="5280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43" name="Oval 541"/>
          <p:cNvSpPr/>
          <p:nvPr/>
        </p:nvSpPr>
        <p:spPr>
          <a:xfrm>
            <a:off x="9087480" y="5125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44" name="Oval 542"/>
          <p:cNvSpPr/>
          <p:nvPr/>
        </p:nvSpPr>
        <p:spPr>
          <a:xfrm>
            <a:off x="5821200" y="4244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45" name="Oval 543"/>
          <p:cNvSpPr/>
          <p:nvPr/>
        </p:nvSpPr>
        <p:spPr>
          <a:xfrm>
            <a:off x="8863200" y="4986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46" name="Oval 544"/>
          <p:cNvSpPr/>
          <p:nvPr/>
        </p:nvSpPr>
        <p:spPr>
          <a:xfrm>
            <a:off x="8631720" y="4823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47" name="Oval 545"/>
          <p:cNvSpPr/>
          <p:nvPr/>
        </p:nvSpPr>
        <p:spPr>
          <a:xfrm>
            <a:off x="8552520" y="5349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48" name="Oval 546"/>
          <p:cNvSpPr/>
          <p:nvPr/>
        </p:nvSpPr>
        <p:spPr>
          <a:xfrm>
            <a:off x="8591400" y="8043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49" name="Oval 547"/>
          <p:cNvSpPr/>
          <p:nvPr/>
        </p:nvSpPr>
        <p:spPr>
          <a:xfrm>
            <a:off x="3816720" y="7717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50" name="Oval 548"/>
          <p:cNvSpPr/>
          <p:nvPr/>
        </p:nvSpPr>
        <p:spPr>
          <a:xfrm>
            <a:off x="10478880" y="4300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51" name="Oval 549"/>
          <p:cNvSpPr/>
          <p:nvPr/>
        </p:nvSpPr>
        <p:spPr>
          <a:xfrm>
            <a:off x="8858880" y="7899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52" name="Oval 550"/>
          <p:cNvSpPr/>
          <p:nvPr/>
        </p:nvSpPr>
        <p:spPr>
          <a:xfrm>
            <a:off x="6485760" y="3884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53" name="Oval 551"/>
          <p:cNvSpPr/>
          <p:nvPr/>
        </p:nvSpPr>
        <p:spPr>
          <a:xfrm>
            <a:off x="10324800" y="2908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54" name="Oval 552"/>
          <p:cNvSpPr/>
          <p:nvPr/>
        </p:nvSpPr>
        <p:spPr>
          <a:xfrm>
            <a:off x="10113840" y="3240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55" name="Oval 553"/>
          <p:cNvSpPr/>
          <p:nvPr/>
        </p:nvSpPr>
        <p:spPr>
          <a:xfrm>
            <a:off x="8501760" y="5569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56" name="Oval 554"/>
          <p:cNvSpPr/>
          <p:nvPr/>
        </p:nvSpPr>
        <p:spPr>
          <a:xfrm>
            <a:off x="1596240" y="6509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57" name="Oval 555"/>
          <p:cNvSpPr/>
          <p:nvPr/>
        </p:nvSpPr>
        <p:spPr>
          <a:xfrm>
            <a:off x="2775960" y="7452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58" name="Oval 556"/>
          <p:cNvSpPr/>
          <p:nvPr/>
        </p:nvSpPr>
        <p:spPr>
          <a:xfrm>
            <a:off x="8988120" y="7446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59" name="Oval 557"/>
          <p:cNvSpPr/>
          <p:nvPr/>
        </p:nvSpPr>
        <p:spPr>
          <a:xfrm>
            <a:off x="7014960" y="7088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60" name="Oval 558"/>
          <p:cNvSpPr/>
          <p:nvPr/>
        </p:nvSpPr>
        <p:spPr>
          <a:xfrm>
            <a:off x="9851760" y="5441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61" name="Oval 559"/>
          <p:cNvSpPr/>
          <p:nvPr/>
        </p:nvSpPr>
        <p:spPr>
          <a:xfrm>
            <a:off x="6193440" y="6040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62" name="Oval 560"/>
          <p:cNvSpPr/>
          <p:nvPr/>
        </p:nvSpPr>
        <p:spPr>
          <a:xfrm>
            <a:off x="6193800" y="5708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63" name="Oval 561"/>
          <p:cNvSpPr/>
          <p:nvPr/>
        </p:nvSpPr>
        <p:spPr>
          <a:xfrm>
            <a:off x="8075880" y="4341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64" name="Oval 562"/>
          <p:cNvSpPr/>
          <p:nvPr/>
        </p:nvSpPr>
        <p:spPr>
          <a:xfrm>
            <a:off x="7858080" y="4388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65" name="Oval 563"/>
          <p:cNvSpPr/>
          <p:nvPr/>
        </p:nvSpPr>
        <p:spPr>
          <a:xfrm>
            <a:off x="7819920" y="4421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66" name="Oval 564"/>
          <p:cNvSpPr/>
          <p:nvPr/>
        </p:nvSpPr>
        <p:spPr>
          <a:xfrm>
            <a:off x="9265680" y="7733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67" name="Oval 565"/>
          <p:cNvSpPr/>
          <p:nvPr/>
        </p:nvSpPr>
        <p:spPr>
          <a:xfrm>
            <a:off x="7963560" y="5932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68" name="Oval 566"/>
          <p:cNvSpPr/>
          <p:nvPr/>
        </p:nvSpPr>
        <p:spPr>
          <a:xfrm>
            <a:off x="9862200" y="5349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69" name="Oval 567"/>
          <p:cNvSpPr/>
          <p:nvPr/>
        </p:nvSpPr>
        <p:spPr>
          <a:xfrm>
            <a:off x="8198640" y="7993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70" name="Oval 568"/>
          <p:cNvSpPr/>
          <p:nvPr/>
        </p:nvSpPr>
        <p:spPr>
          <a:xfrm>
            <a:off x="7971840" y="4363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71" name="Oval 569"/>
          <p:cNvSpPr/>
          <p:nvPr/>
        </p:nvSpPr>
        <p:spPr>
          <a:xfrm>
            <a:off x="8807040" y="7488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72" name="Oval 570"/>
          <p:cNvSpPr/>
          <p:nvPr/>
        </p:nvSpPr>
        <p:spPr>
          <a:xfrm>
            <a:off x="1659600" y="6346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73" name="Oval 571"/>
          <p:cNvSpPr/>
          <p:nvPr/>
        </p:nvSpPr>
        <p:spPr>
          <a:xfrm>
            <a:off x="5839560" y="5830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74" name="Oval 572"/>
          <p:cNvSpPr/>
          <p:nvPr/>
        </p:nvSpPr>
        <p:spPr>
          <a:xfrm>
            <a:off x="3583080" y="7668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75" name="Oval 573"/>
          <p:cNvSpPr/>
          <p:nvPr/>
        </p:nvSpPr>
        <p:spPr>
          <a:xfrm>
            <a:off x="7089120" y="7024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76" name="Oval 574"/>
          <p:cNvSpPr/>
          <p:nvPr/>
        </p:nvSpPr>
        <p:spPr>
          <a:xfrm>
            <a:off x="7007760" y="7288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77" name="Oval 575"/>
          <p:cNvSpPr/>
          <p:nvPr/>
        </p:nvSpPr>
        <p:spPr>
          <a:xfrm>
            <a:off x="6219000" y="5589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78" name="Oval 576"/>
          <p:cNvSpPr/>
          <p:nvPr/>
        </p:nvSpPr>
        <p:spPr>
          <a:xfrm>
            <a:off x="5814720" y="5061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79" name="Oval 577"/>
          <p:cNvSpPr/>
          <p:nvPr/>
        </p:nvSpPr>
        <p:spPr>
          <a:xfrm>
            <a:off x="6347520" y="6564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80" name="Oval 578"/>
          <p:cNvSpPr/>
          <p:nvPr/>
        </p:nvSpPr>
        <p:spPr>
          <a:xfrm>
            <a:off x="8161560" y="4378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81" name="Oval 579"/>
          <p:cNvSpPr/>
          <p:nvPr/>
        </p:nvSpPr>
        <p:spPr>
          <a:xfrm>
            <a:off x="9021960" y="7673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82" name="Oval 580"/>
          <p:cNvSpPr/>
          <p:nvPr/>
        </p:nvSpPr>
        <p:spPr>
          <a:xfrm>
            <a:off x="4912920" y="6251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83" name="Oval 581"/>
          <p:cNvSpPr/>
          <p:nvPr/>
        </p:nvSpPr>
        <p:spPr>
          <a:xfrm>
            <a:off x="4784400" y="6258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84" name="Oval 582"/>
          <p:cNvSpPr/>
          <p:nvPr/>
        </p:nvSpPr>
        <p:spPr>
          <a:xfrm>
            <a:off x="4736160" y="6197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85" name="Oval 583"/>
          <p:cNvSpPr/>
          <p:nvPr/>
        </p:nvSpPr>
        <p:spPr>
          <a:xfrm>
            <a:off x="4739400" y="6184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86" name="Oval 584"/>
          <p:cNvSpPr/>
          <p:nvPr/>
        </p:nvSpPr>
        <p:spPr>
          <a:xfrm>
            <a:off x="4595400" y="6274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87" name="Oval 585"/>
          <p:cNvSpPr/>
          <p:nvPr/>
        </p:nvSpPr>
        <p:spPr>
          <a:xfrm>
            <a:off x="5101920" y="6035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88" name="Oval 586"/>
          <p:cNvSpPr/>
          <p:nvPr/>
        </p:nvSpPr>
        <p:spPr>
          <a:xfrm>
            <a:off x="5058000" y="5385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89" name="Oval 587"/>
          <p:cNvSpPr/>
          <p:nvPr/>
        </p:nvSpPr>
        <p:spPr>
          <a:xfrm>
            <a:off x="4589640" y="5251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90" name="Oval 588"/>
          <p:cNvSpPr/>
          <p:nvPr/>
        </p:nvSpPr>
        <p:spPr>
          <a:xfrm>
            <a:off x="4654800" y="5485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91" name="Oval 589"/>
          <p:cNvSpPr/>
          <p:nvPr/>
        </p:nvSpPr>
        <p:spPr>
          <a:xfrm>
            <a:off x="4645440" y="5448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92" name="Oval 590"/>
          <p:cNvSpPr/>
          <p:nvPr/>
        </p:nvSpPr>
        <p:spPr>
          <a:xfrm>
            <a:off x="4670640" y="5551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93" name="Oval 591"/>
          <p:cNvSpPr/>
          <p:nvPr/>
        </p:nvSpPr>
        <p:spPr>
          <a:xfrm>
            <a:off x="4701240" y="5659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94" name="Oval 592"/>
          <p:cNvSpPr/>
          <p:nvPr/>
        </p:nvSpPr>
        <p:spPr>
          <a:xfrm>
            <a:off x="5751720" y="4911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95" name="Oval 593"/>
          <p:cNvSpPr/>
          <p:nvPr/>
        </p:nvSpPr>
        <p:spPr>
          <a:xfrm>
            <a:off x="8210160" y="5950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96" name="Oval 594"/>
          <p:cNvSpPr/>
          <p:nvPr/>
        </p:nvSpPr>
        <p:spPr>
          <a:xfrm>
            <a:off x="4557600" y="6004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97" name="Oval 595"/>
          <p:cNvSpPr/>
          <p:nvPr/>
        </p:nvSpPr>
        <p:spPr>
          <a:xfrm>
            <a:off x="7376040" y="4478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98" name="Oval 596"/>
          <p:cNvSpPr/>
          <p:nvPr/>
        </p:nvSpPr>
        <p:spPr>
          <a:xfrm>
            <a:off x="7262280" y="4771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2999" name="Oval 597"/>
          <p:cNvSpPr/>
          <p:nvPr/>
        </p:nvSpPr>
        <p:spPr>
          <a:xfrm>
            <a:off x="6654240" y="5168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00" name="Oval 598"/>
          <p:cNvSpPr/>
          <p:nvPr/>
        </p:nvSpPr>
        <p:spPr>
          <a:xfrm>
            <a:off x="7034760" y="5204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01" name="Oval 599"/>
          <p:cNvSpPr/>
          <p:nvPr/>
        </p:nvSpPr>
        <p:spPr>
          <a:xfrm>
            <a:off x="5923080" y="5434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02" name="Oval 600"/>
          <p:cNvSpPr/>
          <p:nvPr/>
        </p:nvSpPr>
        <p:spPr>
          <a:xfrm>
            <a:off x="5910120" y="5573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03" name="Oval 601"/>
          <p:cNvSpPr/>
          <p:nvPr/>
        </p:nvSpPr>
        <p:spPr>
          <a:xfrm>
            <a:off x="5934240" y="5556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04" name="Oval 602"/>
          <p:cNvSpPr/>
          <p:nvPr/>
        </p:nvSpPr>
        <p:spPr>
          <a:xfrm>
            <a:off x="5978160" y="5521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05" name="Oval 603"/>
          <p:cNvSpPr/>
          <p:nvPr/>
        </p:nvSpPr>
        <p:spPr>
          <a:xfrm>
            <a:off x="6010560" y="5525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06" name="Oval 604"/>
          <p:cNvSpPr/>
          <p:nvPr/>
        </p:nvSpPr>
        <p:spPr>
          <a:xfrm>
            <a:off x="5946840" y="5616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07" name="Oval 605"/>
          <p:cNvSpPr/>
          <p:nvPr/>
        </p:nvSpPr>
        <p:spPr>
          <a:xfrm>
            <a:off x="6096600" y="5698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08" name="Oval 606"/>
          <p:cNvSpPr/>
          <p:nvPr/>
        </p:nvSpPr>
        <p:spPr>
          <a:xfrm>
            <a:off x="5886360" y="5711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09" name="Oval 607"/>
          <p:cNvSpPr/>
          <p:nvPr/>
        </p:nvSpPr>
        <p:spPr>
          <a:xfrm>
            <a:off x="4711320" y="5731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10" name="Oval 608"/>
          <p:cNvSpPr/>
          <p:nvPr/>
        </p:nvSpPr>
        <p:spPr>
          <a:xfrm>
            <a:off x="4712400" y="5770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11" name="Oval 609"/>
          <p:cNvSpPr/>
          <p:nvPr/>
        </p:nvSpPr>
        <p:spPr>
          <a:xfrm>
            <a:off x="4665600" y="5876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12" name="Oval 610"/>
          <p:cNvSpPr/>
          <p:nvPr/>
        </p:nvSpPr>
        <p:spPr>
          <a:xfrm>
            <a:off x="4724640" y="5954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13" name="Oval 611"/>
          <p:cNvSpPr/>
          <p:nvPr/>
        </p:nvSpPr>
        <p:spPr>
          <a:xfrm>
            <a:off x="5224680" y="5432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14" name="Oval 612"/>
          <p:cNvSpPr/>
          <p:nvPr/>
        </p:nvSpPr>
        <p:spPr>
          <a:xfrm>
            <a:off x="8188560" y="4302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15" name="Oval 613"/>
          <p:cNvSpPr/>
          <p:nvPr/>
        </p:nvSpPr>
        <p:spPr>
          <a:xfrm>
            <a:off x="5631120" y="7003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16" name="Oval 614"/>
          <p:cNvSpPr/>
          <p:nvPr/>
        </p:nvSpPr>
        <p:spPr>
          <a:xfrm>
            <a:off x="6650280" y="5134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17" name="Oval 615"/>
          <p:cNvSpPr/>
          <p:nvPr/>
        </p:nvSpPr>
        <p:spPr>
          <a:xfrm>
            <a:off x="6640200" y="5201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18" name="Oval 616"/>
          <p:cNvSpPr/>
          <p:nvPr/>
        </p:nvSpPr>
        <p:spPr>
          <a:xfrm>
            <a:off x="5817600" y="4794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19" name="Oval 617"/>
          <p:cNvSpPr/>
          <p:nvPr/>
        </p:nvSpPr>
        <p:spPr>
          <a:xfrm>
            <a:off x="6177960" y="5654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20" name="Oval 618"/>
          <p:cNvSpPr/>
          <p:nvPr/>
        </p:nvSpPr>
        <p:spPr>
          <a:xfrm>
            <a:off x="6282360" y="4971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21" name="Oval 619"/>
          <p:cNvSpPr/>
          <p:nvPr/>
        </p:nvSpPr>
        <p:spPr>
          <a:xfrm>
            <a:off x="6039360" y="4896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22" name="Freeform: Shape 620"/>
          <p:cNvSpPr/>
          <p:nvPr/>
        </p:nvSpPr>
        <p:spPr>
          <a:xfrm>
            <a:off x="1190520" y="8629560"/>
            <a:ext cx="1325880" cy="720"/>
          </a:xfrm>
          <a:custGeom>
            <a:avLst/>
            <a:gdLst/>
            <a:ahLst/>
            <a:rect l="l" t="t" r="r" b="b"/>
            <a:pathLst>
              <a:path w="1326244" h="953">
                <a:moveTo>
                  <a:pt x="0" y="0"/>
                </a:moveTo>
                <a:lnTo>
                  <a:pt x="1326244" y="0"/>
                </a:lnTo>
              </a:path>
            </a:pathLst>
          </a:custGeom>
          <a:noFill/>
          <a:ln w="28575">
            <a:solidFill>
              <a:srgbClr val="14293d"/>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23" name="Freeform: Shape 621"/>
          <p:cNvSpPr/>
          <p:nvPr/>
        </p:nvSpPr>
        <p:spPr>
          <a:xfrm>
            <a:off x="1190520" y="8572680"/>
            <a:ext cx="720" cy="114120"/>
          </a:xfrm>
          <a:custGeom>
            <a:avLst/>
            <a:gdLst/>
            <a:ahLst/>
            <a:rect l="l" t="t" r="r" b="b"/>
            <a:pathLst>
              <a:path w="953" h="114300">
                <a:moveTo>
                  <a:pt x="0" y="0"/>
                </a:moveTo>
                <a:lnTo>
                  <a:pt x="0" y="114300"/>
                </a:lnTo>
              </a:path>
            </a:pathLst>
          </a:custGeom>
          <a:noFill/>
          <a:ln w="19050">
            <a:solidFill>
              <a:srgbClr val="1429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24" name="Freeform: Shape 622"/>
          <p:cNvSpPr/>
          <p:nvPr/>
        </p:nvSpPr>
        <p:spPr>
          <a:xfrm>
            <a:off x="2516760" y="8572680"/>
            <a:ext cx="720" cy="114120"/>
          </a:xfrm>
          <a:custGeom>
            <a:avLst/>
            <a:gdLst/>
            <a:ahLst/>
            <a:rect l="l" t="t" r="r" b="b"/>
            <a:pathLst>
              <a:path w="953" h="114300">
                <a:moveTo>
                  <a:pt x="0" y="0"/>
                </a:moveTo>
                <a:lnTo>
                  <a:pt x="0" y="114300"/>
                </a:lnTo>
              </a:path>
            </a:pathLst>
          </a:custGeom>
          <a:noFill/>
          <a:ln w="19050">
            <a:solidFill>
              <a:srgbClr val="1429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25" name="Rectangle 623"/>
          <p:cNvSpPr/>
          <p:nvPr/>
        </p:nvSpPr>
        <p:spPr>
          <a:xfrm>
            <a:off x="1190520" y="8267760"/>
            <a:ext cx="85680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500" strike="noStrike" u="none">
                <a:solidFill>
                  <a:srgbClr val="526779"/>
                </a:solidFill>
                <a:effectLst/>
                <a:uFillTx/>
                <a:latin typeface="Century Gothic"/>
                <a:ea typeface="Century Gothic"/>
              </a:rPr>
              <a:t>5 km</a:t>
            </a:r>
            <a:endParaRPr b="0" lang="en-US" sz="1500" strike="noStrike" u="none">
              <a:solidFill>
                <a:srgbClr val="000000"/>
              </a:solidFill>
              <a:effectLst/>
              <a:uFillTx/>
              <a:latin typeface="Arial"/>
            </a:endParaRPr>
          </a:p>
        </p:txBody>
      </p:sp>
      <p:sp>
        <p:nvSpPr>
          <p:cNvPr id="3026" name="Rectangle 624"/>
          <p:cNvSpPr/>
          <p:nvPr/>
        </p:nvSpPr>
        <p:spPr>
          <a:xfrm>
            <a:off x="10334520" y="2933640"/>
            <a:ext cx="57132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650" strike="noStrike" u="none">
                <a:solidFill>
                  <a:srgbClr val="526779"/>
                </a:solidFill>
                <a:effectLst/>
                <a:uFillTx/>
                <a:latin typeface="Century Gothic"/>
                <a:ea typeface="Century Gothic"/>
              </a:rPr>
              <a:t>N ↑</a:t>
            </a:r>
            <a:endParaRPr b="0" lang="en-US" sz="1650" strike="noStrike" u="none">
              <a:solidFill>
                <a:srgbClr val="000000"/>
              </a:solidFill>
              <a:effectLst/>
              <a:uFillTx/>
              <a:latin typeface="Arial"/>
            </a:endParaRPr>
          </a:p>
        </p:txBody>
      </p:sp>
      <p:sp>
        <p:nvSpPr>
          <p:cNvPr id="3027" name="Oval 625"/>
          <p:cNvSpPr/>
          <p:nvPr/>
        </p:nvSpPr>
        <p:spPr>
          <a:xfrm>
            <a:off x="8623080" y="5350680"/>
            <a:ext cx="132840" cy="132840"/>
          </a:xfrm>
          <a:prstGeom prst="ellipse">
            <a:avLst/>
          </a:prstGeom>
          <a:solidFill>
            <a:srgbClr val="b6423e"/>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28" name="Freeform: Shape 626"/>
          <p:cNvSpPr/>
          <p:nvPr/>
        </p:nvSpPr>
        <p:spPr>
          <a:xfrm>
            <a:off x="8356320" y="5417280"/>
            <a:ext cx="333000" cy="720"/>
          </a:xfrm>
          <a:custGeom>
            <a:avLst/>
            <a:gdLst/>
            <a:ahLst/>
            <a:rect l="l" t="t" r="r" b="b"/>
            <a:pathLst>
              <a:path w="333375" h="953">
                <a:moveTo>
                  <a:pt x="333375" y="0"/>
                </a:moveTo>
                <a:lnTo>
                  <a:pt x="0" y="0"/>
                </a:lnTo>
              </a:path>
            </a:pathLst>
          </a:custGeom>
          <a:noFill/>
          <a:ln w="19050">
            <a:solidFill>
              <a:srgbClr val="b6423e"/>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29" name="Oval 627"/>
          <p:cNvSpPr/>
          <p:nvPr/>
        </p:nvSpPr>
        <p:spPr>
          <a:xfrm>
            <a:off x="8184960" y="5245920"/>
            <a:ext cx="342720" cy="342720"/>
          </a:xfrm>
          <a:prstGeom prst="ellipse">
            <a:avLst/>
          </a:prstGeom>
          <a:solidFill>
            <a:srgbClr val="b6423e"/>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30" name="Rectangle 628"/>
          <p:cNvSpPr/>
          <p:nvPr/>
        </p:nvSpPr>
        <p:spPr>
          <a:xfrm>
            <a:off x="8203680" y="5293440"/>
            <a:ext cx="304560" cy="28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1" lang="en-US" sz="1729" strike="noStrike" u="none">
                <a:solidFill>
                  <a:srgbClr val="ffffff"/>
                </a:solidFill>
                <a:effectLst/>
                <a:uFillTx/>
                <a:latin typeface="Century Gothic"/>
                <a:ea typeface="Century Gothic"/>
              </a:rPr>
              <a:t>1</a:t>
            </a:r>
            <a:endParaRPr b="0" lang="en-US" sz="1729" strike="noStrike" u="none">
              <a:solidFill>
                <a:srgbClr val="000000"/>
              </a:solidFill>
              <a:effectLst/>
              <a:uFillTx/>
              <a:latin typeface="Arial"/>
            </a:endParaRPr>
          </a:p>
        </p:txBody>
      </p:sp>
      <p:sp>
        <p:nvSpPr>
          <p:cNvPr id="3031" name="Rectangle 629"/>
          <p:cNvSpPr/>
          <p:nvPr/>
        </p:nvSpPr>
        <p:spPr>
          <a:xfrm>
            <a:off x="11525400" y="2857680"/>
            <a:ext cx="5810040" cy="475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70" strike="noStrike" u="none">
                <a:solidFill>
                  <a:srgbClr val="14293d"/>
                </a:solidFill>
                <a:effectLst/>
                <a:uFillTx/>
                <a:latin typeface="Century Gothic"/>
                <a:ea typeface="Century Gothic"/>
              </a:rPr>
              <a:t>1. Nom Klao</a:t>
            </a:r>
            <a:endParaRPr b="0" lang="en-US" sz="2170" strike="noStrike" u="none">
              <a:solidFill>
                <a:srgbClr val="000000"/>
              </a:solidFill>
              <a:effectLst/>
              <a:uFillTx/>
              <a:latin typeface="Arial"/>
            </a:endParaRPr>
          </a:p>
        </p:txBody>
      </p:sp>
      <p:sp>
        <p:nvSpPr>
          <p:cNvPr id="3032" name="Rectangle 630"/>
          <p:cNvSpPr/>
          <p:nvPr/>
        </p:nvSpPr>
        <p:spPr>
          <a:xfrm>
            <a:off x="11525400" y="3333600"/>
            <a:ext cx="58100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Wang Thong Lang / Critical</a:t>
            </a:r>
            <a:endParaRPr b="0" lang="en-US" sz="1800" strike="noStrike" u="none">
              <a:solidFill>
                <a:srgbClr val="000000"/>
              </a:solidFill>
              <a:effectLst/>
              <a:uFillTx/>
              <a:latin typeface="Arial"/>
            </a:endParaRPr>
          </a:p>
        </p:txBody>
      </p:sp>
      <p:sp>
        <p:nvSpPr>
          <p:cNvPr id="3033" name="Oval 631"/>
          <p:cNvSpPr/>
          <p:nvPr/>
        </p:nvSpPr>
        <p:spPr>
          <a:xfrm>
            <a:off x="5436000" y="6563880"/>
            <a:ext cx="132840" cy="132840"/>
          </a:xfrm>
          <a:prstGeom prst="ellipse">
            <a:avLst/>
          </a:prstGeom>
          <a:solidFill>
            <a:srgbClr val="b6423e"/>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34" name="Oval 632"/>
          <p:cNvSpPr/>
          <p:nvPr/>
        </p:nvSpPr>
        <p:spPr>
          <a:xfrm>
            <a:off x="5331240" y="6459120"/>
            <a:ext cx="342720" cy="342720"/>
          </a:xfrm>
          <a:prstGeom prst="ellipse">
            <a:avLst/>
          </a:prstGeom>
          <a:solidFill>
            <a:srgbClr val="b6423e"/>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35" name="Rectangle 633"/>
          <p:cNvSpPr/>
          <p:nvPr/>
        </p:nvSpPr>
        <p:spPr>
          <a:xfrm>
            <a:off x="5350320" y="6506640"/>
            <a:ext cx="304560" cy="28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1" lang="en-US" sz="1729" strike="noStrike" u="none">
                <a:solidFill>
                  <a:srgbClr val="ffffff"/>
                </a:solidFill>
                <a:effectLst/>
                <a:uFillTx/>
                <a:latin typeface="Century Gothic"/>
                <a:ea typeface="Century Gothic"/>
              </a:rPr>
              <a:t>2</a:t>
            </a:r>
            <a:endParaRPr b="0" lang="en-US" sz="1729" strike="noStrike" u="none">
              <a:solidFill>
                <a:srgbClr val="000000"/>
              </a:solidFill>
              <a:effectLst/>
              <a:uFillTx/>
              <a:latin typeface="Arial"/>
            </a:endParaRPr>
          </a:p>
        </p:txBody>
      </p:sp>
      <p:sp>
        <p:nvSpPr>
          <p:cNvPr id="3036" name="Rectangle 634"/>
          <p:cNvSpPr/>
          <p:nvPr/>
        </p:nvSpPr>
        <p:spPr>
          <a:xfrm>
            <a:off x="11525400" y="3809880"/>
            <a:ext cx="5810040" cy="475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70" strike="noStrike" u="none">
                <a:solidFill>
                  <a:srgbClr val="14293d"/>
                </a:solidFill>
                <a:effectLst/>
                <a:uFillTx/>
                <a:latin typeface="Century Gothic"/>
                <a:ea typeface="Century Gothic"/>
              </a:rPr>
              <a:t>2. San Chao A Niao</a:t>
            </a:r>
            <a:endParaRPr b="0" lang="en-US" sz="2170" strike="noStrike" u="none">
              <a:solidFill>
                <a:srgbClr val="000000"/>
              </a:solidFill>
              <a:effectLst/>
              <a:uFillTx/>
              <a:latin typeface="Arial"/>
            </a:endParaRPr>
          </a:p>
        </p:txBody>
      </p:sp>
      <p:sp>
        <p:nvSpPr>
          <p:cNvPr id="3037" name="Rectangle 635"/>
          <p:cNvSpPr/>
          <p:nvPr/>
        </p:nvSpPr>
        <p:spPr>
          <a:xfrm>
            <a:off x="11525400" y="4286160"/>
            <a:ext cx="58100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Khlong San / Critical</a:t>
            </a:r>
            <a:endParaRPr b="0" lang="en-US" sz="1800" strike="noStrike" u="none">
              <a:solidFill>
                <a:srgbClr val="000000"/>
              </a:solidFill>
              <a:effectLst/>
              <a:uFillTx/>
              <a:latin typeface="Arial"/>
            </a:endParaRPr>
          </a:p>
        </p:txBody>
      </p:sp>
      <p:sp>
        <p:nvSpPr>
          <p:cNvPr id="3038" name="Oval 636"/>
          <p:cNvSpPr/>
          <p:nvPr/>
        </p:nvSpPr>
        <p:spPr>
          <a:xfrm>
            <a:off x="8156160" y="7032600"/>
            <a:ext cx="132840" cy="132840"/>
          </a:xfrm>
          <a:prstGeom prst="ellipse">
            <a:avLst/>
          </a:prstGeom>
          <a:solidFill>
            <a:srgbClr val="c76a38"/>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39" name="Oval 637"/>
          <p:cNvSpPr/>
          <p:nvPr/>
        </p:nvSpPr>
        <p:spPr>
          <a:xfrm>
            <a:off x="8051400" y="6927840"/>
            <a:ext cx="342720" cy="342720"/>
          </a:xfrm>
          <a:prstGeom prst="ellipse">
            <a:avLst/>
          </a:prstGeom>
          <a:solidFill>
            <a:srgbClr val="c76a38"/>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40" name="Rectangle 638"/>
          <p:cNvSpPr/>
          <p:nvPr/>
        </p:nvSpPr>
        <p:spPr>
          <a:xfrm>
            <a:off x="8070480" y="6975360"/>
            <a:ext cx="304560" cy="28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1" lang="en-US" sz="1729" strike="noStrike" u="none">
                <a:solidFill>
                  <a:srgbClr val="ffffff"/>
                </a:solidFill>
                <a:effectLst/>
                <a:uFillTx/>
                <a:latin typeface="Century Gothic"/>
                <a:ea typeface="Century Gothic"/>
              </a:rPr>
              <a:t>3</a:t>
            </a:r>
            <a:endParaRPr b="0" lang="en-US" sz="1729" strike="noStrike" u="none">
              <a:solidFill>
                <a:srgbClr val="000000"/>
              </a:solidFill>
              <a:effectLst/>
              <a:uFillTx/>
              <a:latin typeface="Arial"/>
            </a:endParaRPr>
          </a:p>
        </p:txBody>
      </p:sp>
      <p:sp>
        <p:nvSpPr>
          <p:cNvPr id="3041" name="Rectangle 639"/>
          <p:cNvSpPr/>
          <p:nvPr/>
        </p:nvSpPr>
        <p:spPr>
          <a:xfrm>
            <a:off x="11525400" y="4762440"/>
            <a:ext cx="5810040" cy="475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70" strike="noStrike" u="none">
                <a:solidFill>
                  <a:srgbClr val="14293d"/>
                </a:solidFill>
                <a:effectLst/>
                <a:uFillTx/>
                <a:latin typeface="Century Gothic"/>
                <a:ea typeface="Century Gothic"/>
              </a:rPr>
              <a:t>3. Rim Khlong Phra Khanong</a:t>
            </a:r>
            <a:endParaRPr b="0" lang="en-US" sz="2170" strike="noStrike" u="none">
              <a:solidFill>
                <a:srgbClr val="000000"/>
              </a:solidFill>
              <a:effectLst/>
              <a:uFillTx/>
              <a:latin typeface="Arial"/>
            </a:endParaRPr>
          </a:p>
        </p:txBody>
      </p:sp>
      <p:sp>
        <p:nvSpPr>
          <p:cNvPr id="3042" name="Rectangle 640"/>
          <p:cNvSpPr/>
          <p:nvPr/>
        </p:nvSpPr>
        <p:spPr>
          <a:xfrm>
            <a:off x="11525400" y="5238720"/>
            <a:ext cx="58100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Khlong Toei / High</a:t>
            </a:r>
            <a:endParaRPr b="0" lang="en-US" sz="1800" strike="noStrike" u="none">
              <a:solidFill>
                <a:srgbClr val="000000"/>
              </a:solidFill>
              <a:effectLst/>
              <a:uFillTx/>
              <a:latin typeface="Arial"/>
            </a:endParaRPr>
          </a:p>
        </p:txBody>
      </p:sp>
      <p:sp>
        <p:nvSpPr>
          <p:cNvPr id="3043" name="Oval 641"/>
          <p:cNvSpPr/>
          <p:nvPr/>
        </p:nvSpPr>
        <p:spPr>
          <a:xfrm>
            <a:off x="8814240" y="5402520"/>
            <a:ext cx="132840" cy="132840"/>
          </a:xfrm>
          <a:prstGeom prst="ellipse">
            <a:avLst/>
          </a:prstGeom>
          <a:solidFill>
            <a:srgbClr val="c76a38"/>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44" name="Freeform: Shape 642"/>
          <p:cNvSpPr/>
          <p:nvPr/>
        </p:nvSpPr>
        <p:spPr>
          <a:xfrm>
            <a:off x="8880840" y="5469120"/>
            <a:ext cx="333000" cy="285480"/>
          </a:xfrm>
          <a:custGeom>
            <a:avLst/>
            <a:gdLst/>
            <a:ahLst/>
            <a:rect l="l" t="t" r="r" b="b"/>
            <a:pathLst>
              <a:path w="333375" h="285750">
                <a:moveTo>
                  <a:pt x="0" y="0"/>
                </a:moveTo>
                <a:lnTo>
                  <a:pt x="333375" y="285750"/>
                </a:lnTo>
              </a:path>
            </a:pathLst>
          </a:custGeom>
          <a:noFill/>
          <a:ln w="19050">
            <a:solidFill>
              <a:srgbClr val="c76a38"/>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45" name="Oval 643"/>
          <p:cNvSpPr/>
          <p:nvPr/>
        </p:nvSpPr>
        <p:spPr>
          <a:xfrm>
            <a:off x="9042840" y="5583600"/>
            <a:ext cx="342720" cy="342720"/>
          </a:xfrm>
          <a:prstGeom prst="ellipse">
            <a:avLst/>
          </a:prstGeom>
          <a:solidFill>
            <a:srgbClr val="c76a38"/>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46" name="Rectangle 644"/>
          <p:cNvSpPr/>
          <p:nvPr/>
        </p:nvSpPr>
        <p:spPr>
          <a:xfrm>
            <a:off x="9061920" y="5631120"/>
            <a:ext cx="304560" cy="28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1" lang="en-US" sz="1729" strike="noStrike" u="none">
                <a:solidFill>
                  <a:srgbClr val="ffffff"/>
                </a:solidFill>
                <a:effectLst/>
                <a:uFillTx/>
                <a:latin typeface="Century Gothic"/>
                <a:ea typeface="Century Gothic"/>
              </a:rPr>
              <a:t>4</a:t>
            </a:r>
            <a:endParaRPr b="0" lang="en-US" sz="1729" strike="noStrike" u="none">
              <a:solidFill>
                <a:srgbClr val="000000"/>
              </a:solidFill>
              <a:effectLst/>
              <a:uFillTx/>
              <a:latin typeface="Arial"/>
            </a:endParaRPr>
          </a:p>
        </p:txBody>
      </p:sp>
      <p:sp>
        <p:nvSpPr>
          <p:cNvPr id="3047" name="Rectangle 645"/>
          <p:cNvSpPr/>
          <p:nvPr/>
        </p:nvSpPr>
        <p:spPr>
          <a:xfrm>
            <a:off x="11525400" y="5715000"/>
            <a:ext cx="5810040" cy="475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70" strike="noStrike" u="none">
                <a:solidFill>
                  <a:srgbClr val="14293d"/>
                </a:solidFill>
                <a:effectLst/>
                <a:uFillTx/>
                <a:latin typeface="Century Gothic"/>
                <a:ea typeface="Century Gothic"/>
              </a:rPr>
              <a:t>4. Rim Khlong Lat Phrao</a:t>
            </a:r>
            <a:endParaRPr b="0" lang="en-US" sz="2170" strike="noStrike" u="none">
              <a:solidFill>
                <a:srgbClr val="000000"/>
              </a:solidFill>
              <a:effectLst/>
              <a:uFillTx/>
              <a:latin typeface="Arial"/>
            </a:endParaRPr>
          </a:p>
        </p:txBody>
      </p:sp>
      <p:sp>
        <p:nvSpPr>
          <p:cNvPr id="3048" name="Rectangle 646"/>
          <p:cNvSpPr/>
          <p:nvPr/>
        </p:nvSpPr>
        <p:spPr>
          <a:xfrm>
            <a:off x="11525400" y="6191280"/>
            <a:ext cx="58100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Wang Thong Lang / High</a:t>
            </a:r>
            <a:endParaRPr b="0" lang="en-US" sz="1800" strike="noStrike" u="none">
              <a:solidFill>
                <a:srgbClr val="000000"/>
              </a:solidFill>
              <a:effectLst/>
              <a:uFillTx/>
              <a:latin typeface="Arial"/>
            </a:endParaRPr>
          </a:p>
        </p:txBody>
      </p:sp>
      <p:sp>
        <p:nvSpPr>
          <p:cNvPr id="3049" name="Oval 647"/>
          <p:cNvSpPr/>
          <p:nvPr/>
        </p:nvSpPr>
        <p:spPr>
          <a:xfrm>
            <a:off x="2517120" y="7715520"/>
            <a:ext cx="132840" cy="132840"/>
          </a:xfrm>
          <a:prstGeom prst="ellipse">
            <a:avLst/>
          </a:prstGeom>
          <a:solidFill>
            <a:srgbClr val="c76a38"/>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50" name="Oval 648"/>
          <p:cNvSpPr/>
          <p:nvPr/>
        </p:nvSpPr>
        <p:spPr>
          <a:xfrm>
            <a:off x="2412360" y="7610760"/>
            <a:ext cx="342720" cy="342720"/>
          </a:xfrm>
          <a:prstGeom prst="ellipse">
            <a:avLst/>
          </a:prstGeom>
          <a:solidFill>
            <a:srgbClr val="c76a38"/>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51" name="Rectangle 649"/>
          <p:cNvSpPr/>
          <p:nvPr/>
        </p:nvSpPr>
        <p:spPr>
          <a:xfrm>
            <a:off x="2431080" y="7658280"/>
            <a:ext cx="304560" cy="28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1" lang="en-US" sz="1729" strike="noStrike" u="none">
                <a:solidFill>
                  <a:srgbClr val="ffffff"/>
                </a:solidFill>
                <a:effectLst/>
                <a:uFillTx/>
                <a:latin typeface="Century Gothic"/>
                <a:ea typeface="Century Gothic"/>
              </a:rPr>
              <a:t>5</a:t>
            </a:r>
            <a:endParaRPr b="0" lang="en-US" sz="1729" strike="noStrike" u="none">
              <a:solidFill>
                <a:srgbClr val="000000"/>
              </a:solidFill>
              <a:effectLst/>
              <a:uFillTx/>
              <a:latin typeface="Arial"/>
            </a:endParaRPr>
          </a:p>
        </p:txBody>
      </p:sp>
      <p:sp>
        <p:nvSpPr>
          <p:cNvPr id="3052" name="Rectangle 650"/>
          <p:cNvSpPr/>
          <p:nvPr/>
        </p:nvSpPr>
        <p:spPr>
          <a:xfrm>
            <a:off x="11525400" y="6667560"/>
            <a:ext cx="5810040" cy="475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70" strike="noStrike" u="none">
                <a:solidFill>
                  <a:srgbClr val="14293d"/>
                </a:solidFill>
                <a:effectLst/>
                <a:uFillTx/>
                <a:latin typeface="Century Gothic"/>
                <a:ea typeface="Century Gothic"/>
              </a:rPr>
              <a:t>5. Mi Suwan Phatthana</a:t>
            </a:r>
            <a:endParaRPr b="0" lang="en-US" sz="2170" strike="noStrike" u="none">
              <a:solidFill>
                <a:srgbClr val="000000"/>
              </a:solidFill>
              <a:effectLst/>
              <a:uFillTx/>
              <a:latin typeface="Arial"/>
            </a:endParaRPr>
          </a:p>
        </p:txBody>
      </p:sp>
      <p:sp>
        <p:nvSpPr>
          <p:cNvPr id="3053" name="Rectangle 651"/>
          <p:cNvSpPr/>
          <p:nvPr/>
        </p:nvSpPr>
        <p:spPr>
          <a:xfrm>
            <a:off x="11525400" y="7143840"/>
            <a:ext cx="58100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Bang Khae / High</a:t>
            </a:r>
            <a:endParaRPr b="0" lang="en-US" sz="1800" strike="noStrike" u="none">
              <a:solidFill>
                <a:srgbClr val="000000"/>
              </a:solidFill>
              <a:effectLst/>
              <a:uFillTx/>
              <a:latin typeface="Arial"/>
            </a:endParaRPr>
          </a:p>
        </p:txBody>
      </p:sp>
      <p:sp>
        <p:nvSpPr>
          <p:cNvPr id="3054" name="Oval 652"/>
          <p:cNvSpPr/>
          <p:nvPr/>
        </p:nvSpPr>
        <p:spPr>
          <a:xfrm>
            <a:off x="8821440" y="4944960"/>
            <a:ext cx="132840" cy="132840"/>
          </a:xfrm>
          <a:prstGeom prst="ellipse">
            <a:avLst/>
          </a:prstGeom>
          <a:solidFill>
            <a:srgbClr val="c76a38"/>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55" name="Oval 653"/>
          <p:cNvSpPr/>
          <p:nvPr/>
        </p:nvSpPr>
        <p:spPr>
          <a:xfrm>
            <a:off x="8716680" y="4840200"/>
            <a:ext cx="342720" cy="342720"/>
          </a:xfrm>
          <a:prstGeom prst="ellipse">
            <a:avLst/>
          </a:prstGeom>
          <a:solidFill>
            <a:srgbClr val="c76a38"/>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56" name="Rectangle 654"/>
          <p:cNvSpPr/>
          <p:nvPr/>
        </p:nvSpPr>
        <p:spPr>
          <a:xfrm>
            <a:off x="8735760" y="4887720"/>
            <a:ext cx="304560" cy="28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1" lang="en-US" sz="1729" strike="noStrike" u="none">
                <a:solidFill>
                  <a:srgbClr val="ffffff"/>
                </a:solidFill>
                <a:effectLst/>
                <a:uFillTx/>
                <a:latin typeface="Century Gothic"/>
                <a:ea typeface="Century Gothic"/>
              </a:rPr>
              <a:t>6</a:t>
            </a:r>
            <a:endParaRPr b="0" lang="en-US" sz="1729" strike="noStrike" u="none">
              <a:solidFill>
                <a:srgbClr val="000000"/>
              </a:solidFill>
              <a:effectLst/>
              <a:uFillTx/>
              <a:latin typeface="Arial"/>
            </a:endParaRPr>
          </a:p>
        </p:txBody>
      </p:sp>
      <p:sp>
        <p:nvSpPr>
          <p:cNvPr id="3057" name="Rectangle 655"/>
          <p:cNvSpPr/>
          <p:nvPr/>
        </p:nvSpPr>
        <p:spPr>
          <a:xfrm>
            <a:off x="11525400" y="7620120"/>
            <a:ext cx="5810040" cy="475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70" strike="noStrike" u="none">
                <a:solidFill>
                  <a:srgbClr val="14293d"/>
                </a:solidFill>
                <a:effectLst/>
                <a:uFillTx/>
                <a:latin typeface="Century Gothic"/>
                <a:ea typeface="Century Gothic"/>
              </a:rPr>
              <a:t>6. Surao Don Sakae</a:t>
            </a:r>
            <a:endParaRPr b="0" lang="en-US" sz="2170" strike="noStrike" u="none">
              <a:solidFill>
                <a:srgbClr val="000000"/>
              </a:solidFill>
              <a:effectLst/>
              <a:uFillTx/>
              <a:latin typeface="Arial"/>
            </a:endParaRPr>
          </a:p>
        </p:txBody>
      </p:sp>
      <p:sp>
        <p:nvSpPr>
          <p:cNvPr id="3058" name="Rectangle 656"/>
          <p:cNvSpPr/>
          <p:nvPr/>
        </p:nvSpPr>
        <p:spPr>
          <a:xfrm>
            <a:off x="11525400" y="8096400"/>
            <a:ext cx="58100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Wang Thong Lang / High</a:t>
            </a:r>
            <a:endParaRPr b="0" lang="en-US" sz="1800" strike="noStrike" u="none">
              <a:solidFill>
                <a:srgbClr val="000000"/>
              </a:solidFill>
              <a:effectLst/>
              <a:uFillTx/>
              <a:latin typeface="Arial"/>
            </a:endParaRPr>
          </a:p>
        </p:txBody>
      </p:sp>
      <p:sp>
        <p:nvSpPr>
          <p:cNvPr id="3059" name="Rectangle 657"/>
          <p:cNvSpPr/>
          <p:nvPr/>
        </p:nvSpPr>
        <p:spPr>
          <a:xfrm>
            <a:off x="952560" y="8953560"/>
            <a:ext cx="1619208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Grey points: community locations. Coloured districts contain the six assessed communities.</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060" name="Freeform: Shape 406"/>
          <p:cNvSpPr/>
          <p:nvPr/>
        </p:nvSpPr>
        <p:spPr>
          <a:xfrm>
            <a:off x="952560" y="685800"/>
            <a:ext cx="16382520" cy="720"/>
          </a:xfrm>
          <a:custGeom>
            <a:avLst/>
            <a:gdLst/>
            <a:ahLst/>
            <a:rect l="l" t="t" r="r" b="b"/>
            <a:pathLst>
              <a:path w="16383000" h="953">
                <a:moveTo>
                  <a:pt x="0" y="0"/>
                </a:moveTo>
                <a:lnTo>
                  <a:pt x="16383000" y="0"/>
                </a:lnTo>
              </a:path>
            </a:pathLst>
          </a:custGeom>
          <a:noFill/>
          <a:ln w="28575">
            <a:solidFill>
              <a:srgbClr val="217e86"/>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61" name="Rectangle 1"/>
          <p:cNvSpPr/>
          <p:nvPr/>
        </p:nvSpPr>
        <p:spPr>
          <a:xfrm>
            <a:off x="952560" y="905040"/>
            <a:ext cx="16287480" cy="11426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rgbClr val="14293d"/>
                </a:solidFill>
                <a:effectLst/>
                <a:uFillTx/>
                <a:latin typeface="Century Gothic"/>
                <a:ea typeface="Century Gothic"/>
              </a:rPr>
              <a:t>SEA evidence: communities outside flood walls</a:t>
            </a:r>
            <a:endParaRPr b="0" lang="en-US" sz="4120" strike="noStrike" u="none">
              <a:solidFill>
                <a:srgbClr val="000000"/>
              </a:solidFill>
              <a:effectLst/>
              <a:uFillTx/>
              <a:latin typeface="Arial"/>
            </a:endParaRPr>
          </a:p>
        </p:txBody>
      </p:sp>
      <p:sp>
        <p:nvSpPr>
          <p:cNvPr id="3062" name="Freeform: Shape 2"/>
          <p:cNvSpPr/>
          <p:nvPr/>
        </p:nvSpPr>
        <p:spPr>
          <a:xfrm>
            <a:off x="952560" y="9429840"/>
            <a:ext cx="16382520" cy="720"/>
          </a:xfrm>
          <a:custGeom>
            <a:avLst/>
            <a:gdLst/>
            <a:ahLst/>
            <a:rect l="l" t="t" r="r" b="b"/>
            <a:pathLst>
              <a:path w="16383000" h="953">
                <a:moveTo>
                  <a:pt x="0" y="0"/>
                </a:moveTo>
                <a:lnTo>
                  <a:pt x="16383000" y="0"/>
                </a:lnTo>
              </a:path>
            </a:pathLst>
          </a:custGeom>
          <a:noFill/>
          <a:ln w="9525">
            <a:solidFill>
              <a:srgbClr val="cad5df"/>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63" name="Rectangle 3"/>
          <p:cNvSpPr/>
          <p:nvPr/>
        </p:nvSpPr>
        <p:spPr>
          <a:xfrm>
            <a:off x="952560" y="9667800"/>
            <a:ext cx="1238220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350" strike="noStrike" u="none">
                <a:solidFill>
                  <a:srgbClr val="526779"/>
                </a:solidFill>
                <a:effectLst/>
                <a:uFillTx/>
                <a:latin typeface="Century Gothic"/>
                <a:ea typeface="Century Gothic"/>
              </a:rPr>
              <a:t>PIXELS TO METRO POLICY / GEOHACKATHON 2026</a:t>
            </a:r>
            <a:endParaRPr b="0" lang="en-US" sz="1350" strike="noStrike" u="none">
              <a:solidFill>
                <a:srgbClr val="000000"/>
              </a:solidFill>
              <a:effectLst/>
              <a:uFillTx/>
              <a:latin typeface="Arial"/>
            </a:endParaRPr>
          </a:p>
        </p:txBody>
      </p:sp>
      <p:sp>
        <p:nvSpPr>
          <p:cNvPr id="3064" name="Rectangle 4"/>
          <p:cNvSpPr/>
          <p:nvPr/>
        </p:nvSpPr>
        <p:spPr>
          <a:xfrm>
            <a:off x="16859160" y="9601200"/>
            <a:ext cx="57132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10</a:t>
            </a:r>
            <a:endParaRPr b="0" lang="en-US" sz="1800" strike="noStrike" u="none">
              <a:solidFill>
                <a:srgbClr val="000000"/>
              </a:solidFill>
              <a:effectLst/>
              <a:uFillTx/>
              <a:latin typeface="Arial"/>
            </a:endParaRPr>
          </a:p>
        </p:txBody>
      </p:sp>
      <p:sp>
        <p:nvSpPr>
          <p:cNvPr id="3065" name="Rectangle 5"/>
          <p:cNvSpPr/>
          <p:nvPr/>
        </p:nvSpPr>
        <p:spPr>
          <a:xfrm>
            <a:off x="746640" y="1971000"/>
            <a:ext cx="1628748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020" strike="noStrike" u="none">
                <a:solidFill>
                  <a:srgbClr val="526779"/>
                </a:solidFill>
                <a:effectLst/>
                <a:uFillTx/>
                <a:latin typeface="Century Gothic"/>
                <a:ea typeface="Century Gothic"/>
              </a:rPr>
              <a:t>More than 11 registered informal communities, 320 households and about 1,070 people outside the flood walls.</a:t>
            </a:r>
            <a:endParaRPr b="0" lang="en-US" sz="2020" strike="noStrike" u="none">
              <a:solidFill>
                <a:srgbClr val="000000"/>
              </a:solidFill>
              <a:effectLst/>
              <a:uFillTx/>
              <a:latin typeface="Arial"/>
            </a:endParaRPr>
          </a:p>
        </p:txBody>
      </p:sp>
      <p:sp>
        <p:nvSpPr>
          <p:cNvPr id="3066" name="เขตคลองสาน"/>
          <p:cNvSpPr/>
          <p:nvPr/>
        </p:nvSpPr>
        <p:spPr>
          <a:xfrm>
            <a:off x="8906760" y="5903280"/>
            <a:ext cx="869400" cy="1562040"/>
          </a:xfrm>
          <a:custGeom>
            <a:avLst/>
            <a:gdLst/>
            <a:ahLst/>
            <a:rect l="l" t="t" r="r" b="b"/>
            <a:pathLst>
              <a:path w="869871" h="1562503">
                <a:moveTo>
                  <a:pt x="255132" y="1562503"/>
                </a:moveTo>
                <a:lnTo>
                  <a:pt x="1345" y="842875"/>
                </a:lnTo>
                <a:lnTo>
                  <a:pt x="0" y="830873"/>
                </a:lnTo>
                <a:lnTo>
                  <a:pt x="17487" y="553915"/>
                </a:lnTo>
                <a:lnTo>
                  <a:pt x="76674" y="375739"/>
                </a:lnTo>
                <a:lnTo>
                  <a:pt x="139000" y="189254"/>
                </a:lnTo>
                <a:lnTo>
                  <a:pt x="248406" y="0"/>
                </a:lnTo>
                <a:lnTo>
                  <a:pt x="309387" y="16617"/>
                </a:lnTo>
                <a:lnTo>
                  <a:pt x="607564" y="91858"/>
                </a:lnTo>
                <a:lnTo>
                  <a:pt x="729974" y="168021"/>
                </a:lnTo>
                <a:lnTo>
                  <a:pt x="849693" y="375739"/>
                </a:lnTo>
                <a:lnTo>
                  <a:pt x="869871" y="453749"/>
                </a:lnTo>
                <a:lnTo>
                  <a:pt x="855971" y="907036"/>
                </a:lnTo>
                <a:lnTo>
                  <a:pt x="665406" y="1247233"/>
                </a:lnTo>
                <a:lnTo>
                  <a:pt x="255132" y="1562503"/>
                </a:lnTo>
                <a:close/>
              </a:path>
            </a:pathLst>
          </a:custGeom>
          <a:solidFill>
            <a:srgbClr val="d7e9eb"/>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67" name="เขตคลองเตย"/>
          <p:cNvSpPr/>
          <p:nvPr/>
        </p:nvSpPr>
        <p:spPr>
          <a:xfrm>
            <a:off x="11498040" y="5731560"/>
            <a:ext cx="637560" cy="1790280"/>
          </a:xfrm>
          <a:custGeom>
            <a:avLst/>
            <a:gdLst/>
            <a:ahLst/>
            <a:rect l="l" t="t" r="r" b="b"/>
            <a:pathLst>
              <a:path w="638055" h="1790593">
                <a:moveTo>
                  <a:pt x="638055" y="1790593"/>
                </a:moveTo>
                <a:lnTo>
                  <a:pt x="188323" y="1702367"/>
                </a:lnTo>
                <a:lnTo>
                  <a:pt x="137206" y="1208459"/>
                </a:lnTo>
                <a:lnTo>
                  <a:pt x="99990" y="922731"/>
                </a:lnTo>
                <a:lnTo>
                  <a:pt x="0" y="0"/>
                </a:lnTo>
                <a:lnTo>
                  <a:pt x="638055" y="411097"/>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68" name="เขตจตุจักร"/>
          <p:cNvSpPr/>
          <p:nvPr/>
        </p:nvSpPr>
        <p:spPr>
          <a:xfrm>
            <a:off x="10903320" y="2857680"/>
            <a:ext cx="1232640" cy="462240"/>
          </a:xfrm>
          <a:custGeom>
            <a:avLst/>
            <a:gdLst/>
            <a:ahLst/>
            <a:rect l="l" t="t" r="r" b="b"/>
            <a:pathLst>
              <a:path w="1233064" h="462519">
                <a:moveTo>
                  <a:pt x="1233064" y="385104"/>
                </a:moveTo>
                <a:lnTo>
                  <a:pt x="1064919" y="462519"/>
                </a:lnTo>
                <a:lnTo>
                  <a:pt x="0" y="333272"/>
                </a:lnTo>
                <a:lnTo>
                  <a:pt x="119806" y="0"/>
                </a:lnTo>
                <a:lnTo>
                  <a:pt x="1233064" y="0"/>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69" name="เขตจอมทอง"/>
          <p:cNvSpPr/>
          <p:nvPr/>
        </p:nvSpPr>
        <p:spPr>
          <a:xfrm>
            <a:off x="7428240" y="6877080"/>
            <a:ext cx="1277640" cy="1980720"/>
          </a:xfrm>
          <a:custGeom>
            <a:avLst/>
            <a:gdLst/>
            <a:ahLst/>
            <a:rect l="l" t="t" r="r" b="b"/>
            <a:pathLst>
              <a:path w="1277903" h="1981171">
                <a:moveTo>
                  <a:pt x="1253241" y="1505265"/>
                </a:moveTo>
                <a:lnTo>
                  <a:pt x="1277903" y="1775760"/>
                </a:lnTo>
                <a:lnTo>
                  <a:pt x="1113037" y="1981171"/>
                </a:lnTo>
                <a:lnTo>
                  <a:pt x="0" y="1981171"/>
                </a:lnTo>
                <a:lnTo>
                  <a:pt x="0" y="225207"/>
                </a:lnTo>
                <a:lnTo>
                  <a:pt x="5381" y="223874"/>
                </a:lnTo>
                <a:lnTo>
                  <a:pt x="124652" y="0"/>
                </a:lnTo>
                <a:lnTo>
                  <a:pt x="410722" y="91396"/>
                </a:lnTo>
                <a:lnTo>
                  <a:pt x="272171" y="391434"/>
                </a:lnTo>
                <a:lnTo>
                  <a:pt x="761809" y="421899"/>
                </a:lnTo>
                <a:lnTo>
                  <a:pt x="1005732" y="1041361"/>
                </a:lnTo>
                <a:lnTo>
                  <a:pt x="1013354" y="1074596"/>
                </a:lnTo>
                <a:lnTo>
                  <a:pt x="956409" y="1285084"/>
                </a:lnTo>
                <a:lnTo>
                  <a:pt x="1253241" y="1505265"/>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70" name="เขตดินแดง"/>
          <p:cNvSpPr/>
          <p:nvPr/>
        </p:nvSpPr>
        <p:spPr>
          <a:xfrm>
            <a:off x="11160360" y="3242520"/>
            <a:ext cx="975240" cy="1915560"/>
          </a:xfrm>
          <a:custGeom>
            <a:avLst/>
            <a:gdLst/>
            <a:ahLst/>
            <a:rect l="l" t="t" r="r" b="b"/>
            <a:pathLst>
              <a:path w="975690" h="1915953">
                <a:moveTo>
                  <a:pt x="975690" y="1898976"/>
                </a:moveTo>
                <a:lnTo>
                  <a:pt x="966722" y="1915953"/>
                </a:lnTo>
                <a:lnTo>
                  <a:pt x="411171" y="1876256"/>
                </a:lnTo>
                <a:lnTo>
                  <a:pt x="0" y="1562832"/>
                </a:lnTo>
                <a:lnTo>
                  <a:pt x="220606" y="1510210"/>
                </a:lnTo>
                <a:lnTo>
                  <a:pt x="807545" y="77415"/>
                </a:lnTo>
                <a:lnTo>
                  <a:pt x="975690" y="0"/>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71" name="เขตดุสิต"/>
          <p:cNvSpPr/>
          <p:nvPr/>
        </p:nvSpPr>
        <p:spPr>
          <a:xfrm>
            <a:off x="9170280" y="3067920"/>
            <a:ext cx="1732680" cy="2204280"/>
          </a:xfrm>
          <a:custGeom>
            <a:avLst/>
            <a:gdLst/>
            <a:ahLst/>
            <a:rect l="l" t="t" r="r" b="b"/>
            <a:pathLst>
              <a:path w="1733015" h="2204583">
                <a:moveTo>
                  <a:pt x="985554" y="1999635"/>
                </a:moveTo>
                <a:lnTo>
                  <a:pt x="903948" y="2204583"/>
                </a:lnTo>
                <a:lnTo>
                  <a:pt x="832206" y="2182888"/>
                </a:lnTo>
                <a:lnTo>
                  <a:pt x="788713" y="2021330"/>
                </a:lnTo>
                <a:lnTo>
                  <a:pt x="630880" y="1856540"/>
                </a:lnTo>
                <a:lnTo>
                  <a:pt x="597700" y="1823305"/>
                </a:lnTo>
                <a:lnTo>
                  <a:pt x="473945" y="1695904"/>
                </a:lnTo>
                <a:lnTo>
                  <a:pt x="224193" y="1416177"/>
                </a:lnTo>
                <a:lnTo>
                  <a:pt x="0" y="1274467"/>
                </a:lnTo>
                <a:lnTo>
                  <a:pt x="155590" y="889034"/>
                </a:lnTo>
                <a:lnTo>
                  <a:pt x="311629" y="623155"/>
                </a:lnTo>
                <a:lnTo>
                  <a:pt x="414310" y="514218"/>
                </a:lnTo>
                <a:lnTo>
                  <a:pt x="793196" y="0"/>
                </a:lnTo>
                <a:lnTo>
                  <a:pt x="1733015" y="122785"/>
                </a:lnTo>
                <a:lnTo>
                  <a:pt x="1295390" y="1201535"/>
                </a:lnTo>
                <a:lnTo>
                  <a:pt x="985554" y="1999635"/>
                </a:lnTo>
                <a:close/>
              </a:path>
            </a:pathLst>
          </a:custGeom>
          <a:solidFill>
            <a:srgbClr val="d7e9eb"/>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72" name="เขตตลิ่งชัน"/>
          <p:cNvSpPr/>
          <p:nvPr/>
        </p:nvSpPr>
        <p:spPr>
          <a:xfrm>
            <a:off x="7428240" y="3201480"/>
            <a:ext cx="432000" cy="2479680"/>
          </a:xfrm>
          <a:custGeom>
            <a:avLst/>
            <a:gdLst/>
            <a:ahLst/>
            <a:rect l="l" t="t" r="r" b="b"/>
            <a:pathLst>
              <a:path w="432245" h="2480014">
                <a:moveTo>
                  <a:pt x="0" y="0"/>
                </a:moveTo>
                <a:lnTo>
                  <a:pt x="189219" y="16688"/>
                </a:lnTo>
                <a:lnTo>
                  <a:pt x="432245" y="137626"/>
                </a:lnTo>
                <a:lnTo>
                  <a:pt x="432245" y="137626"/>
                </a:lnTo>
                <a:lnTo>
                  <a:pt x="426416" y="151474"/>
                </a:lnTo>
                <a:lnTo>
                  <a:pt x="250648" y="372579"/>
                </a:lnTo>
                <a:lnTo>
                  <a:pt x="250648" y="372579"/>
                </a:lnTo>
                <a:lnTo>
                  <a:pt x="250200" y="390581"/>
                </a:lnTo>
                <a:lnTo>
                  <a:pt x="273516" y="404429"/>
                </a:lnTo>
                <a:lnTo>
                  <a:pt x="274861" y="404429"/>
                </a:lnTo>
                <a:lnTo>
                  <a:pt x="269929" y="485670"/>
                </a:lnTo>
                <a:lnTo>
                  <a:pt x="302661" y="752011"/>
                </a:lnTo>
                <a:lnTo>
                  <a:pt x="332255" y="824020"/>
                </a:lnTo>
                <a:lnTo>
                  <a:pt x="0" y="933044"/>
                </a:lnTo>
                <a:lnTo>
                  <a:pt x="0" y="2212039"/>
                </a:lnTo>
                <a:lnTo>
                  <a:pt x="94161" y="2454377"/>
                </a:lnTo>
                <a:lnTo>
                  <a:pt x="11210" y="2474687"/>
                </a:lnTo>
                <a:lnTo>
                  <a:pt x="0" y="2480014"/>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73" name="เขตธนบุรี"/>
          <p:cNvSpPr/>
          <p:nvPr/>
        </p:nvSpPr>
        <p:spPr>
          <a:xfrm>
            <a:off x="7700400" y="5748120"/>
            <a:ext cx="1461240" cy="2203200"/>
          </a:xfrm>
          <a:custGeom>
            <a:avLst/>
            <a:gdLst/>
            <a:ahLst/>
            <a:rect l="l" t="t" r="r" b="b"/>
            <a:pathLst>
              <a:path w="1461741" h="2203660">
                <a:moveTo>
                  <a:pt x="1461741" y="1717599"/>
                </a:moveTo>
                <a:lnTo>
                  <a:pt x="1075232" y="2190274"/>
                </a:lnTo>
                <a:lnTo>
                  <a:pt x="741184" y="2203660"/>
                </a:lnTo>
                <a:lnTo>
                  <a:pt x="733561" y="2170425"/>
                </a:lnTo>
                <a:lnTo>
                  <a:pt x="489639" y="1550963"/>
                </a:lnTo>
                <a:lnTo>
                  <a:pt x="0" y="1520498"/>
                </a:lnTo>
                <a:lnTo>
                  <a:pt x="138552" y="1220460"/>
                </a:lnTo>
                <a:lnTo>
                  <a:pt x="247510" y="913960"/>
                </a:lnTo>
                <a:lnTo>
                  <a:pt x="560932" y="902420"/>
                </a:lnTo>
                <a:lnTo>
                  <a:pt x="873458" y="682701"/>
                </a:lnTo>
                <a:lnTo>
                  <a:pt x="970309" y="292652"/>
                </a:lnTo>
                <a:lnTo>
                  <a:pt x="1156838" y="0"/>
                </a:lnTo>
                <a:lnTo>
                  <a:pt x="1229029" y="71086"/>
                </a:lnTo>
                <a:lnTo>
                  <a:pt x="1455016" y="155096"/>
                </a:lnTo>
                <a:lnTo>
                  <a:pt x="1345609" y="344351"/>
                </a:lnTo>
                <a:lnTo>
                  <a:pt x="1283283" y="530836"/>
                </a:lnTo>
                <a:lnTo>
                  <a:pt x="1224096" y="709012"/>
                </a:lnTo>
                <a:lnTo>
                  <a:pt x="1206609" y="985969"/>
                </a:lnTo>
                <a:lnTo>
                  <a:pt x="1207954" y="997971"/>
                </a:lnTo>
                <a:lnTo>
                  <a:pt x="1461741" y="1717599"/>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74" name="เขตบางกอกน้อย"/>
          <p:cNvSpPr/>
          <p:nvPr/>
        </p:nvSpPr>
        <p:spPr>
          <a:xfrm>
            <a:off x="7428240" y="3655440"/>
            <a:ext cx="1389600" cy="2055600"/>
          </a:xfrm>
          <a:custGeom>
            <a:avLst/>
            <a:gdLst/>
            <a:ahLst/>
            <a:rect l="l" t="t" r="r" b="b"/>
            <a:pathLst>
              <a:path w="1389999" h="2055949">
                <a:moveTo>
                  <a:pt x="1090925" y="1889313"/>
                </a:moveTo>
                <a:lnTo>
                  <a:pt x="896774" y="1926241"/>
                </a:lnTo>
                <a:lnTo>
                  <a:pt x="471703" y="2055949"/>
                </a:lnTo>
                <a:lnTo>
                  <a:pt x="94161" y="2000096"/>
                </a:lnTo>
                <a:lnTo>
                  <a:pt x="0" y="1757758"/>
                </a:lnTo>
                <a:lnTo>
                  <a:pt x="0" y="478763"/>
                </a:lnTo>
                <a:lnTo>
                  <a:pt x="332255" y="369739"/>
                </a:lnTo>
                <a:lnTo>
                  <a:pt x="302661" y="297730"/>
                </a:lnTo>
                <a:lnTo>
                  <a:pt x="269929" y="31389"/>
                </a:lnTo>
                <a:lnTo>
                  <a:pt x="385613" y="0"/>
                </a:lnTo>
                <a:lnTo>
                  <a:pt x="990487" y="667468"/>
                </a:lnTo>
                <a:lnTo>
                  <a:pt x="1389999" y="1188149"/>
                </a:lnTo>
                <a:lnTo>
                  <a:pt x="1316912" y="1280468"/>
                </a:lnTo>
                <a:lnTo>
                  <a:pt x="1269383" y="1819150"/>
                </a:lnTo>
                <a:lnTo>
                  <a:pt x="1090925" y="1889313"/>
                </a:lnTo>
                <a:close/>
              </a:path>
            </a:pathLst>
          </a:custGeom>
          <a:solidFill>
            <a:srgbClr val="d7e9eb"/>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75" name="เขตบางกอกใหญ่"/>
          <p:cNvSpPr/>
          <p:nvPr/>
        </p:nvSpPr>
        <p:spPr>
          <a:xfrm>
            <a:off x="7522200" y="5474880"/>
            <a:ext cx="1334520" cy="1186920"/>
          </a:xfrm>
          <a:custGeom>
            <a:avLst/>
            <a:gdLst/>
            <a:ahLst/>
            <a:rect l="l" t="t" r="r" b="b"/>
            <a:pathLst>
              <a:path w="1334848" h="1187225">
                <a:moveTo>
                  <a:pt x="1148319" y="565917"/>
                </a:moveTo>
                <a:lnTo>
                  <a:pt x="1051467" y="955966"/>
                </a:lnTo>
                <a:lnTo>
                  <a:pt x="738942" y="1175685"/>
                </a:lnTo>
                <a:lnTo>
                  <a:pt x="425519" y="1187225"/>
                </a:lnTo>
                <a:lnTo>
                  <a:pt x="63671" y="787945"/>
                </a:lnTo>
                <a:lnTo>
                  <a:pt x="0" y="180946"/>
                </a:lnTo>
                <a:lnTo>
                  <a:pt x="377542" y="236799"/>
                </a:lnTo>
                <a:lnTo>
                  <a:pt x="802613" y="107090"/>
                </a:lnTo>
                <a:lnTo>
                  <a:pt x="996764" y="70163"/>
                </a:lnTo>
                <a:lnTo>
                  <a:pt x="1175222" y="0"/>
                </a:lnTo>
                <a:lnTo>
                  <a:pt x="1334848" y="273265"/>
                </a:lnTo>
                <a:lnTo>
                  <a:pt x="1148319" y="565917"/>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76" name="เขตบางคอแหลม"/>
          <p:cNvSpPr/>
          <p:nvPr/>
        </p:nvSpPr>
        <p:spPr>
          <a:xfrm>
            <a:off x="8775720" y="7150320"/>
            <a:ext cx="1855440" cy="1369080"/>
          </a:xfrm>
          <a:custGeom>
            <a:avLst/>
            <a:gdLst/>
            <a:ahLst/>
            <a:rect l="l" t="t" r="r" b="b"/>
            <a:pathLst>
              <a:path w="1855873" h="1369556">
                <a:moveTo>
                  <a:pt x="1103032" y="328195"/>
                </a:moveTo>
                <a:lnTo>
                  <a:pt x="1801619" y="463904"/>
                </a:lnTo>
                <a:lnTo>
                  <a:pt x="1855873" y="599152"/>
                </a:lnTo>
                <a:lnTo>
                  <a:pt x="1236651" y="1369556"/>
                </a:lnTo>
                <a:lnTo>
                  <a:pt x="722351" y="1212613"/>
                </a:lnTo>
                <a:lnTo>
                  <a:pt x="457803" y="1161838"/>
                </a:lnTo>
                <a:lnTo>
                  <a:pt x="0" y="787945"/>
                </a:lnTo>
                <a:lnTo>
                  <a:pt x="386510" y="315270"/>
                </a:lnTo>
                <a:lnTo>
                  <a:pt x="796784" y="0"/>
                </a:lnTo>
                <a:lnTo>
                  <a:pt x="1184190" y="166636"/>
                </a:lnTo>
                <a:lnTo>
                  <a:pt x="1103032" y="328195"/>
                </a:lnTo>
                <a:close/>
              </a:path>
            </a:pathLst>
          </a:custGeom>
          <a:solidFill>
            <a:srgbClr val="d7e9eb"/>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77" name="เขตบางซื่อ"/>
          <p:cNvSpPr/>
          <p:nvPr/>
        </p:nvSpPr>
        <p:spPr>
          <a:xfrm>
            <a:off x="9941040" y="2857680"/>
            <a:ext cx="1081800" cy="333000"/>
          </a:xfrm>
          <a:custGeom>
            <a:avLst/>
            <a:gdLst/>
            <a:ahLst/>
            <a:rect l="l" t="t" r="r" b="b"/>
            <a:pathLst>
              <a:path w="1082045" h="333272">
                <a:moveTo>
                  <a:pt x="1082045" y="0"/>
                </a:moveTo>
                <a:lnTo>
                  <a:pt x="962239" y="333272"/>
                </a:lnTo>
                <a:lnTo>
                  <a:pt x="22420" y="210488"/>
                </a:lnTo>
                <a:lnTo>
                  <a:pt x="0" y="0"/>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78" name="เขตบางพลัด"/>
          <p:cNvSpPr/>
          <p:nvPr/>
        </p:nvSpPr>
        <p:spPr>
          <a:xfrm>
            <a:off x="7698240" y="2857680"/>
            <a:ext cx="2264760" cy="1985760"/>
          </a:xfrm>
          <a:custGeom>
            <a:avLst/>
            <a:gdLst/>
            <a:ahLst/>
            <a:rect l="l" t="t" r="r" b="b"/>
            <a:pathLst>
              <a:path w="2265251" h="1986248">
                <a:moveTo>
                  <a:pt x="1124106" y="1983017"/>
                </a:moveTo>
                <a:lnTo>
                  <a:pt x="1120070" y="1986248"/>
                </a:lnTo>
                <a:lnTo>
                  <a:pt x="720558" y="1465568"/>
                </a:lnTo>
                <a:lnTo>
                  <a:pt x="115684" y="798100"/>
                </a:lnTo>
                <a:lnTo>
                  <a:pt x="0" y="829488"/>
                </a:lnTo>
                <a:lnTo>
                  <a:pt x="4932" y="748247"/>
                </a:lnTo>
                <a:lnTo>
                  <a:pt x="34526" y="743631"/>
                </a:lnTo>
                <a:lnTo>
                  <a:pt x="790955" y="475906"/>
                </a:lnTo>
                <a:lnTo>
                  <a:pt x="1262209" y="310654"/>
                </a:lnTo>
                <a:lnTo>
                  <a:pt x="1680328" y="0"/>
                </a:lnTo>
                <a:lnTo>
                  <a:pt x="2242831" y="0"/>
                </a:lnTo>
                <a:lnTo>
                  <a:pt x="2265251" y="210488"/>
                </a:lnTo>
                <a:lnTo>
                  <a:pt x="1886364" y="724706"/>
                </a:lnTo>
                <a:lnTo>
                  <a:pt x="1783683" y="833643"/>
                </a:lnTo>
                <a:lnTo>
                  <a:pt x="1627644" y="1099522"/>
                </a:lnTo>
                <a:lnTo>
                  <a:pt x="1472054" y="1484955"/>
                </a:lnTo>
                <a:lnTo>
                  <a:pt x="1291803" y="1824228"/>
                </a:lnTo>
                <a:lnTo>
                  <a:pt x="1124106" y="1983017"/>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79" name="เขตบางรัก"/>
          <p:cNvSpPr/>
          <p:nvPr/>
        </p:nvSpPr>
        <p:spPr>
          <a:xfrm>
            <a:off x="9762840" y="5949360"/>
            <a:ext cx="1456560" cy="897480"/>
          </a:xfrm>
          <a:custGeom>
            <a:avLst/>
            <a:gdLst/>
            <a:ahLst/>
            <a:rect l="l" t="t" r="r" b="b"/>
            <a:pathLst>
              <a:path w="1456809" h="897805">
                <a:moveTo>
                  <a:pt x="1112000" y="393742"/>
                </a:moveTo>
                <a:lnTo>
                  <a:pt x="1456809" y="542837"/>
                </a:lnTo>
                <a:lnTo>
                  <a:pt x="815167" y="744555"/>
                </a:lnTo>
                <a:lnTo>
                  <a:pt x="138552" y="897805"/>
                </a:lnTo>
                <a:lnTo>
                  <a:pt x="0" y="860877"/>
                </a:lnTo>
                <a:lnTo>
                  <a:pt x="13900" y="407589"/>
                </a:lnTo>
                <a:lnTo>
                  <a:pt x="142139" y="286651"/>
                </a:lnTo>
                <a:lnTo>
                  <a:pt x="163661" y="0"/>
                </a:lnTo>
                <a:lnTo>
                  <a:pt x="417897" y="100628"/>
                </a:lnTo>
                <a:lnTo>
                  <a:pt x="749703" y="236799"/>
                </a:lnTo>
                <a:lnTo>
                  <a:pt x="967619" y="332811"/>
                </a:lnTo>
                <a:lnTo>
                  <a:pt x="1099445" y="388664"/>
                </a:lnTo>
                <a:lnTo>
                  <a:pt x="1112000" y="393742"/>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80" name="เขตปทุมวัน"/>
          <p:cNvSpPr/>
          <p:nvPr/>
        </p:nvSpPr>
        <p:spPr>
          <a:xfrm>
            <a:off x="9926640" y="5250960"/>
            <a:ext cx="1671120" cy="1402920"/>
          </a:xfrm>
          <a:custGeom>
            <a:avLst/>
            <a:gdLst/>
            <a:ahLst/>
            <a:rect l="l" t="t" r="r" b="b"/>
            <a:pathLst>
              <a:path w="1671586" h="1403252">
                <a:moveTo>
                  <a:pt x="1545590" y="222951"/>
                </a:moveTo>
                <a:lnTo>
                  <a:pt x="1571596" y="480522"/>
                </a:lnTo>
                <a:lnTo>
                  <a:pt x="1671586" y="1403252"/>
                </a:lnTo>
                <a:lnTo>
                  <a:pt x="1293148" y="1241232"/>
                </a:lnTo>
                <a:lnTo>
                  <a:pt x="948338" y="1092136"/>
                </a:lnTo>
                <a:lnTo>
                  <a:pt x="935783" y="1087059"/>
                </a:lnTo>
                <a:lnTo>
                  <a:pt x="803958" y="1031206"/>
                </a:lnTo>
                <a:lnTo>
                  <a:pt x="586042" y="935194"/>
                </a:lnTo>
                <a:lnTo>
                  <a:pt x="254235" y="799023"/>
                </a:lnTo>
                <a:lnTo>
                  <a:pt x="0" y="698395"/>
                </a:lnTo>
                <a:lnTo>
                  <a:pt x="27800" y="349428"/>
                </a:lnTo>
                <a:lnTo>
                  <a:pt x="52910" y="188331"/>
                </a:lnTo>
                <a:lnTo>
                  <a:pt x="75777" y="0"/>
                </a:lnTo>
                <a:lnTo>
                  <a:pt x="147519" y="21695"/>
                </a:lnTo>
                <a:lnTo>
                  <a:pt x="427761" y="179099"/>
                </a:lnTo>
                <a:lnTo>
                  <a:pt x="695896" y="180022"/>
                </a:lnTo>
                <a:lnTo>
                  <a:pt x="1134867" y="172637"/>
                </a:lnTo>
                <a:lnTo>
                  <a:pt x="1545590" y="222951"/>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81" name="เขตป้อมปราบศัตรูพ่าย"/>
          <p:cNvSpPr/>
          <p:nvPr/>
        </p:nvSpPr>
        <p:spPr>
          <a:xfrm>
            <a:off x="9397800" y="4763880"/>
            <a:ext cx="604080" cy="1185120"/>
          </a:xfrm>
          <a:custGeom>
            <a:avLst/>
            <a:gdLst/>
            <a:ahLst/>
            <a:rect l="l" t="t" r="r" b="b"/>
            <a:pathLst>
              <a:path w="604426" h="1185379">
                <a:moveTo>
                  <a:pt x="528648" y="1185379"/>
                </a:moveTo>
                <a:lnTo>
                  <a:pt x="374851" y="1071365"/>
                </a:lnTo>
                <a:lnTo>
                  <a:pt x="80710" y="833643"/>
                </a:lnTo>
                <a:lnTo>
                  <a:pt x="0" y="779636"/>
                </a:lnTo>
                <a:lnTo>
                  <a:pt x="9865" y="736707"/>
                </a:lnTo>
                <a:lnTo>
                  <a:pt x="75777" y="456980"/>
                </a:lnTo>
                <a:lnTo>
                  <a:pt x="81158" y="344812"/>
                </a:lnTo>
                <a:lnTo>
                  <a:pt x="91471" y="338812"/>
                </a:lnTo>
                <a:lnTo>
                  <a:pt x="168593" y="171252"/>
                </a:lnTo>
                <a:lnTo>
                  <a:pt x="246164" y="0"/>
                </a:lnTo>
                <a:lnTo>
                  <a:pt x="369919" y="127401"/>
                </a:lnTo>
                <a:lnTo>
                  <a:pt x="403100" y="160635"/>
                </a:lnTo>
                <a:lnTo>
                  <a:pt x="560932" y="325425"/>
                </a:lnTo>
                <a:lnTo>
                  <a:pt x="604426" y="486984"/>
                </a:lnTo>
                <a:lnTo>
                  <a:pt x="581558" y="675315"/>
                </a:lnTo>
                <a:lnTo>
                  <a:pt x="556448" y="836412"/>
                </a:lnTo>
                <a:lnTo>
                  <a:pt x="528648" y="1185379"/>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82" name="เขตพญาไท"/>
          <p:cNvSpPr/>
          <p:nvPr/>
        </p:nvSpPr>
        <p:spPr>
          <a:xfrm>
            <a:off x="10465560" y="3190680"/>
            <a:ext cx="1502280" cy="1614240"/>
          </a:xfrm>
          <a:custGeom>
            <a:avLst/>
            <a:gdLst/>
            <a:ahLst/>
            <a:rect l="l" t="t" r="r" b="b"/>
            <a:pathLst>
              <a:path w="1502545" h="1614663">
                <a:moveTo>
                  <a:pt x="1502545" y="129247"/>
                </a:moveTo>
                <a:lnTo>
                  <a:pt x="915606" y="1562041"/>
                </a:lnTo>
                <a:lnTo>
                  <a:pt x="695000" y="1614663"/>
                </a:lnTo>
                <a:lnTo>
                  <a:pt x="501297" y="1466029"/>
                </a:lnTo>
                <a:lnTo>
                  <a:pt x="0" y="1078750"/>
                </a:lnTo>
                <a:lnTo>
                  <a:pt x="437626" y="0"/>
                </a:lnTo>
                <a:lnTo>
                  <a:pt x="1502545" y="129247"/>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83" name="เขตพระนคร"/>
          <p:cNvSpPr/>
          <p:nvPr/>
        </p:nvSpPr>
        <p:spPr>
          <a:xfrm>
            <a:off x="8697600" y="4342320"/>
            <a:ext cx="946080" cy="1576800"/>
          </a:xfrm>
          <a:custGeom>
            <a:avLst/>
            <a:gdLst/>
            <a:ahLst/>
            <a:rect l="l" t="t" r="r" b="b"/>
            <a:pathLst>
              <a:path w="946545" h="1577274">
                <a:moveTo>
                  <a:pt x="518784" y="1577274"/>
                </a:moveTo>
                <a:lnTo>
                  <a:pt x="457803" y="1560657"/>
                </a:lnTo>
                <a:lnTo>
                  <a:pt x="231816" y="1476646"/>
                </a:lnTo>
                <a:lnTo>
                  <a:pt x="159626" y="1405560"/>
                </a:lnTo>
                <a:lnTo>
                  <a:pt x="0" y="1132295"/>
                </a:lnTo>
                <a:lnTo>
                  <a:pt x="47529" y="593613"/>
                </a:lnTo>
                <a:lnTo>
                  <a:pt x="120616" y="501293"/>
                </a:lnTo>
                <a:lnTo>
                  <a:pt x="124652" y="498062"/>
                </a:lnTo>
                <a:lnTo>
                  <a:pt x="292348" y="339273"/>
                </a:lnTo>
                <a:lnTo>
                  <a:pt x="472600" y="0"/>
                </a:lnTo>
                <a:lnTo>
                  <a:pt x="696793" y="141710"/>
                </a:lnTo>
                <a:lnTo>
                  <a:pt x="946545" y="421437"/>
                </a:lnTo>
                <a:lnTo>
                  <a:pt x="868974" y="592689"/>
                </a:lnTo>
                <a:lnTo>
                  <a:pt x="791851" y="760249"/>
                </a:lnTo>
                <a:lnTo>
                  <a:pt x="781538" y="766250"/>
                </a:lnTo>
                <a:lnTo>
                  <a:pt x="776158" y="878417"/>
                </a:lnTo>
                <a:lnTo>
                  <a:pt x="710245" y="1158145"/>
                </a:lnTo>
                <a:lnTo>
                  <a:pt x="700380" y="1201073"/>
                </a:lnTo>
                <a:lnTo>
                  <a:pt x="668096" y="1293854"/>
                </a:lnTo>
                <a:lnTo>
                  <a:pt x="518784" y="1577274"/>
                </a:lnTo>
                <a:close/>
              </a:path>
            </a:pathLst>
          </a:custGeom>
          <a:solidFill>
            <a:srgbClr val="d7e9eb"/>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84" name="เขตภาษีเจริญ"/>
          <p:cNvSpPr/>
          <p:nvPr/>
        </p:nvSpPr>
        <p:spPr>
          <a:xfrm>
            <a:off x="7428240" y="5655600"/>
            <a:ext cx="519480" cy="1446120"/>
          </a:xfrm>
          <a:custGeom>
            <a:avLst/>
            <a:gdLst/>
            <a:ahLst/>
            <a:rect l="l" t="t" r="r" b="b"/>
            <a:pathLst>
              <a:path w="519680" h="1446590">
                <a:moveTo>
                  <a:pt x="5381" y="1445258"/>
                </a:moveTo>
                <a:lnTo>
                  <a:pt x="0" y="1446590"/>
                </a:lnTo>
                <a:lnTo>
                  <a:pt x="0" y="25636"/>
                </a:lnTo>
                <a:lnTo>
                  <a:pt x="11210" y="20310"/>
                </a:lnTo>
                <a:lnTo>
                  <a:pt x="94161" y="0"/>
                </a:lnTo>
                <a:lnTo>
                  <a:pt x="157832" y="606999"/>
                </a:lnTo>
                <a:lnTo>
                  <a:pt x="519680" y="1006280"/>
                </a:lnTo>
                <a:lnTo>
                  <a:pt x="410722" y="1312779"/>
                </a:lnTo>
                <a:lnTo>
                  <a:pt x="124652" y="1221383"/>
                </a:lnTo>
                <a:lnTo>
                  <a:pt x="5381" y="1445258"/>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85" name="เขตยานนาวา"/>
          <p:cNvSpPr/>
          <p:nvPr/>
        </p:nvSpPr>
        <p:spPr>
          <a:xfrm>
            <a:off x="10012320" y="6814800"/>
            <a:ext cx="1674000" cy="2043000"/>
          </a:xfrm>
          <a:custGeom>
            <a:avLst/>
            <a:gdLst/>
            <a:ahLst/>
            <a:rect l="l" t="t" r="r" b="b"/>
            <a:pathLst>
              <a:path w="1674277" h="2043486">
                <a:moveTo>
                  <a:pt x="396665" y="2043486"/>
                </a:moveTo>
                <a:lnTo>
                  <a:pt x="196842" y="1855155"/>
                </a:lnTo>
                <a:lnTo>
                  <a:pt x="178906" y="1835306"/>
                </a:lnTo>
                <a:lnTo>
                  <a:pt x="164558" y="1825151"/>
                </a:lnTo>
                <a:lnTo>
                  <a:pt x="0" y="1705136"/>
                </a:lnTo>
                <a:lnTo>
                  <a:pt x="619222" y="934732"/>
                </a:lnTo>
                <a:lnTo>
                  <a:pt x="564968" y="799485"/>
                </a:lnTo>
                <a:lnTo>
                  <a:pt x="496813" y="615769"/>
                </a:lnTo>
                <a:lnTo>
                  <a:pt x="890048" y="561763"/>
                </a:lnTo>
                <a:lnTo>
                  <a:pt x="1171635" y="564532"/>
                </a:lnTo>
                <a:lnTo>
                  <a:pt x="1085096" y="398819"/>
                </a:lnTo>
                <a:lnTo>
                  <a:pt x="1409728" y="0"/>
                </a:lnTo>
                <a:lnTo>
                  <a:pt x="1623161" y="125093"/>
                </a:lnTo>
                <a:lnTo>
                  <a:pt x="1674277" y="619000"/>
                </a:lnTo>
                <a:lnTo>
                  <a:pt x="1642890" y="636541"/>
                </a:lnTo>
                <a:lnTo>
                  <a:pt x="1504786" y="805947"/>
                </a:lnTo>
                <a:lnTo>
                  <a:pt x="1504786" y="805947"/>
                </a:lnTo>
                <a:lnTo>
                  <a:pt x="1495819" y="855799"/>
                </a:lnTo>
                <a:lnTo>
                  <a:pt x="1495819" y="855799"/>
                </a:lnTo>
                <a:lnTo>
                  <a:pt x="1484161" y="907960"/>
                </a:lnTo>
                <a:lnTo>
                  <a:pt x="1484161" y="907960"/>
                </a:lnTo>
                <a:lnTo>
                  <a:pt x="1485954" y="973045"/>
                </a:lnTo>
                <a:lnTo>
                  <a:pt x="1485954" y="973045"/>
                </a:lnTo>
                <a:lnTo>
                  <a:pt x="1486851" y="1020128"/>
                </a:lnTo>
                <a:lnTo>
                  <a:pt x="1486851" y="1020128"/>
                </a:lnTo>
                <a:lnTo>
                  <a:pt x="1498061" y="1077365"/>
                </a:lnTo>
                <a:lnTo>
                  <a:pt x="1551419" y="1276775"/>
                </a:lnTo>
                <a:lnTo>
                  <a:pt x="1551419" y="1276775"/>
                </a:lnTo>
                <a:lnTo>
                  <a:pt x="1557696" y="1315087"/>
                </a:lnTo>
                <a:lnTo>
                  <a:pt x="1557696" y="1315087"/>
                </a:lnTo>
                <a:lnTo>
                  <a:pt x="1559938" y="1358477"/>
                </a:lnTo>
                <a:lnTo>
                  <a:pt x="1559938" y="1358477"/>
                </a:lnTo>
                <a:lnTo>
                  <a:pt x="1564870" y="1396328"/>
                </a:lnTo>
                <a:lnTo>
                  <a:pt x="1564870" y="1396328"/>
                </a:lnTo>
                <a:lnTo>
                  <a:pt x="1565767" y="1411561"/>
                </a:lnTo>
                <a:lnTo>
                  <a:pt x="1568457" y="1447104"/>
                </a:lnTo>
                <a:lnTo>
                  <a:pt x="1568457" y="1447104"/>
                </a:lnTo>
                <a:lnTo>
                  <a:pt x="1568457" y="1490956"/>
                </a:lnTo>
                <a:lnTo>
                  <a:pt x="1568457" y="1490956"/>
                </a:lnTo>
                <a:lnTo>
                  <a:pt x="1566215" y="1538038"/>
                </a:lnTo>
                <a:lnTo>
                  <a:pt x="1566215" y="1538038"/>
                </a:lnTo>
                <a:lnTo>
                  <a:pt x="1556351" y="1587429"/>
                </a:lnTo>
                <a:lnTo>
                  <a:pt x="1556351" y="1587429"/>
                </a:lnTo>
                <a:lnTo>
                  <a:pt x="1540209" y="1641436"/>
                </a:lnTo>
                <a:lnTo>
                  <a:pt x="1540209" y="1641436"/>
                </a:lnTo>
                <a:lnTo>
                  <a:pt x="1536174" y="1674209"/>
                </a:lnTo>
                <a:lnTo>
                  <a:pt x="1536174" y="1674209"/>
                </a:lnTo>
                <a:lnTo>
                  <a:pt x="1531690" y="1707906"/>
                </a:lnTo>
                <a:lnTo>
                  <a:pt x="1531690" y="1707906"/>
                </a:lnTo>
                <a:lnTo>
                  <a:pt x="1527654" y="1750834"/>
                </a:lnTo>
                <a:lnTo>
                  <a:pt x="1527654" y="1750834"/>
                </a:lnTo>
                <a:lnTo>
                  <a:pt x="1521825" y="1784992"/>
                </a:lnTo>
                <a:lnTo>
                  <a:pt x="1521825" y="1784992"/>
                </a:lnTo>
                <a:lnTo>
                  <a:pt x="1511064" y="1835306"/>
                </a:lnTo>
                <a:lnTo>
                  <a:pt x="1511064" y="1835306"/>
                </a:lnTo>
                <a:lnTo>
                  <a:pt x="1501199" y="1875004"/>
                </a:lnTo>
                <a:lnTo>
                  <a:pt x="1447841" y="2004712"/>
                </a:lnTo>
                <a:lnTo>
                  <a:pt x="1416603" y="2043486"/>
                </a:lnTo>
                <a:close/>
              </a:path>
            </a:pathLst>
          </a:custGeom>
          <a:solidFill>
            <a:srgbClr val="d7e9eb"/>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86" name="เขตราชเทวี"/>
          <p:cNvSpPr/>
          <p:nvPr/>
        </p:nvSpPr>
        <p:spPr>
          <a:xfrm>
            <a:off x="10074240" y="4269600"/>
            <a:ext cx="2052720" cy="1227600"/>
          </a:xfrm>
          <a:custGeom>
            <a:avLst/>
            <a:gdLst/>
            <a:ahLst/>
            <a:rect l="l" t="t" r="r" b="b"/>
            <a:pathLst>
              <a:path w="2053164" h="1227846">
                <a:moveTo>
                  <a:pt x="987348" y="1153990"/>
                </a:moveTo>
                <a:lnTo>
                  <a:pt x="548377" y="1161376"/>
                </a:lnTo>
                <a:lnTo>
                  <a:pt x="280242" y="1160453"/>
                </a:lnTo>
                <a:lnTo>
                  <a:pt x="0" y="1003048"/>
                </a:lnTo>
                <a:lnTo>
                  <a:pt x="81606" y="798100"/>
                </a:lnTo>
                <a:lnTo>
                  <a:pt x="391442" y="0"/>
                </a:lnTo>
                <a:lnTo>
                  <a:pt x="892738" y="387279"/>
                </a:lnTo>
                <a:lnTo>
                  <a:pt x="1086441" y="535913"/>
                </a:lnTo>
                <a:lnTo>
                  <a:pt x="1497612" y="849337"/>
                </a:lnTo>
                <a:lnTo>
                  <a:pt x="2053164" y="889034"/>
                </a:lnTo>
                <a:lnTo>
                  <a:pt x="1979628" y="1227846"/>
                </a:lnTo>
                <a:lnTo>
                  <a:pt x="1398070" y="1204304"/>
                </a:lnTo>
                <a:lnTo>
                  <a:pt x="987348" y="1153990"/>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87" name="เขตราษฎร์บูรณะ"/>
          <p:cNvSpPr/>
          <p:nvPr/>
        </p:nvSpPr>
        <p:spPr>
          <a:xfrm>
            <a:off x="8384400" y="7938360"/>
            <a:ext cx="1791720" cy="919440"/>
          </a:xfrm>
          <a:custGeom>
            <a:avLst/>
            <a:gdLst/>
            <a:ahLst/>
            <a:rect l="l" t="t" r="r" b="b"/>
            <a:pathLst>
              <a:path w="1792202" h="919961">
                <a:moveTo>
                  <a:pt x="156628" y="919961"/>
                </a:moveTo>
                <a:lnTo>
                  <a:pt x="321493" y="714551"/>
                </a:lnTo>
                <a:lnTo>
                  <a:pt x="296832" y="444056"/>
                </a:lnTo>
                <a:lnTo>
                  <a:pt x="0" y="223874"/>
                </a:lnTo>
                <a:lnTo>
                  <a:pt x="56945" y="13386"/>
                </a:lnTo>
                <a:lnTo>
                  <a:pt x="390993" y="0"/>
                </a:lnTo>
                <a:lnTo>
                  <a:pt x="848796" y="373893"/>
                </a:lnTo>
                <a:lnTo>
                  <a:pt x="1113345" y="424668"/>
                </a:lnTo>
                <a:lnTo>
                  <a:pt x="1627644" y="581611"/>
                </a:lnTo>
                <a:lnTo>
                  <a:pt x="1792202" y="701626"/>
                </a:lnTo>
                <a:lnTo>
                  <a:pt x="1792202" y="701626"/>
                </a:lnTo>
                <a:lnTo>
                  <a:pt x="1792202" y="703934"/>
                </a:lnTo>
                <a:lnTo>
                  <a:pt x="1792202" y="703934"/>
                </a:lnTo>
                <a:lnTo>
                  <a:pt x="1789064" y="721013"/>
                </a:lnTo>
                <a:lnTo>
                  <a:pt x="1669190" y="919961"/>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88" name="เขตวัฒนา"/>
          <p:cNvSpPr/>
          <p:nvPr/>
        </p:nvSpPr>
        <p:spPr>
          <a:xfrm>
            <a:off x="11472120" y="5473800"/>
            <a:ext cx="663840" cy="668160"/>
          </a:xfrm>
          <a:custGeom>
            <a:avLst/>
            <a:gdLst/>
            <a:ahLst/>
            <a:rect l="l" t="t" r="r" b="b"/>
            <a:pathLst>
              <a:path w="664061" h="668667">
                <a:moveTo>
                  <a:pt x="664061" y="668667"/>
                </a:moveTo>
                <a:lnTo>
                  <a:pt x="26006" y="257571"/>
                </a:lnTo>
                <a:lnTo>
                  <a:pt x="0" y="0"/>
                </a:lnTo>
                <a:lnTo>
                  <a:pt x="581558" y="23541"/>
                </a:lnTo>
                <a:lnTo>
                  <a:pt x="664061" y="38752"/>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89" name="เขตสัมพันธวงศ์"/>
          <p:cNvSpPr/>
          <p:nvPr/>
        </p:nvSpPr>
        <p:spPr>
          <a:xfrm>
            <a:off x="9216360" y="5543640"/>
            <a:ext cx="709920" cy="812880"/>
          </a:xfrm>
          <a:custGeom>
            <a:avLst/>
            <a:gdLst/>
            <a:ahLst/>
            <a:rect l="l" t="t" r="r" b="b"/>
            <a:pathLst>
              <a:path w="710245" h="813332">
                <a:moveTo>
                  <a:pt x="688722" y="692394"/>
                </a:moveTo>
                <a:lnTo>
                  <a:pt x="560484" y="813332"/>
                </a:lnTo>
                <a:lnTo>
                  <a:pt x="540306" y="735323"/>
                </a:lnTo>
                <a:lnTo>
                  <a:pt x="420587" y="527604"/>
                </a:lnTo>
                <a:lnTo>
                  <a:pt x="298177" y="451441"/>
                </a:lnTo>
                <a:lnTo>
                  <a:pt x="0" y="376201"/>
                </a:lnTo>
                <a:lnTo>
                  <a:pt x="149313" y="92781"/>
                </a:lnTo>
                <a:lnTo>
                  <a:pt x="181597" y="0"/>
                </a:lnTo>
                <a:lnTo>
                  <a:pt x="262306" y="54007"/>
                </a:lnTo>
                <a:lnTo>
                  <a:pt x="556448" y="291729"/>
                </a:lnTo>
                <a:lnTo>
                  <a:pt x="710245" y="405743"/>
                </a:lnTo>
                <a:lnTo>
                  <a:pt x="688722" y="692394"/>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90" name="เขตสาทร"/>
          <p:cNvSpPr/>
          <p:nvPr/>
        </p:nvSpPr>
        <p:spPr>
          <a:xfrm>
            <a:off x="9572400" y="6492240"/>
            <a:ext cx="2062800" cy="1121760"/>
          </a:xfrm>
          <a:custGeom>
            <a:avLst/>
            <a:gdLst/>
            <a:ahLst/>
            <a:rect l="l" t="t" r="r" b="b"/>
            <a:pathLst>
              <a:path w="2063028" h="1122140">
                <a:moveTo>
                  <a:pt x="1329916" y="884418"/>
                </a:moveTo>
                <a:lnTo>
                  <a:pt x="936680" y="938425"/>
                </a:lnTo>
                <a:lnTo>
                  <a:pt x="1004835" y="1122140"/>
                </a:lnTo>
                <a:lnTo>
                  <a:pt x="306248" y="986431"/>
                </a:lnTo>
                <a:lnTo>
                  <a:pt x="387406" y="824872"/>
                </a:lnTo>
                <a:lnTo>
                  <a:pt x="0" y="658236"/>
                </a:lnTo>
                <a:lnTo>
                  <a:pt x="190564" y="318040"/>
                </a:lnTo>
                <a:lnTo>
                  <a:pt x="329116" y="354967"/>
                </a:lnTo>
                <a:lnTo>
                  <a:pt x="1005732" y="201718"/>
                </a:lnTo>
                <a:lnTo>
                  <a:pt x="1647373" y="0"/>
                </a:lnTo>
                <a:lnTo>
                  <a:pt x="2025812" y="162020"/>
                </a:lnTo>
                <a:lnTo>
                  <a:pt x="2063028" y="447748"/>
                </a:lnTo>
                <a:lnTo>
                  <a:pt x="1849596" y="322656"/>
                </a:lnTo>
                <a:lnTo>
                  <a:pt x="1524964" y="721475"/>
                </a:lnTo>
                <a:lnTo>
                  <a:pt x="1611503" y="887188"/>
                </a:lnTo>
                <a:lnTo>
                  <a:pt x="1329916" y="884418"/>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91" name="เขตห้วยขวาง"/>
          <p:cNvSpPr/>
          <p:nvPr/>
        </p:nvSpPr>
        <p:spPr>
          <a:xfrm>
            <a:off x="12053880" y="5141520"/>
            <a:ext cx="82080" cy="370800"/>
          </a:xfrm>
          <a:custGeom>
            <a:avLst/>
            <a:gdLst/>
            <a:ahLst/>
            <a:rect l="l" t="t" r="r" b="b"/>
            <a:pathLst>
              <a:path w="82503" h="370999">
                <a:moveTo>
                  <a:pt x="82503" y="370999"/>
                </a:moveTo>
                <a:lnTo>
                  <a:pt x="0" y="355789"/>
                </a:lnTo>
                <a:lnTo>
                  <a:pt x="73535" y="16977"/>
                </a:lnTo>
                <a:lnTo>
                  <a:pt x="82503" y="0"/>
                </a:lnTo>
                <a:close/>
              </a:path>
            </a:pathLst>
          </a:custGeom>
          <a:solidFill>
            <a:srgbClr val="e8eef1"/>
          </a:solidFill>
          <a:ln w="9525">
            <a:solidFill>
              <a:srgbClr val="beccd5"/>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92" name="Oval 32"/>
          <p:cNvSpPr/>
          <p:nvPr/>
        </p:nvSpPr>
        <p:spPr>
          <a:xfrm>
            <a:off x="8105400" y="5267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93" name="Oval 33"/>
          <p:cNvSpPr/>
          <p:nvPr/>
        </p:nvSpPr>
        <p:spPr>
          <a:xfrm>
            <a:off x="8286840" y="5131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94" name="Oval 34"/>
          <p:cNvSpPr/>
          <p:nvPr/>
        </p:nvSpPr>
        <p:spPr>
          <a:xfrm>
            <a:off x="8040600" y="5072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95" name="Oval 35"/>
          <p:cNvSpPr/>
          <p:nvPr/>
        </p:nvSpPr>
        <p:spPr>
          <a:xfrm>
            <a:off x="8846640" y="7051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96" name="Oval 36"/>
          <p:cNvSpPr/>
          <p:nvPr/>
        </p:nvSpPr>
        <p:spPr>
          <a:xfrm>
            <a:off x="8412840" y="7079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97" name="Oval 37"/>
          <p:cNvSpPr/>
          <p:nvPr/>
        </p:nvSpPr>
        <p:spPr>
          <a:xfrm>
            <a:off x="8517240" y="5128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98" name="Oval 38"/>
          <p:cNvSpPr/>
          <p:nvPr/>
        </p:nvSpPr>
        <p:spPr>
          <a:xfrm>
            <a:off x="8550000" y="5520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099" name="Oval 39"/>
          <p:cNvSpPr/>
          <p:nvPr/>
        </p:nvSpPr>
        <p:spPr>
          <a:xfrm>
            <a:off x="8478000" y="5553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00" name="Oval 40"/>
          <p:cNvSpPr/>
          <p:nvPr/>
        </p:nvSpPr>
        <p:spPr>
          <a:xfrm>
            <a:off x="10644480" y="6500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01" name="Oval 41"/>
          <p:cNvSpPr/>
          <p:nvPr/>
        </p:nvSpPr>
        <p:spPr>
          <a:xfrm>
            <a:off x="8371800" y="6811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02" name="Oval 42"/>
          <p:cNvSpPr/>
          <p:nvPr/>
        </p:nvSpPr>
        <p:spPr>
          <a:xfrm>
            <a:off x="9487080" y="6094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03" name="Oval 43"/>
          <p:cNvSpPr/>
          <p:nvPr/>
        </p:nvSpPr>
        <p:spPr>
          <a:xfrm>
            <a:off x="9538200" y="6074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04" name="Oval 44"/>
          <p:cNvSpPr/>
          <p:nvPr/>
        </p:nvSpPr>
        <p:spPr>
          <a:xfrm>
            <a:off x="9435960" y="6162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05" name="Oval 45"/>
          <p:cNvSpPr/>
          <p:nvPr/>
        </p:nvSpPr>
        <p:spPr>
          <a:xfrm>
            <a:off x="9358200" y="6248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06" name="Oval 46"/>
          <p:cNvSpPr/>
          <p:nvPr/>
        </p:nvSpPr>
        <p:spPr>
          <a:xfrm>
            <a:off x="9385560" y="6312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07" name="Oval 47"/>
          <p:cNvSpPr/>
          <p:nvPr/>
        </p:nvSpPr>
        <p:spPr>
          <a:xfrm>
            <a:off x="9543960" y="6186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08" name="Oval 48"/>
          <p:cNvSpPr/>
          <p:nvPr/>
        </p:nvSpPr>
        <p:spPr>
          <a:xfrm>
            <a:off x="8941320" y="6653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09" name="Oval 49"/>
          <p:cNvSpPr/>
          <p:nvPr/>
        </p:nvSpPr>
        <p:spPr>
          <a:xfrm>
            <a:off x="9654120" y="6510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10" name="Oval 50"/>
          <p:cNvSpPr/>
          <p:nvPr/>
        </p:nvSpPr>
        <p:spPr>
          <a:xfrm>
            <a:off x="9653760" y="6585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11" name="Oval 51"/>
          <p:cNvSpPr/>
          <p:nvPr/>
        </p:nvSpPr>
        <p:spPr>
          <a:xfrm>
            <a:off x="9505080" y="6399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12" name="Oval 52"/>
          <p:cNvSpPr/>
          <p:nvPr/>
        </p:nvSpPr>
        <p:spPr>
          <a:xfrm>
            <a:off x="9553680" y="6488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13" name="Oval 53"/>
          <p:cNvSpPr/>
          <p:nvPr/>
        </p:nvSpPr>
        <p:spPr>
          <a:xfrm>
            <a:off x="9544320" y="6990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14" name="Oval 54"/>
          <p:cNvSpPr/>
          <p:nvPr/>
        </p:nvSpPr>
        <p:spPr>
          <a:xfrm>
            <a:off x="9339120" y="6612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15" name="Oval 55"/>
          <p:cNvSpPr/>
          <p:nvPr/>
        </p:nvSpPr>
        <p:spPr>
          <a:xfrm>
            <a:off x="8936280" y="7126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16" name="Oval 56"/>
          <p:cNvSpPr/>
          <p:nvPr/>
        </p:nvSpPr>
        <p:spPr>
          <a:xfrm>
            <a:off x="8617680" y="5669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17" name="Oval 57"/>
          <p:cNvSpPr/>
          <p:nvPr/>
        </p:nvSpPr>
        <p:spPr>
          <a:xfrm>
            <a:off x="9274320" y="7023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18" name="Oval 58"/>
          <p:cNvSpPr/>
          <p:nvPr/>
        </p:nvSpPr>
        <p:spPr>
          <a:xfrm>
            <a:off x="8972280" y="6919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19" name="Oval 59"/>
          <p:cNvSpPr/>
          <p:nvPr/>
        </p:nvSpPr>
        <p:spPr>
          <a:xfrm>
            <a:off x="9034560" y="6859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20" name="Oval 60"/>
          <p:cNvSpPr/>
          <p:nvPr/>
        </p:nvSpPr>
        <p:spPr>
          <a:xfrm>
            <a:off x="8929080" y="6783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21" name="Oval 61"/>
          <p:cNvSpPr/>
          <p:nvPr/>
        </p:nvSpPr>
        <p:spPr>
          <a:xfrm>
            <a:off x="9240480" y="6569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22" name="Oval 62"/>
          <p:cNvSpPr/>
          <p:nvPr/>
        </p:nvSpPr>
        <p:spPr>
          <a:xfrm>
            <a:off x="9262080" y="6470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23" name="Oval 63"/>
          <p:cNvSpPr/>
          <p:nvPr/>
        </p:nvSpPr>
        <p:spPr>
          <a:xfrm>
            <a:off x="9043200" y="6593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24" name="Oval 64"/>
          <p:cNvSpPr/>
          <p:nvPr/>
        </p:nvSpPr>
        <p:spPr>
          <a:xfrm>
            <a:off x="9067680" y="6630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25" name="Oval 65"/>
          <p:cNvSpPr/>
          <p:nvPr/>
        </p:nvSpPr>
        <p:spPr>
          <a:xfrm>
            <a:off x="9105120" y="7110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26" name="Oval 66"/>
          <p:cNvSpPr/>
          <p:nvPr/>
        </p:nvSpPr>
        <p:spPr>
          <a:xfrm>
            <a:off x="9395640" y="6403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27" name="Oval 67"/>
          <p:cNvSpPr/>
          <p:nvPr/>
        </p:nvSpPr>
        <p:spPr>
          <a:xfrm>
            <a:off x="8646480" y="7852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28" name="Oval 68"/>
          <p:cNvSpPr/>
          <p:nvPr/>
        </p:nvSpPr>
        <p:spPr>
          <a:xfrm>
            <a:off x="8571960" y="7761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29" name="Oval 69"/>
          <p:cNvSpPr/>
          <p:nvPr/>
        </p:nvSpPr>
        <p:spPr>
          <a:xfrm>
            <a:off x="8489880" y="5746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30" name="Oval 70"/>
          <p:cNvSpPr/>
          <p:nvPr/>
        </p:nvSpPr>
        <p:spPr>
          <a:xfrm>
            <a:off x="8612280" y="7571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31" name="Oval 71"/>
          <p:cNvSpPr/>
          <p:nvPr/>
        </p:nvSpPr>
        <p:spPr>
          <a:xfrm>
            <a:off x="8361720" y="7706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32" name="Oval 72"/>
          <p:cNvSpPr/>
          <p:nvPr/>
        </p:nvSpPr>
        <p:spPr>
          <a:xfrm>
            <a:off x="8629200" y="5810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33" name="Oval 73"/>
          <p:cNvSpPr/>
          <p:nvPr/>
        </p:nvSpPr>
        <p:spPr>
          <a:xfrm>
            <a:off x="10260000" y="5378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34" name="Oval 74"/>
          <p:cNvSpPr/>
          <p:nvPr/>
        </p:nvSpPr>
        <p:spPr>
          <a:xfrm>
            <a:off x="8459280" y="7455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35" name="Oval 75"/>
          <p:cNvSpPr/>
          <p:nvPr/>
        </p:nvSpPr>
        <p:spPr>
          <a:xfrm>
            <a:off x="8807400" y="7521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36" name="Oval 76"/>
          <p:cNvSpPr/>
          <p:nvPr/>
        </p:nvSpPr>
        <p:spPr>
          <a:xfrm>
            <a:off x="8862480" y="7182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37" name="Oval 77"/>
          <p:cNvSpPr/>
          <p:nvPr/>
        </p:nvSpPr>
        <p:spPr>
          <a:xfrm>
            <a:off x="10020600" y="5417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38" name="Oval 78"/>
          <p:cNvSpPr/>
          <p:nvPr/>
        </p:nvSpPr>
        <p:spPr>
          <a:xfrm>
            <a:off x="10009080" y="5819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39" name="Oval 79"/>
          <p:cNvSpPr/>
          <p:nvPr/>
        </p:nvSpPr>
        <p:spPr>
          <a:xfrm>
            <a:off x="8408160" y="6944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40" name="Oval 80"/>
          <p:cNvSpPr/>
          <p:nvPr/>
        </p:nvSpPr>
        <p:spPr>
          <a:xfrm>
            <a:off x="10873440" y="5411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41" name="Oval 81"/>
          <p:cNvSpPr/>
          <p:nvPr/>
        </p:nvSpPr>
        <p:spPr>
          <a:xfrm>
            <a:off x="11289600" y="6246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42" name="Oval 82"/>
          <p:cNvSpPr/>
          <p:nvPr/>
        </p:nvSpPr>
        <p:spPr>
          <a:xfrm>
            <a:off x="8060400" y="7170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43" name="Oval 83"/>
          <p:cNvSpPr/>
          <p:nvPr/>
        </p:nvSpPr>
        <p:spPr>
          <a:xfrm>
            <a:off x="7817400" y="7152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44" name="Oval 84"/>
          <p:cNvSpPr/>
          <p:nvPr/>
        </p:nvSpPr>
        <p:spPr>
          <a:xfrm>
            <a:off x="8718120" y="5802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45" name="Oval 85"/>
          <p:cNvSpPr/>
          <p:nvPr/>
        </p:nvSpPr>
        <p:spPr>
          <a:xfrm>
            <a:off x="7979040" y="5695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46" name="Oval 86"/>
          <p:cNvSpPr/>
          <p:nvPr/>
        </p:nvSpPr>
        <p:spPr>
          <a:xfrm>
            <a:off x="8408160" y="5854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47" name="Oval 87"/>
          <p:cNvSpPr/>
          <p:nvPr/>
        </p:nvSpPr>
        <p:spPr>
          <a:xfrm>
            <a:off x="11459520" y="6543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48" name="Oval 88"/>
          <p:cNvSpPr/>
          <p:nvPr/>
        </p:nvSpPr>
        <p:spPr>
          <a:xfrm>
            <a:off x="7984440" y="6796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49" name="Oval 89"/>
          <p:cNvSpPr/>
          <p:nvPr/>
        </p:nvSpPr>
        <p:spPr>
          <a:xfrm>
            <a:off x="8211960" y="6751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50" name="Oval 90"/>
          <p:cNvSpPr/>
          <p:nvPr/>
        </p:nvSpPr>
        <p:spPr>
          <a:xfrm>
            <a:off x="7405560" y="6016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51" name="Oval 91"/>
          <p:cNvSpPr/>
          <p:nvPr/>
        </p:nvSpPr>
        <p:spPr>
          <a:xfrm>
            <a:off x="8069400" y="5769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52" name="Oval 92"/>
          <p:cNvSpPr/>
          <p:nvPr/>
        </p:nvSpPr>
        <p:spPr>
          <a:xfrm>
            <a:off x="8411400" y="5891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53" name="Oval 93"/>
          <p:cNvSpPr/>
          <p:nvPr/>
        </p:nvSpPr>
        <p:spPr>
          <a:xfrm>
            <a:off x="7728480" y="3324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54" name="Oval 94"/>
          <p:cNvSpPr/>
          <p:nvPr/>
        </p:nvSpPr>
        <p:spPr>
          <a:xfrm>
            <a:off x="8292600" y="6729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55" name="Oval 95"/>
          <p:cNvSpPr/>
          <p:nvPr/>
        </p:nvSpPr>
        <p:spPr>
          <a:xfrm>
            <a:off x="8371080" y="6712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56" name="Oval 96"/>
          <p:cNvSpPr/>
          <p:nvPr/>
        </p:nvSpPr>
        <p:spPr>
          <a:xfrm>
            <a:off x="8339040" y="5999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57" name="Oval 97"/>
          <p:cNvSpPr/>
          <p:nvPr/>
        </p:nvSpPr>
        <p:spPr>
          <a:xfrm>
            <a:off x="8631360" y="6911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58" name="Oval 98"/>
          <p:cNvSpPr/>
          <p:nvPr/>
        </p:nvSpPr>
        <p:spPr>
          <a:xfrm>
            <a:off x="8862120" y="8294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59" name="Oval 99"/>
          <p:cNvSpPr/>
          <p:nvPr/>
        </p:nvSpPr>
        <p:spPr>
          <a:xfrm>
            <a:off x="9969120" y="8718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60" name="Oval 100"/>
          <p:cNvSpPr/>
          <p:nvPr/>
        </p:nvSpPr>
        <p:spPr>
          <a:xfrm>
            <a:off x="9633600" y="8649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61" name="Oval 101"/>
          <p:cNvSpPr/>
          <p:nvPr/>
        </p:nvSpPr>
        <p:spPr>
          <a:xfrm>
            <a:off x="9534600" y="8721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62" name="Oval 102"/>
          <p:cNvSpPr/>
          <p:nvPr/>
        </p:nvSpPr>
        <p:spPr>
          <a:xfrm>
            <a:off x="9431280" y="8557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63" name="Oval 103"/>
          <p:cNvSpPr/>
          <p:nvPr/>
        </p:nvSpPr>
        <p:spPr>
          <a:xfrm>
            <a:off x="9237240" y="8532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64" name="Oval 104"/>
          <p:cNvSpPr/>
          <p:nvPr/>
        </p:nvSpPr>
        <p:spPr>
          <a:xfrm>
            <a:off x="9009000" y="8431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65" name="Oval 105"/>
          <p:cNvSpPr/>
          <p:nvPr/>
        </p:nvSpPr>
        <p:spPr>
          <a:xfrm>
            <a:off x="8760240" y="5860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66" name="Oval 106"/>
          <p:cNvSpPr/>
          <p:nvPr/>
        </p:nvSpPr>
        <p:spPr>
          <a:xfrm>
            <a:off x="8522280" y="5630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67" name="Oval 107"/>
          <p:cNvSpPr/>
          <p:nvPr/>
        </p:nvSpPr>
        <p:spPr>
          <a:xfrm>
            <a:off x="8697600" y="5923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68" name="Oval 108"/>
          <p:cNvSpPr/>
          <p:nvPr/>
        </p:nvSpPr>
        <p:spPr>
          <a:xfrm>
            <a:off x="9082080" y="8758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69" name="Oval 109"/>
          <p:cNvSpPr/>
          <p:nvPr/>
        </p:nvSpPr>
        <p:spPr>
          <a:xfrm>
            <a:off x="9403920" y="8521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70" name="Oval 110"/>
          <p:cNvSpPr/>
          <p:nvPr/>
        </p:nvSpPr>
        <p:spPr>
          <a:xfrm>
            <a:off x="8678880" y="8330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71" name="Oval 111"/>
          <p:cNvSpPr/>
          <p:nvPr/>
        </p:nvSpPr>
        <p:spPr>
          <a:xfrm>
            <a:off x="10522440" y="6244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72" name="Oval 112"/>
          <p:cNvSpPr/>
          <p:nvPr/>
        </p:nvSpPr>
        <p:spPr>
          <a:xfrm>
            <a:off x="8490240" y="8032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73" name="Oval 113"/>
          <p:cNvSpPr/>
          <p:nvPr/>
        </p:nvSpPr>
        <p:spPr>
          <a:xfrm>
            <a:off x="8813880" y="6027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74" name="Oval 114"/>
          <p:cNvSpPr/>
          <p:nvPr/>
        </p:nvSpPr>
        <p:spPr>
          <a:xfrm>
            <a:off x="8709120" y="6274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75" name="Oval 115"/>
          <p:cNvSpPr/>
          <p:nvPr/>
        </p:nvSpPr>
        <p:spPr>
          <a:xfrm>
            <a:off x="9981720" y="7247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76" name="Oval 116"/>
          <p:cNvSpPr/>
          <p:nvPr/>
        </p:nvSpPr>
        <p:spPr>
          <a:xfrm>
            <a:off x="9896400" y="7414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77" name="Oval 117"/>
          <p:cNvSpPr/>
          <p:nvPr/>
        </p:nvSpPr>
        <p:spPr>
          <a:xfrm>
            <a:off x="10170360" y="6954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78" name="Oval 118"/>
          <p:cNvSpPr/>
          <p:nvPr/>
        </p:nvSpPr>
        <p:spPr>
          <a:xfrm>
            <a:off x="11180520" y="6825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79" name="Oval 119"/>
          <p:cNvSpPr/>
          <p:nvPr/>
        </p:nvSpPr>
        <p:spPr>
          <a:xfrm>
            <a:off x="9941400" y="7285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80" name="Oval 120"/>
          <p:cNvSpPr/>
          <p:nvPr/>
        </p:nvSpPr>
        <p:spPr>
          <a:xfrm>
            <a:off x="10612800" y="7038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81" name="Oval 121"/>
          <p:cNvSpPr/>
          <p:nvPr/>
        </p:nvSpPr>
        <p:spPr>
          <a:xfrm>
            <a:off x="10132200" y="7221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82" name="Oval 122"/>
          <p:cNvSpPr/>
          <p:nvPr/>
        </p:nvSpPr>
        <p:spPr>
          <a:xfrm>
            <a:off x="10180800" y="7296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83" name="Oval 123"/>
          <p:cNvSpPr/>
          <p:nvPr/>
        </p:nvSpPr>
        <p:spPr>
          <a:xfrm>
            <a:off x="8851680" y="7794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84" name="Oval 124"/>
          <p:cNvSpPr/>
          <p:nvPr/>
        </p:nvSpPr>
        <p:spPr>
          <a:xfrm>
            <a:off x="9076320" y="7875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85" name="Oval 125"/>
          <p:cNvSpPr/>
          <p:nvPr/>
        </p:nvSpPr>
        <p:spPr>
          <a:xfrm>
            <a:off x="9209160" y="8189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86" name="Oval 126"/>
          <p:cNvSpPr/>
          <p:nvPr/>
        </p:nvSpPr>
        <p:spPr>
          <a:xfrm>
            <a:off x="9364680" y="7842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87" name="Oval 127"/>
          <p:cNvSpPr/>
          <p:nvPr/>
        </p:nvSpPr>
        <p:spPr>
          <a:xfrm>
            <a:off x="9092160" y="7635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88" name="Oval 128"/>
          <p:cNvSpPr/>
          <p:nvPr/>
        </p:nvSpPr>
        <p:spPr>
          <a:xfrm>
            <a:off x="9143640" y="7584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89" name="Oval 129"/>
          <p:cNvSpPr/>
          <p:nvPr/>
        </p:nvSpPr>
        <p:spPr>
          <a:xfrm>
            <a:off x="9299520" y="7484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90" name="Oval 130"/>
          <p:cNvSpPr/>
          <p:nvPr/>
        </p:nvSpPr>
        <p:spPr>
          <a:xfrm>
            <a:off x="9295200" y="7725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91" name="Oval 131"/>
          <p:cNvSpPr/>
          <p:nvPr/>
        </p:nvSpPr>
        <p:spPr>
          <a:xfrm>
            <a:off x="9374760" y="7702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92" name="Oval 132"/>
          <p:cNvSpPr/>
          <p:nvPr/>
        </p:nvSpPr>
        <p:spPr>
          <a:xfrm>
            <a:off x="9497520" y="7653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93" name="Oval 133"/>
          <p:cNvSpPr/>
          <p:nvPr/>
        </p:nvSpPr>
        <p:spPr>
          <a:xfrm>
            <a:off x="9616680" y="7593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94" name="Oval 134"/>
          <p:cNvSpPr/>
          <p:nvPr/>
        </p:nvSpPr>
        <p:spPr>
          <a:xfrm>
            <a:off x="9734400" y="8260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95" name="Oval 135"/>
          <p:cNvSpPr/>
          <p:nvPr/>
        </p:nvSpPr>
        <p:spPr>
          <a:xfrm>
            <a:off x="10395000" y="7834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96" name="Oval 136"/>
          <p:cNvSpPr/>
          <p:nvPr/>
        </p:nvSpPr>
        <p:spPr>
          <a:xfrm>
            <a:off x="9730080" y="7502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97" name="Oval 137"/>
          <p:cNvSpPr/>
          <p:nvPr/>
        </p:nvSpPr>
        <p:spPr>
          <a:xfrm>
            <a:off x="9762480" y="7287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98" name="Oval 138"/>
          <p:cNvSpPr/>
          <p:nvPr/>
        </p:nvSpPr>
        <p:spPr>
          <a:xfrm>
            <a:off x="8839080" y="6262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199" name="Oval 139"/>
          <p:cNvSpPr/>
          <p:nvPr/>
        </p:nvSpPr>
        <p:spPr>
          <a:xfrm>
            <a:off x="8750160" y="6206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00" name="Oval 140"/>
          <p:cNvSpPr/>
          <p:nvPr/>
        </p:nvSpPr>
        <p:spPr>
          <a:xfrm>
            <a:off x="9556920" y="7401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01" name="Oval 141"/>
          <p:cNvSpPr/>
          <p:nvPr/>
        </p:nvSpPr>
        <p:spPr>
          <a:xfrm>
            <a:off x="9547200" y="7449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02" name="Oval 142"/>
          <p:cNvSpPr/>
          <p:nvPr/>
        </p:nvSpPr>
        <p:spPr>
          <a:xfrm>
            <a:off x="9592920" y="7387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03" name="Oval 143"/>
          <p:cNvSpPr/>
          <p:nvPr/>
        </p:nvSpPr>
        <p:spPr>
          <a:xfrm>
            <a:off x="9755640" y="7556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04" name="Oval 144"/>
          <p:cNvSpPr/>
          <p:nvPr/>
        </p:nvSpPr>
        <p:spPr>
          <a:xfrm>
            <a:off x="9520560" y="7732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05" name="Oval 145"/>
          <p:cNvSpPr/>
          <p:nvPr/>
        </p:nvSpPr>
        <p:spPr>
          <a:xfrm>
            <a:off x="9622440" y="7544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06" name="Oval 146"/>
          <p:cNvSpPr/>
          <p:nvPr/>
        </p:nvSpPr>
        <p:spPr>
          <a:xfrm>
            <a:off x="9686160" y="7255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07" name="Oval 147"/>
          <p:cNvSpPr/>
          <p:nvPr/>
        </p:nvSpPr>
        <p:spPr>
          <a:xfrm>
            <a:off x="11432160" y="6099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08" name="Oval 148"/>
          <p:cNvSpPr/>
          <p:nvPr/>
        </p:nvSpPr>
        <p:spPr>
          <a:xfrm>
            <a:off x="10239840" y="7611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09" name="Oval 149"/>
          <p:cNvSpPr/>
          <p:nvPr/>
        </p:nvSpPr>
        <p:spPr>
          <a:xfrm>
            <a:off x="8367120" y="5150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10" name="Oval 150"/>
          <p:cNvSpPr/>
          <p:nvPr/>
        </p:nvSpPr>
        <p:spPr>
          <a:xfrm>
            <a:off x="10215360" y="5451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11" name="Oval 151"/>
          <p:cNvSpPr/>
          <p:nvPr/>
        </p:nvSpPr>
        <p:spPr>
          <a:xfrm>
            <a:off x="8643240" y="6095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12" name="Oval 152"/>
          <p:cNvSpPr/>
          <p:nvPr/>
        </p:nvSpPr>
        <p:spPr>
          <a:xfrm>
            <a:off x="9851040" y="2979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13" name="Oval 153"/>
          <p:cNvSpPr/>
          <p:nvPr/>
        </p:nvSpPr>
        <p:spPr>
          <a:xfrm>
            <a:off x="9253080" y="3168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14" name="Oval 154"/>
          <p:cNvSpPr/>
          <p:nvPr/>
        </p:nvSpPr>
        <p:spPr>
          <a:xfrm>
            <a:off x="9283320" y="3325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15" name="Oval 155"/>
          <p:cNvSpPr/>
          <p:nvPr/>
        </p:nvSpPr>
        <p:spPr>
          <a:xfrm>
            <a:off x="8994240" y="3343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16" name="Oval 156"/>
          <p:cNvSpPr/>
          <p:nvPr/>
        </p:nvSpPr>
        <p:spPr>
          <a:xfrm>
            <a:off x="9187560" y="3407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17" name="Oval 157"/>
          <p:cNvSpPr/>
          <p:nvPr/>
        </p:nvSpPr>
        <p:spPr>
          <a:xfrm>
            <a:off x="9100440" y="3364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18" name="Oval 158"/>
          <p:cNvSpPr/>
          <p:nvPr/>
        </p:nvSpPr>
        <p:spPr>
          <a:xfrm>
            <a:off x="8362440" y="3823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19" name="Oval 159"/>
          <p:cNvSpPr/>
          <p:nvPr/>
        </p:nvSpPr>
        <p:spPr>
          <a:xfrm>
            <a:off x="8735400" y="4575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20" name="Oval 160"/>
          <p:cNvSpPr/>
          <p:nvPr/>
        </p:nvSpPr>
        <p:spPr>
          <a:xfrm>
            <a:off x="9525240" y="3486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21" name="Oval 161"/>
          <p:cNvSpPr/>
          <p:nvPr/>
        </p:nvSpPr>
        <p:spPr>
          <a:xfrm>
            <a:off x="9486720" y="3479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22" name="Oval 162"/>
          <p:cNvSpPr/>
          <p:nvPr/>
        </p:nvSpPr>
        <p:spPr>
          <a:xfrm>
            <a:off x="9434520" y="3551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23" name="Oval 163"/>
          <p:cNvSpPr/>
          <p:nvPr/>
        </p:nvSpPr>
        <p:spPr>
          <a:xfrm>
            <a:off x="9375840" y="3619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24" name="Oval 164"/>
          <p:cNvSpPr/>
          <p:nvPr/>
        </p:nvSpPr>
        <p:spPr>
          <a:xfrm>
            <a:off x="9279000" y="3708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25" name="Oval 165"/>
          <p:cNvSpPr/>
          <p:nvPr/>
        </p:nvSpPr>
        <p:spPr>
          <a:xfrm>
            <a:off x="9200160" y="3955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26" name="Oval 166"/>
          <p:cNvSpPr/>
          <p:nvPr/>
        </p:nvSpPr>
        <p:spPr>
          <a:xfrm>
            <a:off x="8984520" y="3902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27" name="Oval 167"/>
          <p:cNvSpPr/>
          <p:nvPr/>
        </p:nvSpPr>
        <p:spPr>
          <a:xfrm>
            <a:off x="9063360" y="4159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28" name="Oval 168"/>
          <p:cNvSpPr/>
          <p:nvPr/>
        </p:nvSpPr>
        <p:spPr>
          <a:xfrm>
            <a:off x="9039960" y="4275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29" name="Oval 169"/>
          <p:cNvSpPr/>
          <p:nvPr/>
        </p:nvSpPr>
        <p:spPr>
          <a:xfrm>
            <a:off x="8955720" y="4346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30" name="Oval 170"/>
          <p:cNvSpPr/>
          <p:nvPr/>
        </p:nvSpPr>
        <p:spPr>
          <a:xfrm>
            <a:off x="8297640" y="6041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31" name="Oval 171"/>
          <p:cNvSpPr/>
          <p:nvPr/>
        </p:nvSpPr>
        <p:spPr>
          <a:xfrm>
            <a:off x="8893080" y="4475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32" name="Oval 172"/>
          <p:cNvSpPr/>
          <p:nvPr/>
        </p:nvSpPr>
        <p:spPr>
          <a:xfrm>
            <a:off x="8854200" y="4546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33" name="Oval 173"/>
          <p:cNvSpPr/>
          <p:nvPr/>
        </p:nvSpPr>
        <p:spPr>
          <a:xfrm>
            <a:off x="8802720" y="4513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34" name="Oval 174"/>
          <p:cNvSpPr/>
          <p:nvPr/>
        </p:nvSpPr>
        <p:spPr>
          <a:xfrm>
            <a:off x="9742680" y="3213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35" name="Oval 175"/>
          <p:cNvSpPr/>
          <p:nvPr/>
        </p:nvSpPr>
        <p:spPr>
          <a:xfrm>
            <a:off x="8913960" y="6267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36" name="Oval 176"/>
          <p:cNvSpPr/>
          <p:nvPr/>
        </p:nvSpPr>
        <p:spPr>
          <a:xfrm>
            <a:off x="9252360" y="3793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37" name="Oval 177"/>
          <p:cNvSpPr/>
          <p:nvPr/>
        </p:nvSpPr>
        <p:spPr>
          <a:xfrm>
            <a:off x="9032760" y="3321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38" name="Oval 178"/>
          <p:cNvSpPr/>
          <p:nvPr/>
        </p:nvSpPr>
        <p:spPr>
          <a:xfrm>
            <a:off x="9073080" y="3600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39" name="Oval 179"/>
          <p:cNvSpPr/>
          <p:nvPr/>
        </p:nvSpPr>
        <p:spPr>
          <a:xfrm>
            <a:off x="9399240" y="3034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40" name="Oval 180"/>
          <p:cNvSpPr/>
          <p:nvPr/>
        </p:nvSpPr>
        <p:spPr>
          <a:xfrm>
            <a:off x="9230040" y="3258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41" name="Oval 181"/>
          <p:cNvSpPr/>
          <p:nvPr/>
        </p:nvSpPr>
        <p:spPr>
          <a:xfrm>
            <a:off x="8516160" y="3899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42" name="Oval 182"/>
          <p:cNvSpPr/>
          <p:nvPr/>
        </p:nvSpPr>
        <p:spPr>
          <a:xfrm>
            <a:off x="8553960" y="3840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43" name="Oval 183"/>
          <p:cNvSpPr/>
          <p:nvPr/>
        </p:nvSpPr>
        <p:spPr>
          <a:xfrm>
            <a:off x="8406360" y="3765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44" name="Oval 184"/>
          <p:cNvSpPr/>
          <p:nvPr/>
        </p:nvSpPr>
        <p:spPr>
          <a:xfrm>
            <a:off x="7595640" y="7437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45" name="Oval 185"/>
          <p:cNvSpPr/>
          <p:nvPr/>
        </p:nvSpPr>
        <p:spPr>
          <a:xfrm>
            <a:off x="8025120" y="7685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46" name="Oval 186"/>
          <p:cNvSpPr/>
          <p:nvPr/>
        </p:nvSpPr>
        <p:spPr>
          <a:xfrm>
            <a:off x="8687880" y="9124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47" name="Oval 187"/>
          <p:cNvSpPr/>
          <p:nvPr/>
        </p:nvSpPr>
        <p:spPr>
          <a:xfrm>
            <a:off x="8400960" y="5457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48" name="Oval 188"/>
          <p:cNvSpPr/>
          <p:nvPr/>
        </p:nvSpPr>
        <p:spPr>
          <a:xfrm>
            <a:off x="11854080" y="4326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49" name="Oval 189"/>
          <p:cNvSpPr/>
          <p:nvPr/>
        </p:nvSpPr>
        <p:spPr>
          <a:xfrm>
            <a:off x="8702280" y="6347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50" name="Oval 190"/>
          <p:cNvSpPr/>
          <p:nvPr/>
        </p:nvSpPr>
        <p:spPr>
          <a:xfrm>
            <a:off x="12084480" y="3965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51" name="Oval 191"/>
          <p:cNvSpPr/>
          <p:nvPr/>
        </p:nvSpPr>
        <p:spPr>
          <a:xfrm>
            <a:off x="8639280" y="3269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52" name="Oval 192"/>
          <p:cNvSpPr/>
          <p:nvPr/>
        </p:nvSpPr>
        <p:spPr>
          <a:xfrm>
            <a:off x="11468880" y="5499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53" name="Oval 193"/>
          <p:cNvSpPr/>
          <p:nvPr/>
        </p:nvSpPr>
        <p:spPr>
          <a:xfrm>
            <a:off x="10881360" y="3218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54" name="Oval 194"/>
          <p:cNvSpPr/>
          <p:nvPr/>
        </p:nvSpPr>
        <p:spPr>
          <a:xfrm>
            <a:off x="9384840" y="4843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55" name="Oval 195"/>
          <p:cNvSpPr/>
          <p:nvPr/>
        </p:nvSpPr>
        <p:spPr>
          <a:xfrm>
            <a:off x="11477880" y="5684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56" name="Oval 196"/>
          <p:cNvSpPr/>
          <p:nvPr/>
        </p:nvSpPr>
        <p:spPr>
          <a:xfrm>
            <a:off x="8576640" y="6071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57" name="Oval 197"/>
          <p:cNvSpPr/>
          <p:nvPr/>
        </p:nvSpPr>
        <p:spPr>
          <a:xfrm>
            <a:off x="11996640" y="7205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58" name="Oval 198"/>
          <p:cNvSpPr/>
          <p:nvPr/>
        </p:nvSpPr>
        <p:spPr>
          <a:xfrm>
            <a:off x="11967840" y="7139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59" name="Oval 199"/>
          <p:cNvSpPr/>
          <p:nvPr/>
        </p:nvSpPr>
        <p:spPr>
          <a:xfrm>
            <a:off x="11785320" y="6976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60" name="Oval 200"/>
          <p:cNvSpPr/>
          <p:nvPr/>
        </p:nvSpPr>
        <p:spPr>
          <a:xfrm>
            <a:off x="11665800" y="7135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61" name="Oval 201"/>
          <p:cNvSpPr/>
          <p:nvPr/>
        </p:nvSpPr>
        <p:spPr>
          <a:xfrm>
            <a:off x="11615040" y="6795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62" name="Oval 202"/>
          <p:cNvSpPr/>
          <p:nvPr/>
        </p:nvSpPr>
        <p:spPr>
          <a:xfrm>
            <a:off x="12082680" y="6930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63" name="Oval 203"/>
          <p:cNvSpPr/>
          <p:nvPr/>
        </p:nvSpPr>
        <p:spPr>
          <a:xfrm>
            <a:off x="11943360" y="7117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64" name="Oval 204"/>
          <p:cNvSpPr/>
          <p:nvPr/>
        </p:nvSpPr>
        <p:spPr>
          <a:xfrm>
            <a:off x="11909160" y="6729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65" name="Oval 205"/>
          <p:cNvSpPr/>
          <p:nvPr/>
        </p:nvSpPr>
        <p:spPr>
          <a:xfrm>
            <a:off x="11194200" y="3241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66" name="Oval 206"/>
          <p:cNvSpPr/>
          <p:nvPr/>
        </p:nvSpPr>
        <p:spPr>
          <a:xfrm>
            <a:off x="8052480" y="4932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67" name="Oval 207"/>
          <p:cNvSpPr/>
          <p:nvPr/>
        </p:nvSpPr>
        <p:spPr>
          <a:xfrm>
            <a:off x="8523720" y="6140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68" name="Oval 208"/>
          <p:cNvSpPr/>
          <p:nvPr/>
        </p:nvSpPr>
        <p:spPr>
          <a:xfrm>
            <a:off x="8605800" y="6536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69" name="Oval 209"/>
          <p:cNvSpPr/>
          <p:nvPr/>
        </p:nvSpPr>
        <p:spPr>
          <a:xfrm>
            <a:off x="8470440" y="6325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70" name="Oval 210"/>
          <p:cNvSpPr/>
          <p:nvPr/>
        </p:nvSpPr>
        <p:spPr>
          <a:xfrm>
            <a:off x="8152920" y="4979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71" name="Oval 211"/>
          <p:cNvSpPr/>
          <p:nvPr/>
        </p:nvSpPr>
        <p:spPr>
          <a:xfrm>
            <a:off x="8459640" y="6616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72" name="Oval 212"/>
          <p:cNvSpPr/>
          <p:nvPr/>
        </p:nvSpPr>
        <p:spPr>
          <a:xfrm>
            <a:off x="10035720" y="3036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73" name="Oval 213"/>
          <p:cNvSpPr/>
          <p:nvPr/>
        </p:nvSpPr>
        <p:spPr>
          <a:xfrm>
            <a:off x="10248120" y="2993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74" name="Oval 214"/>
          <p:cNvSpPr/>
          <p:nvPr/>
        </p:nvSpPr>
        <p:spPr>
          <a:xfrm>
            <a:off x="11496240" y="7153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75" name="Oval 215"/>
          <p:cNvSpPr/>
          <p:nvPr/>
        </p:nvSpPr>
        <p:spPr>
          <a:xfrm>
            <a:off x="10553400" y="3042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76" name="Oval 216"/>
          <p:cNvSpPr/>
          <p:nvPr/>
        </p:nvSpPr>
        <p:spPr>
          <a:xfrm>
            <a:off x="10599480" y="2888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77" name="Oval 217"/>
          <p:cNvSpPr/>
          <p:nvPr/>
        </p:nvSpPr>
        <p:spPr>
          <a:xfrm>
            <a:off x="8373240" y="6431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78" name="Oval 218"/>
          <p:cNvSpPr/>
          <p:nvPr/>
        </p:nvSpPr>
        <p:spPr>
          <a:xfrm>
            <a:off x="8647200" y="6665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79" name="Oval 219"/>
          <p:cNvSpPr/>
          <p:nvPr/>
        </p:nvSpPr>
        <p:spPr>
          <a:xfrm>
            <a:off x="10334520" y="2992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80" name="Oval 220"/>
          <p:cNvSpPr/>
          <p:nvPr/>
        </p:nvSpPr>
        <p:spPr>
          <a:xfrm>
            <a:off x="10791000" y="3035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81" name="Oval 221"/>
          <p:cNvSpPr/>
          <p:nvPr/>
        </p:nvSpPr>
        <p:spPr>
          <a:xfrm>
            <a:off x="10511280" y="4480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82" name="Oval 222"/>
          <p:cNvSpPr/>
          <p:nvPr/>
        </p:nvSpPr>
        <p:spPr>
          <a:xfrm>
            <a:off x="10862640" y="4601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83" name="Oval 223"/>
          <p:cNvSpPr/>
          <p:nvPr/>
        </p:nvSpPr>
        <p:spPr>
          <a:xfrm>
            <a:off x="10191600" y="4966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84" name="Oval 224"/>
          <p:cNvSpPr/>
          <p:nvPr/>
        </p:nvSpPr>
        <p:spPr>
          <a:xfrm>
            <a:off x="10593720" y="5091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85" name="Oval 225"/>
          <p:cNvSpPr/>
          <p:nvPr/>
        </p:nvSpPr>
        <p:spPr>
          <a:xfrm>
            <a:off x="10561680" y="5114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86" name="Oval 226"/>
          <p:cNvSpPr/>
          <p:nvPr/>
        </p:nvSpPr>
        <p:spPr>
          <a:xfrm>
            <a:off x="10414800" y="5003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87" name="Oval 227"/>
          <p:cNvSpPr/>
          <p:nvPr/>
        </p:nvSpPr>
        <p:spPr>
          <a:xfrm>
            <a:off x="10391400" y="5355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88" name="Oval 228"/>
          <p:cNvSpPr/>
          <p:nvPr/>
        </p:nvSpPr>
        <p:spPr>
          <a:xfrm>
            <a:off x="10933560" y="5085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89" name="Oval 229"/>
          <p:cNvSpPr/>
          <p:nvPr/>
        </p:nvSpPr>
        <p:spPr>
          <a:xfrm>
            <a:off x="10420560" y="3043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90" name="Oval 230"/>
          <p:cNvSpPr/>
          <p:nvPr/>
        </p:nvSpPr>
        <p:spPr>
          <a:xfrm>
            <a:off x="10784160" y="5362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91" name="Oval 231"/>
          <p:cNvSpPr/>
          <p:nvPr/>
        </p:nvSpPr>
        <p:spPr>
          <a:xfrm>
            <a:off x="11576160" y="7170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92" name="Oval 232"/>
          <p:cNvSpPr/>
          <p:nvPr/>
        </p:nvSpPr>
        <p:spPr>
          <a:xfrm>
            <a:off x="10515600" y="7928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93" name="Oval 233"/>
          <p:cNvSpPr/>
          <p:nvPr/>
        </p:nvSpPr>
        <p:spPr>
          <a:xfrm>
            <a:off x="8689680" y="6729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94" name="Oval 234"/>
          <p:cNvSpPr/>
          <p:nvPr/>
        </p:nvSpPr>
        <p:spPr>
          <a:xfrm>
            <a:off x="8204760" y="4821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95" name="Oval 235"/>
          <p:cNvSpPr/>
          <p:nvPr/>
        </p:nvSpPr>
        <p:spPr>
          <a:xfrm>
            <a:off x="8506800" y="5228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96" name="Oval 236"/>
          <p:cNvSpPr/>
          <p:nvPr/>
        </p:nvSpPr>
        <p:spPr>
          <a:xfrm>
            <a:off x="8270640" y="5014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97" name="Oval 237"/>
          <p:cNvSpPr/>
          <p:nvPr/>
        </p:nvSpPr>
        <p:spPr>
          <a:xfrm>
            <a:off x="8751600" y="6519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98" name="Oval 238"/>
          <p:cNvSpPr/>
          <p:nvPr/>
        </p:nvSpPr>
        <p:spPr>
          <a:xfrm>
            <a:off x="11238840" y="3258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299" name="Oval 239"/>
          <p:cNvSpPr/>
          <p:nvPr/>
        </p:nvSpPr>
        <p:spPr>
          <a:xfrm>
            <a:off x="11341080" y="3254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00" name="Oval 240"/>
          <p:cNvSpPr/>
          <p:nvPr/>
        </p:nvSpPr>
        <p:spPr>
          <a:xfrm>
            <a:off x="11497320" y="3274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01" name="Oval 241"/>
          <p:cNvSpPr/>
          <p:nvPr/>
        </p:nvSpPr>
        <p:spPr>
          <a:xfrm>
            <a:off x="11939760" y="6519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02" name="Oval 242"/>
          <p:cNvSpPr/>
          <p:nvPr/>
        </p:nvSpPr>
        <p:spPr>
          <a:xfrm>
            <a:off x="9729000" y="7910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03" name="Oval 243"/>
          <p:cNvSpPr/>
          <p:nvPr/>
        </p:nvSpPr>
        <p:spPr>
          <a:xfrm>
            <a:off x="11826360" y="3317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04" name="Oval 244"/>
          <p:cNvSpPr/>
          <p:nvPr/>
        </p:nvSpPr>
        <p:spPr>
          <a:xfrm>
            <a:off x="8474040" y="45504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05" name="Oval 245"/>
          <p:cNvSpPr/>
          <p:nvPr/>
        </p:nvSpPr>
        <p:spPr>
          <a:xfrm>
            <a:off x="9014040" y="5952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06" name="Oval 246"/>
          <p:cNvSpPr/>
          <p:nvPr/>
        </p:nvSpPr>
        <p:spPr>
          <a:xfrm>
            <a:off x="8911800" y="5877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07" name="Oval 247"/>
          <p:cNvSpPr/>
          <p:nvPr/>
        </p:nvSpPr>
        <p:spPr>
          <a:xfrm>
            <a:off x="8665200" y="5997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08" name="Oval 248"/>
          <p:cNvSpPr/>
          <p:nvPr/>
        </p:nvSpPr>
        <p:spPr>
          <a:xfrm>
            <a:off x="7946280" y="6595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09" name="Oval 249"/>
          <p:cNvSpPr/>
          <p:nvPr/>
        </p:nvSpPr>
        <p:spPr>
          <a:xfrm>
            <a:off x="7787520" y="6539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10" name="Oval 250"/>
          <p:cNvSpPr/>
          <p:nvPr/>
        </p:nvSpPr>
        <p:spPr>
          <a:xfrm>
            <a:off x="8128440" y="6150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11" name="Oval 251"/>
          <p:cNvSpPr/>
          <p:nvPr/>
        </p:nvSpPr>
        <p:spPr>
          <a:xfrm>
            <a:off x="7921440" y="5220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12" name="Oval 252"/>
          <p:cNvSpPr/>
          <p:nvPr/>
        </p:nvSpPr>
        <p:spPr>
          <a:xfrm>
            <a:off x="7755840" y="4452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13" name="Oval 253"/>
          <p:cNvSpPr/>
          <p:nvPr/>
        </p:nvSpPr>
        <p:spPr>
          <a:xfrm>
            <a:off x="8015400" y="4671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14" name="Oval 254"/>
          <p:cNvSpPr/>
          <p:nvPr/>
        </p:nvSpPr>
        <p:spPr>
          <a:xfrm>
            <a:off x="8772840" y="7308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15" name="Oval 255"/>
          <p:cNvSpPr/>
          <p:nvPr/>
        </p:nvSpPr>
        <p:spPr>
          <a:xfrm>
            <a:off x="10141560" y="5312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16" name="Oval 256"/>
          <p:cNvSpPr/>
          <p:nvPr/>
        </p:nvSpPr>
        <p:spPr>
          <a:xfrm>
            <a:off x="8134560" y="5945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17" name="Oval 257"/>
          <p:cNvSpPr/>
          <p:nvPr/>
        </p:nvSpPr>
        <p:spPr>
          <a:xfrm>
            <a:off x="8126280" y="5417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18" name="Oval 258"/>
          <p:cNvSpPr/>
          <p:nvPr/>
        </p:nvSpPr>
        <p:spPr>
          <a:xfrm>
            <a:off x="7953480" y="5620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19" name="Oval 259"/>
          <p:cNvSpPr/>
          <p:nvPr/>
        </p:nvSpPr>
        <p:spPr>
          <a:xfrm>
            <a:off x="8919720" y="8352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20" name="Oval 260"/>
          <p:cNvSpPr/>
          <p:nvPr/>
        </p:nvSpPr>
        <p:spPr>
          <a:xfrm>
            <a:off x="9895680" y="7548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21" name="Oval 261"/>
          <p:cNvSpPr/>
          <p:nvPr/>
        </p:nvSpPr>
        <p:spPr>
          <a:xfrm>
            <a:off x="9138600" y="3477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22" name="Oval 262"/>
          <p:cNvSpPr/>
          <p:nvPr/>
        </p:nvSpPr>
        <p:spPr>
          <a:xfrm>
            <a:off x="10335240" y="2928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23" name="Oval 263"/>
          <p:cNvSpPr/>
          <p:nvPr/>
        </p:nvSpPr>
        <p:spPr>
          <a:xfrm>
            <a:off x="8798760" y="4708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24" name="Oval 264"/>
          <p:cNvSpPr/>
          <p:nvPr/>
        </p:nvSpPr>
        <p:spPr>
          <a:xfrm>
            <a:off x="8026560" y="5167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25" name="Oval 265"/>
          <p:cNvSpPr/>
          <p:nvPr/>
        </p:nvSpPr>
        <p:spPr>
          <a:xfrm>
            <a:off x="8582760" y="6356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26" name="Oval 266"/>
          <p:cNvSpPr/>
          <p:nvPr/>
        </p:nvSpPr>
        <p:spPr>
          <a:xfrm>
            <a:off x="8665920" y="6315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27" name="Oval 267"/>
          <p:cNvSpPr/>
          <p:nvPr/>
        </p:nvSpPr>
        <p:spPr>
          <a:xfrm>
            <a:off x="9496440" y="7055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28" name="Oval 268"/>
          <p:cNvSpPr/>
          <p:nvPr/>
        </p:nvSpPr>
        <p:spPr>
          <a:xfrm>
            <a:off x="8558280" y="6594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29" name="Oval 269"/>
          <p:cNvSpPr/>
          <p:nvPr/>
        </p:nvSpPr>
        <p:spPr>
          <a:xfrm>
            <a:off x="8826120" y="6942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30" name="Oval 270"/>
          <p:cNvSpPr/>
          <p:nvPr/>
        </p:nvSpPr>
        <p:spPr>
          <a:xfrm>
            <a:off x="8592840" y="6871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31" name="Oval 271"/>
          <p:cNvSpPr/>
          <p:nvPr/>
        </p:nvSpPr>
        <p:spPr>
          <a:xfrm>
            <a:off x="7967520" y="66805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32" name="Oval 272"/>
          <p:cNvSpPr/>
          <p:nvPr/>
        </p:nvSpPr>
        <p:spPr>
          <a:xfrm>
            <a:off x="8158320" y="5590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33" name="Oval 273"/>
          <p:cNvSpPr/>
          <p:nvPr/>
        </p:nvSpPr>
        <p:spPr>
          <a:xfrm>
            <a:off x="9183600" y="6123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34" name="Oval 274"/>
          <p:cNvSpPr/>
          <p:nvPr/>
        </p:nvSpPr>
        <p:spPr>
          <a:xfrm>
            <a:off x="9390600" y="6778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35" name="Oval 275"/>
          <p:cNvSpPr/>
          <p:nvPr/>
        </p:nvSpPr>
        <p:spPr>
          <a:xfrm>
            <a:off x="9383760" y="7005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36" name="Oval 276"/>
          <p:cNvSpPr/>
          <p:nvPr/>
        </p:nvSpPr>
        <p:spPr>
          <a:xfrm>
            <a:off x="8581680" y="4007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37" name="Oval 277"/>
          <p:cNvSpPr/>
          <p:nvPr/>
        </p:nvSpPr>
        <p:spPr>
          <a:xfrm>
            <a:off x="8738280" y="4083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38" name="Oval 278"/>
          <p:cNvSpPr/>
          <p:nvPr/>
        </p:nvSpPr>
        <p:spPr>
          <a:xfrm>
            <a:off x="11437920" y="5349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39" name="Oval 279"/>
          <p:cNvSpPr/>
          <p:nvPr/>
        </p:nvSpPr>
        <p:spPr>
          <a:xfrm>
            <a:off x="9357480" y="3364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40" name="Oval 280"/>
          <p:cNvSpPr/>
          <p:nvPr/>
        </p:nvSpPr>
        <p:spPr>
          <a:xfrm>
            <a:off x="7564320" y="4638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41" name="Oval 281"/>
          <p:cNvSpPr/>
          <p:nvPr/>
        </p:nvSpPr>
        <p:spPr>
          <a:xfrm>
            <a:off x="11503440" y="5394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42" name="Oval 282"/>
          <p:cNvSpPr/>
          <p:nvPr/>
        </p:nvSpPr>
        <p:spPr>
          <a:xfrm>
            <a:off x="11618640" y="5416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43" name="Oval 283"/>
          <p:cNvSpPr/>
          <p:nvPr/>
        </p:nvSpPr>
        <p:spPr>
          <a:xfrm>
            <a:off x="11648880" y="5432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44" name="Oval 284"/>
          <p:cNvSpPr/>
          <p:nvPr/>
        </p:nvSpPr>
        <p:spPr>
          <a:xfrm>
            <a:off x="10307520" y="5293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45" name="Oval 285"/>
          <p:cNvSpPr/>
          <p:nvPr/>
        </p:nvSpPr>
        <p:spPr>
          <a:xfrm>
            <a:off x="10155240" y="5083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46" name="Oval 286"/>
          <p:cNvSpPr/>
          <p:nvPr/>
        </p:nvSpPr>
        <p:spPr>
          <a:xfrm>
            <a:off x="10392840" y="4915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47" name="Oval 287"/>
          <p:cNvSpPr/>
          <p:nvPr/>
        </p:nvSpPr>
        <p:spPr>
          <a:xfrm>
            <a:off x="10304280" y="5055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48" name="Oval 288"/>
          <p:cNvSpPr/>
          <p:nvPr/>
        </p:nvSpPr>
        <p:spPr>
          <a:xfrm>
            <a:off x="9617400" y="3055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49" name="Oval 289"/>
          <p:cNvSpPr/>
          <p:nvPr/>
        </p:nvSpPr>
        <p:spPr>
          <a:xfrm>
            <a:off x="8822520" y="6355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50" name="Oval 290"/>
          <p:cNvSpPr/>
          <p:nvPr/>
        </p:nvSpPr>
        <p:spPr>
          <a:xfrm>
            <a:off x="11774880" y="5137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51" name="Oval 291"/>
          <p:cNvSpPr/>
          <p:nvPr/>
        </p:nvSpPr>
        <p:spPr>
          <a:xfrm>
            <a:off x="10941120" y="8169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52" name="Oval 292"/>
          <p:cNvSpPr/>
          <p:nvPr/>
        </p:nvSpPr>
        <p:spPr>
          <a:xfrm>
            <a:off x="11205360" y="8160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53" name="Oval 293"/>
          <p:cNvSpPr/>
          <p:nvPr/>
        </p:nvSpPr>
        <p:spPr>
          <a:xfrm>
            <a:off x="11255040" y="8075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54" name="Oval 294"/>
          <p:cNvSpPr/>
          <p:nvPr/>
        </p:nvSpPr>
        <p:spPr>
          <a:xfrm>
            <a:off x="11308320" y="7869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55" name="Oval 295"/>
          <p:cNvSpPr/>
          <p:nvPr/>
        </p:nvSpPr>
        <p:spPr>
          <a:xfrm>
            <a:off x="11401560" y="7933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56" name="Oval 296"/>
          <p:cNvSpPr/>
          <p:nvPr/>
        </p:nvSpPr>
        <p:spPr>
          <a:xfrm>
            <a:off x="9191520" y="4680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57" name="Oval 297"/>
          <p:cNvSpPr/>
          <p:nvPr/>
        </p:nvSpPr>
        <p:spPr>
          <a:xfrm>
            <a:off x="9357840" y="45766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58" name="Oval 298"/>
          <p:cNvSpPr/>
          <p:nvPr/>
        </p:nvSpPr>
        <p:spPr>
          <a:xfrm>
            <a:off x="12069360" y="3248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59" name="Oval 299"/>
          <p:cNvSpPr/>
          <p:nvPr/>
        </p:nvSpPr>
        <p:spPr>
          <a:xfrm>
            <a:off x="11399040" y="7354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60" name="Oval 300"/>
          <p:cNvSpPr/>
          <p:nvPr/>
        </p:nvSpPr>
        <p:spPr>
          <a:xfrm>
            <a:off x="8790840" y="4167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61" name="Oval 301"/>
          <p:cNvSpPr/>
          <p:nvPr/>
        </p:nvSpPr>
        <p:spPr>
          <a:xfrm>
            <a:off x="8715960" y="5230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62" name="Oval 302"/>
          <p:cNvSpPr/>
          <p:nvPr/>
        </p:nvSpPr>
        <p:spPr>
          <a:xfrm>
            <a:off x="11662560" y="35413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63" name="Oval 303"/>
          <p:cNvSpPr/>
          <p:nvPr/>
        </p:nvSpPr>
        <p:spPr>
          <a:xfrm>
            <a:off x="9066600" y="4851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64" name="Oval 304"/>
          <p:cNvSpPr/>
          <p:nvPr/>
        </p:nvSpPr>
        <p:spPr>
          <a:xfrm>
            <a:off x="9890280" y="3538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65" name="Oval 305"/>
          <p:cNvSpPr/>
          <p:nvPr/>
        </p:nvSpPr>
        <p:spPr>
          <a:xfrm>
            <a:off x="10558080" y="3484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66" name="Oval 306"/>
          <p:cNvSpPr/>
          <p:nvPr/>
        </p:nvSpPr>
        <p:spPr>
          <a:xfrm>
            <a:off x="10245240" y="3387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67" name="Oval 307"/>
          <p:cNvSpPr/>
          <p:nvPr/>
        </p:nvSpPr>
        <p:spPr>
          <a:xfrm>
            <a:off x="9504000" y="5328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68" name="Oval 308"/>
          <p:cNvSpPr/>
          <p:nvPr/>
        </p:nvSpPr>
        <p:spPr>
          <a:xfrm>
            <a:off x="9589320" y="2953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69" name="Oval 309"/>
          <p:cNvSpPr/>
          <p:nvPr/>
        </p:nvSpPr>
        <p:spPr>
          <a:xfrm>
            <a:off x="11787120" y="4316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70" name="Oval 310"/>
          <p:cNvSpPr/>
          <p:nvPr/>
        </p:nvSpPr>
        <p:spPr>
          <a:xfrm>
            <a:off x="10471320" y="2988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71" name="Oval 311"/>
          <p:cNvSpPr/>
          <p:nvPr/>
        </p:nvSpPr>
        <p:spPr>
          <a:xfrm>
            <a:off x="11433600" y="6158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72" name="Oval 312"/>
          <p:cNvSpPr/>
          <p:nvPr/>
        </p:nvSpPr>
        <p:spPr>
          <a:xfrm>
            <a:off x="9478080" y="2962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73" name="Oval 313"/>
          <p:cNvSpPr/>
          <p:nvPr/>
        </p:nvSpPr>
        <p:spPr>
          <a:xfrm>
            <a:off x="11343960" y="7408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74" name="Oval 314"/>
          <p:cNvSpPr/>
          <p:nvPr/>
        </p:nvSpPr>
        <p:spPr>
          <a:xfrm>
            <a:off x="10059480" y="5770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75" name="Oval 315"/>
          <p:cNvSpPr/>
          <p:nvPr/>
        </p:nvSpPr>
        <p:spPr>
          <a:xfrm>
            <a:off x="10060200" y="5250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76" name="Oval 316"/>
          <p:cNvSpPr/>
          <p:nvPr/>
        </p:nvSpPr>
        <p:spPr>
          <a:xfrm>
            <a:off x="9506160" y="5442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77" name="Oval 317"/>
          <p:cNvSpPr/>
          <p:nvPr/>
        </p:nvSpPr>
        <p:spPr>
          <a:xfrm>
            <a:off x="11459880" y="7308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78" name="Oval 318"/>
          <p:cNvSpPr/>
          <p:nvPr/>
        </p:nvSpPr>
        <p:spPr>
          <a:xfrm>
            <a:off x="11333160" y="7721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79" name="Oval 319"/>
          <p:cNvSpPr/>
          <p:nvPr/>
        </p:nvSpPr>
        <p:spPr>
          <a:xfrm>
            <a:off x="10099440" y="5065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80" name="Oval 320"/>
          <p:cNvSpPr/>
          <p:nvPr/>
        </p:nvSpPr>
        <p:spPr>
          <a:xfrm>
            <a:off x="9467640" y="4239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81" name="Oval 321"/>
          <p:cNvSpPr/>
          <p:nvPr/>
        </p:nvSpPr>
        <p:spPr>
          <a:xfrm>
            <a:off x="10300680" y="6588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82" name="Oval 322"/>
          <p:cNvSpPr/>
          <p:nvPr/>
        </p:nvSpPr>
        <p:spPr>
          <a:xfrm>
            <a:off x="8057520" y="6100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83" name="Oval 323"/>
          <p:cNvSpPr/>
          <p:nvPr/>
        </p:nvSpPr>
        <p:spPr>
          <a:xfrm>
            <a:off x="7857000" y="6112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84" name="Oval 324"/>
          <p:cNvSpPr/>
          <p:nvPr/>
        </p:nvSpPr>
        <p:spPr>
          <a:xfrm>
            <a:off x="7781400" y="6015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85" name="Oval 325"/>
          <p:cNvSpPr/>
          <p:nvPr/>
        </p:nvSpPr>
        <p:spPr>
          <a:xfrm>
            <a:off x="7786800" y="5995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86" name="Oval 326"/>
          <p:cNvSpPr/>
          <p:nvPr/>
        </p:nvSpPr>
        <p:spPr>
          <a:xfrm>
            <a:off x="7561080" y="61354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87" name="Oval 327"/>
          <p:cNvSpPr/>
          <p:nvPr/>
        </p:nvSpPr>
        <p:spPr>
          <a:xfrm>
            <a:off x="8353080" y="57621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88" name="Oval 328"/>
          <p:cNvSpPr/>
          <p:nvPr/>
        </p:nvSpPr>
        <p:spPr>
          <a:xfrm>
            <a:off x="8285040" y="47458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89" name="Oval 329"/>
          <p:cNvSpPr/>
          <p:nvPr/>
        </p:nvSpPr>
        <p:spPr>
          <a:xfrm>
            <a:off x="7552080" y="45363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90" name="Oval 330"/>
          <p:cNvSpPr/>
          <p:nvPr/>
        </p:nvSpPr>
        <p:spPr>
          <a:xfrm>
            <a:off x="7654320" y="4902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91" name="Oval 331"/>
          <p:cNvSpPr/>
          <p:nvPr/>
        </p:nvSpPr>
        <p:spPr>
          <a:xfrm>
            <a:off x="7639560" y="4845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92" name="Oval 332"/>
          <p:cNvSpPr/>
          <p:nvPr/>
        </p:nvSpPr>
        <p:spPr>
          <a:xfrm>
            <a:off x="7679160" y="5005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93" name="Oval 333"/>
          <p:cNvSpPr/>
          <p:nvPr/>
        </p:nvSpPr>
        <p:spPr>
          <a:xfrm>
            <a:off x="7727040" y="51750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94" name="Oval 334"/>
          <p:cNvSpPr/>
          <p:nvPr/>
        </p:nvSpPr>
        <p:spPr>
          <a:xfrm>
            <a:off x="9369000" y="4005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95" name="Oval 335"/>
          <p:cNvSpPr/>
          <p:nvPr/>
        </p:nvSpPr>
        <p:spPr>
          <a:xfrm>
            <a:off x="7502400" y="57139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96" name="Oval 336"/>
          <p:cNvSpPr/>
          <p:nvPr/>
        </p:nvSpPr>
        <p:spPr>
          <a:xfrm>
            <a:off x="11908440" y="33285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97" name="Oval 337"/>
          <p:cNvSpPr/>
          <p:nvPr/>
        </p:nvSpPr>
        <p:spPr>
          <a:xfrm>
            <a:off x="11730600" y="3785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98" name="Oval 338"/>
          <p:cNvSpPr/>
          <p:nvPr/>
        </p:nvSpPr>
        <p:spPr>
          <a:xfrm>
            <a:off x="10780200" y="44071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399" name="Oval 339"/>
          <p:cNvSpPr/>
          <p:nvPr/>
        </p:nvSpPr>
        <p:spPr>
          <a:xfrm>
            <a:off x="11374920" y="4463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00" name="Oval 340"/>
          <p:cNvSpPr/>
          <p:nvPr/>
        </p:nvSpPr>
        <p:spPr>
          <a:xfrm>
            <a:off x="9637200" y="4822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01" name="Oval 341"/>
          <p:cNvSpPr/>
          <p:nvPr/>
        </p:nvSpPr>
        <p:spPr>
          <a:xfrm>
            <a:off x="9616680" y="5040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02" name="Oval 342"/>
          <p:cNvSpPr/>
          <p:nvPr/>
        </p:nvSpPr>
        <p:spPr>
          <a:xfrm>
            <a:off x="9654840" y="501372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03" name="Oval 343"/>
          <p:cNvSpPr/>
          <p:nvPr/>
        </p:nvSpPr>
        <p:spPr>
          <a:xfrm>
            <a:off x="9723240" y="49582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04" name="Oval 344"/>
          <p:cNvSpPr/>
          <p:nvPr/>
        </p:nvSpPr>
        <p:spPr>
          <a:xfrm>
            <a:off x="9773640" y="4964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05" name="Oval 345"/>
          <p:cNvSpPr/>
          <p:nvPr/>
        </p:nvSpPr>
        <p:spPr>
          <a:xfrm>
            <a:off x="9673920" y="51080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06" name="Oval 346"/>
          <p:cNvSpPr/>
          <p:nvPr/>
        </p:nvSpPr>
        <p:spPr>
          <a:xfrm>
            <a:off x="9908640" y="5234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07" name="Oval 347"/>
          <p:cNvSpPr/>
          <p:nvPr/>
        </p:nvSpPr>
        <p:spPr>
          <a:xfrm>
            <a:off x="9579240" y="52556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08" name="Oval 348"/>
          <p:cNvSpPr/>
          <p:nvPr/>
        </p:nvSpPr>
        <p:spPr>
          <a:xfrm>
            <a:off x="7742880" y="52866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09" name="Oval 349"/>
          <p:cNvSpPr/>
          <p:nvPr/>
        </p:nvSpPr>
        <p:spPr>
          <a:xfrm>
            <a:off x="7744320" y="53478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10" name="Oval 350"/>
          <p:cNvSpPr/>
          <p:nvPr/>
        </p:nvSpPr>
        <p:spPr>
          <a:xfrm>
            <a:off x="7671240" y="55137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11" name="Oval 351"/>
          <p:cNvSpPr/>
          <p:nvPr/>
        </p:nvSpPr>
        <p:spPr>
          <a:xfrm>
            <a:off x="7763400" y="563508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12" name="Oval 352"/>
          <p:cNvSpPr/>
          <p:nvPr/>
        </p:nvSpPr>
        <p:spPr>
          <a:xfrm>
            <a:off x="8545320" y="4818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13" name="Oval 353"/>
          <p:cNvSpPr/>
          <p:nvPr/>
        </p:nvSpPr>
        <p:spPr>
          <a:xfrm>
            <a:off x="9180720" y="7275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14" name="Oval 354"/>
          <p:cNvSpPr/>
          <p:nvPr/>
        </p:nvSpPr>
        <p:spPr>
          <a:xfrm>
            <a:off x="10774080" y="435420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15" name="Oval 355"/>
          <p:cNvSpPr/>
          <p:nvPr/>
        </p:nvSpPr>
        <p:spPr>
          <a:xfrm>
            <a:off x="10758240" y="4458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16" name="Oval 356"/>
          <p:cNvSpPr/>
          <p:nvPr/>
        </p:nvSpPr>
        <p:spPr>
          <a:xfrm>
            <a:off x="9472320" y="38228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17" name="Oval 357"/>
          <p:cNvSpPr/>
          <p:nvPr/>
        </p:nvSpPr>
        <p:spPr>
          <a:xfrm>
            <a:off x="10035360" y="51674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18" name="Oval 358"/>
          <p:cNvSpPr/>
          <p:nvPr/>
        </p:nvSpPr>
        <p:spPr>
          <a:xfrm>
            <a:off x="10198800" y="409896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19" name="Oval 359"/>
          <p:cNvSpPr/>
          <p:nvPr/>
        </p:nvSpPr>
        <p:spPr>
          <a:xfrm>
            <a:off x="9819000" y="3981240"/>
            <a:ext cx="49320" cy="49320"/>
          </a:xfrm>
          <a:prstGeom prst="ellipse">
            <a:avLst/>
          </a:prstGeom>
          <a:solidFill>
            <a:srgbClr val="95a7b2"/>
          </a:solidFill>
          <a:ln w="14288">
            <a:noFill/>
          </a:ln>
        </p:spPr>
        <p:style>
          <a:lnRef idx="0"/>
          <a:fillRef idx="0"/>
          <a:effectRef idx="0"/>
          <a:fontRef idx="minor"/>
        </p:style>
        <p:txBody>
          <a:bodyPr lIns="90000" rIns="90000" tIns="-10080" bIns="-100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20" name="Freeform: Shape 360"/>
          <p:cNvSpPr/>
          <p:nvPr/>
        </p:nvSpPr>
        <p:spPr>
          <a:xfrm>
            <a:off x="7420320" y="9164160"/>
            <a:ext cx="2072880" cy="720"/>
          </a:xfrm>
          <a:custGeom>
            <a:avLst/>
            <a:gdLst/>
            <a:ahLst/>
            <a:rect l="l" t="t" r="r" b="b"/>
            <a:pathLst>
              <a:path w="2073285" h="953">
                <a:moveTo>
                  <a:pt x="0" y="0"/>
                </a:moveTo>
                <a:lnTo>
                  <a:pt x="2073285" y="0"/>
                </a:lnTo>
              </a:path>
            </a:pathLst>
          </a:custGeom>
          <a:noFill/>
          <a:ln w="28575">
            <a:solidFill>
              <a:srgbClr val="14293d"/>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21" name="Freeform: Shape 361"/>
          <p:cNvSpPr/>
          <p:nvPr/>
        </p:nvSpPr>
        <p:spPr>
          <a:xfrm>
            <a:off x="7420320" y="9106920"/>
            <a:ext cx="720" cy="114120"/>
          </a:xfrm>
          <a:custGeom>
            <a:avLst/>
            <a:gdLst/>
            <a:ahLst/>
            <a:rect l="l" t="t" r="r" b="b"/>
            <a:pathLst>
              <a:path w="953" h="114300">
                <a:moveTo>
                  <a:pt x="0" y="0"/>
                </a:moveTo>
                <a:lnTo>
                  <a:pt x="0" y="114300"/>
                </a:lnTo>
              </a:path>
            </a:pathLst>
          </a:custGeom>
          <a:noFill/>
          <a:ln w="19050">
            <a:solidFill>
              <a:srgbClr val="1429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22" name="Freeform: Shape 362"/>
          <p:cNvSpPr/>
          <p:nvPr/>
        </p:nvSpPr>
        <p:spPr>
          <a:xfrm>
            <a:off x="9493920" y="9106920"/>
            <a:ext cx="720" cy="114120"/>
          </a:xfrm>
          <a:custGeom>
            <a:avLst/>
            <a:gdLst/>
            <a:ahLst/>
            <a:rect l="l" t="t" r="r" b="b"/>
            <a:pathLst>
              <a:path w="953" h="114300">
                <a:moveTo>
                  <a:pt x="0" y="0"/>
                </a:moveTo>
                <a:lnTo>
                  <a:pt x="0" y="114300"/>
                </a:lnTo>
              </a:path>
            </a:pathLst>
          </a:custGeom>
          <a:noFill/>
          <a:ln w="19050">
            <a:solidFill>
              <a:srgbClr val="14293d"/>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23" name="Rectangle 363"/>
          <p:cNvSpPr/>
          <p:nvPr/>
        </p:nvSpPr>
        <p:spPr>
          <a:xfrm>
            <a:off x="8260200" y="8924760"/>
            <a:ext cx="85680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500" strike="noStrike" u="none">
                <a:solidFill>
                  <a:srgbClr val="526779"/>
                </a:solidFill>
                <a:effectLst/>
                <a:uFillTx/>
                <a:latin typeface="Century Gothic"/>
                <a:ea typeface="Century Gothic"/>
              </a:rPr>
              <a:t>5 km</a:t>
            </a:r>
            <a:endParaRPr b="0" lang="en-US" sz="1500" strike="noStrike" u="none">
              <a:solidFill>
                <a:srgbClr val="000000"/>
              </a:solidFill>
              <a:effectLst/>
              <a:uFillTx/>
              <a:latin typeface="Arial"/>
            </a:endParaRPr>
          </a:p>
        </p:txBody>
      </p:sp>
      <p:sp>
        <p:nvSpPr>
          <p:cNvPr id="3424" name="Rectangle 364"/>
          <p:cNvSpPr/>
          <p:nvPr/>
        </p:nvSpPr>
        <p:spPr>
          <a:xfrm>
            <a:off x="12306240" y="2933640"/>
            <a:ext cx="57132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650" strike="noStrike" u="none">
                <a:solidFill>
                  <a:srgbClr val="526779"/>
                </a:solidFill>
                <a:effectLst/>
                <a:uFillTx/>
                <a:latin typeface="Century Gothic"/>
                <a:ea typeface="Century Gothic"/>
              </a:rPr>
              <a:t>N ↑</a:t>
            </a:r>
            <a:endParaRPr b="0" lang="en-US" sz="1650" strike="noStrike" u="none">
              <a:solidFill>
                <a:srgbClr val="000000"/>
              </a:solidFill>
              <a:effectLst/>
              <a:uFillTx/>
              <a:latin typeface="Arial"/>
            </a:endParaRPr>
          </a:p>
        </p:txBody>
      </p:sp>
      <p:sp>
        <p:nvSpPr>
          <p:cNvPr id="3425" name="Oval 365"/>
          <p:cNvSpPr/>
          <p:nvPr/>
        </p:nvSpPr>
        <p:spPr>
          <a:xfrm>
            <a:off x="9327240" y="3963600"/>
            <a:ext cx="132840" cy="132840"/>
          </a:xfrm>
          <a:prstGeom prst="ellipse">
            <a:avLst/>
          </a:prstGeom>
          <a:solidFill>
            <a:srgbClr val="217e86"/>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26" name="Oval 366"/>
          <p:cNvSpPr/>
          <p:nvPr/>
        </p:nvSpPr>
        <p:spPr>
          <a:xfrm>
            <a:off x="9222480" y="3858840"/>
            <a:ext cx="342720" cy="342720"/>
          </a:xfrm>
          <a:prstGeom prst="ellipse">
            <a:avLst/>
          </a:prstGeom>
          <a:solidFill>
            <a:srgbClr val="217e86"/>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27" name="Rectangle 367"/>
          <p:cNvSpPr/>
          <p:nvPr/>
        </p:nvSpPr>
        <p:spPr>
          <a:xfrm>
            <a:off x="9241560" y="3906720"/>
            <a:ext cx="304560" cy="28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1" lang="en-US" sz="1729" strike="noStrike" u="none">
                <a:solidFill>
                  <a:srgbClr val="ffffff"/>
                </a:solidFill>
                <a:effectLst/>
                <a:uFillTx/>
                <a:latin typeface="Century Gothic"/>
                <a:ea typeface="Century Gothic"/>
              </a:rPr>
              <a:t>1</a:t>
            </a:r>
            <a:endParaRPr b="0" lang="en-US" sz="1729" strike="noStrike" u="none">
              <a:solidFill>
                <a:srgbClr val="000000"/>
              </a:solidFill>
              <a:effectLst/>
              <a:uFillTx/>
              <a:latin typeface="Arial"/>
            </a:endParaRPr>
          </a:p>
        </p:txBody>
      </p:sp>
      <p:sp>
        <p:nvSpPr>
          <p:cNvPr id="3428" name="Oval 368"/>
          <p:cNvSpPr/>
          <p:nvPr/>
        </p:nvSpPr>
        <p:spPr>
          <a:xfrm>
            <a:off x="8673840" y="5188680"/>
            <a:ext cx="132840" cy="132840"/>
          </a:xfrm>
          <a:prstGeom prst="ellipse">
            <a:avLst/>
          </a:prstGeom>
          <a:solidFill>
            <a:srgbClr val="217e86"/>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29" name="Oval 369"/>
          <p:cNvSpPr/>
          <p:nvPr/>
        </p:nvSpPr>
        <p:spPr>
          <a:xfrm>
            <a:off x="8569080" y="5083920"/>
            <a:ext cx="342720" cy="342720"/>
          </a:xfrm>
          <a:prstGeom prst="ellipse">
            <a:avLst/>
          </a:prstGeom>
          <a:solidFill>
            <a:srgbClr val="217e86"/>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30" name="Rectangle 370"/>
          <p:cNvSpPr/>
          <p:nvPr/>
        </p:nvSpPr>
        <p:spPr>
          <a:xfrm>
            <a:off x="8588160" y="5131800"/>
            <a:ext cx="304560" cy="28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1" lang="en-US" sz="1729" strike="noStrike" u="none">
                <a:solidFill>
                  <a:srgbClr val="ffffff"/>
                </a:solidFill>
                <a:effectLst/>
                <a:uFillTx/>
                <a:latin typeface="Century Gothic"/>
                <a:ea typeface="Century Gothic"/>
              </a:rPr>
              <a:t>3</a:t>
            </a:r>
            <a:endParaRPr b="0" lang="en-US" sz="1729" strike="noStrike" u="none">
              <a:solidFill>
                <a:srgbClr val="000000"/>
              </a:solidFill>
              <a:effectLst/>
              <a:uFillTx/>
              <a:latin typeface="Arial"/>
            </a:endParaRPr>
          </a:p>
        </p:txBody>
      </p:sp>
      <p:sp>
        <p:nvSpPr>
          <p:cNvPr id="3431" name="Oval 371"/>
          <p:cNvSpPr/>
          <p:nvPr/>
        </p:nvSpPr>
        <p:spPr>
          <a:xfrm>
            <a:off x="8809920" y="7752960"/>
            <a:ext cx="132840" cy="132840"/>
          </a:xfrm>
          <a:prstGeom prst="ellipse">
            <a:avLst/>
          </a:prstGeom>
          <a:solidFill>
            <a:srgbClr val="217e86"/>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32" name="Oval 372"/>
          <p:cNvSpPr/>
          <p:nvPr/>
        </p:nvSpPr>
        <p:spPr>
          <a:xfrm>
            <a:off x="8705160" y="7648200"/>
            <a:ext cx="342720" cy="342720"/>
          </a:xfrm>
          <a:prstGeom prst="ellipse">
            <a:avLst/>
          </a:prstGeom>
          <a:solidFill>
            <a:srgbClr val="217e86"/>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33" name="Rectangle 373"/>
          <p:cNvSpPr/>
          <p:nvPr/>
        </p:nvSpPr>
        <p:spPr>
          <a:xfrm>
            <a:off x="8723880" y="7695720"/>
            <a:ext cx="304560" cy="28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1" lang="en-US" sz="1729" strike="noStrike" u="none">
                <a:solidFill>
                  <a:srgbClr val="ffffff"/>
                </a:solidFill>
                <a:effectLst/>
                <a:uFillTx/>
                <a:latin typeface="Century Gothic"/>
                <a:ea typeface="Century Gothic"/>
              </a:rPr>
              <a:t>4</a:t>
            </a:r>
            <a:endParaRPr b="0" lang="en-US" sz="1729" strike="noStrike" u="none">
              <a:solidFill>
                <a:srgbClr val="000000"/>
              </a:solidFill>
              <a:effectLst/>
              <a:uFillTx/>
              <a:latin typeface="Arial"/>
            </a:endParaRPr>
          </a:p>
        </p:txBody>
      </p:sp>
      <p:sp>
        <p:nvSpPr>
          <p:cNvPr id="3434" name="Oval 374"/>
          <p:cNvSpPr/>
          <p:nvPr/>
        </p:nvSpPr>
        <p:spPr>
          <a:xfrm>
            <a:off x="9167040" y="8147520"/>
            <a:ext cx="132840" cy="132840"/>
          </a:xfrm>
          <a:prstGeom prst="ellipse">
            <a:avLst/>
          </a:prstGeom>
          <a:solidFill>
            <a:srgbClr val="217e86"/>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35" name="Oval 375"/>
          <p:cNvSpPr/>
          <p:nvPr/>
        </p:nvSpPr>
        <p:spPr>
          <a:xfrm>
            <a:off x="9062280" y="8042760"/>
            <a:ext cx="342720" cy="342720"/>
          </a:xfrm>
          <a:prstGeom prst="ellipse">
            <a:avLst/>
          </a:prstGeom>
          <a:solidFill>
            <a:srgbClr val="217e86"/>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36" name="Rectangle 376"/>
          <p:cNvSpPr/>
          <p:nvPr/>
        </p:nvSpPr>
        <p:spPr>
          <a:xfrm>
            <a:off x="9081360" y="8090640"/>
            <a:ext cx="304560" cy="28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1" lang="en-US" sz="1729" strike="noStrike" u="none">
                <a:solidFill>
                  <a:srgbClr val="ffffff"/>
                </a:solidFill>
                <a:effectLst/>
                <a:uFillTx/>
                <a:latin typeface="Century Gothic"/>
                <a:ea typeface="Century Gothic"/>
              </a:rPr>
              <a:t>6</a:t>
            </a:r>
            <a:endParaRPr b="0" lang="en-US" sz="1729" strike="noStrike" u="none">
              <a:solidFill>
                <a:srgbClr val="000000"/>
              </a:solidFill>
              <a:effectLst/>
              <a:uFillTx/>
              <a:latin typeface="Arial"/>
            </a:endParaRPr>
          </a:p>
        </p:txBody>
      </p:sp>
      <p:sp>
        <p:nvSpPr>
          <p:cNvPr id="3437" name="Oval 377"/>
          <p:cNvSpPr/>
          <p:nvPr/>
        </p:nvSpPr>
        <p:spPr>
          <a:xfrm>
            <a:off x="11291040" y="7679520"/>
            <a:ext cx="132840" cy="132840"/>
          </a:xfrm>
          <a:prstGeom prst="ellipse">
            <a:avLst/>
          </a:prstGeom>
          <a:solidFill>
            <a:srgbClr val="217e86"/>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38" name="Oval 378"/>
          <p:cNvSpPr/>
          <p:nvPr/>
        </p:nvSpPr>
        <p:spPr>
          <a:xfrm>
            <a:off x="11186280" y="7574760"/>
            <a:ext cx="342720" cy="342720"/>
          </a:xfrm>
          <a:prstGeom prst="ellipse">
            <a:avLst/>
          </a:prstGeom>
          <a:solidFill>
            <a:srgbClr val="217e86"/>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39" name="Rectangle 379"/>
          <p:cNvSpPr/>
          <p:nvPr/>
        </p:nvSpPr>
        <p:spPr>
          <a:xfrm>
            <a:off x="11205360" y="7622280"/>
            <a:ext cx="304560" cy="28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1" lang="en-US" sz="1729" strike="noStrike" u="none">
                <a:solidFill>
                  <a:srgbClr val="ffffff"/>
                </a:solidFill>
                <a:effectLst/>
                <a:uFillTx/>
                <a:latin typeface="Century Gothic"/>
                <a:ea typeface="Century Gothic"/>
              </a:rPr>
              <a:t>8</a:t>
            </a:r>
            <a:endParaRPr b="0" lang="en-US" sz="1729" strike="noStrike" u="none">
              <a:solidFill>
                <a:srgbClr val="000000"/>
              </a:solidFill>
              <a:effectLst/>
              <a:uFillTx/>
              <a:latin typeface="Arial"/>
            </a:endParaRPr>
          </a:p>
        </p:txBody>
      </p:sp>
      <p:sp>
        <p:nvSpPr>
          <p:cNvPr id="3440" name="Oval 380"/>
          <p:cNvSpPr/>
          <p:nvPr/>
        </p:nvSpPr>
        <p:spPr>
          <a:xfrm>
            <a:off x="9141480" y="6081480"/>
            <a:ext cx="132840" cy="132840"/>
          </a:xfrm>
          <a:prstGeom prst="ellipse">
            <a:avLst/>
          </a:prstGeom>
          <a:solidFill>
            <a:srgbClr val="217e86"/>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41" name="Oval 381"/>
          <p:cNvSpPr/>
          <p:nvPr/>
        </p:nvSpPr>
        <p:spPr>
          <a:xfrm>
            <a:off x="9036720" y="5976720"/>
            <a:ext cx="342720" cy="342720"/>
          </a:xfrm>
          <a:prstGeom prst="ellipse">
            <a:avLst/>
          </a:prstGeom>
          <a:solidFill>
            <a:srgbClr val="217e86"/>
          </a:solidFill>
          <a:ln w="14288">
            <a:solidFill>
              <a:srgbClr val="f8fafc"/>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42" name="Rectangle 382"/>
          <p:cNvSpPr/>
          <p:nvPr/>
        </p:nvSpPr>
        <p:spPr>
          <a:xfrm>
            <a:off x="9055800" y="6024240"/>
            <a:ext cx="304560" cy="2854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pPr>
            <a:r>
              <a:rPr b="1" lang="en-US" sz="1729" strike="noStrike" u="none">
                <a:solidFill>
                  <a:srgbClr val="ffffff"/>
                </a:solidFill>
                <a:effectLst/>
                <a:uFillTx/>
                <a:latin typeface="Century Gothic"/>
                <a:ea typeface="Century Gothic"/>
              </a:rPr>
              <a:t>11</a:t>
            </a:r>
            <a:endParaRPr b="0" lang="en-US" sz="1729" strike="noStrike" u="none">
              <a:solidFill>
                <a:srgbClr val="000000"/>
              </a:solidFill>
              <a:effectLst/>
              <a:uFillTx/>
              <a:latin typeface="Arial"/>
            </a:endParaRPr>
          </a:p>
        </p:txBody>
      </p:sp>
      <p:sp>
        <p:nvSpPr>
          <p:cNvPr id="3443" name="Rectangle 383"/>
          <p:cNvSpPr/>
          <p:nvPr/>
        </p:nvSpPr>
        <p:spPr>
          <a:xfrm>
            <a:off x="12972960" y="2905200"/>
            <a:ext cx="6188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870" strike="noStrike" u="none">
                <a:solidFill>
                  <a:srgbClr val="217e86"/>
                </a:solidFill>
                <a:effectLst/>
                <a:uFillTx/>
                <a:latin typeface="Century Gothic"/>
                <a:ea typeface="Century Gothic"/>
              </a:rPr>
              <a:t>01</a:t>
            </a:r>
            <a:endParaRPr b="0" lang="en-US" sz="1870" strike="noStrike" u="none">
              <a:solidFill>
                <a:srgbClr val="000000"/>
              </a:solidFill>
              <a:effectLst/>
              <a:uFillTx/>
              <a:latin typeface="Arial"/>
            </a:endParaRPr>
          </a:p>
        </p:txBody>
      </p:sp>
      <p:sp>
        <p:nvSpPr>
          <p:cNvPr id="3444" name="Rectangle 384"/>
          <p:cNvSpPr/>
          <p:nvPr/>
        </p:nvSpPr>
        <p:spPr>
          <a:xfrm>
            <a:off x="13782600" y="2905200"/>
            <a:ext cx="847692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70" strike="noStrike" u="none">
                <a:solidFill>
                  <a:srgbClr val="14293d"/>
                </a:solidFill>
                <a:effectLst/>
                <a:uFillTx/>
                <a:latin typeface="Century Gothic"/>
                <a:ea typeface="Century Gothic"/>
              </a:rPr>
              <a:t>Ratchapha Thapthim Ruam Chai</a:t>
            </a:r>
            <a:endParaRPr b="0" lang="en-US" sz="1870" strike="noStrike" u="none">
              <a:solidFill>
                <a:srgbClr val="000000"/>
              </a:solidFill>
              <a:effectLst/>
              <a:uFillTx/>
              <a:latin typeface="Arial"/>
            </a:endParaRPr>
          </a:p>
        </p:txBody>
      </p:sp>
      <p:sp>
        <p:nvSpPr>
          <p:cNvPr id="3445" name="Rectangle 385"/>
          <p:cNvSpPr/>
          <p:nvPr/>
        </p:nvSpPr>
        <p:spPr>
          <a:xfrm>
            <a:off x="12972960" y="3390840"/>
            <a:ext cx="6188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870" strike="noStrike" u="none">
                <a:solidFill>
                  <a:srgbClr val="217e86"/>
                </a:solidFill>
                <a:effectLst/>
                <a:uFillTx/>
                <a:latin typeface="Century Gothic"/>
                <a:ea typeface="Century Gothic"/>
              </a:rPr>
              <a:t>02</a:t>
            </a:r>
            <a:endParaRPr b="0" lang="en-US" sz="1870" strike="noStrike" u="none">
              <a:solidFill>
                <a:srgbClr val="000000"/>
              </a:solidFill>
              <a:effectLst/>
              <a:uFillTx/>
              <a:latin typeface="Arial"/>
            </a:endParaRPr>
          </a:p>
        </p:txBody>
      </p:sp>
      <p:sp>
        <p:nvSpPr>
          <p:cNvPr id="3446" name="Rectangle 386"/>
          <p:cNvSpPr/>
          <p:nvPr/>
        </p:nvSpPr>
        <p:spPr>
          <a:xfrm>
            <a:off x="13782600" y="3390840"/>
            <a:ext cx="847692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70" strike="noStrike" u="none">
                <a:solidFill>
                  <a:srgbClr val="14293d"/>
                </a:solidFill>
                <a:effectLst/>
                <a:uFillTx/>
                <a:latin typeface="Century Gothic"/>
                <a:ea typeface="Century Gothic"/>
              </a:rPr>
              <a:t>Thewarat Kunchon</a:t>
            </a:r>
            <a:endParaRPr b="0" lang="en-US" sz="1870" strike="noStrike" u="none">
              <a:solidFill>
                <a:srgbClr val="000000"/>
              </a:solidFill>
              <a:effectLst/>
              <a:uFillTx/>
              <a:latin typeface="Arial"/>
            </a:endParaRPr>
          </a:p>
        </p:txBody>
      </p:sp>
      <p:sp>
        <p:nvSpPr>
          <p:cNvPr id="3447" name="Rectangle 387"/>
          <p:cNvSpPr/>
          <p:nvPr/>
        </p:nvSpPr>
        <p:spPr>
          <a:xfrm>
            <a:off x="12972960" y="3876840"/>
            <a:ext cx="6188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870" strike="noStrike" u="none">
                <a:solidFill>
                  <a:srgbClr val="217e86"/>
                </a:solidFill>
                <a:effectLst/>
                <a:uFillTx/>
                <a:latin typeface="Century Gothic"/>
                <a:ea typeface="Century Gothic"/>
              </a:rPr>
              <a:t>03</a:t>
            </a:r>
            <a:endParaRPr b="0" lang="en-US" sz="1870" strike="noStrike" u="none">
              <a:solidFill>
                <a:srgbClr val="000000"/>
              </a:solidFill>
              <a:effectLst/>
              <a:uFillTx/>
              <a:latin typeface="Arial"/>
            </a:endParaRPr>
          </a:p>
        </p:txBody>
      </p:sp>
      <p:sp>
        <p:nvSpPr>
          <p:cNvPr id="3448" name="Rectangle 388"/>
          <p:cNvSpPr/>
          <p:nvPr/>
        </p:nvSpPr>
        <p:spPr>
          <a:xfrm>
            <a:off x="13782600" y="3876840"/>
            <a:ext cx="847692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70" strike="noStrike" u="none">
                <a:solidFill>
                  <a:srgbClr val="14293d"/>
                </a:solidFill>
                <a:effectLst/>
                <a:uFillTx/>
                <a:latin typeface="Century Gothic"/>
                <a:ea typeface="Century Gothic"/>
              </a:rPr>
              <a:t>Tha Wang</a:t>
            </a:r>
            <a:endParaRPr b="0" lang="en-US" sz="1870" strike="noStrike" u="none">
              <a:solidFill>
                <a:srgbClr val="000000"/>
              </a:solidFill>
              <a:effectLst/>
              <a:uFillTx/>
              <a:latin typeface="Arial"/>
            </a:endParaRPr>
          </a:p>
        </p:txBody>
      </p:sp>
      <p:sp>
        <p:nvSpPr>
          <p:cNvPr id="3449" name="Rectangle 389"/>
          <p:cNvSpPr/>
          <p:nvPr/>
        </p:nvSpPr>
        <p:spPr>
          <a:xfrm>
            <a:off x="12972960" y="4362480"/>
            <a:ext cx="6188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870" strike="noStrike" u="none">
                <a:solidFill>
                  <a:srgbClr val="217e86"/>
                </a:solidFill>
                <a:effectLst/>
                <a:uFillTx/>
                <a:latin typeface="Century Gothic"/>
                <a:ea typeface="Century Gothic"/>
              </a:rPr>
              <a:t>04</a:t>
            </a:r>
            <a:endParaRPr b="0" lang="en-US" sz="1870" strike="noStrike" u="none">
              <a:solidFill>
                <a:srgbClr val="000000"/>
              </a:solidFill>
              <a:effectLst/>
              <a:uFillTx/>
              <a:latin typeface="Arial"/>
            </a:endParaRPr>
          </a:p>
        </p:txBody>
      </p:sp>
      <p:sp>
        <p:nvSpPr>
          <p:cNvPr id="3450" name="Rectangle 390"/>
          <p:cNvSpPr/>
          <p:nvPr/>
        </p:nvSpPr>
        <p:spPr>
          <a:xfrm>
            <a:off x="13782600" y="4362480"/>
            <a:ext cx="847692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70" strike="noStrike" u="none">
                <a:solidFill>
                  <a:srgbClr val="14293d"/>
                </a:solidFill>
                <a:effectLst/>
                <a:uFillTx/>
                <a:latin typeface="Century Gothic"/>
                <a:ea typeface="Century Gothic"/>
              </a:rPr>
              <a:t>Mata Nuson</a:t>
            </a:r>
            <a:endParaRPr b="0" lang="en-US" sz="1870" strike="noStrike" u="none">
              <a:solidFill>
                <a:srgbClr val="000000"/>
              </a:solidFill>
              <a:effectLst/>
              <a:uFillTx/>
              <a:latin typeface="Arial"/>
            </a:endParaRPr>
          </a:p>
        </p:txBody>
      </p:sp>
      <p:sp>
        <p:nvSpPr>
          <p:cNvPr id="3451" name="Rectangle 391"/>
          <p:cNvSpPr/>
          <p:nvPr/>
        </p:nvSpPr>
        <p:spPr>
          <a:xfrm>
            <a:off x="12972960" y="4848120"/>
            <a:ext cx="6188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870" strike="noStrike" u="none">
                <a:solidFill>
                  <a:srgbClr val="217e86"/>
                </a:solidFill>
                <a:effectLst/>
                <a:uFillTx/>
                <a:latin typeface="Century Gothic"/>
                <a:ea typeface="Century Gothic"/>
              </a:rPr>
              <a:t>05</a:t>
            </a:r>
            <a:endParaRPr b="0" lang="en-US" sz="1870" strike="noStrike" u="none">
              <a:solidFill>
                <a:srgbClr val="000000"/>
              </a:solidFill>
              <a:effectLst/>
              <a:uFillTx/>
              <a:latin typeface="Arial"/>
            </a:endParaRPr>
          </a:p>
        </p:txBody>
      </p:sp>
      <p:sp>
        <p:nvSpPr>
          <p:cNvPr id="3452" name="Rectangle 392"/>
          <p:cNvSpPr/>
          <p:nvPr/>
        </p:nvSpPr>
        <p:spPr>
          <a:xfrm>
            <a:off x="13782600" y="4848120"/>
            <a:ext cx="847692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70" strike="noStrike" u="none">
                <a:solidFill>
                  <a:srgbClr val="14293d"/>
                </a:solidFill>
                <a:effectLst/>
                <a:uFillTx/>
                <a:latin typeface="Century Gothic"/>
                <a:ea typeface="Century Gothic"/>
              </a:rPr>
              <a:t>Behind Charoen Krung Hospital</a:t>
            </a:r>
            <a:endParaRPr b="0" lang="en-US" sz="1870" strike="noStrike" u="none">
              <a:solidFill>
                <a:srgbClr val="000000"/>
              </a:solidFill>
              <a:effectLst/>
              <a:uFillTx/>
              <a:latin typeface="Arial"/>
            </a:endParaRPr>
          </a:p>
        </p:txBody>
      </p:sp>
      <p:sp>
        <p:nvSpPr>
          <p:cNvPr id="3453" name="Rectangle 393"/>
          <p:cNvSpPr/>
          <p:nvPr/>
        </p:nvSpPr>
        <p:spPr>
          <a:xfrm>
            <a:off x="12972960" y="5334120"/>
            <a:ext cx="6188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870" strike="noStrike" u="none">
                <a:solidFill>
                  <a:srgbClr val="217e86"/>
                </a:solidFill>
                <a:effectLst/>
                <a:uFillTx/>
                <a:latin typeface="Century Gothic"/>
                <a:ea typeface="Century Gothic"/>
              </a:rPr>
              <a:t>06</a:t>
            </a:r>
            <a:endParaRPr b="0" lang="en-US" sz="1870" strike="noStrike" u="none">
              <a:solidFill>
                <a:srgbClr val="000000"/>
              </a:solidFill>
              <a:effectLst/>
              <a:uFillTx/>
              <a:latin typeface="Arial"/>
            </a:endParaRPr>
          </a:p>
        </p:txBody>
      </p:sp>
      <p:sp>
        <p:nvSpPr>
          <p:cNvPr id="3454" name="Rectangle 394"/>
          <p:cNvSpPr/>
          <p:nvPr/>
        </p:nvSpPr>
        <p:spPr>
          <a:xfrm>
            <a:off x="13782600" y="5334120"/>
            <a:ext cx="847692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70" strike="noStrike" u="none">
                <a:solidFill>
                  <a:srgbClr val="14293d"/>
                </a:solidFill>
                <a:effectLst/>
                <a:uFillTx/>
                <a:latin typeface="Century Gothic"/>
                <a:ea typeface="Century Gothic"/>
              </a:rPr>
              <a:t>Soi Wat In Ban Chong</a:t>
            </a:r>
            <a:endParaRPr b="0" lang="en-US" sz="1870" strike="noStrike" u="none">
              <a:solidFill>
                <a:srgbClr val="000000"/>
              </a:solidFill>
              <a:effectLst/>
              <a:uFillTx/>
              <a:latin typeface="Arial"/>
            </a:endParaRPr>
          </a:p>
        </p:txBody>
      </p:sp>
      <p:sp>
        <p:nvSpPr>
          <p:cNvPr id="3455" name="Rectangle 395"/>
          <p:cNvSpPr/>
          <p:nvPr/>
        </p:nvSpPr>
        <p:spPr>
          <a:xfrm>
            <a:off x="12972960" y="5819760"/>
            <a:ext cx="6188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870" strike="noStrike" u="none">
                <a:solidFill>
                  <a:srgbClr val="217e86"/>
                </a:solidFill>
                <a:effectLst/>
                <a:uFillTx/>
                <a:latin typeface="Century Gothic"/>
                <a:ea typeface="Century Gothic"/>
              </a:rPr>
              <a:t>07</a:t>
            </a:r>
            <a:endParaRPr b="0" lang="en-US" sz="1870" strike="noStrike" u="none">
              <a:solidFill>
                <a:srgbClr val="000000"/>
              </a:solidFill>
              <a:effectLst/>
              <a:uFillTx/>
              <a:latin typeface="Arial"/>
            </a:endParaRPr>
          </a:p>
        </p:txBody>
      </p:sp>
      <p:sp>
        <p:nvSpPr>
          <p:cNvPr id="3456" name="Rectangle 396"/>
          <p:cNvSpPr/>
          <p:nvPr/>
        </p:nvSpPr>
        <p:spPr>
          <a:xfrm>
            <a:off x="13782600" y="5819760"/>
            <a:ext cx="847692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70" strike="noStrike" u="none">
                <a:solidFill>
                  <a:srgbClr val="14293d"/>
                </a:solidFill>
                <a:effectLst/>
                <a:uFillTx/>
                <a:latin typeface="Century Gothic"/>
                <a:ea typeface="Century Gothic"/>
              </a:rPr>
              <a:t>Wat Bang Khlo Nok</a:t>
            </a:r>
            <a:endParaRPr b="0" lang="en-US" sz="1870" strike="noStrike" u="none">
              <a:solidFill>
                <a:srgbClr val="000000"/>
              </a:solidFill>
              <a:effectLst/>
              <a:uFillTx/>
              <a:latin typeface="Arial"/>
            </a:endParaRPr>
          </a:p>
        </p:txBody>
      </p:sp>
      <p:sp>
        <p:nvSpPr>
          <p:cNvPr id="3457" name="Rectangle 397"/>
          <p:cNvSpPr/>
          <p:nvPr/>
        </p:nvSpPr>
        <p:spPr>
          <a:xfrm>
            <a:off x="12972960" y="6305400"/>
            <a:ext cx="6188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870" strike="noStrike" u="none">
                <a:solidFill>
                  <a:srgbClr val="217e86"/>
                </a:solidFill>
                <a:effectLst/>
                <a:uFillTx/>
                <a:latin typeface="Century Gothic"/>
                <a:ea typeface="Century Gothic"/>
              </a:rPr>
              <a:t>08</a:t>
            </a:r>
            <a:endParaRPr b="0" lang="en-US" sz="1870" strike="noStrike" u="none">
              <a:solidFill>
                <a:srgbClr val="000000"/>
              </a:solidFill>
              <a:effectLst/>
              <a:uFillTx/>
              <a:latin typeface="Arial"/>
            </a:endParaRPr>
          </a:p>
        </p:txBody>
      </p:sp>
      <p:sp>
        <p:nvSpPr>
          <p:cNvPr id="3458" name="Rectangle 398"/>
          <p:cNvSpPr/>
          <p:nvPr/>
        </p:nvSpPr>
        <p:spPr>
          <a:xfrm>
            <a:off x="13782600" y="6305400"/>
            <a:ext cx="847692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70" strike="noStrike" u="none">
                <a:solidFill>
                  <a:srgbClr val="14293d"/>
                </a:solidFill>
                <a:effectLst/>
                <a:uFillTx/>
                <a:latin typeface="Century Gothic"/>
                <a:ea typeface="Century Gothic"/>
              </a:rPr>
              <a:t>Rice Mill, Rama III Road</a:t>
            </a:r>
            <a:endParaRPr b="0" lang="en-US" sz="1870" strike="noStrike" u="none">
              <a:solidFill>
                <a:srgbClr val="000000"/>
              </a:solidFill>
              <a:effectLst/>
              <a:uFillTx/>
              <a:latin typeface="Arial"/>
            </a:endParaRPr>
          </a:p>
        </p:txBody>
      </p:sp>
      <p:sp>
        <p:nvSpPr>
          <p:cNvPr id="3459" name="Rectangle 399"/>
          <p:cNvSpPr/>
          <p:nvPr/>
        </p:nvSpPr>
        <p:spPr>
          <a:xfrm>
            <a:off x="12972960" y="6791400"/>
            <a:ext cx="6188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870" strike="noStrike" u="none">
                <a:solidFill>
                  <a:srgbClr val="217e86"/>
                </a:solidFill>
                <a:effectLst/>
                <a:uFillTx/>
                <a:latin typeface="Century Gothic"/>
                <a:ea typeface="Century Gothic"/>
              </a:rPr>
              <a:t>09</a:t>
            </a:r>
            <a:endParaRPr b="0" lang="en-US" sz="1870" strike="noStrike" u="none">
              <a:solidFill>
                <a:srgbClr val="000000"/>
              </a:solidFill>
              <a:effectLst/>
              <a:uFillTx/>
              <a:latin typeface="Arial"/>
            </a:endParaRPr>
          </a:p>
        </p:txBody>
      </p:sp>
      <p:sp>
        <p:nvSpPr>
          <p:cNvPr id="3460" name="Rectangle 400"/>
          <p:cNvSpPr/>
          <p:nvPr/>
        </p:nvSpPr>
        <p:spPr>
          <a:xfrm>
            <a:off x="13782600" y="6791400"/>
            <a:ext cx="847692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70" strike="noStrike" u="none">
                <a:solidFill>
                  <a:srgbClr val="14293d"/>
                </a:solidFill>
                <a:effectLst/>
                <a:uFillTx/>
                <a:latin typeface="Century Gothic"/>
                <a:ea typeface="Century Gothic"/>
              </a:rPr>
              <a:t>Wat Dusit Nimit Mai</a:t>
            </a:r>
            <a:endParaRPr b="0" lang="en-US" sz="1870" strike="noStrike" u="none">
              <a:solidFill>
                <a:srgbClr val="000000"/>
              </a:solidFill>
              <a:effectLst/>
              <a:uFillTx/>
              <a:latin typeface="Arial"/>
            </a:endParaRPr>
          </a:p>
        </p:txBody>
      </p:sp>
      <p:sp>
        <p:nvSpPr>
          <p:cNvPr id="3461" name="Rectangle 401"/>
          <p:cNvSpPr/>
          <p:nvPr/>
        </p:nvSpPr>
        <p:spPr>
          <a:xfrm>
            <a:off x="12972960" y="7277040"/>
            <a:ext cx="6188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870" strike="noStrike" u="none">
                <a:solidFill>
                  <a:srgbClr val="217e86"/>
                </a:solidFill>
                <a:effectLst/>
                <a:uFillTx/>
                <a:latin typeface="Century Gothic"/>
                <a:ea typeface="Century Gothic"/>
              </a:rPr>
              <a:t>10</a:t>
            </a:r>
            <a:endParaRPr b="0" lang="en-US" sz="1870" strike="noStrike" u="none">
              <a:solidFill>
                <a:srgbClr val="000000"/>
              </a:solidFill>
              <a:effectLst/>
              <a:uFillTx/>
              <a:latin typeface="Arial"/>
            </a:endParaRPr>
          </a:p>
        </p:txBody>
      </p:sp>
      <p:sp>
        <p:nvSpPr>
          <p:cNvPr id="3462" name="Rectangle 402"/>
          <p:cNvSpPr/>
          <p:nvPr/>
        </p:nvSpPr>
        <p:spPr>
          <a:xfrm>
            <a:off x="13782600" y="7277040"/>
            <a:ext cx="847692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70" strike="noStrike" u="none">
                <a:solidFill>
                  <a:srgbClr val="14293d"/>
                </a:solidFill>
                <a:effectLst/>
                <a:uFillTx/>
                <a:latin typeface="Century Gothic"/>
                <a:ea typeface="Century Gothic"/>
              </a:rPr>
              <a:t>End of Soi Charoen Krung 29/2</a:t>
            </a:r>
            <a:endParaRPr b="0" lang="en-US" sz="1870" strike="noStrike" u="none">
              <a:solidFill>
                <a:srgbClr val="000000"/>
              </a:solidFill>
              <a:effectLst/>
              <a:uFillTx/>
              <a:latin typeface="Arial"/>
            </a:endParaRPr>
          </a:p>
        </p:txBody>
      </p:sp>
      <p:sp>
        <p:nvSpPr>
          <p:cNvPr id="3463" name="Rectangle 403"/>
          <p:cNvSpPr/>
          <p:nvPr/>
        </p:nvSpPr>
        <p:spPr>
          <a:xfrm>
            <a:off x="12972960" y="7763040"/>
            <a:ext cx="61884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1870" strike="noStrike" u="none">
                <a:solidFill>
                  <a:srgbClr val="217e86"/>
                </a:solidFill>
                <a:effectLst/>
                <a:uFillTx/>
                <a:latin typeface="Century Gothic"/>
                <a:ea typeface="Century Gothic"/>
              </a:rPr>
              <a:t>11</a:t>
            </a:r>
            <a:endParaRPr b="0" lang="en-US" sz="1870" strike="noStrike" u="none">
              <a:solidFill>
                <a:srgbClr val="000000"/>
              </a:solidFill>
              <a:effectLst/>
              <a:uFillTx/>
              <a:latin typeface="Arial"/>
            </a:endParaRPr>
          </a:p>
        </p:txBody>
      </p:sp>
      <p:sp>
        <p:nvSpPr>
          <p:cNvPr id="3464" name="Rectangle 404"/>
          <p:cNvSpPr/>
          <p:nvPr/>
        </p:nvSpPr>
        <p:spPr>
          <a:xfrm>
            <a:off x="13782600" y="7763040"/>
            <a:ext cx="847692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70" strike="noStrike" u="none">
                <a:solidFill>
                  <a:srgbClr val="14293d"/>
                </a:solidFill>
                <a:effectLst/>
                <a:uFillTx/>
                <a:latin typeface="Century Gothic"/>
                <a:ea typeface="Century Gothic"/>
              </a:rPr>
              <a:t>Chang Nak–Saphan Yao</a:t>
            </a:r>
            <a:endParaRPr b="0" lang="en-US" sz="1870" strike="noStrike" u="none">
              <a:solidFill>
                <a:srgbClr val="000000"/>
              </a:solidFill>
              <a:effectLst/>
              <a:uFillTx/>
              <a:latin typeface="Arial"/>
            </a:endParaRPr>
          </a:p>
        </p:txBody>
      </p:sp>
      <p:sp>
        <p:nvSpPr>
          <p:cNvPr id="3465" name="Rectangle 405"/>
          <p:cNvSpPr/>
          <p:nvPr/>
        </p:nvSpPr>
        <p:spPr>
          <a:xfrm>
            <a:off x="12536640" y="8371800"/>
            <a:ext cx="5735520" cy="7138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Six coordinate matches in the available file. Five locations remain unmatched or unconfirmed.</a:t>
            </a:r>
            <a:endParaRPr b="0" lang="en-US" sz="1800" strike="noStrike" u="none">
              <a:solidFill>
                <a:srgbClr val="000000"/>
              </a:solidFill>
              <a:effectLst/>
              <a:uFillTx/>
              <a:latin typeface="Arial"/>
            </a:endParaRPr>
          </a:p>
        </p:txBody>
      </p:sp>
      <p:pic>
        <p:nvPicPr>
          <p:cNvPr id="3466" name="Picture 407" descr="น้ำท่วมกทม. 2569 โซเชียลทะลุ 40 ล้านเอนเกจเมนต์"/>
          <p:cNvPicPr/>
          <p:nvPr/>
        </p:nvPicPr>
        <p:blipFill>
          <a:blip r:embed="rId1"/>
          <a:srcRect l="40018" t="0" r="6114" b="0"/>
          <a:stretch/>
        </p:blipFill>
        <p:spPr>
          <a:xfrm>
            <a:off x="762120" y="2546280"/>
            <a:ext cx="6365520" cy="665244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467" name="Freeform: Shape 13"/>
          <p:cNvSpPr/>
          <p:nvPr/>
        </p:nvSpPr>
        <p:spPr>
          <a:xfrm>
            <a:off x="952560" y="685800"/>
            <a:ext cx="16382520" cy="720"/>
          </a:xfrm>
          <a:custGeom>
            <a:avLst/>
            <a:gdLst/>
            <a:ahLst/>
            <a:rect l="l" t="t" r="r" b="b"/>
            <a:pathLst>
              <a:path w="16383000" h="953">
                <a:moveTo>
                  <a:pt x="0" y="0"/>
                </a:moveTo>
                <a:lnTo>
                  <a:pt x="16383000" y="0"/>
                </a:lnTo>
              </a:path>
            </a:pathLst>
          </a:custGeom>
          <a:noFill/>
          <a:ln w="28575">
            <a:solidFill>
              <a:srgbClr val="217e86"/>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68" name="Rectangle 1"/>
          <p:cNvSpPr/>
          <p:nvPr/>
        </p:nvSpPr>
        <p:spPr>
          <a:xfrm>
            <a:off x="952560" y="905040"/>
            <a:ext cx="16287480" cy="11426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rgbClr val="14293d"/>
                </a:solidFill>
                <a:effectLst/>
                <a:uFillTx/>
                <a:latin typeface="Century Gothic"/>
                <a:ea typeface="Century Gothic"/>
              </a:rPr>
              <a:t>SEA evidence: household burdens</a:t>
            </a:r>
            <a:endParaRPr b="0" lang="en-US" sz="4120" strike="noStrike" u="none">
              <a:solidFill>
                <a:srgbClr val="000000"/>
              </a:solidFill>
              <a:effectLst/>
              <a:uFillTx/>
              <a:latin typeface="Arial"/>
            </a:endParaRPr>
          </a:p>
        </p:txBody>
      </p:sp>
      <p:sp>
        <p:nvSpPr>
          <p:cNvPr id="3469" name="Freeform: Shape 2"/>
          <p:cNvSpPr/>
          <p:nvPr/>
        </p:nvSpPr>
        <p:spPr>
          <a:xfrm>
            <a:off x="952560" y="9429840"/>
            <a:ext cx="16382520" cy="720"/>
          </a:xfrm>
          <a:custGeom>
            <a:avLst/>
            <a:gdLst/>
            <a:ahLst/>
            <a:rect l="l" t="t" r="r" b="b"/>
            <a:pathLst>
              <a:path w="16383000" h="953">
                <a:moveTo>
                  <a:pt x="0" y="0"/>
                </a:moveTo>
                <a:lnTo>
                  <a:pt x="16383000" y="0"/>
                </a:lnTo>
              </a:path>
            </a:pathLst>
          </a:custGeom>
          <a:noFill/>
          <a:ln w="9525">
            <a:solidFill>
              <a:srgbClr val="cad5df"/>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70" name="Rectangle 3"/>
          <p:cNvSpPr/>
          <p:nvPr/>
        </p:nvSpPr>
        <p:spPr>
          <a:xfrm>
            <a:off x="952560" y="9667800"/>
            <a:ext cx="1238220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350" strike="noStrike" u="none">
                <a:solidFill>
                  <a:srgbClr val="526779"/>
                </a:solidFill>
                <a:effectLst/>
                <a:uFillTx/>
                <a:latin typeface="Century Gothic"/>
                <a:ea typeface="Century Gothic"/>
              </a:rPr>
              <a:t>PIXELS TO METRO POLICY / GEOHACKATHON 2026</a:t>
            </a:r>
            <a:endParaRPr b="0" lang="en-US" sz="1350" strike="noStrike" u="none">
              <a:solidFill>
                <a:srgbClr val="000000"/>
              </a:solidFill>
              <a:effectLst/>
              <a:uFillTx/>
              <a:latin typeface="Arial"/>
            </a:endParaRPr>
          </a:p>
        </p:txBody>
      </p:sp>
      <p:sp>
        <p:nvSpPr>
          <p:cNvPr id="3471" name="Rectangle 4"/>
          <p:cNvSpPr/>
          <p:nvPr/>
        </p:nvSpPr>
        <p:spPr>
          <a:xfrm>
            <a:off x="16859160" y="9601200"/>
            <a:ext cx="57132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11</a:t>
            </a:r>
            <a:endParaRPr b="0" lang="en-US" sz="1800" strike="noStrike" u="none">
              <a:solidFill>
                <a:srgbClr val="000000"/>
              </a:solidFill>
              <a:effectLst/>
              <a:uFillTx/>
              <a:latin typeface="Arial"/>
            </a:endParaRPr>
          </a:p>
        </p:txBody>
      </p:sp>
      <p:sp>
        <p:nvSpPr>
          <p:cNvPr id="3472" name="Rectangle 5"/>
          <p:cNvSpPr/>
          <p:nvPr/>
        </p:nvSpPr>
        <p:spPr>
          <a:xfrm>
            <a:off x="952560" y="1952640"/>
            <a:ext cx="1628748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020" strike="noStrike" u="none">
                <a:solidFill>
                  <a:srgbClr val="526779"/>
                </a:solidFill>
                <a:effectLst/>
                <a:uFillTx/>
                <a:latin typeface="Century Gothic"/>
                <a:ea typeface="Century Gothic"/>
              </a:rPr>
              <a:t>Limited income and shared utility meters can compound household vulnerability.</a:t>
            </a:r>
            <a:endParaRPr b="0" lang="en-US" sz="2020" strike="noStrike" u="none">
              <a:solidFill>
                <a:srgbClr val="000000"/>
              </a:solidFill>
              <a:effectLst/>
              <a:uFillTx/>
              <a:latin typeface="Arial"/>
            </a:endParaRPr>
          </a:p>
        </p:txBody>
      </p:sp>
      <p:sp>
        <p:nvSpPr>
          <p:cNvPr id="3473" name="Rectangle 6"/>
          <p:cNvSpPr/>
          <p:nvPr/>
        </p:nvSpPr>
        <p:spPr>
          <a:xfrm>
            <a:off x="952560" y="2476440"/>
            <a:ext cx="7619760" cy="475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00" strike="noStrike" u="none">
                <a:solidFill>
                  <a:srgbClr val="526779"/>
                </a:solidFill>
                <a:effectLst/>
                <a:uFillTx/>
                <a:latin typeface="Century Gothic"/>
                <a:ea typeface="Century Gothic"/>
              </a:rPr>
              <a:t>MONTHLY INCOME PER PERSON</a:t>
            </a:r>
            <a:endParaRPr b="0" lang="en-US" sz="2100" strike="noStrike" u="none">
              <a:solidFill>
                <a:srgbClr val="000000"/>
              </a:solidFill>
              <a:effectLst/>
              <a:uFillTx/>
              <a:latin typeface="Arial"/>
            </a:endParaRPr>
          </a:p>
        </p:txBody>
      </p:sp>
      <p:graphicFrame>
        <p:nvGraphicFramePr>
          <p:cNvPr id="3474" name="Chart"/>
          <p:cNvGraphicFramePr/>
          <p:nvPr/>
        </p:nvGraphicFramePr>
        <p:xfrm>
          <a:off x="666720" y="3333600"/>
          <a:ext cx="7810200" cy="4667040"/>
        </p:xfrm>
        <a:graphic>
          <a:graphicData uri="http://schemas.openxmlformats.org/drawingml/2006/chart">
            <c:chart xmlns:c="http://schemas.openxmlformats.org/drawingml/2006/chart" xmlns:r="http://schemas.openxmlformats.org/officeDocument/2006/relationships" r:id="rId1"/>
          </a:graphicData>
        </a:graphic>
      </p:graphicFrame>
      <p:sp>
        <p:nvSpPr>
          <p:cNvPr id="3475" name="Rectangle 8"/>
          <p:cNvSpPr/>
          <p:nvPr/>
        </p:nvSpPr>
        <p:spPr>
          <a:xfrm>
            <a:off x="952560" y="8381880"/>
            <a:ext cx="7810200" cy="475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250" strike="noStrike" u="none">
                <a:solidFill>
                  <a:srgbClr val="526779"/>
                </a:solidFill>
                <a:effectLst/>
                <a:uFillTx/>
                <a:latin typeface="Century Gothic"/>
                <a:ea typeface="Century Gothic"/>
              </a:rPr>
              <a:t>Baht per person per month</a:t>
            </a:r>
            <a:endParaRPr b="0" lang="en-US" sz="2250" strike="noStrike" u="none">
              <a:solidFill>
                <a:srgbClr val="000000"/>
              </a:solidFill>
              <a:effectLst/>
              <a:uFillTx/>
              <a:latin typeface="Arial"/>
            </a:endParaRPr>
          </a:p>
        </p:txBody>
      </p:sp>
      <p:sp>
        <p:nvSpPr>
          <p:cNvPr id="3476" name="Rectangle 9"/>
          <p:cNvSpPr/>
          <p:nvPr/>
        </p:nvSpPr>
        <p:spPr>
          <a:xfrm>
            <a:off x="9810720" y="2476440"/>
            <a:ext cx="7524360" cy="475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00" strike="noStrike" u="none">
                <a:solidFill>
                  <a:srgbClr val="526779"/>
                </a:solidFill>
                <a:effectLst/>
                <a:uFillTx/>
                <a:latin typeface="Century Gothic"/>
                <a:ea typeface="Century Gothic"/>
              </a:rPr>
              <a:t>ELECTRICITY COST PER UNIT</a:t>
            </a:r>
            <a:endParaRPr b="0" lang="en-US" sz="2100" strike="noStrike" u="none">
              <a:solidFill>
                <a:srgbClr val="000000"/>
              </a:solidFill>
              <a:effectLst/>
              <a:uFillTx/>
              <a:latin typeface="Arial"/>
            </a:endParaRPr>
          </a:p>
        </p:txBody>
      </p:sp>
      <p:graphicFrame>
        <p:nvGraphicFramePr>
          <p:cNvPr id="3477" name="Chart"/>
          <p:cNvGraphicFramePr/>
          <p:nvPr/>
        </p:nvGraphicFramePr>
        <p:xfrm>
          <a:off x="9429840" y="3333600"/>
          <a:ext cx="7905240" cy="4667040"/>
        </p:xfrm>
        <a:graphic>
          <a:graphicData uri="http://schemas.openxmlformats.org/drawingml/2006/chart">
            <c:chart xmlns:c="http://schemas.openxmlformats.org/drawingml/2006/chart" xmlns:r="http://schemas.openxmlformats.org/officeDocument/2006/relationships" r:id="rId2"/>
          </a:graphicData>
        </a:graphic>
      </p:graphicFrame>
      <p:sp>
        <p:nvSpPr>
          <p:cNvPr id="3478" name="Rectangle 11"/>
          <p:cNvSpPr/>
          <p:nvPr/>
        </p:nvSpPr>
        <p:spPr>
          <a:xfrm>
            <a:off x="9810720" y="8381880"/>
            <a:ext cx="7524360" cy="475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250" strike="noStrike" u="none">
                <a:solidFill>
                  <a:srgbClr val="526779"/>
                </a:solidFill>
                <a:effectLst/>
                <a:uFillTx/>
                <a:latin typeface="Century Gothic"/>
                <a:ea typeface="Century Gothic"/>
              </a:rPr>
              <a:t>Bang Na case: about 3.4 times</a:t>
            </a:r>
            <a:endParaRPr b="0" lang="en-US" sz="2250" strike="noStrike" u="none">
              <a:solidFill>
                <a:srgbClr val="000000"/>
              </a:solidFill>
              <a:effectLst/>
              <a:uFillTx/>
              <a:latin typeface="Arial"/>
            </a:endParaRPr>
          </a:p>
        </p:txBody>
      </p:sp>
      <p:sp>
        <p:nvSpPr>
          <p:cNvPr id="3479" name="Rectangle 12"/>
          <p:cNvSpPr/>
          <p:nvPr/>
        </p:nvSpPr>
        <p:spPr>
          <a:xfrm>
            <a:off x="952560" y="9048600"/>
            <a:ext cx="16287480" cy="4284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70" strike="noStrike" u="none">
                <a:solidFill>
                  <a:srgbClr val="526779"/>
                </a:solidFill>
                <a:effectLst/>
                <a:uFillTx/>
                <a:latin typeface="Century Gothic"/>
                <a:ea typeface="Century Gothic"/>
              </a:rPr>
              <a:t>Historical source figures and one shared-meter case. Different populations and reference periods.</a:t>
            </a:r>
            <a:endParaRPr b="0" lang="en-US" sz="1870" strike="noStrike" u="none">
              <a:solidFill>
                <a:srgbClr val="000000"/>
              </a:solidFill>
              <a:effectLst/>
              <a:uFillTx/>
              <a:latin typeface="Arial"/>
            </a:endParaRPr>
          </a:p>
        </p:txBody>
      </p:sp>
      <p:sp>
        <p:nvSpPr>
          <p:cNvPr id="3480" name="Rectangle 14"/>
          <p:cNvSpPr/>
          <p:nvPr/>
        </p:nvSpPr>
        <p:spPr>
          <a:xfrm>
            <a:off x="1104840" y="3191040"/>
            <a:ext cx="3123720" cy="5000400"/>
          </a:xfrm>
          <a:prstGeom prst="rect">
            <a:avLst/>
          </a:prstGeom>
          <a:noFill/>
          <a:ln w="28575">
            <a:solidFill>
              <a:srgbClr val="c00000"/>
            </a:solidFill>
            <a:prstDash val="dash"/>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entury Gothic"/>
            </a:endParaRPr>
          </a:p>
        </p:txBody>
      </p:sp>
      <p:sp>
        <p:nvSpPr>
          <p:cNvPr id="3481" name="Rectangle 15"/>
          <p:cNvSpPr/>
          <p:nvPr/>
        </p:nvSpPr>
        <p:spPr>
          <a:xfrm>
            <a:off x="9810720" y="3191040"/>
            <a:ext cx="3123720" cy="5000400"/>
          </a:xfrm>
          <a:prstGeom prst="rect">
            <a:avLst/>
          </a:prstGeom>
          <a:noFill/>
          <a:ln w="28575">
            <a:solidFill>
              <a:srgbClr val="c00000"/>
            </a:solidFill>
            <a:prstDash val="dash"/>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entury Gothic"/>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3482" name="Freeform: Shape 13"/>
          <p:cNvSpPr/>
          <p:nvPr/>
        </p:nvSpPr>
        <p:spPr>
          <a:xfrm>
            <a:off x="952560" y="685800"/>
            <a:ext cx="16382520" cy="720"/>
          </a:xfrm>
          <a:custGeom>
            <a:avLst/>
            <a:gdLst/>
            <a:ahLst/>
            <a:rect l="l" t="t" r="r" b="b"/>
            <a:pathLst>
              <a:path w="16383000" h="953">
                <a:moveTo>
                  <a:pt x="0" y="0"/>
                </a:moveTo>
                <a:lnTo>
                  <a:pt x="16383000" y="0"/>
                </a:lnTo>
              </a:path>
            </a:pathLst>
          </a:custGeom>
          <a:noFill/>
          <a:ln w="28575">
            <a:solidFill>
              <a:srgbClr val="217e86"/>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483" name="Rectangle 1"/>
          <p:cNvSpPr/>
          <p:nvPr/>
        </p:nvSpPr>
        <p:spPr>
          <a:xfrm>
            <a:off x="952560" y="905040"/>
            <a:ext cx="16287480" cy="11426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rgbClr val="14293d"/>
                </a:solidFill>
                <a:effectLst/>
                <a:uFillTx/>
                <a:latin typeface="Century Gothic"/>
                <a:ea typeface="Century Gothic"/>
              </a:rPr>
              <a:t>Density dominates the morphology diagnostics</a:t>
            </a:r>
            <a:endParaRPr b="0" lang="en-US" sz="4120" strike="noStrike" u="none">
              <a:solidFill>
                <a:srgbClr val="000000"/>
              </a:solidFill>
              <a:effectLst/>
              <a:uFillTx/>
              <a:latin typeface="Arial"/>
            </a:endParaRPr>
          </a:p>
        </p:txBody>
      </p:sp>
      <p:sp>
        <p:nvSpPr>
          <p:cNvPr id="3484" name="Rectangle 3"/>
          <p:cNvSpPr/>
          <p:nvPr/>
        </p:nvSpPr>
        <p:spPr>
          <a:xfrm>
            <a:off x="952560" y="9667800"/>
            <a:ext cx="1238220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350" strike="noStrike" u="none">
                <a:solidFill>
                  <a:srgbClr val="526779"/>
                </a:solidFill>
                <a:effectLst/>
                <a:uFillTx/>
                <a:latin typeface="Century Gothic"/>
                <a:ea typeface="Century Gothic"/>
              </a:rPr>
              <a:t>PIXELS TO METRO POLICY / GEOHACKATHON 2026</a:t>
            </a:r>
            <a:endParaRPr b="0" lang="en-US" sz="1350" strike="noStrike" u="none">
              <a:solidFill>
                <a:srgbClr val="000000"/>
              </a:solidFill>
              <a:effectLst/>
              <a:uFillTx/>
              <a:latin typeface="Arial"/>
            </a:endParaRPr>
          </a:p>
        </p:txBody>
      </p:sp>
      <p:sp>
        <p:nvSpPr>
          <p:cNvPr id="3485" name="Rectangle 4"/>
          <p:cNvSpPr/>
          <p:nvPr/>
        </p:nvSpPr>
        <p:spPr>
          <a:xfrm>
            <a:off x="16859160" y="9601200"/>
            <a:ext cx="57132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13</a:t>
            </a:r>
            <a:endParaRPr b="0" lang="en-US" sz="1800" strike="noStrike" u="none">
              <a:solidFill>
                <a:srgbClr val="000000"/>
              </a:solidFill>
              <a:effectLst/>
              <a:uFillTx/>
              <a:latin typeface="Arial"/>
            </a:endParaRPr>
          </a:p>
        </p:txBody>
      </p:sp>
      <p:sp>
        <p:nvSpPr>
          <p:cNvPr id="3486" name="Freeform: Shape 15"/>
          <p:cNvSpPr/>
          <p:nvPr/>
        </p:nvSpPr>
        <p:spPr>
          <a:xfrm>
            <a:off x="952560" y="9429840"/>
            <a:ext cx="16382520" cy="720"/>
          </a:xfrm>
          <a:custGeom>
            <a:avLst/>
            <a:gdLst/>
            <a:ahLst/>
            <a:rect l="l" t="t" r="r" b="b"/>
            <a:pathLst>
              <a:path w="16383000" h="953">
                <a:moveTo>
                  <a:pt x="0" y="0"/>
                </a:moveTo>
                <a:lnTo>
                  <a:pt x="16383000" y="0"/>
                </a:lnTo>
              </a:path>
            </a:pathLst>
          </a:custGeom>
          <a:noFill/>
          <a:ln w="9525">
            <a:solidFill>
              <a:srgbClr val="cad5df"/>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grpSp>
        <p:nvGrpSpPr>
          <p:cNvPr id="3487" name="Group 16"/>
          <p:cNvGrpSpPr/>
          <p:nvPr/>
        </p:nvGrpSpPr>
        <p:grpSpPr>
          <a:xfrm>
            <a:off x="647640" y="1558800"/>
            <a:ext cx="17087400" cy="7841520"/>
            <a:chOff x="647640" y="1558800"/>
            <a:chExt cx="17087400" cy="7841520"/>
          </a:xfrm>
        </p:grpSpPr>
        <p:sp>
          <p:nvSpPr>
            <p:cNvPr id="3488" name="TextBox 20"/>
            <p:cNvSpPr/>
            <p:nvPr/>
          </p:nvSpPr>
          <p:spPr>
            <a:xfrm>
              <a:off x="685800" y="9211320"/>
              <a:ext cx="14901120" cy="189000"/>
            </a:xfrm>
            <a:prstGeom prst="rect">
              <a:avLst/>
            </a:prstGeom>
            <a:noFill/>
            <a:ln w="0">
              <a:noFill/>
            </a:ln>
          </p:spPr>
          <p:style>
            <a:lnRef idx="0"/>
            <a:fillRef idx="0"/>
            <a:effectRef idx="0"/>
            <a:fontRef idx="minor"/>
          </p:style>
          <p:txBody>
            <a:bodyPr lIns="0" rIns="0" tIns="0" bIns="0" anchor="t">
              <a:spAutoFit/>
            </a:bodyPr>
            <a:p>
              <a:pPr defTabSz="914400">
                <a:lnSpc>
                  <a:spcPct val="112000"/>
                </a:lnSpc>
              </a:pPr>
              <a:r>
                <a:rPr b="0" lang="en-US" sz="1200" strike="noStrike" u="none">
                  <a:solidFill>
                    <a:srgbClr val="79837f"/>
                  </a:solidFill>
                  <a:effectLst/>
                  <a:uFillTx/>
                  <a:latin typeface="Century Gothic"/>
                  <a:ea typeface="Arial"/>
                </a:rPr>
                <a:t>Sources . morphology_diagnostic_table.csv, 18 rows, separation verified for every row; group_membership.csv, 40 frames x 9 descriptors, no missing values; phase5_results.json strata.</a:t>
              </a:r>
              <a:endParaRPr b="0" lang="en-US" sz="1200" strike="noStrike" u="none">
                <a:solidFill>
                  <a:srgbClr val="000000"/>
                </a:solidFill>
                <a:effectLst/>
                <a:uFillTx/>
                <a:latin typeface="Arial"/>
              </a:endParaRPr>
            </a:p>
          </p:txBody>
        </p:sp>
        <p:sp>
          <p:nvSpPr>
            <p:cNvPr id="3489" name="TextBox 21"/>
            <p:cNvSpPr/>
            <p:nvPr/>
          </p:nvSpPr>
          <p:spPr>
            <a:xfrm>
              <a:off x="647640" y="1558800"/>
              <a:ext cx="17087400" cy="745920"/>
            </a:xfrm>
            <a:prstGeom prst="rect">
              <a:avLst/>
            </a:prstGeom>
            <a:noFill/>
            <a:ln w="0">
              <a:noFill/>
            </a:ln>
          </p:spPr>
          <p:style>
            <a:lnRef idx="0"/>
            <a:fillRef idx="0"/>
            <a:effectRef idx="0"/>
            <a:fontRef idx="minor"/>
          </p:style>
          <p:txBody>
            <a:bodyPr lIns="0" rIns="0" tIns="0" bIns="0" anchor="t">
              <a:spAutoFit/>
            </a:bodyPr>
            <a:p>
              <a:pPr defTabSz="914400">
                <a:lnSpc>
                  <a:spcPct val="128000"/>
                </a:lnSpc>
              </a:pPr>
              <a:r>
                <a:rPr b="0" lang="en-US" sz="2000" strike="noStrike" u="none">
                  <a:solidFill>
                    <a:srgbClr val="48514f"/>
                  </a:solidFill>
                  <a:effectLst/>
                  <a:uFillTx/>
                  <a:latin typeface="Century Gothic"/>
                  <a:ea typeface="Arial"/>
                </a:rPr>
                <a:t>Eighteen descriptors, measured across 40 frames holding 28,950 buildings, with 10 frames judged</a:t>
              </a:r>
              <a:endParaRPr b="0" lang="en-US" sz="2000" strike="noStrike" u="none">
                <a:solidFill>
                  <a:srgbClr val="000000"/>
                </a:solidFill>
                <a:effectLst/>
                <a:uFillTx/>
                <a:latin typeface="Arial"/>
              </a:endParaRPr>
            </a:p>
            <a:p>
              <a:pPr defTabSz="914400">
                <a:lnSpc>
                  <a:spcPct val="128000"/>
                </a:lnSpc>
              </a:pPr>
              <a:r>
                <a:rPr b="0" lang="en-US" sz="2000" strike="noStrike" u="none">
                  <a:solidFill>
                    <a:srgbClr val="48514f"/>
                  </a:solidFill>
                  <a:effectLst/>
                  <a:uFillTx/>
                  <a:latin typeface="Century Gothic"/>
                  <a:ea typeface="Arial"/>
                </a:rPr>
                <a:t>consistent against 20 inconsistent by one reviewer. Direction only, no interval.</a:t>
              </a:r>
              <a:endParaRPr b="0" lang="en-US" sz="2000" strike="noStrike" u="none">
                <a:solidFill>
                  <a:srgbClr val="000000"/>
                </a:solidFill>
                <a:effectLst/>
                <a:uFillTx/>
                <a:latin typeface="Arial"/>
              </a:endParaRPr>
            </a:p>
          </p:txBody>
        </p:sp>
        <p:sp>
          <p:nvSpPr>
            <p:cNvPr id="3490" name="TextBox 22"/>
            <p:cNvSpPr/>
            <p:nvPr/>
          </p:nvSpPr>
          <p:spPr>
            <a:xfrm>
              <a:off x="647640" y="2366280"/>
              <a:ext cx="4734720" cy="3690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400" strike="noStrike" u="none">
                  <a:solidFill>
                    <a:srgbClr val="0e1516"/>
                  </a:solidFill>
                  <a:effectLst/>
                  <a:uFillTx/>
                  <a:latin typeface="Century Gothic"/>
                  <a:ea typeface="Arial"/>
                </a:rPr>
                <a:t>Separation,  |AUC - 0.5| x 2</a:t>
              </a:r>
              <a:endParaRPr b="0" lang="en-US" sz="2400" strike="noStrike" u="none">
                <a:solidFill>
                  <a:srgbClr val="000000"/>
                </a:solidFill>
                <a:effectLst/>
                <a:uFillTx/>
                <a:latin typeface="Arial"/>
              </a:endParaRPr>
            </a:p>
          </p:txBody>
        </p:sp>
        <p:sp>
          <p:nvSpPr>
            <p:cNvPr id="3491" name="TextBox 23"/>
            <p:cNvSpPr/>
            <p:nvPr/>
          </p:nvSpPr>
          <p:spPr>
            <a:xfrm>
              <a:off x="5173920" y="2408040"/>
              <a:ext cx="362052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 means no separation</a:t>
              </a:r>
              <a:endParaRPr b="0" lang="en-US" sz="1400" strike="noStrike" u="none">
                <a:solidFill>
                  <a:srgbClr val="000000"/>
                </a:solidFill>
                <a:effectLst/>
                <a:uFillTx/>
                <a:latin typeface="Arial"/>
              </a:endParaRPr>
            </a:p>
          </p:txBody>
        </p:sp>
        <p:sp>
          <p:nvSpPr>
            <p:cNvPr id="3492" name="TextBox 24"/>
            <p:cNvSpPr/>
            <p:nvPr/>
          </p:nvSpPr>
          <p:spPr>
            <a:xfrm>
              <a:off x="647640" y="275652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Surrounding-ring density</a:t>
              </a:r>
              <a:endParaRPr b="0" lang="en-US" sz="1400" strike="noStrike" u="none">
                <a:solidFill>
                  <a:srgbClr val="000000"/>
                </a:solidFill>
                <a:effectLst/>
                <a:uFillTx/>
                <a:latin typeface="Arial"/>
              </a:endParaRPr>
            </a:p>
          </p:txBody>
        </p:sp>
        <p:sp>
          <p:nvSpPr>
            <p:cNvPr id="3493" name="Rectangle 25"/>
            <p:cNvSpPr/>
            <p:nvPr/>
          </p:nvSpPr>
          <p:spPr>
            <a:xfrm>
              <a:off x="4755960" y="2795400"/>
              <a:ext cx="3551040" cy="173880"/>
            </a:xfrm>
            <a:prstGeom prst="rect">
              <a:avLst/>
            </a:prstGeom>
            <a:solidFill>
              <a:srgbClr val="b84a1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494" name="TextBox 26"/>
            <p:cNvSpPr/>
            <p:nvPr/>
          </p:nvSpPr>
          <p:spPr>
            <a:xfrm>
              <a:off x="8349120" y="274932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0.69</a:t>
              </a:r>
              <a:endParaRPr b="0" lang="en-US" sz="1400" strike="noStrike" u="none">
                <a:solidFill>
                  <a:srgbClr val="000000"/>
                </a:solidFill>
                <a:effectLst/>
                <a:uFillTx/>
                <a:latin typeface="Arial"/>
              </a:endParaRPr>
            </a:p>
          </p:txBody>
        </p:sp>
        <p:sp>
          <p:nvSpPr>
            <p:cNvPr id="3495" name="TextBox 27"/>
            <p:cNvSpPr/>
            <p:nvPr/>
          </p:nvSpPr>
          <p:spPr>
            <a:xfrm>
              <a:off x="647640" y="302796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Distance to canal, median</a:t>
              </a:r>
              <a:endParaRPr b="0" lang="en-US" sz="1400" strike="noStrike" u="none">
                <a:solidFill>
                  <a:srgbClr val="000000"/>
                </a:solidFill>
                <a:effectLst/>
                <a:uFillTx/>
                <a:latin typeface="Arial"/>
              </a:endParaRPr>
            </a:p>
          </p:txBody>
        </p:sp>
        <p:sp>
          <p:nvSpPr>
            <p:cNvPr id="3496" name="Rectangle 28"/>
            <p:cNvSpPr/>
            <p:nvPr/>
          </p:nvSpPr>
          <p:spPr>
            <a:xfrm>
              <a:off x="4755960" y="3066840"/>
              <a:ext cx="3087720" cy="173880"/>
            </a:xfrm>
            <a:prstGeom prst="rect">
              <a:avLst/>
            </a:prstGeom>
            <a:solidFill>
              <a:srgbClr val="2f6b8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497" name="TextBox 29"/>
            <p:cNvSpPr/>
            <p:nvPr/>
          </p:nvSpPr>
          <p:spPr>
            <a:xfrm>
              <a:off x="7885800" y="302112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0.60</a:t>
              </a:r>
              <a:endParaRPr b="0" lang="en-US" sz="1400" strike="noStrike" u="none">
                <a:solidFill>
                  <a:srgbClr val="000000"/>
                </a:solidFill>
                <a:effectLst/>
                <a:uFillTx/>
                <a:latin typeface="Arial"/>
              </a:endParaRPr>
            </a:p>
          </p:txBody>
        </p:sp>
        <p:sp>
          <p:nvSpPr>
            <p:cNvPr id="3498" name="TextBox 30"/>
            <p:cNvSpPr/>
            <p:nvPr/>
          </p:nvSpPr>
          <p:spPr>
            <a:xfrm>
              <a:off x="647640" y="329940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Model mean probability</a:t>
              </a:r>
              <a:endParaRPr b="0" lang="en-US" sz="1400" strike="noStrike" u="none">
                <a:solidFill>
                  <a:srgbClr val="000000"/>
                </a:solidFill>
                <a:effectLst/>
                <a:uFillTx/>
                <a:latin typeface="Arial"/>
              </a:endParaRPr>
            </a:p>
          </p:txBody>
        </p:sp>
        <p:sp>
          <p:nvSpPr>
            <p:cNvPr id="3499" name="Rectangle 31"/>
            <p:cNvSpPr/>
            <p:nvPr/>
          </p:nvSpPr>
          <p:spPr>
            <a:xfrm>
              <a:off x="4755960" y="3338640"/>
              <a:ext cx="2881800" cy="173880"/>
            </a:xfrm>
            <a:prstGeom prst="rect">
              <a:avLst/>
            </a:prstGeom>
            <a:solidFill>
              <a:srgbClr val="b84a1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00" name="TextBox 32"/>
            <p:cNvSpPr/>
            <p:nvPr/>
          </p:nvSpPr>
          <p:spPr>
            <a:xfrm>
              <a:off x="7679880" y="329256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0.56</a:t>
              </a:r>
              <a:endParaRPr b="0" lang="en-US" sz="1400" strike="noStrike" u="none">
                <a:solidFill>
                  <a:srgbClr val="000000"/>
                </a:solidFill>
                <a:effectLst/>
                <a:uFillTx/>
                <a:latin typeface="Arial"/>
              </a:endParaRPr>
            </a:p>
          </p:txBody>
        </p:sp>
        <p:sp>
          <p:nvSpPr>
            <p:cNvPr id="3501" name="TextBox 33"/>
            <p:cNvSpPr/>
            <p:nvPr/>
          </p:nvSpPr>
          <p:spPr>
            <a:xfrm>
              <a:off x="4407840" y="3299400"/>
              <a:ext cx="30600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400" strike="noStrike" u="none">
                  <a:solidFill>
                    <a:srgbClr val="8a5a1e"/>
                  </a:solidFill>
                  <a:effectLst/>
                  <a:uFillTx/>
                  <a:latin typeface="Century Gothic"/>
                  <a:ea typeface="Arial"/>
                </a:rPr>
                <a:t>M</a:t>
              </a:r>
              <a:endParaRPr b="0" lang="en-US" sz="1400" strike="noStrike" u="none">
                <a:solidFill>
                  <a:srgbClr val="000000"/>
                </a:solidFill>
                <a:effectLst/>
                <a:uFillTx/>
                <a:latin typeface="Arial"/>
              </a:endParaRPr>
            </a:p>
          </p:txBody>
        </p:sp>
        <p:sp>
          <p:nvSpPr>
            <p:cNvPr id="3502" name="TextBox 34"/>
            <p:cNvSpPr/>
            <p:nvPr/>
          </p:nvSpPr>
          <p:spPr>
            <a:xfrm>
              <a:off x="647640" y="357120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Nearest-neighbour distance</a:t>
              </a:r>
              <a:endParaRPr b="0" lang="en-US" sz="1400" strike="noStrike" u="none">
                <a:solidFill>
                  <a:srgbClr val="000000"/>
                </a:solidFill>
                <a:effectLst/>
                <a:uFillTx/>
                <a:latin typeface="Arial"/>
              </a:endParaRPr>
            </a:p>
          </p:txBody>
        </p:sp>
        <p:sp>
          <p:nvSpPr>
            <p:cNvPr id="3503" name="Rectangle 35"/>
            <p:cNvSpPr/>
            <p:nvPr/>
          </p:nvSpPr>
          <p:spPr>
            <a:xfrm>
              <a:off x="4755960" y="3610080"/>
              <a:ext cx="2778840" cy="173880"/>
            </a:xfrm>
            <a:prstGeom prst="rect">
              <a:avLst/>
            </a:prstGeom>
            <a:solidFill>
              <a:srgbClr val="2f6b8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04" name="TextBox 36"/>
            <p:cNvSpPr/>
            <p:nvPr/>
          </p:nvSpPr>
          <p:spPr>
            <a:xfrm>
              <a:off x="7576920" y="356400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0.54</a:t>
              </a:r>
              <a:endParaRPr b="0" lang="en-US" sz="1400" strike="noStrike" u="none">
                <a:solidFill>
                  <a:srgbClr val="000000"/>
                </a:solidFill>
                <a:effectLst/>
                <a:uFillTx/>
                <a:latin typeface="Arial"/>
              </a:endParaRPr>
            </a:p>
          </p:txBody>
        </p:sp>
        <p:sp>
          <p:nvSpPr>
            <p:cNvPr id="3505" name="TextBox 37"/>
            <p:cNvSpPr/>
            <p:nvPr/>
          </p:nvSpPr>
          <p:spPr>
            <a:xfrm>
              <a:off x="647640" y="384264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Model high-score share</a:t>
              </a:r>
              <a:endParaRPr b="0" lang="en-US" sz="1400" strike="noStrike" u="none">
                <a:solidFill>
                  <a:srgbClr val="000000"/>
                </a:solidFill>
                <a:effectLst/>
                <a:uFillTx/>
                <a:latin typeface="Arial"/>
              </a:endParaRPr>
            </a:p>
          </p:txBody>
        </p:sp>
        <p:sp>
          <p:nvSpPr>
            <p:cNvPr id="3506" name="Rectangle 38"/>
            <p:cNvSpPr/>
            <p:nvPr/>
          </p:nvSpPr>
          <p:spPr>
            <a:xfrm>
              <a:off x="4755960" y="3881520"/>
              <a:ext cx="2778840" cy="173880"/>
            </a:xfrm>
            <a:prstGeom prst="rect">
              <a:avLst/>
            </a:prstGeom>
            <a:solidFill>
              <a:srgbClr val="b84a1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07" name="TextBox 39"/>
            <p:cNvSpPr/>
            <p:nvPr/>
          </p:nvSpPr>
          <p:spPr>
            <a:xfrm>
              <a:off x="7576920" y="383580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0.54</a:t>
              </a:r>
              <a:endParaRPr b="0" lang="en-US" sz="1400" strike="noStrike" u="none">
                <a:solidFill>
                  <a:srgbClr val="000000"/>
                </a:solidFill>
                <a:effectLst/>
                <a:uFillTx/>
                <a:latin typeface="Arial"/>
              </a:endParaRPr>
            </a:p>
          </p:txBody>
        </p:sp>
        <p:sp>
          <p:nvSpPr>
            <p:cNvPr id="3508" name="TextBox 40"/>
            <p:cNvSpPr/>
            <p:nvPr/>
          </p:nvSpPr>
          <p:spPr>
            <a:xfrm>
              <a:off x="4407840" y="3842640"/>
              <a:ext cx="30600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400" strike="noStrike" u="none">
                  <a:solidFill>
                    <a:srgbClr val="8a5a1e"/>
                  </a:solidFill>
                  <a:effectLst/>
                  <a:uFillTx/>
                  <a:latin typeface="Century Gothic"/>
                  <a:ea typeface="Arial"/>
                </a:rPr>
                <a:t>M</a:t>
              </a:r>
              <a:endParaRPr b="0" lang="en-US" sz="1400" strike="noStrike" u="none">
                <a:solidFill>
                  <a:srgbClr val="000000"/>
                </a:solidFill>
                <a:effectLst/>
                <a:uFillTx/>
                <a:latin typeface="Arial"/>
              </a:endParaRPr>
            </a:p>
          </p:txBody>
        </p:sp>
        <p:sp>
          <p:nvSpPr>
            <p:cNvPr id="3509" name="TextBox 41"/>
            <p:cNvSpPr/>
            <p:nvPr/>
          </p:nvSpPr>
          <p:spPr>
            <a:xfrm>
              <a:off x="647640" y="411408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Orientation concentration</a:t>
              </a:r>
              <a:endParaRPr b="0" lang="en-US" sz="1400" strike="noStrike" u="none">
                <a:solidFill>
                  <a:srgbClr val="000000"/>
                </a:solidFill>
                <a:effectLst/>
                <a:uFillTx/>
                <a:latin typeface="Arial"/>
              </a:endParaRPr>
            </a:p>
          </p:txBody>
        </p:sp>
        <p:sp>
          <p:nvSpPr>
            <p:cNvPr id="3510" name="Rectangle 42"/>
            <p:cNvSpPr/>
            <p:nvPr/>
          </p:nvSpPr>
          <p:spPr>
            <a:xfrm>
              <a:off x="4755960" y="4153320"/>
              <a:ext cx="2572920" cy="173880"/>
            </a:xfrm>
            <a:prstGeom prst="rect">
              <a:avLst/>
            </a:prstGeom>
            <a:solidFill>
              <a:srgbClr val="2f6b8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11" name="TextBox 43"/>
            <p:cNvSpPr/>
            <p:nvPr/>
          </p:nvSpPr>
          <p:spPr>
            <a:xfrm>
              <a:off x="7371360" y="410724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0.50</a:t>
              </a:r>
              <a:endParaRPr b="0" lang="en-US" sz="1400" strike="noStrike" u="none">
                <a:solidFill>
                  <a:srgbClr val="000000"/>
                </a:solidFill>
                <a:effectLst/>
                <a:uFillTx/>
                <a:latin typeface="Arial"/>
              </a:endParaRPr>
            </a:p>
          </p:txBody>
        </p:sp>
        <p:sp>
          <p:nvSpPr>
            <p:cNvPr id="3512" name="TextBox 44"/>
            <p:cNvSpPr/>
            <p:nvPr/>
          </p:nvSpPr>
          <p:spPr>
            <a:xfrm>
              <a:off x="647640" y="438588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Rectangularity, median</a:t>
              </a:r>
              <a:endParaRPr b="0" lang="en-US" sz="1400" strike="noStrike" u="none">
                <a:solidFill>
                  <a:srgbClr val="000000"/>
                </a:solidFill>
                <a:effectLst/>
                <a:uFillTx/>
                <a:latin typeface="Arial"/>
              </a:endParaRPr>
            </a:p>
          </p:txBody>
        </p:sp>
        <p:sp>
          <p:nvSpPr>
            <p:cNvPr id="3513" name="Rectangle 45"/>
            <p:cNvSpPr/>
            <p:nvPr/>
          </p:nvSpPr>
          <p:spPr>
            <a:xfrm>
              <a:off x="4755960" y="4424760"/>
              <a:ext cx="2418480" cy="173880"/>
            </a:xfrm>
            <a:prstGeom prst="rect">
              <a:avLst/>
            </a:prstGeom>
            <a:solidFill>
              <a:srgbClr val="2f6b8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14" name="TextBox 46"/>
            <p:cNvSpPr/>
            <p:nvPr/>
          </p:nvSpPr>
          <p:spPr>
            <a:xfrm>
              <a:off x="7216920" y="437868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0.47</a:t>
              </a:r>
              <a:endParaRPr b="0" lang="en-US" sz="1400" strike="noStrike" u="none">
                <a:solidFill>
                  <a:srgbClr val="000000"/>
                </a:solidFill>
                <a:effectLst/>
                <a:uFillTx/>
                <a:latin typeface="Arial"/>
              </a:endParaRPr>
            </a:p>
          </p:txBody>
        </p:sp>
        <p:sp>
          <p:nvSpPr>
            <p:cNvPr id="3515" name="TextBox 47"/>
            <p:cNvSpPr/>
            <p:nvPr/>
          </p:nvSpPr>
          <p:spPr>
            <a:xfrm>
              <a:off x="4407840" y="4385880"/>
              <a:ext cx="30600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400" strike="noStrike" u="none">
                  <a:solidFill>
                    <a:srgbClr val="8a5a1e"/>
                  </a:solidFill>
                  <a:effectLst/>
                  <a:uFillTx/>
                  <a:latin typeface="Century Gothic"/>
                  <a:ea typeface="Arial"/>
                </a:rPr>
                <a:t>A</a:t>
              </a:r>
              <a:endParaRPr b="0" lang="en-US" sz="1400" strike="noStrike" u="none">
                <a:solidFill>
                  <a:srgbClr val="000000"/>
                </a:solidFill>
                <a:effectLst/>
                <a:uFillTx/>
                <a:latin typeface="Arial"/>
              </a:endParaRPr>
            </a:p>
          </p:txBody>
        </p:sp>
        <p:sp>
          <p:nvSpPr>
            <p:cNvPr id="3516" name="TextBox 48"/>
            <p:cNvSpPr/>
            <p:nvPr/>
          </p:nvSpPr>
          <p:spPr>
            <a:xfrm>
              <a:off x="647640" y="465732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Density inside the frame</a:t>
              </a:r>
              <a:endParaRPr b="0" lang="en-US" sz="1400" strike="noStrike" u="none">
                <a:solidFill>
                  <a:srgbClr val="000000"/>
                </a:solidFill>
                <a:effectLst/>
                <a:uFillTx/>
                <a:latin typeface="Arial"/>
              </a:endParaRPr>
            </a:p>
          </p:txBody>
        </p:sp>
        <p:sp>
          <p:nvSpPr>
            <p:cNvPr id="3517" name="Rectangle 49"/>
            <p:cNvSpPr/>
            <p:nvPr/>
          </p:nvSpPr>
          <p:spPr>
            <a:xfrm>
              <a:off x="4755960" y="4696200"/>
              <a:ext cx="2264040" cy="173880"/>
            </a:xfrm>
            <a:prstGeom prst="rect">
              <a:avLst/>
            </a:prstGeom>
            <a:solidFill>
              <a:srgbClr val="b84a1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18" name="TextBox 50"/>
            <p:cNvSpPr/>
            <p:nvPr/>
          </p:nvSpPr>
          <p:spPr>
            <a:xfrm>
              <a:off x="7062480" y="465048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0.44</a:t>
              </a:r>
              <a:endParaRPr b="0" lang="en-US" sz="1400" strike="noStrike" u="none">
                <a:solidFill>
                  <a:srgbClr val="000000"/>
                </a:solidFill>
                <a:effectLst/>
                <a:uFillTx/>
                <a:latin typeface="Arial"/>
              </a:endParaRPr>
            </a:p>
          </p:txBody>
        </p:sp>
        <p:sp>
          <p:nvSpPr>
            <p:cNvPr id="3519" name="TextBox 51"/>
            <p:cNvSpPr/>
            <p:nvPr/>
          </p:nvSpPr>
          <p:spPr>
            <a:xfrm>
              <a:off x="647640" y="492876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Building count</a:t>
              </a:r>
              <a:endParaRPr b="0" lang="en-US" sz="1400" strike="noStrike" u="none">
                <a:solidFill>
                  <a:srgbClr val="000000"/>
                </a:solidFill>
                <a:effectLst/>
                <a:uFillTx/>
                <a:latin typeface="Arial"/>
              </a:endParaRPr>
            </a:p>
          </p:txBody>
        </p:sp>
        <p:sp>
          <p:nvSpPr>
            <p:cNvPr id="3520" name="Rectangle 52"/>
            <p:cNvSpPr/>
            <p:nvPr/>
          </p:nvSpPr>
          <p:spPr>
            <a:xfrm>
              <a:off x="4755960" y="4968000"/>
              <a:ext cx="2212920" cy="173880"/>
            </a:xfrm>
            <a:prstGeom prst="rect">
              <a:avLst/>
            </a:prstGeom>
            <a:solidFill>
              <a:srgbClr val="b84a1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21" name="TextBox 53"/>
            <p:cNvSpPr/>
            <p:nvPr/>
          </p:nvSpPr>
          <p:spPr>
            <a:xfrm>
              <a:off x="7011000" y="492192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0.43</a:t>
              </a:r>
              <a:endParaRPr b="0" lang="en-US" sz="1400" strike="noStrike" u="none">
                <a:solidFill>
                  <a:srgbClr val="000000"/>
                </a:solidFill>
                <a:effectLst/>
                <a:uFillTx/>
                <a:latin typeface="Arial"/>
              </a:endParaRPr>
            </a:p>
          </p:txBody>
        </p:sp>
        <p:sp>
          <p:nvSpPr>
            <p:cNvPr id="3522" name="TextBox 54"/>
            <p:cNvSpPr/>
            <p:nvPr/>
          </p:nvSpPr>
          <p:spPr>
            <a:xfrm>
              <a:off x="647640" y="520056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Building area, median</a:t>
              </a:r>
              <a:endParaRPr b="0" lang="en-US" sz="1400" strike="noStrike" u="none">
                <a:solidFill>
                  <a:srgbClr val="000000"/>
                </a:solidFill>
                <a:effectLst/>
                <a:uFillTx/>
                <a:latin typeface="Arial"/>
              </a:endParaRPr>
            </a:p>
          </p:txBody>
        </p:sp>
        <p:sp>
          <p:nvSpPr>
            <p:cNvPr id="3523" name="Rectangle 55"/>
            <p:cNvSpPr/>
            <p:nvPr/>
          </p:nvSpPr>
          <p:spPr>
            <a:xfrm>
              <a:off x="4755960" y="5239440"/>
              <a:ext cx="2058480" cy="173880"/>
            </a:xfrm>
            <a:prstGeom prst="rect">
              <a:avLst/>
            </a:prstGeom>
            <a:solidFill>
              <a:srgbClr val="2f6b8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24" name="TextBox 56"/>
            <p:cNvSpPr/>
            <p:nvPr/>
          </p:nvSpPr>
          <p:spPr>
            <a:xfrm>
              <a:off x="6856560" y="519336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0.40</a:t>
              </a:r>
              <a:endParaRPr b="0" lang="en-US" sz="1400" strike="noStrike" u="none">
                <a:solidFill>
                  <a:srgbClr val="000000"/>
                </a:solidFill>
                <a:effectLst/>
                <a:uFillTx/>
                <a:latin typeface="Arial"/>
              </a:endParaRPr>
            </a:p>
          </p:txBody>
        </p:sp>
        <p:sp>
          <p:nvSpPr>
            <p:cNvPr id="3525" name="TextBox 57"/>
            <p:cNvSpPr/>
            <p:nvPr/>
          </p:nvSpPr>
          <p:spPr>
            <a:xfrm>
              <a:off x="647640" y="547200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Building elongation</a:t>
              </a:r>
              <a:endParaRPr b="0" lang="en-US" sz="1400" strike="noStrike" u="none">
                <a:solidFill>
                  <a:srgbClr val="000000"/>
                </a:solidFill>
                <a:effectLst/>
                <a:uFillTx/>
                <a:latin typeface="Arial"/>
              </a:endParaRPr>
            </a:p>
          </p:txBody>
        </p:sp>
        <p:sp>
          <p:nvSpPr>
            <p:cNvPr id="3526" name="Rectangle 58"/>
            <p:cNvSpPr/>
            <p:nvPr/>
          </p:nvSpPr>
          <p:spPr>
            <a:xfrm>
              <a:off x="4755960" y="5510880"/>
              <a:ext cx="2007000" cy="173880"/>
            </a:xfrm>
            <a:prstGeom prst="rect">
              <a:avLst/>
            </a:prstGeom>
            <a:solidFill>
              <a:srgbClr val="b84a1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27" name="TextBox 59"/>
            <p:cNvSpPr/>
            <p:nvPr/>
          </p:nvSpPr>
          <p:spPr>
            <a:xfrm>
              <a:off x="6805080" y="546516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0.39</a:t>
              </a:r>
              <a:endParaRPr b="0" lang="en-US" sz="1400" strike="noStrike" u="none">
                <a:solidFill>
                  <a:srgbClr val="000000"/>
                </a:solidFill>
                <a:effectLst/>
                <a:uFillTx/>
                <a:latin typeface="Arial"/>
              </a:endParaRPr>
            </a:p>
          </p:txBody>
        </p:sp>
        <p:sp>
          <p:nvSpPr>
            <p:cNvPr id="3528" name="TextBox 60"/>
            <p:cNvSpPr/>
            <p:nvPr/>
          </p:nvSpPr>
          <p:spPr>
            <a:xfrm>
              <a:off x="4407840" y="5472000"/>
              <a:ext cx="30600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1400" strike="noStrike" u="none">
                  <a:solidFill>
                    <a:srgbClr val="8a5a1e"/>
                  </a:solidFill>
                  <a:effectLst/>
                  <a:uFillTx/>
                  <a:latin typeface="Century Gothic"/>
                  <a:ea typeface="Arial"/>
                </a:rPr>
                <a:t>A</a:t>
              </a:r>
              <a:endParaRPr b="0" lang="en-US" sz="1400" strike="noStrike" u="none">
                <a:solidFill>
                  <a:srgbClr val="000000"/>
                </a:solidFill>
                <a:effectLst/>
                <a:uFillTx/>
                <a:latin typeface="Arial"/>
              </a:endParaRPr>
            </a:p>
          </p:txBody>
        </p:sp>
        <p:sp>
          <p:nvSpPr>
            <p:cNvPr id="3529" name="TextBox 61"/>
            <p:cNvSpPr/>
            <p:nvPr/>
          </p:nvSpPr>
          <p:spPr>
            <a:xfrm>
              <a:off x="647640" y="574344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Edge gap between buildings</a:t>
              </a:r>
              <a:endParaRPr b="0" lang="en-US" sz="1400" strike="noStrike" u="none">
                <a:solidFill>
                  <a:srgbClr val="000000"/>
                </a:solidFill>
                <a:effectLst/>
                <a:uFillTx/>
                <a:latin typeface="Arial"/>
              </a:endParaRPr>
            </a:p>
          </p:txBody>
        </p:sp>
        <p:sp>
          <p:nvSpPr>
            <p:cNvPr id="3530" name="Rectangle 62"/>
            <p:cNvSpPr/>
            <p:nvPr/>
          </p:nvSpPr>
          <p:spPr>
            <a:xfrm>
              <a:off x="4755960" y="5782680"/>
              <a:ext cx="1286280" cy="173880"/>
            </a:xfrm>
            <a:prstGeom prst="rect">
              <a:avLst/>
            </a:prstGeom>
            <a:solidFill>
              <a:srgbClr val="2f6b8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31" name="TextBox 63"/>
            <p:cNvSpPr/>
            <p:nvPr/>
          </p:nvSpPr>
          <p:spPr>
            <a:xfrm>
              <a:off x="6084360" y="573660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0.25</a:t>
              </a:r>
              <a:endParaRPr b="0" lang="en-US" sz="1400" strike="noStrike" u="none">
                <a:solidFill>
                  <a:srgbClr val="000000"/>
                </a:solidFill>
                <a:effectLst/>
                <a:uFillTx/>
                <a:latin typeface="Arial"/>
              </a:endParaRPr>
            </a:p>
          </p:txBody>
        </p:sp>
        <p:sp>
          <p:nvSpPr>
            <p:cNvPr id="3532" name="TextBox 64"/>
            <p:cNvSpPr/>
            <p:nvPr/>
          </p:nvSpPr>
          <p:spPr>
            <a:xfrm>
              <a:off x="647640" y="601524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Share of touching buildings</a:t>
              </a:r>
              <a:endParaRPr b="0" lang="en-US" sz="1400" strike="noStrike" u="none">
                <a:solidFill>
                  <a:srgbClr val="000000"/>
                </a:solidFill>
                <a:effectLst/>
                <a:uFillTx/>
                <a:latin typeface="Arial"/>
              </a:endParaRPr>
            </a:p>
          </p:txBody>
        </p:sp>
        <p:sp>
          <p:nvSpPr>
            <p:cNvPr id="3533" name="Rectangle 65"/>
            <p:cNvSpPr/>
            <p:nvPr/>
          </p:nvSpPr>
          <p:spPr>
            <a:xfrm>
              <a:off x="4755960" y="6054120"/>
              <a:ext cx="822960" cy="173880"/>
            </a:xfrm>
            <a:prstGeom prst="rect">
              <a:avLst/>
            </a:prstGeom>
            <a:solidFill>
              <a:srgbClr val="b84a1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34" name="TextBox 66"/>
            <p:cNvSpPr/>
            <p:nvPr/>
          </p:nvSpPr>
          <p:spPr>
            <a:xfrm>
              <a:off x="5621400" y="600804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0.16</a:t>
              </a:r>
              <a:endParaRPr b="0" lang="en-US" sz="1400" strike="noStrike" u="none">
                <a:solidFill>
                  <a:srgbClr val="000000"/>
                </a:solidFill>
                <a:effectLst/>
                <a:uFillTx/>
                <a:latin typeface="Arial"/>
              </a:endParaRPr>
            </a:p>
          </p:txBody>
        </p:sp>
        <p:sp>
          <p:nvSpPr>
            <p:cNvPr id="3535" name="TextBox 67"/>
            <p:cNvSpPr/>
            <p:nvPr/>
          </p:nvSpPr>
          <p:spPr>
            <a:xfrm>
              <a:off x="647640" y="628668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Variability of building size</a:t>
              </a:r>
              <a:endParaRPr b="0" lang="en-US" sz="1400" strike="noStrike" u="none">
                <a:solidFill>
                  <a:srgbClr val="000000"/>
                </a:solidFill>
                <a:effectLst/>
                <a:uFillTx/>
                <a:latin typeface="Arial"/>
              </a:endParaRPr>
            </a:p>
          </p:txBody>
        </p:sp>
        <p:sp>
          <p:nvSpPr>
            <p:cNvPr id="3536" name="Rectangle 68"/>
            <p:cNvSpPr/>
            <p:nvPr/>
          </p:nvSpPr>
          <p:spPr>
            <a:xfrm>
              <a:off x="4755960" y="6325560"/>
              <a:ext cx="617400" cy="173880"/>
            </a:xfrm>
            <a:prstGeom prst="rect">
              <a:avLst/>
            </a:prstGeom>
            <a:solidFill>
              <a:srgbClr val="b84a1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37" name="TextBox 69"/>
            <p:cNvSpPr/>
            <p:nvPr/>
          </p:nvSpPr>
          <p:spPr>
            <a:xfrm>
              <a:off x="5415480" y="627984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0.12</a:t>
              </a:r>
              <a:endParaRPr b="0" lang="en-US" sz="1400" strike="noStrike" u="none">
                <a:solidFill>
                  <a:srgbClr val="000000"/>
                </a:solidFill>
                <a:effectLst/>
                <a:uFillTx/>
                <a:latin typeface="Arial"/>
              </a:endParaRPr>
            </a:p>
          </p:txBody>
        </p:sp>
        <p:sp>
          <p:nvSpPr>
            <p:cNvPr id="3538" name="TextBox 70"/>
            <p:cNvSpPr/>
            <p:nvPr/>
          </p:nvSpPr>
          <p:spPr>
            <a:xfrm>
              <a:off x="647640" y="655812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Spacing regularity</a:t>
              </a:r>
              <a:endParaRPr b="0" lang="en-US" sz="1400" strike="noStrike" u="none">
                <a:solidFill>
                  <a:srgbClr val="000000"/>
                </a:solidFill>
                <a:effectLst/>
                <a:uFillTx/>
                <a:latin typeface="Arial"/>
              </a:endParaRPr>
            </a:p>
          </p:txBody>
        </p:sp>
        <p:sp>
          <p:nvSpPr>
            <p:cNvPr id="3539" name="Rectangle 71"/>
            <p:cNvSpPr/>
            <p:nvPr/>
          </p:nvSpPr>
          <p:spPr>
            <a:xfrm>
              <a:off x="4755960" y="6597360"/>
              <a:ext cx="565920" cy="173880"/>
            </a:xfrm>
            <a:prstGeom prst="rect">
              <a:avLst/>
            </a:prstGeom>
            <a:solidFill>
              <a:srgbClr val="b84a1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40" name="TextBox 72"/>
            <p:cNvSpPr/>
            <p:nvPr/>
          </p:nvSpPr>
          <p:spPr>
            <a:xfrm>
              <a:off x="5364000" y="655128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0.11</a:t>
              </a:r>
              <a:endParaRPr b="0" lang="en-US" sz="1400" strike="noStrike" u="none">
                <a:solidFill>
                  <a:srgbClr val="000000"/>
                </a:solidFill>
                <a:effectLst/>
                <a:uFillTx/>
                <a:latin typeface="Arial"/>
              </a:endParaRPr>
            </a:p>
          </p:txBody>
        </p:sp>
        <p:sp>
          <p:nvSpPr>
            <p:cNvPr id="3541" name="TextBox 73"/>
            <p:cNvSpPr/>
            <p:nvPr/>
          </p:nvSpPr>
          <p:spPr>
            <a:xfrm>
              <a:off x="647640" y="682992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Orientation entropy</a:t>
              </a:r>
              <a:endParaRPr b="0" lang="en-US" sz="1400" strike="noStrike" u="none">
                <a:solidFill>
                  <a:srgbClr val="000000"/>
                </a:solidFill>
                <a:effectLst/>
                <a:uFillTx/>
                <a:latin typeface="Arial"/>
              </a:endParaRPr>
            </a:p>
          </p:txBody>
        </p:sp>
        <p:sp>
          <p:nvSpPr>
            <p:cNvPr id="3542" name="Rectangle 74"/>
            <p:cNvSpPr/>
            <p:nvPr/>
          </p:nvSpPr>
          <p:spPr>
            <a:xfrm>
              <a:off x="4755960" y="6868800"/>
              <a:ext cx="514440" cy="173880"/>
            </a:xfrm>
            <a:prstGeom prst="rect">
              <a:avLst/>
            </a:prstGeom>
            <a:solidFill>
              <a:srgbClr val="b84a1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43" name="TextBox 75"/>
            <p:cNvSpPr/>
            <p:nvPr/>
          </p:nvSpPr>
          <p:spPr>
            <a:xfrm>
              <a:off x="5312520" y="682272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0.10</a:t>
              </a:r>
              <a:endParaRPr b="0" lang="en-US" sz="1400" strike="noStrike" u="none">
                <a:solidFill>
                  <a:srgbClr val="000000"/>
                </a:solidFill>
                <a:effectLst/>
                <a:uFillTx/>
                <a:latin typeface="Arial"/>
              </a:endParaRPr>
            </a:p>
          </p:txBody>
        </p:sp>
        <p:sp>
          <p:nvSpPr>
            <p:cNvPr id="3544" name="TextBox 76"/>
            <p:cNvSpPr/>
            <p:nvPr/>
          </p:nvSpPr>
          <p:spPr>
            <a:xfrm>
              <a:off x="647640" y="710136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Inside-to-outside ratio</a:t>
              </a:r>
              <a:endParaRPr b="0" lang="en-US" sz="1400" strike="noStrike" u="none">
                <a:solidFill>
                  <a:srgbClr val="000000"/>
                </a:solidFill>
                <a:effectLst/>
                <a:uFillTx/>
                <a:latin typeface="Arial"/>
              </a:endParaRPr>
            </a:p>
          </p:txBody>
        </p:sp>
        <p:sp>
          <p:nvSpPr>
            <p:cNvPr id="3545" name="Rectangle 77"/>
            <p:cNvSpPr/>
            <p:nvPr/>
          </p:nvSpPr>
          <p:spPr>
            <a:xfrm>
              <a:off x="4755960" y="7140240"/>
              <a:ext cx="462960" cy="173880"/>
            </a:xfrm>
            <a:prstGeom prst="rect">
              <a:avLst/>
            </a:prstGeom>
            <a:solidFill>
              <a:srgbClr val="b84a1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46" name="TextBox 78"/>
            <p:cNvSpPr/>
            <p:nvPr/>
          </p:nvSpPr>
          <p:spPr>
            <a:xfrm>
              <a:off x="5261040" y="709452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0.09</a:t>
              </a:r>
              <a:endParaRPr b="0" lang="en-US" sz="1400" strike="noStrike" u="none">
                <a:solidFill>
                  <a:srgbClr val="000000"/>
                </a:solidFill>
                <a:effectLst/>
                <a:uFillTx/>
                <a:latin typeface="Arial"/>
              </a:endParaRPr>
            </a:p>
          </p:txBody>
        </p:sp>
        <p:sp>
          <p:nvSpPr>
            <p:cNvPr id="3547" name="TextBox 79"/>
            <p:cNvSpPr/>
            <p:nvPr/>
          </p:nvSpPr>
          <p:spPr>
            <a:xfrm>
              <a:off x="647640" y="7373160"/>
              <a:ext cx="35510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48514f"/>
                  </a:solidFill>
                  <a:effectLst/>
                  <a:uFillTx/>
                  <a:latin typeface="Century Gothic"/>
                  <a:ea typeface="Arial"/>
                </a:rPr>
                <a:t>Share aligned within 10 deg</a:t>
              </a:r>
              <a:endParaRPr b="0" lang="en-US" sz="1400" strike="noStrike" u="none">
                <a:solidFill>
                  <a:srgbClr val="000000"/>
                </a:solidFill>
                <a:effectLst/>
                <a:uFillTx/>
                <a:latin typeface="Arial"/>
              </a:endParaRPr>
            </a:p>
          </p:txBody>
        </p:sp>
        <p:sp>
          <p:nvSpPr>
            <p:cNvPr id="3548" name="Rectangle 80"/>
            <p:cNvSpPr/>
            <p:nvPr/>
          </p:nvSpPr>
          <p:spPr>
            <a:xfrm>
              <a:off x="4755960" y="7412040"/>
              <a:ext cx="154080" cy="173880"/>
            </a:xfrm>
            <a:prstGeom prst="rect">
              <a:avLst/>
            </a:prstGeom>
            <a:solidFill>
              <a:srgbClr val="b84a1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49" name="TextBox 81"/>
            <p:cNvSpPr/>
            <p:nvPr/>
          </p:nvSpPr>
          <p:spPr>
            <a:xfrm>
              <a:off x="4952160" y="7365960"/>
              <a:ext cx="695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0.03</a:t>
              </a:r>
              <a:endParaRPr b="0" lang="en-US" sz="1400" strike="noStrike" u="none">
                <a:solidFill>
                  <a:srgbClr val="000000"/>
                </a:solidFill>
                <a:effectLst/>
                <a:uFillTx/>
                <a:latin typeface="Arial"/>
              </a:endParaRPr>
            </a:p>
          </p:txBody>
        </p:sp>
        <p:sp>
          <p:nvSpPr>
            <p:cNvPr id="3550" name="Rectangle 82"/>
            <p:cNvSpPr/>
            <p:nvPr/>
          </p:nvSpPr>
          <p:spPr>
            <a:xfrm>
              <a:off x="647640" y="7651440"/>
              <a:ext cx="236520" cy="153000"/>
            </a:xfrm>
            <a:prstGeom prst="rect">
              <a:avLst/>
            </a:prstGeom>
            <a:solidFill>
              <a:srgbClr val="b84a1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51" name="TextBox 83"/>
            <p:cNvSpPr/>
            <p:nvPr/>
          </p:nvSpPr>
          <p:spPr>
            <a:xfrm>
              <a:off x="982080" y="7609680"/>
              <a:ext cx="306360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higher in consistent frames</a:t>
              </a:r>
              <a:endParaRPr b="0" lang="en-US" sz="1400" strike="noStrike" u="none">
                <a:solidFill>
                  <a:srgbClr val="000000"/>
                </a:solidFill>
                <a:effectLst/>
                <a:uFillTx/>
                <a:latin typeface="Arial"/>
              </a:endParaRPr>
            </a:p>
          </p:txBody>
        </p:sp>
        <p:sp>
          <p:nvSpPr>
            <p:cNvPr id="3552" name="Rectangle 84"/>
            <p:cNvSpPr/>
            <p:nvPr/>
          </p:nvSpPr>
          <p:spPr>
            <a:xfrm>
              <a:off x="4755960" y="7651440"/>
              <a:ext cx="236520" cy="153000"/>
            </a:xfrm>
            <a:prstGeom prst="rect">
              <a:avLst/>
            </a:prstGeom>
            <a:solidFill>
              <a:srgbClr val="2f6b8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53" name="TextBox 85"/>
            <p:cNvSpPr/>
            <p:nvPr/>
          </p:nvSpPr>
          <p:spPr>
            <a:xfrm>
              <a:off x="5090400" y="7609680"/>
              <a:ext cx="334188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lower in consistent frames</a:t>
              </a:r>
              <a:endParaRPr b="0" lang="en-US" sz="1400" strike="noStrike" u="none">
                <a:solidFill>
                  <a:srgbClr val="000000"/>
                </a:solidFill>
                <a:effectLst/>
                <a:uFillTx/>
                <a:latin typeface="Arial"/>
              </a:endParaRPr>
            </a:p>
          </p:txBody>
        </p:sp>
        <p:sp>
          <p:nvSpPr>
            <p:cNvPr id="3554" name="TextBox 86"/>
            <p:cNvSpPr/>
            <p:nvPr/>
          </p:nvSpPr>
          <p:spPr>
            <a:xfrm>
              <a:off x="647640" y="7902360"/>
              <a:ext cx="8634240" cy="21492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en-US" sz="1400" strike="noStrike" u="none">
                  <a:solidFill>
                    <a:srgbClr val="79837f"/>
                  </a:solidFill>
                  <a:effectLst/>
                  <a:uFillTx/>
                  <a:latin typeface="Century Gothic"/>
                  <a:ea typeface="Arial"/>
                </a:rPr>
                <a:t>M = the model’s own output.   A = known artefact of the footprint source.</a:t>
              </a:r>
              <a:endParaRPr b="0" lang="en-US" sz="1400" strike="noStrike" u="none">
                <a:solidFill>
                  <a:srgbClr val="000000"/>
                </a:solidFill>
                <a:effectLst/>
                <a:uFillTx/>
                <a:latin typeface="Arial"/>
              </a:endParaRPr>
            </a:p>
          </p:txBody>
        </p:sp>
        <p:sp>
          <p:nvSpPr>
            <p:cNvPr id="3555" name="TextBox 87"/>
            <p:cNvSpPr/>
            <p:nvPr/>
          </p:nvSpPr>
          <p:spPr>
            <a:xfrm>
              <a:off x="10622520" y="2309400"/>
              <a:ext cx="6655320" cy="36900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1" lang="en-US" sz="2400" strike="noStrike" u="none">
                  <a:solidFill>
                    <a:srgbClr val="0e1516"/>
                  </a:solidFill>
                  <a:effectLst/>
                  <a:uFillTx/>
                  <a:latin typeface="Century Gothic"/>
                  <a:ea typeface="Arial"/>
                </a:rPr>
                <a:t>Spearman rank correlation, n = 40 frames</a:t>
              </a:r>
              <a:endParaRPr b="0" lang="en-US" sz="2400" strike="noStrike" u="none">
                <a:solidFill>
                  <a:srgbClr val="000000"/>
                </a:solidFill>
                <a:effectLst/>
                <a:uFillTx/>
                <a:latin typeface="Arial"/>
              </a:endParaRPr>
            </a:p>
          </p:txBody>
        </p:sp>
        <p:sp>
          <p:nvSpPr>
            <p:cNvPr id="3556" name="TextBox 88"/>
            <p:cNvSpPr/>
            <p:nvPr/>
          </p:nvSpPr>
          <p:spPr>
            <a:xfrm>
              <a:off x="9936720" y="3055680"/>
              <a:ext cx="2255760" cy="2149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400" strike="noStrike" u="none">
                  <a:solidFill>
                    <a:srgbClr val="48514f"/>
                  </a:solidFill>
                  <a:effectLst/>
                  <a:uFillTx/>
                  <a:latin typeface="Century Gothic"/>
                  <a:ea typeface="Arial"/>
                </a:rPr>
                <a:t>1  buildings</a:t>
              </a:r>
              <a:endParaRPr b="0" lang="en-US" sz="1400" strike="noStrike" u="none">
                <a:solidFill>
                  <a:srgbClr val="000000"/>
                </a:solidFill>
                <a:effectLst/>
                <a:uFillTx/>
                <a:latin typeface="Arial"/>
              </a:endParaRPr>
            </a:p>
          </p:txBody>
        </p:sp>
        <p:sp>
          <p:nvSpPr>
            <p:cNvPr id="3557" name="TextBox 89"/>
            <p:cNvSpPr/>
            <p:nvPr/>
          </p:nvSpPr>
          <p:spPr>
            <a:xfrm>
              <a:off x="12332160" y="2658960"/>
              <a:ext cx="466200" cy="214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400" strike="noStrike" u="none">
                  <a:solidFill>
                    <a:srgbClr val="79837f"/>
                  </a:solidFill>
                  <a:effectLst/>
                  <a:uFillTx/>
                  <a:latin typeface="Century Gothic"/>
                  <a:ea typeface="Arial"/>
                </a:rPr>
                <a:t>1</a:t>
              </a:r>
              <a:endParaRPr b="0" lang="en-US" sz="1400" strike="noStrike" u="none">
                <a:solidFill>
                  <a:srgbClr val="000000"/>
                </a:solidFill>
                <a:effectLst/>
                <a:uFillTx/>
                <a:latin typeface="Arial"/>
              </a:endParaRPr>
            </a:p>
          </p:txBody>
        </p:sp>
        <p:sp>
          <p:nvSpPr>
            <p:cNvPr id="3558" name="TextBox 90"/>
            <p:cNvSpPr/>
            <p:nvPr/>
          </p:nvSpPr>
          <p:spPr>
            <a:xfrm>
              <a:off x="9936720" y="3522240"/>
              <a:ext cx="2255760" cy="2149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400" strike="noStrike" u="none">
                  <a:solidFill>
                    <a:srgbClr val="48514f"/>
                  </a:solidFill>
                  <a:effectLst/>
                  <a:uFillTx/>
                  <a:latin typeface="Century Gothic"/>
                  <a:ea typeface="Arial"/>
                </a:rPr>
                <a:t>2  density in</a:t>
              </a:r>
              <a:endParaRPr b="0" lang="en-US" sz="1400" strike="noStrike" u="none">
                <a:solidFill>
                  <a:srgbClr val="000000"/>
                </a:solidFill>
                <a:effectLst/>
                <a:uFillTx/>
                <a:latin typeface="Arial"/>
              </a:endParaRPr>
            </a:p>
          </p:txBody>
        </p:sp>
        <p:sp>
          <p:nvSpPr>
            <p:cNvPr id="3559" name="TextBox 91"/>
            <p:cNvSpPr/>
            <p:nvPr/>
          </p:nvSpPr>
          <p:spPr>
            <a:xfrm>
              <a:off x="12798720" y="2658960"/>
              <a:ext cx="466200" cy="214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400" strike="noStrike" u="none">
                  <a:solidFill>
                    <a:srgbClr val="79837f"/>
                  </a:solidFill>
                  <a:effectLst/>
                  <a:uFillTx/>
                  <a:latin typeface="Century Gothic"/>
                  <a:ea typeface="Arial"/>
                </a:rPr>
                <a:t>2</a:t>
              </a:r>
              <a:endParaRPr b="0" lang="en-US" sz="1400" strike="noStrike" u="none">
                <a:solidFill>
                  <a:srgbClr val="000000"/>
                </a:solidFill>
                <a:effectLst/>
                <a:uFillTx/>
                <a:latin typeface="Arial"/>
              </a:endParaRPr>
            </a:p>
          </p:txBody>
        </p:sp>
        <p:sp>
          <p:nvSpPr>
            <p:cNvPr id="3560" name="TextBox 92"/>
            <p:cNvSpPr/>
            <p:nvPr/>
          </p:nvSpPr>
          <p:spPr>
            <a:xfrm>
              <a:off x="9936720" y="3988800"/>
              <a:ext cx="2255760" cy="2149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400" strike="noStrike" u="none">
                  <a:solidFill>
                    <a:srgbClr val="48514f"/>
                  </a:solidFill>
                  <a:effectLst/>
                  <a:uFillTx/>
                  <a:latin typeface="Century Gothic"/>
                  <a:ea typeface="Arial"/>
                </a:rPr>
                <a:t>3  density ring</a:t>
              </a:r>
              <a:endParaRPr b="0" lang="en-US" sz="1400" strike="noStrike" u="none">
                <a:solidFill>
                  <a:srgbClr val="000000"/>
                </a:solidFill>
                <a:effectLst/>
                <a:uFillTx/>
                <a:latin typeface="Arial"/>
              </a:endParaRPr>
            </a:p>
          </p:txBody>
        </p:sp>
        <p:sp>
          <p:nvSpPr>
            <p:cNvPr id="3561" name="TextBox 93"/>
            <p:cNvSpPr/>
            <p:nvPr/>
          </p:nvSpPr>
          <p:spPr>
            <a:xfrm>
              <a:off x="13265280" y="2658960"/>
              <a:ext cx="466200" cy="214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400" strike="noStrike" u="none">
                  <a:solidFill>
                    <a:srgbClr val="79837f"/>
                  </a:solidFill>
                  <a:effectLst/>
                  <a:uFillTx/>
                  <a:latin typeface="Century Gothic"/>
                  <a:ea typeface="Arial"/>
                </a:rPr>
                <a:t>3</a:t>
              </a:r>
              <a:endParaRPr b="0" lang="en-US" sz="1400" strike="noStrike" u="none">
                <a:solidFill>
                  <a:srgbClr val="000000"/>
                </a:solidFill>
                <a:effectLst/>
                <a:uFillTx/>
                <a:latin typeface="Arial"/>
              </a:endParaRPr>
            </a:p>
          </p:txBody>
        </p:sp>
        <p:sp>
          <p:nvSpPr>
            <p:cNvPr id="3562" name="TextBox 94"/>
            <p:cNvSpPr/>
            <p:nvPr/>
          </p:nvSpPr>
          <p:spPr>
            <a:xfrm>
              <a:off x="9936720" y="4455360"/>
              <a:ext cx="2255760" cy="2149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400" strike="noStrike" u="none">
                  <a:solidFill>
                    <a:srgbClr val="48514f"/>
                  </a:solidFill>
                  <a:effectLst/>
                  <a:uFillTx/>
                  <a:latin typeface="Century Gothic"/>
                  <a:ea typeface="Arial"/>
                </a:rPr>
                <a:t>4  spacing</a:t>
              </a:r>
              <a:endParaRPr b="0" lang="en-US" sz="1400" strike="noStrike" u="none">
                <a:solidFill>
                  <a:srgbClr val="000000"/>
                </a:solidFill>
                <a:effectLst/>
                <a:uFillTx/>
                <a:latin typeface="Arial"/>
              </a:endParaRPr>
            </a:p>
          </p:txBody>
        </p:sp>
        <p:sp>
          <p:nvSpPr>
            <p:cNvPr id="3563" name="TextBox 95"/>
            <p:cNvSpPr/>
            <p:nvPr/>
          </p:nvSpPr>
          <p:spPr>
            <a:xfrm>
              <a:off x="13731840" y="2658960"/>
              <a:ext cx="466200" cy="214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400" strike="noStrike" u="none">
                  <a:solidFill>
                    <a:srgbClr val="79837f"/>
                  </a:solidFill>
                  <a:effectLst/>
                  <a:uFillTx/>
                  <a:latin typeface="Century Gothic"/>
                  <a:ea typeface="Arial"/>
                </a:rPr>
                <a:t>4</a:t>
              </a:r>
              <a:endParaRPr b="0" lang="en-US" sz="1400" strike="noStrike" u="none">
                <a:solidFill>
                  <a:srgbClr val="000000"/>
                </a:solidFill>
                <a:effectLst/>
                <a:uFillTx/>
                <a:latin typeface="Arial"/>
              </a:endParaRPr>
            </a:p>
          </p:txBody>
        </p:sp>
        <p:sp>
          <p:nvSpPr>
            <p:cNvPr id="3564" name="TextBox 96"/>
            <p:cNvSpPr/>
            <p:nvPr/>
          </p:nvSpPr>
          <p:spPr>
            <a:xfrm>
              <a:off x="9936720" y="4921920"/>
              <a:ext cx="2255760" cy="2149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400" strike="noStrike" u="none">
                  <a:solidFill>
                    <a:srgbClr val="48514f"/>
                  </a:solidFill>
                  <a:effectLst/>
                  <a:uFillTx/>
                  <a:latin typeface="Century Gothic"/>
                  <a:ea typeface="Arial"/>
                </a:rPr>
                <a:t>5  orientation</a:t>
              </a:r>
              <a:endParaRPr b="0" lang="en-US" sz="1400" strike="noStrike" u="none">
                <a:solidFill>
                  <a:srgbClr val="000000"/>
                </a:solidFill>
                <a:effectLst/>
                <a:uFillTx/>
                <a:latin typeface="Arial"/>
              </a:endParaRPr>
            </a:p>
          </p:txBody>
        </p:sp>
        <p:sp>
          <p:nvSpPr>
            <p:cNvPr id="3565" name="TextBox 97"/>
            <p:cNvSpPr/>
            <p:nvPr/>
          </p:nvSpPr>
          <p:spPr>
            <a:xfrm>
              <a:off x="14198040" y="2658960"/>
              <a:ext cx="466200" cy="214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400" strike="noStrike" u="none">
                  <a:solidFill>
                    <a:srgbClr val="79837f"/>
                  </a:solidFill>
                  <a:effectLst/>
                  <a:uFillTx/>
                  <a:latin typeface="Century Gothic"/>
                  <a:ea typeface="Arial"/>
                </a:rPr>
                <a:t>5</a:t>
              </a:r>
              <a:endParaRPr b="0" lang="en-US" sz="1400" strike="noStrike" u="none">
                <a:solidFill>
                  <a:srgbClr val="000000"/>
                </a:solidFill>
                <a:effectLst/>
                <a:uFillTx/>
                <a:latin typeface="Arial"/>
              </a:endParaRPr>
            </a:p>
          </p:txBody>
        </p:sp>
        <p:sp>
          <p:nvSpPr>
            <p:cNvPr id="3566" name="TextBox 98"/>
            <p:cNvSpPr/>
            <p:nvPr/>
          </p:nvSpPr>
          <p:spPr>
            <a:xfrm>
              <a:off x="9936720" y="5388480"/>
              <a:ext cx="2255760" cy="2149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400" strike="noStrike" u="none">
                  <a:solidFill>
                    <a:srgbClr val="48514f"/>
                  </a:solidFill>
                  <a:effectLst/>
                  <a:uFillTx/>
                  <a:latin typeface="Century Gothic"/>
                  <a:ea typeface="Arial"/>
                </a:rPr>
                <a:t>6  rectangularity</a:t>
              </a:r>
              <a:endParaRPr b="0" lang="en-US" sz="1400" strike="noStrike" u="none">
                <a:solidFill>
                  <a:srgbClr val="000000"/>
                </a:solidFill>
                <a:effectLst/>
                <a:uFillTx/>
                <a:latin typeface="Arial"/>
              </a:endParaRPr>
            </a:p>
          </p:txBody>
        </p:sp>
        <p:sp>
          <p:nvSpPr>
            <p:cNvPr id="3567" name="TextBox 99"/>
            <p:cNvSpPr/>
            <p:nvPr/>
          </p:nvSpPr>
          <p:spPr>
            <a:xfrm>
              <a:off x="14664600" y="2658960"/>
              <a:ext cx="466200" cy="214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400" strike="noStrike" u="none">
                  <a:solidFill>
                    <a:srgbClr val="79837f"/>
                  </a:solidFill>
                  <a:effectLst/>
                  <a:uFillTx/>
                  <a:latin typeface="Century Gothic"/>
                  <a:ea typeface="Arial"/>
                </a:rPr>
                <a:t>6</a:t>
              </a:r>
              <a:endParaRPr b="0" lang="en-US" sz="1400" strike="noStrike" u="none">
                <a:solidFill>
                  <a:srgbClr val="000000"/>
                </a:solidFill>
                <a:effectLst/>
                <a:uFillTx/>
                <a:latin typeface="Arial"/>
              </a:endParaRPr>
            </a:p>
          </p:txBody>
        </p:sp>
        <p:sp>
          <p:nvSpPr>
            <p:cNvPr id="3568" name="TextBox 100"/>
            <p:cNvSpPr/>
            <p:nvPr/>
          </p:nvSpPr>
          <p:spPr>
            <a:xfrm>
              <a:off x="9936720" y="5855040"/>
              <a:ext cx="2255760" cy="2149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400" strike="noStrike" u="none">
                  <a:solidFill>
                    <a:srgbClr val="48514f"/>
                  </a:solidFill>
                  <a:effectLst/>
                  <a:uFillTx/>
                  <a:latin typeface="Century Gothic"/>
                  <a:ea typeface="Arial"/>
                </a:rPr>
                <a:t>7  canal distance</a:t>
              </a:r>
              <a:endParaRPr b="0" lang="en-US" sz="1400" strike="noStrike" u="none">
                <a:solidFill>
                  <a:srgbClr val="000000"/>
                </a:solidFill>
                <a:effectLst/>
                <a:uFillTx/>
                <a:latin typeface="Arial"/>
              </a:endParaRPr>
            </a:p>
          </p:txBody>
        </p:sp>
        <p:sp>
          <p:nvSpPr>
            <p:cNvPr id="3569" name="TextBox 101"/>
            <p:cNvSpPr/>
            <p:nvPr/>
          </p:nvSpPr>
          <p:spPr>
            <a:xfrm>
              <a:off x="15131160" y="2658960"/>
              <a:ext cx="466200" cy="214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400" strike="noStrike" u="none">
                  <a:solidFill>
                    <a:srgbClr val="79837f"/>
                  </a:solidFill>
                  <a:effectLst/>
                  <a:uFillTx/>
                  <a:latin typeface="Century Gothic"/>
                  <a:ea typeface="Arial"/>
                </a:rPr>
                <a:t>7</a:t>
              </a:r>
              <a:endParaRPr b="0" lang="en-US" sz="1400" strike="noStrike" u="none">
                <a:solidFill>
                  <a:srgbClr val="000000"/>
                </a:solidFill>
                <a:effectLst/>
                <a:uFillTx/>
                <a:latin typeface="Arial"/>
              </a:endParaRPr>
            </a:p>
          </p:txBody>
        </p:sp>
        <p:sp>
          <p:nvSpPr>
            <p:cNvPr id="3570" name="TextBox 102"/>
            <p:cNvSpPr/>
            <p:nvPr/>
          </p:nvSpPr>
          <p:spPr>
            <a:xfrm>
              <a:off x="9936720" y="6321600"/>
              <a:ext cx="2255760" cy="2149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400" strike="noStrike" u="none">
                  <a:solidFill>
                    <a:srgbClr val="48514f"/>
                  </a:solidFill>
                  <a:effectLst/>
                  <a:uFillTx/>
                  <a:latin typeface="Century Gothic"/>
                  <a:ea typeface="Arial"/>
                </a:rPr>
                <a:t>8  model prob</a:t>
              </a:r>
              <a:endParaRPr b="0" lang="en-US" sz="1400" strike="noStrike" u="none">
                <a:solidFill>
                  <a:srgbClr val="000000"/>
                </a:solidFill>
                <a:effectLst/>
                <a:uFillTx/>
                <a:latin typeface="Arial"/>
              </a:endParaRPr>
            </a:p>
          </p:txBody>
        </p:sp>
        <p:sp>
          <p:nvSpPr>
            <p:cNvPr id="3571" name="TextBox 103"/>
            <p:cNvSpPr/>
            <p:nvPr/>
          </p:nvSpPr>
          <p:spPr>
            <a:xfrm>
              <a:off x="15597720" y="2658960"/>
              <a:ext cx="466200" cy="214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400" strike="noStrike" u="none">
                  <a:solidFill>
                    <a:srgbClr val="79837f"/>
                  </a:solidFill>
                  <a:effectLst/>
                  <a:uFillTx/>
                  <a:latin typeface="Century Gothic"/>
                  <a:ea typeface="Arial"/>
                </a:rPr>
                <a:t>8</a:t>
              </a:r>
              <a:endParaRPr b="0" lang="en-US" sz="1400" strike="noStrike" u="none">
                <a:solidFill>
                  <a:srgbClr val="000000"/>
                </a:solidFill>
                <a:effectLst/>
                <a:uFillTx/>
                <a:latin typeface="Arial"/>
              </a:endParaRPr>
            </a:p>
          </p:txBody>
        </p:sp>
        <p:sp>
          <p:nvSpPr>
            <p:cNvPr id="3572" name="TextBox 104"/>
            <p:cNvSpPr/>
            <p:nvPr/>
          </p:nvSpPr>
          <p:spPr>
            <a:xfrm>
              <a:off x="9936720" y="6788160"/>
              <a:ext cx="2255760" cy="214920"/>
            </a:xfrm>
            <a:prstGeom prst="rect">
              <a:avLst/>
            </a:prstGeom>
            <a:noFill/>
            <a:ln w="0">
              <a:noFill/>
            </a:ln>
          </p:spPr>
          <p:style>
            <a:lnRef idx="0"/>
            <a:fillRef idx="0"/>
            <a:effectRef idx="0"/>
            <a:fontRef idx="minor"/>
          </p:style>
          <p:txBody>
            <a:bodyPr lIns="0" rIns="0" tIns="0" bIns="0" anchor="t">
              <a:spAutoFit/>
            </a:bodyPr>
            <a:p>
              <a:pPr algn="r" defTabSz="914400">
                <a:lnSpc>
                  <a:spcPct val="100000"/>
                </a:lnSpc>
              </a:pPr>
              <a:r>
                <a:rPr b="0" lang="en-US" sz="1400" strike="noStrike" u="none">
                  <a:solidFill>
                    <a:srgbClr val="48514f"/>
                  </a:solidFill>
                  <a:effectLst/>
                  <a:uFillTx/>
                  <a:latin typeface="Century Gothic"/>
                  <a:ea typeface="Arial"/>
                </a:rPr>
                <a:t>9  model share</a:t>
              </a:r>
              <a:endParaRPr b="0" lang="en-US" sz="1400" strike="noStrike" u="none">
                <a:solidFill>
                  <a:srgbClr val="000000"/>
                </a:solidFill>
                <a:effectLst/>
                <a:uFillTx/>
                <a:latin typeface="Arial"/>
              </a:endParaRPr>
            </a:p>
          </p:txBody>
        </p:sp>
        <p:sp>
          <p:nvSpPr>
            <p:cNvPr id="3573" name="TextBox 105"/>
            <p:cNvSpPr/>
            <p:nvPr/>
          </p:nvSpPr>
          <p:spPr>
            <a:xfrm>
              <a:off x="16064280" y="2658960"/>
              <a:ext cx="466200" cy="21492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1" lang="en-US" sz="1400" strike="noStrike" u="none">
                  <a:solidFill>
                    <a:srgbClr val="79837f"/>
                  </a:solidFill>
                  <a:effectLst/>
                  <a:uFillTx/>
                  <a:latin typeface="Century Gothic"/>
                  <a:ea typeface="Arial"/>
                </a:rPr>
                <a:t>9</a:t>
              </a:r>
              <a:endParaRPr b="0" lang="en-US" sz="1400" strike="noStrike" u="none">
                <a:solidFill>
                  <a:srgbClr val="000000"/>
                </a:solidFill>
                <a:effectLst/>
                <a:uFillTx/>
                <a:latin typeface="Arial"/>
              </a:endParaRPr>
            </a:p>
          </p:txBody>
        </p:sp>
        <p:sp>
          <p:nvSpPr>
            <p:cNvPr id="3574" name="Rectangle 106"/>
            <p:cNvSpPr/>
            <p:nvPr/>
          </p:nvSpPr>
          <p:spPr>
            <a:xfrm>
              <a:off x="12332160" y="2951280"/>
              <a:ext cx="443880" cy="443880"/>
            </a:xfrm>
            <a:prstGeom prst="rect">
              <a:avLst/>
            </a:prstGeom>
            <a:solidFill>
              <a:srgbClr val="e6e4d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75" name="Rectangle 107"/>
            <p:cNvSpPr/>
            <p:nvPr/>
          </p:nvSpPr>
          <p:spPr>
            <a:xfrm>
              <a:off x="12798720" y="2951280"/>
              <a:ext cx="443880" cy="443880"/>
            </a:xfrm>
            <a:prstGeom prst="rect">
              <a:avLst/>
            </a:prstGeom>
            <a:solidFill>
              <a:srgbClr val="b94d1c"/>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76" name="TextBox 108"/>
            <p:cNvSpPr/>
            <p:nvPr/>
          </p:nvSpPr>
          <p:spPr>
            <a:xfrm>
              <a:off x="12869280" y="3074040"/>
              <a:ext cx="302760" cy="184320"/>
            </a:xfrm>
            <a:prstGeom prst="rect">
              <a:avLst/>
            </a:prstGeom>
            <a:noFill/>
            <a:ln w="0">
              <a:noFill/>
            </a:ln>
          </p:spPr>
          <p:style>
            <a:lnRef idx="0"/>
            <a:fillRef idx="0"/>
            <a:effectRef idx="0"/>
            <a:fontRef idx="minor"/>
          </p:style>
          <p:txBody>
            <a:bodyPr wrap="none" lIns="0" rIns="0" tIns="0" bIns="0" anchor="t">
              <a:spAutoFit/>
            </a:bodyPr>
            <a:p>
              <a:pPr algn="ctr" defTabSz="914400">
                <a:lnSpc>
                  <a:spcPct val="100000"/>
                </a:lnSpc>
              </a:pPr>
              <a:r>
                <a:rPr b="1" lang="en-US" sz="1200" strike="noStrike" u="none">
                  <a:solidFill>
                    <a:srgbClr val="ffffff"/>
                  </a:solidFill>
                  <a:effectLst/>
                  <a:uFillTx/>
                  <a:latin typeface="Century Gothic"/>
                  <a:ea typeface="Arial"/>
                </a:rPr>
                <a:t>0.98</a:t>
              </a:r>
              <a:endParaRPr b="0" lang="en-US" sz="1200" strike="noStrike" u="none">
                <a:solidFill>
                  <a:srgbClr val="000000"/>
                </a:solidFill>
                <a:effectLst/>
                <a:uFillTx/>
                <a:latin typeface="Arial"/>
              </a:endParaRPr>
            </a:p>
          </p:txBody>
        </p:sp>
        <p:sp>
          <p:nvSpPr>
            <p:cNvPr id="3577" name="Rectangle 109"/>
            <p:cNvSpPr/>
            <p:nvPr/>
          </p:nvSpPr>
          <p:spPr>
            <a:xfrm>
              <a:off x="13265280" y="2951280"/>
              <a:ext cx="443880" cy="443880"/>
            </a:xfrm>
            <a:prstGeom prst="rect">
              <a:avLst/>
            </a:prstGeom>
            <a:solidFill>
              <a:srgbClr val="ce866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78" name="TextBox 110"/>
            <p:cNvSpPr/>
            <p:nvPr/>
          </p:nvSpPr>
          <p:spPr>
            <a:xfrm>
              <a:off x="13335840" y="3074040"/>
              <a:ext cx="302760" cy="184320"/>
            </a:xfrm>
            <a:prstGeom prst="rect">
              <a:avLst/>
            </a:prstGeom>
            <a:noFill/>
            <a:ln w="0">
              <a:noFill/>
            </a:ln>
          </p:spPr>
          <p:style>
            <a:lnRef idx="0"/>
            <a:fillRef idx="0"/>
            <a:effectRef idx="0"/>
            <a:fontRef idx="minor"/>
          </p:style>
          <p:txBody>
            <a:bodyPr wrap="none" lIns="0" rIns="0" tIns="0" bIns="0" anchor="t">
              <a:spAutoFit/>
            </a:bodyPr>
            <a:p>
              <a:pPr algn="ctr" defTabSz="914400">
                <a:lnSpc>
                  <a:spcPct val="100000"/>
                </a:lnSpc>
              </a:pPr>
              <a:r>
                <a:rPr b="1" lang="en-US" sz="1200" strike="noStrike" u="none">
                  <a:solidFill>
                    <a:srgbClr val="ffffff"/>
                  </a:solidFill>
                  <a:effectLst/>
                  <a:uFillTx/>
                  <a:latin typeface="Century Gothic"/>
                  <a:ea typeface="Arial"/>
                </a:rPr>
                <a:t>0.66</a:t>
              </a:r>
              <a:endParaRPr b="0" lang="en-US" sz="1200" strike="noStrike" u="none">
                <a:solidFill>
                  <a:srgbClr val="000000"/>
                </a:solidFill>
                <a:effectLst/>
                <a:uFillTx/>
                <a:latin typeface="Arial"/>
              </a:endParaRPr>
            </a:p>
          </p:txBody>
        </p:sp>
        <p:sp>
          <p:nvSpPr>
            <p:cNvPr id="3579" name="Rectangle 111"/>
            <p:cNvSpPr/>
            <p:nvPr/>
          </p:nvSpPr>
          <p:spPr>
            <a:xfrm>
              <a:off x="13731840" y="2951280"/>
              <a:ext cx="443880" cy="443880"/>
            </a:xfrm>
            <a:prstGeom prst="rect">
              <a:avLst/>
            </a:prstGeom>
            <a:solidFill>
              <a:srgbClr val="6f99b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80" name="TextBox 112"/>
            <p:cNvSpPr/>
            <p:nvPr/>
          </p:nvSpPr>
          <p:spPr>
            <a:xfrm>
              <a:off x="13770360" y="3074040"/>
              <a:ext cx="366840" cy="184320"/>
            </a:xfrm>
            <a:prstGeom prst="rect">
              <a:avLst/>
            </a:prstGeom>
            <a:noFill/>
            <a:ln w="0">
              <a:noFill/>
            </a:ln>
          </p:spPr>
          <p:style>
            <a:lnRef idx="0"/>
            <a:fillRef idx="0"/>
            <a:effectRef idx="0"/>
            <a:fontRef idx="minor"/>
          </p:style>
          <p:txBody>
            <a:bodyPr wrap="none" lIns="0" rIns="0" tIns="0" bIns="0" anchor="t">
              <a:spAutoFit/>
            </a:bodyPr>
            <a:p>
              <a:pPr algn="ctr" defTabSz="914400">
                <a:lnSpc>
                  <a:spcPct val="100000"/>
                </a:lnSpc>
              </a:pPr>
              <a:r>
                <a:rPr b="1" lang="en-US" sz="1200" strike="noStrike" u="none">
                  <a:solidFill>
                    <a:srgbClr val="ffffff"/>
                  </a:solidFill>
                  <a:effectLst/>
                  <a:uFillTx/>
                  <a:latin typeface="Century Gothic"/>
                  <a:ea typeface="Arial"/>
                </a:rPr>
                <a:t>-0.68</a:t>
              </a:r>
              <a:endParaRPr b="0" lang="en-US" sz="1200" strike="noStrike" u="none">
                <a:solidFill>
                  <a:srgbClr val="000000"/>
                </a:solidFill>
                <a:effectLst/>
                <a:uFillTx/>
                <a:latin typeface="Arial"/>
              </a:endParaRPr>
            </a:p>
          </p:txBody>
        </p:sp>
        <p:sp>
          <p:nvSpPr>
            <p:cNvPr id="3581" name="Rectangle 113"/>
            <p:cNvSpPr/>
            <p:nvPr/>
          </p:nvSpPr>
          <p:spPr>
            <a:xfrm>
              <a:off x="14198040" y="2951280"/>
              <a:ext cx="443880" cy="443880"/>
            </a:xfrm>
            <a:prstGeom prst="rect">
              <a:avLst/>
            </a:prstGeom>
            <a:solidFill>
              <a:srgbClr val="f9fbf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82" name="Rectangle 114"/>
            <p:cNvSpPr/>
            <p:nvPr/>
          </p:nvSpPr>
          <p:spPr>
            <a:xfrm>
              <a:off x="14664600" y="2951280"/>
              <a:ext cx="443880" cy="443880"/>
            </a:xfrm>
            <a:prstGeom prst="rect">
              <a:avLst/>
            </a:prstGeom>
            <a:solidFill>
              <a:srgbClr val="d2dfe5"/>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83" name="Rectangle 115"/>
            <p:cNvSpPr/>
            <p:nvPr/>
          </p:nvSpPr>
          <p:spPr>
            <a:xfrm>
              <a:off x="15131160" y="2951280"/>
              <a:ext cx="443880" cy="443880"/>
            </a:xfrm>
            <a:prstGeom prst="rect">
              <a:avLst/>
            </a:prstGeom>
            <a:solidFill>
              <a:srgbClr val="f8f9f7"/>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84" name="Rectangle 116"/>
            <p:cNvSpPr/>
            <p:nvPr/>
          </p:nvSpPr>
          <p:spPr>
            <a:xfrm>
              <a:off x="15597720" y="2951280"/>
              <a:ext cx="443880" cy="443880"/>
            </a:xfrm>
            <a:prstGeom prst="rect">
              <a:avLst/>
            </a:prstGeom>
            <a:solidFill>
              <a:srgbClr val="ead4c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85" name="Rectangle 117"/>
            <p:cNvSpPr/>
            <p:nvPr/>
          </p:nvSpPr>
          <p:spPr>
            <a:xfrm>
              <a:off x="16064280" y="2951280"/>
              <a:ext cx="443880" cy="443880"/>
            </a:xfrm>
            <a:prstGeom prst="rect">
              <a:avLst/>
            </a:prstGeom>
            <a:solidFill>
              <a:srgbClr val="e4c2b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86" name="Rectangle 118"/>
            <p:cNvSpPr/>
            <p:nvPr/>
          </p:nvSpPr>
          <p:spPr>
            <a:xfrm>
              <a:off x="12332160" y="3417840"/>
              <a:ext cx="443880" cy="443880"/>
            </a:xfrm>
            <a:prstGeom prst="rect">
              <a:avLst/>
            </a:prstGeom>
            <a:solidFill>
              <a:srgbClr val="b94d1c"/>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87" name="TextBox 119"/>
            <p:cNvSpPr/>
            <p:nvPr/>
          </p:nvSpPr>
          <p:spPr>
            <a:xfrm>
              <a:off x="12402720" y="3540240"/>
              <a:ext cx="302760" cy="184320"/>
            </a:xfrm>
            <a:prstGeom prst="rect">
              <a:avLst/>
            </a:prstGeom>
            <a:noFill/>
            <a:ln w="0">
              <a:noFill/>
            </a:ln>
          </p:spPr>
          <p:style>
            <a:lnRef idx="0"/>
            <a:fillRef idx="0"/>
            <a:effectRef idx="0"/>
            <a:fontRef idx="minor"/>
          </p:style>
          <p:txBody>
            <a:bodyPr wrap="none" lIns="0" rIns="0" tIns="0" bIns="0" anchor="t">
              <a:spAutoFit/>
            </a:bodyPr>
            <a:p>
              <a:pPr algn="ctr" defTabSz="914400">
                <a:lnSpc>
                  <a:spcPct val="100000"/>
                </a:lnSpc>
              </a:pPr>
              <a:r>
                <a:rPr b="1" lang="en-US" sz="1200" strike="noStrike" u="none">
                  <a:solidFill>
                    <a:srgbClr val="ffffff"/>
                  </a:solidFill>
                  <a:effectLst/>
                  <a:uFillTx/>
                  <a:latin typeface="Century Gothic"/>
                  <a:ea typeface="Arial"/>
                </a:rPr>
                <a:t>0.98</a:t>
              </a:r>
              <a:endParaRPr b="0" lang="en-US" sz="1200" strike="noStrike" u="none">
                <a:solidFill>
                  <a:srgbClr val="000000"/>
                </a:solidFill>
                <a:effectLst/>
                <a:uFillTx/>
                <a:latin typeface="Arial"/>
              </a:endParaRPr>
            </a:p>
          </p:txBody>
        </p:sp>
        <p:sp>
          <p:nvSpPr>
            <p:cNvPr id="3588" name="Rectangle 120"/>
            <p:cNvSpPr/>
            <p:nvPr/>
          </p:nvSpPr>
          <p:spPr>
            <a:xfrm>
              <a:off x="12798720" y="3417840"/>
              <a:ext cx="443880" cy="443880"/>
            </a:xfrm>
            <a:prstGeom prst="rect">
              <a:avLst/>
            </a:prstGeom>
            <a:solidFill>
              <a:srgbClr val="e6e4d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89" name="Rectangle 121"/>
            <p:cNvSpPr/>
            <p:nvPr/>
          </p:nvSpPr>
          <p:spPr>
            <a:xfrm>
              <a:off x="13265280" y="3417840"/>
              <a:ext cx="443880" cy="443880"/>
            </a:xfrm>
            <a:prstGeom prst="rect">
              <a:avLst/>
            </a:prstGeom>
            <a:solidFill>
              <a:srgbClr val="cc826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90" name="TextBox 122"/>
            <p:cNvSpPr/>
            <p:nvPr/>
          </p:nvSpPr>
          <p:spPr>
            <a:xfrm>
              <a:off x="13335840" y="3540240"/>
              <a:ext cx="302760" cy="184320"/>
            </a:xfrm>
            <a:prstGeom prst="rect">
              <a:avLst/>
            </a:prstGeom>
            <a:noFill/>
            <a:ln w="0">
              <a:noFill/>
            </a:ln>
          </p:spPr>
          <p:style>
            <a:lnRef idx="0"/>
            <a:fillRef idx="0"/>
            <a:effectRef idx="0"/>
            <a:fontRef idx="minor"/>
          </p:style>
          <p:txBody>
            <a:bodyPr wrap="none" lIns="0" rIns="0" tIns="0" bIns="0" anchor="t">
              <a:spAutoFit/>
            </a:bodyPr>
            <a:p>
              <a:pPr algn="ctr" defTabSz="914400">
                <a:lnSpc>
                  <a:spcPct val="100000"/>
                </a:lnSpc>
              </a:pPr>
              <a:r>
                <a:rPr b="1" lang="en-US" sz="1200" strike="noStrike" u="none">
                  <a:solidFill>
                    <a:srgbClr val="ffffff"/>
                  </a:solidFill>
                  <a:effectLst/>
                  <a:uFillTx/>
                  <a:latin typeface="Century Gothic"/>
                  <a:ea typeface="Arial"/>
                </a:rPr>
                <a:t>0.68</a:t>
              </a:r>
              <a:endParaRPr b="0" lang="en-US" sz="1200" strike="noStrike" u="none">
                <a:solidFill>
                  <a:srgbClr val="000000"/>
                </a:solidFill>
                <a:effectLst/>
                <a:uFillTx/>
                <a:latin typeface="Arial"/>
              </a:endParaRPr>
            </a:p>
          </p:txBody>
        </p:sp>
        <p:sp>
          <p:nvSpPr>
            <p:cNvPr id="3591" name="Rectangle 123"/>
            <p:cNvSpPr/>
            <p:nvPr/>
          </p:nvSpPr>
          <p:spPr>
            <a:xfrm>
              <a:off x="13731840" y="3417840"/>
              <a:ext cx="443880" cy="443880"/>
            </a:xfrm>
            <a:prstGeom prst="rect">
              <a:avLst/>
            </a:prstGeom>
            <a:solidFill>
              <a:srgbClr val="6d97b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92" name="TextBox 124"/>
            <p:cNvSpPr/>
            <p:nvPr/>
          </p:nvSpPr>
          <p:spPr>
            <a:xfrm>
              <a:off x="13770360" y="3540240"/>
              <a:ext cx="366840" cy="184320"/>
            </a:xfrm>
            <a:prstGeom prst="rect">
              <a:avLst/>
            </a:prstGeom>
            <a:noFill/>
            <a:ln w="0">
              <a:noFill/>
            </a:ln>
          </p:spPr>
          <p:style>
            <a:lnRef idx="0"/>
            <a:fillRef idx="0"/>
            <a:effectRef idx="0"/>
            <a:fontRef idx="minor"/>
          </p:style>
          <p:txBody>
            <a:bodyPr wrap="none" lIns="0" rIns="0" tIns="0" bIns="0" anchor="t">
              <a:spAutoFit/>
            </a:bodyPr>
            <a:p>
              <a:pPr algn="ctr" defTabSz="914400">
                <a:lnSpc>
                  <a:spcPct val="100000"/>
                </a:lnSpc>
              </a:pPr>
              <a:r>
                <a:rPr b="1" lang="en-US" sz="1200" strike="noStrike" u="none">
                  <a:solidFill>
                    <a:srgbClr val="ffffff"/>
                  </a:solidFill>
                  <a:effectLst/>
                  <a:uFillTx/>
                  <a:latin typeface="Century Gothic"/>
                  <a:ea typeface="Arial"/>
                </a:rPr>
                <a:t>-0.69</a:t>
              </a:r>
              <a:endParaRPr b="0" lang="en-US" sz="1200" strike="noStrike" u="none">
                <a:solidFill>
                  <a:srgbClr val="000000"/>
                </a:solidFill>
                <a:effectLst/>
                <a:uFillTx/>
                <a:latin typeface="Arial"/>
              </a:endParaRPr>
            </a:p>
          </p:txBody>
        </p:sp>
        <p:sp>
          <p:nvSpPr>
            <p:cNvPr id="3593" name="Rectangle 125"/>
            <p:cNvSpPr/>
            <p:nvPr/>
          </p:nvSpPr>
          <p:spPr>
            <a:xfrm>
              <a:off x="14198040" y="3417840"/>
              <a:ext cx="443880" cy="443880"/>
            </a:xfrm>
            <a:prstGeom prst="rect">
              <a:avLst/>
            </a:prstGeom>
            <a:solidFill>
              <a:srgbClr val="f6f9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94" name="Rectangle 126"/>
            <p:cNvSpPr/>
            <p:nvPr/>
          </p:nvSpPr>
          <p:spPr>
            <a:xfrm>
              <a:off x="14664600" y="3417840"/>
              <a:ext cx="443880" cy="443880"/>
            </a:xfrm>
            <a:prstGeom prst="rect">
              <a:avLst/>
            </a:prstGeom>
            <a:solidFill>
              <a:srgbClr val="d0dee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95" name="Rectangle 127"/>
            <p:cNvSpPr/>
            <p:nvPr/>
          </p:nvSpPr>
          <p:spPr>
            <a:xfrm>
              <a:off x="15131160" y="3417840"/>
              <a:ext cx="443880" cy="443880"/>
            </a:xfrm>
            <a:prstGeom prst="rect">
              <a:avLst/>
            </a:prstGeom>
            <a:solidFill>
              <a:srgbClr val="f4f8f7"/>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96" name="Rectangle 128"/>
            <p:cNvSpPr/>
            <p:nvPr/>
          </p:nvSpPr>
          <p:spPr>
            <a:xfrm>
              <a:off x="15597720" y="3417840"/>
              <a:ext cx="443880" cy="443880"/>
            </a:xfrm>
            <a:prstGeom prst="rect">
              <a:avLst/>
            </a:prstGeom>
            <a:solidFill>
              <a:srgbClr val="e8cec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97" name="Rectangle 129"/>
            <p:cNvSpPr/>
            <p:nvPr/>
          </p:nvSpPr>
          <p:spPr>
            <a:xfrm>
              <a:off x="16064280" y="3417840"/>
              <a:ext cx="443880" cy="443880"/>
            </a:xfrm>
            <a:prstGeom prst="rect">
              <a:avLst/>
            </a:prstGeom>
            <a:solidFill>
              <a:srgbClr val="e2bda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98" name="Rectangle 130"/>
            <p:cNvSpPr/>
            <p:nvPr/>
          </p:nvSpPr>
          <p:spPr>
            <a:xfrm>
              <a:off x="12332160" y="3884400"/>
              <a:ext cx="443880" cy="443880"/>
            </a:xfrm>
            <a:prstGeom prst="rect">
              <a:avLst/>
            </a:prstGeom>
            <a:solidFill>
              <a:srgbClr val="ce866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599" name="TextBox 131"/>
            <p:cNvSpPr/>
            <p:nvPr/>
          </p:nvSpPr>
          <p:spPr>
            <a:xfrm>
              <a:off x="12402720" y="4006800"/>
              <a:ext cx="302760" cy="184320"/>
            </a:xfrm>
            <a:prstGeom prst="rect">
              <a:avLst/>
            </a:prstGeom>
            <a:noFill/>
            <a:ln w="0">
              <a:noFill/>
            </a:ln>
          </p:spPr>
          <p:style>
            <a:lnRef idx="0"/>
            <a:fillRef idx="0"/>
            <a:effectRef idx="0"/>
            <a:fontRef idx="minor"/>
          </p:style>
          <p:txBody>
            <a:bodyPr wrap="none" lIns="0" rIns="0" tIns="0" bIns="0" anchor="t">
              <a:spAutoFit/>
            </a:bodyPr>
            <a:p>
              <a:pPr algn="ctr" defTabSz="914400">
                <a:lnSpc>
                  <a:spcPct val="100000"/>
                </a:lnSpc>
              </a:pPr>
              <a:r>
                <a:rPr b="1" lang="en-US" sz="1200" strike="noStrike" u="none">
                  <a:solidFill>
                    <a:srgbClr val="ffffff"/>
                  </a:solidFill>
                  <a:effectLst/>
                  <a:uFillTx/>
                  <a:latin typeface="Century Gothic"/>
                  <a:ea typeface="Arial"/>
                </a:rPr>
                <a:t>0.66</a:t>
              </a:r>
              <a:endParaRPr b="0" lang="en-US" sz="1200" strike="noStrike" u="none">
                <a:solidFill>
                  <a:srgbClr val="000000"/>
                </a:solidFill>
                <a:effectLst/>
                <a:uFillTx/>
                <a:latin typeface="Arial"/>
              </a:endParaRPr>
            </a:p>
          </p:txBody>
        </p:sp>
        <p:sp>
          <p:nvSpPr>
            <p:cNvPr id="3600" name="Rectangle 132"/>
            <p:cNvSpPr/>
            <p:nvPr/>
          </p:nvSpPr>
          <p:spPr>
            <a:xfrm>
              <a:off x="12798720" y="3884400"/>
              <a:ext cx="443880" cy="443880"/>
            </a:xfrm>
            <a:prstGeom prst="rect">
              <a:avLst/>
            </a:prstGeom>
            <a:solidFill>
              <a:srgbClr val="cc826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01" name="TextBox 133"/>
            <p:cNvSpPr/>
            <p:nvPr/>
          </p:nvSpPr>
          <p:spPr>
            <a:xfrm>
              <a:off x="12869280" y="4006800"/>
              <a:ext cx="302760" cy="184320"/>
            </a:xfrm>
            <a:prstGeom prst="rect">
              <a:avLst/>
            </a:prstGeom>
            <a:noFill/>
            <a:ln w="0">
              <a:noFill/>
            </a:ln>
          </p:spPr>
          <p:style>
            <a:lnRef idx="0"/>
            <a:fillRef idx="0"/>
            <a:effectRef idx="0"/>
            <a:fontRef idx="minor"/>
          </p:style>
          <p:txBody>
            <a:bodyPr wrap="none" lIns="0" rIns="0" tIns="0" bIns="0" anchor="t">
              <a:spAutoFit/>
            </a:bodyPr>
            <a:p>
              <a:pPr algn="ctr" defTabSz="914400">
                <a:lnSpc>
                  <a:spcPct val="100000"/>
                </a:lnSpc>
              </a:pPr>
              <a:r>
                <a:rPr b="1" lang="en-US" sz="1200" strike="noStrike" u="none">
                  <a:solidFill>
                    <a:srgbClr val="ffffff"/>
                  </a:solidFill>
                  <a:effectLst/>
                  <a:uFillTx/>
                  <a:latin typeface="Century Gothic"/>
                  <a:ea typeface="Arial"/>
                </a:rPr>
                <a:t>0.68</a:t>
              </a:r>
              <a:endParaRPr b="0" lang="en-US" sz="1200" strike="noStrike" u="none">
                <a:solidFill>
                  <a:srgbClr val="000000"/>
                </a:solidFill>
                <a:effectLst/>
                <a:uFillTx/>
                <a:latin typeface="Arial"/>
              </a:endParaRPr>
            </a:p>
          </p:txBody>
        </p:sp>
        <p:sp>
          <p:nvSpPr>
            <p:cNvPr id="3602" name="Rectangle 134"/>
            <p:cNvSpPr/>
            <p:nvPr/>
          </p:nvSpPr>
          <p:spPr>
            <a:xfrm>
              <a:off x="13265280" y="3884400"/>
              <a:ext cx="443880" cy="443880"/>
            </a:xfrm>
            <a:prstGeom prst="rect">
              <a:avLst/>
            </a:prstGeom>
            <a:solidFill>
              <a:srgbClr val="e6e4d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03" name="Rectangle 135"/>
            <p:cNvSpPr/>
            <p:nvPr/>
          </p:nvSpPr>
          <p:spPr>
            <a:xfrm>
              <a:off x="13731840" y="3884400"/>
              <a:ext cx="443880" cy="443880"/>
            </a:xfrm>
            <a:prstGeom prst="rect">
              <a:avLst/>
            </a:prstGeom>
            <a:solidFill>
              <a:srgbClr val="acc4d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04" name="Rectangle 136"/>
            <p:cNvSpPr/>
            <p:nvPr/>
          </p:nvSpPr>
          <p:spPr>
            <a:xfrm>
              <a:off x="14198040" y="3884400"/>
              <a:ext cx="443880" cy="443880"/>
            </a:xfrm>
            <a:prstGeom prst="rect">
              <a:avLst/>
            </a:prstGeom>
            <a:solidFill>
              <a:srgbClr val="f0f5f5"/>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05" name="Rectangle 137"/>
            <p:cNvSpPr/>
            <p:nvPr/>
          </p:nvSpPr>
          <p:spPr>
            <a:xfrm>
              <a:off x="14664600" y="3884400"/>
              <a:ext cx="443880" cy="443880"/>
            </a:xfrm>
            <a:prstGeom prst="rect">
              <a:avLst/>
            </a:prstGeom>
            <a:solidFill>
              <a:srgbClr val="b4cad5"/>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06" name="Rectangle 138"/>
            <p:cNvSpPr/>
            <p:nvPr/>
          </p:nvSpPr>
          <p:spPr>
            <a:xfrm>
              <a:off x="15131160" y="3884400"/>
              <a:ext cx="443880" cy="443880"/>
            </a:xfrm>
            <a:prstGeom prst="rect">
              <a:avLst/>
            </a:prstGeom>
            <a:solidFill>
              <a:srgbClr val="eef3f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07" name="Rectangle 139"/>
            <p:cNvSpPr/>
            <p:nvPr/>
          </p:nvSpPr>
          <p:spPr>
            <a:xfrm>
              <a:off x="15597720" y="3884400"/>
              <a:ext cx="443880" cy="443880"/>
            </a:xfrm>
            <a:prstGeom prst="rect">
              <a:avLst/>
            </a:prstGeom>
            <a:solidFill>
              <a:srgbClr val="e4c2b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08" name="Rectangle 140"/>
            <p:cNvSpPr/>
            <p:nvPr/>
          </p:nvSpPr>
          <p:spPr>
            <a:xfrm>
              <a:off x="16064280" y="3884400"/>
              <a:ext cx="443880" cy="443880"/>
            </a:xfrm>
            <a:prstGeom prst="rect">
              <a:avLst/>
            </a:prstGeom>
            <a:solidFill>
              <a:srgbClr val="e3c0a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09" name="Rectangle 141"/>
            <p:cNvSpPr/>
            <p:nvPr/>
          </p:nvSpPr>
          <p:spPr>
            <a:xfrm>
              <a:off x="12332160" y="4350960"/>
              <a:ext cx="443880" cy="443880"/>
            </a:xfrm>
            <a:prstGeom prst="rect">
              <a:avLst/>
            </a:prstGeom>
            <a:solidFill>
              <a:srgbClr val="6f99b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10" name="TextBox 142"/>
            <p:cNvSpPr/>
            <p:nvPr/>
          </p:nvSpPr>
          <p:spPr>
            <a:xfrm>
              <a:off x="12370680" y="4473360"/>
              <a:ext cx="366840" cy="184320"/>
            </a:xfrm>
            <a:prstGeom prst="rect">
              <a:avLst/>
            </a:prstGeom>
            <a:noFill/>
            <a:ln w="0">
              <a:noFill/>
            </a:ln>
          </p:spPr>
          <p:style>
            <a:lnRef idx="0"/>
            <a:fillRef idx="0"/>
            <a:effectRef idx="0"/>
            <a:fontRef idx="minor"/>
          </p:style>
          <p:txBody>
            <a:bodyPr wrap="none" lIns="0" rIns="0" tIns="0" bIns="0" anchor="t">
              <a:spAutoFit/>
            </a:bodyPr>
            <a:p>
              <a:pPr algn="ctr" defTabSz="914400">
                <a:lnSpc>
                  <a:spcPct val="100000"/>
                </a:lnSpc>
              </a:pPr>
              <a:r>
                <a:rPr b="1" lang="en-US" sz="1200" strike="noStrike" u="none">
                  <a:solidFill>
                    <a:srgbClr val="ffffff"/>
                  </a:solidFill>
                  <a:effectLst/>
                  <a:uFillTx/>
                  <a:latin typeface="Century Gothic"/>
                  <a:ea typeface="Arial"/>
                </a:rPr>
                <a:t>-0.68</a:t>
              </a:r>
              <a:endParaRPr b="0" lang="en-US" sz="1200" strike="noStrike" u="none">
                <a:solidFill>
                  <a:srgbClr val="000000"/>
                </a:solidFill>
                <a:effectLst/>
                <a:uFillTx/>
                <a:latin typeface="Arial"/>
              </a:endParaRPr>
            </a:p>
          </p:txBody>
        </p:sp>
        <p:sp>
          <p:nvSpPr>
            <p:cNvPr id="3611" name="Rectangle 143"/>
            <p:cNvSpPr/>
            <p:nvPr/>
          </p:nvSpPr>
          <p:spPr>
            <a:xfrm>
              <a:off x="12798720" y="4350960"/>
              <a:ext cx="443880" cy="443880"/>
            </a:xfrm>
            <a:prstGeom prst="rect">
              <a:avLst/>
            </a:prstGeom>
            <a:solidFill>
              <a:srgbClr val="6d97b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12" name="TextBox 144"/>
            <p:cNvSpPr/>
            <p:nvPr/>
          </p:nvSpPr>
          <p:spPr>
            <a:xfrm>
              <a:off x="12837240" y="4473360"/>
              <a:ext cx="366840" cy="184320"/>
            </a:xfrm>
            <a:prstGeom prst="rect">
              <a:avLst/>
            </a:prstGeom>
            <a:noFill/>
            <a:ln w="0">
              <a:noFill/>
            </a:ln>
          </p:spPr>
          <p:style>
            <a:lnRef idx="0"/>
            <a:fillRef idx="0"/>
            <a:effectRef idx="0"/>
            <a:fontRef idx="minor"/>
          </p:style>
          <p:txBody>
            <a:bodyPr wrap="none" lIns="0" rIns="0" tIns="0" bIns="0" anchor="t">
              <a:spAutoFit/>
            </a:bodyPr>
            <a:p>
              <a:pPr algn="ctr" defTabSz="914400">
                <a:lnSpc>
                  <a:spcPct val="100000"/>
                </a:lnSpc>
              </a:pPr>
              <a:r>
                <a:rPr b="1" lang="en-US" sz="1200" strike="noStrike" u="none">
                  <a:solidFill>
                    <a:srgbClr val="ffffff"/>
                  </a:solidFill>
                  <a:effectLst/>
                  <a:uFillTx/>
                  <a:latin typeface="Century Gothic"/>
                  <a:ea typeface="Arial"/>
                </a:rPr>
                <a:t>-0.69</a:t>
              </a:r>
              <a:endParaRPr b="0" lang="en-US" sz="1200" strike="noStrike" u="none">
                <a:solidFill>
                  <a:srgbClr val="000000"/>
                </a:solidFill>
                <a:effectLst/>
                <a:uFillTx/>
                <a:latin typeface="Arial"/>
              </a:endParaRPr>
            </a:p>
          </p:txBody>
        </p:sp>
        <p:sp>
          <p:nvSpPr>
            <p:cNvPr id="3613" name="Rectangle 145"/>
            <p:cNvSpPr/>
            <p:nvPr/>
          </p:nvSpPr>
          <p:spPr>
            <a:xfrm>
              <a:off x="13265280" y="4350960"/>
              <a:ext cx="443880" cy="443880"/>
            </a:xfrm>
            <a:prstGeom prst="rect">
              <a:avLst/>
            </a:prstGeom>
            <a:solidFill>
              <a:srgbClr val="acc4d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14" name="Rectangle 146"/>
            <p:cNvSpPr/>
            <p:nvPr/>
          </p:nvSpPr>
          <p:spPr>
            <a:xfrm>
              <a:off x="13731840" y="4350960"/>
              <a:ext cx="443880" cy="443880"/>
            </a:xfrm>
            <a:prstGeom prst="rect">
              <a:avLst/>
            </a:prstGeom>
            <a:solidFill>
              <a:srgbClr val="e6e4d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15" name="Rectangle 147"/>
            <p:cNvSpPr/>
            <p:nvPr/>
          </p:nvSpPr>
          <p:spPr>
            <a:xfrm>
              <a:off x="14198040" y="4350960"/>
              <a:ext cx="443880" cy="443880"/>
            </a:xfrm>
            <a:prstGeom prst="rect">
              <a:avLst/>
            </a:prstGeom>
            <a:solidFill>
              <a:srgbClr val="e4ec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16" name="Rectangle 148"/>
            <p:cNvSpPr/>
            <p:nvPr/>
          </p:nvSpPr>
          <p:spPr>
            <a:xfrm>
              <a:off x="14664600" y="4350960"/>
              <a:ext cx="443880" cy="443880"/>
            </a:xfrm>
            <a:prstGeom prst="rect">
              <a:avLst/>
            </a:prstGeom>
            <a:solidFill>
              <a:srgbClr val="e5c5b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17" name="Rectangle 149"/>
            <p:cNvSpPr/>
            <p:nvPr/>
          </p:nvSpPr>
          <p:spPr>
            <a:xfrm>
              <a:off x="15131160" y="4350960"/>
              <a:ext cx="443880" cy="443880"/>
            </a:xfrm>
            <a:prstGeom prst="rect">
              <a:avLst/>
            </a:prstGeom>
            <a:solidFill>
              <a:srgbClr val="e8ccb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18" name="Rectangle 150"/>
            <p:cNvSpPr/>
            <p:nvPr/>
          </p:nvSpPr>
          <p:spPr>
            <a:xfrm>
              <a:off x="15597720" y="4350960"/>
              <a:ext cx="443880" cy="443880"/>
            </a:xfrm>
            <a:prstGeom prst="rect">
              <a:avLst/>
            </a:prstGeom>
            <a:solidFill>
              <a:srgbClr val="aec5d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19" name="Rectangle 151"/>
            <p:cNvSpPr/>
            <p:nvPr/>
          </p:nvSpPr>
          <p:spPr>
            <a:xfrm>
              <a:off x="16064280" y="4350960"/>
              <a:ext cx="443880" cy="443880"/>
            </a:xfrm>
            <a:prstGeom prst="rect">
              <a:avLst/>
            </a:prstGeom>
            <a:solidFill>
              <a:srgbClr val="8daec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20" name="TextBox 152"/>
            <p:cNvSpPr/>
            <p:nvPr/>
          </p:nvSpPr>
          <p:spPr>
            <a:xfrm>
              <a:off x="16102800" y="4473360"/>
              <a:ext cx="366840" cy="184320"/>
            </a:xfrm>
            <a:prstGeom prst="rect">
              <a:avLst/>
            </a:prstGeom>
            <a:noFill/>
            <a:ln w="0">
              <a:noFill/>
            </a:ln>
          </p:spPr>
          <p:style>
            <a:lnRef idx="0"/>
            <a:fillRef idx="0"/>
            <a:effectRef idx="0"/>
            <a:fontRef idx="minor"/>
          </p:style>
          <p:txBody>
            <a:bodyPr wrap="none" lIns="0" rIns="0" tIns="0" bIns="0" anchor="t">
              <a:spAutoFit/>
            </a:bodyPr>
            <a:p>
              <a:pPr algn="ctr" defTabSz="914400">
                <a:lnSpc>
                  <a:spcPct val="100000"/>
                </a:lnSpc>
              </a:pPr>
              <a:r>
                <a:rPr b="1" lang="en-US" sz="1200" strike="noStrike" u="none">
                  <a:solidFill>
                    <a:srgbClr val="ffffff"/>
                  </a:solidFill>
                  <a:effectLst/>
                  <a:uFillTx/>
                  <a:latin typeface="Century Gothic"/>
                  <a:ea typeface="Arial"/>
                </a:rPr>
                <a:t>-0.53</a:t>
              </a:r>
              <a:endParaRPr b="0" lang="en-US" sz="1200" strike="noStrike" u="none">
                <a:solidFill>
                  <a:srgbClr val="000000"/>
                </a:solidFill>
                <a:effectLst/>
                <a:uFillTx/>
                <a:latin typeface="Arial"/>
              </a:endParaRPr>
            </a:p>
          </p:txBody>
        </p:sp>
        <p:sp>
          <p:nvSpPr>
            <p:cNvPr id="3621" name="Rectangle 153"/>
            <p:cNvSpPr/>
            <p:nvPr/>
          </p:nvSpPr>
          <p:spPr>
            <a:xfrm>
              <a:off x="12332160" y="4817520"/>
              <a:ext cx="443880" cy="443880"/>
            </a:xfrm>
            <a:prstGeom prst="rect">
              <a:avLst/>
            </a:prstGeom>
            <a:solidFill>
              <a:srgbClr val="f9fbf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22" name="Rectangle 154"/>
            <p:cNvSpPr/>
            <p:nvPr/>
          </p:nvSpPr>
          <p:spPr>
            <a:xfrm>
              <a:off x="12798720" y="4817520"/>
              <a:ext cx="443880" cy="443880"/>
            </a:xfrm>
            <a:prstGeom prst="rect">
              <a:avLst/>
            </a:prstGeom>
            <a:solidFill>
              <a:srgbClr val="f6f9f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23" name="Rectangle 155"/>
            <p:cNvSpPr/>
            <p:nvPr/>
          </p:nvSpPr>
          <p:spPr>
            <a:xfrm>
              <a:off x="13265280" y="4817520"/>
              <a:ext cx="443880" cy="443880"/>
            </a:xfrm>
            <a:prstGeom prst="rect">
              <a:avLst/>
            </a:prstGeom>
            <a:solidFill>
              <a:srgbClr val="f0f5f5"/>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24" name="Rectangle 156"/>
            <p:cNvSpPr/>
            <p:nvPr/>
          </p:nvSpPr>
          <p:spPr>
            <a:xfrm>
              <a:off x="13731840" y="4817520"/>
              <a:ext cx="443880" cy="443880"/>
            </a:xfrm>
            <a:prstGeom prst="rect">
              <a:avLst/>
            </a:prstGeom>
            <a:solidFill>
              <a:srgbClr val="e4ec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25" name="Rectangle 157"/>
            <p:cNvSpPr/>
            <p:nvPr/>
          </p:nvSpPr>
          <p:spPr>
            <a:xfrm>
              <a:off x="14198040" y="4817520"/>
              <a:ext cx="443880" cy="443880"/>
            </a:xfrm>
            <a:prstGeom prst="rect">
              <a:avLst/>
            </a:prstGeom>
            <a:solidFill>
              <a:srgbClr val="e6e4d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26" name="Rectangle 158"/>
            <p:cNvSpPr/>
            <p:nvPr/>
          </p:nvSpPr>
          <p:spPr>
            <a:xfrm>
              <a:off x="14664600" y="4817520"/>
              <a:ext cx="443880" cy="443880"/>
            </a:xfrm>
            <a:prstGeom prst="rect">
              <a:avLst/>
            </a:prstGeom>
            <a:solidFill>
              <a:srgbClr val="f3ece7"/>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27" name="Rectangle 159"/>
            <p:cNvSpPr/>
            <p:nvPr/>
          </p:nvSpPr>
          <p:spPr>
            <a:xfrm>
              <a:off x="15131160" y="4817520"/>
              <a:ext cx="443880" cy="443880"/>
            </a:xfrm>
            <a:prstGeom prst="rect">
              <a:avLst/>
            </a:prstGeom>
            <a:solidFill>
              <a:srgbClr val="e8cec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28" name="Rectangle 160"/>
            <p:cNvSpPr/>
            <p:nvPr/>
          </p:nvSpPr>
          <p:spPr>
            <a:xfrm>
              <a:off x="15597720" y="4817520"/>
              <a:ext cx="443880" cy="443880"/>
            </a:xfrm>
            <a:prstGeom prst="rect">
              <a:avLst/>
            </a:prstGeom>
            <a:solidFill>
              <a:srgbClr val="dae5e9"/>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29" name="Rectangle 161"/>
            <p:cNvSpPr/>
            <p:nvPr/>
          </p:nvSpPr>
          <p:spPr>
            <a:xfrm>
              <a:off x="16064280" y="4817520"/>
              <a:ext cx="443880" cy="443880"/>
            </a:xfrm>
            <a:prstGeom prst="rect">
              <a:avLst/>
            </a:prstGeom>
            <a:solidFill>
              <a:srgbClr val="f0f5f5"/>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30" name="Rectangle 162"/>
            <p:cNvSpPr/>
            <p:nvPr/>
          </p:nvSpPr>
          <p:spPr>
            <a:xfrm>
              <a:off x="12332160" y="5284080"/>
              <a:ext cx="443880" cy="443880"/>
            </a:xfrm>
            <a:prstGeom prst="rect">
              <a:avLst/>
            </a:prstGeom>
            <a:solidFill>
              <a:srgbClr val="d2dfe5"/>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31" name="Rectangle 163"/>
            <p:cNvSpPr/>
            <p:nvPr/>
          </p:nvSpPr>
          <p:spPr>
            <a:xfrm>
              <a:off x="12798720" y="5284080"/>
              <a:ext cx="443880" cy="443880"/>
            </a:xfrm>
            <a:prstGeom prst="rect">
              <a:avLst/>
            </a:prstGeom>
            <a:solidFill>
              <a:srgbClr val="d0dee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32" name="Rectangle 164"/>
            <p:cNvSpPr/>
            <p:nvPr/>
          </p:nvSpPr>
          <p:spPr>
            <a:xfrm>
              <a:off x="13265280" y="5284080"/>
              <a:ext cx="443880" cy="443880"/>
            </a:xfrm>
            <a:prstGeom prst="rect">
              <a:avLst/>
            </a:prstGeom>
            <a:solidFill>
              <a:srgbClr val="b4cad5"/>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33" name="Rectangle 165"/>
            <p:cNvSpPr/>
            <p:nvPr/>
          </p:nvSpPr>
          <p:spPr>
            <a:xfrm>
              <a:off x="13731840" y="5284080"/>
              <a:ext cx="443880" cy="443880"/>
            </a:xfrm>
            <a:prstGeom prst="rect">
              <a:avLst/>
            </a:prstGeom>
            <a:solidFill>
              <a:srgbClr val="e5c5b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34" name="Rectangle 166"/>
            <p:cNvSpPr/>
            <p:nvPr/>
          </p:nvSpPr>
          <p:spPr>
            <a:xfrm>
              <a:off x="14198040" y="5284080"/>
              <a:ext cx="443880" cy="443880"/>
            </a:xfrm>
            <a:prstGeom prst="rect">
              <a:avLst/>
            </a:prstGeom>
            <a:solidFill>
              <a:srgbClr val="f3ece7"/>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35" name="Rectangle 167"/>
            <p:cNvSpPr/>
            <p:nvPr/>
          </p:nvSpPr>
          <p:spPr>
            <a:xfrm>
              <a:off x="14664600" y="5284080"/>
              <a:ext cx="443880" cy="443880"/>
            </a:xfrm>
            <a:prstGeom prst="rect">
              <a:avLst/>
            </a:prstGeom>
            <a:solidFill>
              <a:srgbClr val="e6e4d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36" name="Rectangle 168"/>
            <p:cNvSpPr/>
            <p:nvPr/>
          </p:nvSpPr>
          <p:spPr>
            <a:xfrm>
              <a:off x="15131160" y="5284080"/>
              <a:ext cx="443880" cy="443880"/>
            </a:xfrm>
            <a:prstGeom prst="rect">
              <a:avLst/>
            </a:prstGeom>
            <a:solidFill>
              <a:srgbClr val="f5f2e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37" name="Rectangle 169"/>
            <p:cNvSpPr/>
            <p:nvPr/>
          </p:nvSpPr>
          <p:spPr>
            <a:xfrm>
              <a:off x="15597720" y="5284080"/>
              <a:ext cx="443880" cy="443880"/>
            </a:xfrm>
            <a:prstGeom prst="rect">
              <a:avLst/>
            </a:prstGeom>
            <a:solidFill>
              <a:srgbClr val="acc4d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38" name="Rectangle 170"/>
            <p:cNvSpPr/>
            <p:nvPr/>
          </p:nvSpPr>
          <p:spPr>
            <a:xfrm>
              <a:off x="16064280" y="5284080"/>
              <a:ext cx="443880" cy="443880"/>
            </a:xfrm>
            <a:prstGeom prst="rect">
              <a:avLst/>
            </a:prstGeom>
            <a:solidFill>
              <a:srgbClr val="9ebac9"/>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39" name="Rectangle 171"/>
            <p:cNvSpPr/>
            <p:nvPr/>
          </p:nvSpPr>
          <p:spPr>
            <a:xfrm>
              <a:off x="12332160" y="5750640"/>
              <a:ext cx="443880" cy="443880"/>
            </a:xfrm>
            <a:prstGeom prst="rect">
              <a:avLst/>
            </a:prstGeom>
            <a:solidFill>
              <a:srgbClr val="f8f9f7"/>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40" name="Rectangle 172"/>
            <p:cNvSpPr/>
            <p:nvPr/>
          </p:nvSpPr>
          <p:spPr>
            <a:xfrm>
              <a:off x="12798720" y="5750640"/>
              <a:ext cx="443880" cy="443880"/>
            </a:xfrm>
            <a:prstGeom prst="rect">
              <a:avLst/>
            </a:prstGeom>
            <a:solidFill>
              <a:srgbClr val="f4f8f7"/>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41" name="Rectangle 173"/>
            <p:cNvSpPr/>
            <p:nvPr/>
          </p:nvSpPr>
          <p:spPr>
            <a:xfrm>
              <a:off x="13265280" y="5750640"/>
              <a:ext cx="443880" cy="443880"/>
            </a:xfrm>
            <a:prstGeom prst="rect">
              <a:avLst/>
            </a:prstGeom>
            <a:solidFill>
              <a:srgbClr val="eef3f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42" name="Rectangle 174"/>
            <p:cNvSpPr/>
            <p:nvPr/>
          </p:nvSpPr>
          <p:spPr>
            <a:xfrm>
              <a:off x="13731840" y="5750640"/>
              <a:ext cx="443880" cy="443880"/>
            </a:xfrm>
            <a:prstGeom prst="rect">
              <a:avLst/>
            </a:prstGeom>
            <a:solidFill>
              <a:srgbClr val="e8ccb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43" name="Rectangle 175"/>
            <p:cNvSpPr/>
            <p:nvPr/>
          </p:nvSpPr>
          <p:spPr>
            <a:xfrm>
              <a:off x="14198040" y="5750640"/>
              <a:ext cx="443880" cy="443880"/>
            </a:xfrm>
            <a:prstGeom prst="rect">
              <a:avLst/>
            </a:prstGeom>
            <a:solidFill>
              <a:srgbClr val="e8cec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44" name="Rectangle 176"/>
            <p:cNvSpPr/>
            <p:nvPr/>
          </p:nvSpPr>
          <p:spPr>
            <a:xfrm>
              <a:off x="14664600" y="5750640"/>
              <a:ext cx="443880" cy="443880"/>
            </a:xfrm>
            <a:prstGeom prst="rect">
              <a:avLst/>
            </a:prstGeom>
            <a:solidFill>
              <a:srgbClr val="f5f2e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45" name="Rectangle 177"/>
            <p:cNvSpPr/>
            <p:nvPr/>
          </p:nvSpPr>
          <p:spPr>
            <a:xfrm>
              <a:off x="15131160" y="5750640"/>
              <a:ext cx="443880" cy="443880"/>
            </a:xfrm>
            <a:prstGeom prst="rect">
              <a:avLst/>
            </a:prstGeom>
            <a:solidFill>
              <a:srgbClr val="e6e4d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46" name="Rectangle 178"/>
            <p:cNvSpPr/>
            <p:nvPr/>
          </p:nvSpPr>
          <p:spPr>
            <a:xfrm>
              <a:off x="15597720" y="5750640"/>
              <a:ext cx="443880" cy="443880"/>
            </a:xfrm>
            <a:prstGeom prst="rect">
              <a:avLst/>
            </a:prstGeom>
            <a:solidFill>
              <a:srgbClr val="c4d5d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47" name="Rectangle 179"/>
            <p:cNvSpPr/>
            <p:nvPr/>
          </p:nvSpPr>
          <p:spPr>
            <a:xfrm>
              <a:off x="16064280" y="5750640"/>
              <a:ext cx="443880" cy="443880"/>
            </a:xfrm>
            <a:prstGeom prst="rect">
              <a:avLst/>
            </a:prstGeom>
            <a:solidFill>
              <a:srgbClr val="baced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48" name="Rectangle 180"/>
            <p:cNvSpPr/>
            <p:nvPr/>
          </p:nvSpPr>
          <p:spPr>
            <a:xfrm>
              <a:off x="12332160" y="6217200"/>
              <a:ext cx="443880" cy="443880"/>
            </a:xfrm>
            <a:prstGeom prst="rect">
              <a:avLst/>
            </a:prstGeom>
            <a:solidFill>
              <a:srgbClr val="ead4c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49" name="Rectangle 181"/>
            <p:cNvSpPr/>
            <p:nvPr/>
          </p:nvSpPr>
          <p:spPr>
            <a:xfrm>
              <a:off x="12798720" y="6217200"/>
              <a:ext cx="443880" cy="443880"/>
            </a:xfrm>
            <a:prstGeom prst="rect">
              <a:avLst/>
            </a:prstGeom>
            <a:solidFill>
              <a:srgbClr val="e8cec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50" name="Rectangle 182"/>
            <p:cNvSpPr/>
            <p:nvPr/>
          </p:nvSpPr>
          <p:spPr>
            <a:xfrm>
              <a:off x="13265280" y="6217200"/>
              <a:ext cx="443880" cy="443880"/>
            </a:xfrm>
            <a:prstGeom prst="rect">
              <a:avLst/>
            </a:prstGeom>
            <a:solidFill>
              <a:srgbClr val="e4c2b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51" name="Rectangle 183"/>
            <p:cNvSpPr/>
            <p:nvPr/>
          </p:nvSpPr>
          <p:spPr>
            <a:xfrm>
              <a:off x="13731840" y="6217200"/>
              <a:ext cx="443880" cy="443880"/>
            </a:xfrm>
            <a:prstGeom prst="rect">
              <a:avLst/>
            </a:prstGeom>
            <a:solidFill>
              <a:srgbClr val="aec5d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52" name="Rectangle 184"/>
            <p:cNvSpPr/>
            <p:nvPr/>
          </p:nvSpPr>
          <p:spPr>
            <a:xfrm>
              <a:off x="14198040" y="6217200"/>
              <a:ext cx="443880" cy="443880"/>
            </a:xfrm>
            <a:prstGeom prst="rect">
              <a:avLst/>
            </a:prstGeom>
            <a:solidFill>
              <a:srgbClr val="dae5e9"/>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53" name="Rectangle 185"/>
            <p:cNvSpPr/>
            <p:nvPr/>
          </p:nvSpPr>
          <p:spPr>
            <a:xfrm>
              <a:off x="14664600" y="6217200"/>
              <a:ext cx="443880" cy="443880"/>
            </a:xfrm>
            <a:prstGeom prst="rect">
              <a:avLst/>
            </a:prstGeom>
            <a:solidFill>
              <a:srgbClr val="acc4d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54" name="Rectangle 186"/>
            <p:cNvSpPr/>
            <p:nvPr/>
          </p:nvSpPr>
          <p:spPr>
            <a:xfrm>
              <a:off x="15131160" y="6217200"/>
              <a:ext cx="443880" cy="443880"/>
            </a:xfrm>
            <a:prstGeom prst="rect">
              <a:avLst/>
            </a:prstGeom>
            <a:solidFill>
              <a:srgbClr val="c4d5d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55" name="Rectangle 187"/>
            <p:cNvSpPr/>
            <p:nvPr/>
          </p:nvSpPr>
          <p:spPr>
            <a:xfrm>
              <a:off x="15597720" y="6217200"/>
              <a:ext cx="443880" cy="443880"/>
            </a:xfrm>
            <a:prstGeom prst="rect">
              <a:avLst/>
            </a:prstGeom>
            <a:solidFill>
              <a:srgbClr val="e6e4d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56" name="Rectangle 188"/>
            <p:cNvSpPr/>
            <p:nvPr/>
          </p:nvSpPr>
          <p:spPr>
            <a:xfrm>
              <a:off x="16064280" y="6217200"/>
              <a:ext cx="443880" cy="443880"/>
            </a:xfrm>
            <a:prstGeom prst="rect">
              <a:avLst/>
            </a:prstGeom>
            <a:solidFill>
              <a:srgbClr val="bf5f3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57" name="TextBox 189"/>
            <p:cNvSpPr/>
            <p:nvPr/>
          </p:nvSpPr>
          <p:spPr>
            <a:xfrm>
              <a:off x="16134840" y="6339600"/>
              <a:ext cx="302760" cy="184320"/>
            </a:xfrm>
            <a:prstGeom prst="rect">
              <a:avLst/>
            </a:prstGeom>
            <a:noFill/>
            <a:ln w="0">
              <a:noFill/>
            </a:ln>
          </p:spPr>
          <p:style>
            <a:lnRef idx="0"/>
            <a:fillRef idx="0"/>
            <a:effectRef idx="0"/>
            <a:fontRef idx="minor"/>
          </p:style>
          <p:txBody>
            <a:bodyPr wrap="none" lIns="0" rIns="0" tIns="0" bIns="0" anchor="t">
              <a:spAutoFit/>
            </a:bodyPr>
            <a:p>
              <a:pPr algn="ctr" defTabSz="914400">
                <a:lnSpc>
                  <a:spcPct val="100000"/>
                </a:lnSpc>
              </a:pPr>
              <a:r>
                <a:rPr b="1" lang="en-US" sz="1200" strike="noStrike" u="none">
                  <a:solidFill>
                    <a:srgbClr val="ffffff"/>
                  </a:solidFill>
                  <a:effectLst/>
                  <a:uFillTx/>
                  <a:latin typeface="Century Gothic"/>
                  <a:ea typeface="Arial"/>
                </a:rPr>
                <a:t>0.88</a:t>
              </a:r>
              <a:endParaRPr b="0" lang="en-US" sz="1200" strike="noStrike" u="none">
                <a:solidFill>
                  <a:srgbClr val="000000"/>
                </a:solidFill>
                <a:effectLst/>
                <a:uFillTx/>
                <a:latin typeface="Arial"/>
              </a:endParaRPr>
            </a:p>
          </p:txBody>
        </p:sp>
        <p:sp>
          <p:nvSpPr>
            <p:cNvPr id="3658" name="Rectangle 190"/>
            <p:cNvSpPr/>
            <p:nvPr/>
          </p:nvSpPr>
          <p:spPr>
            <a:xfrm>
              <a:off x="12332160" y="6683760"/>
              <a:ext cx="443880" cy="443880"/>
            </a:xfrm>
            <a:prstGeom prst="rect">
              <a:avLst/>
            </a:prstGeom>
            <a:solidFill>
              <a:srgbClr val="e4c2b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59" name="Rectangle 191"/>
            <p:cNvSpPr/>
            <p:nvPr/>
          </p:nvSpPr>
          <p:spPr>
            <a:xfrm>
              <a:off x="12798720" y="6683760"/>
              <a:ext cx="443880" cy="443880"/>
            </a:xfrm>
            <a:prstGeom prst="rect">
              <a:avLst/>
            </a:prstGeom>
            <a:solidFill>
              <a:srgbClr val="e2bda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60" name="Rectangle 192"/>
            <p:cNvSpPr/>
            <p:nvPr/>
          </p:nvSpPr>
          <p:spPr>
            <a:xfrm>
              <a:off x="13265280" y="6683760"/>
              <a:ext cx="443880" cy="443880"/>
            </a:xfrm>
            <a:prstGeom prst="rect">
              <a:avLst/>
            </a:prstGeom>
            <a:solidFill>
              <a:srgbClr val="e3c0a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61" name="Rectangle 193"/>
            <p:cNvSpPr/>
            <p:nvPr/>
          </p:nvSpPr>
          <p:spPr>
            <a:xfrm>
              <a:off x="13731840" y="6683760"/>
              <a:ext cx="443880" cy="443880"/>
            </a:xfrm>
            <a:prstGeom prst="rect">
              <a:avLst/>
            </a:prstGeom>
            <a:solidFill>
              <a:srgbClr val="8daec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62" name="TextBox 194"/>
            <p:cNvSpPr/>
            <p:nvPr/>
          </p:nvSpPr>
          <p:spPr>
            <a:xfrm>
              <a:off x="13770360" y="6806160"/>
              <a:ext cx="366840" cy="184320"/>
            </a:xfrm>
            <a:prstGeom prst="rect">
              <a:avLst/>
            </a:prstGeom>
            <a:noFill/>
            <a:ln w="0">
              <a:noFill/>
            </a:ln>
          </p:spPr>
          <p:style>
            <a:lnRef idx="0"/>
            <a:fillRef idx="0"/>
            <a:effectRef idx="0"/>
            <a:fontRef idx="minor"/>
          </p:style>
          <p:txBody>
            <a:bodyPr wrap="none" lIns="0" rIns="0" tIns="0" bIns="0" anchor="t">
              <a:spAutoFit/>
            </a:bodyPr>
            <a:p>
              <a:pPr algn="ctr" defTabSz="914400">
                <a:lnSpc>
                  <a:spcPct val="100000"/>
                </a:lnSpc>
              </a:pPr>
              <a:r>
                <a:rPr b="1" lang="en-US" sz="1200" strike="noStrike" u="none">
                  <a:solidFill>
                    <a:srgbClr val="ffffff"/>
                  </a:solidFill>
                  <a:effectLst/>
                  <a:uFillTx/>
                  <a:latin typeface="Century Gothic"/>
                  <a:ea typeface="Arial"/>
                </a:rPr>
                <a:t>-0.53</a:t>
              </a:r>
              <a:endParaRPr b="0" lang="en-US" sz="1200" strike="noStrike" u="none">
                <a:solidFill>
                  <a:srgbClr val="000000"/>
                </a:solidFill>
                <a:effectLst/>
                <a:uFillTx/>
                <a:latin typeface="Arial"/>
              </a:endParaRPr>
            </a:p>
          </p:txBody>
        </p:sp>
        <p:sp>
          <p:nvSpPr>
            <p:cNvPr id="3663" name="Rectangle 195"/>
            <p:cNvSpPr/>
            <p:nvPr/>
          </p:nvSpPr>
          <p:spPr>
            <a:xfrm>
              <a:off x="14198040" y="6683760"/>
              <a:ext cx="443880" cy="443880"/>
            </a:xfrm>
            <a:prstGeom prst="rect">
              <a:avLst/>
            </a:prstGeom>
            <a:solidFill>
              <a:srgbClr val="f0f5f5"/>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64" name="Rectangle 196"/>
            <p:cNvSpPr/>
            <p:nvPr/>
          </p:nvSpPr>
          <p:spPr>
            <a:xfrm>
              <a:off x="14664600" y="6683760"/>
              <a:ext cx="443880" cy="443880"/>
            </a:xfrm>
            <a:prstGeom prst="rect">
              <a:avLst/>
            </a:prstGeom>
            <a:solidFill>
              <a:srgbClr val="9ebac9"/>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65" name="Rectangle 197"/>
            <p:cNvSpPr/>
            <p:nvPr/>
          </p:nvSpPr>
          <p:spPr>
            <a:xfrm>
              <a:off x="15131160" y="6683760"/>
              <a:ext cx="443880" cy="443880"/>
            </a:xfrm>
            <a:prstGeom prst="rect">
              <a:avLst/>
            </a:prstGeom>
            <a:solidFill>
              <a:srgbClr val="baced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66" name="Rectangle 198"/>
            <p:cNvSpPr/>
            <p:nvPr/>
          </p:nvSpPr>
          <p:spPr>
            <a:xfrm>
              <a:off x="15597720" y="6683760"/>
              <a:ext cx="443880" cy="443880"/>
            </a:xfrm>
            <a:prstGeom prst="rect">
              <a:avLst/>
            </a:prstGeom>
            <a:solidFill>
              <a:srgbClr val="bf5f33"/>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67" name="TextBox 199"/>
            <p:cNvSpPr/>
            <p:nvPr/>
          </p:nvSpPr>
          <p:spPr>
            <a:xfrm>
              <a:off x="15668640" y="6806160"/>
              <a:ext cx="302760" cy="184320"/>
            </a:xfrm>
            <a:prstGeom prst="rect">
              <a:avLst/>
            </a:prstGeom>
            <a:noFill/>
            <a:ln w="0">
              <a:noFill/>
            </a:ln>
          </p:spPr>
          <p:style>
            <a:lnRef idx="0"/>
            <a:fillRef idx="0"/>
            <a:effectRef idx="0"/>
            <a:fontRef idx="minor"/>
          </p:style>
          <p:txBody>
            <a:bodyPr wrap="none" lIns="0" rIns="0" tIns="0" bIns="0" anchor="t">
              <a:spAutoFit/>
            </a:bodyPr>
            <a:p>
              <a:pPr algn="ctr" defTabSz="914400">
                <a:lnSpc>
                  <a:spcPct val="100000"/>
                </a:lnSpc>
              </a:pPr>
              <a:r>
                <a:rPr b="1" lang="en-US" sz="1200" strike="noStrike" u="none">
                  <a:solidFill>
                    <a:srgbClr val="ffffff"/>
                  </a:solidFill>
                  <a:effectLst/>
                  <a:uFillTx/>
                  <a:latin typeface="Century Gothic"/>
                  <a:ea typeface="Arial"/>
                </a:rPr>
                <a:t>0.88</a:t>
              </a:r>
              <a:endParaRPr b="0" lang="en-US" sz="1200" strike="noStrike" u="none">
                <a:solidFill>
                  <a:srgbClr val="000000"/>
                </a:solidFill>
                <a:effectLst/>
                <a:uFillTx/>
                <a:latin typeface="Arial"/>
              </a:endParaRPr>
            </a:p>
          </p:txBody>
        </p:sp>
        <p:sp>
          <p:nvSpPr>
            <p:cNvPr id="3668" name="Rectangle 200"/>
            <p:cNvSpPr/>
            <p:nvPr/>
          </p:nvSpPr>
          <p:spPr>
            <a:xfrm>
              <a:off x="16064280" y="6683760"/>
              <a:ext cx="443880" cy="443880"/>
            </a:xfrm>
            <a:prstGeom prst="rect">
              <a:avLst/>
            </a:prstGeom>
            <a:solidFill>
              <a:srgbClr val="e6e4d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69" name="TextBox 201"/>
            <p:cNvSpPr/>
            <p:nvPr/>
          </p:nvSpPr>
          <p:spPr>
            <a:xfrm>
              <a:off x="9936720" y="7345080"/>
              <a:ext cx="7798320" cy="738720"/>
            </a:xfrm>
            <a:prstGeom prst="rect">
              <a:avLst/>
            </a:prstGeom>
            <a:noFill/>
            <a:ln w="0">
              <a:noFill/>
            </a:ln>
          </p:spPr>
          <p:style>
            <a:lnRef idx="0"/>
            <a:fillRef idx="0"/>
            <a:effectRef idx="0"/>
            <a:fontRef idx="minor"/>
          </p:style>
          <p:txBody>
            <a:bodyPr lIns="0" rIns="0" tIns="0" bIns="0" anchor="t">
              <a:spAutoFit/>
            </a:bodyPr>
            <a:p>
              <a:pPr defTabSz="914400">
                <a:lnSpc>
                  <a:spcPct val="118000"/>
                </a:lnSpc>
              </a:pPr>
              <a:r>
                <a:rPr b="0" lang="en-US" sz="1400" strike="noStrike" u="none">
                  <a:solidFill>
                    <a:srgbClr val="79837f"/>
                  </a:solidFill>
                  <a:effectLst/>
                  <a:uFillTx/>
                  <a:latin typeface="Century Gothic"/>
                  <a:ea typeface="Arial"/>
                </a:rPr>
                <a:t>Nine of the eighteen descriptors exist at frame level; the other nine are published only as summary rows. No missing values. Correlation is not predictive importance, not separation, and not causation.</a:t>
              </a:r>
              <a:endParaRPr b="0" lang="en-US" sz="1400" strike="noStrike" u="none">
                <a:solidFill>
                  <a:srgbClr val="000000"/>
                </a:solidFill>
                <a:effectLst/>
                <a:uFillTx/>
                <a:latin typeface="Arial"/>
              </a:endParaRPr>
            </a:p>
          </p:txBody>
        </p:sp>
        <p:sp>
          <p:nvSpPr>
            <p:cNvPr id="3670" name="Rectangle 202"/>
            <p:cNvSpPr/>
            <p:nvPr/>
          </p:nvSpPr>
          <p:spPr>
            <a:xfrm>
              <a:off x="647640" y="8146080"/>
              <a:ext cx="17087400" cy="1099800"/>
            </a:xfrm>
            <a:prstGeom prst="rect">
              <a:avLst/>
            </a:prstGeom>
            <a:solidFill>
              <a:srgbClr val="f0ede7"/>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71" name="Rectangle 203"/>
            <p:cNvSpPr/>
            <p:nvPr/>
          </p:nvSpPr>
          <p:spPr>
            <a:xfrm>
              <a:off x="647640" y="8146080"/>
              <a:ext cx="62280" cy="1099800"/>
            </a:xfrm>
            <a:prstGeom prst="rect">
              <a:avLst/>
            </a:prstGeom>
            <a:solidFill>
              <a:srgbClr val="b84a1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3600" strike="noStrike" u="none">
                <a:solidFill>
                  <a:schemeClr val="lt1"/>
                </a:solidFill>
                <a:effectLst/>
                <a:uFillTx/>
                <a:latin typeface="Century Gothic"/>
              </a:endParaRPr>
            </a:p>
          </p:txBody>
        </p:sp>
        <p:sp>
          <p:nvSpPr>
            <p:cNvPr id="3672" name="TextBox 204"/>
            <p:cNvSpPr/>
            <p:nvPr/>
          </p:nvSpPr>
          <p:spPr>
            <a:xfrm>
              <a:off x="954000" y="8316720"/>
              <a:ext cx="16474680" cy="729720"/>
            </a:xfrm>
            <a:prstGeom prst="rect">
              <a:avLst/>
            </a:prstGeom>
            <a:noFill/>
            <a:ln w="0">
              <a:noFill/>
            </a:ln>
          </p:spPr>
          <p:style>
            <a:lnRef idx="0"/>
            <a:fillRef idx="0"/>
            <a:effectRef idx="0"/>
            <a:fontRef idx="minor"/>
          </p:style>
          <p:txBody>
            <a:bodyPr lIns="0" rIns="0" tIns="0" bIns="0" anchor="t">
              <a:spAutoFit/>
            </a:bodyPr>
            <a:p>
              <a:pPr defTabSz="914400">
                <a:lnSpc>
                  <a:spcPct val="125000"/>
                </a:lnSpc>
              </a:pPr>
              <a:r>
                <a:rPr b="0" lang="en-US" sz="2000" strike="noStrike" u="none">
                  <a:solidFill>
                    <a:srgbClr val="48514f"/>
                  </a:solidFill>
                  <a:effectLst/>
                  <a:uFillTx/>
                  <a:latin typeface="Century Gothic"/>
                  <a:ea typeface="Arial"/>
                </a:rPr>
                <a:t>Building count and density inside the frame correlate at 0.98, and both track the surrounding ring. Four of the five leading</a:t>
              </a:r>
              <a:endParaRPr b="0" lang="en-US" sz="2000" strike="noStrike" u="none">
                <a:solidFill>
                  <a:srgbClr val="000000"/>
                </a:solidFill>
                <a:effectLst/>
                <a:uFillTx/>
                <a:latin typeface="Arial"/>
              </a:endParaRPr>
            </a:p>
            <a:p>
              <a:pPr defTabSz="914400">
                <a:lnSpc>
                  <a:spcPct val="125000"/>
                </a:lnSpc>
              </a:pPr>
              <a:r>
                <a:rPr b="0" lang="en-US" sz="2000" strike="noStrike" u="none">
                  <a:solidFill>
                    <a:srgbClr val="48514f"/>
                  </a:solidFill>
                  <a:effectLst/>
                  <a:uFillTx/>
                  <a:latin typeface="Century Gothic"/>
                  <a:ea typeface="Arial"/>
                </a:rPr>
                <a:t>separators are density at different radii, and the fifth is a model input. None of them establishes settlement status.</a:t>
              </a:r>
              <a:endParaRPr b="0" lang="en-US" sz="2000" strike="noStrike" u="none">
                <a:solidFill>
                  <a:srgbClr val="000000"/>
                </a:solidFill>
                <a:effectLst/>
                <a:uFillTx/>
                <a:latin typeface="Arial"/>
              </a:endParaRPr>
            </a:p>
          </p:txBody>
        </p:sp>
      </p:grpSp>
      <p:sp>
        <p:nvSpPr>
          <p:cNvPr id="3673" name="Rectangle 206"/>
          <p:cNvSpPr/>
          <p:nvPr/>
        </p:nvSpPr>
        <p:spPr>
          <a:xfrm>
            <a:off x="13582800" y="1141920"/>
            <a:ext cx="4209120" cy="9522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6150" strike="noStrike" u="none">
                <a:solidFill>
                  <a:schemeClr val="accent2">
                    <a:lumMod val="50000"/>
                  </a:schemeClr>
                </a:solidFill>
                <a:effectLst/>
                <a:uFillTx/>
                <a:latin typeface="Century Gothic"/>
                <a:ea typeface="Century Gothic"/>
              </a:rPr>
              <a:t>0.98</a:t>
            </a:r>
            <a:endParaRPr b="0" lang="en-US" sz="6150" strike="noStrike" u="none">
              <a:solidFill>
                <a:srgbClr val="000000"/>
              </a:solidFill>
              <a:effectLst/>
              <a:uFillTx/>
              <a:latin typeface="Arial"/>
            </a:endParaRPr>
          </a:p>
        </p:txBody>
      </p:sp>
      <p:sp>
        <p:nvSpPr>
          <p:cNvPr id="3674" name="Rectangle 208"/>
          <p:cNvSpPr/>
          <p:nvPr/>
        </p:nvSpPr>
        <p:spPr>
          <a:xfrm>
            <a:off x="13658760" y="1913400"/>
            <a:ext cx="4362120" cy="856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100" strike="noStrike" u="none">
                <a:solidFill>
                  <a:schemeClr val="accent2">
                    <a:lumMod val="75000"/>
                  </a:schemeClr>
                </a:solidFill>
                <a:effectLst/>
                <a:uFillTx/>
                <a:latin typeface="Century Gothic"/>
                <a:ea typeface="Century Gothic"/>
              </a:rPr>
              <a:t>Building count and inside density</a:t>
            </a:r>
            <a:endParaRPr b="0" lang="en-US" sz="2100" strike="noStrike" u="none">
              <a:solidFill>
                <a:srgbClr val="000000"/>
              </a:solidFill>
              <a:effectLst/>
              <a:uFillTx/>
              <a:latin typeface="Arial"/>
            </a:endParaRPr>
          </a:p>
        </p:txBody>
      </p:sp>
      <p:sp>
        <p:nvSpPr>
          <p:cNvPr id="3675" name="Rectangle 210"/>
          <p:cNvSpPr/>
          <p:nvPr/>
        </p:nvSpPr>
        <p:spPr>
          <a:xfrm>
            <a:off x="8667720" y="5143680"/>
            <a:ext cx="5238360" cy="9522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6150" strike="noStrike" u="none">
                <a:solidFill>
                  <a:schemeClr val="accent2">
                    <a:lumMod val="50000"/>
                  </a:schemeClr>
                </a:solidFill>
                <a:effectLst/>
                <a:uFillTx/>
                <a:latin typeface="Century Gothic"/>
                <a:ea typeface="Century Gothic"/>
              </a:rPr>
              <a:t>0.88</a:t>
            </a:r>
            <a:endParaRPr b="0" lang="en-US" sz="6150" strike="noStrike" u="none">
              <a:solidFill>
                <a:srgbClr val="000000"/>
              </a:solidFill>
              <a:effectLst/>
              <a:uFillTx/>
              <a:latin typeface="Arial"/>
            </a:endParaRPr>
          </a:p>
        </p:txBody>
      </p:sp>
      <p:sp>
        <p:nvSpPr>
          <p:cNvPr id="3676" name="Rectangle 212"/>
          <p:cNvSpPr/>
          <p:nvPr/>
        </p:nvSpPr>
        <p:spPr>
          <a:xfrm>
            <a:off x="8686800" y="6019920"/>
            <a:ext cx="2076120" cy="9046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100" strike="noStrike" u="none">
                <a:solidFill>
                  <a:schemeClr val="accent2">
                    <a:lumMod val="75000"/>
                  </a:schemeClr>
                </a:solidFill>
                <a:effectLst/>
                <a:uFillTx/>
                <a:latin typeface="Century Gothic"/>
                <a:ea typeface="Century Gothic"/>
              </a:rPr>
              <a:t>Model probability and</a:t>
            </a:r>
            <a:endParaRPr b="0" lang="en-US" sz="2100" strike="noStrike" u="none">
              <a:solidFill>
                <a:srgbClr val="000000"/>
              </a:solidFill>
              <a:effectLst/>
              <a:uFillTx/>
              <a:latin typeface="Arial"/>
            </a:endParaRPr>
          </a:p>
          <a:p>
            <a:pPr defTabSz="914400">
              <a:lnSpc>
                <a:spcPct val="100000"/>
              </a:lnSpc>
            </a:pPr>
            <a:r>
              <a:rPr b="0" lang="en-US" sz="2100" strike="noStrike" u="none">
                <a:solidFill>
                  <a:schemeClr val="accent2">
                    <a:lumMod val="75000"/>
                  </a:schemeClr>
                </a:solidFill>
                <a:effectLst/>
                <a:uFillTx/>
                <a:latin typeface="Century Gothic"/>
                <a:ea typeface="Century Gothic"/>
              </a:rPr>
              <a:t>high-score share</a:t>
            </a:r>
            <a:endParaRPr b="0" lang="en-U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93d"/>
        </a:solidFill>
      </p:bgPr>
    </p:bg>
    <p:spTree>
      <p:nvGrpSpPr>
        <p:cNvPr id="1" name=""/>
        <p:cNvGrpSpPr/>
        <p:nvPr/>
      </p:nvGrpSpPr>
      <p:grpSpPr>
        <a:xfrm>
          <a:off x="0" y="0"/>
          <a:ext cx="0" cy="0"/>
          <a:chOff x="0" y="0"/>
          <a:chExt cx="0" cy="0"/>
        </a:xfrm>
      </p:grpSpPr>
      <p:sp>
        <p:nvSpPr>
          <p:cNvPr id="3677" name="Freeform: Shape 15"/>
          <p:cNvSpPr/>
          <p:nvPr/>
        </p:nvSpPr>
        <p:spPr>
          <a:xfrm>
            <a:off x="952560" y="685800"/>
            <a:ext cx="16382520" cy="720"/>
          </a:xfrm>
          <a:custGeom>
            <a:avLst/>
            <a:gdLst/>
            <a:ahLst/>
            <a:rect l="l" t="t" r="r" b="b"/>
            <a:pathLst>
              <a:path w="16383000" h="953">
                <a:moveTo>
                  <a:pt x="0" y="0"/>
                </a:moveTo>
                <a:lnTo>
                  <a:pt x="16383000" y="0"/>
                </a:lnTo>
              </a:path>
            </a:pathLst>
          </a:custGeom>
          <a:noFill/>
          <a:ln w="28575">
            <a:solidFill>
              <a:srgbClr val="4aa6aa"/>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678" name="Rectangle 1"/>
          <p:cNvSpPr/>
          <p:nvPr/>
        </p:nvSpPr>
        <p:spPr>
          <a:xfrm>
            <a:off x="952560" y="905040"/>
            <a:ext cx="16287480" cy="11426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rgbClr val="ffffff"/>
                </a:solidFill>
                <a:effectLst/>
                <a:uFillTx/>
                <a:latin typeface="Century Gothic"/>
                <a:ea typeface="Century Gothic"/>
              </a:rPr>
              <a:t>The evidence continues in our web app</a:t>
            </a:r>
            <a:endParaRPr b="0" lang="en-US" sz="4120" strike="noStrike" u="none">
              <a:solidFill>
                <a:srgbClr val="ffffff"/>
              </a:solidFill>
              <a:effectLst/>
              <a:uFillTx/>
              <a:latin typeface="Arial"/>
            </a:endParaRPr>
          </a:p>
        </p:txBody>
      </p:sp>
      <p:sp>
        <p:nvSpPr>
          <p:cNvPr id="3679" name="Freeform: Shape 2"/>
          <p:cNvSpPr/>
          <p:nvPr/>
        </p:nvSpPr>
        <p:spPr>
          <a:xfrm>
            <a:off x="952560" y="9429840"/>
            <a:ext cx="16382520" cy="720"/>
          </a:xfrm>
          <a:custGeom>
            <a:avLst/>
            <a:gdLst/>
            <a:ahLst/>
            <a:rect l="l" t="t" r="r" b="b"/>
            <a:pathLst>
              <a:path w="16383000" h="953">
                <a:moveTo>
                  <a:pt x="0" y="0"/>
                </a:moveTo>
                <a:lnTo>
                  <a:pt x="16383000" y="0"/>
                </a:lnTo>
              </a:path>
            </a:pathLst>
          </a:custGeom>
          <a:noFill/>
          <a:ln w="9525">
            <a:solidFill>
              <a:srgbClr val="466073"/>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680" name="Rectangle 3"/>
          <p:cNvSpPr/>
          <p:nvPr/>
        </p:nvSpPr>
        <p:spPr>
          <a:xfrm>
            <a:off x="952560" y="9667800"/>
            <a:ext cx="1238220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350" strike="noStrike" u="none">
                <a:solidFill>
                  <a:srgbClr val="afc4c7"/>
                </a:solidFill>
                <a:effectLst/>
                <a:uFillTx/>
                <a:latin typeface="Century Gothic"/>
                <a:ea typeface="Century Gothic"/>
              </a:rPr>
              <a:t>PIXELS TO METRO POLICY / GEOHACKATHON 2026</a:t>
            </a:r>
            <a:endParaRPr b="0" lang="en-US" sz="1350" strike="noStrike" u="none">
              <a:solidFill>
                <a:srgbClr val="ffffff"/>
              </a:solidFill>
              <a:effectLst/>
              <a:uFillTx/>
              <a:latin typeface="Arial"/>
            </a:endParaRPr>
          </a:p>
        </p:txBody>
      </p:sp>
      <p:sp>
        <p:nvSpPr>
          <p:cNvPr id="3681" name="Rectangle 4"/>
          <p:cNvSpPr/>
          <p:nvPr/>
        </p:nvSpPr>
        <p:spPr>
          <a:xfrm>
            <a:off x="16859160" y="9601200"/>
            <a:ext cx="57132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afc4c7"/>
                </a:solidFill>
                <a:effectLst/>
                <a:uFillTx/>
                <a:latin typeface="Century Gothic"/>
                <a:ea typeface="Century Gothic"/>
              </a:rPr>
              <a:t>08</a:t>
            </a:r>
            <a:endParaRPr b="0" lang="en-US" sz="1800" strike="noStrike" u="none">
              <a:solidFill>
                <a:srgbClr val="ffffff"/>
              </a:solidFill>
              <a:effectLst/>
              <a:uFillTx/>
              <a:latin typeface="Arial"/>
            </a:endParaRPr>
          </a:p>
        </p:txBody>
      </p:sp>
      <p:sp>
        <p:nvSpPr>
          <p:cNvPr id="3682" name="Rectangle 5"/>
          <p:cNvSpPr/>
          <p:nvPr/>
        </p:nvSpPr>
        <p:spPr>
          <a:xfrm>
            <a:off x="952560" y="2714760"/>
            <a:ext cx="16287480" cy="856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880" strike="noStrike" u="none">
                <a:solidFill>
                  <a:srgbClr val="ffffff"/>
                </a:solidFill>
                <a:effectLst/>
                <a:uFillTx/>
                <a:latin typeface="Century Gothic"/>
                <a:ea typeface="Century Gothic"/>
              </a:rPr>
              <a:t>Explore Bangkok community data</a:t>
            </a:r>
            <a:endParaRPr b="0" lang="en-US" sz="4880" strike="noStrike" u="none">
              <a:solidFill>
                <a:srgbClr val="ffffff"/>
              </a:solidFill>
              <a:effectLst/>
              <a:uFillTx/>
              <a:latin typeface="Arial"/>
            </a:endParaRPr>
          </a:p>
        </p:txBody>
      </p:sp>
      <p:sp>
        <p:nvSpPr>
          <p:cNvPr id="3683" name="Rectangle 6"/>
          <p:cNvSpPr/>
          <p:nvPr/>
        </p:nvSpPr>
        <p:spPr>
          <a:xfrm>
            <a:off x="952560" y="4238640"/>
            <a:ext cx="7429320" cy="6188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3230" strike="noStrike" u="none">
                <a:solidFill>
                  <a:srgbClr val="ffffff"/>
                </a:solidFill>
                <a:effectLst/>
                <a:uFillTx/>
                <a:latin typeface="Century Gothic"/>
                <a:ea typeface="Century Gothic"/>
              </a:rPr>
              <a:t>01  Choose a district</a:t>
            </a:r>
            <a:endParaRPr b="0" lang="en-US" sz="3230" strike="noStrike" u="none">
              <a:solidFill>
                <a:srgbClr val="ffffff"/>
              </a:solidFill>
              <a:effectLst/>
              <a:uFillTx/>
              <a:latin typeface="Arial"/>
            </a:endParaRPr>
          </a:p>
        </p:txBody>
      </p:sp>
      <p:sp>
        <p:nvSpPr>
          <p:cNvPr id="3684" name="Rectangle 7"/>
          <p:cNvSpPr/>
          <p:nvPr/>
        </p:nvSpPr>
        <p:spPr>
          <a:xfrm>
            <a:off x="952560" y="4952880"/>
            <a:ext cx="7524360" cy="856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250" strike="noStrike" u="none">
                <a:solidFill>
                  <a:srgbClr val="bfd3d5"/>
                </a:solidFill>
                <a:effectLst/>
                <a:uFillTx/>
                <a:latin typeface="Century Gothic"/>
                <a:ea typeface="Century Gothic"/>
              </a:rPr>
              <a:t>Locate communities in the area you want to examine.</a:t>
            </a:r>
            <a:endParaRPr b="0" lang="en-US" sz="2250" strike="noStrike" u="none">
              <a:solidFill>
                <a:srgbClr val="ffffff"/>
              </a:solidFill>
              <a:effectLst/>
              <a:uFillTx/>
              <a:latin typeface="Arial"/>
            </a:endParaRPr>
          </a:p>
        </p:txBody>
      </p:sp>
      <p:sp>
        <p:nvSpPr>
          <p:cNvPr id="3685" name="Rectangle 8"/>
          <p:cNvSpPr/>
          <p:nvPr/>
        </p:nvSpPr>
        <p:spPr>
          <a:xfrm>
            <a:off x="952560" y="6238800"/>
            <a:ext cx="7429320" cy="6188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3230" strike="noStrike" u="none">
                <a:solidFill>
                  <a:srgbClr val="ffffff"/>
                </a:solidFill>
                <a:effectLst/>
                <a:uFillTx/>
                <a:latin typeface="Century Gothic"/>
                <a:ea typeface="Century Gothic"/>
              </a:rPr>
              <a:t>02  Compare map layers</a:t>
            </a:r>
            <a:endParaRPr b="0" lang="en-US" sz="3230" strike="noStrike" u="none">
              <a:solidFill>
                <a:srgbClr val="ffffff"/>
              </a:solidFill>
              <a:effectLst/>
              <a:uFillTx/>
              <a:latin typeface="Arial"/>
            </a:endParaRPr>
          </a:p>
        </p:txBody>
      </p:sp>
      <p:sp>
        <p:nvSpPr>
          <p:cNvPr id="3686" name="Rectangle 9"/>
          <p:cNvSpPr/>
          <p:nvPr/>
        </p:nvSpPr>
        <p:spPr>
          <a:xfrm>
            <a:off x="952560" y="6953400"/>
            <a:ext cx="7524360" cy="1047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250" strike="noStrike" u="none">
                <a:solidFill>
                  <a:srgbClr val="bfd3d5"/>
                </a:solidFill>
                <a:effectLst/>
                <a:uFillTx/>
                <a:latin typeface="Century Gothic"/>
                <a:ea typeface="Century Gothic"/>
              </a:rPr>
              <a:t>View community boundaries, SEA analysis, Segmentation analysis, Overlay mapping analysis</a:t>
            </a:r>
            <a:endParaRPr b="0" lang="en-US" sz="2250" strike="noStrike" u="none">
              <a:solidFill>
                <a:srgbClr val="ffffff"/>
              </a:solidFill>
              <a:effectLst/>
              <a:uFillTx/>
              <a:latin typeface="Arial"/>
            </a:endParaRPr>
          </a:p>
        </p:txBody>
      </p:sp>
      <p:sp>
        <p:nvSpPr>
          <p:cNvPr id="3687" name="Rectangle 10"/>
          <p:cNvSpPr/>
          <p:nvPr/>
        </p:nvSpPr>
        <p:spPr>
          <a:xfrm>
            <a:off x="10001160" y="4238640"/>
            <a:ext cx="7333920" cy="6188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3230" strike="noStrike" u="none">
                <a:solidFill>
                  <a:srgbClr val="ffffff"/>
                </a:solidFill>
                <a:effectLst/>
                <a:uFillTx/>
                <a:latin typeface="Century Gothic"/>
                <a:ea typeface="Century Gothic"/>
              </a:rPr>
              <a:t>03  Read the local evidence</a:t>
            </a:r>
            <a:endParaRPr b="0" lang="en-US" sz="3230" strike="noStrike" u="none">
              <a:solidFill>
                <a:srgbClr val="ffffff"/>
              </a:solidFill>
              <a:effectLst/>
              <a:uFillTx/>
              <a:latin typeface="Arial"/>
            </a:endParaRPr>
          </a:p>
        </p:txBody>
      </p:sp>
      <p:sp>
        <p:nvSpPr>
          <p:cNvPr id="3688" name="Rectangle 11"/>
          <p:cNvSpPr/>
          <p:nvPr/>
        </p:nvSpPr>
        <p:spPr>
          <a:xfrm>
            <a:off x="10001160" y="4952880"/>
            <a:ext cx="7333920" cy="10472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250" strike="noStrike" u="none">
                <a:solidFill>
                  <a:srgbClr val="bfd3d5"/>
                </a:solidFill>
                <a:effectLst/>
                <a:uFillTx/>
                <a:latin typeface="Century Gothic"/>
                <a:ea typeface="Century Gothic"/>
              </a:rPr>
              <a:t>Connect the map with community information</a:t>
            </a:r>
            <a:endParaRPr b="0" lang="en-US" sz="2250" strike="noStrike" u="none">
              <a:solidFill>
                <a:srgbClr val="ffffff"/>
              </a:solidFill>
              <a:effectLst/>
              <a:uFillTx/>
              <a:latin typeface="Arial"/>
            </a:endParaRPr>
          </a:p>
          <a:p>
            <a:pPr defTabSz="914400">
              <a:lnSpc>
                <a:spcPct val="100000"/>
              </a:lnSpc>
            </a:pPr>
            <a:r>
              <a:rPr b="0" lang="en-US" sz="2250" strike="noStrike" u="none">
                <a:solidFill>
                  <a:srgbClr val="bfd3d5"/>
                </a:solidFill>
                <a:effectLst/>
                <a:uFillTx/>
                <a:latin typeface="Century Gothic"/>
                <a:ea typeface="Century Gothic"/>
              </a:rPr>
              <a:t>and the social and infrastructure analysis.</a:t>
            </a:r>
            <a:endParaRPr b="0" lang="en-US" sz="2250" strike="noStrike" u="none">
              <a:solidFill>
                <a:srgbClr val="ffffff"/>
              </a:solidFill>
              <a:effectLst/>
              <a:uFillTx/>
              <a:latin typeface="Arial"/>
            </a:endParaRPr>
          </a:p>
        </p:txBody>
      </p:sp>
      <p:sp>
        <p:nvSpPr>
          <p:cNvPr id="3689" name="Rectangle 12"/>
          <p:cNvSpPr/>
          <p:nvPr/>
        </p:nvSpPr>
        <p:spPr>
          <a:xfrm>
            <a:off x="10001160" y="6544800"/>
            <a:ext cx="7333920" cy="7617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3600" strike="noStrike" u="sng">
                <a:solidFill>
                  <a:srgbClr val="467886"/>
                </a:solidFill>
                <a:effectLst/>
                <a:uFillTx/>
                <a:latin typeface="Century Gothic"/>
                <a:ea typeface="Century Gothic"/>
                <a:hlinkClick r:id="rId1"/>
              </a:rPr>
              <a:t>OPEN THE WEB APP</a:t>
            </a:r>
            <a:endParaRPr b="0" lang="en-US" sz="3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90" name="Picture 7" descr=""/>
          <p:cNvPicPr/>
          <p:nvPr/>
        </p:nvPicPr>
        <p:blipFill>
          <a:blip r:embed="rId1"/>
          <a:srcRect l="0" t="12448" r="0" b="12448"/>
          <a:stretch/>
        </p:blipFill>
        <p:spPr>
          <a:xfrm>
            <a:off x="0" y="0"/>
            <a:ext cx="18287640" cy="10286640"/>
          </a:xfrm>
          <a:prstGeom prst="rect">
            <a:avLst/>
          </a:prstGeom>
          <a:noFill/>
          <a:ln w="0">
            <a:noFill/>
          </a:ln>
        </p:spPr>
      </p:pic>
      <p:sp>
        <p:nvSpPr>
          <p:cNvPr id="3691" name="Rectangle 1"/>
          <p:cNvSpPr/>
          <p:nvPr/>
        </p:nvSpPr>
        <p:spPr>
          <a:xfrm>
            <a:off x="0" y="0"/>
            <a:ext cx="18287640" cy="10286640"/>
          </a:xfrm>
          <a:prstGeom prst="rect">
            <a:avLst/>
          </a:prstGeom>
          <a:gradFill rotWithShape="0">
            <a:gsLst>
              <a:gs pos="0">
                <a:srgbClr val="102334">
                  <a:alpha val="88000"/>
                </a:srgbClr>
              </a:gs>
              <a:gs pos="52000">
                <a:srgbClr val="102334">
                  <a:alpha val="65000"/>
                </a:srgbClr>
              </a:gs>
              <a:gs pos="100000">
                <a:srgbClr val="102334">
                  <a:alpha val="20000"/>
                </a:srgbClr>
              </a:gs>
            </a:gsLst>
            <a:lin ang="5400000"/>
          </a:gra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692" name="Rectangle 2"/>
          <p:cNvSpPr/>
          <p:nvPr/>
        </p:nvSpPr>
        <p:spPr>
          <a:xfrm>
            <a:off x="952560" y="1047600"/>
            <a:ext cx="14287320" cy="5713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170" strike="noStrike" u="none">
                <a:solidFill>
                  <a:srgbClr val="c7e8e7"/>
                </a:solidFill>
                <a:effectLst/>
                <a:uFillTx/>
                <a:latin typeface="Century Gothic"/>
                <a:ea typeface="Century Gothic"/>
              </a:rPr>
              <a:t>GEOHACKATHON 2026</a:t>
            </a:r>
            <a:endParaRPr b="0" lang="en-US" sz="2170" strike="noStrike" u="none">
              <a:solidFill>
                <a:srgbClr val="000000"/>
              </a:solidFill>
              <a:effectLst/>
              <a:uFillTx/>
              <a:latin typeface="Arial"/>
            </a:endParaRPr>
          </a:p>
        </p:txBody>
      </p:sp>
      <p:sp>
        <p:nvSpPr>
          <p:cNvPr id="3693" name="Rectangle 3"/>
          <p:cNvSpPr/>
          <p:nvPr/>
        </p:nvSpPr>
        <p:spPr>
          <a:xfrm>
            <a:off x="952560" y="3990960"/>
            <a:ext cx="13334760" cy="2761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8250" strike="noStrike" u="none">
                <a:solidFill>
                  <a:srgbClr val="ffffff"/>
                </a:solidFill>
                <a:effectLst/>
                <a:uFillTx/>
                <a:latin typeface="Century Gothic"/>
                <a:ea typeface="Century Gothic"/>
              </a:rPr>
              <a:t>Thank you</a:t>
            </a:r>
            <a:endParaRPr b="0" lang="en-US" sz="8250" strike="noStrike" u="none">
              <a:solidFill>
                <a:srgbClr val="000000"/>
              </a:solidFill>
              <a:effectLst/>
              <a:uFillTx/>
              <a:latin typeface="Arial"/>
            </a:endParaRPr>
          </a:p>
        </p:txBody>
      </p:sp>
      <p:sp>
        <p:nvSpPr>
          <p:cNvPr id="3694" name="Rectangle 5"/>
          <p:cNvSpPr/>
          <p:nvPr/>
        </p:nvSpPr>
        <p:spPr>
          <a:xfrm>
            <a:off x="1000080" y="6296040"/>
            <a:ext cx="14954040" cy="6188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800" strike="noStrike" u="none">
                <a:solidFill>
                  <a:srgbClr val="d1e4e8"/>
                </a:solidFill>
                <a:effectLst/>
                <a:uFillTx/>
                <a:latin typeface="Century Gothic"/>
                <a:ea typeface="Century Gothic"/>
              </a:rPr>
              <a:t>Pixels2MetroPolicy</a:t>
            </a:r>
            <a:endParaRPr b="0" lang="en-US" sz="2800" strike="noStrike" u="none">
              <a:solidFill>
                <a:srgbClr val="000000"/>
              </a:solidFill>
              <a:effectLst/>
              <a:uFillTx/>
              <a:latin typeface="Arial"/>
            </a:endParaRPr>
          </a:p>
          <a:p>
            <a:pPr defTabSz="914400">
              <a:lnSpc>
                <a:spcPct val="100000"/>
              </a:lnSpc>
              <a:spcBef>
                <a:spcPts val="145"/>
              </a:spcBef>
              <a:spcAft>
                <a:spcPts val="1009"/>
              </a:spcAft>
            </a:pPr>
            <a:r>
              <a:rPr b="0" lang="en-US" sz="2470" strike="noStrike" u="none">
                <a:solidFill>
                  <a:srgbClr val="d1e4e8"/>
                </a:solidFill>
                <a:effectLst/>
                <a:uFillTx/>
                <a:latin typeface="Century Gothic"/>
                <a:ea typeface="Century Gothic"/>
              </a:rPr>
              <a:t>Roman Pomazan</a:t>
            </a:r>
            <a:endParaRPr b="0" lang="en-US" sz="2470" strike="noStrike" u="none">
              <a:solidFill>
                <a:srgbClr val="000000"/>
              </a:solidFill>
              <a:effectLst/>
              <a:uFillTx/>
              <a:latin typeface="Arial"/>
            </a:endParaRPr>
          </a:p>
          <a:p>
            <a:pPr defTabSz="914400">
              <a:lnSpc>
                <a:spcPct val="100000"/>
              </a:lnSpc>
              <a:spcBef>
                <a:spcPts val="145"/>
              </a:spcBef>
              <a:spcAft>
                <a:spcPts val="1009"/>
              </a:spcAft>
            </a:pPr>
            <a:r>
              <a:rPr b="0" lang="en-US" sz="2470" strike="noStrike" u="none">
                <a:solidFill>
                  <a:srgbClr val="d1e4e8"/>
                </a:solidFill>
                <a:effectLst/>
                <a:uFillTx/>
                <a:latin typeface="Century Gothic"/>
                <a:ea typeface="Century Gothic"/>
                <a:hlinkClick r:id="rId2"/>
              </a:rPr>
              <a:t>Pruethicheth Lert-Udompruksa</a:t>
            </a:r>
            <a:r>
              <a:rPr b="0" lang="en-US" sz="2470" strike="noStrike" u="none">
                <a:solidFill>
                  <a:srgbClr val="d1e4e8"/>
                </a:solidFill>
                <a:effectLst/>
                <a:uFillTx/>
                <a:latin typeface="Century Gothic"/>
                <a:ea typeface="Century Gothic"/>
              </a:rPr>
              <a:t> </a:t>
            </a:r>
            <a:endParaRPr b="0" lang="en-US" sz="2470" strike="noStrike" u="none">
              <a:solidFill>
                <a:srgbClr val="000000"/>
              </a:solidFill>
              <a:effectLst/>
              <a:uFillTx/>
              <a:latin typeface="Arial"/>
            </a:endParaRPr>
          </a:p>
          <a:p>
            <a:pPr defTabSz="914400">
              <a:lnSpc>
                <a:spcPct val="100000"/>
              </a:lnSpc>
              <a:spcBef>
                <a:spcPts val="145"/>
              </a:spcBef>
              <a:spcAft>
                <a:spcPts val="1009"/>
              </a:spcAft>
            </a:pPr>
            <a:r>
              <a:rPr b="0" lang="en-US" sz="2470" strike="noStrike" u="none">
                <a:solidFill>
                  <a:srgbClr val="d1e4e8"/>
                </a:solidFill>
                <a:effectLst/>
                <a:uFillTx/>
                <a:latin typeface="Century Gothic"/>
                <a:ea typeface="Century Gothic"/>
              </a:rPr>
              <a:t>Olga Panina</a:t>
            </a:r>
            <a:endParaRPr b="0" lang="en-US" sz="2470" strike="noStrike" u="none">
              <a:solidFill>
                <a:srgbClr val="000000"/>
              </a:solidFill>
              <a:effectLst/>
              <a:uFillTx/>
              <a:latin typeface="Arial"/>
            </a:endParaRPr>
          </a:p>
        </p:txBody>
      </p:sp>
      <p:sp>
        <p:nvSpPr>
          <p:cNvPr id="3695" name="Rectangle 6"/>
          <p:cNvSpPr/>
          <p:nvPr/>
        </p:nvSpPr>
        <p:spPr>
          <a:xfrm>
            <a:off x="1000080" y="9667800"/>
            <a:ext cx="16192080" cy="3330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430" strike="noStrike" u="none">
                <a:solidFill>
                  <a:srgbClr val="e0e8eb"/>
                </a:solidFill>
                <a:effectLst/>
                <a:uFillTx/>
                <a:latin typeface="Century Gothic"/>
                <a:ea typeface="Century Gothic"/>
              </a:rPr>
              <a:t>Khlong Toei, Bangkok / Photograph: Unequal Scenes</a:t>
            </a:r>
            <a:endParaRPr b="0" lang="en-US" sz="143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8fafc"/>
        </a:solidFill>
      </p:bgPr>
    </p:bg>
    <p:spTree>
      <p:nvGrpSpPr>
        <p:cNvPr id="1" name=""/>
        <p:cNvGrpSpPr/>
        <p:nvPr/>
      </p:nvGrpSpPr>
      <p:grpSpPr>
        <a:xfrm>
          <a:off x="0" y="0"/>
          <a:ext cx="0" cy="0"/>
          <a:chOff x="0" y="0"/>
          <a:chExt cx="0" cy="0"/>
        </a:xfrm>
      </p:grpSpPr>
      <p:sp>
        <p:nvSpPr>
          <p:cNvPr id="3696" name="Freeform: Shape 11"/>
          <p:cNvSpPr/>
          <p:nvPr/>
        </p:nvSpPr>
        <p:spPr>
          <a:xfrm>
            <a:off x="952560" y="685800"/>
            <a:ext cx="16382520" cy="720"/>
          </a:xfrm>
          <a:custGeom>
            <a:avLst/>
            <a:gdLst/>
            <a:ahLst/>
            <a:rect l="l" t="t" r="r" b="b"/>
            <a:pathLst>
              <a:path w="16383000" h="953">
                <a:moveTo>
                  <a:pt x="0" y="0"/>
                </a:moveTo>
                <a:lnTo>
                  <a:pt x="16383000" y="0"/>
                </a:lnTo>
              </a:path>
            </a:pathLst>
          </a:custGeom>
          <a:noFill/>
          <a:ln w="28575">
            <a:solidFill>
              <a:srgbClr val="217e86"/>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697" name="Rectangle 1"/>
          <p:cNvSpPr/>
          <p:nvPr/>
        </p:nvSpPr>
        <p:spPr>
          <a:xfrm>
            <a:off x="952560" y="905040"/>
            <a:ext cx="16287480" cy="11426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120" strike="noStrike" u="none">
                <a:solidFill>
                  <a:srgbClr val="14293d"/>
                </a:solidFill>
                <a:effectLst/>
                <a:uFillTx/>
                <a:latin typeface="Century Gothic"/>
                <a:ea typeface="Century Gothic"/>
              </a:rPr>
              <a:t>The next milestone is independent validation</a:t>
            </a:r>
            <a:endParaRPr b="0" lang="en-US" sz="4120" strike="noStrike" u="none">
              <a:solidFill>
                <a:srgbClr val="000000"/>
              </a:solidFill>
              <a:effectLst/>
              <a:uFillTx/>
              <a:latin typeface="Arial"/>
            </a:endParaRPr>
          </a:p>
        </p:txBody>
      </p:sp>
      <p:sp>
        <p:nvSpPr>
          <p:cNvPr id="3698" name="Freeform: Shape 2"/>
          <p:cNvSpPr/>
          <p:nvPr/>
        </p:nvSpPr>
        <p:spPr>
          <a:xfrm>
            <a:off x="952560" y="9429840"/>
            <a:ext cx="16382520" cy="720"/>
          </a:xfrm>
          <a:custGeom>
            <a:avLst/>
            <a:gdLst/>
            <a:ahLst/>
            <a:rect l="l" t="t" r="r" b="b"/>
            <a:pathLst>
              <a:path w="16383000" h="953">
                <a:moveTo>
                  <a:pt x="0" y="0"/>
                </a:moveTo>
                <a:lnTo>
                  <a:pt x="16383000" y="0"/>
                </a:lnTo>
              </a:path>
            </a:pathLst>
          </a:custGeom>
          <a:noFill/>
          <a:ln w="9525">
            <a:solidFill>
              <a:srgbClr val="cad5df"/>
            </a:solidFill>
            <a:round/>
          </a:ln>
        </p:spPr>
        <p:style>
          <a:lnRef idx="0"/>
          <a:fillRef idx="0"/>
          <a:effectRef idx="0"/>
          <a:fontRef idx="minor"/>
        </p:style>
        <p:txBody>
          <a:bodyPr lIns="90000" rIns="90000" tIns="-44280" bIns="-44280" anchor="t">
            <a:noAutofit/>
          </a:bodyPr>
          <a:p>
            <a:pPr defTabSz="914400">
              <a:lnSpc>
                <a:spcPct val="100000"/>
              </a:lnSpc>
            </a:pPr>
            <a:endParaRPr b="0" lang="en-US" sz="1800" strike="noStrike" u="none">
              <a:solidFill>
                <a:schemeClr val="dk1"/>
              </a:solidFill>
              <a:effectLst/>
              <a:uFillTx/>
              <a:latin typeface="Century Gothic"/>
            </a:endParaRPr>
          </a:p>
        </p:txBody>
      </p:sp>
      <p:sp>
        <p:nvSpPr>
          <p:cNvPr id="3699" name="Rectangle 3"/>
          <p:cNvSpPr/>
          <p:nvPr/>
        </p:nvSpPr>
        <p:spPr>
          <a:xfrm>
            <a:off x="952560" y="9667800"/>
            <a:ext cx="12382200" cy="285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350" strike="noStrike" u="none">
                <a:solidFill>
                  <a:srgbClr val="526779"/>
                </a:solidFill>
                <a:effectLst/>
                <a:uFillTx/>
                <a:latin typeface="Century Gothic"/>
                <a:ea typeface="Century Gothic"/>
              </a:rPr>
              <a:t>PIXELS TO METRO POLICY / GEOHACKATHON 2026</a:t>
            </a:r>
            <a:endParaRPr b="0" lang="en-US" sz="1350" strike="noStrike" u="none">
              <a:solidFill>
                <a:srgbClr val="000000"/>
              </a:solidFill>
              <a:effectLst/>
              <a:uFillTx/>
              <a:latin typeface="Arial"/>
            </a:endParaRPr>
          </a:p>
        </p:txBody>
      </p:sp>
      <p:sp>
        <p:nvSpPr>
          <p:cNvPr id="3700" name="Rectangle 4"/>
          <p:cNvSpPr/>
          <p:nvPr/>
        </p:nvSpPr>
        <p:spPr>
          <a:xfrm>
            <a:off x="16859160" y="9601200"/>
            <a:ext cx="571320" cy="380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800" strike="noStrike" u="none">
                <a:solidFill>
                  <a:srgbClr val="526779"/>
                </a:solidFill>
                <a:effectLst/>
                <a:uFillTx/>
                <a:latin typeface="Century Gothic"/>
                <a:ea typeface="Century Gothic"/>
              </a:rPr>
              <a:t>07</a:t>
            </a:r>
            <a:endParaRPr b="0" lang="en-US" sz="1800" strike="noStrike" u="none">
              <a:solidFill>
                <a:srgbClr val="000000"/>
              </a:solidFill>
              <a:effectLst/>
              <a:uFillTx/>
              <a:latin typeface="Arial"/>
            </a:endParaRPr>
          </a:p>
        </p:txBody>
      </p:sp>
      <p:sp>
        <p:nvSpPr>
          <p:cNvPr id="3701" name="Rectangle 5"/>
          <p:cNvSpPr/>
          <p:nvPr/>
        </p:nvSpPr>
        <p:spPr>
          <a:xfrm>
            <a:off x="952560" y="1952640"/>
            <a:ext cx="16287480" cy="66636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020" strike="noStrike" u="none">
                <a:solidFill>
                  <a:srgbClr val="526779"/>
                </a:solidFill>
                <a:effectLst/>
                <a:uFillTx/>
                <a:latin typeface="Century Gothic"/>
                <a:ea typeface="Century Gothic"/>
              </a:rPr>
              <a:t>Matched controls test whether the screening adds information beyond density alone.</a:t>
            </a:r>
            <a:endParaRPr b="0" lang="en-US" sz="2020" strike="noStrike" u="none">
              <a:solidFill>
                <a:srgbClr val="000000"/>
              </a:solidFill>
              <a:effectLst/>
              <a:uFillTx/>
              <a:latin typeface="Arial"/>
            </a:endParaRPr>
          </a:p>
        </p:txBody>
      </p:sp>
      <p:graphicFrame>
        <p:nvGraphicFramePr>
          <p:cNvPr id="3702" name="Chart"/>
          <p:cNvGraphicFramePr/>
          <p:nvPr/>
        </p:nvGraphicFramePr>
        <p:xfrm>
          <a:off x="666720" y="2857680"/>
          <a:ext cx="10286640" cy="5333760"/>
        </p:xfrm>
        <a:graphic>
          <a:graphicData uri="http://schemas.openxmlformats.org/drawingml/2006/chart">
            <c:chart xmlns:c="http://schemas.openxmlformats.org/drawingml/2006/chart" xmlns:r="http://schemas.openxmlformats.org/officeDocument/2006/relationships" r:id="rId1"/>
          </a:graphicData>
        </a:graphic>
      </p:graphicFrame>
      <p:sp>
        <p:nvSpPr>
          <p:cNvPr id="3703" name="Rectangle 7"/>
          <p:cNvSpPr/>
          <p:nvPr/>
        </p:nvSpPr>
        <p:spPr>
          <a:xfrm>
            <a:off x="12001680" y="3048120"/>
            <a:ext cx="5428800" cy="85680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350" strike="noStrike" u="none">
                <a:solidFill>
                  <a:srgbClr val="c76a38"/>
                </a:solidFill>
                <a:effectLst/>
                <a:uFillTx/>
                <a:latin typeface="Century Gothic"/>
                <a:ea typeface="Century Gothic"/>
              </a:rPr>
              <a:t>300 review units</a:t>
            </a:r>
            <a:endParaRPr b="0" lang="en-US" sz="4350" strike="noStrike" u="none">
              <a:solidFill>
                <a:srgbClr val="000000"/>
              </a:solidFill>
              <a:effectLst/>
              <a:uFillTx/>
              <a:latin typeface="Arial"/>
            </a:endParaRPr>
          </a:p>
        </p:txBody>
      </p:sp>
      <p:sp>
        <p:nvSpPr>
          <p:cNvPr id="3704" name="Rectangle 8"/>
          <p:cNvSpPr/>
          <p:nvPr/>
        </p:nvSpPr>
        <p:spPr>
          <a:xfrm>
            <a:off x="12001680" y="4572000"/>
            <a:ext cx="5428800" cy="15235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550" strike="noStrike" u="none">
                <a:solidFill>
                  <a:srgbClr val="14293d"/>
                </a:solidFill>
                <a:effectLst/>
                <a:uFillTx/>
                <a:latin typeface="Century Gothic"/>
                <a:ea typeface="Century Gothic"/>
              </a:rPr>
              <a:t>Dated imagery ≤ 1 metre</a:t>
            </a:r>
            <a:endParaRPr b="0" lang="en-US" sz="2550" strike="noStrike" u="none">
              <a:solidFill>
                <a:srgbClr val="000000"/>
              </a:solidFill>
              <a:effectLst/>
              <a:uFillTx/>
              <a:latin typeface="Arial"/>
            </a:endParaRPr>
          </a:p>
          <a:p>
            <a:pPr defTabSz="914400">
              <a:lnSpc>
                <a:spcPct val="100000"/>
              </a:lnSpc>
            </a:pPr>
            <a:r>
              <a:rPr b="0" lang="en-US" sz="2550" strike="noStrike" u="none">
                <a:solidFill>
                  <a:srgbClr val="14293d"/>
                </a:solidFill>
                <a:effectLst/>
                <a:uFillTx/>
                <a:latin typeface="Century Gothic"/>
                <a:ea typeface="Century Gothic"/>
              </a:rPr>
              <a:t>Three independent reviewers</a:t>
            </a:r>
            <a:endParaRPr b="0" lang="en-US" sz="2550" strike="noStrike" u="none">
              <a:solidFill>
                <a:srgbClr val="000000"/>
              </a:solidFill>
              <a:effectLst/>
              <a:uFillTx/>
              <a:latin typeface="Arial"/>
            </a:endParaRPr>
          </a:p>
        </p:txBody>
      </p:sp>
      <p:sp>
        <p:nvSpPr>
          <p:cNvPr id="3705" name="Rectangle 9"/>
          <p:cNvSpPr/>
          <p:nvPr/>
        </p:nvSpPr>
        <p:spPr>
          <a:xfrm>
            <a:off x="12001680" y="6858000"/>
            <a:ext cx="5428800" cy="114264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3150" strike="noStrike" u="none">
                <a:solidFill>
                  <a:srgbClr val="14293d"/>
                </a:solidFill>
                <a:effectLst/>
                <a:uFillTx/>
                <a:latin typeface="Century Gothic"/>
                <a:ea typeface="Century Gothic"/>
              </a:rPr>
              <a:t>Stop if agreement</a:t>
            </a:r>
            <a:endParaRPr b="0" lang="en-US" sz="3150" strike="noStrike" u="none">
              <a:solidFill>
                <a:srgbClr val="000000"/>
              </a:solidFill>
              <a:effectLst/>
              <a:uFillTx/>
              <a:latin typeface="Arial"/>
            </a:endParaRPr>
          </a:p>
          <a:p>
            <a:pPr defTabSz="914400">
              <a:lnSpc>
                <a:spcPct val="100000"/>
              </a:lnSpc>
            </a:pPr>
            <a:r>
              <a:rPr b="1" lang="en-US" sz="3150" strike="noStrike" u="none">
                <a:solidFill>
                  <a:srgbClr val="14293d"/>
                </a:solidFill>
                <a:effectLst/>
                <a:uFillTx/>
                <a:latin typeface="Century Gothic"/>
                <a:ea typeface="Century Gothic"/>
              </a:rPr>
              <a:t>kappa &lt; 0.40</a:t>
            </a:r>
            <a:endParaRPr b="0" lang="en-US" sz="3150" strike="noStrike" u="none">
              <a:solidFill>
                <a:srgbClr val="000000"/>
              </a:solidFill>
              <a:effectLst/>
              <a:uFillTx/>
              <a:latin typeface="Arial"/>
            </a:endParaRPr>
          </a:p>
        </p:txBody>
      </p:sp>
      <p:sp>
        <p:nvSpPr>
          <p:cNvPr id="3706" name="Rectangle 10"/>
          <p:cNvSpPr/>
          <p:nvPr/>
        </p:nvSpPr>
        <p:spPr>
          <a:xfrm>
            <a:off x="952560" y="8953560"/>
            <a:ext cx="15715800" cy="47592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2020" strike="noStrike" u="none">
                <a:solidFill>
                  <a:srgbClr val="526779"/>
                </a:solidFill>
                <a:effectLst/>
                <a:uFillTx/>
                <a:latin typeface="Century Gothic"/>
                <a:ea typeface="Century Gothic"/>
              </a:rPr>
              <a:t>120 flagged + 120 density-matched unflagged + 60 registered areas. Zero reviewed so far.</a:t>
            </a:r>
            <a:endParaRPr b="0" lang="en-US" sz="202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LibreOffice/25.2.7.2$Windows_X86_64 LibreOffice_project/5cbfd1ab6520636bb5f7b99185aa69bd7456825d</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2026-10-17T01:09:45Z</dcterms:modified>
  <cp:revision>3</cp:revision>
  <dc:subject/>
  <dc:title/>
</cp:coreProperties>
</file>